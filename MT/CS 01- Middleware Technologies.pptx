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46486" y="2855449"/>
            <a:ext cx="3052445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1C157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1C157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16679" y="2886456"/>
            <a:ext cx="2226564" cy="226161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678168"/>
            <a:ext cx="10058400" cy="380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187195"/>
            <a:ext cx="8804148" cy="6400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411" y="1285700"/>
            <a:ext cx="7490459" cy="389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577" y="1868775"/>
            <a:ext cx="4998720" cy="4683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1C157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png"/><Relationship Id="rId5" Type="http://schemas.openxmlformats.org/officeDocument/2006/relationships/image" Target="../media/image32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jpg"/><Relationship Id="rId3" Type="http://schemas.openxmlformats.org/officeDocument/2006/relationships/image" Target="../media/image59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jp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jp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jp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jp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50831" y="3660159"/>
            <a:ext cx="4305935" cy="427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dirty="0" sz="26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6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Arial"/>
                <a:cs typeface="Arial"/>
              </a:rPr>
              <a:t>Middleware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84999" y="5391397"/>
            <a:ext cx="3151505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b="1">
                <a:solidFill>
                  <a:srgbClr val="FF0000"/>
                </a:solidFill>
                <a:latin typeface="Arial"/>
                <a:cs typeface="Arial"/>
              </a:rPr>
              <a:t>TNGK </a:t>
            </a:r>
            <a:r>
              <a:rPr dirty="0" sz="2950" spc="-10" b="1">
                <a:solidFill>
                  <a:srgbClr val="FF0000"/>
                </a:solidFill>
                <a:latin typeface="Arial"/>
                <a:cs typeface="Arial"/>
              </a:rPr>
              <a:t>Ranganath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107" y="1840457"/>
            <a:ext cx="9858375" cy="478663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00025" marR="419100" indent="-187960">
              <a:lnSpc>
                <a:spcPts val="1900"/>
              </a:lnSpc>
              <a:spcBef>
                <a:spcPts val="56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 spc="-50">
                <a:solidFill>
                  <a:srgbClr val="000099"/>
                </a:solidFill>
                <a:latin typeface="Calibri"/>
                <a:cs typeface="Calibri"/>
              </a:rPr>
              <a:t>Today,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most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business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processes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have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become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digitalized,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most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organizations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have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very 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diverse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digital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needs.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spc="-55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fulfill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these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needs,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businesses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have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use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many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hardware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products.</a:t>
            </a:r>
            <a:endParaRPr sz="1950">
              <a:latin typeface="Calibri"/>
              <a:cs typeface="Calibri"/>
            </a:endParaRPr>
          </a:p>
          <a:p>
            <a:pPr marL="200025" marR="391160" indent="-187960">
              <a:lnSpc>
                <a:spcPts val="19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Most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these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hardware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were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designed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separately.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 They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were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not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necessarily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built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work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together.</a:t>
            </a:r>
            <a:endParaRPr sz="1950">
              <a:latin typeface="Calibri"/>
              <a:cs typeface="Calibri"/>
            </a:endParaRPr>
          </a:p>
          <a:p>
            <a:pPr marL="200025" marR="83185" indent="-187960">
              <a:lnSpc>
                <a:spcPts val="19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At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same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time,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organizations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need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these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hardware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work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together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make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digital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processes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more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efficient.</a:t>
            </a:r>
            <a:endParaRPr sz="1950">
              <a:latin typeface="Calibri"/>
              <a:cs typeface="Calibri"/>
            </a:endParaRPr>
          </a:p>
          <a:p>
            <a:pPr marL="200025" marR="687705" indent="-187960">
              <a:lnSpc>
                <a:spcPts val="19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Problem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is,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how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do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you make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them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work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harmoniously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when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they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weren’t built to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work 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together?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where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comes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Calibri"/>
                <a:cs typeface="Calibri"/>
              </a:rPr>
              <a:t>in.</a:t>
            </a:r>
            <a:endParaRPr sz="1950">
              <a:latin typeface="Calibri"/>
              <a:cs typeface="Calibri"/>
            </a:endParaRPr>
          </a:p>
          <a:p>
            <a:pPr marL="200025" marR="1078865" indent="-187960">
              <a:lnSpc>
                <a:spcPts val="191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refers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any behind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scenes software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allows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these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two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levels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Calibri"/>
                <a:cs typeface="Calibri"/>
              </a:rPr>
              <a:t>to </a:t>
            </a:r>
            <a:r>
              <a:rPr dirty="0" sz="195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communicate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interact with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each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other.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instance,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 will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sit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Windows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10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office</a:t>
            </a:r>
            <a:r>
              <a:rPr dirty="0" sz="19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productivity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suite.</a:t>
            </a: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ct val="813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Aside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operating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system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applications,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also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helps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separate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process,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components to</a:t>
            </a:r>
            <a:r>
              <a:rPr dirty="0" sz="19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exchange</a:t>
            </a:r>
            <a:r>
              <a:rPr dirty="0" sz="19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information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either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within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same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device,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9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multiple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devices.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Middleware?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107" y="1864891"/>
            <a:ext cx="9761855" cy="431863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0025" marR="305435" indent="-187960">
              <a:lnSpc>
                <a:spcPts val="2140"/>
              </a:lnSpc>
              <a:spcBef>
                <a:spcPts val="3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You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compare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translator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helping people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who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speak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languages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understand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each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other.</a:t>
            </a:r>
            <a:endParaRPr sz="1950">
              <a:latin typeface="Calibri"/>
              <a:cs typeface="Calibri"/>
            </a:endParaRPr>
          </a:p>
          <a:p>
            <a:pPr marL="200025" marR="80645" indent="-187960">
              <a:lnSpc>
                <a:spcPts val="214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case,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facilitates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interoperability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running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on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different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frameworks.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 does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by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providing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standard-based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means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of data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exchange.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  <a:buClr>
                <a:srgbClr val="000099"/>
              </a:buClr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9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Calibri"/>
                <a:cs typeface="Calibri"/>
              </a:rPr>
              <a:t>way,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two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can connect without having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communicate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directly.</a:t>
            </a: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Some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people</a:t>
            </a:r>
            <a:r>
              <a:rPr dirty="0" sz="19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refer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plumbing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since it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connects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passes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dirty="0" sz="19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9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Calibri"/>
                <a:cs typeface="Calibri"/>
              </a:rPr>
              <a:t>two </a:t>
            </a:r>
            <a:r>
              <a:rPr dirty="0" sz="195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fundamentally</a:t>
            </a:r>
            <a:r>
              <a:rPr dirty="0" sz="195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different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applications.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Clr>
                <a:srgbClr val="000099"/>
              </a:buClr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00025" marR="753745" indent="-187960">
              <a:lnSpc>
                <a:spcPts val="2140"/>
              </a:lnSpc>
              <a:spcBef>
                <a:spcPts val="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has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also been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referred to as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“software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glue”,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since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helps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“glue”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together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they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work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together.</a:t>
            </a:r>
            <a:endParaRPr sz="1950">
              <a:latin typeface="Calibri"/>
              <a:cs typeface="Calibri"/>
            </a:endParaRPr>
          </a:p>
          <a:p>
            <a:pPr marL="200025" marR="634365" indent="-187960">
              <a:lnSpc>
                <a:spcPts val="2140"/>
              </a:lnSpc>
              <a:spcBef>
                <a:spcPts val="8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term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bit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vague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since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does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not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refer</a:t>
            </a:r>
            <a:r>
              <a:rPr dirty="0" sz="19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specific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type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9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software.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Instead,</a:t>
            </a:r>
            <a:r>
              <a:rPr dirty="0" sz="195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refers</a:t>
            </a:r>
            <a:r>
              <a:rPr dirty="0" sz="195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any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95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95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sits between</a:t>
            </a:r>
            <a:r>
              <a:rPr dirty="0" sz="19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links</a:t>
            </a:r>
            <a:r>
              <a:rPr dirty="0" sz="195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two</a:t>
            </a:r>
            <a:r>
              <a:rPr dirty="0" sz="195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950">
                <a:solidFill>
                  <a:srgbClr val="000099"/>
                </a:solidFill>
                <a:latin typeface="Calibri"/>
                <a:cs typeface="Calibri"/>
              </a:rPr>
              <a:t>separate </a:t>
            </a:r>
            <a:r>
              <a:rPr dirty="0" sz="1950" spc="-10">
                <a:solidFill>
                  <a:srgbClr val="000099"/>
                </a:solidFill>
                <a:latin typeface="Calibri"/>
                <a:cs typeface="Calibri"/>
              </a:rPr>
              <a:t>applications.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Middleware?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107" y="1864891"/>
            <a:ext cx="9787890" cy="3942079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0025" marR="361315" indent="-187960">
              <a:lnSpc>
                <a:spcPts val="2140"/>
              </a:lnSpc>
              <a:spcBef>
                <a:spcPts val="3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Middleware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includes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software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like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content</a:t>
            </a:r>
            <a:r>
              <a:rPr dirty="0" u="sng" sz="1950" spc="4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management systems</a:t>
            </a:r>
            <a:r>
              <a:rPr dirty="0" sz="1950">
                <a:latin typeface="Calibri"/>
                <a:cs typeface="Calibri"/>
              </a:rPr>
              <a:t>,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application</a:t>
            </a:r>
            <a:r>
              <a:rPr dirty="0" u="sng" sz="1950" spc="-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servers</a:t>
            </a:r>
            <a:r>
              <a:rPr dirty="0" sz="1950">
                <a:latin typeface="Calibri"/>
                <a:cs typeface="Calibri"/>
              </a:rPr>
              <a:t>,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u="sng" sz="195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web</a:t>
            </a:r>
            <a:r>
              <a:rPr dirty="0" sz="1950" spc="-25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sz="1950" spc="-25">
                <a:solidFill>
                  <a:srgbClr val="0562C1"/>
                </a:solidFill>
                <a:latin typeface="Calibri"/>
                <a:cs typeface="Calibri"/>
              </a:rPr>
              <a:t>	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servers</a:t>
            </a:r>
            <a:r>
              <a:rPr dirty="0" sz="1950">
                <a:latin typeface="Calibri"/>
                <a:cs typeface="Calibri"/>
              </a:rPr>
              <a:t>,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other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similar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tools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that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support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development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delivery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applications.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ts val="214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Middleware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started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becoming popular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80s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solution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for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enabling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newer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applications </a:t>
            </a:r>
            <a:r>
              <a:rPr dirty="0" sz="1950" spc="-10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work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on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older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systems.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00025" marR="735330" indent="-187960">
              <a:lnSpc>
                <a:spcPts val="214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950" spc="-55">
                <a:latin typeface="Calibri"/>
                <a:cs typeface="Calibri"/>
              </a:rPr>
              <a:t>To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enable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communication</a:t>
            </a:r>
            <a:r>
              <a:rPr dirty="0" sz="1950" spc="-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between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different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applications, middleware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utilizes </a:t>
            </a:r>
            <a:r>
              <a:rPr dirty="0" sz="1950" spc="-10">
                <a:latin typeface="Calibri"/>
                <a:cs typeface="Calibri"/>
              </a:rPr>
              <a:t>different </a:t>
            </a:r>
            <a:r>
              <a:rPr dirty="0" sz="1950" spc="-10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communication</a:t>
            </a:r>
            <a:r>
              <a:rPr dirty="0" sz="1950" spc="-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frameworks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such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Representational State</a:t>
            </a:r>
            <a:r>
              <a:rPr dirty="0" u="sng" sz="1950" spc="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Transfer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(REST)</a:t>
            </a:r>
            <a:r>
              <a:rPr dirty="0" sz="1950">
                <a:latin typeface="Calibri"/>
                <a:cs typeface="Calibri"/>
              </a:rPr>
              <a:t>, </a:t>
            </a:r>
            <a:r>
              <a:rPr dirty="0" sz="1950" spc="-25">
                <a:latin typeface="Calibri"/>
                <a:cs typeface="Calibri"/>
              </a:rPr>
              <a:t>web</a:t>
            </a:r>
            <a:endParaRPr sz="1950">
              <a:latin typeface="Calibri"/>
              <a:cs typeface="Calibri"/>
            </a:endParaRPr>
          </a:p>
          <a:p>
            <a:pPr marL="201295">
              <a:lnSpc>
                <a:spcPts val="2095"/>
              </a:lnSpc>
            </a:pPr>
            <a:r>
              <a:rPr dirty="0" sz="1950">
                <a:latin typeface="Calibri"/>
                <a:cs typeface="Calibri"/>
              </a:rPr>
              <a:t>services,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JavaScript</a:t>
            </a:r>
            <a:r>
              <a:rPr dirty="0" u="sng" sz="1950" spc="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Object</a:t>
            </a:r>
            <a:r>
              <a:rPr dirty="0" u="sng" sz="1950" spc="6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Notation</a:t>
            </a:r>
            <a:r>
              <a:rPr dirty="0" u="sng" sz="1950" spc="3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(JSON)</a:t>
            </a:r>
            <a:r>
              <a:rPr dirty="0" sz="1950">
                <a:latin typeface="Calibri"/>
                <a:cs typeface="Calibri"/>
              </a:rPr>
              <a:t>,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Simple</a:t>
            </a:r>
            <a:r>
              <a:rPr dirty="0" u="sng" sz="1950" spc="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Object</a:t>
            </a:r>
            <a:r>
              <a:rPr dirty="0" u="sng" sz="1950" spc="3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Access</a:t>
            </a:r>
            <a:r>
              <a:rPr dirty="0" u="sng" sz="1950" spc="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Protocol</a:t>
            </a:r>
            <a:r>
              <a:rPr dirty="0" u="sng" sz="1950" spc="3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(SOAP)</a:t>
            </a:r>
            <a:r>
              <a:rPr dirty="0" sz="1950">
                <a:latin typeface="Calibri"/>
                <a:cs typeface="Calibri"/>
              </a:rPr>
              <a:t>,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so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on.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950">
              <a:latin typeface="Calibri"/>
              <a:cs typeface="Calibri"/>
            </a:endParaRPr>
          </a:p>
          <a:p>
            <a:pPr marL="200025" marR="192405" indent="-187960">
              <a:lnSpc>
                <a:spcPts val="214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Modern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integration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infrastructure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such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enterprise</a:t>
            </a:r>
            <a:r>
              <a:rPr dirty="0" u="sng" sz="1950" spc="3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service</a:t>
            </a:r>
            <a:r>
              <a:rPr dirty="0" u="sng" sz="1950" spc="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bus</a:t>
            </a:r>
            <a:r>
              <a:rPr dirty="0" u="sng" sz="1950" spc="4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(ESB)</a:t>
            </a:r>
            <a:r>
              <a:rPr dirty="0" sz="1950" spc="3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API</a:t>
            </a:r>
            <a:r>
              <a:rPr dirty="0" u="sng" sz="1950" spc="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management</a:t>
            </a:r>
            <a:r>
              <a:rPr dirty="0" sz="1950" spc="-1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0562C1"/>
                </a:solidFill>
                <a:latin typeface="Calibri"/>
                <a:cs typeface="Calibri"/>
              </a:rPr>
              <a:t>	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software</a:t>
            </a:r>
            <a:r>
              <a:rPr dirty="0" sz="1950" spc="2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also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depend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on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middleware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concepts.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Middleware?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/>
              <a:t>Middleware</a:t>
            </a:r>
            <a:r>
              <a:rPr dirty="0" spc="-105"/>
              <a:t> </a:t>
            </a:r>
            <a:r>
              <a:rPr dirty="0" spc="-50"/>
              <a:t>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259" y="3694176"/>
            <a:ext cx="7356347" cy="281330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36246" y="1994409"/>
            <a:ext cx="8677910" cy="139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What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is</a:t>
            </a:r>
            <a:r>
              <a:rPr dirty="0" sz="1650" spc="-3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it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?</a:t>
            </a:r>
            <a:endParaRPr sz="1650">
              <a:latin typeface="Arial"/>
              <a:cs typeface="Arial"/>
            </a:endParaRPr>
          </a:p>
          <a:p>
            <a:pPr marL="636270" marR="205104" indent="-187960">
              <a:lnSpc>
                <a:spcPct val="102699"/>
              </a:lnSpc>
              <a:spcBef>
                <a:spcPts val="1185"/>
              </a:spcBef>
              <a:buChar char="•"/>
              <a:tabLst>
                <a:tab pos="637540" algn="l"/>
              </a:tabLst>
            </a:pPr>
            <a:r>
              <a:rPr dirty="0" sz="1450">
                <a:latin typeface="Arial MT"/>
                <a:cs typeface="Arial MT"/>
              </a:rPr>
              <a:t>“Middleware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software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that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connects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software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components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or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enterprise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applications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 spc="-50">
                <a:latin typeface="Arial MT"/>
                <a:cs typeface="Arial MT"/>
              </a:rPr>
              <a:t>a </a:t>
            </a:r>
            <a:r>
              <a:rPr dirty="0" sz="1450" spc="-50">
                <a:latin typeface="Arial MT"/>
                <a:cs typeface="Arial MT"/>
              </a:rPr>
              <a:t>	</a:t>
            </a:r>
            <a:r>
              <a:rPr dirty="0" sz="1450">
                <a:latin typeface="Arial MT"/>
                <a:cs typeface="Arial MT"/>
              </a:rPr>
              <a:t>distributed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system”.</a:t>
            </a:r>
            <a:endParaRPr sz="1450">
              <a:latin typeface="Arial MT"/>
              <a:cs typeface="Arial MT"/>
            </a:endParaRPr>
          </a:p>
          <a:p>
            <a:pPr marL="636270" marR="5080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637540" algn="l"/>
              </a:tabLst>
            </a:pPr>
            <a:r>
              <a:rPr dirty="0" sz="1450">
                <a:latin typeface="Arial MT"/>
                <a:cs typeface="Arial MT"/>
              </a:rPr>
              <a:t>Examples:</a:t>
            </a:r>
            <a:r>
              <a:rPr dirty="0" sz="1450" spc="114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Enterprise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Application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Integration</a:t>
            </a:r>
            <a:r>
              <a:rPr dirty="0" sz="1450" spc="10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software,</a:t>
            </a:r>
            <a:r>
              <a:rPr dirty="0" sz="1450" spc="1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telecommunications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software,</a:t>
            </a:r>
            <a:r>
              <a:rPr dirty="0" sz="1450" spc="114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transaction </a:t>
            </a:r>
            <a:r>
              <a:rPr dirty="0" sz="1450" spc="-10">
                <a:latin typeface="Arial MT"/>
                <a:cs typeface="Arial MT"/>
              </a:rPr>
              <a:t>	</a:t>
            </a:r>
            <a:r>
              <a:rPr dirty="0" sz="1450">
                <a:latin typeface="Arial MT"/>
                <a:cs typeface="Arial MT"/>
              </a:rPr>
              <a:t>monitors,</a:t>
            </a:r>
            <a:r>
              <a:rPr dirty="0" sz="1450" spc="9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9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messaging-and-queueing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software.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Middleware?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4472" y="2002536"/>
            <a:ext cx="4533899" cy="4649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47" y="1810007"/>
            <a:ext cx="9889490" cy="448627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0025" marR="661035" indent="-187960">
              <a:lnSpc>
                <a:spcPts val="2140"/>
              </a:lnSpc>
              <a:spcBef>
                <a:spcPts val="365"/>
              </a:spcBef>
              <a:buChar char="•"/>
              <a:tabLst>
                <a:tab pos="201295" algn="l"/>
              </a:tabLst>
            </a:pPr>
            <a:r>
              <a:rPr dirty="0" sz="1950" spc="-35">
                <a:solidFill>
                  <a:srgbClr val="000099"/>
                </a:solidFill>
                <a:latin typeface="Arial MT"/>
                <a:cs typeface="Arial MT"/>
              </a:rPr>
              <a:t>Today,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businesses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rely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lot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network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9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which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involve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database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systems.</a:t>
            </a:r>
            <a:endParaRPr sz="1950">
              <a:latin typeface="Arial MT"/>
              <a:cs typeface="Arial MT"/>
            </a:endParaRPr>
          </a:p>
          <a:p>
            <a:pPr marL="200025" marR="5080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network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need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perform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many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functions,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such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as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updating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orders,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customers,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facilitating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payments,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allowing</a:t>
            </a:r>
            <a:r>
              <a:rPr dirty="0" sz="1950" spc="10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customers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track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shipments,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so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on.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000099"/>
              </a:buClr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functions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require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real-time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transfer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data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between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devices.</a:t>
            </a:r>
            <a:endParaRPr sz="1950">
              <a:latin typeface="Arial MT"/>
              <a:cs typeface="Arial MT"/>
            </a:endParaRPr>
          </a:p>
          <a:p>
            <a:pPr marL="200025" marR="8763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addition,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devices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9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varying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processing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power,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bandwidth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capacities,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screen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visual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display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capabilities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need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access</a:t>
            </a:r>
            <a:r>
              <a:rPr dirty="0" sz="19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network.</a:t>
            </a:r>
            <a:endParaRPr sz="1950">
              <a:latin typeface="Arial MT"/>
              <a:cs typeface="Arial MT"/>
            </a:endParaRPr>
          </a:p>
          <a:p>
            <a:pPr marL="200025" marR="226060" indent="-187960">
              <a:lnSpc>
                <a:spcPts val="2140"/>
              </a:lnSpc>
              <a:spcBef>
                <a:spcPts val="820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steps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provide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unified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means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9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systems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communicate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interact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each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other.</a:t>
            </a:r>
            <a:endParaRPr sz="1950">
              <a:latin typeface="Arial MT"/>
              <a:cs typeface="Arial MT"/>
            </a:endParaRPr>
          </a:p>
          <a:p>
            <a:pPr marL="200025" marR="87630" indent="-187960">
              <a:lnSpc>
                <a:spcPct val="91600"/>
              </a:lnSpc>
              <a:spcBef>
                <a:spcPts val="775"/>
              </a:spcBef>
              <a:buChar char="•"/>
              <a:tabLst>
                <a:tab pos="201295" algn="l"/>
              </a:tabLst>
            </a:pPr>
            <a:r>
              <a:rPr dirty="0" sz="1950" spc="-65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do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this,</a:t>
            </a:r>
            <a:r>
              <a:rPr dirty="0" sz="19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lot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cross-language,</a:t>
            </a:r>
            <a:r>
              <a:rPr dirty="0" sz="19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which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means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9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capable</a:t>
            </a:r>
            <a:r>
              <a:rPr dirty="0" sz="19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of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understanding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9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processing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several</a:t>
            </a:r>
            <a:r>
              <a:rPr dirty="0" sz="19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operating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languages,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such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as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Ruby</a:t>
            </a:r>
            <a:r>
              <a:rPr dirty="0" sz="1950" spc="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on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Rails,</a:t>
            </a:r>
            <a:r>
              <a:rPr dirty="0" sz="19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Java,</a:t>
            </a:r>
            <a:r>
              <a:rPr dirty="0" sz="19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C++,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PHP,</a:t>
            </a:r>
            <a:r>
              <a:rPr dirty="0" sz="19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so</a:t>
            </a:r>
            <a:r>
              <a:rPr dirty="0" sz="19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on.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How</a:t>
            </a:r>
            <a:r>
              <a:rPr dirty="0" spc="-70"/>
              <a:t> </a:t>
            </a:r>
            <a:r>
              <a:rPr dirty="0"/>
              <a:t>does</a:t>
            </a:r>
            <a:r>
              <a:rPr dirty="0" spc="-85"/>
              <a:t> </a:t>
            </a:r>
            <a:r>
              <a:rPr dirty="0"/>
              <a:t>Middleware</a:t>
            </a:r>
            <a:r>
              <a:rPr dirty="0" spc="-110"/>
              <a:t> </a:t>
            </a:r>
            <a:r>
              <a:rPr dirty="0" spc="-10"/>
              <a:t>Work?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14596"/>
            <a:ext cx="9905365" cy="45116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1295" marR="71120" indent="-189230">
              <a:lnSpc>
                <a:spcPts val="1789"/>
              </a:lnSpc>
              <a:spcBef>
                <a:spcPts val="325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Apart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allowing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communication</a:t>
            </a:r>
            <a:r>
              <a:rPr dirty="0" sz="1650" spc="-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between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fundamentally</a:t>
            </a:r>
            <a:r>
              <a:rPr dirty="0" sz="16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systems,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also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performs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several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functions.</a:t>
            </a:r>
            <a:endParaRPr sz="1650">
              <a:latin typeface="Arial MT"/>
              <a:cs typeface="Arial MT"/>
            </a:endParaRPr>
          </a:p>
          <a:p>
            <a:pPr marL="201295" marR="463550" indent="-189230">
              <a:lnSpc>
                <a:spcPts val="1780"/>
              </a:lnSpc>
              <a:spcBef>
                <a:spcPts val="82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Hiding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distributed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nature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application.</a:t>
            </a:r>
            <a:r>
              <a:rPr dirty="0" sz="16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surface,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appear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65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unified package.</a:t>
            </a:r>
            <a:endParaRPr sz="1650">
              <a:latin typeface="Arial MT"/>
              <a:cs typeface="Arial MT"/>
            </a:endParaRPr>
          </a:p>
          <a:p>
            <a:pPr marL="201295" marR="957580" indent="-189230">
              <a:lnSpc>
                <a:spcPts val="178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Below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surface,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however,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they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comprised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several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interconnected</a:t>
            </a:r>
            <a:r>
              <a:rPr dirty="0" sz="165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elements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running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in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distributed</a:t>
            </a:r>
            <a:r>
              <a:rPr dirty="0" sz="16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locations.</a:t>
            </a:r>
            <a:endParaRPr sz="1650">
              <a:latin typeface="Arial MT"/>
              <a:cs typeface="Arial MT"/>
            </a:endParaRPr>
          </a:p>
          <a:p>
            <a:pPr marL="201295" marR="109855" indent="-189230">
              <a:lnSpc>
                <a:spcPts val="1789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helps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elements</a:t>
            </a:r>
            <a:r>
              <a:rPr dirty="0" sz="1650" spc="-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work</a:t>
            </a:r>
            <a:r>
              <a:rPr dirty="0" sz="165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harmony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provide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unified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experience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user,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despite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distributed</a:t>
            </a:r>
            <a:r>
              <a:rPr dirty="0" sz="165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nature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application.</a:t>
            </a:r>
            <a:endParaRPr sz="1650">
              <a:latin typeface="Arial MT"/>
              <a:cs typeface="Arial MT"/>
            </a:endParaRPr>
          </a:p>
          <a:p>
            <a:pPr marL="201295" marR="565785" indent="-189230">
              <a:lnSpc>
                <a:spcPts val="1789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Hiding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heterogeneity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enterprise.</a:t>
            </a:r>
            <a:r>
              <a:rPr dirty="0" sz="1650" spc="-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usually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made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up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65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hardware,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operating</a:t>
            </a:r>
            <a:r>
              <a:rPr dirty="0" sz="165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systems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communication</a:t>
            </a:r>
            <a:r>
              <a:rPr dirty="0" sz="165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protocols.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90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allows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systems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work</a:t>
            </a:r>
            <a:r>
              <a:rPr dirty="0" sz="165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together</a:t>
            </a:r>
            <a:r>
              <a:rPr dirty="0" sz="16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while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masking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their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differences.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Clr>
                <a:srgbClr val="000099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295" marR="5080" indent="-189230">
              <a:lnSpc>
                <a:spcPts val="1789"/>
              </a:lnSpc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Providing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developers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uniform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standard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high-level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enterprises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they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use</a:t>
            </a:r>
            <a:r>
              <a:rPr dirty="0" sz="165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to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build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run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hardware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operating</a:t>
            </a:r>
            <a:r>
              <a:rPr dirty="0" sz="16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systems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work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with each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other.</a:t>
            </a:r>
            <a:endParaRPr sz="1650">
              <a:latin typeface="Arial MT"/>
              <a:cs typeface="Arial MT"/>
            </a:endParaRPr>
          </a:p>
          <a:p>
            <a:pPr marL="201295" marR="85725" indent="-189230">
              <a:lnSpc>
                <a:spcPts val="1789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Avoiding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duplication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enabling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compatibility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between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65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by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providing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common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framework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for performing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various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general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purpose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functions.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How</a:t>
            </a:r>
            <a:r>
              <a:rPr dirty="0" spc="-70"/>
              <a:t> </a:t>
            </a:r>
            <a:r>
              <a:rPr dirty="0"/>
              <a:t>does</a:t>
            </a:r>
            <a:r>
              <a:rPr dirty="0" spc="-85"/>
              <a:t> </a:t>
            </a:r>
            <a:r>
              <a:rPr dirty="0"/>
              <a:t>Middleware</a:t>
            </a:r>
            <a:r>
              <a:rPr dirty="0" spc="-110"/>
              <a:t> </a:t>
            </a:r>
            <a:r>
              <a:rPr dirty="0" spc="-10"/>
              <a:t>Work?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06996"/>
            <a:ext cx="9880600" cy="457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165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dirty="0" sz="165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165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support</a:t>
            </a:r>
            <a:r>
              <a:rPr dirty="0" sz="165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application</a:t>
            </a:r>
            <a:r>
              <a:rPr dirty="0" sz="165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Calibri"/>
                <a:cs typeface="Calibri"/>
              </a:rPr>
              <a:t>development,</a:t>
            </a:r>
            <a:r>
              <a:rPr dirty="0" sz="165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middleware</a:t>
            </a:r>
            <a:r>
              <a:rPr dirty="0" sz="165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uses</a:t>
            </a:r>
            <a:r>
              <a:rPr dirty="0" sz="165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65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r>
              <a:rPr dirty="0" sz="165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Calibri"/>
                <a:cs typeface="Calibri"/>
              </a:rPr>
              <a:t>components: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5"/>
              </a:spcBef>
              <a:buFont typeface="Arial MT"/>
              <a:buChar char="•"/>
            </a:pPr>
            <a:endParaRPr sz="16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Database</a:t>
            </a:r>
            <a:r>
              <a:rPr dirty="0" sz="1800" spc="-2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: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Most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multi-tier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systems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will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require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lvl="1" marL="577215" indent="-18669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57721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 acts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link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client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server.</a:t>
            </a:r>
            <a:endParaRPr sz="1800">
              <a:latin typeface="Calibri"/>
              <a:cs typeface="Calibri"/>
            </a:endParaRPr>
          </a:p>
          <a:p>
            <a:pPr lvl="1" marL="576580" marR="847090" indent="-186690">
              <a:lnSpc>
                <a:spcPts val="1970"/>
              </a:lnSpc>
              <a:spcBef>
                <a:spcPts val="425"/>
              </a:spcBef>
              <a:buFont typeface="Arial MT"/>
              <a:buChar char="•"/>
              <a:tabLst>
                <a:tab pos="57785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accepts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client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requests,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passes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them on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 the database server and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then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passes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back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response</a:t>
            </a:r>
            <a:r>
              <a:rPr dirty="0" sz="180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client.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1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server:</a:t>
            </a:r>
            <a:r>
              <a:rPr dirty="0" sz="1800" spc="2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part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the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holds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business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logic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the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application.</a:t>
            </a:r>
            <a:endParaRPr sz="1800">
              <a:latin typeface="Calibri"/>
              <a:cs typeface="Calibri"/>
            </a:endParaRPr>
          </a:p>
          <a:p>
            <a:pPr marL="200025" marR="5080" indent="-187960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Portal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: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interaction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tool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 is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used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provide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selected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audience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with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access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business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applications,</a:t>
            </a:r>
            <a:r>
              <a:rPr dirty="0" sz="1800" spc="-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relevant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information,</a:t>
            </a:r>
            <a:r>
              <a:rPr dirty="0" sz="1800" spc="-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instant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messaging,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discussion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forums,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other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company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resources.</a:t>
            </a:r>
            <a:endParaRPr sz="1800">
              <a:latin typeface="Calibri"/>
              <a:cs typeface="Calibri"/>
            </a:endParaRPr>
          </a:p>
          <a:p>
            <a:pPr marL="200025" marR="441325" indent="-187960">
              <a:lnSpc>
                <a:spcPts val="197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Service</a:t>
            </a:r>
            <a:r>
              <a:rPr dirty="0" sz="1800" spc="2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Oriented</a:t>
            </a:r>
            <a:r>
              <a:rPr dirty="0" sz="1800" spc="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Architecture</a:t>
            </a:r>
            <a:r>
              <a:rPr dirty="0" sz="1800" spc="4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(SOA):</a:t>
            </a:r>
            <a:r>
              <a:rPr dirty="0" sz="1800" spc="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 framework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 is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used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easily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design,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develop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and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deploy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  <a:p>
            <a:pPr lvl="1" marL="577215" indent="-18669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57721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Many types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SOA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with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prebuilt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services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utilized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by multiple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Web server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: The role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web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server is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process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deliver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client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requests.</a:t>
            </a:r>
            <a:endParaRPr sz="1800">
              <a:latin typeface="Calibri"/>
              <a:cs typeface="Calibri"/>
            </a:endParaRPr>
          </a:p>
          <a:p>
            <a:pPr lvl="1" marL="576580" marR="624205" indent="-186690">
              <a:lnSpc>
                <a:spcPts val="1970"/>
              </a:lnSpc>
              <a:spcBef>
                <a:spcPts val="430"/>
              </a:spcBef>
              <a:buFont typeface="Arial MT"/>
              <a:buChar char="•"/>
              <a:tabLst>
                <a:tab pos="57785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Web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servers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provide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best and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most flexible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options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integration</a:t>
            </a:r>
            <a:r>
              <a:rPr dirty="0" sz="1800" spc="-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different 	systems.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b="0">
                <a:latin typeface="Arial MT"/>
                <a:cs typeface="Arial MT"/>
              </a:rPr>
              <a:t>Middleware</a:t>
            </a:r>
            <a:r>
              <a:rPr dirty="0" sz="2350" spc="100" b="0">
                <a:latin typeface="Arial MT"/>
                <a:cs typeface="Arial MT"/>
              </a:rPr>
              <a:t> </a:t>
            </a:r>
            <a:r>
              <a:rPr dirty="0" sz="2350" b="0">
                <a:latin typeface="Arial MT"/>
                <a:cs typeface="Arial MT"/>
              </a:rPr>
              <a:t>helps</a:t>
            </a:r>
            <a:r>
              <a:rPr dirty="0" sz="2350" spc="105" b="0">
                <a:latin typeface="Arial MT"/>
                <a:cs typeface="Arial MT"/>
              </a:rPr>
              <a:t> </a:t>
            </a:r>
            <a:r>
              <a:rPr dirty="0" sz="2350" b="0">
                <a:latin typeface="Arial MT"/>
                <a:cs typeface="Arial MT"/>
              </a:rPr>
              <a:t>make</a:t>
            </a:r>
            <a:r>
              <a:rPr dirty="0" sz="2350" spc="85" b="0">
                <a:latin typeface="Arial MT"/>
                <a:cs typeface="Arial MT"/>
              </a:rPr>
              <a:t> </a:t>
            </a:r>
            <a:r>
              <a:rPr dirty="0" sz="2350" b="0">
                <a:latin typeface="Arial MT"/>
                <a:cs typeface="Arial MT"/>
              </a:rPr>
              <a:t>application</a:t>
            </a:r>
            <a:r>
              <a:rPr dirty="0" sz="2350" spc="110" b="0">
                <a:latin typeface="Arial MT"/>
                <a:cs typeface="Arial MT"/>
              </a:rPr>
              <a:t> </a:t>
            </a:r>
            <a:r>
              <a:rPr dirty="0" sz="2350" b="0">
                <a:latin typeface="Arial MT"/>
                <a:cs typeface="Arial MT"/>
              </a:rPr>
              <a:t>development</a:t>
            </a:r>
            <a:r>
              <a:rPr dirty="0" sz="2350" spc="85" b="0">
                <a:latin typeface="Arial MT"/>
                <a:cs typeface="Arial MT"/>
              </a:rPr>
              <a:t> </a:t>
            </a:r>
            <a:r>
              <a:rPr dirty="0" sz="2350" spc="-10" b="0">
                <a:latin typeface="Arial MT"/>
                <a:cs typeface="Arial MT"/>
              </a:rPr>
              <a:t>easier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12998"/>
            <a:ext cx="9448800" cy="4232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dirty="0" sz="18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dirty="0" sz="1800" spc="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already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seen that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middleware acts</a:t>
            </a:r>
            <a:r>
              <a:rPr dirty="0" sz="180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a link</a:t>
            </a:r>
            <a:r>
              <a:rPr dirty="0" sz="18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between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different</a:t>
            </a:r>
            <a:r>
              <a:rPr dirty="0" sz="1800" spc="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software.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But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what exactly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does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it do apart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acting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 conduit between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 different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software?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Some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uses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include:</a:t>
            </a:r>
            <a:endParaRPr sz="1800">
              <a:latin typeface="Arial MT"/>
              <a:cs typeface="Arial MT"/>
            </a:endParaRPr>
          </a:p>
          <a:p>
            <a:pPr marL="200025" marR="438150" indent="-187960">
              <a:lnSpc>
                <a:spcPts val="1970"/>
              </a:lnSpc>
              <a:spcBef>
                <a:spcPts val="85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Transaction</a:t>
            </a:r>
            <a:r>
              <a:rPr dirty="0" sz="1800" spc="1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management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: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used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manage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control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individual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transactions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 ensure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any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problems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do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not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corrupt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 system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database.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6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Application</a:t>
            </a:r>
            <a:r>
              <a:rPr dirty="0" sz="1800" spc="4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server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: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 be used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 host an</a:t>
            </a:r>
            <a:r>
              <a:rPr dirty="0" sz="1800" spc="-10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API,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allowing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to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access 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use 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main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application’s business logic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processes.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374650" indent="-187960">
              <a:lnSpc>
                <a:spcPts val="196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Security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: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 used to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authenticate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programs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confirm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the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program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 user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behind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program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are actually who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they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claim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be.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USES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12998"/>
            <a:ext cx="9906000" cy="281622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00025" marR="282575" indent="-187960">
              <a:lnSpc>
                <a:spcPts val="1960"/>
              </a:lnSpc>
              <a:spcBef>
                <a:spcPts val="34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Message</a:t>
            </a:r>
            <a:r>
              <a:rPr dirty="0" sz="1800" spc="1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queues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: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can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 used to pass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between different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systems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or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software.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 then trigger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 transaction or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action.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8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451484" indent="-187960">
              <a:lnSpc>
                <a:spcPts val="1960"/>
              </a:lnSpc>
              <a:spcBef>
                <a:spcPts val="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Directory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: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can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used as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directory,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enabling client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programs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 locate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other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services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within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distributed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enterprise.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3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6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Web</a:t>
            </a:r>
            <a:r>
              <a:rPr dirty="0" sz="1800" spc="-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server:</a:t>
            </a:r>
            <a:r>
              <a:rPr dirty="0" sz="1800" spc="2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can also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accept client</a:t>
            </a:r>
            <a:r>
              <a:rPr dirty="0" sz="180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requests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from web browsers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 channel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them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main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server/database</a:t>
            </a:r>
            <a:r>
              <a:rPr dirty="0" sz="180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deliver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responses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browsers.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USES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Middleware?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8632" y="1918716"/>
            <a:ext cx="6230112" cy="46923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65175" y="4133088"/>
            <a:ext cx="2026920" cy="15240"/>
          </a:xfrm>
          <a:custGeom>
            <a:avLst/>
            <a:gdLst/>
            <a:ahLst/>
            <a:cxnLst/>
            <a:rect l="l" t="t" r="r" b="b"/>
            <a:pathLst>
              <a:path w="2026920" h="15239">
                <a:moveTo>
                  <a:pt x="2026919" y="15239"/>
                </a:moveTo>
                <a:lnTo>
                  <a:pt x="0" y="15239"/>
                </a:lnTo>
                <a:lnTo>
                  <a:pt x="0" y="0"/>
                </a:lnTo>
                <a:lnTo>
                  <a:pt x="2026919" y="0"/>
                </a:lnTo>
                <a:lnTo>
                  <a:pt x="2026919" y="15239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311907" y="6205728"/>
            <a:ext cx="7604759" cy="15240"/>
          </a:xfrm>
          <a:custGeom>
            <a:avLst/>
            <a:gdLst/>
            <a:ahLst/>
            <a:cxnLst/>
            <a:rect l="l" t="t" r="r" b="b"/>
            <a:pathLst>
              <a:path w="7604759" h="15239">
                <a:moveTo>
                  <a:pt x="7604760" y="15240"/>
                </a:moveTo>
                <a:lnTo>
                  <a:pt x="0" y="15240"/>
                </a:lnTo>
                <a:lnTo>
                  <a:pt x="0" y="0"/>
                </a:lnTo>
                <a:lnTo>
                  <a:pt x="7604760" y="0"/>
                </a:lnTo>
                <a:lnTo>
                  <a:pt x="7604760" y="152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3483" y="1786474"/>
            <a:ext cx="9867265" cy="467487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124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From</a:t>
            </a:r>
            <a:r>
              <a:rPr dirty="0" sz="1650" spc="-4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enterprise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to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platform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middleware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There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specifically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two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middleware: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Enterprise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Platform.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u="sng" sz="180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</a:rPr>
              <a:t>Enterprise</a:t>
            </a:r>
            <a:r>
              <a:rPr dirty="0" u="sng" sz="1800" spc="1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Enterprise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connects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components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enterprise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  <a:p>
            <a:pPr marL="200025" marR="744855" indent="-187960">
              <a:lnSpc>
                <a:spcPts val="1739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layer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operating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system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on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either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side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a 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computer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network,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usually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supporting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complex,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distributed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business software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applications.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Platform</a:t>
            </a:r>
            <a:r>
              <a:rPr dirty="0" sz="1800" spc="-4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Platform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connects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architectures.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Some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technology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firms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operate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using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multiple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structures.</a:t>
            </a:r>
            <a:endParaRPr sz="1800">
              <a:latin typeface="Calibri"/>
              <a:cs typeface="Calibri"/>
            </a:endParaRPr>
          </a:p>
          <a:p>
            <a:pPr marL="200025" marR="353060" indent="-187960">
              <a:lnSpc>
                <a:spcPts val="1739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event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firms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merge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when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are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third-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party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acquisitions,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company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may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find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they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are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using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multiple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structures.</a:t>
            </a:r>
            <a:endParaRPr sz="1800">
              <a:latin typeface="Calibri"/>
              <a:cs typeface="Calibri"/>
            </a:endParaRPr>
          </a:p>
          <a:p>
            <a:pPr marL="200025" marR="602615" indent="-187960">
              <a:lnSpc>
                <a:spcPts val="1739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supports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these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structures,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provides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methods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three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arenas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interconnection: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development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environments,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production</a:t>
            </a:r>
            <a:r>
              <a:rPr dirty="0" sz="1800" spc="-8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test.</a:t>
            </a:r>
            <a:endParaRPr sz="1800">
              <a:latin typeface="Calibri"/>
              <a:cs typeface="Calibri"/>
            </a:endParaRPr>
          </a:p>
          <a:p>
            <a:pPr marL="200025" marR="5080" indent="-187960">
              <a:lnSpc>
                <a:spcPts val="1739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all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these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arenas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 transfers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application</a:t>
            </a:r>
            <a:r>
              <a:rPr dirty="0" sz="18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application,</a:t>
            </a:r>
            <a:r>
              <a:rPr dirty="0" sz="18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well</a:t>
            </a:r>
            <a:r>
              <a:rPr dirty="0" sz="18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dirty="0" sz="18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between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dirty="0" u="sng" sz="18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databases</a:t>
            </a:r>
            <a:r>
              <a:rPr dirty="0" u="sng" sz="180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800" spc="-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files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Applications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790593"/>
            <a:ext cx="9807575" cy="349694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Message</a:t>
            </a:r>
            <a:r>
              <a:rPr dirty="0" sz="1800" spc="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Oriented</a:t>
            </a:r>
            <a:r>
              <a:rPr dirty="0" sz="1800" spc="4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Middleware</a:t>
            </a:r>
            <a:r>
              <a:rPr dirty="0" sz="1800" spc="-1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Arial"/>
                <a:cs typeface="Arial"/>
              </a:rPr>
              <a:t>(MOM)</a:t>
            </a:r>
            <a:endParaRPr sz="1800">
              <a:latin typeface="Arial"/>
              <a:cs typeface="Arial"/>
            </a:endParaRPr>
          </a:p>
          <a:p>
            <a:pPr marL="200025" marR="207010" indent="-187960">
              <a:lnSpc>
                <a:spcPts val="1960"/>
              </a:lnSpc>
              <a:spcBef>
                <a:spcPts val="85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is software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infrastructure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allows messages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sent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received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over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distributed 	applications</a:t>
            </a:r>
            <a:endParaRPr sz="1800">
              <a:latin typeface="Arial MT"/>
              <a:cs typeface="Arial MT"/>
            </a:endParaRPr>
          </a:p>
          <a:p>
            <a:pPr marL="200025" marR="13335" indent="-187960">
              <a:lnSpc>
                <a:spcPts val="197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prevents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 message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getting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misplaced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while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awaiting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get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 server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client.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example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 message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oriented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is email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systems.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Remote</a:t>
            </a:r>
            <a:r>
              <a:rPr dirty="0" sz="1800" spc="-1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Procedure</a:t>
            </a:r>
            <a:r>
              <a:rPr dirty="0" sz="1800" spc="2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Call (RPC)</a:t>
            </a:r>
            <a:r>
              <a:rPr dirty="0" sz="1800" spc="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Arial"/>
                <a:cs typeface="Arial"/>
              </a:rPr>
              <a:t>Middleware</a:t>
            </a:r>
            <a:endParaRPr sz="1800">
              <a:latin typeface="Arial"/>
              <a:cs typeface="Arial"/>
            </a:endParaRPr>
          </a:p>
          <a:p>
            <a:pPr marL="200025" marR="5080" indent="-187960">
              <a:lnSpc>
                <a:spcPts val="1960"/>
              </a:lnSpc>
              <a:spcBef>
                <a:spcPts val="85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client-server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interaction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makes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possible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for the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functionality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to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distributed across multiple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platforms.</a:t>
            </a:r>
            <a:endParaRPr sz="1800">
              <a:latin typeface="Arial MT"/>
              <a:cs typeface="Arial MT"/>
            </a:endParaRPr>
          </a:p>
          <a:p>
            <a:pPr marL="200025" marR="168275" indent="-187960">
              <a:lnSpc>
                <a:spcPts val="1960"/>
              </a:lnSpc>
              <a:spcBef>
                <a:spcPts val="83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type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is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most used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execute synchronous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data transfers,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where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both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server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need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online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at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time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communication.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Types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793401"/>
            <a:ext cx="9805035" cy="476821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Database</a:t>
            </a:r>
            <a:r>
              <a:rPr dirty="0" sz="1800" spc="-2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marL="200025" marR="118745" indent="-187960">
              <a:lnSpc>
                <a:spcPct val="705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type of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allows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direct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access and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interaction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with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database.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Database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is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most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common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most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widely used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type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middleware.</a:t>
            </a:r>
            <a:endParaRPr sz="1800">
              <a:latin typeface="Calibri"/>
              <a:cs typeface="Calibri"/>
            </a:endParaRPr>
          </a:p>
          <a:p>
            <a:pPr marL="200025" marR="139700" indent="-187960">
              <a:lnSpc>
                <a:spcPct val="705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mostly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used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by developers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mechanism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request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information</a:t>
            </a:r>
            <a:r>
              <a:rPr dirty="0" sz="1800" spc="-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database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hosted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either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locally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remotely.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good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example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database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SQL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database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Programming</a:t>
            </a:r>
            <a:r>
              <a:rPr dirty="0" sz="1800" spc="-3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Interface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(API)</a:t>
            </a:r>
            <a:endParaRPr sz="1800">
              <a:latin typeface="Calibri"/>
              <a:cs typeface="Calibri"/>
            </a:endParaRPr>
          </a:p>
          <a:p>
            <a:pPr marL="200025" marR="246379" indent="-187960">
              <a:lnSpc>
                <a:spcPct val="706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API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 set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protocols,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tools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definitions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building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applications,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allow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secondary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service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communicate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with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primary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 service,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without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having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know 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how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primary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service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being</a:t>
            </a:r>
            <a:r>
              <a:rPr dirty="0" sz="180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implemented.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Object</a:t>
            </a:r>
            <a:r>
              <a:rPr dirty="0" sz="1800" spc="3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marL="200025" marR="5080" indent="-187960">
              <a:lnSpc>
                <a:spcPct val="705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Also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known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 object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request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broker,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role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object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control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communication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between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objects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distributed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computing.</a:t>
            </a:r>
            <a:endParaRPr sz="1800">
              <a:latin typeface="Calibri"/>
              <a:cs typeface="Calibri"/>
            </a:endParaRPr>
          </a:p>
          <a:p>
            <a:pPr marL="200025" marR="717550" indent="-187960">
              <a:lnSpc>
                <a:spcPct val="705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Object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allows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computer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make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program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calls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another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through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computer 	network.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also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allows requests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objects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sent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through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object-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oriented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Types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779805"/>
            <a:ext cx="9729470" cy="445579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Transaction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Processing</a:t>
            </a:r>
            <a:r>
              <a:rPr dirty="0" sz="1800" spc="1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(TP)</a:t>
            </a:r>
            <a:r>
              <a:rPr dirty="0" sz="1800" spc="-1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type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whose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role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reinforce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function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 electronic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transactions.</a:t>
            </a:r>
            <a:endParaRPr sz="1800">
              <a:latin typeface="Calibri"/>
              <a:cs typeface="Calibri"/>
            </a:endParaRPr>
          </a:p>
          <a:p>
            <a:pPr marL="200025" marR="41275" indent="-187960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Transactional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does this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by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controlling</a:t>
            </a:r>
            <a:r>
              <a:rPr dirty="0" sz="1800" spc="-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transaction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apps,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pushing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database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updates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related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transaction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enforcing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business</a:t>
            </a:r>
            <a:r>
              <a:rPr dirty="0" sz="180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rules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logic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transaction.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Robotic</a:t>
            </a:r>
            <a:r>
              <a:rPr dirty="0" sz="1800" spc="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marL="200025" marR="848360" indent="-187960">
              <a:lnSpc>
                <a:spcPts val="1970"/>
              </a:lnSpc>
              <a:spcBef>
                <a:spcPts val="85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type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very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handy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when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comes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building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extensive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systems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for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controlling</a:t>
            </a:r>
            <a:r>
              <a:rPr dirty="0" sz="1800" spc="-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robot</a:t>
            </a:r>
            <a:r>
              <a:rPr dirty="0" sz="1800" spc="-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  <a:p>
            <a:pPr marL="200025" marR="165100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Robotic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helps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manage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control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heterogeneity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complexity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hardware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systems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form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part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robot.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Integration</a:t>
            </a:r>
            <a:r>
              <a:rPr dirty="0" sz="1800" spc="-6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marL="200025" marR="5080" indent="-187960">
              <a:lnSpc>
                <a:spcPts val="197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type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provides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integration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framework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through</a:t>
            </a:r>
            <a:r>
              <a:rPr dirty="0" sz="1800" spc="-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operations,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executions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and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runtime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services from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several apps can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monitored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controlled.</a:t>
            </a:r>
            <a:endParaRPr sz="1800">
              <a:latin typeface="Calibri"/>
              <a:cs typeface="Calibri"/>
            </a:endParaRPr>
          </a:p>
          <a:p>
            <a:pPr marL="200025" marR="225425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Integration</a:t>
            </a:r>
            <a:r>
              <a:rPr dirty="0" sz="1800" spc="-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also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useful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combining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dirty="0" sz="18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several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sources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into</a:t>
            </a:r>
            <a:r>
              <a:rPr dirty="0" sz="1800" spc="-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one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unified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platform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where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users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access and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manipulate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Types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779805"/>
            <a:ext cx="9869805" cy="466471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15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Framework</a:t>
            </a:r>
            <a:endParaRPr sz="1800">
              <a:latin typeface="Calibri"/>
              <a:cs typeface="Calibri"/>
            </a:endParaRPr>
          </a:p>
          <a:p>
            <a:pPr marL="200025" marR="5080" indent="-187960">
              <a:lnSpc>
                <a:spcPts val="1960"/>
              </a:lnSpc>
              <a:spcBef>
                <a:spcPts val="86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framework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 provides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basic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structure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on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particular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environment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built.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application</a:t>
            </a:r>
            <a:r>
              <a:rPr dirty="0" sz="18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framework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acts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backbone that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supports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Using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framework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makes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development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process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lot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simpler.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Device</a:t>
            </a:r>
            <a:r>
              <a:rPr dirty="0" sz="1800" spc="2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endParaRPr sz="1800">
              <a:latin typeface="Calibri"/>
              <a:cs typeface="Calibri"/>
            </a:endParaRPr>
          </a:p>
          <a:p>
            <a:pPr marL="200025" marR="197485" indent="-187960">
              <a:lnSpc>
                <a:spcPts val="197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 type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 that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provides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set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tools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used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build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applications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meant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to 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run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 specific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hardware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environment.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Calibri"/>
                <a:cs typeface="Calibri"/>
              </a:rPr>
              <a:t>Game</a:t>
            </a:r>
            <a:r>
              <a:rPr dirty="0" sz="1800" spc="10" b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Calibri"/>
                <a:cs typeface="Calibri"/>
              </a:rPr>
              <a:t>Engines</a:t>
            </a:r>
            <a:endParaRPr sz="1800">
              <a:latin typeface="Calibri"/>
              <a:cs typeface="Calibri"/>
            </a:endParaRPr>
          </a:p>
          <a:p>
            <a:pPr marL="200025" marR="412115" indent="-187960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This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type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provides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game</a:t>
            </a:r>
            <a:r>
              <a:rPr dirty="0" sz="1800" spc="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designers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with</a:t>
            </a:r>
            <a:r>
              <a:rPr dirty="0" sz="18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access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tools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make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game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creation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process</a:t>
            </a:r>
            <a:r>
              <a:rPr dirty="0" sz="18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easier.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Game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engines</a:t>
            </a:r>
            <a:r>
              <a:rPr dirty="0" sz="1800" spc="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utilize</a:t>
            </a:r>
            <a:r>
              <a:rPr dirty="0" sz="18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tools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such</a:t>
            </a:r>
            <a:r>
              <a:rPr dirty="0" sz="18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game</a:t>
            </a:r>
            <a:r>
              <a:rPr dirty="0" sz="18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scripting,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physics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simulations,</a:t>
            </a:r>
            <a:r>
              <a:rPr dirty="0" sz="18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graphics</a:t>
            </a:r>
            <a:r>
              <a:rPr dirty="0" sz="18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Calibri"/>
                <a:cs typeface="Calibri"/>
              </a:rPr>
              <a:t>rendering.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Types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67945"/>
            <a:ext cx="9732010" cy="36283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spc="-10" b="1">
                <a:solidFill>
                  <a:srgbClr val="000099"/>
                </a:solidFill>
                <a:latin typeface="Arial"/>
                <a:cs typeface="Arial"/>
              </a:rPr>
              <a:t>Portals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200025" marR="359410" indent="-187960">
              <a:lnSpc>
                <a:spcPts val="1960"/>
              </a:lnSpc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Though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they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might not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actually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 type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 middleware,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portal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servers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are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also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sometimes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referred</a:t>
            </a:r>
            <a:r>
              <a:rPr dirty="0" sz="180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because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they enable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smooth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front-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end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integration.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0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main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role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portals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allow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interaction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between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device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back end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systems.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800" spc="-10" b="1">
                <a:solidFill>
                  <a:srgbClr val="000099"/>
                </a:solidFill>
                <a:latin typeface="Arial"/>
                <a:cs typeface="Arial"/>
              </a:rPr>
              <a:t>Content-</a:t>
            </a: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Centric</a:t>
            </a:r>
            <a:r>
              <a:rPr dirty="0" sz="1800" spc="10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Arial"/>
                <a:cs typeface="Arial"/>
              </a:rPr>
              <a:t>Middleware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0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200025" marR="407670" indent="-187960">
              <a:lnSpc>
                <a:spcPts val="2000"/>
              </a:lnSpc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type 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Calibri"/>
                <a:cs typeface="Calibri"/>
              </a:rPr>
              <a:t>middleware</a:t>
            </a:r>
            <a:r>
              <a:rPr dirty="0" sz="1800" spc="8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 makes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it possible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developers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extract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some piece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of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content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without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having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know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how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obtains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content.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8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type</a:t>
            </a:r>
            <a:r>
              <a:rPr dirty="0" sz="180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 middleware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commonly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used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most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content-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oriented</a:t>
            </a:r>
            <a:r>
              <a:rPr dirty="0" sz="180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web-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based</a:t>
            </a:r>
            <a:r>
              <a:rPr dirty="0" sz="180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applications.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5"/>
              <a:t>Types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0005" y="1881090"/>
            <a:ext cx="9555480" cy="355600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994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Transaction</a:t>
            </a:r>
            <a:endParaRPr sz="1650">
              <a:latin typeface="Arial"/>
              <a:cs typeface="Arial"/>
            </a:endParaRPr>
          </a:p>
          <a:p>
            <a:pPr marL="200025" marR="5080" indent="-187960">
              <a:lnSpc>
                <a:spcPct val="90800"/>
              </a:lnSpc>
              <a:spcBef>
                <a:spcPts val="119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“A</a:t>
            </a:r>
            <a:r>
              <a:rPr dirty="0" sz="1800" spc="-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transaction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symbolizes a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unit 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work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performed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(comprising of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multiple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operations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if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needed)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within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(distributed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monolith)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treated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coherent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reliable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way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independent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operations.”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Properties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Transaction: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04"/>
              </a:spcBef>
              <a:buChar char="•"/>
              <a:tabLst>
                <a:tab pos="575945" algn="l"/>
              </a:tabLst>
            </a:pP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Atomic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575945" algn="l"/>
              </a:tabLst>
            </a:pP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Consistent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575945" algn="l"/>
              </a:tabLst>
            </a:pP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Isolated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575945" algn="l"/>
              </a:tabLst>
            </a:pP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Durable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 Nothing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mode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operation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Ex: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Funds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transfer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(debit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remittance account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credit beneficiary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account)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20"/>
              <a:t>Transaction</a:t>
            </a:r>
            <a:r>
              <a:rPr dirty="0" spc="-40"/>
              <a:t> </a:t>
            </a:r>
            <a:r>
              <a:rPr dirty="0" spc="-50"/>
              <a:t>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7530" y="1855931"/>
            <a:ext cx="9731375" cy="320040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19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What</a:t>
            </a:r>
            <a:r>
              <a:rPr dirty="0" sz="1650" spc="-4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does</a:t>
            </a:r>
            <a:r>
              <a:rPr dirty="0" sz="1650" spc="-4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it</a:t>
            </a:r>
            <a:r>
              <a:rPr dirty="0" sz="1650" spc="-4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do</a:t>
            </a:r>
            <a:r>
              <a:rPr dirty="0" sz="1650" spc="-3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?</a:t>
            </a:r>
            <a:endParaRPr sz="1650">
              <a:latin typeface="Arial"/>
              <a:cs typeface="Arial"/>
            </a:endParaRPr>
          </a:p>
          <a:p>
            <a:pPr marL="200025" marR="890905" indent="-187960">
              <a:lnSpc>
                <a:spcPct val="101099"/>
              </a:lnSpc>
              <a:spcBef>
                <a:spcPts val="118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Lies between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operating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each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side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distributed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computer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network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4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Hides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intricacies of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distributed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3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Hides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heterogeneity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 hardware,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operating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systems,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protocols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ct val="101099"/>
              </a:lnSpc>
              <a:spcBef>
                <a:spcPts val="82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Provides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uniform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high-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level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interfaces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used to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make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interoperable,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reusable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portable 	applications</a:t>
            </a:r>
            <a:endParaRPr sz="1800">
              <a:latin typeface="Arial MT"/>
              <a:cs typeface="Arial MT"/>
            </a:endParaRPr>
          </a:p>
          <a:p>
            <a:pPr marL="200025" marR="767715" indent="-187960">
              <a:lnSpc>
                <a:spcPct val="101099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Provides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set 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common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minimizes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duplication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efforts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enhances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collaboration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between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Middleware</a:t>
            </a:r>
            <a:r>
              <a:rPr dirty="0" spc="-150"/>
              <a:t> </a:t>
            </a:r>
            <a:r>
              <a:rPr dirty="0"/>
              <a:t>in</a:t>
            </a:r>
            <a:r>
              <a:rPr dirty="0" spc="-80"/>
              <a:t> </a:t>
            </a:r>
            <a:r>
              <a:rPr dirty="0"/>
              <a:t>Distributed</a:t>
            </a:r>
            <a:r>
              <a:rPr dirty="0" spc="-85"/>
              <a:t> </a:t>
            </a:r>
            <a:r>
              <a:rPr dirty="0" spc="-10"/>
              <a:t>computing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55931"/>
            <a:ext cx="8448675" cy="389509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19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Commonly</a:t>
            </a:r>
            <a:r>
              <a:rPr dirty="0" sz="1650" spc="-7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used</a:t>
            </a:r>
            <a:r>
              <a:rPr dirty="0" sz="1650" spc="-114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Architectures</a:t>
            </a:r>
            <a:r>
              <a:rPr dirty="0" sz="1650" spc="-7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of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Middleware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1205"/>
              </a:spcBef>
              <a:buChar char="•"/>
              <a:tabLst>
                <a:tab pos="200660" algn="l"/>
              </a:tabLst>
            </a:pP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Sockets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4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Remote Procedure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Calls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5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Distributed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Object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Oriented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Components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(Ex: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ORB)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3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Oriented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(Message Queues/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Enterprise Message Bus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etc.)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4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Oriented</a:t>
            </a:r>
            <a:r>
              <a:rPr dirty="0" sz="1800" spc="-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Architectures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4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Web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(Arbitrary /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RESTful)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50"/>
              </a:spcBef>
              <a:buChar char="•"/>
              <a:tabLst>
                <a:tab pos="200660" algn="l"/>
              </a:tabLst>
            </a:pP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SQL-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oriented</a:t>
            </a:r>
            <a:r>
              <a:rPr dirty="0" sz="180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data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access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4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Embedded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84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Cloud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Computing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Middleware</a:t>
            </a:r>
            <a:r>
              <a:rPr dirty="0" spc="-140"/>
              <a:t> </a:t>
            </a:r>
            <a:r>
              <a:rPr dirty="0"/>
              <a:t>–</a:t>
            </a:r>
            <a:r>
              <a:rPr dirty="0" spc="-65"/>
              <a:t> </a:t>
            </a:r>
            <a:r>
              <a:rPr dirty="0"/>
              <a:t>common</a:t>
            </a:r>
            <a:r>
              <a:rPr dirty="0" spc="-70"/>
              <a:t> </a:t>
            </a:r>
            <a:r>
              <a:rPr dirty="0" spc="-10"/>
              <a:t>forms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67945"/>
            <a:ext cx="9894570" cy="42716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00025" marR="280670" indent="-187960">
              <a:lnSpc>
                <a:spcPts val="1960"/>
              </a:lnSpc>
              <a:spcBef>
                <a:spcPts val="34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Implementing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 that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you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 integrate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 data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across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various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systems.</a:t>
            </a:r>
            <a:endParaRPr sz="1800">
              <a:latin typeface="Arial MT"/>
              <a:cs typeface="Arial MT"/>
            </a:endParaRPr>
          </a:p>
          <a:p>
            <a:pPr marL="200025" marR="143510" indent="-187960">
              <a:lnSpc>
                <a:spcPct val="90800"/>
              </a:lnSpc>
              <a:spcBef>
                <a:spcPts val="79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Integration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makes 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flow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data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across the various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lot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easier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allows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your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company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focus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important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aspects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your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business,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since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you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no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longer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have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to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spend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time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on manual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processes.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Some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benefits 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gained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by implementing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include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50">
                <a:solidFill>
                  <a:srgbClr val="000099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 b="1">
                <a:solidFill>
                  <a:srgbClr val="000099"/>
                </a:solidFill>
                <a:latin typeface="Arial"/>
                <a:cs typeface="Arial"/>
              </a:rPr>
              <a:t>Improved</a:t>
            </a:r>
            <a:r>
              <a:rPr dirty="0" sz="1800" spc="-7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0099"/>
                </a:solidFill>
                <a:latin typeface="Arial"/>
                <a:cs typeface="Arial"/>
              </a:rPr>
              <a:t>Agility</a:t>
            </a:r>
            <a:endParaRPr sz="1800">
              <a:latin typeface="Arial"/>
              <a:cs typeface="Arial"/>
            </a:endParaRPr>
          </a:p>
          <a:p>
            <a:pPr marL="200025" marR="5080" indent="-187960">
              <a:lnSpc>
                <a:spcPts val="1970"/>
              </a:lnSpc>
              <a:spcBef>
                <a:spcPts val="850"/>
              </a:spcBef>
              <a:buChar char="•"/>
              <a:tabLst>
                <a:tab pos="201295" algn="l"/>
              </a:tabLst>
            </a:pPr>
            <a:r>
              <a:rPr dirty="0" sz="1800" spc="-50">
                <a:solidFill>
                  <a:srgbClr val="000099"/>
                </a:solidFill>
                <a:latin typeface="Arial MT"/>
                <a:cs typeface="Arial MT"/>
              </a:rPr>
              <a:t>Today,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 businesses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need to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deliver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customers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across various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platforms,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including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on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cloud, on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mobile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through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traditional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platforms.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Delivering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services across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platforms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challenge.</a:t>
            </a:r>
            <a:endParaRPr sz="1800">
              <a:latin typeface="Arial MT"/>
              <a:cs typeface="Arial MT"/>
            </a:endParaRPr>
          </a:p>
          <a:p>
            <a:pPr marL="200025" marR="492759" indent="-187960">
              <a:lnSpc>
                <a:spcPts val="1960"/>
              </a:lnSpc>
              <a:spcBef>
                <a:spcPts val="85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help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provide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agility.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provides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framework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allows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changes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be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easily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made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business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processes.</a:t>
            </a:r>
            <a:endParaRPr sz="1800">
              <a:latin typeface="Arial MT"/>
              <a:cs typeface="Arial MT"/>
            </a:endParaRPr>
          </a:p>
          <a:p>
            <a:pPr marL="200025" marR="1157605" indent="-187960">
              <a:lnSpc>
                <a:spcPts val="197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way,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business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easily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respond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adapt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customer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requirements</a:t>
            </a:r>
            <a:r>
              <a:rPr dirty="0" sz="180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expectations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 deliver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new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services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much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faster.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Importance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/>
              <a:t>Benefits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47" y="1790190"/>
            <a:ext cx="9502775" cy="401701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solidFill>
                  <a:srgbClr val="000099"/>
                </a:solidFill>
                <a:latin typeface="Arial"/>
                <a:cs typeface="Arial"/>
              </a:rPr>
              <a:t>Increased</a:t>
            </a:r>
            <a:r>
              <a:rPr dirty="0" sz="1950" spc="8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00099"/>
                </a:solidFill>
                <a:latin typeface="Arial"/>
                <a:cs typeface="Arial"/>
              </a:rPr>
              <a:t>Efficiency</a:t>
            </a:r>
            <a:endParaRPr sz="1950">
              <a:latin typeface="Arial"/>
              <a:cs typeface="Arial"/>
            </a:endParaRPr>
          </a:p>
          <a:p>
            <a:pPr marL="200025" marR="841375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technology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very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useful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when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comes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automating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business 	processes.</a:t>
            </a:r>
            <a:endParaRPr sz="1950">
              <a:latin typeface="Arial MT"/>
              <a:cs typeface="Arial MT"/>
            </a:endParaRPr>
          </a:p>
          <a:p>
            <a:pPr marL="200025" marR="243840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middleware,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processes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such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as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ordering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product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configuration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be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automated,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leading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time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cost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improvements</a:t>
            </a:r>
            <a:r>
              <a:rPr dirty="0" sz="19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when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compared</a:t>
            </a:r>
            <a:r>
              <a:rPr dirty="0" sz="19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performing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processes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manually.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Clr>
                <a:srgbClr val="000099"/>
              </a:buClr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solidFill>
                  <a:srgbClr val="000099"/>
                </a:solidFill>
                <a:latin typeface="Arial"/>
                <a:cs typeface="Arial"/>
              </a:rPr>
              <a:t>Rapid</a:t>
            </a:r>
            <a:r>
              <a:rPr dirty="0" sz="1950" spc="4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00099"/>
                </a:solidFill>
                <a:latin typeface="Arial"/>
                <a:cs typeface="Arial"/>
              </a:rPr>
              <a:t>Innovation</a:t>
            </a:r>
            <a:endParaRPr sz="19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Char char="•"/>
              <a:tabLst>
                <a:tab pos="200660" algn="l"/>
              </a:tabLst>
            </a:pP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Today’s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business landscape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has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become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very</a:t>
            </a:r>
            <a:r>
              <a:rPr dirty="0" sz="19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competitive.</a:t>
            </a:r>
            <a:endParaRPr sz="1950">
              <a:latin typeface="Arial MT"/>
              <a:cs typeface="Arial MT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instance,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hotel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chain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used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technology</a:t>
            </a:r>
            <a:r>
              <a:rPr dirty="0" sz="19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Oracle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provide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users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real-time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information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about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room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availability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rates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directly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Google 	Maps.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Importance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/>
              <a:t>Benefits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47" y="1790190"/>
            <a:ext cx="9881870" cy="412242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solidFill>
                  <a:srgbClr val="000099"/>
                </a:solidFill>
                <a:latin typeface="Arial"/>
                <a:cs typeface="Arial"/>
              </a:rPr>
              <a:t>Portability</a:t>
            </a:r>
            <a:r>
              <a:rPr dirty="0" sz="1950" spc="4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dirty="0" sz="1950" spc="5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00099"/>
                </a:solidFill>
                <a:latin typeface="Arial"/>
                <a:cs typeface="Arial"/>
              </a:rPr>
              <a:t>Reusability</a:t>
            </a:r>
            <a:endParaRPr sz="1950">
              <a:latin typeface="Arial"/>
              <a:cs typeface="Arial"/>
            </a:endParaRPr>
          </a:p>
          <a:p>
            <a:pPr marL="200025" marR="42418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built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top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certain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used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multiple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platforms,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making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lot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more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portable.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000099"/>
              </a:buClr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solidFill>
                  <a:srgbClr val="000099"/>
                </a:solidFill>
                <a:latin typeface="Arial"/>
                <a:cs typeface="Arial"/>
              </a:rPr>
              <a:t>Cost</a:t>
            </a:r>
            <a:r>
              <a:rPr dirty="0" sz="1950" spc="40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00099"/>
                </a:solidFill>
                <a:latin typeface="Arial"/>
                <a:cs typeface="Arial"/>
              </a:rPr>
              <a:t>Effectiveness</a:t>
            </a:r>
            <a:endParaRPr sz="1950">
              <a:latin typeface="Arial"/>
              <a:cs typeface="Arial"/>
            </a:endParaRPr>
          </a:p>
          <a:p>
            <a:pPr marL="200025" marR="11811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Due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use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common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components,</a:t>
            </a:r>
            <a:r>
              <a:rPr dirty="0" sz="19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developing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top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middleware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technology</a:t>
            </a:r>
            <a:r>
              <a:rPr dirty="0" sz="19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means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less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effort</a:t>
            </a:r>
            <a:r>
              <a:rPr dirty="0" sz="19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9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required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build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scratch.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000099"/>
              </a:buClr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solidFill>
                  <a:srgbClr val="000099"/>
                </a:solidFill>
                <a:latin typeface="Arial"/>
                <a:cs typeface="Arial"/>
              </a:rPr>
              <a:t>Information</a:t>
            </a:r>
            <a:r>
              <a:rPr dirty="0" sz="1950" spc="75" b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00099"/>
                </a:solidFill>
                <a:latin typeface="Arial"/>
                <a:cs typeface="Arial"/>
              </a:rPr>
              <a:t>Management</a:t>
            </a:r>
            <a:endParaRPr sz="1950">
              <a:latin typeface="Arial"/>
              <a:cs typeface="Arial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950" spc="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technology</a:t>
            </a:r>
            <a:r>
              <a:rPr dirty="0" sz="19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make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information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management</a:t>
            </a:r>
            <a:r>
              <a:rPr dirty="0" sz="19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much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easier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by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providing</a:t>
            </a:r>
            <a:r>
              <a:rPr dirty="0" sz="19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50">
                <a:solidFill>
                  <a:srgbClr val="000099"/>
                </a:solidFill>
                <a:latin typeface="Arial MT"/>
                <a:cs typeface="Arial MT"/>
              </a:rPr>
              <a:t>a </a:t>
            </a:r>
            <a:r>
              <a:rPr dirty="0" sz="1950" spc="-5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framework</a:t>
            </a:r>
            <a:r>
              <a:rPr dirty="0" sz="19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which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9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information</a:t>
            </a:r>
            <a:r>
              <a:rPr dirty="0" sz="19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management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9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designed,</a:t>
            </a:r>
            <a:r>
              <a:rPr dirty="0" sz="19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000099"/>
                </a:solidFill>
                <a:latin typeface="Arial MT"/>
                <a:cs typeface="Arial MT"/>
              </a:rPr>
              <a:t>built</a:t>
            </a:r>
            <a:r>
              <a:rPr dirty="0" sz="19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9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950" spc="-10">
                <a:solidFill>
                  <a:srgbClr val="000099"/>
                </a:solidFill>
                <a:latin typeface="Arial MT"/>
                <a:cs typeface="Arial MT"/>
              </a:rPr>
              <a:t>deployed.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Importance</a:t>
            </a:r>
            <a:r>
              <a:rPr dirty="0" spc="-90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/>
              <a:t>Benefits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790593"/>
            <a:ext cx="9923145" cy="480758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u="sng" sz="180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Red</a:t>
            </a:r>
            <a:r>
              <a:rPr dirty="0" u="sng" sz="1800" spc="-25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Hat</a:t>
            </a:r>
            <a:r>
              <a:rPr dirty="0" u="sng" sz="1800" spc="-5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JBoss</a:t>
            </a:r>
            <a:r>
              <a:rPr dirty="0" u="sng" sz="1800" spc="1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Enterprise</a:t>
            </a:r>
            <a:r>
              <a:rPr dirty="0" u="sng" sz="1800" spc="-6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Application</a:t>
            </a:r>
            <a:r>
              <a:rPr dirty="0" u="sng" sz="1800" spc="4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"/>
                <a:cs typeface="Arial"/>
              </a:rPr>
              <a:t>Platform</a:t>
            </a:r>
            <a:endParaRPr sz="180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powerful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versatile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technology developed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by Red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Hat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Software.</a:t>
            </a:r>
            <a:endParaRPr sz="1800">
              <a:latin typeface="Arial MT"/>
              <a:cs typeface="Arial MT"/>
            </a:endParaRPr>
          </a:p>
          <a:p>
            <a:pPr marL="200025" marR="196215" indent="-187960">
              <a:lnSpc>
                <a:spcPts val="1960"/>
              </a:lnSpc>
              <a:spcBef>
                <a:spcPts val="855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 has a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solid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architectural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foundation,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with very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low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memory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requirements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and 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very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quick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startup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times.</a:t>
            </a:r>
            <a:endParaRPr sz="1800">
              <a:latin typeface="Arial MT"/>
              <a:cs typeface="Arial MT"/>
            </a:endParaRPr>
          </a:p>
          <a:p>
            <a:pPr marL="200025" marR="214629" indent="-187960">
              <a:lnSpc>
                <a:spcPts val="196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Red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Hat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JBoss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800" spc="-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80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Platform also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offers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integration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with DevOps</a:t>
            </a:r>
            <a:r>
              <a:rPr dirty="0" sz="180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tools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such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as</a:t>
            </a:r>
            <a:r>
              <a:rPr dirty="0" sz="1800" spc="-114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Arquillian,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Jenkins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Maven.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631190" indent="-187960">
              <a:lnSpc>
                <a:spcPts val="1960"/>
              </a:lnSpc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middleware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comes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“migration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center”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that makes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it very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easy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move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existing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applications to this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platform.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45"/>
              </a:spcBef>
              <a:buClr>
                <a:srgbClr val="000099"/>
              </a:buClr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106680" indent="-187960">
              <a:lnSpc>
                <a:spcPts val="1960"/>
              </a:lnSpc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also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provides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cloud-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compatible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solution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for those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who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want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make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their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enterprises</a:t>
            </a:r>
            <a:r>
              <a:rPr dirty="0" sz="18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more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agile.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Char char="•"/>
              <a:tabLst>
                <a:tab pos="200660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Red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Hat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JBoss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800" spc="-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80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Platform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also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provides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very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excellent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customer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support.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7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Red</a:t>
            </a:r>
            <a:r>
              <a:rPr dirty="0" sz="18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Hat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JBoss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800" spc="-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80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Platform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costs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$8,000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1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year</a:t>
            </a:r>
            <a:r>
              <a:rPr dirty="0" sz="180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subscription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running</a:t>
            </a:r>
            <a:r>
              <a:rPr dirty="0" sz="1800" spc="50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50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16 CPU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cores.</a:t>
            </a:r>
            <a:r>
              <a:rPr dirty="0" sz="180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You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 can</a:t>
            </a:r>
            <a:r>
              <a:rPr dirty="0" sz="18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also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get</a:t>
            </a:r>
            <a:r>
              <a:rPr dirty="0" sz="18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round the clock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assistance</a:t>
            </a:r>
            <a:r>
              <a:rPr dirty="0" sz="18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8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support</a:t>
            </a:r>
            <a:r>
              <a:rPr dirty="0" sz="18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00099"/>
                </a:solidFill>
                <a:latin typeface="Arial MT"/>
                <a:cs typeface="Arial MT"/>
              </a:rPr>
              <a:t>for an extra</a:t>
            </a:r>
            <a:r>
              <a:rPr dirty="0" sz="18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0099"/>
                </a:solidFill>
                <a:latin typeface="Arial MT"/>
                <a:cs typeface="Arial MT"/>
              </a:rPr>
              <a:t>$4,000.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Examples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47" y="1864891"/>
            <a:ext cx="9874250" cy="3566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latin typeface="Arial"/>
                <a:cs typeface="Arial"/>
              </a:rPr>
              <a:t>IBM</a:t>
            </a:r>
            <a:r>
              <a:rPr dirty="0" sz="1950" spc="40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WebSphere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80"/>
              </a:spcBef>
              <a:buFont typeface="Arial MT"/>
              <a:buChar char="•"/>
            </a:pPr>
            <a:endParaRPr sz="1950">
              <a:latin typeface="Arial"/>
              <a:cs typeface="Arial"/>
            </a:endParaRPr>
          </a:p>
          <a:p>
            <a:pPr marL="200025" marR="226060" indent="-187960">
              <a:lnSpc>
                <a:spcPts val="2140"/>
              </a:lnSpc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Websphere</a:t>
            </a:r>
            <a:r>
              <a:rPr dirty="0" sz="1950" spc="-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Application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Server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high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performance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</a:t>
            </a:r>
            <a:r>
              <a:rPr dirty="0" sz="1950" spc="8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platform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with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 spc="-50">
                <a:latin typeface="Arial MT"/>
                <a:cs typeface="Arial MT"/>
              </a:rPr>
              <a:t>a </a:t>
            </a:r>
            <a:r>
              <a:rPr dirty="0" sz="1950" spc="-5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plethora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features.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Installing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deploying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IBM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WebSphere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quite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simple.</a:t>
            </a:r>
            <a:endParaRPr sz="1950">
              <a:latin typeface="Arial MT"/>
              <a:cs typeface="Arial MT"/>
            </a:endParaRPr>
          </a:p>
          <a:p>
            <a:pPr marL="200025" marR="245110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platform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used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local,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cloud-based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hybrid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solutions.</a:t>
            </a:r>
            <a:r>
              <a:rPr dirty="0" sz="1950" spc="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platform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is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built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strong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but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flexible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architecture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easily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scale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as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required.</a:t>
            </a:r>
            <a:endParaRPr sz="1950">
              <a:latin typeface="Arial MT"/>
              <a:cs typeface="Arial MT"/>
            </a:endParaRPr>
          </a:p>
          <a:p>
            <a:pPr marL="200025" marR="186055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One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greatest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advantages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IBM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WebSphere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it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integrated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with </a:t>
            </a:r>
            <a:r>
              <a:rPr dirty="0" sz="1950" spc="-2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other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cloud-based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IBM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products,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such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as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dashDB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SQL</a:t>
            </a:r>
            <a:r>
              <a:rPr dirty="0" sz="1950" spc="-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database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service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Watson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	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artificial</a:t>
            </a:r>
            <a:r>
              <a:rPr dirty="0" u="sng" sz="1950" spc="4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intelligence</a:t>
            </a:r>
            <a:r>
              <a:rPr dirty="0" sz="1950" spc="-10">
                <a:latin typeface="Arial MT"/>
                <a:cs typeface="Arial MT"/>
              </a:rPr>
              <a:t>.</a:t>
            </a:r>
            <a:endParaRPr sz="1950">
              <a:latin typeface="Arial MT"/>
              <a:cs typeface="Arial MT"/>
            </a:endParaRPr>
          </a:p>
          <a:p>
            <a:pPr marL="200025" marR="5080" indent="-187960">
              <a:lnSpc>
                <a:spcPts val="2140"/>
              </a:lnSpc>
              <a:spcBef>
                <a:spcPts val="820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-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one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year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subscription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IBM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WebSphere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inclusive</a:t>
            </a:r>
            <a:r>
              <a:rPr dirty="0" sz="1950" spc="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support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will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cost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about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$14,000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per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limited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use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socket..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Examples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47" y="1864891"/>
            <a:ext cx="9737090" cy="3942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b="1">
                <a:latin typeface="Arial"/>
                <a:cs typeface="Arial"/>
              </a:rPr>
              <a:t>Oracle</a:t>
            </a:r>
            <a:r>
              <a:rPr dirty="0" sz="1950" spc="55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WebLogic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80"/>
              </a:spcBef>
              <a:buFont typeface="Arial MT"/>
              <a:buChar char="•"/>
            </a:pPr>
            <a:endParaRPr sz="1950">
              <a:latin typeface="Arial"/>
              <a:cs typeface="Arial"/>
            </a:endParaRPr>
          </a:p>
          <a:p>
            <a:pPr marL="200025" marR="506730" indent="-187960">
              <a:lnSpc>
                <a:spcPts val="2140"/>
              </a:lnSpc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Oracle’s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</a:t>
            </a:r>
            <a:r>
              <a:rPr dirty="0" sz="1950" spc="8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solution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another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very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popular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very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powerful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option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for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enterprise</a:t>
            </a:r>
            <a:r>
              <a:rPr dirty="0" sz="1950" spc="8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middleware.</a:t>
            </a:r>
            <a:endParaRPr sz="1950">
              <a:latin typeface="Arial MT"/>
              <a:cs typeface="Arial MT"/>
            </a:endParaRPr>
          </a:p>
          <a:p>
            <a:pPr marL="200025" marR="396875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Deploying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applications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Oracle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WebLogic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easy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hassle-free,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which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means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lower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operational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costs.</a:t>
            </a:r>
            <a:endParaRPr sz="1950">
              <a:latin typeface="Arial MT"/>
              <a:cs typeface="Arial MT"/>
            </a:endParaRPr>
          </a:p>
          <a:p>
            <a:pPr marL="200025" marR="227965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platform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comes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with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integration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Oracle’s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high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performance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cross-</a:t>
            </a:r>
            <a:r>
              <a:rPr dirty="0" sz="1950" spc="-10">
                <a:latin typeface="Arial MT"/>
                <a:cs typeface="Arial MT"/>
              </a:rPr>
              <a:t>platform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communication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architecture,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which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9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christened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Enterprise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Grid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Messaging.</a:t>
            </a:r>
            <a:endParaRPr sz="1950">
              <a:latin typeface="Arial MT"/>
              <a:cs typeface="Arial MT"/>
            </a:endParaRPr>
          </a:p>
          <a:p>
            <a:pPr marL="200025" marR="933450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WebLogic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also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offers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hassle-free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integration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with</a:t>
            </a:r>
            <a:r>
              <a:rPr dirty="0" sz="1950" spc="8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other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Oracle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databases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and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 spc="-10">
                <a:latin typeface="Arial MT"/>
                <a:cs typeface="Arial MT"/>
              </a:rPr>
              <a:t>applications.</a:t>
            </a:r>
            <a:endParaRPr sz="1950">
              <a:latin typeface="Arial MT"/>
              <a:cs typeface="Arial MT"/>
            </a:endParaRPr>
          </a:p>
          <a:p>
            <a:pPr marL="200025" marR="5080" indent="-187960">
              <a:lnSpc>
                <a:spcPts val="214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price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Oracle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WebLogic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license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will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vary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based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number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processors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or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number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users.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Examples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Middleware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47" y="1864891"/>
            <a:ext cx="9922510" cy="448627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1295" marR="673735" indent="-189230">
              <a:lnSpc>
                <a:spcPts val="2140"/>
              </a:lnSpc>
              <a:spcBef>
                <a:spcPts val="365"/>
              </a:spcBef>
              <a:buChar char="•"/>
              <a:tabLst>
                <a:tab pos="201295" algn="l"/>
                <a:tab pos="271145" algn="l"/>
              </a:tabLst>
            </a:pPr>
            <a:r>
              <a:rPr dirty="0" sz="1950">
                <a:latin typeface="Arial MT"/>
                <a:cs typeface="Arial MT"/>
              </a:rPr>
              <a:t>	Some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things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keep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mind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when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evaluating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enterprise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solution. </a:t>
            </a:r>
            <a:r>
              <a:rPr dirty="0" sz="1950">
                <a:latin typeface="Arial MT"/>
                <a:cs typeface="Arial MT"/>
              </a:rPr>
              <a:t>These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include:</a:t>
            </a:r>
            <a:endParaRPr sz="1950">
              <a:latin typeface="Arial MT"/>
              <a:cs typeface="Arial MT"/>
            </a:endParaRPr>
          </a:p>
          <a:p>
            <a:pPr marL="281940" indent="-269240">
              <a:lnSpc>
                <a:spcPct val="100000"/>
              </a:lnSpc>
              <a:spcBef>
                <a:spcPts val="585"/>
              </a:spcBef>
              <a:buFont typeface="Wingdings"/>
              <a:buChar char=""/>
              <a:tabLst>
                <a:tab pos="281940" algn="l"/>
              </a:tabLst>
            </a:pPr>
            <a:r>
              <a:rPr dirty="0" sz="1950">
                <a:latin typeface="Arial MT"/>
                <a:cs typeface="Arial MT"/>
              </a:rPr>
              <a:t>Updating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business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logic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easy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fast.</a:t>
            </a:r>
            <a:endParaRPr sz="1950">
              <a:latin typeface="Arial MT"/>
              <a:cs typeface="Arial MT"/>
            </a:endParaRPr>
          </a:p>
          <a:p>
            <a:pPr marL="277495" indent="-264795">
              <a:lnSpc>
                <a:spcPct val="100000"/>
              </a:lnSpc>
              <a:spcBef>
                <a:spcPts val="625"/>
              </a:spcBef>
              <a:buFont typeface="Wingdings"/>
              <a:buChar char=""/>
              <a:tabLst>
                <a:tab pos="277495" algn="l"/>
              </a:tabLst>
            </a:pP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solution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offer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seamless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back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end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interaction.</a:t>
            </a:r>
            <a:endParaRPr sz="1950">
              <a:latin typeface="Arial MT"/>
              <a:cs typeface="Arial MT"/>
            </a:endParaRPr>
          </a:p>
          <a:p>
            <a:pPr marL="201295" marR="200660" indent="-189230">
              <a:lnSpc>
                <a:spcPts val="2140"/>
              </a:lnSpc>
              <a:spcBef>
                <a:spcPts val="860"/>
              </a:spcBef>
              <a:buFont typeface="Wingdings"/>
              <a:buChar char=""/>
              <a:tabLst>
                <a:tab pos="201295" algn="l"/>
                <a:tab pos="281305" algn="l"/>
              </a:tabLst>
            </a:pPr>
            <a:r>
              <a:rPr dirty="0" sz="195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It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able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offer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seamless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integration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between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different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platforms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running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on </a:t>
            </a:r>
            <a:r>
              <a:rPr dirty="0" sz="1950">
                <a:latin typeface="Arial MT"/>
                <a:cs typeface="Arial MT"/>
              </a:rPr>
              <a:t>different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architecture.</a:t>
            </a:r>
            <a:endParaRPr sz="1950">
              <a:latin typeface="Arial MT"/>
              <a:cs typeface="Arial MT"/>
            </a:endParaRPr>
          </a:p>
          <a:p>
            <a:pPr marL="201295" marR="5080" indent="-189230">
              <a:lnSpc>
                <a:spcPts val="2140"/>
              </a:lnSpc>
              <a:spcBef>
                <a:spcPts val="819"/>
              </a:spcBef>
              <a:buFont typeface="Wingdings"/>
              <a:buChar char=""/>
              <a:tabLst>
                <a:tab pos="201295" algn="l"/>
                <a:tab pos="281305" algn="l"/>
              </a:tabLst>
            </a:pPr>
            <a:r>
              <a:rPr dirty="0" sz="195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Security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key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consideration. Since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will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work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through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web, </a:t>
            </a:r>
            <a:r>
              <a:rPr dirty="0" sz="1950">
                <a:latin typeface="Arial MT"/>
                <a:cs typeface="Arial MT"/>
              </a:rPr>
              <a:t>there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security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mechanism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ensure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any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secured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data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passing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through </a:t>
            </a:r>
            <a:r>
              <a:rPr dirty="0" sz="1950">
                <a:latin typeface="Arial MT"/>
                <a:cs typeface="Arial MT"/>
              </a:rPr>
              <a:t>web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servers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cannot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get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compromised.</a:t>
            </a:r>
            <a:endParaRPr sz="1950">
              <a:latin typeface="Arial MT"/>
              <a:cs typeface="Arial MT"/>
            </a:endParaRPr>
          </a:p>
          <a:p>
            <a:pPr marL="201295" marR="288290" indent="-189230">
              <a:lnSpc>
                <a:spcPct val="91500"/>
              </a:lnSpc>
              <a:spcBef>
                <a:spcPts val="775"/>
              </a:spcBef>
              <a:buFont typeface="Wingdings"/>
              <a:buChar char=""/>
              <a:tabLst>
                <a:tab pos="201295" algn="l"/>
                <a:tab pos="281305" algn="l"/>
              </a:tabLst>
            </a:pPr>
            <a:r>
              <a:rPr dirty="0" sz="195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case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message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oriented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middleware,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there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message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encryption </a:t>
            </a:r>
            <a:r>
              <a:rPr dirty="0" sz="1950">
                <a:latin typeface="Arial MT"/>
                <a:cs typeface="Arial MT"/>
              </a:rPr>
              <a:t>feature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prevent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communication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from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being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intercepted.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case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application </a:t>
            </a:r>
            <a:r>
              <a:rPr dirty="0" sz="1950">
                <a:latin typeface="Arial MT"/>
                <a:cs typeface="Arial MT"/>
              </a:rPr>
              <a:t>servers,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there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mechanism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place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ensure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proper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authentication.</a:t>
            </a:r>
            <a:endParaRPr sz="1950">
              <a:latin typeface="Arial MT"/>
              <a:cs typeface="Arial MT"/>
            </a:endParaRPr>
          </a:p>
          <a:p>
            <a:pPr marL="201295" marR="1016635" indent="-189230">
              <a:lnSpc>
                <a:spcPts val="2140"/>
              </a:lnSpc>
              <a:spcBef>
                <a:spcPts val="865"/>
              </a:spcBef>
              <a:buFont typeface="Wingdings"/>
              <a:buChar char=""/>
              <a:tabLst>
                <a:tab pos="201295" algn="l"/>
                <a:tab pos="276860" algn="l"/>
              </a:tabLst>
            </a:pPr>
            <a:r>
              <a:rPr dirty="0" sz="195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middleware</a:t>
            </a:r>
            <a:r>
              <a:rPr dirty="0" sz="1950" spc="8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solution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should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have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audit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functionality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such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all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activities </a:t>
            </a:r>
            <a:r>
              <a:rPr dirty="0" sz="1950">
                <a:latin typeface="Arial MT"/>
                <a:cs typeface="Arial MT"/>
              </a:rPr>
              <a:t>performed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platform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logged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reported.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Choosing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/>
              <a:t>Middleware</a:t>
            </a:r>
            <a:r>
              <a:rPr dirty="0" spc="-90"/>
              <a:t> </a:t>
            </a:r>
            <a:r>
              <a:rPr dirty="0" spc="-10"/>
              <a:t>platform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851234"/>
            <a:ext cx="2201545" cy="201104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Sockets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636270" algn="l"/>
              </a:tabLst>
            </a:pPr>
            <a:r>
              <a:rPr dirty="0" sz="1450" spc="-10">
                <a:latin typeface="Arial MT"/>
                <a:cs typeface="Arial MT"/>
              </a:rPr>
              <a:t>Introduction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Data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Structures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8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Library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Calls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General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Operation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8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Socket</a:t>
            </a:r>
            <a:r>
              <a:rPr dirty="0" sz="1450" spc="8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Example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</a:t>
            </a:r>
            <a:r>
              <a:rPr dirty="0" spc="-55"/>
              <a:t>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 spc="-10"/>
              <a:t>segment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0005" y="1881090"/>
            <a:ext cx="9777730" cy="376491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994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What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is</a:t>
            </a:r>
            <a:r>
              <a:rPr dirty="0" sz="1650" spc="-3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it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?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99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Socket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internal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endpoint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sending/receiving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node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network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6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Berkeley/POSIX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sockets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defined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API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Inter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(IPC) within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 </a:t>
            </a:r>
            <a:r>
              <a:rPr dirty="0" sz="1800" spc="-20">
                <a:latin typeface="Arial MT"/>
                <a:cs typeface="Arial MT"/>
              </a:rPr>
              <a:t>host </a:t>
            </a:r>
            <a:r>
              <a:rPr dirty="0" sz="1800" spc="-2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(BSD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4.2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circa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1983)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8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Early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form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Middleware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(limited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host</a:t>
            </a:r>
            <a:r>
              <a:rPr dirty="0" sz="1800" spc="-10">
                <a:latin typeface="Arial MT"/>
                <a:cs typeface="Arial MT"/>
              </a:rPr>
              <a:t> systems)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3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Windows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variant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(WinSock) based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BSD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Sockets.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Treated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similar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files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BSD/POSIX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Maintained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File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Descriptor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table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Supported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protocols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575945" algn="l"/>
              </a:tabLst>
            </a:pPr>
            <a:r>
              <a:rPr dirty="0" sz="1800">
                <a:latin typeface="Arial MT"/>
                <a:cs typeface="Arial MT"/>
              </a:rPr>
              <a:t>TCP/IP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IPv4,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IPv6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04"/>
              </a:spcBef>
              <a:buChar char="•"/>
              <a:tabLst>
                <a:tab pos="575945" algn="l"/>
              </a:tabLst>
            </a:pPr>
            <a:r>
              <a:rPr dirty="0" sz="1800" spc="-25">
                <a:latin typeface="Arial MT"/>
                <a:cs typeface="Arial MT"/>
              </a:rPr>
              <a:t>UDP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10"/>
              <a:t>Introduction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60"/>
              <a:t> </a:t>
            </a:r>
            <a:r>
              <a:rPr dirty="0" spc="-10"/>
              <a:t>Introduction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938528"/>
            <a:ext cx="9850120" cy="3709670"/>
            <a:chOff x="0" y="1938528"/>
            <a:chExt cx="9850120" cy="37096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56459"/>
              <a:ext cx="5170932" cy="31668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4232" y="1938528"/>
              <a:ext cx="4945379" cy="37094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851234"/>
            <a:ext cx="4946650" cy="224472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Socket</a:t>
            </a:r>
            <a:r>
              <a:rPr dirty="0" sz="1650" spc="-10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Address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Defined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 i="1">
                <a:latin typeface="Arial"/>
                <a:cs typeface="Arial"/>
              </a:rPr>
              <a:t>sys/socket.h</a:t>
            </a:r>
            <a:endParaRPr sz="14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Address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length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8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bytes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by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default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8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Family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–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Denotes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the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family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of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protocol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(TCP,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UDP)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Address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contains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–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host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and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port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8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Socket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Address</a:t>
            </a:r>
            <a:r>
              <a:rPr dirty="0" sz="1450" spc="7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family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TCP/IP</a:t>
            </a:r>
            <a:endParaRPr sz="1450">
              <a:latin typeface="Arial MT"/>
              <a:cs typeface="Arial MT"/>
            </a:endParaRPr>
          </a:p>
          <a:p>
            <a:pPr lvl="1" marL="1014094" indent="-187960">
              <a:lnSpc>
                <a:spcPct val="100000"/>
              </a:lnSpc>
              <a:spcBef>
                <a:spcPts val="280"/>
              </a:spcBef>
              <a:buChar char="•"/>
              <a:tabLst>
                <a:tab pos="1014094" algn="l"/>
              </a:tabLst>
            </a:pPr>
            <a:r>
              <a:rPr dirty="0" sz="1300">
                <a:latin typeface="Arial MT"/>
                <a:cs typeface="Arial MT"/>
              </a:rPr>
              <a:t>IPv4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-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sockaddr_in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50140" y="5036314"/>
            <a:ext cx="1694814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00025" indent="-187325">
              <a:lnSpc>
                <a:spcPct val="100000"/>
              </a:lnSpc>
              <a:spcBef>
                <a:spcPts val="120"/>
              </a:spcBef>
              <a:buChar char="•"/>
              <a:tabLst>
                <a:tab pos="200025" algn="l"/>
              </a:tabLst>
            </a:pPr>
            <a:r>
              <a:rPr dirty="0" sz="1300">
                <a:latin typeface="Arial MT"/>
                <a:cs typeface="Arial MT"/>
              </a:rPr>
              <a:t>IPv6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-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sockaddr_in6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/>
              <a:t>Data</a:t>
            </a:r>
            <a:r>
              <a:rPr dirty="0" spc="-75"/>
              <a:t> </a:t>
            </a:r>
            <a:r>
              <a:rPr dirty="0" spc="-10"/>
              <a:t>Structures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5901690" y="1994153"/>
            <a:ext cx="3840479" cy="1405255"/>
            <a:chOff x="5901690" y="1994153"/>
            <a:chExt cx="3840479" cy="140525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7023" y="1997963"/>
              <a:ext cx="3831335" cy="140055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905500" y="1997963"/>
              <a:ext cx="3832860" cy="1397635"/>
            </a:xfrm>
            <a:custGeom>
              <a:avLst/>
              <a:gdLst/>
              <a:ahLst/>
              <a:cxnLst/>
              <a:rect l="l" t="t" r="r" b="b"/>
              <a:pathLst>
                <a:path w="3832859" h="1397635">
                  <a:moveTo>
                    <a:pt x="0" y="0"/>
                  </a:moveTo>
                  <a:lnTo>
                    <a:pt x="3832860" y="0"/>
                  </a:lnTo>
                  <a:lnTo>
                    <a:pt x="3832860" y="1397508"/>
                  </a:lnTo>
                  <a:lnTo>
                    <a:pt x="0" y="1397508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712" y="4197096"/>
            <a:ext cx="2393097" cy="66793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5712" y="5326380"/>
            <a:ext cx="2597050" cy="116474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/>
              <a:t>Library</a:t>
            </a:r>
            <a:r>
              <a:rPr dirty="0" spc="-55"/>
              <a:t> </a:t>
            </a:r>
            <a:r>
              <a:rPr dirty="0" spc="-10"/>
              <a:t>Calls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994409"/>
            <a:ext cx="4570730" cy="3985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Socket</a:t>
            </a:r>
            <a:r>
              <a:rPr dirty="0" sz="1650" spc="-10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APIs</a:t>
            </a:r>
            <a:endParaRPr sz="1650">
              <a:latin typeface="Arial"/>
              <a:cs typeface="Arial"/>
            </a:endParaRPr>
          </a:p>
          <a:p>
            <a:pPr marL="448309" marR="527050">
              <a:lnSpc>
                <a:spcPts val="1430"/>
              </a:lnSpc>
              <a:spcBef>
                <a:spcPts val="1225"/>
              </a:spcBef>
            </a:pPr>
            <a:r>
              <a:rPr dirty="0" sz="1300" b="1">
                <a:latin typeface="Arial"/>
                <a:cs typeface="Arial"/>
              </a:rPr>
              <a:t>socket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—creates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descriptor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for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use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network communications</a:t>
            </a:r>
            <a:endParaRPr sz="1300">
              <a:latin typeface="Arial MT"/>
              <a:cs typeface="Arial MT"/>
            </a:endParaRPr>
          </a:p>
          <a:p>
            <a:pPr marL="448309">
              <a:lnSpc>
                <a:spcPct val="100000"/>
              </a:lnSpc>
              <a:spcBef>
                <a:spcPts val="655"/>
              </a:spcBef>
            </a:pPr>
            <a:r>
              <a:rPr dirty="0" sz="1300" b="1">
                <a:latin typeface="Arial"/>
                <a:cs typeface="Arial"/>
              </a:rPr>
              <a:t>connect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—connect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to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remote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peer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(client)</a:t>
            </a:r>
            <a:endParaRPr sz="1300">
              <a:latin typeface="Arial MT"/>
              <a:cs typeface="Arial MT"/>
            </a:endParaRPr>
          </a:p>
          <a:p>
            <a:pPr marL="448309">
              <a:lnSpc>
                <a:spcPct val="100000"/>
              </a:lnSpc>
              <a:spcBef>
                <a:spcPts val="700"/>
              </a:spcBef>
            </a:pPr>
            <a:r>
              <a:rPr dirty="0" sz="1300" b="1">
                <a:latin typeface="Arial"/>
                <a:cs typeface="Arial"/>
              </a:rPr>
              <a:t>write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—send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outgoing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data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across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connection</a:t>
            </a:r>
            <a:endParaRPr sz="1300">
              <a:latin typeface="Arial MT"/>
              <a:cs typeface="Arial MT"/>
            </a:endParaRPr>
          </a:p>
          <a:p>
            <a:pPr marL="448309">
              <a:lnSpc>
                <a:spcPct val="100000"/>
              </a:lnSpc>
              <a:spcBef>
                <a:spcPts val="680"/>
              </a:spcBef>
            </a:pPr>
            <a:r>
              <a:rPr dirty="0" sz="1300" b="1">
                <a:latin typeface="Arial"/>
                <a:cs typeface="Arial"/>
              </a:rPr>
              <a:t>read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—acquire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incoming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data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from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connection</a:t>
            </a:r>
            <a:endParaRPr sz="1300">
              <a:latin typeface="Arial MT"/>
              <a:cs typeface="Arial MT"/>
            </a:endParaRPr>
          </a:p>
          <a:p>
            <a:pPr marL="448309" marR="321945">
              <a:lnSpc>
                <a:spcPts val="1430"/>
              </a:lnSpc>
              <a:spcBef>
                <a:spcPts val="855"/>
              </a:spcBef>
            </a:pPr>
            <a:r>
              <a:rPr dirty="0" sz="1300" b="1">
                <a:latin typeface="Arial"/>
                <a:cs typeface="Arial"/>
              </a:rPr>
              <a:t>close</a:t>
            </a:r>
            <a:r>
              <a:rPr dirty="0" sz="1300" spc="4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—terminate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communication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deallocate</a:t>
            </a:r>
            <a:r>
              <a:rPr dirty="0" sz="1300" spc="55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a </a:t>
            </a:r>
            <a:r>
              <a:rPr dirty="0" sz="1300" spc="-10">
                <a:latin typeface="Arial MT"/>
                <a:cs typeface="Arial MT"/>
              </a:rPr>
              <a:t>descriptor</a:t>
            </a:r>
            <a:endParaRPr sz="1300">
              <a:latin typeface="Arial MT"/>
              <a:cs typeface="Arial MT"/>
            </a:endParaRPr>
          </a:p>
          <a:p>
            <a:pPr marL="448309" marR="220345">
              <a:lnSpc>
                <a:spcPts val="1430"/>
              </a:lnSpc>
              <a:spcBef>
                <a:spcPts val="810"/>
              </a:spcBef>
            </a:pPr>
            <a:r>
              <a:rPr dirty="0" sz="1300" b="1">
                <a:latin typeface="Arial"/>
                <a:cs typeface="Arial"/>
              </a:rPr>
              <a:t>bind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—bind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local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IP</a:t>
            </a:r>
            <a:r>
              <a:rPr dirty="0" sz="1300" spc="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address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protocol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port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to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50">
                <a:latin typeface="Arial MT"/>
                <a:cs typeface="Arial MT"/>
              </a:rPr>
              <a:t>a </a:t>
            </a:r>
            <a:r>
              <a:rPr dirty="0" sz="1300" spc="-10">
                <a:latin typeface="Arial MT"/>
                <a:cs typeface="Arial MT"/>
              </a:rPr>
              <a:t>socket</a:t>
            </a:r>
            <a:endParaRPr sz="1300">
              <a:latin typeface="Arial MT"/>
              <a:cs typeface="Arial MT"/>
            </a:endParaRPr>
          </a:p>
          <a:p>
            <a:pPr marL="448309" marR="5080">
              <a:lnSpc>
                <a:spcPts val="1430"/>
              </a:lnSpc>
              <a:spcBef>
                <a:spcPts val="810"/>
              </a:spcBef>
            </a:pPr>
            <a:r>
              <a:rPr dirty="0" sz="1300" b="1">
                <a:latin typeface="Arial"/>
                <a:cs typeface="Arial"/>
              </a:rPr>
              <a:t>listen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—set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socket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listening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on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given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address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port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for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connections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from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 client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the </a:t>
            </a:r>
            <a:r>
              <a:rPr dirty="0" sz="1300">
                <a:latin typeface="Arial MT"/>
                <a:cs typeface="Arial MT"/>
              </a:rPr>
              <a:t>number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of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incoming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connections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from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client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(backlog) </a:t>
            </a:r>
            <a:r>
              <a:rPr dirty="0" sz="1300">
                <a:latin typeface="Arial MT"/>
                <a:cs typeface="Arial MT"/>
              </a:rPr>
              <a:t>that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will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allowed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listen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queue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at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any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one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20">
                <a:latin typeface="Arial MT"/>
                <a:cs typeface="Arial MT"/>
              </a:rPr>
              <a:t>time</a:t>
            </a:r>
            <a:endParaRPr sz="1300">
              <a:latin typeface="Arial MT"/>
              <a:cs typeface="Arial MT"/>
            </a:endParaRPr>
          </a:p>
          <a:p>
            <a:pPr marL="448309">
              <a:lnSpc>
                <a:spcPct val="100000"/>
              </a:lnSpc>
              <a:spcBef>
                <a:spcPts val="655"/>
              </a:spcBef>
            </a:pPr>
            <a:r>
              <a:rPr dirty="0" sz="1300" b="1">
                <a:latin typeface="Arial"/>
                <a:cs typeface="Arial"/>
              </a:rPr>
              <a:t>accept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—accept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next</a:t>
            </a:r>
            <a:r>
              <a:rPr dirty="0" sz="1300" spc="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incoming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connection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(server)</a:t>
            </a:r>
            <a:endParaRPr sz="1300">
              <a:latin typeface="Arial MT"/>
              <a:cs typeface="Arial MT"/>
            </a:endParaRPr>
          </a:p>
          <a:p>
            <a:pPr marL="448309">
              <a:lnSpc>
                <a:spcPct val="100000"/>
              </a:lnSpc>
              <a:spcBef>
                <a:spcPts val="695"/>
              </a:spcBef>
            </a:pPr>
            <a:r>
              <a:rPr dirty="0" sz="1300" b="1">
                <a:latin typeface="Arial"/>
                <a:cs typeface="Arial"/>
              </a:rPr>
              <a:t>recv</a:t>
            </a:r>
            <a:r>
              <a:rPr dirty="0" sz="1300" spc="25" b="1">
                <a:latin typeface="Arial"/>
                <a:cs typeface="Arial"/>
              </a:rPr>
              <a:t> </a:t>
            </a:r>
            <a:r>
              <a:rPr dirty="0" sz="1300">
                <a:latin typeface="Arial MT"/>
                <a:cs typeface="Arial MT"/>
              </a:rPr>
              <a:t>—receive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next</a:t>
            </a:r>
            <a:r>
              <a:rPr dirty="0" sz="1300" spc="5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incoming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datagram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98797" y="2392135"/>
            <a:ext cx="4469130" cy="3873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5405">
              <a:lnSpc>
                <a:spcPct val="102099"/>
              </a:lnSpc>
              <a:spcBef>
                <a:spcPts val="100"/>
              </a:spcBef>
            </a:pPr>
            <a:r>
              <a:rPr dirty="0" sz="1450" b="1">
                <a:latin typeface="Calibri"/>
                <a:cs typeface="Calibri"/>
              </a:rPr>
              <a:t>recvmsg</a:t>
            </a:r>
            <a:r>
              <a:rPr dirty="0" sz="1450" spc="2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—receive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the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next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incoming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datagram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(variation </a:t>
            </a:r>
            <a:r>
              <a:rPr dirty="0" sz="1450">
                <a:latin typeface="Calibri"/>
                <a:cs typeface="Calibri"/>
              </a:rPr>
              <a:t>of</a:t>
            </a:r>
            <a:r>
              <a:rPr dirty="0" sz="1450" spc="3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recv)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Calibri"/>
              <a:cs typeface="Calibri"/>
            </a:endParaRPr>
          </a:p>
          <a:p>
            <a:pPr marL="12700" marR="445134">
              <a:lnSpc>
                <a:spcPct val="102800"/>
              </a:lnSpc>
            </a:pPr>
            <a:r>
              <a:rPr dirty="0" sz="1450" b="1">
                <a:latin typeface="Calibri"/>
                <a:cs typeface="Calibri"/>
              </a:rPr>
              <a:t>recvfrom</a:t>
            </a:r>
            <a:r>
              <a:rPr dirty="0" sz="1450" spc="2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—receive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the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next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incoming</a:t>
            </a:r>
            <a:r>
              <a:rPr dirty="0" sz="1450" spc="8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datagram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 spc="-25">
                <a:latin typeface="Calibri"/>
                <a:cs typeface="Calibri"/>
              </a:rPr>
              <a:t>and </a:t>
            </a:r>
            <a:r>
              <a:rPr dirty="0" sz="1450">
                <a:latin typeface="Calibri"/>
                <a:cs typeface="Calibri"/>
              </a:rPr>
              <a:t>record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its</a:t>
            </a:r>
            <a:r>
              <a:rPr dirty="0" sz="1450" spc="3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source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endpoint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address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Calibri"/>
                <a:cs typeface="Calibri"/>
              </a:rPr>
              <a:t>send</a:t>
            </a:r>
            <a:r>
              <a:rPr dirty="0" sz="1450" spc="4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—send</a:t>
            </a:r>
            <a:r>
              <a:rPr dirty="0" sz="1450" spc="4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an</a:t>
            </a:r>
            <a:r>
              <a:rPr dirty="0" sz="1450" spc="8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outgoing</a:t>
            </a:r>
            <a:r>
              <a:rPr dirty="0" sz="1450" spc="8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datagram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02400"/>
              </a:lnSpc>
            </a:pPr>
            <a:r>
              <a:rPr dirty="0" sz="1450" b="1">
                <a:latin typeface="Calibri"/>
                <a:cs typeface="Calibri"/>
              </a:rPr>
              <a:t>sendmsg</a:t>
            </a:r>
            <a:r>
              <a:rPr dirty="0" sz="1450" spc="2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—send</a:t>
            </a:r>
            <a:r>
              <a:rPr dirty="0" sz="1450" spc="3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an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outgoing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datagram</a:t>
            </a:r>
            <a:r>
              <a:rPr dirty="0" sz="1450" spc="8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(variation</a:t>
            </a:r>
            <a:r>
              <a:rPr dirty="0" sz="1450" spc="8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of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send) </a:t>
            </a:r>
            <a:r>
              <a:rPr dirty="0" sz="1450" b="1">
                <a:latin typeface="Calibri"/>
                <a:cs typeface="Calibri"/>
              </a:rPr>
              <a:t>sendto</a:t>
            </a:r>
            <a:r>
              <a:rPr dirty="0" sz="1450" spc="25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—send</a:t>
            </a:r>
            <a:r>
              <a:rPr dirty="0" sz="1450" spc="2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an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outgoing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datagram,</a:t>
            </a:r>
            <a:r>
              <a:rPr dirty="0" sz="1450" spc="8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usually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to</a:t>
            </a:r>
            <a:r>
              <a:rPr dirty="0" sz="1450" spc="40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a </a:t>
            </a:r>
            <a:r>
              <a:rPr dirty="0" sz="1450">
                <a:latin typeface="Calibri"/>
                <a:cs typeface="Calibri"/>
              </a:rPr>
              <a:t>prerecorded</a:t>
            </a:r>
            <a:r>
              <a:rPr dirty="0" sz="1450" spc="9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endpoint</a:t>
            </a:r>
            <a:r>
              <a:rPr dirty="0" sz="1450" spc="7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address</a:t>
            </a:r>
            <a:endParaRPr sz="1450">
              <a:latin typeface="Calibri"/>
              <a:cs typeface="Calibri"/>
            </a:endParaRPr>
          </a:p>
          <a:p>
            <a:pPr marL="12700" marR="198120">
              <a:lnSpc>
                <a:spcPct val="102099"/>
              </a:lnSpc>
              <a:spcBef>
                <a:spcPts val="10"/>
              </a:spcBef>
            </a:pPr>
            <a:r>
              <a:rPr dirty="0" sz="1450" b="1">
                <a:latin typeface="Calibri"/>
                <a:cs typeface="Calibri"/>
              </a:rPr>
              <a:t>shutdown</a:t>
            </a:r>
            <a:r>
              <a:rPr dirty="0" sz="1450" spc="4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—terminate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</a:t>
            </a:r>
            <a:r>
              <a:rPr dirty="0" sz="1450" spc="1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TCP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connection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in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one</a:t>
            </a:r>
            <a:r>
              <a:rPr dirty="0" sz="1450" spc="7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or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 spc="-20">
                <a:latin typeface="Calibri"/>
                <a:cs typeface="Calibri"/>
              </a:rPr>
              <a:t>both </a:t>
            </a:r>
            <a:r>
              <a:rPr dirty="0" sz="1450" spc="-10">
                <a:latin typeface="Calibri"/>
                <a:cs typeface="Calibri"/>
              </a:rPr>
              <a:t>directions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Calibri"/>
              <a:cs typeface="Calibri"/>
            </a:endParaRPr>
          </a:p>
          <a:p>
            <a:pPr marL="12700" marR="348615">
              <a:lnSpc>
                <a:spcPct val="102499"/>
              </a:lnSpc>
            </a:pPr>
            <a:r>
              <a:rPr dirty="0" sz="1450" b="1">
                <a:latin typeface="Calibri"/>
                <a:cs typeface="Calibri"/>
              </a:rPr>
              <a:t>getpeername</a:t>
            </a:r>
            <a:r>
              <a:rPr dirty="0" sz="1450" spc="45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—after</a:t>
            </a:r>
            <a:r>
              <a:rPr dirty="0" sz="1450" spc="2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</a:t>
            </a:r>
            <a:r>
              <a:rPr dirty="0" sz="1450" spc="8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connection</a:t>
            </a:r>
            <a:r>
              <a:rPr dirty="0" sz="1450" spc="8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arrives,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obtain</a:t>
            </a:r>
            <a:r>
              <a:rPr dirty="0" sz="1450" spc="105">
                <a:latin typeface="Calibri"/>
                <a:cs typeface="Calibri"/>
              </a:rPr>
              <a:t> </a:t>
            </a:r>
            <a:r>
              <a:rPr dirty="0" sz="1450" spc="-25">
                <a:latin typeface="Calibri"/>
                <a:cs typeface="Calibri"/>
              </a:rPr>
              <a:t>the </a:t>
            </a:r>
            <a:r>
              <a:rPr dirty="0" sz="1450">
                <a:latin typeface="Calibri"/>
                <a:cs typeface="Calibri"/>
              </a:rPr>
              <a:t>remote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machine’s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endpoint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address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from</a:t>
            </a:r>
            <a:r>
              <a:rPr dirty="0" sz="1450" spc="3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socket </a:t>
            </a:r>
            <a:r>
              <a:rPr dirty="0" sz="1450" b="1">
                <a:latin typeface="Calibri"/>
                <a:cs typeface="Calibri"/>
              </a:rPr>
              <a:t>getsockopt</a:t>
            </a:r>
            <a:r>
              <a:rPr dirty="0" sz="1450" spc="1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—obtain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the</a:t>
            </a:r>
            <a:r>
              <a:rPr dirty="0" sz="1450" spc="1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current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options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for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socket </a:t>
            </a:r>
            <a:r>
              <a:rPr dirty="0" sz="1450" b="1">
                <a:latin typeface="Calibri"/>
                <a:cs typeface="Calibri"/>
              </a:rPr>
              <a:t>setsockopt</a:t>
            </a:r>
            <a:r>
              <a:rPr dirty="0" sz="1450" spc="20" b="1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—change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the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options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for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a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socket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85"/>
              <a:t> </a:t>
            </a:r>
            <a:r>
              <a:rPr dirty="0"/>
              <a:t>–</a:t>
            </a:r>
            <a:r>
              <a:rPr dirty="0" spc="-90"/>
              <a:t> </a:t>
            </a:r>
            <a:r>
              <a:rPr dirty="0"/>
              <a:t>General</a:t>
            </a:r>
            <a:r>
              <a:rPr dirty="0" spc="-70"/>
              <a:t> </a:t>
            </a:r>
            <a:r>
              <a:rPr dirty="0" spc="-10"/>
              <a:t>Operation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994409"/>
            <a:ext cx="925194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Lifecycle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79" y="1976627"/>
            <a:ext cx="7301483" cy="44180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994409"/>
            <a:ext cx="3921125" cy="4625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Server</a:t>
            </a:r>
            <a:r>
              <a:rPr dirty="0" sz="1650" spc="-1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code</a:t>
            </a:r>
            <a:endParaRPr sz="16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980"/>
              </a:spcBef>
            </a:pP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main()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 spc="-50">
                <a:latin typeface="Arial MT"/>
                <a:cs typeface="Arial MT"/>
              </a:rPr>
              <a:t>{</a:t>
            </a:r>
            <a:endParaRPr sz="1150">
              <a:latin typeface="Arial MT"/>
              <a:cs typeface="Arial MT"/>
            </a:endParaRPr>
          </a:p>
          <a:p>
            <a:pPr marL="431800" marR="110998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server_socket_fd,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client_conn_fd; </a:t>
            </a: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client_addr_size;</a:t>
            </a:r>
            <a:endParaRPr sz="1150">
              <a:latin typeface="Arial MT"/>
              <a:cs typeface="Arial MT"/>
            </a:endParaRPr>
          </a:p>
          <a:p>
            <a:pPr marL="431800" marR="64897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struct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sockaddr_in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server_addr,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client_addr; </a:t>
            </a: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port_number;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char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message_from_client[256];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char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message_from_server_to_client[256];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client_message_length,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server_message_length;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Set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port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number</a:t>
            </a:r>
            <a:endParaRPr sz="11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port_number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1132;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Create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socket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server</a:t>
            </a:r>
            <a:r>
              <a:rPr dirty="0" u="sng" sz="1150" spc="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listen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on</a:t>
            </a:r>
            <a:endParaRPr sz="1150">
              <a:latin typeface="Arial"/>
              <a:cs typeface="Arial"/>
            </a:endParaRPr>
          </a:p>
          <a:p>
            <a:pPr marL="431800" marR="107188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server_socket_fd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socket(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AF_INET, SOCK_STREAM,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"/>
              </a:spcBef>
            </a:pPr>
            <a:r>
              <a:rPr dirty="0" sz="1150" spc="-50">
                <a:latin typeface="Arial MT"/>
                <a:cs typeface="Arial MT"/>
              </a:rPr>
              <a:t>0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431800" marR="106553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(server_socket_fd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0) </a:t>
            </a:r>
            <a:r>
              <a:rPr dirty="0" sz="1150">
                <a:latin typeface="Arial MT"/>
                <a:cs typeface="Arial MT"/>
              </a:rPr>
              <a:t>PrintError(“ERROR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opening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socket”);</a:t>
            </a:r>
            <a:endParaRPr sz="1150">
              <a:latin typeface="Arial MT"/>
              <a:cs typeface="Arial MT"/>
            </a:endParaRPr>
          </a:p>
          <a:p>
            <a:pPr marL="431800" marR="245745">
              <a:lnSpc>
                <a:spcPct val="100000"/>
              </a:lnSpc>
              <a:spcBef>
                <a:spcPts val="10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clear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out</a:t>
            </a:r>
            <a:r>
              <a:rPr dirty="0" u="sng" sz="1150" spc="-4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server</a:t>
            </a:r>
            <a:r>
              <a:rPr dirty="0" u="sng" sz="1150" spc="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make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sure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</a:t>
            </a:r>
            <a:r>
              <a:rPr dirty="0" sz="115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problems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with</a:t>
            </a:r>
            <a:r>
              <a:rPr dirty="0" u="sng" sz="1150" spc="-5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binding</a:t>
            </a:r>
            <a:endParaRPr sz="1150">
              <a:latin typeface="Arial"/>
              <a:cs typeface="Arial"/>
            </a:endParaRPr>
          </a:p>
          <a:p>
            <a:pPr marL="431800" marR="508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address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clear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won’t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think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address </a:t>
            </a:r>
            <a:r>
              <a:rPr dirty="0" sz="1150" spc="-25">
                <a:latin typeface="Arial MT"/>
                <a:cs typeface="Arial MT"/>
              </a:rPr>
              <a:t>has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already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been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another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bzero(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(char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&amp;server_addr,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sizeof(server_addr));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92715" y="2325092"/>
            <a:ext cx="4236720" cy="389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sockaddr_in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struct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appropriately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note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that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this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assumes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IPv4</a:t>
            </a:r>
            <a:endParaRPr sz="1150">
              <a:latin typeface="Arial MT"/>
              <a:cs typeface="Arial MT"/>
            </a:endParaRPr>
          </a:p>
          <a:p>
            <a:pPr marL="12700" marR="1217930">
              <a:lnSpc>
                <a:spcPct val="100400"/>
              </a:lnSpc>
              <a:spcBef>
                <a:spcPts val="5"/>
              </a:spcBef>
            </a:pPr>
            <a:r>
              <a:rPr dirty="0" sz="1150" spc="-10">
                <a:latin typeface="Arial MT"/>
                <a:cs typeface="Arial MT"/>
              </a:rPr>
              <a:t>server_addr.sin_family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AF_INET; server_addr.sin_addr.s_addr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INADDR_ANY; server_addr.sin_port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htons(port_number);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Bind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socket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descriptor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(bind(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server_socket_fd,</a:t>
            </a:r>
            <a:endParaRPr sz="1150">
              <a:latin typeface="Arial MT"/>
              <a:cs typeface="Arial MT"/>
            </a:endParaRPr>
          </a:p>
          <a:p>
            <a:pPr marL="12700" marR="2082800">
              <a:lnSpc>
                <a:spcPts val="1390"/>
              </a:lnSpc>
              <a:spcBef>
                <a:spcPts val="35"/>
              </a:spcBef>
            </a:pPr>
            <a:r>
              <a:rPr dirty="0" sz="1150">
                <a:latin typeface="Arial MT"/>
                <a:cs typeface="Arial MT"/>
              </a:rPr>
              <a:t>(struct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sockaddr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&amp;server_addr, sizeof(server_addr))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35"/>
              </a:lnSpc>
            </a:pPr>
            <a:r>
              <a:rPr dirty="0" sz="1150" spc="-25">
                <a:latin typeface="Arial MT"/>
                <a:cs typeface="Arial MT"/>
              </a:rPr>
              <a:t>&lt;0)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PrintError(“binding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socket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failed”);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Start the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server</a:t>
            </a:r>
            <a:r>
              <a:rPr dirty="0" u="sng" sz="1150" spc="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listening</a:t>
            </a:r>
            <a:r>
              <a:rPr dirty="0" u="sng" sz="1150" spc="-5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socket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limit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number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connections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listen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queue to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50">
                <a:latin typeface="Arial MT"/>
                <a:cs typeface="Arial MT"/>
              </a:rPr>
              <a:t>3</a:t>
            </a:r>
            <a:endParaRPr sz="1150">
              <a:latin typeface="Arial MT"/>
              <a:cs typeface="Arial MT"/>
            </a:endParaRPr>
          </a:p>
          <a:p>
            <a:pPr marL="12700" marR="2459990">
              <a:lnSpc>
                <a:spcPts val="1390"/>
              </a:lnSpc>
              <a:spcBef>
                <a:spcPts val="4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(this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backlog) listen(server_socket_fd,</a:t>
            </a:r>
            <a:r>
              <a:rPr dirty="0" sz="1150" spc="14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3);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while </a:t>
            </a:r>
            <a:r>
              <a:rPr dirty="0" sz="1150" spc="-25">
                <a:latin typeface="Arial MT"/>
                <a:cs typeface="Arial MT"/>
              </a:rPr>
              <a:t>(1)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 spc="-50">
                <a:latin typeface="Arial MT"/>
                <a:cs typeface="Arial MT"/>
              </a:rPr>
              <a:t>{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ts val="1390"/>
              </a:lnSpc>
              <a:spcBef>
                <a:spcPts val="40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clear out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client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4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make sure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problems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with</a:t>
            </a:r>
            <a:r>
              <a:rPr dirty="0" sz="115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accepting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this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address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clear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then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won’t</a:t>
            </a:r>
            <a:r>
              <a:rPr dirty="0" sz="1150" spc="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think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address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has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already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been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used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by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another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bzero(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(char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*)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&amp;client_addr,</a:t>
            </a:r>
            <a:r>
              <a:rPr dirty="0" sz="11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sizeof(client_addr));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846720"/>
            <a:ext cx="3743325" cy="439991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Server</a:t>
            </a:r>
            <a:r>
              <a:rPr dirty="0" sz="1650" spc="-1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code</a:t>
            </a:r>
            <a:endParaRPr sz="16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815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accept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connection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from a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client</a:t>
            </a:r>
            <a:endParaRPr sz="11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open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socket</a:t>
            </a:r>
            <a:endParaRPr sz="1150">
              <a:latin typeface="Arial"/>
              <a:cs typeface="Arial"/>
            </a:endParaRPr>
          </a:p>
          <a:p>
            <a:pPr marL="431800" marR="521970">
              <a:lnSpc>
                <a:spcPct val="100400"/>
              </a:lnSpc>
              <a:spcBef>
                <a:spcPts val="5"/>
              </a:spcBef>
            </a:pPr>
            <a:r>
              <a:rPr dirty="0" sz="1150">
                <a:latin typeface="Arial MT"/>
                <a:cs typeface="Arial MT"/>
              </a:rPr>
              <a:t>client_addr_size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sizeof(client_addr); </a:t>
            </a:r>
            <a:r>
              <a:rPr dirty="0" sz="1150">
                <a:latin typeface="Arial MT"/>
                <a:cs typeface="Arial MT"/>
              </a:rPr>
              <a:t>client_conn_fd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accept(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server_socket_fd, </a:t>
            </a:r>
            <a:r>
              <a:rPr dirty="0" sz="1150">
                <a:latin typeface="Arial MT"/>
                <a:cs typeface="Arial MT"/>
              </a:rPr>
              <a:t>(struct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sockaddr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*)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&amp;client_addr,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(socklen_t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*)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&amp;client_addr_size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"/>
              </a:spcBef>
            </a:pP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431800" marR="1376680">
              <a:lnSpc>
                <a:spcPts val="1390"/>
              </a:lnSpc>
              <a:spcBef>
                <a:spcPts val="35"/>
              </a:spcBef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(client_conn_fd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0) </a:t>
            </a:r>
            <a:r>
              <a:rPr dirty="0" sz="1150">
                <a:latin typeface="Arial MT"/>
                <a:cs typeface="Arial MT"/>
              </a:rPr>
              <a:t>PrintError(“the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accept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failed”);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ts val="1335"/>
              </a:lnSpc>
            </a:pP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//</a:t>
            </a:r>
            <a:r>
              <a:rPr dirty="0" sz="115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Clear</a:t>
            </a:r>
            <a:r>
              <a:rPr dirty="0" sz="115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out</a:t>
            </a:r>
            <a:r>
              <a:rPr dirty="0" sz="11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15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character</a:t>
            </a:r>
            <a:r>
              <a:rPr dirty="0" sz="11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array</a:t>
            </a:r>
            <a:r>
              <a:rPr dirty="0" sz="115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1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store</a:t>
            </a:r>
            <a:r>
              <a:rPr dirty="0" sz="115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15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FF0000"/>
                </a:solidFill>
                <a:latin typeface="Arial MT"/>
                <a:cs typeface="Arial MT"/>
              </a:rPr>
              <a:t>client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"/>
              </a:spcBef>
            </a:pPr>
            <a:r>
              <a:rPr dirty="0" sz="1150" spc="-1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endParaRPr sz="1150">
              <a:latin typeface="Arial MT"/>
              <a:cs typeface="Arial MT"/>
            </a:endParaRPr>
          </a:p>
          <a:p>
            <a:pPr marL="431800" marR="775335">
              <a:lnSpc>
                <a:spcPts val="1390"/>
              </a:lnSpc>
              <a:spcBef>
                <a:spcPts val="35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make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sure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there’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no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garbage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it </a:t>
            </a:r>
            <a:r>
              <a:rPr dirty="0" sz="1150" spc="-10">
                <a:latin typeface="Arial MT"/>
                <a:cs typeface="Arial MT"/>
              </a:rPr>
              <a:t>bzero(message_from_client,</a:t>
            </a:r>
            <a:r>
              <a:rPr dirty="0" sz="1150" spc="1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256);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ts val="1335"/>
              </a:lnSpc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read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message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from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client</a:t>
            </a:r>
            <a:endParaRPr sz="1150">
              <a:latin typeface="Arial"/>
              <a:cs typeface="Arial"/>
            </a:endParaRPr>
          </a:p>
          <a:p>
            <a:pPr marL="431800" marR="277495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client_message_length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read(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client_conn_fd, message_from_client,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 spc="-25">
                <a:latin typeface="Arial MT"/>
                <a:cs typeface="Arial MT"/>
              </a:rPr>
              <a:t>255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431800" marR="630555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(client_message_length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0)</a:t>
            </a:r>
            <a:r>
              <a:rPr dirty="0" sz="1150" spc="50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PrintError(“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unable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read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socket”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431800" marR="508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cout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&lt;&lt;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message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is”</a:t>
            </a:r>
            <a:r>
              <a:rPr dirty="0" sz="1150" spc="29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&lt;&lt;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message_from_client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&lt;&lt; </a:t>
            </a:r>
            <a:r>
              <a:rPr dirty="0" sz="1150" spc="-10">
                <a:latin typeface="Arial MT"/>
                <a:cs typeface="Arial MT"/>
              </a:rPr>
              <a:t>endl;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42512" y="2343380"/>
            <a:ext cx="4037329" cy="442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Now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write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message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back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client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Doing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little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Arial MT"/>
                <a:cs typeface="Arial MT"/>
              </a:rPr>
              <a:t>mixed</a:t>
            </a:r>
            <a:r>
              <a:rPr dirty="0" sz="1150" spc="-75">
                <a:latin typeface="Arial MT"/>
                <a:cs typeface="Arial MT"/>
              </a:rPr>
              <a:t> </a:t>
            </a:r>
            <a:r>
              <a:rPr dirty="0" sz="1150">
                <a:latin typeface="Calibri"/>
                <a:cs typeface="Calibri"/>
              </a:rPr>
              <a:t>mode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C++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strings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and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char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buffers</a:t>
            </a:r>
            <a:endParaRPr sz="1150">
              <a:latin typeface="Calibri"/>
              <a:cs typeface="Calibri"/>
            </a:endParaRPr>
          </a:p>
          <a:p>
            <a:pPr marL="12700" marR="2600325">
              <a:lnSpc>
                <a:spcPts val="1390"/>
              </a:lnSpc>
              <a:spcBef>
                <a:spcPts val="35"/>
              </a:spcBef>
            </a:pP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just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to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show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you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how </a:t>
            </a:r>
            <a:r>
              <a:rPr dirty="0" sz="1150">
                <a:latin typeface="Calibri"/>
                <a:cs typeface="Calibri"/>
              </a:rPr>
              <a:t>string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mystring;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ts val="1335"/>
              </a:lnSpc>
            </a:pPr>
            <a:r>
              <a:rPr dirty="0" sz="1150">
                <a:latin typeface="Calibri"/>
                <a:cs typeface="Calibri"/>
              </a:rPr>
              <a:t>mystring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=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“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Server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received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from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client,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then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echoed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back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to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Calibri"/>
                <a:cs typeface="Calibri"/>
              </a:rPr>
              <a:t>client:”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50">
                <a:latin typeface="Calibri"/>
                <a:cs typeface="Calibri"/>
              </a:rPr>
              <a:t>;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Calibri"/>
                <a:cs typeface="Calibri"/>
              </a:rPr>
              <a:t>mystring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+=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message_from_client;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  <a:spcBef>
                <a:spcPts val="5"/>
              </a:spcBef>
            </a:pPr>
            <a:r>
              <a:rPr dirty="0" sz="1150" spc="-10">
                <a:latin typeface="Calibri"/>
                <a:cs typeface="Calibri"/>
              </a:rPr>
              <a:t>bzero(message_from_server_to_client,</a:t>
            </a:r>
            <a:r>
              <a:rPr dirty="0" sz="1150" spc="16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256); mystring.copy(message_from_server_to_client,</a:t>
            </a:r>
            <a:r>
              <a:rPr dirty="0" sz="1150" spc="16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mystring.length()</a:t>
            </a:r>
            <a:r>
              <a:rPr dirty="0" sz="1150" spc="135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); </a:t>
            </a:r>
            <a:r>
              <a:rPr dirty="0" sz="1150">
                <a:latin typeface="Calibri"/>
                <a:cs typeface="Calibri"/>
              </a:rPr>
              <a:t>server_message_length =</a:t>
            </a:r>
            <a:r>
              <a:rPr dirty="0" sz="1150" spc="-5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write(</a:t>
            </a:r>
            <a:r>
              <a:rPr dirty="0" sz="1150" spc="-4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client_conn_fd,</a:t>
            </a:r>
            <a:endParaRPr sz="1150">
              <a:latin typeface="Calibri"/>
              <a:cs typeface="Calibri"/>
            </a:endParaRPr>
          </a:p>
          <a:p>
            <a:pPr marL="12700" marR="1572895">
              <a:lnSpc>
                <a:spcPts val="1390"/>
              </a:lnSpc>
              <a:spcBef>
                <a:spcPts val="35"/>
              </a:spcBef>
            </a:pPr>
            <a:r>
              <a:rPr dirty="0" sz="1150">
                <a:latin typeface="Calibri"/>
                <a:cs typeface="Calibri"/>
              </a:rPr>
              <a:t>(char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*)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message_from_server_to_client, strlen(message_from_server_to_client)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ts val="1335"/>
              </a:lnSpc>
            </a:pPr>
            <a:r>
              <a:rPr dirty="0" sz="1150" spc="-25">
                <a:latin typeface="Calibri"/>
                <a:cs typeface="Calibri"/>
              </a:rPr>
              <a:t>);</a:t>
            </a:r>
            <a:endParaRPr sz="1150">
              <a:latin typeface="Calibri"/>
              <a:cs typeface="Calibri"/>
            </a:endParaRPr>
          </a:p>
          <a:p>
            <a:pPr marL="12700" marR="162433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Calibri"/>
                <a:cs typeface="Calibri"/>
              </a:rPr>
              <a:t>if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(server_message_length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&lt;</a:t>
            </a:r>
            <a:r>
              <a:rPr dirty="0" sz="1150" spc="-25">
                <a:latin typeface="Calibri"/>
                <a:cs typeface="Calibri"/>
              </a:rPr>
              <a:t> 0) </a:t>
            </a:r>
            <a:r>
              <a:rPr dirty="0" sz="1150">
                <a:latin typeface="Calibri"/>
                <a:cs typeface="Calibri"/>
              </a:rPr>
              <a:t>PrintError(“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unable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to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write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to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socket”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);</a:t>
            </a:r>
            <a:endParaRPr sz="1150">
              <a:latin typeface="Calibri"/>
              <a:cs typeface="Calibri"/>
            </a:endParaRPr>
          </a:p>
          <a:p>
            <a:pPr marL="12700" marR="246379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Calibri"/>
                <a:cs typeface="Calibri"/>
              </a:rPr>
              <a:t>sleep(5);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5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let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the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client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close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first,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avoids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socket</a:t>
            </a:r>
            <a:r>
              <a:rPr dirty="0" sz="1150" spc="-2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address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reuse issues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-10">
                <a:latin typeface="Calibri"/>
                <a:cs typeface="Calibri"/>
              </a:rPr>
              <a:t>close(client_conn_fd);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Calibri"/>
                <a:cs typeface="Calibri"/>
              </a:rPr>
              <a:t>}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end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while </a:t>
            </a:r>
            <a:r>
              <a:rPr dirty="0" sz="1150" spc="-25">
                <a:latin typeface="Calibri"/>
                <a:cs typeface="Calibri"/>
              </a:rPr>
              <a:t>(1)</a:t>
            </a:r>
            <a:endParaRPr sz="1150">
              <a:latin typeface="Calibri"/>
              <a:cs typeface="Calibri"/>
            </a:endParaRPr>
          </a:p>
          <a:p>
            <a:pPr marL="12700" marR="283210">
              <a:lnSpc>
                <a:spcPct val="100000"/>
              </a:lnSpc>
              <a:spcBef>
                <a:spcPts val="10"/>
              </a:spcBef>
            </a:pPr>
            <a:r>
              <a:rPr dirty="0" sz="1150" spc="-10">
                <a:latin typeface="Calibri"/>
                <a:cs typeface="Calibri"/>
              </a:rPr>
              <a:t>close(server_socket_fd);</a:t>
            </a:r>
            <a:r>
              <a:rPr dirty="0" sz="1150" spc="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this isn’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reached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because we</a:t>
            </a:r>
            <a:r>
              <a:rPr dirty="0" sz="1150" spc="-15">
                <a:latin typeface="Calibri"/>
                <a:cs typeface="Calibri"/>
              </a:rPr>
              <a:t> </a:t>
            </a:r>
            <a:r>
              <a:rPr dirty="0" sz="1150" spc="-20">
                <a:latin typeface="Calibri"/>
                <a:cs typeface="Calibri"/>
              </a:rPr>
              <a:t>used </a:t>
            </a:r>
            <a:r>
              <a:rPr dirty="0" sz="1150">
                <a:latin typeface="Calibri"/>
                <a:cs typeface="Calibri"/>
              </a:rPr>
              <a:t>while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(1)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3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but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with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a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different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while</a:t>
            </a:r>
            <a:r>
              <a:rPr dirty="0" sz="1150" spc="-5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loop</a:t>
            </a:r>
            <a:r>
              <a:rPr dirty="0" sz="1150" spc="-2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test</a:t>
            </a:r>
            <a:r>
              <a:rPr dirty="0" sz="1150" spc="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condition</a:t>
            </a:r>
            <a:endParaRPr sz="1150">
              <a:latin typeface="Calibri"/>
              <a:cs typeface="Calibri"/>
            </a:endParaRPr>
          </a:p>
          <a:p>
            <a:pPr marL="12700" marR="2436495">
              <a:lnSpc>
                <a:spcPts val="1390"/>
              </a:lnSpc>
              <a:spcBef>
                <a:spcPts val="40"/>
              </a:spcBef>
            </a:pPr>
            <a:r>
              <a:rPr dirty="0" sz="1150">
                <a:latin typeface="Calibri"/>
                <a:cs typeface="Calibri"/>
              </a:rPr>
              <a:t>//</a:t>
            </a:r>
            <a:r>
              <a:rPr dirty="0" sz="1150" spc="-4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this would</a:t>
            </a:r>
            <a:r>
              <a:rPr dirty="0" sz="1150" spc="-10">
                <a:latin typeface="Calibri"/>
                <a:cs typeface="Calibri"/>
              </a:rPr>
              <a:t> </a:t>
            </a:r>
            <a:r>
              <a:rPr dirty="0" sz="1150">
                <a:latin typeface="Calibri"/>
                <a:cs typeface="Calibri"/>
              </a:rPr>
              <a:t>be</a:t>
            </a:r>
            <a:r>
              <a:rPr dirty="0" sz="1150" spc="-10">
                <a:latin typeface="Calibri"/>
                <a:cs typeface="Calibri"/>
              </a:rPr>
              <a:t> important </a:t>
            </a:r>
            <a:r>
              <a:rPr dirty="0" sz="1150">
                <a:latin typeface="Calibri"/>
                <a:cs typeface="Calibri"/>
              </a:rPr>
              <a:t>return</a:t>
            </a:r>
            <a:r>
              <a:rPr dirty="0" sz="1150" spc="-30">
                <a:latin typeface="Calibri"/>
                <a:cs typeface="Calibri"/>
              </a:rPr>
              <a:t> </a:t>
            </a:r>
            <a:r>
              <a:rPr dirty="0" sz="1150" spc="-25">
                <a:latin typeface="Calibri"/>
                <a:cs typeface="Calibri"/>
              </a:rPr>
              <a:t>0;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ts val="1335"/>
              </a:lnSpc>
            </a:pPr>
            <a:r>
              <a:rPr dirty="0" sz="1150" spc="-50">
                <a:latin typeface="Calibri"/>
                <a:cs typeface="Calibri"/>
              </a:rPr>
              <a:t>}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994409"/>
            <a:ext cx="3458210" cy="4625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Client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code</a:t>
            </a:r>
            <a:endParaRPr sz="16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980"/>
              </a:spcBef>
            </a:pP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main()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 spc="-50">
                <a:latin typeface="Arial MT"/>
                <a:cs typeface="Arial MT"/>
              </a:rPr>
              <a:t>{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socket_fd;</a:t>
            </a:r>
            <a:endParaRPr sz="1150">
              <a:latin typeface="Arial MT"/>
              <a:cs typeface="Arial MT"/>
            </a:endParaRPr>
          </a:p>
          <a:p>
            <a:pPr marL="431800" marR="1104900">
              <a:lnSpc>
                <a:spcPts val="1390"/>
              </a:lnSpc>
              <a:spcBef>
                <a:spcPts val="40"/>
              </a:spcBef>
            </a:pPr>
            <a:r>
              <a:rPr dirty="0" sz="1150">
                <a:latin typeface="Arial MT"/>
                <a:cs typeface="Arial MT"/>
              </a:rPr>
              <a:t>struct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sockaddr_in</a:t>
            </a:r>
            <a:r>
              <a:rPr dirty="0" sz="1150" spc="-10">
                <a:latin typeface="Arial MT"/>
                <a:cs typeface="Arial MT"/>
              </a:rPr>
              <a:t> serv_addr; </a:t>
            </a: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port_number;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char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 </a:t>
            </a:r>
            <a:r>
              <a:rPr dirty="0" sz="1150" spc="-10">
                <a:latin typeface="Arial MT"/>
                <a:cs typeface="Arial MT"/>
              </a:rPr>
              <a:t>IP_address;</a:t>
            </a:r>
            <a:endParaRPr sz="1150">
              <a:latin typeface="Arial MT"/>
              <a:cs typeface="Arial MT"/>
            </a:endParaRPr>
          </a:p>
          <a:p>
            <a:pPr marL="431800" marR="1312545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char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client_message[256]; </a:t>
            </a:r>
            <a:r>
              <a:rPr dirty="0" sz="1150">
                <a:latin typeface="Arial MT"/>
                <a:cs typeface="Arial MT"/>
              </a:rPr>
              <a:t>int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message_result;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Set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IP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(IPv4)</a:t>
            </a:r>
            <a:endParaRPr sz="11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IP_address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new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char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[sizeof(“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127.0.0.1”</a:t>
            </a:r>
            <a:r>
              <a:rPr dirty="0" sz="1150" spc="-25">
                <a:latin typeface="Arial MT"/>
                <a:cs typeface="Arial MT"/>
              </a:rPr>
              <a:t> )];</a:t>
            </a:r>
            <a:endParaRPr sz="1150">
              <a:latin typeface="Arial MT"/>
              <a:cs typeface="Arial MT"/>
            </a:endParaRPr>
          </a:p>
          <a:p>
            <a:pPr marL="431800" marR="37211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strcpy(IP_address,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127.0.0.1”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);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could </a:t>
            </a:r>
            <a:r>
              <a:rPr dirty="0" sz="1150">
                <a:latin typeface="Arial MT"/>
                <a:cs typeface="Arial MT"/>
              </a:rPr>
              <a:t>instead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have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copied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localhost”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u="sng" sz="1150" spc="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Set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port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number</a:t>
            </a:r>
            <a:endParaRPr sz="11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latin typeface="Arial MT"/>
                <a:cs typeface="Arial MT"/>
              </a:rPr>
              <a:t>port_number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1132;</a:t>
            </a:r>
            <a:endParaRPr sz="1150">
              <a:latin typeface="Arial MT"/>
              <a:cs typeface="Arial MT"/>
            </a:endParaRPr>
          </a:p>
          <a:p>
            <a:pPr marL="431800" marR="1096010">
              <a:lnSpc>
                <a:spcPct val="100400"/>
              </a:lnSpc>
              <a:spcBef>
                <a:spcPts val="5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Create 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socket</a:t>
            </a:r>
            <a:r>
              <a:rPr dirty="0" sz="115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50">
                <a:latin typeface="Arial MT"/>
                <a:cs typeface="Arial MT"/>
              </a:rPr>
              <a:t>socket_fd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socket(</a:t>
            </a:r>
            <a:r>
              <a:rPr dirty="0" sz="1150" spc="-60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AF_INET, </a:t>
            </a:r>
            <a:r>
              <a:rPr dirty="0" sz="1150" spc="-10">
                <a:latin typeface="Arial MT"/>
                <a:cs typeface="Arial MT"/>
              </a:rPr>
              <a:t>SOCK_STREAM,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 spc="-50">
                <a:latin typeface="Arial MT"/>
                <a:cs typeface="Arial MT"/>
              </a:rPr>
              <a:t>0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0"/>
              </a:spcBef>
            </a:pP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(socket_fd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0)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PrintError(“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ERROR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opening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socket”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431800" marR="5080">
              <a:lnSpc>
                <a:spcPts val="1390"/>
              </a:lnSpc>
              <a:spcBef>
                <a:spcPts val="35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clear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out</a:t>
            </a:r>
            <a:r>
              <a:rPr dirty="0" u="sng" sz="1150" spc="-4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server</a:t>
            </a:r>
            <a:r>
              <a:rPr dirty="0" u="sng" sz="1150" spc="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make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sure</a:t>
            </a:r>
            <a:r>
              <a:rPr dirty="0" sz="115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problems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with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binding</a:t>
            </a:r>
            <a:endParaRPr sz="1150">
              <a:latin typeface="Arial"/>
              <a:cs typeface="Arial"/>
            </a:endParaRPr>
          </a:p>
          <a:p>
            <a:pPr marL="431800"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bzero((char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*)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&amp;serv_addr,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sizeof(serv_addr));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05415" y="2325092"/>
            <a:ext cx="3147060" cy="143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94945" indent="34925">
              <a:lnSpc>
                <a:spcPct val="100400"/>
              </a:lnSpc>
              <a:spcBef>
                <a:spcPts val="95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set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4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sockaddr_in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struct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appropriately</a:t>
            </a:r>
            <a:r>
              <a:rPr dirty="0" sz="115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150" spc="-10">
                <a:latin typeface="Arial MT"/>
                <a:cs typeface="Arial MT"/>
              </a:rPr>
              <a:t>serv_addr.sin_family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AF_INET; serv_addr.sin_port</a:t>
            </a:r>
            <a:r>
              <a:rPr dirty="0" sz="1150" spc="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htons(port_number);</a:t>
            </a:r>
            <a:endParaRPr sz="1150">
              <a:latin typeface="Arial MT"/>
              <a:cs typeface="Arial MT"/>
            </a:endParaRPr>
          </a:p>
          <a:p>
            <a:pPr>
              <a:lnSpc>
                <a:spcPts val="1390"/>
              </a:lnSpc>
              <a:spcBef>
                <a:spcPts val="40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Use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inet_pton</a:t>
            </a:r>
            <a:r>
              <a:rPr dirty="0" u="sng" sz="1150" spc="-4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function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convert</a:t>
            </a:r>
            <a:r>
              <a:rPr dirty="0" u="sng" sz="1150" spc="-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4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IP</a:t>
            </a:r>
            <a:r>
              <a:rPr dirty="0" sz="115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address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29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binary</a:t>
            </a:r>
            <a:endParaRPr sz="1150">
              <a:latin typeface="Arial"/>
              <a:cs typeface="Arial"/>
            </a:endParaRPr>
          </a:p>
          <a:p>
            <a:pPr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(inet_pton(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AF_INET,</a:t>
            </a:r>
            <a:endParaRPr sz="1150">
              <a:latin typeface="Arial MT"/>
              <a:cs typeface="Arial MT"/>
            </a:endParaRPr>
          </a:p>
          <a:p>
            <a:pPr marR="1804035">
              <a:lnSpc>
                <a:spcPct val="100000"/>
              </a:lnSpc>
              <a:spcBef>
                <a:spcPts val="10"/>
              </a:spcBef>
            </a:pPr>
            <a:r>
              <a:rPr dirty="0" sz="1150" spc="-10">
                <a:latin typeface="Arial MT"/>
                <a:cs typeface="Arial MT"/>
              </a:rPr>
              <a:t>IP_address, &amp;serv_addr.sin_addr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05415" y="3733268"/>
            <a:ext cx="488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5415" y="3908576"/>
            <a:ext cx="2076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50">
                <a:latin typeface="Arial MT"/>
                <a:cs typeface="Arial MT"/>
              </a:rPr>
              <a:t>0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05415" y="4085312"/>
            <a:ext cx="488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5415" y="4260619"/>
            <a:ext cx="3411854" cy="1257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899"/>
              </a:lnSpc>
              <a:spcBef>
                <a:spcPts val="90"/>
              </a:spcBef>
            </a:pPr>
            <a:r>
              <a:rPr dirty="0" sz="1150">
                <a:latin typeface="Arial MT"/>
                <a:cs typeface="Arial MT"/>
              </a:rPr>
              <a:t>PrintError(“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Unable to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convert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IP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address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binary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to </a:t>
            </a:r>
            <a:r>
              <a:rPr dirty="0" sz="1150">
                <a:latin typeface="Arial MT"/>
                <a:cs typeface="Arial MT"/>
              </a:rPr>
              <a:t>put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in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serv_addr”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Connect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server</a:t>
            </a:r>
            <a:endParaRPr sz="1150">
              <a:latin typeface="Arial"/>
              <a:cs typeface="Arial"/>
            </a:endParaRPr>
          </a:p>
          <a:p>
            <a:pPr marR="1972945">
              <a:lnSpc>
                <a:spcPct val="100299"/>
              </a:lnSpc>
              <a:spcBef>
                <a:spcPts val="5"/>
              </a:spcBef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(connect(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socket_fd, </a:t>
            </a:r>
            <a:r>
              <a:rPr dirty="0" sz="1150">
                <a:latin typeface="Arial MT"/>
                <a:cs typeface="Arial MT"/>
              </a:rPr>
              <a:t>(struct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sockaddr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*) </a:t>
            </a:r>
            <a:r>
              <a:rPr dirty="0" sz="1150" spc="-10">
                <a:latin typeface="Arial MT"/>
                <a:cs typeface="Arial MT"/>
              </a:rPr>
              <a:t>&amp;serv_addr, sizeof(serv_addr)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05415" y="5493488"/>
            <a:ext cx="488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05415" y="5668777"/>
            <a:ext cx="1663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35">
                <a:latin typeface="Arial MT"/>
                <a:cs typeface="Arial MT"/>
              </a:rPr>
              <a:t>&lt;0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05415" y="5845541"/>
            <a:ext cx="488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05415" y="6020830"/>
            <a:ext cx="2980690" cy="553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400"/>
              </a:lnSpc>
              <a:spcBef>
                <a:spcPts val="95"/>
              </a:spcBef>
            </a:pPr>
            <a:r>
              <a:rPr dirty="0" sz="1150">
                <a:latin typeface="Arial MT"/>
                <a:cs typeface="Arial MT"/>
              </a:rPr>
              <a:t>PrintError(“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unable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connect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server”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);</a:t>
            </a:r>
            <a:r>
              <a:rPr dirty="0" sz="1150" spc="50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cout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&lt;&lt;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“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Enter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message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send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server: ”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50">
                <a:latin typeface="Arial MT"/>
                <a:cs typeface="Arial MT"/>
              </a:rPr>
              <a:t>; </a:t>
            </a:r>
            <a:r>
              <a:rPr dirty="0" sz="1150" spc="-10">
                <a:latin typeface="Arial MT"/>
                <a:cs typeface="Arial MT"/>
              </a:rPr>
              <a:t>bzero(client_message,256);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Socket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846720"/>
            <a:ext cx="3742054" cy="140843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Client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code</a:t>
            </a:r>
            <a:endParaRPr sz="165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815"/>
              </a:spcBef>
            </a:pPr>
            <a:r>
              <a:rPr dirty="0" sz="1150">
                <a:latin typeface="Arial MT"/>
                <a:cs typeface="Arial MT"/>
              </a:rPr>
              <a:t>string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mystring;</a:t>
            </a:r>
            <a:endParaRPr sz="1150">
              <a:latin typeface="Arial MT"/>
              <a:cs typeface="Arial MT"/>
            </a:endParaRPr>
          </a:p>
          <a:p>
            <a:pPr marL="431800" marR="5080">
              <a:lnSpc>
                <a:spcPts val="1390"/>
              </a:lnSpc>
              <a:spcBef>
                <a:spcPts val="35"/>
              </a:spcBef>
            </a:pPr>
            <a:r>
              <a:rPr dirty="0" sz="1150">
                <a:latin typeface="Arial MT"/>
                <a:cs typeface="Arial MT"/>
              </a:rPr>
              <a:t>getline(cin,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mystring);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read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line from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standard input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ts val="1335"/>
              </a:lnSpc>
            </a:pPr>
            <a:r>
              <a:rPr dirty="0" sz="1150">
                <a:latin typeface="Arial MT"/>
                <a:cs typeface="Arial MT"/>
              </a:rPr>
              <a:t>cout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&lt;&lt;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endl;</a:t>
            </a:r>
            <a:endParaRPr sz="1150">
              <a:latin typeface="Arial MT"/>
              <a:cs typeface="Arial MT"/>
            </a:endParaRPr>
          </a:p>
          <a:p>
            <a:pPr marL="431800">
              <a:lnSpc>
                <a:spcPct val="100000"/>
              </a:lnSpc>
              <a:spcBef>
                <a:spcPts val="15"/>
              </a:spcBef>
            </a:pPr>
            <a:r>
              <a:rPr dirty="0" sz="1150" spc="-10">
                <a:latin typeface="Arial MT"/>
                <a:cs typeface="Arial MT"/>
              </a:rPr>
              <a:t>strcpy(client_message,mystring.c_str());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5395" y="3405656"/>
            <a:ext cx="3376295" cy="143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Write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message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socket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send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1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the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">
                <a:latin typeface="Arial MT"/>
                <a:cs typeface="Arial MT"/>
              </a:rPr>
              <a:t>server</a:t>
            </a:r>
            <a:endParaRPr sz="1150">
              <a:latin typeface="Arial MT"/>
              <a:cs typeface="Arial MT"/>
            </a:endParaRPr>
          </a:p>
          <a:p>
            <a:pPr marL="12700" marR="1090295">
              <a:lnSpc>
                <a:spcPct val="100400"/>
              </a:lnSpc>
              <a:spcBef>
                <a:spcPts val="5"/>
              </a:spcBef>
            </a:pPr>
            <a:r>
              <a:rPr dirty="0" sz="1150">
                <a:latin typeface="Arial MT"/>
                <a:cs typeface="Arial MT"/>
              </a:rPr>
              <a:t>message_result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write( </a:t>
            </a:r>
            <a:r>
              <a:rPr dirty="0" sz="1150" spc="-10">
                <a:latin typeface="Arial MT"/>
                <a:cs typeface="Arial MT"/>
              </a:rPr>
              <a:t>socket_fd, client_message, strlen(client_message)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12700" marR="91821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(message_result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0) </a:t>
            </a:r>
            <a:r>
              <a:rPr dirty="0" sz="1150">
                <a:latin typeface="Arial MT"/>
                <a:cs typeface="Arial MT"/>
              </a:rPr>
              <a:t>PrintError(“unable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write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socket”);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5395" y="4989050"/>
            <a:ext cx="2997200" cy="1609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//</a:t>
            </a:r>
            <a:r>
              <a:rPr dirty="0" u="sng" sz="11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Read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return</a:t>
            </a:r>
            <a:r>
              <a:rPr dirty="0" u="sng" sz="1150" spc="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message</a:t>
            </a:r>
            <a:r>
              <a:rPr dirty="0" u="sng" sz="1150" spc="-1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from</a:t>
            </a:r>
            <a:r>
              <a:rPr dirty="0" u="sng" sz="1150" spc="-2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the</a:t>
            </a:r>
            <a:r>
              <a:rPr dirty="0" u="sng" sz="1150" spc="-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1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server</a:t>
            </a:r>
            <a:endParaRPr sz="1150">
              <a:latin typeface="Arial"/>
              <a:cs typeface="Arial"/>
            </a:endParaRPr>
          </a:p>
          <a:p>
            <a:pPr marL="12700" marR="730885">
              <a:lnSpc>
                <a:spcPct val="100400"/>
              </a:lnSpc>
              <a:spcBef>
                <a:spcPts val="5"/>
              </a:spcBef>
            </a:pPr>
            <a:r>
              <a:rPr dirty="0" sz="1150" spc="-10">
                <a:latin typeface="Arial MT"/>
                <a:cs typeface="Arial MT"/>
              </a:rPr>
              <a:t>bzero(client_message,256); </a:t>
            </a:r>
            <a:r>
              <a:rPr dirty="0" sz="1150">
                <a:latin typeface="Arial MT"/>
                <a:cs typeface="Arial MT"/>
              </a:rPr>
              <a:t>message_result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=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read(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socket_fd, client_message,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 spc="-25">
                <a:latin typeface="Arial MT"/>
                <a:cs typeface="Arial MT"/>
              </a:rPr>
              <a:t>255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-25">
                <a:latin typeface="Arial MT"/>
                <a:cs typeface="Arial MT"/>
              </a:rPr>
              <a:t>);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(message_result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0)</a:t>
            </a:r>
            <a:endParaRPr sz="1150">
              <a:latin typeface="Arial MT"/>
              <a:cs typeface="Arial MT"/>
            </a:endParaRPr>
          </a:p>
          <a:p>
            <a:pPr marL="12700" marR="385445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PrintError(“unable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read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from</a:t>
            </a:r>
            <a:r>
              <a:rPr dirty="0" sz="1150" spc="-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socket”); </a:t>
            </a:r>
            <a:r>
              <a:rPr dirty="0" sz="1150">
                <a:latin typeface="Arial MT"/>
                <a:cs typeface="Arial MT"/>
              </a:rPr>
              <a:t>cout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&lt;&lt;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client_message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&lt;&lt;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endl;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11092" y="2174215"/>
            <a:ext cx="332359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close(socket_fd);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commented</a:t>
            </a:r>
            <a:r>
              <a:rPr dirty="0" sz="1150" spc="-7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out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because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only </a:t>
            </a:r>
            <a:r>
              <a:rPr dirty="0" sz="1150">
                <a:latin typeface="Arial MT"/>
                <a:cs typeface="Arial MT"/>
              </a:rPr>
              <a:t>close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it</a:t>
            </a:r>
            <a:r>
              <a:rPr dirty="0" sz="1150" spc="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if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you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11082" y="2701567"/>
            <a:ext cx="3194685" cy="8553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3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don’t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want</a:t>
            </a:r>
            <a:r>
              <a:rPr dirty="0" sz="1150" spc="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to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do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more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calling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2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server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 spc="-20">
                <a:latin typeface="Arial MT"/>
                <a:cs typeface="Arial MT"/>
              </a:rPr>
              <a:t>from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Arial MT"/>
                <a:cs typeface="Arial MT"/>
              </a:rPr>
              <a:t>//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run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the</a:t>
            </a:r>
            <a:r>
              <a:rPr dirty="0" sz="1150" spc="-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client</a:t>
            </a:r>
            <a:endParaRPr sz="11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latin typeface="Arial MT"/>
                <a:cs typeface="Arial MT"/>
              </a:rPr>
              <a:t>delete</a:t>
            </a:r>
            <a:r>
              <a:rPr dirty="0" sz="1150" spc="-1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[]</a:t>
            </a:r>
            <a:r>
              <a:rPr dirty="0" sz="1150" spc="-2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IP_address</a:t>
            </a:r>
            <a:r>
              <a:rPr dirty="0" sz="1000">
                <a:latin typeface="Arial MT"/>
                <a:cs typeface="Arial MT"/>
              </a:rPr>
              <a:t>;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//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return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memory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heap </a:t>
            </a:r>
            <a:r>
              <a:rPr dirty="0" sz="1000">
                <a:latin typeface="Arial MT"/>
                <a:cs typeface="Arial MT"/>
              </a:rPr>
              <a:t>return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0;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80"/>
              </a:lnSpc>
            </a:pPr>
            <a:r>
              <a:rPr dirty="0" sz="1000" spc="-50">
                <a:latin typeface="Arial MT"/>
                <a:cs typeface="Arial MT"/>
              </a:rPr>
              <a:t>}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881090"/>
            <a:ext cx="4801870" cy="149860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Early</a:t>
            </a:r>
            <a:r>
              <a:rPr dirty="0" sz="1650" spc="-6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Middleware</a:t>
            </a:r>
            <a:r>
              <a:rPr dirty="0" sz="1650" spc="-7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Technologies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990"/>
              </a:spcBef>
              <a:buChar char="•"/>
              <a:tabLst>
                <a:tab pos="636270" algn="l"/>
              </a:tabLst>
            </a:pPr>
            <a:r>
              <a:rPr dirty="0" sz="1800">
                <a:latin typeface="Arial MT"/>
                <a:cs typeface="Arial MT"/>
              </a:rPr>
              <a:t>Remote Procedure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Calls</a:t>
            </a:r>
            <a:endParaRPr sz="180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636270" algn="l"/>
              </a:tabLst>
            </a:pPr>
            <a:r>
              <a:rPr dirty="0" sz="1800">
                <a:latin typeface="Arial MT"/>
                <a:cs typeface="Arial MT"/>
              </a:rPr>
              <a:t>Distributed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Oriented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Components</a:t>
            </a:r>
            <a:endParaRPr sz="180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636270" algn="l"/>
              </a:tabLst>
            </a:pPr>
            <a:r>
              <a:rPr dirty="0" sz="1800">
                <a:latin typeface="Arial MT"/>
                <a:cs typeface="Arial MT"/>
              </a:rPr>
              <a:t>Message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Oriented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Middleware </a:t>
            </a:r>
            <a:r>
              <a:rPr dirty="0" sz="1800" spc="-10">
                <a:latin typeface="Arial MT"/>
                <a:cs typeface="Arial MT"/>
              </a:rPr>
              <a:t>(MOM)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</a:t>
            </a:r>
            <a:r>
              <a:rPr dirty="0" spc="-55"/>
              <a:t>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 spc="-10"/>
              <a:t>segment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81090"/>
            <a:ext cx="5918200" cy="444627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994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200025" marR="604520" indent="-187960">
              <a:lnSpc>
                <a:spcPct val="90800"/>
              </a:lnSpc>
              <a:spcBef>
                <a:spcPts val="119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 across the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is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treated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 a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 </a:t>
            </a:r>
            <a:r>
              <a:rPr dirty="0" sz="1800" spc="-10">
                <a:latin typeface="Arial MT"/>
                <a:cs typeface="Arial MT"/>
              </a:rPr>
              <a:t>(location 	transparency)</a:t>
            </a:r>
            <a:endParaRPr sz="1800">
              <a:latin typeface="Arial MT"/>
              <a:cs typeface="Arial MT"/>
            </a:endParaRPr>
          </a:p>
          <a:p>
            <a:pPr marL="200025" marR="146050" indent="-187960">
              <a:lnSpc>
                <a:spcPts val="1960"/>
              </a:lnSpc>
              <a:spcBef>
                <a:spcPts val="85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Open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Computing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(ONC) RPC</a:t>
            </a:r>
            <a:r>
              <a:rPr dirty="0" sz="1800" spc="-10">
                <a:latin typeface="Arial MT"/>
                <a:cs typeface="Arial MT"/>
              </a:rPr>
              <a:t> implementation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(early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attempt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middleware)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180"/>
              </a:spcBef>
              <a:buChar char="•"/>
              <a:tabLst>
                <a:tab pos="575945" algn="l"/>
              </a:tabLst>
            </a:pP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“.x”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files</a:t>
            </a:r>
            <a:endParaRPr sz="1800">
              <a:latin typeface="Arial MT"/>
              <a:cs typeface="Arial MT"/>
            </a:endParaRPr>
          </a:p>
          <a:p>
            <a:pPr lvl="1" marL="576580" marR="112395" indent="-186690">
              <a:lnSpc>
                <a:spcPts val="1960"/>
              </a:lnSpc>
              <a:spcBef>
                <a:spcPts val="450"/>
              </a:spcBef>
              <a:buFont typeface="Arial MT"/>
              <a:buChar char="•"/>
              <a:tabLst>
                <a:tab pos="577850" algn="l"/>
              </a:tabLst>
            </a:pPr>
            <a:r>
              <a:rPr dirty="0" sz="1800" i="1">
                <a:latin typeface="Arial"/>
                <a:cs typeface="Arial"/>
              </a:rPr>
              <a:t>rpcgen</a:t>
            </a:r>
            <a:r>
              <a:rPr dirty="0" sz="1800" spc="10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translates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.x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files 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skeleton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files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side</a:t>
            </a:r>
            <a:endParaRPr sz="1800">
              <a:latin typeface="Arial MT"/>
              <a:cs typeface="Arial MT"/>
            </a:endParaRPr>
          </a:p>
          <a:p>
            <a:pPr marL="200025" marR="131445" indent="-187960">
              <a:lnSpc>
                <a:spcPct val="90800"/>
              </a:lnSpc>
              <a:spcBef>
                <a:spcPts val="78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Stubs and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skeletons handle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packing/unpacking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 </a:t>
            </a:r>
            <a:r>
              <a:rPr dirty="0" sz="1800" spc="-2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 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layer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(bytes)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10">
                <a:latin typeface="Arial MT"/>
                <a:cs typeface="Arial MT"/>
              </a:rPr>
              <a:t> called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 spc="-10" b="1">
                <a:latin typeface="Arial"/>
                <a:cs typeface="Arial"/>
              </a:rPr>
              <a:t>Marshaling</a:t>
            </a:r>
            <a:endParaRPr sz="1800">
              <a:latin typeface="Arial"/>
              <a:cs typeface="Arial"/>
            </a:endParaRPr>
          </a:p>
          <a:p>
            <a:pPr marL="200025" marR="5080" indent="-187960">
              <a:lnSpc>
                <a:spcPts val="1960"/>
              </a:lnSpc>
              <a:spcBef>
                <a:spcPts val="85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Applications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either side (client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server)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are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designed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 if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run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machine,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leaving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underlying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/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transport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specifics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b="1">
                <a:latin typeface="Arial"/>
                <a:cs typeface="Arial"/>
              </a:rPr>
              <a:t>RPC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runtime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Remote</a:t>
            </a:r>
            <a:r>
              <a:rPr dirty="0" spc="-110"/>
              <a:t> </a:t>
            </a:r>
            <a:r>
              <a:rPr dirty="0"/>
              <a:t>Procedure</a:t>
            </a:r>
            <a:r>
              <a:rPr dirty="0" spc="-110"/>
              <a:t> </a:t>
            </a:r>
            <a:r>
              <a:rPr dirty="0"/>
              <a:t>Calls</a:t>
            </a:r>
            <a:r>
              <a:rPr dirty="0" spc="-110"/>
              <a:t> </a:t>
            </a:r>
            <a:r>
              <a:rPr dirty="0" spc="-10"/>
              <a:t>(RPC)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229" y="2099408"/>
            <a:ext cx="3389588" cy="3950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994409"/>
            <a:ext cx="9511030" cy="2077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935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Synchronous</a:t>
            </a:r>
            <a:r>
              <a:rPr dirty="0" sz="1650" spc="-7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Vs</a:t>
            </a:r>
            <a:r>
              <a:rPr dirty="0" sz="1650" spc="-114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Asynchronous</a:t>
            </a:r>
            <a:endParaRPr sz="1650">
              <a:latin typeface="Arial"/>
              <a:cs typeface="Arial"/>
            </a:endParaRPr>
          </a:p>
          <a:p>
            <a:pPr marL="564515" marR="575945" indent="-187960">
              <a:lnSpc>
                <a:spcPts val="1739"/>
              </a:lnSpc>
              <a:spcBef>
                <a:spcPts val="365"/>
              </a:spcBef>
              <a:buChar char="•"/>
              <a:tabLst>
                <a:tab pos="565785" algn="l"/>
              </a:tabLst>
            </a:pPr>
            <a:r>
              <a:rPr dirty="0" sz="1800">
                <a:latin typeface="Arial MT"/>
                <a:cs typeface="Arial MT"/>
              </a:rPr>
              <a:t>Synchronous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blocks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until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finishes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operation 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returns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response (or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error)</a:t>
            </a:r>
            <a:endParaRPr sz="1800">
              <a:latin typeface="Arial MT"/>
              <a:cs typeface="Arial MT"/>
            </a:endParaRPr>
          </a:p>
          <a:p>
            <a:pPr marL="564515" indent="-187960">
              <a:lnSpc>
                <a:spcPct val="100000"/>
              </a:lnSpc>
              <a:spcBef>
                <a:spcPts val="415"/>
              </a:spcBef>
              <a:buChar char="•"/>
              <a:tabLst>
                <a:tab pos="564515" algn="l"/>
              </a:tabLst>
            </a:pPr>
            <a:r>
              <a:rPr dirty="0" sz="1800">
                <a:latin typeface="Arial MT"/>
                <a:cs typeface="Arial MT"/>
              </a:rPr>
              <a:t>Asynchronous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allows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continue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its business while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processes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RPC</a:t>
            </a:r>
            <a:endParaRPr sz="1800">
              <a:latin typeface="Arial MT"/>
              <a:cs typeface="Arial MT"/>
            </a:endParaRPr>
          </a:p>
          <a:p>
            <a:pPr lvl="1" marL="939800" indent="-185420">
              <a:lnSpc>
                <a:spcPts val="1950"/>
              </a:lnSpc>
              <a:buChar char="•"/>
              <a:tabLst>
                <a:tab pos="939800" algn="l"/>
              </a:tabLst>
            </a:pP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may send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return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address (along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request)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10" b="1">
                <a:latin typeface="Arial"/>
                <a:cs typeface="Arial"/>
              </a:rPr>
              <a:t>callback</a:t>
            </a:r>
            <a:endParaRPr sz="1800">
              <a:latin typeface="Arial"/>
              <a:cs typeface="Arial"/>
            </a:endParaRPr>
          </a:p>
          <a:p>
            <a:pPr marL="942340">
              <a:lnSpc>
                <a:spcPts val="1945"/>
              </a:lnSpc>
            </a:pP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response</a:t>
            </a:r>
            <a:endParaRPr sz="1800">
              <a:latin typeface="Arial MT"/>
              <a:cs typeface="Arial MT"/>
            </a:endParaRPr>
          </a:p>
          <a:p>
            <a:pPr lvl="1" marL="939800" marR="515620" indent="-185420">
              <a:lnSpc>
                <a:spcPts val="1739"/>
              </a:lnSpc>
              <a:spcBef>
                <a:spcPts val="405"/>
              </a:spcBef>
              <a:buChar char="•"/>
              <a:tabLst>
                <a:tab pos="942340" algn="l"/>
              </a:tabLst>
            </a:pP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may use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mediator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(also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broker</a:t>
            </a:r>
            <a:r>
              <a:rPr dirty="0" sz="1800">
                <a:latin typeface="Arial MT"/>
                <a:cs typeface="Arial MT"/>
              </a:rPr>
              <a:t>)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return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response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client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when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finished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Remote</a:t>
            </a:r>
            <a:r>
              <a:rPr dirty="0" spc="-110"/>
              <a:t> </a:t>
            </a:r>
            <a:r>
              <a:rPr dirty="0"/>
              <a:t>Procedure</a:t>
            </a:r>
            <a:r>
              <a:rPr dirty="0" spc="-110"/>
              <a:t> </a:t>
            </a:r>
            <a:r>
              <a:rPr dirty="0"/>
              <a:t>Calls</a:t>
            </a:r>
            <a:r>
              <a:rPr dirty="0" spc="-110"/>
              <a:t> </a:t>
            </a:r>
            <a:r>
              <a:rPr dirty="0" spc="-10"/>
              <a:t>(RPC)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055" y="4437888"/>
            <a:ext cx="3113532" cy="199034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4604003"/>
            <a:ext cx="3113532" cy="142493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066021" y="6045184"/>
            <a:ext cx="140271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Synchronous</a:t>
            </a:r>
            <a:r>
              <a:rPr dirty="0" sz="1300" spc="6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RPC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36910" y="6045184"/>
            <a:ext cx="1486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Asynchronous</a:t>
            </a:r>
            <a:r>
              <a:rPr dirty="0" sz="1300" spc="6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RPC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Remote</a:t>
            </a:r>
            <a:r>
              <a:rPr dirty="0" spc="-110"/>
              <a:t> </a:t>
            </a:r>
            <a:r>
              <a:rPr dirty="0"/>
              <a:t>Procedure</a:t>
            </a:r>
            <a:r>
              <a:rPr dirty="0" spc="-110"/>
              <a:t> </a:t>
            </a:r>
            <a:r>
              <a:rPr dirty="0"/>
              <a:t>Calls</a:t>
            </a:r>
            <a:r>
              <a:rPr dirty="0" spc="-110"/>
              <a:t> </a:t>
            </a:r>
            <a:r>
              <a:rPr dirty="0" spc="-10"/>
              <a:t>(RPC)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483" y="1915542"/>
            <a:ext cx="9928860" cy="204343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2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site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A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consider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 </a:t>
            </a:r>
            <a:r>
              <a:rPr dirty="0" sz="1800" i="1">
                <a:latin typeface="Arial"/>
                <a:cs typeface="Arial"/>
              </a:rPr>
              <a:t>p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executes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local call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P</a:t>
            </a:r>
            <a:r>
              <a:rPr dirty="0" sz="1800" spc="-70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(Figure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1.6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a).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Design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mechanism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would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allow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p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perform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execution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P</a:t>
            </a:r>
            <a:r>
              <a:rPr dirty="0" sz="1800" spc="-65" i="1"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taking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place 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 remote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B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(Figure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1.6 b),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while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preserving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semantics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(i.e.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overall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effect)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the</a:t>
            </a:r>
            <a:r>
              <a:rPr dirty="0" sz="1800" spc="-10">
                <a:latin typeface="Arial MT"/>
                <a:cs typeface="Arial MT"/>
              </a:rPr>
              <a:t> call.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70"/>
              </a:lnSpc>
              <a:spcBef>
                <a:spcPts val="85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We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A</a:t>
            </a:r>
            <a:r>
              <a:rPr dirty="0" sz="1800" spc="-75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i="1">
                <a:latin typeface="Arial"/>
                <a:cs typeface="Arial"/>
              </a:rPr>
              <a:t>B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 site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site,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respectively,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because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follows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client-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server,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synchronous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request-</a:t>
            </a:r>
            <a:r>
              <a:rPr dirty="0" sz="1800">
                <a:latin typeface="Arial MT"/>
                <a:cs typeface="Arial MT"/>
              </a:rPr>
              <a:t>response,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paradigm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767" y="4315967"/>
            <a:ext cx="6403848" cy="22235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/>
              <a:t>Remote</a:t>
            </a:r>
            <a:r>
              <a:rPr dirty="0" sz="2350" spc="70"/>
              <a:t> </a:t>
            </a:r>
            <a:r>
              <a:rPr dirty="0" sz="2350"/>
              <a:t>Procedure</a:t>
            </a:r>
            <a:r>
              <a:rPr dirty="0" sz="2350" spc="105"/>
              <a:t> </a:t>
            </a:r>
            <a:r>
              <a:rPr dirty="0" sz="2350"/>
              <a:t>Calls</a:t>
            </a:r>
            <a:r>
              <a:rPr dirty="0" sz="2350" spc="85"/>
              <a:t> </a:t>
            </a:r>
            <a:r>
              <a:rPr dirty="0" sz="2350"/>
              <a:t>-</a:t>
            </a:r>
            <a:r>
              <a:rPr dirty="0" sz="2350" spc="95"/>
              <a:t> </a:t>
            </a:r>
            <a:r>
              <a:rPr dirty="0" sz="2350" b="0">
                <a:latin typeface="Arial MT"/>
                <a:cs typeface="Arial MT"/>
              </a:rPr>
              <a:t>Implementation</a:t>
            </a:r>
            <a:r>
              <a:rPr dirty="0" sz="2350" spc="80" b="0">
                <a:latin typeface="Arial MT"/>
                <a:cs typeface="Arial MT"/>
              </a:rPr>
              <a:t> </a:t>
            </a:r>
            <a:r>
              <a:rPr dirty="0" sz="2350" spc="-10" b="0">
                <a:latin typeface="Arial MT"/>
                <a:cs typeface="Arial MT"/>
              </a:rPr>
              <a:t>Principles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483" y="1832887"/>
            <a:ext cx="9810750" cy="210947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00025" marR="134620" indent="-187960">
              <a:lnSpc>
                <a:spcPts val="1960"/>
              </a:lnSpc>
              <a:spcBef>
                <a:spcPts val="34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standard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implementation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relies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two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pieces 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software,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(Figure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1.7).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7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The client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 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representative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site;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as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representative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site.</a:t>
            </a:r>
            <a:endParaRPr sz="1800">
              <a:latin typeface="Arial MT"/>
              <a:cs typeface="Arial MT"/>
            </a:endParaRPr>
          </a:p>
          <a:p>
            <a:pPr marL="200025" marR="91440" indent="-187960">
              <a:lnSpc>
                <a:spcPts val="196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Thus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both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calling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side)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the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body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(on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side)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keep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 interface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 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centralized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case.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8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The client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subsystem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exchange</a:t>
            </a:r>
            <a:r>
              <a:rPr dirty="0" sz="1800" spc="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messages.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355" y="4032504"/>
            <a:ext cx="8109203" cy="264109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/>
              <a:t>RPC</a:t>
            </a:r>
            <a:r>
              <a:rPr dirty="0" sz="2350" spc="100"/>
              <a:t> </a:t>
            </a:r>
            <a:r>
              <a:rPr dirty="0" sz="2350"/>
              <a:t>–</a:t>
            </a:r>
            <a:r>
              <a:rPr dirty="0" sz="2350" spc="65"/>
              <a:t> </a:t>
            </a:r>
            <a:r>
              <a:rPr dirty="0" sz="2350"/>
              <a:t>Parameter</a:t>
            </a:r>
            <a:r>
              <a:rPr dirty="0" sz="2350" spc="55"/>
              <a:t> </a:t>
            </a:r>
            <a:r>
              <a:rPr dirty="0" sz="2350"/>
              <a:t>Marshalling</a:t>
            </a:r>
            <a:r>
              <a:rPr dirty="0" sz="2350" spc="80"/>
              <a:t> </a:t>
            </a:r>
            <a:r>
              <a:rPr dirty="0" sz="2350"/>
              <a:t>and</a:t>
            </a:r>
            <a:r>
              <a:rPr dirty="0" sz="2350" spc="75"/>
              <a:t> </a:t>
            </a:r>
            <a:r>
              <a:rPr dirty="0" sz="2350" spc="-10"/>
              <a:t>Unmarshalling</a:t>
            </a:r>
            <a:endParaRPr sz="2350"/>
          </a:p>
        </p:txBody>
      </p:sp>
      <p:sp>
        <p:nvSpPr>
          <p:cNvPr id="3" name="object 3" descr=""/>
          <p:cNvSpPr txBox="1"/>
          <p:nvPr/>
        </p:nvSpPr>
        <p:spPr>
          <a:xfrm>
            <a:off x="63483" y="1832887"/>
            <a:ext cx="9897745" cy="20053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00025" marR="5080" indent="-187960">
              <a:lnSpc>
                <a:spcPts val="1960"/>
              </a:lnSpc>
              <a:spcBef>
                <a:spcPts val="34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Parameters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results need 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 transmitted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over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Therefore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be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put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serialized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form,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suitable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transmission.</a:t>
            </a:r>
            <a:endParaRPr sz="1800">
              <a:latin typeface="Arial MT"/>
              <a:cs typeface="Arial MT"/>
            </a:endParaRPr>
          </a:p>
          <a:p>
            <a:pPr marL="200025" marR="237490" indent="-187960">
              <a:lnSpc>
                <a:spcPct val="90800"/>
              </a:lnSpc>
              <a:spcBef>
                <a:spcPts val="79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order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ensure </a:t>
            </a:r>
            <a:r>
              <a:rPr dirty="0" sz="1800" spc="-10">
                <a:latin typeface="Arial MT"/>
                <a:cs typeface="Arial MT"/>
              </a:rPr>
              <a:t>portability,</a:t>
            </a:r>
            <a:r>
              <a:rPr dirty="0" sz="1800">
                <a:latin typeface="Arial MT"/>
                <a:cs typeface="Arial MT"/>
              </a:rPr>
              <a:t> this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form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should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standard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independent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the</a:t>
            </a:r>
            <a:r>
              <a:rPr dirty="0" sz="1800" spc="-10">
                <a:latin typeface="Arial MT"/>
                <a:cs typeface="Arial MT"/>
              </a:rPr>
              <a:t> underlying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protocols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well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local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representation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conventions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(e.g.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byte </a:t>
            </a:r>
            <a:r>
              <a:rPr dirty="0" sz="1800" spc="-2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ordering)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 the client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server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machines.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ts val="2065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Converting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 from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representation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standard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serialized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form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called</a:t>
            </a:r>
            <a:endParaRPr sz="1800">
              <a:latin typeface="Arial MT"/>
              <a:cs typeface="Arial MT"/>
            </a:endParaRPr>
          </a:p>
          <a:p>
            <a:pPr marL="201295">
              <a:lnSpc>
                <a:spcPts val="2065"/>
              </a:lnSpc>
              <a:tabLst>
                <a:tab pos="1688464" algn="l"/>
              </a:tabLst>
            </a:pPr>
            <a:r>
              <a:rPr dirty="0" u="sng" sz="18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marshalling.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reverse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conversion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called </a:t>
            </a:r>
            <a:r>
              <a:rPr dirty="0" u="sng" sz="18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unmarshalling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767" y="3887723"/>
            <a:ext cx="7292339" cy="276758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RPC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/>
              <a:t>Client</a:t>
            </a:r>
            <a:r>
              <a:rPr dirty="0" spc="-65"/>
              <a:t> </a:t>
            </a:r>
            <a:r>
              <a:rPr dirty="0"/>
              <a:t>Server</a:t>
            </a:r>
            <a:r>
              <a:rPr dirty="0" spc="-85"/>
              <a:t> </a:t>
            </a:r>
            <a:r>
              <a:rPr dirty="0" spc="-10"/>
              <a:t>Binding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3483" y="1781087"/>
            <a:ext cx="9846310" cy="207708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200025" marR="581025" indent="-187960">
              <a:lnSpc>
                <a:spcPct val="70500"/>
              </a:lnSpc>
              <a:spcBef>
                <a:spcPts val="75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The client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needs 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know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address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number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should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be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directed.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Therefore,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must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locate the server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site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prior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the</a:t>
            </a:r>
            <a:r>
              <a:rPr dirty="0" sz="1800" spc="-10">
                <a:latin typeface="Arial MT"/>
                <a:cs typeface="Arial MT"/>
              </a:rPr>
              <a:t> call.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19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function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naming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service,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essentially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registry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associates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19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names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 server addresses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port </a:t>
            </a:r>
            <a:r>
              <a:rPr dirty="0" sz="1800" spc="-10">
                <a:latin typeface="Arial MT"/>
                <a:cs typeface="Arial MT"/>
              </a:rPr>
              <a:t>numbers.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ct val="7060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registers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together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its IP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address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number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which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daemon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waiting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calls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procedure.</a:t>
            </a:r>
            <a:endParaRPr sz="1800">
              <a:latin typeface="Arial MT"/>
              <a:cs typeface="Arial MT"/>
            </a:endParaRPr>
          </a:p>
          <a:p>
            <a:pPr marL="200025" marR="892810" indent="-187960">
              <a:lnSpc>
                <a:spcPct val="7050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consults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service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IP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address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number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given 	procedure.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3878579"/>
            <a:ext cx="7984235" cy="272795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81090"/>
            <a:ext cx="9820275" cy="341122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994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200025" marR="271780" indent="-187960">
              <a:lnSpc>
                <a:spcPts val="1960"/>
              </a:lnSpc>
              <a:spcBef>
                <a:spcPts val="122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Distributed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component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concurrent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well-</a:t>
            </a:r>
            <a:r>
              <a:rPr dirty="0" sz="1800">
                <a:latin typeface="Arial MT"/>
                <a:cs typeface="Arial MT"/>
              </a:rPr>
              <a:t>defined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interface,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logical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unit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distribution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deployment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70"/>
              </a:lnSpc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Employs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oriented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methodologies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(where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objects encapsulate data inside)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design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a </a:t>
            </a:r>
            <a:r>
              <a:rPr dirty="0" sz="1800" spc="-5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system, with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components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spread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over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communicating using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middleware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components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Distributed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 middleware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handle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both synchronous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asynchronous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communication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Examples: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CORBA,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DCOM,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Java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RMI,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EJB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Distributed</a:t>
            </a:r>
            <a:r>
              <a:rPr dirty="0" spc="-114"/>
              <a:t> </a:t>
            </a:r>
            <a:r>
              <a:rPr dirty="0"/>
              <a:t>Object</a:t>
            </a:r>
            <a:r>
              <a:rPr dirty="0" spc="-114"/>
              <a:t> </a:t>
            </a:r>
            <a:r>
              <a:rPr dirty="0"/>
              <a:t>Oriented</a:t>
            </a:r>
            <a:r>
              <a:rPr dirty="0" spc="-135"/>
              <a:t> </a:t>
            </a:r>
            <a:r>
              <a:rPr dirty="0" spc="-10"/>
              <a:t>Components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0005" y="1881090"/>
            <a:ext cx="8718550" cy="4157979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994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Component</a:t>
            </a:r>
            <a:r>
              <a:rPr dirty="0" sz="1650" spc="-7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or</a:t>
            </a:r>
            <a:r>
              <a:rPr dirty="0" sz="1650" spc="-6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Object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Oriented</a:t>
            </a:r>
            <a:r>
              <a:rPr dirty="0" sz="1650" spc="-9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Middleware</a:t>
            </a:r>
            <a:r>
              <a:rPr dirty="0" sz="1650" spc="-8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?</a:t>
            </a:r>
            <a:endParaRPr sz="1650">
              <a:latin typeface="Arial"/>
              <a:cs typeface="Arial"/>
            </a:endParaRPr>
          </a:p>
          <a:p>
            <a:pPr marL="200025" marR="5080" indent="-187960">
              <a:lnSpc>
                <a:spcPts val="1960"/>
              </a:lnSpc>
              <a:spcBef>
                <a:spcPts val="122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Component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comprises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loosely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coupled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components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(need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be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oriented),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most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which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could be existing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components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5"/>
              </a:spcBef>
              <a:buChar char="•"/>
              <a:tabLst>
                <a:tab pos="575945" algn="l"/>
              </a:tabLst>
            </a:pPr>
            <a:r>
              <a:rPr dirty="0" sz="1800" spc="-10">
                <a:latin typeface="Arial MT"/>
                <a:cs typeface="Arial MT"/>
              </a:rPr>
              <a:t>CORBA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575945" algn="l"/>
              </a:tabLst>
            </a:pPr>
            <a:r>
              <a:rPr dirty="0" sz="1800" spc="-20">
                <a:latin typeface="Arial MT"/>
                <a:cs typeface="Arial MT"/>
              </a:rPr>
              <a:t>DCOM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575945" algn="l"/>
              </a:tabLst>
            </a:pPr>
            <a:r>
              <a:rPr dirty="0" sz="1800" spc="-25">
                <a:latin typeface="Arial MT"/>
                <a:cs typeface="Arial MT"/>
              </a:rPr>
              <a:t>EJB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697230" indent="-187960">
              <a:lnSpc>
                <a:spcPts val="1970"/>
              </a:lnSpc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oriented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systems focus 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world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situations,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albeit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using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components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times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buChar char="•"/>
              <a:tabLst>
                <a:tab pos="575945" algn="l"/>
              </a:tabLst>
            </a:pPr>
            <a:r>
              <a:rPr dirty="0" sz="1800" spc="-10">
                <a:latin typeface="Arial MT"/>
                <a:cs typeface="Arial MT"/>
              </a:rPr>
              <a:t>CORBA</a:t>
            </a:r>
            <a:endParaRPr sz="1800">
              <a:latin typeface="Arial MT"/>
              <a:cs typeface="Arial MT"/>
            </a:endParaRPr>
          </a:p>
          <a:p>
            <a:pPr lvl="1" marL="575945" indent="-185420">
              <a:lnSpc>
                <a:spcPct val="100000"/>
              </a:lnSpc>
              <a:spcBef>
                <a:spcPts val="204"/>
              </a:spcBef>
              <a:buChar char="•"/>
              <a:tabLst>
                <a:tab pos="575945" algn="l"/>
              </a:tabLst>
            </a:pPr>
            <a:r>
              <a:rPr dirty="0" sz="1800" spc="-20">
                <a:latin typeface="Arial MT"/>
                <a:cs typeface="Arial MT"/>
              </a:rPr>
              <a:t>DCOM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Distributed</a:t>
            </a:r>
            <a:r>
              <a:rPr dirty="0" spc="-114"/>
              <a:t> </a:t>
            </a:r>
            <a:r>
              <a:rPr dirty="0"/>
              <a:t>Object</a:t>
            </a:r>
            <a:r>
              <a:rPr dirty="0" spc="-114"/>
              <a:t> </a:t>
            </a:r>
            <a:r>
              <a:rPr dirty="0"/>
              <a:t>Oriented</a:t>
            </a:r>
            <a:r>
              <a:rPr dirty="0" spc="-135"/>
              <a:t> </a:t>
            </a:r>
            <a:r>
              <a:rPr dirty="0" spc="-10"/>
              <a:t>Components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281940">
              <a:lnSpc>
                <a:spcPct val="100000"/>
              </a:lnSpc>
              <a:spcBef>
                <a:spcPts val="800"/>
              </a:spcBef>
            </a:pPr>
            <a:r>
              <a:rPr dirty="0" spc="-10"/>
              <a:t>Overview</a:t>
            </a:r>
          </a:p>
          <a:p>
            <a:pPr marL="905510" marR="146685" indent="-187960">
              <a:lnSpc>
                <a:spcPts val="1739"/>
              </a:lnSpc>
              <a:spcBef>
                <a:spcPts val="1180"/>
              </a:spcBef>
              <a:buChar char="•"/>
              <a:tabLst>
                <a:tab pos="907415" algn="l"/>
              </a:tabLst>
            </a:pP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Acts</a:t>
            </a:r>
            <a:r>
              <a:rPr dirty="0" sz="18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as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 middleman (broker)</a:t>
            </a:r>
            <a:r>
              <a:rPr dirty="0" sz="1800" spc="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between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client</a:t>
            </a:r>
            <a:r>
              <a:rPr dirty="0" sz="18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server</a:t>
            </a:r>
            <a:r>
              <a:rPr dirty="0" sz="1800" spc="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communication</a:t>
            </a:r>
            <a:endParaRPr sz="1800">
              <a:latin typeface="Arial MT"/>
              <a:cs typeface="Arial MT"/>
            </a:endParaRPr>
          </a:p>
          <a:p>
            <a:pPr marL="905510" marR="29209" indent="-187960">
              <a:lnSpc>
                <a:spcPts val="1739"/>
              </a:lnSpc>
              <a:spcBef>
                <a:spcPts val="830"/>
              </a:spcBef>
              <a:buChar char="•"/>
              <a:tabLst>
                <a:tab pos="907415" algn="l"/>
              </a:tabLst>
            </a:pP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Brings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loose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coupling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design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25" b="0">
                <a:solidFill>
                  <a:srgbClr val="000000"/>
                </a:solidFill>
                <a:latin typeface="Arial MT"/>
                <a:cs typeface="Arial MT"/>
              </a:rPr>
              <a:t>of </a:t>
            </a:r>
            <a:r>
              <a:rPr dirty="0" sz="1800" spc="-25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client</a:t>
            </a:r>
            <a:r>
              <a:rPr dirty="0" sz="180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z="18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server,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by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offloading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communication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third</a:t>
            </a:r>
            <a:r>
              <a:rPr dirty="0" sz="1800" spc="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party</a:t>
            </a:r>
            <a:endParaRPr sz="1800">
              <a:latin typeface="Arial MT"/>
              <a:cs typeface="Arial MT"/>
            </a:endParaRPr>
          </a:p>
          <a:p>
            <a:pPr marL="905510" marR="187325" indent="-187960">
              <a:lnSpc>
                <a:spcPts val="1739"/>
              </a:lnSpc>
              <a:spcBef>
                <a:spcPts val="825"/>
              </a:spcBef>
              <a:buChar char="•"/>
              <a:tabLst>
                <a:tab pos="907415" algn="l"/>
              </a:tabLst>
            </a:pP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Enables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client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work</a:t>
            </a:r>
            <a:r>
              <a:rPr dirty="0" sz="1800" spc="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asynchronously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with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  <a:p>
            <a:pPr marL="905510" marR="5080" indent="-187960">
              <a:lnSpc>
                <a:spcPct val="80800"/>
              </a:lnSpc>
              <a:spcBef>
                <a:spcPts val="835"/>
              </a:spcBef>
              <a:buChar char="•"/>
              <a:tabLst>
                <a:tab pos="907415" algn="l"/>
              </a:tabLst>
            </a:pP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Generally (not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necessarily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always) 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uses 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queueing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mechanism to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deliver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messages,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publish/subscribe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model</a:t>
            </a:r>
            <a:endParaRPr sz="1800">
              <a:latin typeface="Arial MT"/>
              <a:cs typeface="Arial MT"/>
            </a:endParaRPr>
          </a:p>
          <a:p>
            <a:pPr marL="905510" marR="28575" indent="-187960">
              <a:lnSpc>
                <a:spcPts val="1739"/>
              </a:lnSpc>
              <a:spcBef>
                <a:spcPts val="815"/>
              </a:spcBef>
              <a:buChar char="•"/>
              <a:tabLst>
                <a:tab pos="907415" algn="l"/>
              </a:tabLst>
            </a:pP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MOM</a:t>
            </a:r>
            <a:r>
              <a:rPr dirty="0" sz="1800" spc="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will</a:t>
            </a:r>
            <a:r>
              <a:rPr dirty="0" sz="18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handle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auxiliary</a:t>
            </a:r>
            <a:r>
              <a:rPr dirty="0" sz="180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operations</a:t>
            </a:r>
            <a:r>
              <a:rPr dirty="0" sz="1800" spc="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25" b="0">
                <a:solidFill>
                  <a:srgbClr val="000000"/>
                </a:solidFill>
                <a:latin typeface="Arial MT"/>
                <a:cs typeface="Arial MT"/>
              </a:rPr>
              <a:t>as </a:t>
            </a:r>
            <a:r>
              <a:rPr dirty="0" sz="1800" spc="-25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well,</a:t>
            </a:r>
            <a:r>
              <a:rPr dirty="0" sz="180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like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Quality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z="180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Service,</a:t>
            </a:r>
            <a:r>
              <a:rPr dirty="0" sz="1800" spc="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Priority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processing,</a:t>
            </a:r>
            <a:r>
              <a:rPr dirty="0" sz="18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10" b="0">
                <a:solidFill>
                  <a:srgbClr val="000000"/>
                </a:solidFill>
                <a:latin typeface="Arial MT"/>
                <a:cs typeface="Arial MT"/>
              </a:rPr>
              <a:t>Reliability,</a:t>
            </a:r>
            <a:r>
              <a:rPr dirty="0" sz="18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Recovery</a:t>
            </a:r>
            <a:r>
              <a:rPr dirty="0" sz="1800" spc="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z="18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lost 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dirty="0" sz="1800" b="0">
                <a:solidFill>
                  <a:srgbClr val="000000"/>
                </a:solidFill>
                <a:latin typeface="Arial MT"/>
                <a:cs typeface="Arial MT"/>
              </a:rPr>
              <a:t>messages</a:t>
            </a:r>
            <a:r>
              <a:rPr dirty="0" sz="1800" spc="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1800" spc="-20" b="0">
                <a:solidFill>
                  <a:srgbClr val="000000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135"/>
              <a:t> </a:t>
            </a:r>
            <a:r>
              <a:rPr dirty="0"/>
              <a:t>Oriented</a:t>
            </a:r>
            <a:r>
              <a:rPr dirty="0" spc="-120"/>
              <a:t> </a:t>
            </a:r>
            <a:r>
              <a:rPr dirty="0"/>
              <a:t>Middleware</a:t>
            </a:r>
            <a:r>
              <a:rPr dirty="0" spc="-150"/>
              <a:t> </a:t>
            </a:r>
            <a:r>
              <a:rPr dirty="0" spc="-10"/>
              <a:t>(MOM)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5359" y="2076665"/>
            <a:ext cx="1662071" cy="325898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135"/>
              <a:t> </a:t>
            </a:r>
            <a:r>
              <a:rPr dirty="0"/>
              <a:t>Oriented</a:t>
            </a:r>
            <a:r>
              <a:rPr dirty="0" spc="-120"/>
              <a:t> </a:t>
            </a:r>
            <a:r>
              <a:rPr dirty="0"/>
              <a:t>Middleware</a:t>
            </a:r>
            <a:r>
              <a:rPr dirty="0" spc="-150"/>
              <a:t> </a:t>
            </a:r>
            <a:r>
              <a:rPr dirty="0" spc="-10"/>
              <a:t>(MOM)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6900" y="1935479"/>
            <a:ext cx="5494019" cy="194919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5104" y="4270247"/>
            <a:ext cx="5407151" cy="244601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135"/>
              <a:t> </a:t>
            </a:r>
            <a:r>
              <a:rPr dirty="0"/>
              <a:t>Oriented</a:t>
            </a:r>
            <a:r>
              <a:rPr dirty="0" spc="-120"/>
              <a:t> </a:t>
            </a:r>
            <a:r>
              <a:rPr dirty="0"/>
              <a:t>Middleware</a:t>
            </a:r>
            <a:r>
              <a:rPr dirty="0" spc="-150"/>
              <a:t> </a:t>
            </a:r>
            <a:r>
              <a:rPr dirty="0" spc="-10"/>
              <a:t>(MOM)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2185416"/>
            <a:ext cx="9996170" cy="3649979"/>
            <a:chOff x="0" y="2185416"/>
            <a:chExt cx="9996170" cy="364997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85416"/>
              <a:ext cx="3458371" cy="352404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1484" y="2189988"/>
              <a:ext cx="6504431" cy="3645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851234"/>
            <a:ext cx="2350770" cy="108585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CORBA</a:t>
            </a:r>
            <a:r>
              <a:rPr dirty="0" sz="1650" spc="-8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CORBA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Introduction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CORBA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Basics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</a:t>
            </a:r>
            <a:r>
              <a:rPr dirty="0" spc="-55"/>
              <a:t>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 spc="-10"/>
              <a:t>segment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954" y="1994409"/>
            <a:ext cx="9594215" cy="38817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Evolution</a:t>
            </a:r>
            <a:r>
              <a:rPr dirty="0" sz="1650" spc="-6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and</a:t>
            </a:r>
            <a:r>
              <a:rPr dirty="0" sz="1650" spc="-8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History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Introduced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1990s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 Management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Group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(OMG)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Popular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initially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available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even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today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some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installations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6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70"/>
              </a:lnSpc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Introduced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notion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“everything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everybody”,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i.e. any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language/platform</a:t>
            </a:r>
            <a:r>
              <a:rPr dirty="0" sz="1800" spc="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talking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</a:t>
            </a:r>
            <a:r>
              <a:rPr dirty="0" sz="1800" spc="-25">
                <a:latin typeface="Arial MT"/>
                <a:cs typeface="Arial MT"/>
              </a:rPr>
              <a:t>any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other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language/platform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CORBA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Gradually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declined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2000s with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explosion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Internet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(WWW)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advent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firewalls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Hacking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ports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major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challenge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CORBA</a:t>
            </a:r>
            <a:r>
              <a:rPr dirty="0" sz="1800" spc="-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time </a:t>
            </a:r>
            <a:r>
              <a:rPr dirty="0" sz="1800" spc="-10">
                <a:latin typeface="Arial MT"/>
                <a:cs typeface="Arial MT"/>
              </a:rPr>
              <a:t>progressed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CORBA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906147"/>
            <a:ext cx="4542155" cy="4034154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775"/>
              </a:spcBef>
              <a:buChar char="•"/>
              <a:tabLst>
                <a:tab pos="636270" algn="l"/>
              </a:tabLst>
            </a:pPr>
            <a:r>
              <a:rPr dirty="0" sz="1800">
                <a:latin typeface="Arial MT"/>
                <a:cs typeface="Arial MT"/>
              </a:rPr>
              <a:t>Primarily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client-server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oriented</a:t>
            </a:r>
            <a:endParaRPr sz="1800">
              <a:latin typeface="Arial MT"/>
              <a:cs typeface="Arial MT"/>
            </a:endParaRPr>
          </a:p>
          <a:p>
            <a:pPr marL="636270" marR="24130" indent="-187960">
              <a:lnSpc>
                <a:spcPts val="1739"/>
              </a:lnSpc>
              <a:spcBef>
                <a:spcPts val="815"/>
              </a:spcBef>
              <a:buChar char="•"/>
              <a:tabLst>
                <a:tab pos="637540" algn="l"/>
              </a:tabLst>
            </a:pP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seen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RPC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remotely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located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objects (due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distributed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OO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 spc="-10">
                <a:latin typeface="Arial MT"/>
                <a:cs typeface="Arial MT"/>
              </a:rPr>
              <a:t>nature)</a:t>
            </a:r>
            <a:endParaRPr sz="1800">
              <a:latin typeface="Arial MT"/>
              <a:cs typeface="Arial MT"/>
            </a:endParaRPr>
          </a:p>
          <a:p>
            <a:pPr marL="636270" marR="89535" indent="-187960">
              <a:lnSpc>
                <a:spcPts val="1739"/>
              </a:lnSpc>
              <a:spcBef>
                <a:spcPts val="825"/>
              </a:spcBef>
              <a:buChar char="•"/>
              <a:tabLst>
                <a:tab pos="637540" algn="l"/>
              </a:tabLst>
            </a:pPr>
            <a:r>
              <a:rPr dirty="0" sz="1800">
                <a:latin typeface="Arial MT"/>
                <a:cs typeface="Arial MT"/>
              </a:rPr>
              <a:t>Uses General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Inter-</a:t>
            </a:r>
            <a:r>
              <a:rPr dirty="0" sz="1800">
                <a:latin typeface="Arial MT"/>
                <a:cs typeface="Arial MT"/>
              </a:rPr>
              <a:t>Orb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Protocol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(on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TCP/IP)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communicate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transfer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data between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 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420"/>
              </a:spcBef>
              <a:buChar char="•"/>
              <a:tabLst>
                <a:tab pos="636270" algn="l"/>
              </a:tabLst>
            </a:pP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proxy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object</a:t>
            </a:r>
            <a:endParaRPr sz="1800">
              <a:latin typeface="Arial MT"/>
              <a:cs typeface="Arial MT"/>
            </a:endParaRPr>
          </a:p>
          <a:p>
            <a:pPr lvl="1" marL="1010919" marR="93980" indent="-185420">
              <a:lnSpc>
                <a:spcPts val="1739"/>
              </a:lnSpc>
              <a:spcBef>
                <a:spcPts val="409"/>
              </a:spcBef>
              <a:buChar char="•"/>
              <a:tabLst>
                <a:tab pos="1013460" algn="l"/>
              </a:tabLst>
            </a:pPr>
            <a:r>
              <a:rPr dirty="0" sz="1800">
                <a:latin typeface="Arial MT"/>
                <a:cs typeface="Arial MT"/>
              </a:rPr>
              <a:t>Represents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remote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 in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local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space</a:t>
            </a:r>
            <a:endParaRPr sz="1800">
              <a:latin typeface="Arial MT"/>
              <a:cs typeface="Arial MT"/>
            </a:endParaRPr>
          </a:p>
          <a:p>
            <a:pPr lvl="1" marL="1010919" marR="5080" indent="-185420">
              <a:lnSpc>
                <a:spcPts val="1739"/>
              </a:lnSpc>
              <a:spcBef>
                <a:spcPts val="420"/>
              </a:spcBef>
              <a:buChar char="•"/>
              <a:tabLst>
                <a:tab pos="1013460" algn="l"/>
              </a:tabLst>
            </a:pPr>
            <a:r>
              <a:rPr dirty="0" sz="1800">
                <a:latin typeface="Arial MT"/>
                <a:cs typeface="Arial MT"/>
              </a:rPr>
              <a:t>Handles </a:t>
            </a:r>
            <a:r>
              <a:rPr dirty="0" sz="1800" spc="-20">
                <a:latin typeface="Arial MT"/>
                <a:cs typeface="Arial MT"/>
              </a:rPr>
              <a:t>data </a:t>
            </a:r>
            <a:r>
              <a:rPr dirty="0" sz="1800" spc="-2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serialization/encoding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communication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network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using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 spc="-25">
                <a:latin typeface="Arial MT"/>
                <a:cs typeface="Arial MT"/>
              </a:rPr>
              <a:t>ORB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CORBA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5107" y="2688336"/>
            <a:ext cx="4700016" cy="257555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CORBA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36246" y="1881090"/>
            <a:ext cx="5615940" cy="419798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Architecture</a:t>
            </a:r>
            <a:endParaRPr sz="1650">
              <a:latin typeface="Arial"/>
              <a:cs typeface="Arial"/>
            </a:endParaRPr>
          </a:p>
          <a:p>
            <a:pPr marL="636270" marR="176530" indent="-187960">
              <a:lnSpc>
                <a:spcPts val="1960"/>
              </a:lnSpc>
              <a:spcBef>
                <a:spcPts val="1225"/>
              </a:spcBef>
              <a:buChar char="•"/>
              <a:tabLst>
                <a:tab pos="637540" algn="l"/>
              </a:tabLst>
            </a:pPr>
            <a:r>
              <a:rPr dirty="0" sz="1800">
                <a:latin typeface="Arial MT"/>
                <a:cs typeface="Arial MT"/>
              </a:rPr>
              <a:t>CORBA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supports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static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dynamic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interfaces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using Interface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Description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IDL</a:t>
            </a:r>
            <a:endParaRPr sz="1800">
              <a:latin typeface="Arial MT"/>
              <a:cs typeface="Arial MT"/>
            </a:endParaRPr>
          </a:p>
          <a:p>
            <a:pPr lvl="1" marL="1010919" marR="13335" indent="-185420">
              <a:lnSpc>
                <a:spcPts val="1960"/>
              </a:lnSpc>
              <a:spcBef>
                <a:spcPts val="409"/>
              </a:spcBef>
              <a:buChar char="•"/>
              <a:tabLst>
                <a:tab pos="1013460" algn="l"/>
              </a:tabLst>
            </a:pPr>
            <a:r>
              <a:rPr dirty="0" sz="1800">
                <a:latin typeface="Arial MT"/>
                <a:cs typeface="Arial MT"/>
              </a:rPr>
              <a:t>Static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interface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defined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compile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time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using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compiler</a:t>
            </a:r>
            <a:endParaRPr sz="1800">
              <a:latin typeface="Arial MT"/>
              <a:cs typeface="Arial MT"/>
            </a:endParaRPr>
          </a:p>
          <a:p>
            <a:pPr lvl="1" marL="1010919" marR="130810" indent="-185420">
              <a:lnSpc>
                <a:spcPts val="1960"/>
              </a:lnSpc>
              <a:spcBef>
                <a:spcPts val="414"/>
              </a:spcBef>
              <a:buChar char="•"/>
              <a:tabLst>
                <a:tab pos="1013460" algn="l"/>
              </a:tabLst>
            </a:pPr>
            <a:r>
              <a:rPr dirty="0" sz="1800">
                <a:latin typeface="Arial MT"/>
                <a:cs typeface="Arial MT"/>
              </a:rPr>
              <a:t>Dynamic interface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defines invocation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at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 spc="-10">
                <a:latin typeface="Arial MT"/>
                <a:cs typeface="Arial MT"/>
              </a:rPr>
              <a:t>runtime</a:t>
            </a:r>
            <a:endParaRPr sz="1800">
              <a:latin typeface="Arial MT"/>
              <a:cs typeface="Arial MT"/>
            </a:endParaRPr>
          </a:p>
          <a:p>
            <a:pPr marL="636270" marR="194945" indent="-187960">
              <a:lnSpc>
                <a:spcPts val="1960"/>
              </a:lnSpc>
              <a:spcBef>
                <a:spcPts val="830"/>
              </a:spcBef>
              <a:buChar char="•"/>
              <a:tabLst>
                <a:tab pos="637540" algn="l"/>
              </a:tabLst>
            </a:pP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stub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client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implementation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10">
                <a:latin typeface="Arial MT"/>
                <a:cs typeface="Arial MT"/>
              </a:rPr>
              <a:t> calls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CORBA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library</a:t>
            </a:r>
            <a:r>
              <a:rPr dirty="0" sz="1800" spc="-1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API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operation</a:t>
            </a:r>
            <a:endParaRPr sz="1800">
              <a:latin typeface="Arial MT"/>
              <a:cs typeface="Arial MT"/>
            </a:endParaRPr>
          </a:p>
          <a:p>
            <a:pPr marL="636270" marR="5080" indent="-187960">
              <a:lnSpc>
                <a:spcPts val="1960"/>
              </a:lnSpc>
              <a:spcBef>
                <a:spcPts val="819"/>
              </a:spcBef>
              <a:buChar char="•"/>
              <a:tabLst>
                <a:tab pos="637540" algn="l"/>
              </a:tabLst>
            </a:pP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skeleton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on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side,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CORBA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library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API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operation</a:t>
            </a:r>
            <a:endParaRPr sz="1800">
              <a:latin typeface="Arial MT"/>
              <a:cs typeface="Arial MT"/>
            </a:endParaRPr>
          </a:p>
          <a:p>
            <a:pPr marL="636270" marR="72390" indent="-187960">
              <a:lnSpc>
                <a:spcPct val="90900"/>
              </a:lnSpc>
              <a:spcBef>
                <a:spcPts val="785"/>
              </a:spcBef>
              <a:buChar char="•"/>
              <a:tabLst>
                <a:tab pos="637540" algn="l"/>
              </a:tabLst>
            </a:pPr>
            <a:r>
              <a:rPr dirty="0" sz="1800">
                <a:latin typeface="Arial MT"/>
                <a:cs typeface="Arial MT"/>
              </a:rPr>
              <a:t>POA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(Portable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Adapter) performs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server-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side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functions,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similar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EJB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containers,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Web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servers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60" y="1851660"/>
            <a:ext cx="3749039" cy="468020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994409"/>
            <a:ext cx="2861310" cy="3870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CORBA</a:t>
            </a:r>
            <a:r>
              <a:rPr dirty="0" sz="1650" spc="-10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IDL</a:t>
            </a:r>
            <a:r>
              <a:rPr dirty="0" sz="1650" spc="-7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–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Session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50">
              <a:latin typeface="Arial"/>
              <a:cs typeface="Arial"/>
            </a:endParaRPr>
          </a:p>
          <a:p>
            <a:pPr marL="588645" indent="-187960">
              <a:lnSpc>
                <a:spcPct val="100000"/>
              </a:lnSpc>
              <a:spcBef>
                <a:spcPts val="5"/>
              </a:spcBef>
              <a:buChar char="•"/>
              <a:tabLst>
                <a:tab pos="588645" algn="l"/>
              </a:tabLst>
            </a:pP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Overview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lvl="1" marL="964565" indent="-185420">
              <a:lnSpc>
                <a:spcPct val="100000"/>
              </a:lnSpc>
              <a:spcBef>
                <a:spcPts val="5"/>
              </a:spcBef>
              <a:buChar char="•"/>
              <a:tabLst>
                <a:tab pos="964565" algn="l"/>
              </a:tabLst>
            </a:pPr>
            <a:r>
              <a:rPr dirty="0" sz="1800" spc="-10">
                <a:latin typeface="Arial MT"/>
                <a:cs typeface="Arial MT"/>
              </a:rPr>
              <a:t>Parameters</a:t>
            </a:r>
            <a:endParaRPr sz="1800">
              <a:latin typeface="Arial MT"/>
              <a:cs typeface="Arial MT"/>
            </a:endParaRPr>
          </a:p>
          <a:p>
            <a:pPr lvl="1" marL="964565" indent="-185420">
              <a:lnSpc>
                <a:spcPct val="100000"/>
              </a:lnSpc>
              <a:spcBef>
                <a:spcPts val="200"/>
              </a:spcBef>
              <a:buChar char="•"/>
              <a:tabLst>
                <a:tab pos="964565" algn="l"/>
              </a:tabLst>
            </a:pPr>
            <a:r>
              <a:rPr dirty="0" sz="1800" spc="-10">
                <a:latin typeface="Arial MT"/>
                <a:cs typeface="Arial MT"/>
              </a:rPr>
              <a:t>Modules</a:t>
            </a:r>
            <a:endParaRPr sz="1800">
              <a:latin typeface="Arial MT"/>
              <a:cs typeface="Arial MT"/>
            </a:endParaRPr>
          </a:p>
          <a:p>
            <a:pPr lvl="1" marL="964565" indent="-185420">
              <a:lnSpc>
                <a:spcPct val="100000"/>
              </a:lnSpc>
              <a:spcBef>
                <a:spcPts val="220"/>
              </a:spcBef>
              <a:buChar char="•"/>
              <a:tabLst>
                <a:tab pos="964565" algn="l"/>
              </a:tabLst>
            </a:pPr>
            <a:r>
              <a:rPr dirty="0" sz="1800" spc="-10">
                <a:latin typeface="Arial MT"/>
                <a:cs typeface="Arial MT"/>
              </a:rPr>
              <a:t>Exceptions</a:t>
            </a:r>
            <a:endParaRPr sz="1800">
              <a:latin typeface="Arial MT"/>
              <a:cs typeface="Arial MT"/>
            </a:endParaRPr>
          </a:p>
          <a:p>
            <a:pPr lvl="1" marL="96456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964565" algn="l"/>
              </a:tabLst>
            </a:pPr>
            <a:r>
              <a:rPr dirty="0" sz="1800">
                <a:latin typeface="Arial MT"/>
                <a:cs typeface="Arial MT"/>
              </a:rPr>
              <a:t>Structs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Arrays</a:t>
            </a:r>
            <a:endParaRPr sz="1800">
              <a:latin typeface="Arial MT"/>
              <a:cs typeface="Arial MT"/>
            </a:endParaRPr>
          </a:p>
          <a:p>
            <a:pPr lvl="1" marL="964565" indent="-185420">
              <a:lnSpc>
                <a:spcPct val="100000"/>
              </a:lnSpc>
              <a:spcBef>
                <a:spcPts val="215"/>
              </a:spcBef>
              <a:buChar char="•"/>
              <a:tabLst>
                <a:tab pos="964565" algn="l"/>
              </a:tabLst>
            </a:pPr>
            <a:r>
              <a:rPr dirty="0" sz="1800" spc="-10">
                <a:latin typeface="Arial MT"/>
                <a:cs typeface="Arial MT"/>
              </a:rPr>
              <a:t>Sequences</a:t>
            </a:r>
            <a:endParaRPr sz="1800">
              <a:latin typeface="Arial MT"/>
              <a:cs typeface="Arial MT"/>
            </a:endParaRPr>
          </a:p>
          <a:p>
            <a:pPr lvl="1" marL="964565" indent="-185420">
              <a:lnSpc>
                <a:spcPct val="100000"/>
              </a:lnSpc>
              <a:spcBef>
                <a:spcPts val="204"/>
              </a:spcBef>
              <a:buChar char="•"/>
              <a:tabLst>
                <a:tab pos="964565" algn="l"/>
              </a:tabLst>
            </a:pPr>
            <a:r>
              <a:rPr dirty="0" sz="1800" spc="-10">
                <a:latin typeface="Arial MT"/>
                <a:cs typeface="Arial MT"/>
              </a:rPr>
              <a:t>Attributes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3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588645" indent="-187960">
              <a:lnSpc>
                <a:spcPct val="100000"/>
              </a:lnSpc>
              <a:buChar char="•"/>
              <a:tabLst>
                <a:tab pos="588645" algn="l"/>
              </a:tabLst>
            </a:pP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Java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bindings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</a:t>
            </a:r>
            <a:r>
              <a:rPr dirty="0" spc="-55"/>
              <a:t>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 spc="-10"/>
              <a:t>segment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160" y="1810007"/>
            <a:ext cx="9726295" cy="482028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0025" marR="750570" indent="-187960">
              <a:lnSpc>
                <a:spcPts val="2140"/>
              </a:lnSpc>
              <a:spcBef>
                <a:spcPts val="365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 b="1">
                <a:latin typeface="Arial"/>
                <a:cs typeface="Arial"/>
              </a:rPr>
              <a:t>interface</a:t>
            </a:r>
            <a:r>
              <a:rPr dirty="0" sz="1950" spc="4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description</a:t>
            </a:r>
            <a:r>
              <a:rPr dirty="0" sz="1950" spc="6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language</a:t>
            </a:r>
            <a:r>
              <a:rPr dirty="0" sz="1950" spc="40" b="1">
                <a:latin typeface="Arial"/>
                <a:cs typeface="Arial"/>
              </a:rPr>
              <a:t> </a:t>
            </a:r>
            <a:r>
              <a:rPr dirty="0" sz="1950">
                <a:latin typeface="Arial MT"/>
                <a:cs typeface="Arial MT"/>
              </a:rPr>
              <a:t>or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 b="1">
                <a:latin typeface="Arial"/>
                <a:cs typeface="Arial"/>
              </a:rPr>
              <a:t>interface</a:t>
            </a:r>
            <a:r>
              <a:rPr dirty="0" sz="1950" spc="7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definition</a:t>
            </a:r>
            <a:r>
              <a:rPr dirty="0" sz="1950" spc="1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language</a:t>
            </a:r>
            <a:r>
              <a:rPr dirty="0" sz="1950" spc="65" b="1">
                <a:latin typeface="Arial"/>
                <a:cs typeface="Arial"/>
              </a:rPr>
              <a:t> </a:t>
            </a:r>
            <a:r>
              <a:rPr dirty="0" sz="1950">
                <a:latin typeface="Arial MT"/>
                <a:cs typeface="Arial MT"/>
              </a:rPr>
              <a:t>(</a:t>
            </a:r>
            <a:r>
              <a:rPr dirty="0" sz="1950" b="1">
                <a:latin typeface="Arial"/>
                <a:cs typeface="Arial"/>
              </a:rPr>
              <a:t>IDL</a:t>
            </a:r>
            <a:r>
              <a:rPr dirty="0" sz="1950">
                <a:latin typeface="Arial MT"/>
                <a:cs typeface="Arial MT"/>
              </a:rPr>
              <a:t>),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is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specification</a:t>
            </a:r>
            <a:r>
              <a:rPr dirty="0" u="sng" sz="1950" spc="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language</a:t>
            </a:r>
            <a:r>
              <a:rPr dirty="0" sz="1950" spc="6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used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describe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software</a:t>
            </a:r>
            <a:r>
              <a:rPr dirty="0" u="sng" sz="1950" spc="6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component's</a:t>
            </a:r>
            <a:r>
              <a:rPr dirty="0" sz="1950" spc="5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application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	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programming</a:t>
            </a:r>
            <a:r>
              <a:rPr dirty="0" u="sng" sz="1950" spc="10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interface</a:t>
            </a:r>
            <a:r>
              <a:rPr dirty="0" sz="1950" spc="6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(API).</a:t>
            </a:r>
            <a:endParaRPr sz="1950">
              <a:latin typeface="Arial MT"/>
              <a:cs typeface="Arial MT"/>
            </a:endParaRPr>
          </a:p>
          <a:p>
            <a:pPr marL="200025" marR="5080" indent="-187960">
              <a:lnSpc>
                <a:spcPts val="214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IDLs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describe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interface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language-independent</a:t>
            </a:r>
            <a:r>
              <a:rPr dirty="0" sz="1950" spc="35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way,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enabling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communication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between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software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components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do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not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share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one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language,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example,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between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those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written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C++</a:t>
            </a:r>
            <a:r>
              <a:rPr dirty="0" sz="1950" spc="5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those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written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Java</a:t>
            </a:r>
            <a:r>
              <a:rPr dirty="0" sz="1950" spc="-10">
                <a:latin typeface="Arial MT"/>
                <a:cs typeface="Arial MT"/>
              </a:rPr>
              <a:t>.</a:t>
            </a:r>
            <a:endParaRPr sz="1950">
              <a:latin typeface="Arial MT"/>
              <a:cs typeface="Arial MT"/>
            </a:endParaRPr>
          </a:p>
          <a:p>
            <a:pPr marL="200025" marR="682625" indent="-187960">
              <a:lnSpc>
                <a:spcPct val="91500"/>
              </a:lnSpc>
              <a:spcBef>
                <a:spcPts val="780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IDLs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commonly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used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remote</a:t>
            </a:r>
            <a:r>
              <a:rPr dirty="0" u="sng" sz="1950" spc="5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procedure</a:t>
            </a:r>
            <a:r>
              <a:rPr dirty="0" u="sng" sz="1950" spc="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call</a:t>
            </a:r>
            <a:r>
              <a:rPr dirty="0" sz="1950" spc="55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software.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these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cases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the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machines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at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either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end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 i="1">
                <a:latin typeface="Arial"/>
                <a:cs typeface="Arial"/>
              </a:rPr>
              <a:t>link</a:t>
            </a:r>
            <a:r>
              <a:rPr dirty="0" sz="1950" spc="40" i="1">
                <a:latin typeface="Arial"/>
                <a:cs typeface="Arial"/>
              </a:rPr>
              <a:t> </a:t>
            </a:r>
            <a:r>
              <a:rPr dirty="0" sz="1950">
                <a:latin typeface="Arial MT"/>
                <a:cs typeface="Arial MT"/>
              </a:rPr>
              <a:t>may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using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different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operating</a:t>
            </a:r>
            <a:r>
              <a:rPr dirty="0" u="sng" sz="1950" spc="4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systems</a:t>
            </a:r>
            <a:r>
              <a:rPr dirty="0" sz="1950" spc="5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and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computer</a:t>
            </a:r>
            <a:r>
              <a:rPr dirty="0" sz="1950" spc="8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languages.</a:t>
            </a: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950">
                <a:latin typeface="Arial MT"/>
                <a:cs typeface="Arial MT"/>
              </a:rPr>
              <a:t>IDLs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offer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bridge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between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two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different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systems.</a:t>
            </a: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ts val="224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950">
                <a:latin typeface="Arial MT"/>
                <a:cs typeface="Arial MT"/>
              </a:rPr>
              <a:t>Software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systems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based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IDLs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include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Sun's</a:t>
            </a:r>
            <a:r>
              <a:rPr dirty="0" sz="1950" spc="4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ONC</a:t>
            </a:r>
            <a:r>
              <a:rPr dirty="0" u="sng" sz="1950" spc="8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RPC</a:t>
            </a:r>
            <a:r>
              <a:rPr dirty="0" sz="1950">
                <a:latin typeface="Arial MT"/>
                <a:cs typeface="Arial MT"/>
              </a:rPr>
              <a:t>,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The</a:t>
            </a:r>
            <a:r>
              <a:rPr dirty="0" u="sng" sz="1950" spc="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Open</a:t>
            </a:r>
            <a:endParaRPr sz="1950">
              <a:latin typeface="Arial MT"/>
              <a:cs typeface="Arial MT"/>
            </a:endParaRPr>
          </a:p>
          <a:p>
            <a:pPr marL="201295" marR="93345">
              <a:lnSpc>
                <a:spcPct val="91400"/>
              </a:lnSpc>
              <a:spcBef>
                <a:spcPts val="95"/>
              </a:spcBef>
            </a:pP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Group</a:t>
            </a:r>
            <a:r>
              <a:rPr dirty="0" sz="1950">
                <a:latin typeface="Arial MT"/>
                <a:cs typeface="Arial MT"/>
              </a:rPr>
              <a:t>'s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Distributed</a:t>
            </a:r>
            <a:r>
              <a:rPr dirty="0" u="sng" sz="1950" spc="4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Computing</a:t>
            </a:r>
            <a:r>
              <a:rPr dirty="0" u="sng" sz="1950" spc="6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Environment</a:t>
            </a:r>
            <a:r>
              <a:rPr dirty="0" sz="1950">
                <a:latin typeface="Arial MT"/>
                <a:cs typeface="Arial MT"/>
              </a:rPr>
              <a:t>,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IBM</a:t>
            </a:r>
            <a:r>
              <a:rPr dirty="0" sz="1950">
                <a:latin typeface="Arial MT"/>
                <a:cs typeface="Arial MT"/>
              </a:rPr>
              <a:t>'s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System</a:t>
            </a:r>
            <a:r>
              <a:rPr dirty="0" u="sng" sz="1950" spc="7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Object</a:t>
            </a:r>
            <a:r>
              <a:rPr dirty="0" u="sng" sz="1950" spc="6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Model</a:t>
            </a:r>
            <a:r>
              <a:rPr dirty="0" sz="1950">
                <a:latin typeface="Arial MT"/>
                <a:cs typeface="Arial MT"/>
              </a:rPr>
              <a:t>,</a:t>
            </a:r>
            <a:r>
              <a:rPr dirty="0" sz="1950" spc="8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Object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Management</a:t>
            </a:r>
            <a:r>
              <a:rPr dirty="0" u="sng" sz="1950" spc="6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Group</a:t>
            </a:r>
            <a:r>
              <a:rPr dirty="0" sz="1950">
                <a:latin typeface="Arial MT"/>
                <a:cs typeface="Arial MT"/>
              </a:rPr>
              <a:t>'s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CORBA</a:t>
            </a:r>
            <a:r>
              <a:rPr dirty="0" sz="1950" spc="-45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(which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implements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OMG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IDL,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IDL</a:t>
            </a:r>
            <a:r>
              <a:rPr dirty="0" sz="1950" spc="-1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based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on </a:t>
            </a:r>
            <a:r>
              <a:rPr dirty="0" sz="1950">
                <a:latin typeface="Arial MT"/>
                <a:cs typeface="Arial MT"/>
              </a:rPr>
              <a:t>DCE/RPC)</a:t>
            </a:r>
            <a:r>
              <a:rPr dirty="0" sz="1950" spc="9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Data</a:t>
            </a:r>
            <a:r>
              <a:rPr dirty="0" u="sng" sz="1950" spc="6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Distribution</a:t>
            </a:r>
            <a:r>
              <a:rPr dirty="0" u="sng" sz="1950" spc="6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Service</a:t>
            </a:r>
            <a:r>
              <a:rPr dirty="0" sz="1950">
                <a:latin typeface="Arial MT"/>
                <a:cs typeface="Arial MT"/>
              </a:rPr>
              <a:t>,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Mozilla</a:t>
            </a:r>
            <a:r>
              <a:rPr dirty="0" sz="1950">
                <a:latin typeface="Arial MT"/>
                <a:cs typeface="Arial MT"/>
              </a:rPr>
              <a:t>'s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XPCOM</a:t>
            </a:r>
            <a:r>
              <a:rPr dirty="0" sz="1950">
                <a:latin typeface="Arial MT"/>
                <a:cs typeface="Arial MT"/>
              </a:rPr>
              <a:t>,</a:t>
            </a:r>
            <a:r>
              <a:rPr dirty="0" sz="1950" spc="9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Microsoft</a:t>
            </a:r>
            <a:r>
              <a:rPr dirty="0" sz="1950">
                <a:latin typeface="Arial MT"/>
                <a:cs typeface="Arial MT"/>
              </a:rPr>
              <a:t>'s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Microsoft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RPC</a:t>
            </a:r>
            <a:r>
              <a:rPr dirty="0" sz="1950" spc="5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(which</a:t>
            </a:r>
            <a:r>
              <a:rPr dirty="0" sz="1950" spc="7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evolved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into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COM</a:t>
            </a:r>
            <a:r>
              <a:rPr dirty="0" sz="1950" spc="6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DCOM</a:t>
            </a:r>
            <a:r>
              <a:rPr dirty="0" sz="1950">
                <a:latin typeface="Arial MT"/>
                <a:cs typeface="Arial MT"/>
              </a:rPr>
              <a:t>),</a:t>
            </a:r>
            <a:r>
              <a:rPr dirty="0" sz="1950" spc="8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Facebook</a:t>
            </a:r>
            <a:r>
              <a:rPr dirty="0" sz="1950">
                <a:latin typeface="Arial MT"/>
                <a:cs typeface="Arial MT"/>
              </a:rPr>
              <a:t>'s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Thrift</a:t>
            </a:r>
            <a:r>
              <a:rPr dirty="0" sz="1950" spc="2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u="sng" sz="19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WSDL</a:t>
            </a:r>
            <a:r>
              <a:rPr dirty="0" sz="1950" spc="-10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u="sng" sz="195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Web</a:t>
            </a:r>
            <a:r>
              <a:rPr dirty="0" sz="1950" spc="-25">
                <a:solidFill>
                  <a:srgbClr val="0562C1"/>
                </a:solidFill>
                <a:latin typeface="Arial MT"/>
                <a:cs typeface="Arial MT"/>
              </a:rPr>
              <a:t> </a:t>
            </a:r>
            <a:r>
              <a:rPr dirty="0" u="sng" sz="195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 MT"/>
                <a:cs typeface="Arial MT"/>
              </a:rPr>
              <a:t>services</a:t>
            </a:r>
            <a:r>
              <a:rPr dirty="0" sz="1950" spc="-10">
                <a:latin typeface="Arial MT"/>
                <a:cs typeface="Arial MT"/>
              </a:rPr>
              <a:t>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90"/>
              <a:t> </a:t>
            </a:r>
            <a:r>
              <a:rPr dirty="0"/>
              <a:t>Definition</a:t>
            </a:r>
            <a:r>
              <a:rPr dirty="0" spc="-100"/>
              <a:t> </a:t>
            </a:r>
            <a:r>
              <a:rPr dirty="0"/>
              <a:t>Language</a:t>
            </a:r>
            <a:r>
              <a:rPr dirty="0" spc="-110"/>
              <a:t> </a:t>
            </a:r>
            <a:r>
              <a:rPr dirty="0"/>
              <a:t>-</a:t>
            </a:r>
            <a:r>
              <a:rPr dirty="0" spc="-105"/>
              <a:t> </a:t>
            </a:r>
            <a:r>
              <a:rPr dirty="0" spc="-25"/>
              <a:t>IDL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CORBA</a:t>
            </a:r>
            <a:r>
              <a:rPr dirty="0" spc="-155"/>
              <a:t> </a:t>
            </a:r>
            <a:r>
              <a:rPr dirty="0" spc="-25"/>
              <a:t>IDL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275" y="1821180"/>
            <a:ext cx="6475475" cy="489508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065" rIns="0" bIns="0" rtlCol="0" vert="horz">
            <a:spAutoFit/>
          </a:bodyPr>
          <a:lstStyle/>
          <a:p>
            <a:pPr marL="281940">
              <a:lnSpc>
                <a:spcPct val="100000"/>
              </a:lnSpc>
              <a:spcBef>
                <a:spcPts val="1095"/>
              </a:spcBef>
            </a:pPr>
            <a:r>
              <a:rPr dirty="0" spc="-10"/>
              <a:t>Overview</a:t>
            </a:r>
          </a:p>
          <a:p>
            <a:pPr marL="201295" marR="5080" indent="-189230">
              <a:lnSpc>
                <a:spcPts val="1789"/>
              </a:lnSpc>
              <a:spcBef>
                <a:spcPts val="1215"/>
              </a:spcBef>
              <a:buChar char="•"/>
              <a:tabLst>
                <a:tab pos="201295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Defines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methods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fashion</a:t>
            </a:r>
            <a:r>
              <a:rPr dirty="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similar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interfaces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in 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Java</a:t>
            </a:r>
          </a:p>
          <a:p>
            <a:pPr marL="201295" marR="702945" indent="-189230">
              <a:lnSpc>
                <a:spcPts val="1780"/>
              </a:lnSpc>
              <a:spcBef>
                <a:spcPts val="820"/>
              </a:spcBef>
              <a:buChar char="•"/>
              <a:tabLst>
                <a:tab pos="201295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Implementation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internal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server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(and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transparent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client)</a:t>
            </a:r>
          </a:p>
          <a:p>
            <a:pPr marL="201930" indent="-189230">
              <a:lnSpc>
                <a:spcPct val="100000"/>
              </a:lnSpc>
              <a:spcBef>
                <a:spcPts val="605"/>
              </a:spcBef>
              <a:buChar char="•"/>
              <a:tabLst>
                <a:tab pos="20193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Data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types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supported:</a:t>
            </a: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 spc="-10">
                <a:latin typeface="Arial MT"/>
                <a:cs typeface="Arial MT"/>
              </a:rPr>
              <a:t>String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04"/>
              </a:spcBef>
              <a:buChar char="•"/>
              <a:tabLst>
                <a:tab pos="577850" algn="l"/>
              </a:tabLst>
            </a:pPr>
            <a:r>
              <a:rPr dirty="0" sz="1650" spc="-10">
                <a:latin typeface="Arial MT"/>
                <a:cs typeface="Arial MT"/>
              </a:rPr>
              <a:t>Integer</a:t>
            </a:r>
            <a:endParaRPr sz="1650">
              <a:latin typeface="Arial MT"/>
              <a:cs typeface="Arial MT"/>
            </a:endParaRPr>
          </a:p>
          <a:p>
            <a:pPr lvl="2" marL="955675" indent="-189230">
              <a:lnSpc>
                <a:spcPct val="100000"/>
              </a:lnSpc>
              <a:spcBef>
                <a:spcPts val="215"/>
              </a:spcBef>
              <a:buChar char="•"/>
              <a:tabLst>
                <a:tab pos="955675" algn="l"/>
              </a:tabLst>
            </a:pPr>
            <a:r>
              <a:rPr dirty="0" sz="1650">
                <a:latin typeface="Arial MT"/>
                <a:cs typeface="Arial MT"/>
              </a:rPr>
              <a:t>short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–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16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bit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(signed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/</a:t>
            </a:r>
            <a:r>
              <a:rPr dirty="0" sz="1650" spc="-10">
                <a:latin typeface="Arial MT"/>
                <a:cs typeface="Arial MT"/>
              </a:rPr>
              <a:t> unsigned)</a:t>
            </a:r>
            <a:endParaRPr sz="1650">
              <a:latin typeface="Arial MT"/>
              <a:cs typeface="Arial MT"/>
            </a:endParaRPr>
          </a:p>
          <a:p>
            <a:pPr lvl="2" marL="955675" indent="-189230">
              <a:lnSpc>
                <a:spcPct val="100000"/>
              </a:lnSpc>
              <a:spcBef>
                <a:spcPts val="215"/>
              </a:spcBef>
              <a:buChar char="•"/>
              <a:tabLst>
                <a:tab pos="955675" algn="l"/>
              </a:tabLst>
            </a:pPr>
            <a:r>
              <a:rPr dirty="0" sz="1650">
                <a:latin typeface="Arial MT"/>
                <a:cs typeface="Arial MT"/>
              </a:rPr>
              <a:t>long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– 32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bit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(signed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/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unsigned)</a:t>
            </a:r>
            <a:endParaRPr sz="1650">
              <a:latin typeface="Arial MT"/>
              <a:cs typeface="Arial MT"/>
            </a:endParaRPr>
          </a:p>
          <a:p>
            <a:pPr lvl="2" marL="955675" indent="-189230">
              <a:lnSpc>
                <a:spcPct val="100000"/>
              </a:lnSpc>
              <a:spcBef>
                <a:spcPts val="215"/>
              </a:spcBef>
              <a:buChar char="•"/>
              <a:tabLst>
                <a:tab pos="955675" algn="l"/>
              </a:tabLst>
            </a:pPr>
            <a:r>
              <a:rPr dirty="0" sz="1650">
                <a:latin typeface="Arial MT"/>
                <a:cs typeface="Arial MT"/>
              </a:rPr>
              <a:t>long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long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–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64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bit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(signed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/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unsigned)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9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Octet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–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8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bit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(similar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byte)</a:t>
            </a:r>
            <a:endParaRPr sz="1650">
              <a:latin typeface="Arial MT"/>
              <a:cs typeface="Arial MT"/>
            </a:endParaRPr>
          </a:p>
          <a:p>
            <a:pPr marL="201295" marR="24130" indent="-189230">
              <a:lnSpc>
                <a:spcPct val="9000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No</a:t>
            </a:r>
            <a:r>
              <a:rPr dirty="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keyword</a:t>
            </a:r>
            <a:r>
              <a:rPr dirty="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restrictions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naming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(as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IDL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is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language</a:t>
            </a:r>
            <a:r>
              <a:rPr dirty="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neutral),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however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there</a:t>
            </a:r>
            <a:r>
              <a:rPr dirty="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may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be</a:t>
            </a:r>
            <a:r>
              <a:rPr dirty="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compiling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depending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on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languages</a:t>
            </a:r>
            <a:r>
              <a:rPr dirty="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involved</a:t>
            </a: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Enums</a:t>
            </a:r>
            <a:r>
              <a:rPr dirty="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Order</a:t>
            </a:r>
            <a:r>
              <a:rPr dirty="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dirty="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guaranteed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7484" y="2097024"/>
            <a:ext cx="4280916" cy="94335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7484" y="3386327"/>
            <a:ext cx="4280916" cy="931164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6090666" y="4431029"/>
            <a:ext cx="3880485" cy="1066800"/>
            <a:chOff x="6090666" y="4431029"/>
            <a:chExt cx="3880485" cy="106680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4476" y="4433316"/>
              <a:ext cx="3872483" cy="105917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094476" y="4434839"/>
              <a:ext cx="3872865" cy="1059180"/>
            </a:xfrm>
            <a:custGeom>
              <a:avLst/>
              <a:gdLst/>
              <a:ahLst/>
              <a:cxnLst/>
              <a:rect l="l" t="t" r="r" b="b"/>
              <a:pathLst>
                <a:path w="3872865" h="1059179">
                  <a:moveTo>
                    <a:pt x="0" y="0"/>
                  </a:moveTo>
                  <a:lnTo>
                    <a:pt x="3872483" y="0"/>
                  </a:lnTo>
                  <a:lnTo>
                    <a:pt x="3872483" y="1059179"/>
                  </a:lnTo>
                  <a:lnTo>
                    <a:pt x="0" y="1059179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090666" y="5799582"/>
            <a:ext cx="3945890" cy="411480"/>
            <a:chOff x="6090666" y="5799582"/>
            <a:chExt cx="3945890" cy="41148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0966" y="5867368"/>
              <a:ext cx="3590466" cy="27479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094476" y="5803392"/>
              <a:ext cx="3938270" cy="403860"/>
            </a:xfrm>
            <a:custGeom>
              <a:avLst/>
              <a:gdLst/>
              <a:ahLst/>
              <a:cxnLst/>
              <a:rect l="l" t="t" r="r" b="b"/>
              <a:pathLst>
                <a:path w="3938270" h="403860">
                  <a:moveTo>
                    <a:pt x="0" y="0"/>
                  </a:moveTo>
                  <a:lnTo>
                    <a:pt x="3938016" y="0"/>
                  </a:lnTo>
                  <a:lnTo>
                    <a:pt x="3938016" y="403859"/>
                  </a:lnTo>
                  <a:lnTo>
                    <a:pt x="0" y="403859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851234"/>
            <a:ext cx="5385435" cy="421195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Parameters,</a:t>
            </a:r>
            <a:r>
              <a:rPr dirty="0" sz="1650" spc="-9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Modules</a:t>
            </a:r>
            <a:r>
              <a:rPr dirty="0" sz="1650" spc="-4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and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Exceptions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636270" algn="l"/>
              </a:tabLst>
            </a:pPr>
            <a:r>
              <a:rPr dirty="0" sz="1450" spc="-10">
                <a:latin typeface="Arial MT"/>
                <a:cs typeface="Arial MT"/>
              </a:rPr>
              <a:t>Parameters</a:t>
            </a:r>
            <a:endParaRPr sz="1450">
              <a:latin typeface="Arial MT"/>
              <a:cs typeface="Arial MT"/>
            </a:endParaRPr>
          </a:p>
          <a:p>
            <a:pPr lvl="1" marL="1014094" indent="-187960">
              <a:lnSpc>
                <a:spcPct val="100000"/>
              </a:lnSpc>
              <a:spcBef>
                <a:spcPts val="295"/>
              </a:spcBef>
              <a:buChar char="•"/>
              <a:tabLst>
                <a:tab pos="1014094" algn="l"/>
              </a:tabLst>
            </a:pPr>
            <a:r>
              <a:rPr dirty="0" sz="1300">
                <a:latin typeface="Arial MT"/>
                <a:cs typeface="Arial MT"/>
              </a:rPr>
              <a:t>‘in’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input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–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from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client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to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server</a:t>
            </a:r>
            <a:endParaRPr sz="1300">
              <a:latin typeface="Arial MT"/>
              <a:cs typeface="Arial MT"/>
            </a:endParaRPr>
          </a:p>
          <a:p>
            <a:pPr lvl="1" marL="1014094" indent="-187960">
              <a:lnSpc>
                <a:spcPct val="100000"/>
              </a:lnSpc>
              <a:spcBef>
                <a:spcPts val="275"/>
              </a:spcBef>
              <a:buChar char="•"/>
              <a:tabLst>
                <a:tab pos="1014094" algn="l"/>
              </a:tabLst>
            </a:pPr>
            <a:r>
              <a:rPr dirty="0" sz="1300">
                <a:latin typeface="Arial MT"/>
                <a:cs typeface="Arial MT"/>
              </a:rPr>
              <a:t>‘out’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is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output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–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from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server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to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client</a:t>
            </a:r>
            <a:endParaRPr sz="1300">
              <a:latin typeface="Arial MT"/>
              <a:cs typeface="Arial MT"/>
            </a:endParaRPr>
          </a:p>
          <a:p>
            <a:pPr lvl="1" marL="1013460" marR="5080" indent="-187960">
              <a:lnSpc>
                <a:spcPts val="1430"/>
              </a:lnSpc>
              <a:spcBef>
                <a:spcPts val="430"/>
              </a:spcBef>
              <a:buChar char="•"/>
              <a:tabLst>
                <a:tab pos="1013460" algn="l"/>
              </a:tabLst>
            </a:pPr>
            <a:r>
              <a:rPr dirty="0" sz="1300">
                <a:latin typeface="Arial MT"/>
                <a:cs typeface="Arial MT"/>
              </a:rPr>
              <a:t>‘inout’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–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same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parameter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sent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from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client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is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used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for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output </a:t>
            </a:r>
            <a:r>
              <a:rPr dirty="0" sz="1300">
                <a:latin typeface="Arial MT"/>
                <a:cs typeface="Arial MT"/>
              </a:rPr>
              <a:t>(similar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to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pass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by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reference)</a:t>
            </a:r>
            <a:endParaRPr sz="1300">
              <a:latin typeface="Arial MT"/>
              <a:cs typeface="Arial MT"/>
            </a:endParaRPr>
          </a:p>
          <a:p>
            <a:pPr marL="636270" marR="454659" indent="-187960">
              <a:lnSpc>
                <a:spcPts val="1610"/>
              </a:lnSpc>
              <a:spcBef>
                <a:spcPts val="815"/>
              </a:spcBef>
              <a:buChar char="•"/>
              <a:tabLst>
                <a:tab pos="637540" algn="l"/>
              </a:tabLst>
            </a:pPr>
            <a:r>
              <a:rPr dirty="0" sz="1450">
                <a:latin typeface="Arial MT"/>
                <a:cs typeface="Arial MT"/>
              </a:rPr>
              <a:t>Modules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–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Groups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multiple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interfaces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together,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with </a:t>
            </a:r>
            <a:r>
              <a:rPr dirty="0" sz="1450" spc="-20">
                <a:latin typeface="Arial MT"/>
                <a:cs typeface="Arial MT"/>
              </a:rPr>
              <a:t>	</a:t>
            </a:r>
            <a:r>
              <a:rPr dirty="0" sz="1450">
                <a:latin typeface="Arial MT"/>
                <a:cs typeface="Arial MT"/>
              </a:rPr>
              <a:t>hierarchical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naming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(like</a:t>
            </a:r>
            <a:r>
              <a:rPr dirty="0" sz="1450" spc="3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Java</a:t>
            </a:r>
            <a:r>
              <a:rPr dirty="0" sz="1450" spc="7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packages)</a:t>
            </a:r>
            <a:endParaRPr sz="1450">
              <a:latin typeface="Arial MT"/>
              <a:cs typeface="Arial MT"/>
            </a:endParaRPr>
          </a:p>
          <a:p>
            <a:pPr marL="636270" indent="-187960">
              <a:lnSpc>
                <a:spcPct val="100000"/>
              </a:lnSpc>
              <a:spcBef>
                <a:spcPts val="650"/>
              </a:spcBef>
              <a:buChar char="•"/>
              <a:tabLst>
                <a:tab pos="636270" algn="l"/>
              </a:tabLst>
            </a:pPr>
            <a:r>
              <a:rPr dirty="0" sz="1450" spc="-10">
                <a:latin typeface="Arial MT"/>
                <a:cs typeface="Arial MT"/>
              </a:rPr>
              <a:t>Exceptions</a:t>
            </a:r>
            <a:endParaRPr sz="1450">
              <a:latin typeface="Arial MT"/>
              <a:cs typeface="Arial MT"/>
            </a:endParaRPr>
          </a:p>
          <a:p>
            <a:pPr lvl="1" marL="1014094" indent="-187960">
              <a:lnSpc>
                <a:spcPct val="100000"/>
              </a:lnSpc>
              <a:spcBef>
                <a:spcPts val="290"/>
              </a:spcBef>
              <a:buChar char="•"/>
              <a:tabLst>
                <a:tab pos="1014094" algn="l"/>
              </a:tabLst>
            </a:pPr>
            <a:r>
              <a:rPr dirty="0" sz="1300">
                <a:latin typeface="Arial MT"/>
                <a:cs typeface="Arial MT"/>
              </a:rPr>
              <a:t>System</a:t>
            </a:r>
            <a:r>
              <a:rPr dirty="0" sz="1300" spc="5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Defined</a:t>
            </a:r>
            <a:endParaRPr sz="1300">
              <a:latin typeface="Arial MT"/>
              <a:cs typeface="Arial MT"/>
            </a:endParaRPr>
          </a:p>
          <a:p>
            <a:pPr lvl="2" marL="1391285" indent="-188595">
              <a:lnSpc>
                <a:spcPct val="100000"/>
              </a:lnSpc>
              <a:spcBef>
                <a:spcPts val="285"/>
              </a:spcBef>
              <a:buChar char="•"/>
              <a:tabLst>
                <a:tab pos="1391285" algn="l"/>
              </a:tabLst>
            </a:pPr>
            <a:r>
              <a:rPr dirty="0" sz="1150" spc="-10">
                <a:latin typeface="Arial MT"/>
                <a:cs typeface="Arial MT"/>
              </a:rPr>
              <a:t>COMM_FAILURE</a:t>
            </a:r>
            <a:endParaRPr sz="1150">
              <a:latin typeface="Arial MT"/>
              <a:cs typeface="Arial MT"/>
            </a:endParaRPr>
          </a:p>
          <a:p>
            <a:pPr lvl="2" marL="1391285" indent="-188595">
              <a:lnSpc>
                <a:spcPct val="100000"/>
              </a:lnSpc>
              <a:spcBef>
                <a:spcPts val="275"/>
              </a:spcBef>
              <a:buChar char="•"/>
              <a:tabLst>
                <a:tab pos="1391285" algn="l"/>
              </a:tabLst>
            </a:pPr>
            <a:r>
              <a:rPr dirty="0" sz="1150" spc="-10">
                <a:latin typeface="Arial MT"/>
                <a:cs typeface="Arial MT"/>
              </a:rPr>
              <a:t>MARSHAL</a:t>
            </a:r>
            <a:endParaRPr sz="1150">
              <a:latin typeface="Arial MT"/>
              <a:cs typeface="Arial MT"/>
            </a:endParaRPr>
          </a:p>
          <a:p>
            <a:pPr lvl="2" marL="1391285" indent="-188595">
              <a:lnSpc>
                <a:spcPct val="100000"/>
              </a:lnSpc>
              <a:spcBef>
                <a:spcPts val="290"/>
              </a:spcBef>
              <a:buChar char="•"/>
              <a:tabLst>
                <a:tab pos="1391285" algn="l"/>
              </a:tabLst>
            </a:pPr>
            <a:r>
              <a:rPr dirty="0" sz="1150" spc="-10">
                <a:latin typeface="Arial MT"/>
                <a:cs typeface="Arial MT"/>
              </a:rPr>
              <a:t>BAD_PARAM</a:t>
            </a:r>
            <a:endParaRPr sz="1150">
              <a:latin typeface="Arial MT"/>
              <a:cs typeface="Arial MT"/>
            </a:endParaRPr>
          </a:p>
          <a:p>
            <a:pPr lvl="2" marL="1391285" indent="-188595">
              <a:lnSpc>
                <a:spcPct val="100000"/>
              </a:lnSpc>
              <a:spcBef>
                <a:spcPts val="275"/>
              </a:spcBef>
              <a:buChar char="•"/>
              <a:tabLst>
                <a:tab pos="1391285" algn="l"/>
              </a:tabLst>
            </a:pPr>
            <a:r>
              <a:rPr dirty="0" sz="1150" spc="-10">
                <a:latin typeface="Arial MT"/>
                <a:cs typeface="Arial MT"/>
              </a:rPr>
              <a:t>OBJECT_NOT_EXIST</a:t>
            </a:r>
            <a:endParaRPr sz="1150">
              <a:latin typeface="Arial MT"/>
              <a:cs typeface="Arial MT"/>
            </a:endParaRPr>
          </a:p>
          <a:p>
            <a:pPr lvl="2" marL="1391285" indent="-188595">
              <a:lnSpc>
                <a:spcPct val="100000"/>
              </a:lnSpc>
              <a:spcBef>
                <a:spcPts val="275"/>
              </a:spcBef>
              <a:buChar char="•"/>
              <a:tabLst>
                <a:tab pos="1391285" algn="l"/>
              </a:tabLst>
            </a:pPr>
            <a:r>
              <a:rPr dirty="0" sz="1150" spc="-10">
                <a:latin typeface="Arial MT"/>
                <a:cs typeface="Arial MT"/>
              </a:rPr>
              <a:t>TRASNIENT</a:t>
            </a:r>
            <a:endParaRPr sz="1150">
              <a:latin typeface="Arial MT"/>
              <a:cs typeface="Arial MT"/>
            </a:endParaRPr>
          </a:p>
          <a:p>
            <a:pPr lvl="2" marL="1391285" indent="-188595">
              <a:lnSpc>
                <a:spcPct val="100000"/>
              </a:lnSpc>
              <a:spcBef>
                <a:spcPts val="290"/>
              </a:spcBef>
              <a:buChar char="•"/>
              <a:tabLst>
                <a:tab pos="1391285" algn="l"/>
              </a:tabLst>
            </a:pPr>
            <a:r>
              <a:rPr dirty="0" sz="1150" spc="-10">
                <a:latin typeface="Arial MT"/>
                <a:cs typeface="Arial MT"/>
              </a:rPr>
              <a:t>UNKNOWN</a:t>
            </a:r>
            <a:endParaRPr sz="1150">
              <a:latin typeface="Arial MT"/>
              <a:cs typeface="Arial MT"/>
            </a:endParaRPr>
          </a:p>
          <a:p>
            <a:pPr lvl="1" marL="1014094" indent="-187960">
              <a:lnSpc>
                <a:spcPct val="100000"/>
              </a:lnSpc>
              <a:spcBef>
                <a:spcPts val="270"/>
              </a:spcBef>
              <a:buChar char="•"/>
              <a:tabLst>
                <a:tab pos="1014094" algn="l"/>
              </a:tabLst>
            </a:pPr>
            <a:r>
              <a:rPr dirty="0" sz="1300">
                <a:latin typeface="Arial MT"/>
                <a:cs typeface="Arial MT"/>
              </a:rPr>
              <a:t>User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defined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7484" y="2197608"/>
            <a:ext cx="4136135" cy="89306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4476" y="3435096"/>
            <a:ext cx="3819143" cy="126034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69664" y="5044439"/>
            <a:ext cx="574395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246" y="1874955"/>
            <a:ext cx="4224655" cy="94551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Structs,</a:t>
            </a:r>
            <a:r>
              <a:rPr dirty="0" sz="1650" spc="-11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Arrays</a:t>
            </a:r>
            <a:r>
              <a:rPr dirty="0" sz="1650" spc="1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and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Sequences</a:t>
            </a:r>
            <a:r>
              <a:rPr dirty="0" sz="1650" spc="-4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as</a:t>
            </a:r>
            <a:r>
              <a:rPr dirty="0" sz="1650" spc="-1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Params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88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Structs</a:t>
            </a:r>
            <a:r>
              <a:rPr dirty="0" sz="1450" spc="5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4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params</a:t>
            </a:r>
            <a:endParaRPr sz="1450">
              <a:latin typeface="Arial MT"/>
              <a:cs typeface="Arial MT"/>
            </a:endParaRPr>
          </a:p>
          <a:p>
            <a:pPr lvl="1" marL="1014094" indent="-187960">
              <a:lnSpc>
                <a:spcPct val="100000"/>
              </a:lnSpc>
              <a:spcBef>
                <a:spcPts val="125"/>
              </a:spcBef>
              <a:buChar char="•"/>
              <a:tabLst>
                <a:tab pos="1014094" algn="l"/>
              </a:tabLst>
            </a:pPr>
            <a:r>
              <a:rPr dirty="0" sz="1300">
                <a:latin typeface="Arial MT"/>
                <a:cs typeface="Arial MT"/>
              </a:rPr>
              <a:t>Can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be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used</a:t>
            </a:r>
            <a:r>
              <a:rPr dirty="0" sz="1300" spc="1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as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in,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out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and</a:t>
            </a:r>
            <a:r>
              <a:rPr dirty="0" sz="1300" spc="15">
                <a:latin typeface="Arial MT"/>
                <a:cs typeface="Arial MT"/>
              </a:rPr>
              <a:t> </a:t>
            </a:r>
            <a:r>
              <a:rPr dirty="0" sz="1300" spc="-20">
                <a:latin typeface="Arial MT"/>
                <a:cs typeface="Arial MT"/>
              </a:rPr>
              <a:t>inout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72179" y="3981250"/>
            <a:ext cx="2936240" cy="480059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250"/>
              </a:spcBef>
              <a:buChar char="•"/>
              <a:tabLst>
                <a:tab pos="200660" algn="l"/>
              </a:tabLst>
            </a:pPr>
            <a:r>
              <a:rPr dirty="0" sz="1450">
                <a:latin typeface="Arial MT"/>
                <a:cs typeface="Arial MT"/>
              </a:rPr>
              <a:t>Arrays</a:t>
            </a:r>
            <a:r>
              <a:rPr dirty="0" sz="1450" spc="6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params</a:t>
            </a:r>
            <a:endParaRPr sz="14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125"/>
              </a:spcBef>
              <a:buChar char="•"/>
              <a:tabLst>
                <a:tab pos="577850" algn="l"/>
              </a:tabLst>
            </a:pPr>
            <a:r>
              <a:rPr dirty="0" sz="1300">
                <a:latin typeface="Arial MT"/>
                <a:cs typeface="Arial MT"/>
              </a:rPr>
              <a:t>No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guarantee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on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array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indexing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2179" y="5266188"/>
            <a:ext cx="3240405" cy="6419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245"/>
              </a:spcBef>
              <a:buChar char="•"/>
              <a:tabLst>
                <a:tab pos="200660" algn="l"/>
              </a:tabLst>
            </a:pPr>
            <a:r>
              <a:rPr dirty="0" sz="1450">
                <a:latin typeface="Arial MT"/>
                <a:cs typeface="Arial MT"/>
              </a:rPr>
              <a:t>Sequence</a:t>
            </a:r>
            <a:r>
              <a:rPr dirty="0" sz="1450" spc="3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as</a:t>
            </a:r>
            <a:r>
              <a:rPr dirty="0" sz="1450" spc="6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params</a:t>
            </a:r>
            <a:endParaRPr sz="1450">
              <a:latin typeface="Arial MT"/>
              <a:cs typeface="Arial MT"/>
            </a:endParaRPr>
          </a:p>
          <a:p>
            <a:pPr lvl="1" marL="577850" marR="5080" indent="-187960">
              <a:lnSpc>
                <a:spcPts val="1270"/>
              </a:lnSpc>
              <a:spcBef>
                <a:spcPts val="409"/>
              </a:spcBef>
              <a:buChar char="•"/>
              <a:tabLst>
                <a:tab pos="577850" algn="l"/>
              </a:tabLst>
            </a:pPr>
            <a:r>
              <a:rPr dirty="0" sz="1300">
                <a:latin typeface="Arial MT"/>
                <a:cs typeface="Arial MT"/>
              </a:rPr>
              <a:t>Sends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only</a:t>
            </a:r>
            <a:r>
              <a:rPr dirty="0" sz="1300" spc="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data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present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</a:t>
            </a:r>
            <a:r>
              <a:rPr dirty="0" sz="1300" spc="2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the </a:t>
            </a:r>
            <a:r>
              <a:rPr dirty="0" sz="1300">
                <a:latin typeface="Arial MT"/>
                <a:cs typeface="Arial MT"/>
              </a:rPr>
              <a:t>sequence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at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the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time</a:t>
            </a:r>
            <a:r>
              <a:rPr dirty="0" sz="1300" spc="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of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method</a:t>
            </a:r>
            <a:r>
              <a:rPr dirty="0" sz="1300" spc="30">
                <a:latin typeface="Arial MT"/>
                <a:cs typeface="Arial MT"/>
              </a:rPr>
              <a:t> </a:t>
            </a:r>
            <a:r>
              <a:rPr dirty="0" sz="1300" spc="-20">
                <a:latin typeface="Arial MT"/>
                <a:cs typeface="Arial MT"/>
              </a:rPr>
              <a:t>call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7284" y="2397252"/>
            <a:ext cx="2353055" cy="149199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3680" y="2404872"/>
            <a:ext cx="3084575" cy="70603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3680" y="3177539"/>
            <a:ext cx="3243072" cy="71170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6240" y="4014216"/>
            <a:ext cx="4020311" cy="132130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6240" y="5439155"/>
            <a:ext cx="3824131" cy="96358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468" y="4599432"/>
            <a:ext cx="4210811" cy="14874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4994" y="1750531"/>
            <a:ext cx="9535795" cy="3977004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Char char="•"/>
              <a:tabLst>
                <a:tab pos="200660" algn="l"/>
              </a:tabLst>
            </a:pP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interface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description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language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(or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alternatively,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interface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definition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language),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or</a:t>
            </a:r>
            <a:endParaRPr sz="1950">
              <a:latin typeface="Arial MT"/>
              <a:cs typeface="Arial MT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IDL</a:t>
            </a:r>
            <a:r>
              <a:rPr dirty="0" sz="1950" spc="-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short,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70">
                <a:latin typeface="Arial MT"/>
                <a:cs typeface="Arial MT"/>
              </a:rPr>
              <a:t> </a:t>
            </a:r>
            <a:r>
              <a:rPr dirty="0" sz="1950" b="1">
                <a:latin typeface="Arial"/>
                <a:cs typeface="Arial"/>
              </a:rPr>
              <a:t>specification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language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>
                <a:latin typeface="Arial MT"/>
                <a:cs typeface="Arial MT"/>
              </a:rPr>
              <a:t>used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describe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software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component’s 	interface.</a:t>
            </a: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80"/>
              </a:spcBef>
              <a:buChar char="•"/>
              <a:tabLst>
                <a:tab pos="200660" algn="l"/>
              </a:tabLst>
            </a:pPr>
            <a:r>
              <a:rPr dirty="0" sz="1950">
                <a:latin typeface="Arial MT"/>
                <a:cs typeface="Arial MT"/>
              </a:rPr>
              <a:t>IDLs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describe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8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interface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9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language-independent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way</a:t>
            </a:r>
            <a:endParaRPr sz="19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00660" algn="l"/>
                <a:tab pos="7629525" algn="l"/>
              </a:tabLst>
            </a:pPr>
            <a:r>
              <a:rPr dirty="0" sz="1450" spc="-10" b="1">
                <a:latin typeface="Arial"/>
                <a:cs typeface="Arial"/>
              </a:rPr>
              <a:t>Modules:</a:t>
            </a:r>
            <a:r>
              <a:rPr dirty="0" sz="1450" b="1">
                <a:latin typeface="Arial"/>
                <a:cs typeface="Arial"/>
              </a:rPr>
              <a:t>	</a:t>
            </a:r>
            <a:r>
              <a:rPr dirty="0" sz="1450" b="1">
                <a:solidFill>
                  <a:srgbClr val="FF0000"/>
                </a:solidFill>
                <a:latin typeface="Arial"/>
                <a:cs typeface="Arial"/>
              </a:rPr>
              <a:t>Start</a:t>
            </a:r>
            <a:r>
              <a:rPr dirty="0" sz="1450" spc="5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145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FF0000"/>
                </a:solidFill>
                <a:latin typeface="Arial"/>
                <a:cs typeface="Arial"/>
              </a:rPr>
              <a:t>CS2</a:t>
            </a:r>
            <a:endParaRPr sz="1450">
              <a:latin typeface="Arial"/>
              <a:cs typeface="Arial"/>
            </a:endParaRPr>
          </a:p>
          <a:p>
            <a:pPr marL="200025" marR="476250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IDL</a:t>
            </a:r>
            <a:r>
              <a:rPr dirty="0" sz="14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module</a:t>
            </a:r>
            <a:r>
              <a:rPr dirty="0" sz="1450" spc="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defines</a:t>
            </a:r>
            <a:r>
              <a:rPr dirty="0" sz="1450" spc="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naming</a:t>
            </a:r>
            <a:r>
              <a:rPr dirty="0" sz="1450" spc="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scope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for</a:t>
            </a:r>
            <a:r>
              <a:rPr dirty="0" sz="1450" spc="6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set</a:t>
            </a:r>
            <a:r>
              <a:rPr dirty="0" sz="1450" spc="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of</a:t>
            </a:r>
            <a:r>
              <a:rPr dirty="0" sz="1450" spc="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IDL</a:t>
            </a:r>
            <a:r>
              <a:rPr dirty="0" sz="14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definitions</a:t>
            </a:r>
            <a:r>
              <a:rPr dirty="0" sz="1450" spc="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as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well</a:t>
            </a:r>
            <a:r>
              <a:rPr dirty="0" sz="1450" spc="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as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Group</a:t>
            </a:r>
            <a:r>
              <a:rPr dirty="0" sz="1450" spc="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interface</a:t>
            </a:r>
            <a:r>
              <a:rPr dirty="0" sz="1450" spc="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and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other</a:t>
            </a:r>
            <a:r>
              <a:rPr dirty="0" sz="1450" spc="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IDL</a:t>
            </a:r>
            <a:r>
              <a:rPr dirty="0" sz="14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C1572"/>
                </a:solidFill>
                <a:latin typeface="Arial MT"/>
                <a:cs typeface="Arial MT"/>
              </a:rPr>
              <a:t>type </a:t>
            </a:r>
            <a:r>
              <a:rPr dirty="0" sz="1450" spc="-20">
                <a:solidFill>
                  <a:srgbClr val="1C1572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definitions</a:t>
            </a:r>
            <a:r>
              <a:rPr dirty="0" sz="1450" spc="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into</a:t>
            </a:r>
            <a:r>
              <a:rPr dirty="0" sz="1450" spc="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logical</a:t>
            </a:r>
            <a:r>
              <a:rPr dirty="0" sz="1450" spc="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name</a:t>
            </a:r>
            <a:r>
              <a:rPr dirty="0" sz="1450" spc="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C1572"/>
                </a:solidFill>
                <a:latin typeface="Arial MT"/>
                <a:cs typeface="Arial MT"/>
              </a:rPr>
              <a:t>space.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Java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Equivalent</a:t>
            </a:r>
            <a:r>
              <a:rPr dirty="0" sz="1450" spc="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for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module</a:t>
            </a:r>
            <a:r>
              <a:rPr dirty="0" sz="1450" spc="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450" spc="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C1572"/>
                </a:solidFill>
                <a:latin typeface="Arial MT"/>
                <a:cs typeface="Arial MT"/>
              </a:rPr>
              <a:t>:</a:t>
            </a:r>
            <a:r>
              <a:rPr dirty="0" sz="1450" spc="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450" spc="-10" b="1">
                <a:solidFill>
                  <a:srgbClr val="1C1572"/>
                </a:solidFill>
                <a:latin typeface="Arial"/>
                <a:cs typeface="Arial"/>
              </a:rPr>
              <a:t>Package.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450">
              <a:latin typeface="Arial"/>
              <a:cs typeface="Arial"/>
            </a:endParaRPr>
          </a:p>
          <a:p>
            <a:pPr marL="4914900" marR="597535">
              <a:lnSpc>
                <a:spcPct val="102099"/>
              </a:lnSpc>
            </a:pP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The</a:t>
            </a:r>
            <a:r>
              <a:rPr dirty="0" sz="1450" spc="6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code</a:t>
            </a:r>
            <a:r>
              <a:rPr dirty="0" sz="1450" spc="6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above</a:t>
            </a:r>
            <a:r>
              <a:rPr dirty="0" sz="1450" spc="3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has</a:t>
            </a:r>
            <a:r>
              <a:rPr dirty="0" sz="1450" spc="8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an</a:t>
            </a:r>
            <a:r>
              <a:rPr dirty="0" sz="1450" spc="8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interface</a:t>
            </a:r>
            <a:r>
              <a:rPr dirty="0" sz="1450" spc="6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account</a:t>
            </a:r>
            <a:r>
              <a:rPr dirty="0" sz="1450" spc="2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within</a:t>
            </a:r>
            <a:r>
              <a:rPr dirty="0" sz="1450" spc="6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25" b="1">
                <a:solidFill>
                  <a:srgbClr val="858585"/>
                </a:solidFill>
                <a:latin typeface="Calibri"/>
                <a:cs typeface="Calibri"/>
              </a:rPr>
              <a:t>the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scope</a:t>
            </a:r>
            <a:r>
              <a:rPr dirty="0" sz="1450" spc="5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858585"/>
                </a:solidFill>
                <a:latin typeface="Calibri"/>
                <a:cs typeface="Calibri"/>
              </a:rPr>
              <a:t>finance.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Calibri"/>
              <a:cs typeface="Calibri"/>
            </a:endParaRPr>
          </a:p>
          <a:p>
            <a:pPr marL="4914900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solidFill>
                  <a:srgbClr val="858585"/>
                </a:solidFill>
                <a:latin typeface="Calibri"/>
                <a:cs typeface="Calibri"/>
              </a:rPr>
              <a:t>To</a:t>
            </a:r>
            <a:r>
              <a:rPr dirty="0" sz="1450" spc="2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access,</a:t>
            </a:r>
            <a:r>
              <a:rPr dirty="0" sz="1450" spc="1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we</a:t>
            </a:r>
            <a:r>
              <a:rPr dirty="0" sz="1450" spc="2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use</a:t>
            </a:r>
            <a:r>
              <a:rPr dirty="0" sz="1450" spc="15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58585"/>
                </a:solidFill>
                <a:latin typeface="Calibri"/>
                <a:cs typeface="Calibri"/>
              </a:rPr>
              <a:t>:</a:t>
            </a:r>
            <a:r>
              <a:rPr dirty="0" sz="1450" spc="370" b="1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858585"/>
                </a:solidFill>
                <a:latin typeface="Calibri"/>
                <a:cs typeface="Calibri"/>
              </a:rPr>
              <a:t>account::finance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37" y="1751399"/>
            <a:ext cx="9476105" cy="91440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 spc="-10" b="1">
                <a:latin typeface="Arial"/>
                <a:cs typeface="Arial"/>
              </a:rPr>
              <a:t>Interface</a:t>
            </a:r>
            <a:endParaRPr sz="1650">
              <a:latin typeface="Arial"/>
              <a:cs typeface="Arial"/>
            </a:endParaRPr>
          </a:p>
          <a:p>
            <a:pPr marL="201295" marR="5080" indent="-189230">
              <a:lnSpc>
                <a:spcPts val="1789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basic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unit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IDL</a:t>
            </a:r>
            <a:r>
              <a:rPr dirty="0" sz="1650" spc="-8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interface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whereby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we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define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type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object.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Within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interface,</a:t>
            </a:r>
            <a:r>
              <a:rPr dirty="0" sz="1650" spc="-7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we </a:t>
            </a:r>
            <a:r>
              <a:rPr dirty="0" sz="1650">
                <a:latin typeface="Arial MT"/>
                <a:cs typeface="Arial MT"/>
              </a:rPr>
              <a:t>define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attributes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well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operations.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2755392"/>
            <a:ext cx="4293107" cy="88087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3" y="5003292"/>
            <a:ext cx="6161531" cy="166573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5037" y="3769188"/>
            <a:ext cx="9764395" cy="23577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 spc="-10" b="1">
                <a:latin typeface="Arial"/>
                <a:cs typeface="Arial"/>
              </a:rPr>
              <a:t>Methods</a:t>
            </a:r>
            <a:endParaRPr sz="1650">
              <a:latin typeface="Arial"/>
              <a:cs typeface="Arial"/>
            </a:endParaRPr>
          </a:p>
          <a:p>
            <a:pPr marL="201295" marR="5080" indent="-189230">
              <a:lnSpc>
                <a:spcPct val="90000"/>
              </a:lnSpc>
              <a:spcBef>
                <a:spcPts val="825"/>
              </a:spcBef>
              <a:buChar char="•"/>
              <a:tabLst>
                <a:tab pos="201295" algn="l"/>
              </a:tabLst>
            </a:pPr>
            <a:r>
              <a:rPr dirty="0" sz="1650">
                <a:latin typeface="Arial MT"/>
                <a:cs typeface="Arial MT"/>
              </a:rPr>
              <a:t>Methods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operations</a:t>
            </a:r>
            <a:r>
              <a:rPr dirty="0" sz="1650" spc="-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almost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written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same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way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Java,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we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place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return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type,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method </a:t>
            </a:r>
            <a:r>
              <a:rPr dirty="0" sz="1650">
                <a:latin typeface="Arial MT"/>
                <a:cs typeface="Arial MT"/>
              </a:rPr>
              <a:t>name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followed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arguments.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However,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parameter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passing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mode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must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specified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using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b="1">
                <a:latin typeface="Arial"/>
                <a:cs typeface="Arial"/>
              </a:rPr>
              <a:t>in,</a:t>
            </a:r>
            <a:r>
              <a:rPr dirty="0" sz="1650" spc="-5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out, </a:t>
            </a:r>
            <a:r>
              <a:rPr dirty="0" sz="1650" spc="-10" b="1">
                <a:latin typeface="Arial"/>
                <a:cs typeface="Arial"/>
              </a:rPr>
              <a:t>inout.</a:t>
            </a:r>
            <a:endParaRPr sz="1650">
              <a:latin typeface="Arial"/>
              <a:cs typeface="Arial"/>
            </a:endParaRPr>
          </a:p>
          <a:p>
            <a:pPr marL="6486525">
              <a:lnSpc>
                <a:spcPct val="100000"/>
              </a:lnSpc>
              <a:spcBef>
                <a:spcPts val="715"/>
              </a:spcBef>
            </a:pP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For</a:t>
            </a:r>
            <a:r>
              <a:rPr dirty="0" sz="1450" spc="5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passing</a:t>
            </a:r>
            <a:r>
              <a:rPr dirty="0" sz="1450" spc="3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mode</a:t>
            </a:r>
            <a:r>
              <a:rPr dirty="0" sz="1450" spc="5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of</a:t>
            </a:r>
            <a:r>
              <a:rPr dirty="0" sz="1450" spc="5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parameter</a:t>
            </a:r>
            <a:r>
              <a:rPr dirty="0" sz="1450" spc="4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858585"/>
                </a:solidFill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Calibri"/>
              <a:cs typeface="Calibri"/>
            </a:endParaRPr>
          </a:p>
          <a:p>
            <a:pPr lvl="1" marL="6593840" indent="-107314">
              <a:lnSpc>
                <a:spcPct val="100000"/>
              </a:lnSpc>
              <a:buFont typeface="Arial MT"/>
              <a:buChar char="•"/>
              <a:tabLst>
                <a:tab pos="6593840" algn="l"/>
              </a:tabLst>
            </a:pP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in</a:t>
            </a:r>
            <a:r>
              <a:rPr dirty="0" sz="1450" spc="3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-</a:t>
            </a:r>
            <a:r>
              <a:rPr dirty="0" sz="1450" spc="4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passed</a:t>
            </a:r>
            <a:r>
              <a:rPr dirty="0" sz="1450" spc="3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from</a:t>
            </a:r>
            <a:r>
              <a:rPr dirty="0" sz="1450" spc="3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caller</a:t>
            </a:r>
            <a:r>
              <a:rPr dirty="0" sz="1450" spc="5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to</a:t>
            </a:r>
            <a:r>
              <a:rPr dirty="0" sz="1450" spc="2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called</a:t>
            </a:r>
            <a:r>
              <a:rPr dirty="0" sz="1450" spc="5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858585"/>
                </a:solidFill>
                <a:latin typeface="Calibri"/>
                <a:cs typeface="Calibri"/>
              </a:rPr>
              <a:t>object</a:t>
            </a:r>
            <a:endParaRPr sz="1450">
              <a:latin typeface="Calibri"/>
              <a:cs typeface="Calibri"/>
            </a:endParaRPr>
          </a:p>
          <a:p>
            <a:pPr lvl="1" marL="6593840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6593840" algn="l"/>
              </a:tabLst>
            </a:pP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out</a:t>
            </a:r>
            <a:r>
              <a:rPr dirty="0" sz="1450" spc="5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-</a:t>
            </a:r>
            <a:r>
              <a:rPr dirty="0" sz="1450" spc="4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passed</a:t>
            </a:r>
            <a:r>
              <a:rPr dirty="0" sz="1450" spc="4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from</a:t>
            </a:r>
            <a:r>
              <a:rPr dirty="0" sz="1450" spc="3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called</a:t>
            </a:r>
            <a:r>
              <a:rPr dirty="0" sz="1450" spc="7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object</a:t>
            </a:r>
            <a:r>
              <a:rPr dirty="0" sz="1450" spc="4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to</a:t>
            </a:r>
            <a:r>
              <a:rPr dirty="0" sz="1450" spc="3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858585"/>
                </a:solidFill>
                <a:latin typeface="Calibri"/>
                <a:cs typeface="Calibri"/>
              </a:rPr>
              <a:t>caller</a:t>
            </a:r>
            <a:endParaRPr sz="1450">
              <a:latin typeface="Calibri"/>
              <a:cs typeface="Calibri"/>
            </a:endParaRPr>
          </a:p>
          <a:p>
            <a:pPr lvl="1" marL="6551295" indent="-7810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6551295" algn="l"/>
              </a:tabLst>
            </a:pP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Inout</a:t>
            </a:r>
            <a:r>
              <a:rPr dirty="0" sz="1450" spc="6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-</a:t>
            </a:r>
            <a:r>
              <a:rPr dirty="0" sz="1450" spc="6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passed</a:t>
            </a:r>
            <a:r>
              <a:rPr dirty="0" sz="1450" spc="2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in</a:t>
            </a:r>
            <a:r>
              <a:rPr dirty="0" sz="1450" spc="45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858585"/>
                </a:solidFill>
                <a:latin typeface="Calibri"/>
                <a:cs typeface="Calibri"/>
              </a:rPr>
              <a:t>both</a:t>
            </a:r>
            <a:r>
              <a:rPr dirty="0" sz="1450" spc="6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858585"/>
                </a:solidFill>
                <a:latin typeface="Calibri"/>
                <a:cs typeface="Calibri"/>
              </a:rPr>
              <a:t>directions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21" y="1825232"/>
            <a:ext cx="223774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Char char="•"/>
              <a:tabLst>
                <a:tab pos="200660" algn="l"/>
              </a:tabLst>
            </a:pPr>
            <a:r>
              <a:rPr dirty="0" sz="1950">
                <a:latin typeface="Arial MT"/>
                <a:cs typeface="Arial MT"/>
              </a:rPr>
              <a:t>Basic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Data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Types: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4994" y="3460479"/>
            <a:ext cx="9577705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444444"/>
                </a:solidFill>
                <a:latin typeface="Calibri"/>
                <a:cs typeface="Calibri"/>
              </a:rPr>
              <a:t>struct</a:t>
            </a:r>
            <a:r>
              <a:rPr dirty="0" sz="1450" spc="45" b="1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444444"/>
                </a:solidFill>
                <a:latin typeface="Calibri"/>
                <a:cs typeface="Calibri"/>
              </a:rPr>
              <a:t>Type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Calibri"/>
              <a:cs typeface="Calibri"/>
            </a:endParaRPr>
          </a:p>
          <a:p>
            <a:pPr marL="248920" marR="5080" indent="-236220">
              <a:lnSpc>
                <a:spcPct val="102099"/>
              </a:lnSpc>
              <a:buFont typeface="Arial MT"/>
              <a:buChar char="•"/>
              <a:tabLst>
                <a:tab pos="248920" algn="l"/>
              </a:tabLst>
            </a:pP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IDL</a:t>
            </a:r>
            <a:r>
              <a:rPr dirty="0" sz="1450" spc="6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provides</a:t>
            </a:r>
            <a:r>
              <a:rPr dirty="0" sz="1450" spc="6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structure</a:t>
            </a:r>
            <a:r>
              <a:rPr dirty="0" sz="145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type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s</a:t>
            </a:r>
            <a:r>
              <a:rPr dirty="0" sz="1450" b="1">
                <a:solidFill>
                  <a:srgbClr val="1C1572"/>
                </a:solidFill>
                <a:latin typeface="Calibri"/>
                <a:cs typeface="Calibri"/>
              </a:rPr>
              <a:t>truct</a:t>
            </a:r>
            <a:r>
              <a:rPr dirty="0" sz="1450" spc="20" b="1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that</a:t>
            </a:r>
            <a:r>
              <a:rPr dirty="0" sz="1450" spc="6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contains,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as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450" spc="6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C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and</a:t>
            </a:r>
            <a:r>
              <a:rPr dirty="0" sz="1450" spc="6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C++,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any</a:t>
            </a:r>
            <a:r>
              <a:rPr dirty="0" sz="1450" spc="6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number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of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member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values</a:t>
            </a:r>
            <a:r>
              <a:rPr dirty="0" sz="1450" spc="6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of</a:t>
            </a:r>
            <a:r>
              <a:rPr dirty="0" sz="1450" spc="4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disparate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types</a:t>
            </a:r>
            <a:r>
              <a:rPr dirty="0" sz="145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C1572"/>
                </a:solidFill>
                <a:latin typeface="Calibri"/>
                <a:cs typeface="Calibri"/>
              </a:rPr>
              <a:t>(even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other</a:t>
            </a:r>
            <a:r>
              <a:rPr dirty="0" sz="1450" spc="6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C1572"/>
                </a:solidFill>
                <a:latin typeface="Calibri"/>
                <a:cs typeface="Calibri"/>
              </a:rPr>
              <a:t>structs).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structs</a:t>
            </a:r>
            <a:r>
              <a:rPr dirty="0" sz="145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are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useful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450" spc="6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IDL</a:t>
            </a:r>
            <a:r>
              <a:rPr dirty="0" sz="1450" spc="6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because,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unlike</a:t>
            </a:r>
            <a:r>
              <a:rPr dirty="0" sz="1450" spc="7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CORBA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objects,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structs</a:t>
            </a:r>
            <a:r>
              <a:rPr dirty="0" sz="145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are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passed</a:t>
            </a:r>
            <a:r>
              <a:rPr dirty="0" sz="1450" spc="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by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value</a:t>
            </a:r>
            <a:r>
              <a:rPr dirty="0" sz="1450" spc="7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rather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than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by</a:t>
            </a:r>
            <a:r>
              <a:rPr dirty="0" sz="1450" spc="4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C1572"/>
                </a:solidFill>
                <a:latin typeface="Calibri"/>
                <a:cs typeface="Calibri"/>
              </a:rPr>
              <a:t>reference.</a:t>
            </a:r>
            <a:endParaRPr sz="1450">
              <a:latin typeface="Calibri"/>
              <a:cs typeface="Calibri"/>
            </a:endParaRPr>
          </a:p>
          <a:p>
            <a:pPr marL="248920" marR="121285" indent="-236220">
              <a:lnSpc>
                <a:spcPts val="1789"/>
              </a:lnSpc>
              <a:spcBef>
                <a:spcPts val="50"/>
              </a:spcBef>
              <a:buFont typeface="Arial MT"/>
              <a:buChar char="•"/>
              <a:tabLst>
                <a:tab pos="248920" algn="l"/>
              </a:tabLst>
            </a:pP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other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words,</a:t>
            </a:r>
            <a:r>
              <a:rPr dirty="0" sz="145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when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</a:t>
            </a:r>
            <a:r>
              <a:rPr dirty="0" sz="145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struct</a:t>
            </a:r>
            <a:r>
              <a:rPr dirty="0" sz="1450" spc="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is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passed</a:t>
            </a:r>
            <a:r>
              <a:rPr dirty="0" sz="1450" spc="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45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</a:t>
            </a:r>
            <a:r>
              <a:rPr dirty="0" sz="145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remote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object,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</a:t>
            </a:r>
            <a:r>
              <a:rPr dirty="0" sz="145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copy</a:t>
            </a:r>
            <a:r>
              <a:rPr dirty="0" sz="1450" spc="7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of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that</a:t>
            </a:r>
            <a:r>
              <a:rPr dirty="0" sz="1450" spc="5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struct’s</a:t>
            </a:r>
            <a:r>
              <a:rPr dirty="0" sz="145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values</a:t>
            </a:r>
            <a:r>
              <a:rPr dirty="0" sz="1450" spc="4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is</a:t>
            </a:r>
            <a:r>
              <a:rPr dirty="0" sz="1450" spc="4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created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and</a:t>
            </a:r>
            <a:r>
              <a:rPr dirty="0" sz="1450" spc="7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marshaled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45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C1572"/>
                </a:solidFill>
                <a:latin typeface="Calibri"/>
                <a:cs typeface="Calibri"/>
              </a:rPr>
              <a:t>the </a:t>
            </a:r>
            <a:r>
              <a:rPr dirty="0" sz="1450">
                <a:solidFill>
                  <a:srgbClr val="1C1572"/>
                </a:solidFill>
                <a:latin typeface="Calibri"/>
                <a:cs typeface="Calibri"/>
              </a:rPr>
              <a:t>remote</a:t>
            </a:r>
            <a:r>
              <a:rPr dirty="0" sz="1450" spc="5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C1572"/>
                </a:solidFill>
                <a:latin typeface="Calibri"/>
                <a:cs typeface="Calibri"/>
              </a:rPr>
              <a:t>object.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6475" y="1821179"/>
            <a:ext cx="6257925" cy="1737360"/>
          </a:xfrm>
          <a:custGeom>
            <a:avLst/>
            <a:gdLst/>
            <a:ahLst/>
            <a:cxnLst/>
            <a:rect l="l" t="t" r="r" b="b"/>
            <a:pathLst>
              <a:path w="6257925" h="1737360">
                <a:moveTo>
                  <a:pt x="6257543" y="1737360"/>
                </a:moveTo>
                <a:lnTo>
                  <a:pt x="0" y="1737360"/>
                </a:lnTo>
                <a:lnTo>
                  <a:pt x="0" y="0"/>
                </a:lnTo>
                <a:lnTo>
                  <a:pt x="6257543" y="0"/>
                </a:lnTo>
                <a:lnTo>
                  <a:pt x="6257543" y="17373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281457" y="1874018"/>
            <a:ext cx="2299970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0014" indent="-107314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 spc="-10">
                <a:latin typeface="Calibri"/>
                <a:cs typeface="Calibri"/>
              </a:rPr>
              <a:t>double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char</a:t>
            </a:r>
            <a:r>
              <a:rPr dirty="0" sz="1450" spc="9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(8-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wchar</a:t>
            </a:r>
            <a:r>
              <a:rPr dirty="0" sz="1450" spc="10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(16-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boolean</a:t>
            </a:r>
            <a:r>
              <a:rPr dirty="0" sz="1450" spc="9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(TRUE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or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FALSE)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octet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(8-bit</a:t>
            </a:r>
            <a:r>
              <a:rPr dirty="0" sz="1450" spc="4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–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no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conversion)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any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(arbitrary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IDL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type)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string</a:t>
            </a:r>
            <a:r>
              <a:rPr dirty="0" sz="1450" spc="3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(can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be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bounded)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52654" y="1874018"/>
            <a:ext cx="2194560" cy="1610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0014" indent="-107314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short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(16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long</a:t>
            </a:r>
            <a:r>
              <a:rPr dirty="0" sz="1450" spc="8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(32-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unsigned</a:t>
            </a:r>
            <a:r>
              <a:rPr dirty="0" sz="1450" spc="13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short</a:t>
            </a:r>
            <a:r>
              <a:rPr dirty="0" sz="1450" spc="7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(16-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unsigned</a:t>
            </a:r>
            <a:r>
              <a:rPr dirty="0" sz="1450" spc="10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long</a:t>
            </a:r>
            <a:r>
              <a:rPr dirty="0" sz="1450" spc="9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(32-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long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long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(64-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>
                <a:latin typeface="Calibri"/>
                <a:cs typeface="Calibri"/>
              </a:rPr>
              <a:t>unsigned</a:t>
            </a:r>
            <a:r>
              <a:rPr dirty="0" sz="1450" spc="9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long</a:t>
            </a:r>
            <a:r>
              <a:rPr dirty="0" sz="1450" spc="8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long</a:t>
            </a:r>
            <a:r>
              <a:rPr dirty="0" sz="1450" spc="6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(64-</a:t>
            </a:r>
            <a:r>
              <a:rPr dirty="0" sz="1450" spc="-20">
                <a:latin typeface="Calibri"/>
                <a:cs typeface="Calibri"/>
              </a:rPr>
              <a:t>bit)</a:t>
            </a:r>
            <a:endParaRPr sz="1450">
              <a:latin typeface="Calibri"/>
              <a:cs typeface="Calibri"/>
            </a:endParaRPr>
          </a:p>
          <a:p>
            <a:pPr marL="120014" indent="-107314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20014" algn="l"/>
              </a:tabLst>
            </a:pPr>
            <a:r>
              <a:rPr dirty="0" sz="1450" spc="-10">
                <a:latin typeface="Calibri"/>
                <a:cs typeface="Calibri"/>
              </a:rPr>
              <a:t>Float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0903" y="5018532"/>
            <a:ext cx="2997708" cy="158495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21" y="1750531"/>
            <a:ext cx="9682480" cy="132143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spc="-10" b="1">
                <a:latin typeface="Arial"/>
                <a:cs typeface="Arial"/>
              </a:rPr>
              <a:t>Attributes</a:t>
            </a:r>
            <a:endParaRPr sz="1950">
              <a:latin typeface="Arial"/>
              <a:cs typeface="Arial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  <a:tab pos="7812405" algn="l"/>
              </a:tabLst>
            </a:pP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attribute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IDL</a:t>
            </a:r>
            <a:r>
              <a:rPr dirty="0" sz="1950" spc="-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interface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analogous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instance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variable</a:t>
            </a:r>
            <a:r>
              <a:rPr dirty="0" sz="1950">
                <a:latin typeface="Arial MT"/>
                <a:cs typeface="Arial MT"/>
              </a:rPr>
              <a:t>	of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Java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or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C++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class,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with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exception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IDL</a:t>
            </a:r>
            <a:r>
              <a:rPr dirty="0" sz="1950" spc="-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attributes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always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have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public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visibility.</a:t>
            </a:r>
            <a:r>
              <a:rPr dirty="0" sz="1950" spc="-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general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syntax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defining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attribute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this: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" y="3258311"/>
            <a:ext cx="6035039" cy="82753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2510" y="4103586"/>
            <a:ext cx="3701415" cy="206311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latin typeface="Arial"/>
                <a:cs typeface="Arial"/>
              </a:rPr>
              <a:t>Inheritance</a:t>
            </a:r>
            <a:r>
              <a:rPr dirty="0" sz="1950" spc="3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of</a:t>
            </a:r>
            <a:r>
              <a:rPr dirty="0" sz="1950" spc="65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interfaces</a:t>
            </a:r>
            <a:endParaRPr sz="1950">
              <a:latin typeface="Arial"/>
              <a:cs typeface="Arial"/>
            </a:endParaRPr>
          </a:p>
          <a:p>
            <a:pPr marL="248920" marR="698500" indent="-236854">
              <a:lnSpc>
                <a:spcPct val="101600"/>
              </a:lnSpc>
              <a:spcBef>
                <a:spcPts val="1785"/>
              </a:spcBef>
              <a:buChar char="•"/>
              <a:tabLst>
                <a:tab pos="248920" algn="l"/>
              </a:tabLst>
            </a:pPr>
            <a:r>
              <a:rPr dirty="0" sz="1950">
                <a:latin typeface="Arial MT"/>
                <a:cs typeface="Arial MT"/>
              </a:rPr>
              <a:t>IDL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support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notion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of </a:t>
            </a:r>
            <a:r>
              <a:rPr dirty="0" sz="1950" spc="-10">
                <a:latin typeface="Arial MT"/>
                <a:cs typeface="Arial MT"/>
              </a:rPr>
              <a:t>inheritance.</a:t>
            </a:r>
            <a:endParaRPr sz="1950">
              <a:latin typeface="Arial MT"/>
              <a:cs typeface="Arial MT"/>
            </a:endParaRPr>
          </a:p>
          <a:p>
            <a:pPr marL="248920" marR="5080" indent="-236854">
              <a:lnSpc>
                <a:spcPts val="2380"/>
              </a:lnSpc>
              <a:spcBef>
                <a:spcPts val="80"/>
              </a:spcBef>
              <a:buChar char="•"/>
              <a:tabLst>
                <a:tab pos="248920" algn="l"/>
              </a:tabLst>
            </a:pPr>
            <a:r>
              <a:rPr dirty="0" sz="1950">
                <a:latin typeface="Arial MT"/>
                <a:cs typeface="Arial MT"/>
              </a:rPr>
              <a:t>That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is,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interface</a:t>
            </a:r>
            <a:r>
              <a:rPr dirty="0" sz="1950" spc="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can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inherit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methods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attributes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of </a:t>
            </a:r>
            <a:r>
              <a:rPr dirty="0" sz="1950" spc="-10">
                <a:latin typeface="Arial MT"/>
                <a:cs typeface="Arial MT"/>
              </a:rPr>
              <a:t>another: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5692" y="4235196"/>
            <a:ext cx="4085843" cy="1828799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21" y="1740307"/>
            <a:ext cx="8981440" cy="11201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spc="-10" b="1">
                <a:latin typeface="Arial"/>
                <a:cs typeface="Arial"/>
              </a:rPr>
              <a:t>typedef</a:t>
            </a:r>
            <a:endParaRPr sz="19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63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Like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C++,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supports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typedef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statement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create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user-</a:t>
            </a:r>
            <a:r>
              <a:rPr dirty="0" sz="1800">
                <a:latin typeface="Arial MT"/>
                <a:cs typeface="Arial MT"/>
              </a:rPr>
              <a:t>defined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name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means that anywhere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SerialNumber type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found, it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should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 treated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 </a:t>
            </a:r>
            <a:r>
              <a:rPr dirty="0" sz="1800" spc="-10">
                <a:latin typeface="Arial MT"/>
                <a:cs typeface="Arial MT"/>
              </a:rPr>
              <a:t>string</a:t>
            </a:r>
            <a:r>
              <a:rPr dirty="0" sz="1450" spc="-10">
                <a:latin typeface="Arial MT"/>
                <a:cs typeface="Arial MT"/>
              </a:rPr>
              <a:t>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308" y="2974848"/>
            <a:ext cx="4085843" cy="74066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5056" y="3734769"/>
            <a:ext cx="9558655" cy="1685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10" b="1">
                <a:latin typeface="Arial"/>
                <a:cs typeface="Arial"/>
              </a:rPr>
              <a:t>Sequence</a:t>
            </a:r>
            <a:endParaRPr sz="1800">
              <a:latin typeface="Arial"/>
              <a:cs typeface="Arial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har char="•"/>
              <a:tabLst>
                <a:tab pos="295275" algn="l"/>
              </a:tabLst>
            </a:pP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sequence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simply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dynamically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sizable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array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values.</a:t>
            </a:r>
            <a:endParaRPr sz="1800">
              <a:latin typeface="Arial MT"/>
              <a:cs typeface="Arial MT"/>
            </a:endParaRPr>
          </a:p>
          <a:p>
            <a:pPr marL="295910" marR="5080" indent="-283845">
              <a:lnSpc>
                <a:spcPts val="2180"/>
              </a:lnSpc>
              <a:spcBef>
                <a:spcPts val="70"/>
              </a:spcBef>
              <a:buChar char="•"/>
              <a:tabLst>
                <a:tab pos="295910" algn="l"/>
              </a:tabLst>
            </a:pPr>
            <a:r>
              <a:rPr dirty="0" sz="1800">
                <a:latin typeface="Arial MT"/>
                <a:cs typeface="Arial MT"/>
              </a:rPr>
              <a:t>These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dynamically inserted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removed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sequence;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sequence </a:t>
            </a:r>
            <a:r>
              <a:rPr dirty="0" sz="1800">
                <a:latin typeface="Arial MT"/>
                <a:cs typeface="Arial MT"/>
              </a:rPr>
              <a:t>manages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size </a:t>
            </a:r>
            <a:r>
              <a:rPr dirty="0" sz="1800" spc="-10">
                <a:latin typeface="Arial MT"/>
                <a:cs typeface="Arial MT"/>
              </a:rPr>
              <a:t>accordingly.</a:t>
            </a:r>
            <a:endParaRPr sz="1800">
              <a:latin typeface="Arial MT"/>
              <a:cs typeface="Arial MT"/>
            </a:endParaRPr>
          </a:p>
          <a:p>
            <a:pPr marL="295275" indent="-282575">
              <a:lnSpc>
                <a:spcPts val="2100"/>
              </a:lnSpc>
              <a:buChar char="•"/>
              <a:tabLst>
                <a:tab pos="295275" algn="l"/>
              </a:tabLst>
            </a:pP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values 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 sequence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must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same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derived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same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(with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29591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Arial MT"/>
                <a:cs typeface="Arial MT"/>
              </a:rPr>
              <a:t>exception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 any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type.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example: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4272" y="5583935"/>
            <a:ext cx="4023359" cy="74828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21" y="1750531"/>
            <a:ext cx="9862820" cy="10496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spc="-10" b="1">
                <a:latin typeface="Arial"/>
                <a:cs typeface="Arial"/>
              </a:rPr>
              <a:t>Array</a:t>
            </a:r>
            <a:endParaRPr sz="1950">
              <a:latin typeface="Arial"/>
              <a:cs typeface="Arial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IDL</a:t>
            </a:r>
            <a:r>
              <a:rPr dirty="0" sz="1950" spc="-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array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corresponds</a:t>
            </a:r>
            <a:r>
              <a:rPr dirty="0" sz="1950" spc="3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directly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to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the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array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constructs</a:t>
            </a:r>
            <a:r>
              <a:rPr dirty="0" sz="1950" spc="1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C,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C++,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Java.</a:t>
            </a:r>
            <a:r>
              <a:rPr dirty="0" sz="1950" spc="-9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array </a:t>
            </a:r>
            <a:r>
              <a:rPr dirty="0" sz="1950" spc="-10">
                <a:latin typeface="Arial MT"/>
                <a:cs typeface="Arial MT"/>
              </a:rPr>
              <a:t>	</a:t>
            </a:r>
            <a:r>
              <a:rPr dirty="0" sz="1950">
                <a:latin typeface="Arial MT"/>
                <a:cs typeface="Arial MT"/>
              </a:rPr>
              <a:t>stores</a:t>
            </a:r>
            <a:r>
              <a:rPr dirty="0" sz="1950" spc="3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known-length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series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similar</a:t>
            </a:r>
            <a:r>
              <a:rPr dirty="0" sz="1950" spc="5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data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types.</a:t>
            </a:r>
            <a:r>
              <a:rPr dirty="0" sz="1950" spc="2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5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example: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6494" y="3896329"/>
            <a:ext cx="6722109" cy="930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1950" b="1">
                <a:latin typeface="Calibri"/>
                <a:cs typeface="Calibri"/>
              </a:rPr>
              <a:t>IDL</a:t>
            </a:r>
            <a:r>
              <a:rPr dirty="0" sz="1950" spc="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Comments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95910" indent="-283210">
              <a:lnSpc>
                <a:spcPct val="100000"/>
              </a:lnSpc>
              <a:buFont typeface="Arial MT"/>
              <a:buChar char="•"/>
              <a:tabLst>
                <a:tab pos="295910" algn="l"/>
              </a:tabLst>
            </a:pPr>
            <a:r>
              <a:rPr dirty="0" sz="1950">
                <a:latin typeface="Calibri"/>
                <a:cs typeface="Calibri"/>
              </a:rPr>
              <a:t>Comments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 IDL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follow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same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conventions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Java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C++.</a:t>
            </a:r>
            <a:endParaRPr sz="19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2881883"/>
            <a:ext cx="2891027" cy="6080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872" y="5081016"/>
            <a:ext cx="4212335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21" y="1740307"/>
            <a:ext cx="9798050" cy="29273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 spc="-10" b="1">
                <a:latin typeface="Arial"/>
                <a:cs typeface="Arial"/>
              </a:rPr>
              <a:t>Exception</a:t>
            </a:r>
            <a:endParaRPr sz="1950">
              <a:latin typeface="Arial"/>
              <a:cs typeface="Arial"/>
            </a:endParaRPr>
          </a:p>
          <a:p>
            <a:pPr marL="200025" marR="312420" indent="-187960">
              <a:lnSpc>
                <a:spcPts val="196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The IDL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exception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itself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similar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struct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type;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contain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various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members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(but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methods).</a:t>
            </a:r>
            <a:endParaRPr sz="1800">
              <a:latin typeface="Arial MT"/>
              <a:cs typeface="Arial MT"/>
            </a:endParaRPr>
          </a:p>
          <a:p>
            <a:pPr marL="200025" marR="429895" indent="-187960">
              <a:lnSpc>
                <a:spcPts val="197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Example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 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below,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b="1" i="1">
                <a:latin typeface="Arial"/>
                <a:cs typeface="Arial"/>
              </a:rPr>
              <a:t>browseObject</a:t>
            </a:r>
            <a:r>
              <a:rPr dirty="0" sz="1800">
                <a:latin typeface="Arial MT"/>
                <a:cs typeface="Arial MT"/>
              </a:rPr>
              <a:t>()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accepts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single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parameter,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called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object,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type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20" b="1" i="1">
                <a:latin typeface="Arial"/>
                <a:cs typeface="Arial"/>
              </a:rPr>
              <a:t>any</a:t>
            </a:r>
            <a:r>
              <a:rPr dirty="0" sz="1800" spc="-2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200025" marR="5080" indent="-187960">
              <a:lnSpc>
                <a:spcPts val="196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client calling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 can use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 of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IDL</a:t>
            </a:r>
            <a:r>
              <a:rPr dirty="0" sz="1800" spc="-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fill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parameter.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Internally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to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browseObject(),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method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will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attempt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determine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actual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 object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is.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9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If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determines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type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object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will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so.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Otherwise,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will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raise 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UnknownObjectType exception,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which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returned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caller.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767" y="4751832"/>
            <a:ext cx="7178039" cy="177545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CORBA</a:t>
            </a:r>
            <a:r>
              <a:rPr dirty="0" spc="-155"/>
              <a:t> </a:t>
            </a:r>
            <a:r>
              <a:rPr dirty="0" spc="-25"/>
              <a:t>IDL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1819655"/>
            <a:ext cx="6422135" cy="489661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67235"/>
            <a:ext cx="8957310" cy="484187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409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CORBA</a:t>
            </a:r>
            <a:r>
              <a:rPr dirty="0" sz="1650" spc="-10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IDL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to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Java</a:t>
            </a:r>
            <a:r>
              <a:rPr dirty="0" sz="1650" spc="-2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bindings</a:t>
            </a:r>
            <a:endParaRPr sz="1650">
              <a:latin typeface="Arial"/>
              <a:cs typeface="Arial"/>
            </a:endParaRPr>
          </a:p>
          <a:p>
            <a:pPr marL="201930" indent="-189230">
              <a:lnSpc>
                <a:spcPct val="100000"/>
              </a:lnSpc>
              <a:spcBef>
                <a:spcPts val="310"/>
              </a:spcBef>
              <a:buChar char="•"/>
              <a:tabLst>
                <a:tab pos="201930" algn="l"/>
              </a:tabLst>
            </a:pPr>
            <a:r>
              <a:rPr dirty="0" sz="1650">
                <a:latin typeface="Arial MT"/>
                <a:cs typeface="Arial MT"/>
              </a:rPr>
              <a:t>Module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IDL</a:t>
            </a:r>
            <a:r>
              <a:rPr dirty="0" sz="1650" spc="-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maps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package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 </a:t>
            </a:r>
            <a:r>
              <a:rPr dirty="0" sz="1650" spc="-20">
                <a:latin typeface="Arial MT"/>
                <a:cs typeface="Arial MT"/>
              </a:rPr>
              <a:t>Java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latin typeface="Arial MT"/>
                <a:cs typeface="Arial MT"/>
              </a:rPr>
              <a:t>CORBA</a:t>
            </a:r>
            <a:r>
              <a:rPr dirty="0" sz="1650" spc="-1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IDL</a:t>
            </a:r>
            <a:r>
              <a:rPr dirty="0" sz="1650" spc="-9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types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map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most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Java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types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boolean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Boolean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9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octet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Byte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short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short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long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int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long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long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long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string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string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9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sequences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arrays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arrays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00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float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float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9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double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double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enums,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structs,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unions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exceptions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Java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classes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user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defined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types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IDL,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Java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generates:</a:t>
            </a:r>
            <a:endParaRPr sz="16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15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Helper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class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–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manages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read/write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CORBA</a:t>
            </a:r>
            <a:r>
              <a:rPr dirty="0" sz="1650" spc="-1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I/O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streams</a:t>
            </a:r>
            <a:endParaRPr sz="1650">
              <a:latin typeface="Arial MT"/>
              <a:cs typeface="Arial MT"/>
            </a:endParaRPr>
          </a:p>
          <a:p>
            <a:pPr lvl="1" marL="577850" marR="5080" indent="-187960">
              <a:lnSpc>
                <a:spcPts val="1789"/>
              </a:lnSpc>
              <a:spcBef>
                <a:spcPts val="434"/>
              </a:spcBef>
              <a:buChar char="•"/>
              <a:tabLst>
                <a:tab pos="577850" algn="l"/>
              </a:tabLst>
            </a:pPr>
            <a:r>
              <a:rPr dirty="0" sz="1650">
                <a:latin typeface="Arial MT"/>
                <a:cs typeface="Arial MT"/>
              </a:rPr>
              <a:t>Holder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class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–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Implements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out/inout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parameters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wrapper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class,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hold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their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value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(by </a:t>
            </a:r>
            <a:r>
              <a:rPr dirty="0" sz="1650">
                <a:latin typeface="Arial MT"/>
                <a:cs typeface="Arial MT"/>
              </a:rPr>
              <a:t>reference)</a:t>
            </a:r>
            <a:r>
              <a:rPr dirty="0" sz="1650" spc="-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pass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Helper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class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streams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3" y="1881090"/>
            <a:ext cx="6476365" cy="369951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994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Attributes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990"/>
              </a:spcBef>
              <a:buChar char="•"/>
              <a:tabLst>
                <a:tab pos="200660" algn="l"/>
              </a:tabLst>
            </a:pPr>
            <a:r>
              <a:rPr dirty="0" sz="1800">
                <a:latin typeface="Arial MT"/>
                <a:cs typeface="Arial MT"/>
              </a:rPr>
              <a:t>Attribute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gets/sets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particular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variable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servant</a:t>
            </a:r>
            <a:endParaRPr sz="180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Char char="•"/>
              <a:tabLst>
                <a:tab pos="200660" algn="l"/>
              </a:tabLst>
            </a:pPr>
            <a:r>
              <a:rPr dirty="0" sz="1800" spc="-10">
                <a:latin typeface="Arial MT"/>
                <a:cs typeface="Arial MT"/>
              </a:rPr>
              <a:t>Example:</a:t>
            </a:r>
            <a:endParaRPr sz="1800">
              <a:latin typeface="Arial MT"/>
              <a:cs typeface="Arial MT"/>
            </a:endParaRPr>
          </a:p>
          <a:p>
            <a:pPr lvl="1" marL="575310" marR="5080" indent="-185420">
              <a:lnSpc>
                <a:spcPts val="1960"/>
              </a:lnSpc>
              <a:spcBef>
                <a:spcPts val="450"/>
              </a:spcBef>
              <a:buChar char="•"/>
              <a:tabLst>
                <a:tab pos="577850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remote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named the_value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parameters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passed,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 returns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Short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1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lvl="1" marL="575310" marR="132080" indent="-185420">
              <a:lnSpc>
                <a:spcPts val="1960"/>
              </a:lnSpc>
              <a:buChar char="•"/>
              <a:tabLst>
                <a:tab pos="577850" algn="l"/>
              </a:tabLst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remote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procedure</a:t>
            </a:r>
            <a:r>
              <a:rPr dirty="0" sz="1800" spc="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named the_value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Short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passed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parameter,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 does not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return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any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values </a:t>
            </a:r>
            <a:r>
              <a:rPr dirty="0" sz="1800" spc="-1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(has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void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value as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return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value)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2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00025" marR="326390" indent="-187960">
              <a:lnSpc>
                <a:spcPts val="1960"/>
              </a:lnSpc>
              <a:buChar char="•"/>
              <a:tabLst>
                <a:tab pos="201295" algn="l"/>
              </a:tabLst>
            </a:pPr>
            <a:r>
              <a:rPr dirty="0" sz="1800">
                <a:latin typeface="Arial MT"/>
                <a:cs typeface="Arial MT"/>
              </a:rPr>
              <a:t>Not recommended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behavior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too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dependent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on </a:t>
            </a:r>
            <a:r>
              <a:rPr dirty="0" sz="1800" spc="-25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network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implementations</a:t>
            </a:r>
            <a:r>
              <a:rPr dirty="0" sz="1450" spc="-10">
                <a:latin typeface="Arial MT"/>
                <a:cs typeface="Arial MT"/>
              </a:rPr>
              <a:t>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8292" y="2397251"/>
            <a:ext cx="3134867" cy="105460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2179" y="3609870"/>
            <a:ext cx="186880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5"/>
              </a:spcBef>
              <a:buChar char="•"/>
              <a:tabLst>
                <a:tab pos="200660" algn="l"/>
              </a:tabLst>
            </a:pPr>
            <a:r>
              <a:rPr dirty="0" sz="1450">
                <a:latin typeface="Arial MT"/>
                <a:cs typeface="Arial MT"/>
              </a:rPr>
              <a:t>Java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code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(servant)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36246" y="1851234"/>
            <a:ext cx="1853564" cy="77660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Example</a:t>
            </a:r>
            <a:r>
              <a:rPr dirty="0" sz="1650" spc="-6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code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–</a:t>
            </a:r>
            <a:r>
              <a:rPr dirty="0" sz="1650" spc="-4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1C1572"/>
                </a:solidFill>
                <a:latin typeface="Arial"/>
                <a:cs typeface="Arial"/>
              </a:rPr>
              <a:t>in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IDL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definition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2383" y="1815083"/>
            <a:ext cx="4978907" cy="164134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3096767" y="3502152"/>
            <a:ext cx="6920230" cy="3214370"/>
            <a:chOff x="3096767" y="3502152"/>
            <a:chExt cx="6920230" cy="321437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6767" y="3502152"/>
              <a:ext cx="6915911" cy="321411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597396" y="4341875"/>
              <a:ext cx="3415665" cy="995680"/>
            </a:xfrm>
            <a:custGeom>
              <a:avLst/>
              <a:gdLst/>
              <a:ahLst/>
              <a:cxnLst/>
              <a:rect l="l" t="t" r="r" b="b"/>
              <a:pathLst>
                <a:path w="3415665" h="995679">
                  <a:moveTo>
                    <a:pt x="0" y="0"/>
                  </a:moveTo>
                  <a:lnTo>
                    <a:pt x="3415283" y="0"/>
                  </a:lnTo>
                  <a:lnTo>
                    <a:pt x="3415283" y="995172"/>
                  </a:lnTo>
                  <a:lnTo>
                    <a:pt x="0" y="99517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2179" y="3609870"/>
            <a:ext cx="186880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5"/>
              </a:spcBef>
              <a:buChar char="•"/>
              <a:tabLst>
                <a:tab pos="200660" algn="l"/>
              </a:tabLst>
            </a:pPr>
            <a:r>
              <a:rPr dirty="0" sz="1450">
                <a:latin typeface="Arial MT"/>
                <a:cs typeface="Arial MT"/>
              </a:rPr>
              <a:t>Java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code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(servant)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Interface</a:t>
            </a:r>
            <a:r>
              <a:rPr dirty="0" spc="-130"/>
              <a:t> </a:t>
            </a:r>
            <a:r>
              <a:rPr dirty="0"/>
              <a:t>Description</a:t>
            </a:r>
            <a:r>
              <a:rPr dirty="0" spc="-135"/>
              <a:t> </a:t>
            </a:r>
            <a:r>
              <a:rPr dirty="0"/>
              <a:t>Language</a:t>
            </a:r>
            <a:r>
              <a:rPr dirty="0" spc="-125"/>
              <a:t> </a:t>
            </a:r>
            <a:r>
              <a:rPr dirty="0" spc="-10"/>
              <a:t>(IDL)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36246" y="1851234"/>
            <a:ext cx="2179955" cy="77660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Example</a:t>
            </a:r>
            <a:r>
              <a:rPr dirty="0" sz="1650" spc="-6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code</a:t>
            </a:r>
            <a:r>
              <a:rPr dirty="0" sz="1650" spc="-2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–</a:t>
            </a:r>
            <a:r>
              <a:rPr dirty="0" sz="1650" spc="-4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inout</a:t>
            </a:r>
            <a:endParaRPr sz="1650">
              <a:latin typeface="Arial"/>
              <a:cs typeface="Arial"/>
            </a:endParaRPr>
          </a:p>
          <a:p>
            <a:pPr marL="63627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636270" algn="l"/>
              </a:tabLst>
            </a:pPr>
            <a:r>
              <a:rPr dirty="0" sz="1450">
                <a:latin typeface="Arial MT"/>
                <a:cs typeface="Arial MT"/>
              </a:rPr>
              <a:t>IDL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definition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5911" y="1815083"/>
            <a:ext cx="6528816" cy="490118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53680"/>
            <a:ext cx="9855200" cy="424116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14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simple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way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understand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what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messaging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does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consider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telephone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system.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14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telephone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call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 a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synchronous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form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communication.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can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only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communicate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with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other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party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if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other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party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available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at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time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place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call.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Voice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mail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on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other</a:t>
            </a:r>
            <a:r>
              <a:rPr dirty="0" sz="1650" spc="-5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hand,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allows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asynchronous</a:t>
            </a:r>
            <a:r>
              <a:rPr dirty="0" sz="1650" spc="-6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communication.</a:t>
            </a:r>
            <a:endParaRPr sz="1650">
              <a:latin typeface="Arial MT"/>
              <a:cs typeface="Arial MT"/>
            </a:endParaRPr>
          </a:p>
          <a:p>
            <a:pPr marL="201295" marR="661035" indent="-189230">
              <a:lnSpc>
                <a:spcPts val="1789"/>
              </a:lnSpc>
              <a:spcBef>
                <a:spcPts val="84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With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voice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mail,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when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receiver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does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not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answer,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caller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can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leave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and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later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the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receiver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(at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his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convenience)</a:t>
            </a:r>
            <a:r>
              <a:rPr dirty="0" sz="1650" spc="-5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can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listen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messages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queued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in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his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mailbox.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295" marR="5080" indent="-189230">
              <a:lnSpc>
                <a:spcPts val="1789"/>
              </a:lnSpc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Messaging</a:t>
            </a:r>
            <a:r>
              <a:rPr dirty="0" sz="1650" spc="-6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technology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that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enables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high-speed,</a:t>
            </a:r>
            <a:r>
              <a:rPr dirty="0" sz="1650" spc="-6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asynchronous,</a:t>
            </a:r>
            <a:r>
              <a:rPr dirty="0" sz="1650" spc="-5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program-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to-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program</a:t>
            </a:r>
            <a:r>
              <a:rPr dirty="0" sz="1650" spc="-5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communication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with reliable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delivery.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9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Programs</a:t>
            </a:r>
            <a:r>
              <a:rPr dirty="0" sz="165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communicate</a:t>
            </a:r>
            <a:r>
              <a:rPr dirty="0" sz="165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by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sending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packets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of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dirty="0" sz="16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called</a:t>
            </a:r>
            <a:r>
              <a:rPr dirty="0" sz="165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messages</a:t>
            </a:r>
            <a:r>
              <a:rPr dirty="0" sz="165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each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other.</a:t>
            </a:r>
            <a:endParaRPr sz="1650">
              <a:latin typeface="Arial MT"/>
              <a:cs typeface="Arial MT"/>
            </a:endParaRPr>
          </a:p>
          <a:p>
            <a:pPr marL="201295" marR="934719" indent="-189230">
              <a:lnSpc>
                <a:spcPts val="1789"/>
              </a:lnSpc>
              <a:spcBef>
                <a:spcPts val="84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Channels,</a:t>
            </a:r>
            <a:r>
              <a:rPr dirty="0" sz="165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also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known</a:t>
            </a:r>
            <a:r>
              <a:rPr dirty="0" sz="16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dirty="0" sz="165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queues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,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are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logical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pathways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that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connect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programs</a:t>
            </a:r>
            <a:r>
              <a:rPr dirty="0" sz="1650" spc="-7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convey messages.</a:t>
            </a:r>
            <a:endParaRPr sz="1650">
              <a:latin typeface="Arial MT"/>
              <a:cs typeface="Arial MT"/>
            </a:endParaRPr>
          </a:p>
          <a:p>
            <a:pPr marL="201295" marR="635000" indent="-189230">
              <a:lnSpc>
                <a:spcPts val="178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channel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behaves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like a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collection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or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array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of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messages,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but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one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that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magically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shared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across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multiple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computers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can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used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concurrently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by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multiple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channel.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Messaging?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69433"/>
            <a:ext cx="9117330" cy="24911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1295" marR="20955" indent="-189230">
              <a:lnSpc>
                <a:spcPts val="1789"/>
              </a:lnSpc>
              <a:spcBef>
                <a:spcPts val="325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receiver</a:t>
            </a:r>
            <a:r>
              <a:rPr dirty="0" sz="165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dirty="0" sz="165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consumer</a:t>
            </a:r>
            <a:r>
              <a:rPr dirty="0" sz="165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program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that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receives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5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by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reading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(and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deleting)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it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from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a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channel.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90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simple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sort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of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data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structure—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such</a:t>
            </a:r>
            <a:r>
              <a:rPr dirty="0" sz="1650" spc="-5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as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string,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byte</a:t>
            </a:r>
            <a:r>
              <a:rPr dirty="0" sz="1650" spc="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array,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record,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or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an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object.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114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actually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contains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two</a:t>
            </a:r>
            <a:r>
              <a:rPr dirty="0" sz="1650" spc="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parts,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header</a:t>
            </a:r>
            <a:r>
              <a:rPr dirty="0" sz="165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6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body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header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contains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meta-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information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about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message—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who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sent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it,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where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it’s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going,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C1572"/>
                </a:solidFill>
                <a:latin typeface="Arial MT"/>
                <a:cs typeface="Arial MT"/>
              </a:rPr>
              <a:t>etc.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Header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information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is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used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by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1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messaging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system.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Body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contains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data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being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transmitted.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In</a:t>
            </a:r>
            <a:r>
              <a:rPr dirty="0" u="sng" sz="1650" spc="-15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essence,</a:t>
            </a:r>
            <a:r>
              <a:rPr dirty="0" u="sng" sz="1650" spc="-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a</a:t>
            </a:r>
            <a:r>
              <a:rPr dirty="0" u="sng" sz="1650" spc="-15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650" spc="-3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is</a:t>
            </a:r>
            <a:r>
              <a:rPr dirty="0" u="sng" sz="1650" spc="-25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transmitted</a:t>
            </a:r>
            <a:r>
              <a:rPr dirty="0" u="sng" sz="1650" spc="-6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in</a:t>
            </a:r>
            <a:r>
              <a:rPr dirty="0" u="sng" sz="1650" spc="-15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five</a:t>
            </a:r>
            <a:r>
              <a:rPr dirty="0" u="sng" sz="1650" spc="-3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 MT"/>
                <a:cs typeface="Arial MT"/>
              </a:rPr>
              <a:t>steps: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3497" y="4333171"/>
            <a:ext cx="1102995" cy="102108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1.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Create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2.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FF0000"/>
                </a:solidFill>
                <a:latin typeface="Arial MT"/>
                <a:cs typeface="Arial MT"/>
              </a:rPr>
              <a:t>Send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3.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Deliver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72243" y="4333171"/>
            <a:ext cx="6844665" cy="201485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36525" indent="-123825">
              <a:lnSpc>
                <a:spcPct val="100000"/>
              </a:lnSpc>
              <a:spcBef>
                <a:spcPts val="735"/>
              </a:spcBef>
              <a:buChar char="-"/>
              <a:tabLst>
                <a:tab pos="13652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sender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creates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populates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it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with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data.</a:t>
            </a:r>
            <a:endParaRPr sz="165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635"/>
              </a:spcBef>
              <a:buChar char="-"/>
              <a:tabLst>
                <a:tab pos="13652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sender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adds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channel.</a:t>
            </a:r>
            <a:endParaRPr sz="1650">
              <a:latin typeface="Arial MT"/>
              <a:cs typeface="Arial MT"/>
            </a:endParaRPr>
          </a:p>
          <a:p>
            <a:pPr marL="135890" marR="5080" indent="-123825">
              <a:lnSpc>
                <a:spcPct val="131500"/>
              </a:lnSpc>
              <a:buChar char="-"/>
              <a:tabLst>
                <a:tab pos="18478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messaging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system moves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from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sender’s</a:t>
            </a:r>
            <a:r>
              <a:rPr dirty="0" sz="1650" spc="-7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computer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receiver’s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computer,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making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it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available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to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receiver.</a:t>
            </a:r>
            <a:endParaRPr sz="165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625"/>
              </a:spcBef>
              <a:buChar char="-"/>
              <a:tabLst>
                <a:tab pos="13652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receiver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reads</a:t>
            </a:r>
            <a:r>
              <a:rPr dirty="0" sz="1650" spc="-5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message</a:t>
            </a:r>
            <a:r>
              <a:rPr dirty="0" sz="1650" spc="-6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from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 channel.</a:t>
            </a:r>
            <a:endParaRPr sz="165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635"/>
              </a:spcBef>
              <a:buChar char="-"/>
              <a:tabLst>
                <a:tab pos="136525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receiver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extracts</a:t>
            </a:r>
            <a:r>
              <a:rPr dirty="0" sz="1650" spc="-3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4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data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from</a:t>
            </a:r>
            <a:r>
              <a:rPr dirty="0" sz="1650" spc="-4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C1572"/>
                </a:solidFill>
                <a:latin typeface="Arial MT"/>
                <a:cs typeface="Arial MT"/>
              </a:rPr>
              <a:t>message.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497" y="5657585"/>
            <a:ext cx="1209040" cy="6902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4.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Receive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C1572"/>
                </a:solidFill>
                <a:latin typeface="Arial MT"/>
                <a:cs typeface="Arial MT"/>
              </a:rPr>
              <a:t>5.</a:t>
            </a:r>
            <a:r>
              <a:rPr dirty="0" sz="1650" spc="-25">
                <a:solidFill>
                  <a:srgbClr val="1C1572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Process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Messaging?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Messaging?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7504"/>
            <a:ext cx="5257800" cy="23012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292358" y="2142229"/>
            <a:ext cx="4662805" cy="4049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This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diagram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also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illustrates two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important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messaging</a:t>
            </a:r>
            <a:r>
              <a:rPr dirty="0" sz="1300" spc="-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concepts:</a:t>
            </a:r>
            <a:endParaRPr sz="1300">
              <a:latin typeface="Calibri"/>
              <a:cs typeface="Calibri"/>
            </a:endParaRPr>
          </a:p>
          <a:p>
            <a:pPr marL="295910" marR="115570" indent="-283845">
              <a:lnSpc>
                <a:spcPct val="101499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u="sng" sz="130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Send</a:t>
            </a:r>
            <a:r>
              <a:rPr dirty="0" u="sng" sz="1300" spc="1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30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and forget</a:t>
            </a:r>
            <a:r>
              <a:rPr dirty="0" sz="1300" i="1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—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step 2,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sending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application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sends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the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 to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channel.</a:t>
            </a:r>
            <a:endParaRPr sz="1300">
              <a:latin typeface="Calibri"/>
              <a:cs typeface="Calibri"/>
            </a:endParaRPr>
          </a:p>
          <a:p>
            <a:pPr marL="295910" marR="24130" indent="-283845">
              <a:lnSpc>
                <a:spcPct val="101499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Once that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is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complete, the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sender can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go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other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C1572"/>
                </a:solidFill>
                <a:latin typeface="Calibri"/>
                <a:cs typeface="Calibri"/>
              </a:rPr>
              <a:t>work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while the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messaging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system transmits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the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background.</a:t>
            </a:r>
            <a:endParaRPr sz="1300">
              <a:latin typeface="Calibri"/>
              <a:cs typeface="Calibri"/>
            </a:endParaRPr>
          </a:p>
          <a:p>
            <a:pPr marL="295910" marR="242570" indent="-283845">
              <a:lnSpc>
                <a:spcPct val="101499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 sender can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be confident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that the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receiver will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eventually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receive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and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does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not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have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wait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until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C1572"/>
                </a:solidFill>
                <a:latin typeface="Calibri"/>
                <a:cs typeface="Calibri"/>
              </a:rPr>
              <a:t>that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happens.</a:t>
            </a:r>
            <a:endParaRPr sz="1300">
              <a:latin typeface="Calibri"/>
              <a:cs typeface="Calibri"/>
            </a:endParaRPr>
          </a:p>
          <a:p>
            <a:pPr marL="295910" marR="109855" indent="-283845">
              <a:lnSpc>
                <a:spcPct val="101499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u="sng" sz="130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Store</a:t>
            </a:r>
            <a:r>
              <a:rPr dirty="0" u="sng" sz="1300" spc="1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30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1300" spc="15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300" i="1">
                <a:solidFill>
                  <a:srgbClr val="1C1572"/>
                </a:solidFill>
                <a:uFill>
                  <a:solidFill>
                    <a:srgbClr val="1C1572"/>
                  </a:solidFill>
                </a:uFill>
                <a:latin typeface="Calibri"/>
                <a:cs typeface="Calibri"/>
              </a:rPr>
              <a:t>forward</a:t>
            </a:r>
            <a:r>
              <a:rPr dirty="0" sz="1300" spc="20" i="1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—</a:t>
            </a:r>
            <a:r>
              <a:rPr dirty="0" sz="130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step 2,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when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sending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application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sends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 channel,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messaging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system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stores the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-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sender’s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computer,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either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in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memory</a:t>
            </a:r>
            <a:r>
              <a:rPr dirty="0" sz="1300" spc="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or</a:t>
            </a:r>
            <a:r>
              <a:rPr dirty="0" sz="1300" spc="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</a:t>
            </a:r>
            <a:r>
              <a:rPr dirty="0" sz="1300" spc="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1C1572"/>
                </a:solidFill>
                <a:latin typeface="Calibri"/>
                <a:cs typeface="Calibri"/>
              </a:rPr>
              <a:t>disk.</a:t>
            </a:r>
            <a:endParaRPr sz="1300">
              <a:latin typeface="Calibri"/>
              <a:cs typeface="Calibri"/>
            </a:endParaRPr>
          </a:p>
          <a:p>
            <a:pPr marL="241300" marR="452120" indent="-229235">
              <a:lnSpc>
                <a:spcPct val="101499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  <a:tab pos="295910" algn="l"/>
              </a:tabLst>
            </a:pPr>
            <a:r>
              <a:rPr dirty="0" sz="1300">
                <a:solidFill>
                  <a:srgbClr val="1C1572"/>
                </a:solidFill>
                <a:latin typeface="Times New Roman"/>
                <a:cs typeface="Times New Roman"/>
              </a:rPr>
              <a:t>	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In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step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3,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messaging</a:t>
            </a:r>
            <a:r>
              <a:rPr dirty="0" sz="1300" spc="-3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system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delivers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by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forwarding</a:t>
            </a:r>
            <a:r>
              <a:rPr dirty="0" sz="1300" spc="-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it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from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 sender’s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computer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receiver’s computer,</a:t>
            </a:r>
            <a:r>
              <a:rPr dirty="0" sz="1300" spc="-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and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then stores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message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once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again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the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receiver’s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computer.</a:t>
            </a:r>
            <a:endParaRPr sz="1300">
              <a:latin typeface="Calibri"/>
              <a:cs typeface="Calibri"/>
            </a:endParaRPr>
          </a:p>
          <a:p>
            <a:pPr marL="295910" marR="5080" indent="-283845">
              <a:lnSpc>
                <a:spcPct val="101499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This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store-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and-forward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process</a:t>
            </a:r>
            <a:r>
              <a:rPr dirty="0" sz="1300" spc="3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may</a:t>
            </a:r>
            <a:r>
              <a:rPr dirty="0" sz="1300" spc="-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be</a:t>
            </a:r>
            <a:r>
              <a:rPr dirty="0" sz="1300" spc="2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repeated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many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times,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as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 message is</a:t>
            </a:r>
            <a:r>
              <a:rPr dirty="0" sz="1300" spc="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moved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from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one computer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to</a:t>
            </a:r>
            <a:r>
              <a:rPr dirty="0" sz="1300" spc="1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another,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 until</a:t>
            </a:r>
            <a:r>
              <a:rPr dirty="0" sz="1300" spc="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1C1572"/>
                </a:solidFill>
                <a:latin typeface="Calibri"/>
                <a:cs typeface="Calibri"/>
              </a:rPr>
              <a:t>it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reaches</a:t>
            </a:r>
            <a:r>
              <a:rPr dirty="0" sz="1300" spc="-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the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1C1572"/>
                </a:solidFill>
                <a:latin typeface="Calibri"/>
                <a:cs typeface="Calibri"/>
              </a:rPr>
              <a:t>receiver’s</a:t>
            </a:r>
            <a:r>
              <a:rPr dirty="0" sz="1300" spc="25">
                <a:solidFill>
                  <a:srgbClr val="1C1572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C1572"/>
                </a:solidFill>
                <a:latin typeface="Calibri"/>
                <a:cs typeface="Calibri"/>
              </a:rPr>
              <a:t>computer.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What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Messaging?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815084"/>
            <a:ext cx="9431020" cy="4901565"/>
            <a:chOff x="0" y="1815084"/>
            <a:chExt cx="9431020" cy="49015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815084"/>
              <a:ext cx="6094476" cy="201167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6932" y="3695700"/>
              <a:ext cx="5783580" cy="30205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791038"/>
            <a:ext cx="9700260" cy="378841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Remote</a:t>
            </a:r>
            <a:r>
              <a:rPr dirty="0" u="sng" sz="1650" spc="-4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Communication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enables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separate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communicate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transfer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data.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Two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objects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reside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same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process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simply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share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same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memory.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Platform/Language</a:t>
            </a:r>
            <a:r>
              <a:rPr dirty="0" u="sng" sz="1650" spc="-114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Integration</a:t>
            </a:r>
            <a:endParaRPr sz="1650">
              <a:latin typeface="Arial MT"/>
              <a:cs typeface="Arial MT"/>
            </a:endParaRPr>
          </a:p>
          <a:p>
            <a:pPr marL="201295" marR="5080" indent="-189230">
              <a:lnSpc>
                <a:spcPct val="9000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14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universal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translator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between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works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with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each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one’s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language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platform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own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terms,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yet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allows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them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all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communicate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through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common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paradigm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Asynchronous</a:t>
            </a:r>
            <a:r>
              <a:rPr dirty="0" u="sng" sz="1650" spc="-5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Communication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enables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 send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forget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approach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communication.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does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not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wait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receive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process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message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 spc="-10"/>
              <a:t>Messaging?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791038"/>
            <a:ext cx="9836150" cy="43465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Char char="•"/>
              <a:tabLst>
                <a:tab pos="201930" algn="l"/>
              </a:tabLst>
            </a:pPr>
            <a:r>
              <a:rPr dirty="0" u="sng" sz="1650" spc="-2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Variable</a:t>
            </a:r>
            <a:r>
              <a:rPr dirty="0" u="sng" sz="1650" spc="-3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Timing</a:t>
            </a:r>
            <a:endParaRPr sz="1650">
              <a:latin typeface="Arial MT"/>
              <a:cs typeface="Arial MT"/>
            </a:endParaRPr>
          </a:p>
          <a:p>
            <a:pPr marL="201295" marR="276225" indent="-189230">
              <a:lnSpc>
                <a:spcPts val="1789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allows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batch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requests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at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own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pace,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to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consume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requests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at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own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different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pace.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Throttling</a:t>
            </a:r>
            <a:endParaRPr sz="1650">
              <a:latin typeface="Arial MT"/>
              <a:cs typeface="Arial MT"/>
            </a:endParaRPr>
          </a:p>
          <a:p>
            <a:pPr marL="201295" marR="5080" indent="-189230">
              <a:lnSpc>
                <a:spcPts val="178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Asynchronous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communication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enables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control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rate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at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which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consumes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requests,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so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not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become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overloaded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by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too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many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simultaneous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requests.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Reliable</a:t>
            </a:r>
            <a:r>
              <a:rPr dirty="0" u="sng" sz="1650" spc="-2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Communication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provides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reliable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delivery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remote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procedure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call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(RPC)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cannot.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Disconnected</a:t>
            </a:r>
            <a:r>
              <a:rPr dirty="0" u="sng" sz="1650" spc="-6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Operation</a:t>
            </a:r>
            <a:endParaRPr sz="1650">
              <a:latin typeface="Arial MT"/>
              <a:cs typeface="Arial MT"/>
            </a:endParaRPr>
          </a:p>
          <a:p>
            <a:pPr marL="201295" marR="267970" indent="-189230">
              <a:lnSpc>
                <a:spcPts val="178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Some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are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specifically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designed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run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disconnected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network,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yet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synchronize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with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servers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when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network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connection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is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available.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 spc="-10"/>
              <a:t>Messaging?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791038"/>
            <a:ext cx="9893300" cy="213360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Char char="•"/>
              <a:tabLst>
                <a:tab pos="201930" algn="l"/>
              </a:tabLst>
            </a:pP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Mediation</a:t>
            </a:r>
            <a:endParaRPr sz="1650">
              <a:latin typeface="Arial MT"/>
              <a:cs typeface="Arial MT"/>
            </a:endParaRPr>
          </a:p>
          <a:p>
            <a:pPr marL="201295" marR="5080" indent="-189230">
              <a:lnSpc>
                <a:spcPts val="1789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system acts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mediator—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Mediator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pattern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-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between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all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programs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that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send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receive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messages.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Thread</a:t>
            </a:r>
            <a:r>
              <a:rPr dirty="0" u="sng" sz="1650" spc="-5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Management</a:t>
            </a:r>
            <a:endParaRPr sz="1650">
              <a:latin typeface="Arial MT"/>
              <a:cs typeface="Arial MT"/>
            </a:endParaRPr>
          </a:p>
          <a:p>
            <a:pPr marL="201295" marR="624205" indent="-189230">
              <a:lnSpc>
                <a:spcPts val="178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Asynchronous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communication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means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does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not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block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while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waiting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for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another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perform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 task,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unless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wants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to.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 spc="-10"/>
              <a:t>Messaging?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39184"/>
            <a:ext cx="6070092" cy="207416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0676" y="4201667"/>
            <a:ext cx="3733654" cy="164829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69433"/>
            <a:ext cx="9886315" cy="228219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1295" marR="5080" indent="-189230">
              <a:lnSpc>
                <a:spcPts val="1789"/>
              </a:lnSpc>
              <a:spcBef>
                <a:spcPts val="325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Integrated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are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independent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each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run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by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itself,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but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coordinate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with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each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loosely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coupled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way.</a:t>
            </a:r>
            <a:endParaRPr sz="1650">
              <a:latin typeface="Arial MT"/>
              <a:cs typeface="Arial MT"/>
            </a:endParaRPr>
          </a:p>
          <a:p>
            <a:pPr marL="201295" marR="377190" indent="-189230">
              <a:lnSpc>
                <a:spcPts val="1780"/>
              </a:lnSpc>
              <a:spcBef>
                <a:spcPts val="82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This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enables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each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focus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comprehensive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set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functionality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yet delegate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to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related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functionality.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0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Integrated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communicating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asynchronously</a:t>
            </a:r>
            <a:r>
              <a:rPr dirty="0" sz="1650" spc="-7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don’t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wait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response.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They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proceed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without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response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or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perform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tasks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concurrently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until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response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available.</a:t>
            </a:r>
            <a:endParaRPr sz="1650">
              <a:latin typeface="Arial MT"/>
              <a:cs typeface="Arial MT"/>
            </a:endParaRPr>
          </a:p>
          <a:p>
            <a:pPr marL="201295" marR="47625" indent="-189230">
              <a:lnSpc>
                <a:spcPts val="1789"/>
              </a:lnSpc>
              <a:spcBef>
                <a:spcPts val="84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Integrated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tend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broad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time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constraint,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such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they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work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tasks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until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result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becomes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available.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Integrated</a:t>
            </a:r>
            <a:r>
              <a:rPr dirty="0" spc="-140"/>
              <a:t> </a:t>
            </a:r>
            <a:r>
              <a:rPr dirty="0" spc="-10"/>
              <a:t>Applications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1747" y="3950208"/>
            <a:ext cx="3922775" cy="271881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69433"/>
            <a:ext cx="9852660" cy="472059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1295" marR="5080" indent="-189230">
              <a:lnSpc>
                <a:spcPts val="1789"/>
              </a:lnSpc>
              <a:spcBef>
                <a:spcPts val="325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apparent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benefits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integrating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systems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using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asynchronous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solution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opened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up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significant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market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software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vendors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creating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middleware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associated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tools.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group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vendors’</a:t>
            </a:r>
            <a:r>
              <a:rPr dirty="0" sz="1650" spc="-10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products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following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four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categories: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1.</a:t>
            </a:r>
            <a:r>
              <a:rPr dirty="0" u="sng" sz="1650" spc="-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Operating</a:t>
            </a:r>
            <a:r>
              <a:rPr dirty="0" u="sng" sz="1650" spc="-6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Systems</a:t>
            </a:r>
            <a:r>
              <a:rPr dirty="0" u="sng" sz="1650" spc="-2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:</a:t>
            </a:r>
            <a:endParaRPr sz="1650">
              <a:latin typeface="Arial MT"/>
              <a:cs typeface="Arial MT"/>
            </a:endParaRPr>
          </a:p>
          <a:p>
            <a:pPr marL="201295" marR="485775" indent="-189230">
              <a:lnSpc>
                <a:spcPts val="178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has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become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such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common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need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vendors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started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integrate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necessary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software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infrastructure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into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operating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database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platform.</a:t>
            </a:r>
            <a:endParaRPr sz="1650">
              <a:latin typeface="Arial MT"/>
              <a:cs typeface="Arial MT"/>
            </a:endParaRPr>
          </a:p>
          <a:p>
            <a:pPr marL="201295" marR="344805" indent="-189230">
              <a:lnSpc>
                <a:spcPts val="1789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example,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Microsoft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Windows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2000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Windows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XP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operating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systems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include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Microsoft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Queuing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(MSMQ)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service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software.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9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Oracle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offers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Oracle</a:t>
            </a:r>
            <a:r>
              <a:rPr dirty="0" sz="1650" spc="-1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AQ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part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6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database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platform.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2.</a:t>
            </a:r>
            <a:r>
              <a:rPr dirty="0" u="sng" sz="1650" spc="-10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Application</a:t>
            </a:r>
            <a:r>
              <a:rPr dirty="0" u="sng" sz="1650" spc="-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Servers:</a:t>
            </a:r>
            <a:endParaRPr sz="1650">
              <a:latin typeface="Arial MT"/>
              <a:cs typeface="Arial MT"/>
            </a:endParaRPr>
          </a:p>
          <a:p>
            <a:pPr marL="201295" marR="406400" indent="-189230">
              <a:lnSpc>
                <a:spcPts val="1780"/>
              </a:lnSpc>
              <a:spcBef>
                <a:spcPts val="85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Sun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Microsystems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first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incorporated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Java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Service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(JMS)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into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version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1.2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J2EE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specification.</a:t>
            </a:r>
            <a:endParaRPr sz="1650">
              <a:latin typeface="Arial MT"/>
              <a:cs typeface="Arial MT"/>
            </a:endParaRPr>
          </a:p>
          <a:p>
            <a:pPr marL="201295" marR="1163320" indent="-189230">
              <a:lnSpc>
                <a:spcPts val="178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Now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all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J2EE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servers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such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IBM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WebSphere,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BEA</a:t>
            </a:r>
            <a:r>
              <a:rPr dirty="0" sz="1650" spc="-114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WebLogic,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etc.</a:t>
            </a:r>
            <a:r>
              <a:rPr dirty="0" sz="1650" spc="409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provide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an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implementation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this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specification.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Commercial</a:t>
            </a:r>
            <a:r>
              <a:rPr dirty="0" spc="-160"/>
              <a:t> </a:t>
            </a:r>
            <a:r>
              <a:rPr dirty="0"/>
              <a:t>Messaging</a:t>
            </a:r>
            <a:r>
              <a:rPr dirty="0" spc="-16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791038"/>
            <a:ext cx="9909810" cy="46767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3.</a:t>
            </a:r>
            <a:r>
              <a:rPr dirty="0" u="sng" sz="1650" spc="-3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EAI</a:t>
            </a:r>
            <a:r>
              <a:rPr dirty="0" u="sng" sz="1650" spc="-1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Suites:</a:t>
            </a:r>
            <a:endParaRPr sz="1650">
              <a:latin typeface="Arial MT"/>
              <a:cs typeface="Arial MT"/>
            </a:endParaRPr>
          </a:p>
          <a:p>
            <a:pPr marL="201295" marR="65405" indent="-189230">
              <a:lnSpc>
                <a:spcPts val="1789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Products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these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vendors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offer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proprietary—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but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functionally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rich—suites</a:t>
            </a:r>
            <a:r>
              <a:rPr dirty="0" sz="1650" spc="-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encompass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messaging,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business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process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automation,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workflow,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portals,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functions.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59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Key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players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this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marketplace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are</a:t>
            </a:r>
            <a:endParaRPr sz="1650">
              <a:latin typeface="Arial MT"/>
              <a:cs typeface="Arial MT"/>
            </a:endParaRPr>
          </a:p>
          <a:p>
            <a:pPr marL="391160" indent="-37846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9116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IBM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WebSphere</a:t>
            </a:r>
            <a:r>
              <a:rPr dirty="0" sz="1650" spc="-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MQ,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Microsoft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BizTalk,</a:t>
            </a:r>
            <a:endParaRPr sz="1650">
              <a:latin typeface="Arial MT"/>
              <a:cs typeface="Arial MT"/>
            </a:endParaRPr>
          </a:p>
          <a:p>
            <a:pPr marL="391160" indent="-37846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39116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TIBCO,</a:t>
            </a:r>
            <a:r>
              <a:rPr dirty="0" sz="1650" spc="-8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WebMethods,</a:t>
            </a:r>
            <a:r>
              <a:rPr dirty="0" sz="1650" spc="-10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SeeBeyond,</a:t>
            </a:r>
            <a:endParaRPr sz="1650">
              <a:latin typeface="Arial MT"/>
              <a:cs typeface="Arial MT"/>
            </a:endParaRPr>
          </a:p>
          <a:p>
            <a:pPr marL="391160" indent="-37846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9116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Vitria,</a:t>
            </a:r>
            <a:r>
              <a:rPr dirty="0" sz="16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CrossWorlds,</a:t>
            </a:r>
            <a:r>
              <a:rPr dirty="0" sz="1650" spc="-7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others.</a:t>
            </a:r>
            <a:endParaRPr sz="1650">
              <a:latin typeface="Arial MT"/>
              <a:cs typeface="Arial MT"/>
            </a:endParaRPr>
          </a:p>
          <a:p>
            <a:pPr lvl="1"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Many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these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products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include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JMS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many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client</a:t>
            </a:r>
            <a:r>
              <a:rPr dirty="0" sz="1650" spc="-1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API’s</a:t>
            </a:r>
            <a:r>
              <a:rPr dirty="0" sz="1650" spc="-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they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support.</a:t>
            </a:r>
            <a:endParaRPr sz="16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40"/>
              </a:spcBef>
              <a:buClr>
                <a:srgbClr val="150860"/>
              </a:buClr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lvl="1" marL="201930" indent="-189230">
              <a:lnSpc>
                <a:spcPct val="100000"/>
              </a:lnSpc>
              <a:spcBef>
                <a:spcPts val="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4.</a:t>
            </a:r>
            <a:r>
              <a:rPr dirty="0" u="sng" sz="1650" spc="-2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Web</a:t>
            </a:r>
            <a:r>
              <a:rPr dirty="0" u="sng" sz="1650" spc="-4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Services</a:t>
            </a:r>
            <a:r>
              <a:rPr dirty="0" u="sng" sz="1650" spc="-8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Toolkits:</a:t>
            </a:r>
            <a:endParaRPr sz="1650">
              <a:latin typeface="Arial MT"/>
              <a:cs typeface="Arial MT"/>
            </a:endParaRPr>
          </a:p>
          <a:p>
            <a:pPr lvl="1" marL="201930" indent="-189230">
              <a:lnSpc>
                <a:spcPct val="100000"/>
              </a:lnSpc>
              <a:spcBef>
                <a:spcPts val="625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Web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services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garnered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lot of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interest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enterprise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integration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communities.</a:t>
            </a:r>
            <a:endParaRPr sz="1650">
              <a:latin typeface="Arial MT"/>
              <a:cs typeface="Arial MT"/>
            </a:endParaRPr>
          </a:p>
          <a:p>
            <a:pPr lvl="1" marL="201295" marR="371475" indent="-189230">
              <a:lnSpc>
                <a:spcPts val="1789"/>
              </a:lnSpc>
              <a:spcBef>
                <a:spcPts val="840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Standards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bodies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consortia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are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actively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working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650" spc="-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standardizing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reliable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650" spc="-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delivery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150860"/>
                </a:solidFill>
                <a:latin typeface="Arial MT"/>
                <a:cs typeface="Arial MT"/>
              </a:rPr>
              <a:t>over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web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services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(i.e.,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WS-Reliability,WS-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ReliableMessaging,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ebMS).</a:t>
            </a:r>
            <a:endParaRPr sz="1650">
              <a:latin typeface="Arial MT"/>
              <a:cs typeface="Arial MT"/>
            </a:endParaRPr>
          </a:p>
          <a:p>
            <a:pPr lvl="1" marL="201295" marR="5080" indent="-189230">
              <a:lnSpc>
                <a:spcPts val="178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650" spc="-1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growing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number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vendors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offer</a:t>
            </a:r>
            <a:r>
              <a:rPr dirty="0" sz="1650" spc="-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tools</a:t>
            </a:r>
            <a:r>
              <a:rPr dirty="0" sz="1650" spc="-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implement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routing,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transformation,</a:t>
            </a:r>
            <a:r>
              <a:rPr dirty="0" sz="16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management</a:t>
            </a:r>
            <a:r>
              <a:rPr dirty="0" sz="16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150860"/>
                </a:solidFill>
                <a:latin typeface="Arial MT"/>
                <a:cs typeface="Arial MT"/>
              </a:rPr>
              <a:t>web </a:t>
            </a:r>
            <a:r>
              <a:rPr dirty="0" sz="1650">
                <a:solidFill>
                  <a:srgbClr val="150860"/>
                </a:solidFill>
                <a:latin typeface="Arial MT"/>
                <a:cs typeface="Arial MT"/>
              </a:rPr>
              <a:t>services-based</a:t>
            </a:r>
            <a:r>
              <a:rPr dirty="0" sz="1650" spc="-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50860"/>
                </a:solidFill>
                <a:latin typeface="Arial MT"/>
                <a:cs typeface="Arial MT"/>
              </a:rPr>
              <a:t>solutions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Commercial</a:t>
            </a:r>
            <a:r>
              <a:rPr dirty="0" spc="-160"/>
              <a:t> </a:t>
            </a:r>
            <a:r>
              <a:rPr dirty="0"/>
              <a:t>Messaging</a:t>
            </a:r>
            <a:r>
              <a:rPr dirty="0" spc="-16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118" y="1851234"/>
            <a:ext cx="9417050" cy="327787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310515">
              <a:lnSpc>
                <a:spcPct val="100000"/>
              </a:lnSpc>
              <a:spcBef>
                <a:spcPts val="1230"/>
              </a:spcBef>
            </a:pP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Introduction</a:t>
            </a:r>
            <a:endParaRPr sz="1650">
              <a:latin typeface="Arial"/>
              <a:cs typeface="Arial"/>
            </a:endParaRPr>
          </a:p>
          <a:p>
            <a:pPr marL="225425" marR="170815" indent="-187960">
              <a:lnSpc>
                <a:spcPts val="1610"/>
              </a:lnSpc>
              <a:spcBef>
                <a:spcPts val="1215"/>
              </a:spcBef>
              <a:buChar char="•"/>
              <a:tabLst>
                <a:tab pos="2266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integration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framework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composed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collection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technologies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services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which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form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middleware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or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"middleware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framework"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7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enable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integration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systems</a:t>
            </a:r>
            <a:r>
              <a:rPr dirty="0" sz="1450" spc="10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across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enterprise</a:t>
            </a:r>
            <a:endParaRPr sz="1450">
              <a:latin typeface="Arial MT"/>
              <a:cs typeface="Arial MT"/>
            </a:endParaRPr>
          </a:p>
          <a:p>
            <a:pPr marL="225425" marR="30480" indent="-187960">
              <a:lnSpc>
                <a:spcPts val="1600"/>
              </a:lnSpc>
              <a:spcBef>
                <a:spcPts val="835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"unrestricted</a:t>
            </a:r>
            <a:r>
              <a:rPr dirty="0" sz="1450" spc="3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sharing</a:t>
            </a:r>
            <a:r>
              <a:rPr dirty="0" sz="1450" spc="5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of</a:t>
            </a:r>
            <a:r>
              <a:rPr dirty="0" sz="1450" spc="7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data</a:t>
            </a:r>
            <a:r>
              <a:rPr dirty="0" sz="1450" spc="5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and</a:t>
            </a:r>
            <a:r>
              <a:rPr dirty="0" sz="1450" spc="5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business</a:t>
            </a:r>
            <a:r>
              <a:rPr dirty="0" sz="1450" spc="3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processes</a:t>
            </a:r>
            <a:r>
              <a:rPr dirty="0" sz="1450" spc="3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among</a:t>
            </a:r>
            <a:r>
              <a:rPr dirty="0" sz="1450" spc="5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any</a:t>
            </a:r>
            <a:r>
              <a:rPr dirty="0" sz="1450" spc="3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connected</a:t>
            </a:r>
            <a:r>
              <a:rPr dirty="0" sz="1450" spc="3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application</a:t>
            </a:r>
            <a:r>
              <a:rPr dirty="0" sz="1450" spc="2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or</a:t>
            </a:r>
            <a:r>
              <a:rPr dirty="0" sz="1450" spc="4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data</a:t>
            </a:r>
            <a:r>
              <a:rPr dirty="0" sz="1450" spc="5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sources</a:t>
            </a:r>
            <a:r>
              <a:rPr dirty="0" sz="1450" spc="4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in</a:t>
            </a:r>
            <a:r>
              <a:rPr dirty="0" sz="1450" spc="55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spc="-25" i="1">
                <a:solidFill>
                  <a:srgbClr val="150860"/>
                </a:solidFill>
                <a:latin typeface="Arial"/>
                <a:cs typeface="Arial"/>
              </a:rPr>
              <a:t>the </a:t>
            </a:r>
            <a:r>
              <a:rPr dirty="0" sz="1450" spc="-25" i="1">
                <a:solidFill>
                  <a:srgbClr val="150860"/>
                </a:solidFill>
                <a:latin typeface="Arial"/>
                <a:cs typeface="Arial"/>
              </a:rPr>
              <a:t>	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enterprise”</a:t>
            </a:r>
            <a:r>
              <a:rPr dirty="0" sz="1450" spc="4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150860"/>
                </a:solidFill>
                <a:latin typeface="Arial"/>
                <a:cs typeface="Arial"/>
              </a:rPr>
              <a:t>-</a:t>
            </a:r>
            <a:r>
              <a:rPr dirty="0" sz="1450" spc="20" i="1">
                <a:solidFill>
                  <a:srgbClr val="150860"/>
                </a:solidFill>
                <a:latin typeface="Arial"/>
                <a:cs typeface="Arial"/>
              </a:rPr>
              <a:t> </a:t>
            </a:r>
            <a:r>
              <a:rPr dirty="0" sz="1450" spc="-10" i="1">
                <a:solidFill>
                  <a:srgbClr val="150860"/>
                </a:solidFill>
                <a:latin typeface="Arial"/>
                <a:cs typeface="Arial"/>
              </a:rPr>
              <a:t>Gartner</a:t>
            </a:r>
            <a:endParaRPr sz="1450">
              <a:latin typeface="Arial"/>
              <a:cs typeface="Arial"/>
            </a:endParaRPr>
          </a:p>
          <a:p>
            <a:pPr marL="226060" indent="-187960">
              <a:lnSpc>
                <a:spcPct val="100000"/>
              </a:lnSpc>
              <a:spcBef>
                <a:spcPts val="660"/>
              </a:spcBef>
              <a:buChar char="•"/>
              <a:tabLst>
                <a:tab pos="2260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9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EAI</a:t>
            </a:r>
            <a:endParaRPr sz="1450">
              <a:latin typeface="Arial MT"/>
              <a:cs typeface="Arial MT"/>
            </a:endParaRPr>
          </a:p>
          <a:p>
            <a:pPr lvl="1" marL="603250" indent="-187325">
              <a:lnSpc>
                <a:spcPct val="100000"/>
              </a:lnSpc>
              <a:spcBef>
                <a:spcPts val="280"/>
              </a:spcBef>
              <a:buChar char="•"/>
              <a:tabLst>
                <a:tab pos="6032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30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integration</a:t>
            </a:r>
            <a:endParaRPr sz="1300">
              <a:latin typeface="Arial MT"/>
              <a:cs typeface="Arial MT"/>
            </a:endParaRPr>
          </a:p>
          <a:p>
            <a:pPr lvl="1" marL="603250" indent="-187325">
              <a:lnSpc>
                <a:spcPct val="100000"/>
              </a:lnSpc>
              <a:spcBef>
                <a:spcPts val="280"/>
              </a:spcBef>
              <a:buChar char="•"/>
              <a:tabLst>
                <a:tab pos="6032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Vendor/3</a:t>
            </a:r>
            <a:r>
              <a:rPr dirty="0" baseline="26143" sz="1275">
                <a:solidFill>
                  <a:srgbClr val="150860"/>
                </a:solidFill>
                <a:latin typeface="Arial MT"/>
                <a:cs typeface="Arial MT"/>
              </a:rPr>
              <a:t>rd</a:t>
            </a:r>
            <a:r>
              <a:rPr dirty="0" baseline="26143" sz="1275" spc="179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party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independence</a:t>
            </a:r>
            <a:endParaRPr sz="1300">
              <a:latin typeface="Arial MT"/>
              <a:cs typeface="Arial MT"/>
            </a:endParaRPr>
          </a:p>
          <a:p>
            <a:pPr lvl="1" marL="603250" indent="-187325">
              <a:lnSpc>
                <a:spcPct val="100000"/>
              </a:lnSpc>
              <a:spcBef>
                <a:spcPts val="275"/>
              </a:spcBef>
              <a:buChar char="•"/>
              <a:tabLst>
                <a:tab pos="6032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Common</a:t>
            </a:r>
            <a:r>
              <a:rPr dirty="0" sz="130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façade</a:t>
            </a:r>
            <a:endParaRPr sz="1300">
              <a:latin typeface="Arial MT"/>
              <a:cs typeface="Arial MT"/>
            </a:endParaRPr>
          </a:p>
          <a:p>
            <a:pPr marL="226060" indent="-187960">
              <a:lnSpc>
                <a:spcPct val="100000"/>
              </a:lnSpc>
              <a:spcBef>
                <a:spcPts val="675"/>
              </a:spcBef>
              <a:buChar char="•"/>
              <a:tabLst>
                <a:tab pos="226060" algn="l"/>
              </a:tabLst>
            </a:pP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Patterns</a:t>
            </a:r>
            <a:endParaRPr sz="1450">
              <a:latin typeface="Arial MT"/>
              <a:cs typeface="Arial MT"/>
            </a:endParaRPr>
          </a:p>
          <a:p>
            <a:pPr lvl="1" marL="603250" indent="-187325">
              <a:lnSpc>
                <a:spcPct val="100000"/>
              </a:lnSpc>
              <a:spcBef>
                <a:spcPts val="295"/>
              </a:spcBef>
              <a:buChar char="•"/>
              <a:tabLst>
                <a:tab pos="603250" algn="l"/>
              </a:tabLst>
            </a:pP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Mediation</a:t>
            </a:r>
            <a:endParaRPr sz="1300">
              <a:latin typeface="Arial MT"/>
              <a:cs typeface="Arial MT"/>
            </a:endParaRPr>
          </a:p>
          <a:p>
            <a:pPr lvl="1" marL="603250" indent="-187325">
              <a:lnSpc>
                <a:spcPct val="100000"/>
              </a:lnSpc>
              <a:spcBef>
                <a:spcPts val="275"/>
              </a:spcBef>
              <a:buChar char="•"/>
              <a:tabLst>
                <a:tab pos="603250" algn="l"/>
              </a:tabLst>
            </a:pP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Federation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Enterprise</a:t>
            </a:r>
            <a:r>
              <a:rPr dirty="0" spc="-175"/>
              <a:t> </a:t>
            </a:r>
            <a:r>
              <a:rPr dirty="0"/>
              <a:t>Application</a:t>
            </a:r>
            <a:r>
              <a:rPr dirty="0" spc="-114"/>
              <a:t> </a:t>
            </a:r>
            <a:r>
              <a:rPr dirty="0"/>
              <a:t>Integration</a:t>
            </a:r>
            <a:r>
              <a:rPr dirty="0" spc="-95"/>
              <a:t> </a:t>
            </a:r>
            <a:r>
              <a:rPr dirty="0" spc="-10"/>
              <a:t>(EAI)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3284" y="3311652"/>
            <a:ext cx="3325916" cy="329115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18" y="1930432"/>
            <a:ext cx="9898380" cy="4491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Message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Channels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-</a:t>
            </a:r>
            <a:r>
              <a:rPr dirty="0" sz="1650" spc="-4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Basic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Messaging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Concepts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155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involves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certain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basic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concepts.</a:t>
            </a:r>
            <a:endParaRPr sz="1450">
              <a:latin typeface="Arial MT"/>
              <a:cs typeface="Arial MT"/>
            </a:endParaRPr>
          </a:p>
          <a:p>
            <a:pPr marL="200025" marR="79375" indent="-187960">
              <a:lnSpc>
                <a:spcPts val="161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Once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you</a:t>
            </a:r>
            <a:r>
              <a:rPr dirty="0" sz="1450" spc="8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understand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these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concepts,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you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make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sense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technology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even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before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you</a:t>
            </a:r>
            <a:r>
              <a:rPr dirty="0" sz="1450" spc="8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understand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all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the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details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about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use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it.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These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basic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concepts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are:</a:t>
            </a:r>
            <a:endParaRPr sz="1450">
              <a:latin typeface="Arial MT"/>
              <a:cs typeface="Arial MT"/>
            </a:endParaRPr>
          </a:p>
          <a:p>
            <a:pPr marL="200025" marR="363220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1.</a:t>
            </a:r>
            <a:r>
              <a:rPr dirty="0" u="sng" sz="1450" spc="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Channels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—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transmit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through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Channel,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virtual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pipe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connects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150860"/>
                </a:solidFill>
                <a:latin typeface="Arial MT"/>
                <a:cs typeface="Arial MT"/>
              </a:rPr>
              <a:t>a </a:t>
            </a:r>
            <a:r>
              <a:rPr dirty="0" sz="1450" spc="-5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receiver.</a:t>
            </a:r>
            <a:endParaRPr sz="1450">
              <a:latin typeface="Arial MT"/>
              <a:cs typeface="Arial MT"/>
            </a:endParaRPr>
          </a:p>
          <a:p>
            <a:pPr marL="200025" marR="98425" indent="-187960">
              <a:lnSpc>
                <a:spcPts val="16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newly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installed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450" spc="9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doesn’t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contain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any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channels;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you</a:t>
            </a:r>
            <a:r>
              <a:rPr dirty="0" sz="1450" spc="9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must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determine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your</a:t>
            </a:r>
            <a:r>
              <a:rPr dirty="0" sz="1450" spc="9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need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communicate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create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facilitate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it.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0"/>
              </a:spcBef>
              <a:buClr>
                <a:srgbClr val="15086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2.</a:t>
            </a:r>
            <a:r>
              <a:rPr dirty="0" u="sng" sz="1450" spc="4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Messages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—</a:t>
            </a:r>
            <a:r>
              <a:rPr dirty="0" sz="1450" spc="-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-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is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atomic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packet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transmitted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channel.</a:t>
            </a:r>
            <a:endParaRPr sz="1450">
              <a:latin typeface="Arial MT"/>
              <a:cs typeface="Arial MT"/>
            </a:endParaRPr>
          </a:p>
          <a:p>
            <a:pPr marL="200025" marR="814705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Thus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transmit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data,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 must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break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into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or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more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packets,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wrap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each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packet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150860"/>
                </a:solidFill>
                <a:latin typeface="Arial MT"/>
                <a:cs typeface="Arial MT"/>
              </a:rPr>
              <a:t>a </a:t>
            </a:r>
            <a:r>
              <a:rPr dirty="0" sz="1450" spc="-5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message,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channel.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Likewise,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must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extract</a:t>
            </a:r>
            <a:r>
              <a:rPr dirty="0" sz="1450" spc="8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process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it.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60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450" spc="8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will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try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repeatedly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deliver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(e.g.,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transmit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receiver)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until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succeeds.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Messaging</a:t>
            </a:r>
            <a:r>
              <a:rPr dirty="0" spc="-155"/>
              <a:t> </a:t>
            </a:r>
            <a:r>
              <a:rPr dirty="0" spc="-10"/>
              <a:t>System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18" y="1930432"/>
            <a:ext cx="9832975" cy="4388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Message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Channels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-</a:t>
            </a:r>
            <a:r>
              <a:rPr dirty="0" sz="1650" spc="-4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Basic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Messaging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Concepts</a:t>
            </a:r>
            <a:endParaRPr sz="1650">
              <a:latin typeface="Arial"/>
              <a:cs typeface="Arial"/>
            </a:endParaRPr>
          </a:p>
          <a:p>
            <a:pPr marL="200025" marR="259079" indent="-187960">
              <a:lnSpc>
                <a:spcPts val="1610"/>
              </a:lnSpc>
              <a:spcBef>
                <a:spcPts val="1714"/>
              </a:spcBef>
              <a:buChar char="•"/>
              <a:tabLst>
                <a:tab pos="201295" algn="l"/>
              </a:tabLst>
            </a:pP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3.</a:t>
            </a:r>
            <a:r>
              <a:rPr dirty="0" u="sng" sz="1450" spc="4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Multi-step</a:t>
            </a:r>
            <a:r>
              <a:rPr dirty="0" u="sng" sz="1450" spc="3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delivery</a:t>
            </a:r>
            <a:r>
              <a:rPr dirty="0" u="sng" sz="1450" spc="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—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simplest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case,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450" spc="10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delivers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directly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sender’s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computer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receiver’s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computer.</a:t>
            </a:r>
            <a:endParaRPr sz="1450">
              <a:latin typeface="Arial MT"/>
              <a:cs typeface="Arial MT"/>
            </a:endParaRPr>
          </a:p>
          <a:p>
            <a:pPr marL="200025" marR="276225" indent="-187960">
              <a:lnSpc>
                <a:spcPts val="1600"/>
              </a:lnSpc>
              <a:spcBef>
                <a:spcPts val="83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However,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actions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often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need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performed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after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by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original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but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before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is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received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by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final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receiver.</a:t>
            </a:r>
            <a:endParaRPr sz="1450">
              <a:latin typeface="Arial MT"/>
              <a:cs typeface="Arial MT"/>
            </a:endParaRPr>
          </a:p>
          <a:p>
            <a:pPr marL="200025" marR="573405" indent="-187960">
              <a:lnSpc>
                <a:spcPts val="160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example,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may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validated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or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transformed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because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expects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different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format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than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sender.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6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-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Pipes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Filters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architecture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describes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multiple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processing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steps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chained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together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using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channels.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0"/>
              </a:spcBef>
              <a:buClr>
                <a:srgbClr val="15086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610"/>
              </a:lnSpc>
              <a:buChar char="•"/>
              <a:tabLst>
                <a:tab pos="201295" algn="l"/>
              </a:tabLst>
            </a:pP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4.</a:t>
            </a:r>
            <a:r>
              <a:rPr dirty="0" u="sng" sz="1450" spc="4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Routing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—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large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enterprise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with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numerous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channels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connect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them,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may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have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go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through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several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reach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final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destination.</a:t>
            </a:r>
            <a:endParaRPr sz="1450">
              <a:latin typeface="Arial MT"/>
              <a:cs typeface="Arial MT"/>
            </a:endParaRPr>
          </a:p>
          <a:p>
            <a:pPr marL="200025" marR="140335" indent="-187960">
              <a:lnSpc>
                <a:spcPts val="161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route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must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follow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may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so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complex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original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does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not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know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what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will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get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final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receiver.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6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Instead,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original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sender</a:t>
            </a:r>
            <a:r>
              <a:rPr dirty="0" sz="1450" spc="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sends</a:t>
            </a:r>
            <a:r>
              <a:rPr dirty="0" sz="14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Arial MT"/>
                <a:cs typeface="Arial MT"/>
              </a:rPr>
              <a:t>Router.</a:t>
            </a:r>
            <a:endParaRPr sz="1450">
              <a:latin typeface="Arial MT"/>
              <a:cs typeface="Arial MT"/>
            </a:endParaRPr>
          </a:p>
          <a:p>
            <a:pPr marL="200025" marR="255904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component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filter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pipes-and-filters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architecture,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which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will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determine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navigate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the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topology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direct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final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receiver,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or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least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next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router.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10"/>
              </a:spcBef>
            </a:pPr>
            <a:r>
              <a:rPr dirty="0" sz="2050"/>
              <a:t>Messaging</a:t>
            </a:r>
            <a:r>
              <a:rPr dirty="0" sz="2050" spc="-40"/>
              <a:t> </a:t>
            </a:r>
            <a:r>
              <a:rPr dirty="0" sz="2050"/>
              <a:t>System</a:t>
            </a:r>
            <a:r>
              <a:rPr dirty="0" sz="2050" spc="-15"/>
              <a:t> </a:t>
            </a:r>
            <a:r>
              <a:rPr dirty="0" sz="2050"/>
              <a:t>-</a:t>
            </a:r>
            <a:r>
              <a:rPr dirty="0" sz="2050" spc="-5"/>
              <a:t> </a:t>
            </a:r>
            <a:r>
              <a:rPr dirty="0" sz="2050"/>
              <a:t>Enterprise</a:t>
            </a:r>
            <a:r>
              <a:rPr dirty="0" sz="2050" spc="-130"/>
              <a:t> </a:t>
            </a:r>
            <a:r>
              <a:rPr dirty="0" sz="2050"/>
              <a:t>Application</a:t>
            </a:r>
            <a:r>
              <a:rPr dirty="0" sz="2050" spc="-40"/>
              <a:t> </a:t>
            </a:r>
            <a:r>
              <a:rPr dirty="0" sz="2050"/>
              <a:t>Integration</a:t>
            </a:r>
            <a:r>
              <a:rPr dirty="0" sz="2050" spc="-15"/>
              <a:t> </a:t>
            </a:r>
            <a:r>
              <a:rPr dirty="0" sz="2050" spc="-10"/>
              <a:t>(EAI)</a:t>
            </a:r>
            <a:endParaRPr sz="205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18" y="1930432"/>
            <a:ext cx="9650730" cy="3160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Message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Channels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-</a:t>
            </a:r>
            <a:r>
              <a:rPr dirty="0" sz="1650" spc="-4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Basic</a:t>
            </a:r>
            <a:r>
              <a:rPr dirty="0" sz="1650" spc="-6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Messaging</a:t>
            </a:r>
            <a:r>
              <a:rPr dirty="0" sz="1650" spc="-55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Concepts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1555"/>
              </a:spcBef>
              <a:buChar char="•"/>
              <a:tabLst>
                <a:tab pos="200660" algn="l"/>
              </a:tabLst>
            </a:pP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5. Transformation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—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Various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applications</a:t>
            </a:r>
            <a:r>
              <a:rPr dirty="0" sz="14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may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agree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format</a:t>
            </a:r>
            <a:r>
              <a:rPr dirty="0" sz="14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same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conceptual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4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formats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way,</a:t>
            </a:r>
            <a:r>
              <a:rPr dirty="0" sz="1450" spc="7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yet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receiver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expects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formatted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another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way.</a:t>
            </a:r>
            <a:endParaRPr sz="1450">
              <a:latin typeface="Arial MT"/>
              <a:cs typeface="Arial MT"/>
            </a:endParaRPr>
          </a:p>
          <a:p>
            <a:pPr marL="200025" marR="335280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 spc="-45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reconcile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this,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must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go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through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intermediate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filter,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Message Translator,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converts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FF0000"/>
                </a:solidFill>
                <a:latin typeface="Arial MT"/>
                <a:cs typeface="Arial MT"/>
              </a:rPr>
              <a:t>the </a:t>
            </a:r>
            <a:r>
              <a:rPr dirty="0" sz="1450" spc="-25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45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dirty="0" sz="1450" spc="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format</a:t>
            </a:r>
            <a:r>
              <a:rPr dirty="0" sz="14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Arial MT"/>
                <a:cs typeface="Arial MT"/>
              </a:rPr>
              <a:t>another.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20"/>
              </a:spcBef>
              <a:buClr>
                <a:srgbClr val="150860"/>
              </a:buClr>
              <a:buFont typeface="Arial MT"/>
              <a:buChar char="•"/>
            </a:pP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6.</a:t>
            </a:r>
            <a:r>
              <a:rPr dirty="0" u="sng" sz="1450" spc="45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150860"/>
                </a:solidFill>
                <a:uFill>
                  <a:solidFill>
                    <a:srgbClr val="150860"/>
                  </a:solidFill>
                </a:uFill>
                <a:latin typeface="Arial MT"/>
                <a:cs typeface="Arial MT"/>
              </a:rPr>
              <a:t>Endpoints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—</a:t>
            </a:r>
            <a:r>
              <a:rPr dirty="0" sz="1450" spc="-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does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not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some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built-in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capability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interface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with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system.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Rather,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must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contain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layer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code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knows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both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 works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how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system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works,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bridging</a:t>
            </a:r>
            <a:r>
              <a:rPr dirty="0" sz="14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two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so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they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work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together.</a:t>
            </a:r>
            <a:endParaRPr sz="1450">
              <a:latin typeface="Arial MT"/>
              <a:cs typeface="Arial MT"/>
            </a:endParaRPr>
          </a:p>
          <a:p>
            <a:pPr marL="200025" marR="492759" indent="-187960">
              <a:lnSpc>
                <a:spcPts val="161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This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bridge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code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set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450" spc="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coordinated</a:t>
            </a:r>
            <a:r>
              <a:rPr dirty="0" sz="145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Endpoints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enable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receive 	messages.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10"/>
              </a:spcBef>
            </a:pPr>
            <a:r>
              <a:rPr dirty="0" sz="2050"/>
              <a:t>Messaging</a:t>
            </a:r>
            <a:r>
              <a:rPr dirty="0" sz="2050" spc="-40"/>
              <a:t> </a:t>
            </a:r>
            <a:r>
              <a:rPr dirty="0" sz="2050"/>
              <a:t>System</a:t>
            </a:r>
            <a:r>
              <a:rPr dirty="0" sz="2050" spc="-15"/>
              <a:t> </a:t>
            </a:r>
            <a:r>
              <a:rPr dirty="0" sz="2050"/>
              <a:t>-</a:t>
            </a:r>
            <a:r>
              <a:rPr dirty="0" sz="2050" spc="-5"/>
              <a:t> </a:t>
            </a:r>
            <a:r>
              <a:rPr dirty="0" sz="2050"/>
              <a:t>Enterprise</a:t>
            </a:r>
            <a:r>
              <a:rPr dirty="0" sz="2050" spc="-130"/>
              <a:t> </a:t>
            </a:r>
            <a:r>
              <a:rPr dirty="0" sz="2050"/>
              <a:t>Application</a:t>
            </a:r>
            <a:r>
              <a:rPr dirty="0" sz="2050" spc="-40"/>
              <a:t> </a:t>
            </a:r>
            <a:r>
              <a:rPr dirty="0" sz="2050"/>
              <a:t>Integration</a:t>
            </a:r>
            <a:r>
              <a:rPr dirty="0" sz="2050" spc="-15"/>
              <a:t> </a:t>
            </a:r>
            <a:r>
              <a:rPr dirty="0" sz="2050" spc="-10"/>
              <a:t>(EAI)</a:t>
            </a:r>
            <a:endParaRPr sz="205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18" y="1851234"/>
            <a:ext cx="8953500" cy="320294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Message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Channels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-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works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logical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addressing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system</a:t>
            </a:r>
            <a:r>
              <a:rPr dirty="0" sz="1450" spc="1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ct val="92100"/>
              </a:lnSpc>
              <a:spcBef>
                <a:spcPts val="83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acts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as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medium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communication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between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two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specific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complex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enterprise,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where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sender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selects</a:t>
            </a:r>
            <a:r>
              <a:rPr dirty="0" sz="14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which</a:t>
            </a:r>
            <a:r>
              <a:rPr dirty="0" sz="14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particular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”channel”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450" spc="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messaging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450" spc="9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to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use,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designates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target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application/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group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applications.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200660" algn="l"/>
              </a:tabLst>
            </a:pP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Design</a:t>
            </a:r>
            <a:r>
              <a:rPr dirty="0" u="sng" sz="1450" spc="4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challenges</a:t>
            </a:r>
            <a:endParaRPr sz="145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80"/>
              </a:spcBef>
              <a:buChar char="•"/>
              <a:tabLst>
                <a:tab pos="5778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30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30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30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or</a:t>
            </a:r>
            <a:r>
              <a:rPr dirty="0" sz="130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30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30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150860"/>
                </a:solidFill>
                <a:latin typeface="Arial MT"/>
                <a:cs typeface="Arial MT"/>
              </a:rPr>
              <a:t>many</a:t>
            </a:r>
            <a:endParaRPr sz="130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75"/>
              </a:spcBef>
              <a:buChar char="•"/>
              <a:tabLst>
                <a:tab pos="5778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Data</a:t>
            </a:r>
            <a:r>
              <a:rPr dirty="0" sz="130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type</a:t>
            </a:r>
            <a:r>
              <a:rPr dirty="0" sz="130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endParaRPr sz="130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80"/>
              </a:spcBef>
              <a:buChar char="•"/>
              <a:tabLst>
                <a:tab pos="5778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Invalid</a:t>
            </a:r>
            <a:r>
              <a:rPr dirty="0" sz="130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30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dead</a:t>
            </a:r>
            <a:r>
              <a:rPr dirty="0" sz="130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30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handling</a:t>
            </a:r>
            <a:endParaRPr sz="130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75"/>
              </a:spcBef>
              <a:buChar char="•"/>
              <a:tabLst>
                <a:tab pos="5778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Crash</a:t>
            </a:r>
            <a:r>
              <a:rPr dirty="0" sz="130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proof</a:t>
            </a:r>
            <a:r>
              <a:rPr dirty="0" sz="130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design</a:t>
            </a:r>
            <a:r>
              <a:rPr dirty="0" sz="130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/</a:t>
            </a:r>
            <a:r>
              <a:rPr dirty="0" sz="130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Guaranteed</a:t>
            </a:r>
            <a:r>
              <a:rPr dirty="0" sz="130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delivery</a:t>
            </a:r>
            <a:endParaRPr sz="130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85"/>
              </a:spcBef>
              <a:buChar char="•"/>
              <a:tabLst>
                <a:tab pos="5778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Non-messaging</a:t>
            </a:r>
            <a:r>
              <a:rPr dirty="0" sz="130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client</a:t>
            </a:r>
            <a:r>
              <a:rPr dirty="0" sz="130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access</a:t>
            </a:r>
            <a:r>
              <a:rPr dirty="0" sz="130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-</a:t>
            </a:r>
            <a:r>
              <a:rPr dirty="0" sz="130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r>
              <a:rPr dirty="0" sz="130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50860"/>
                </a:solidFill>
                <a:latin typeface="Arial MT"/>
                <a:cs typeface="Arial MT"/>
              </a:rPr>
              <a:t>adapter</a:t>
            </a:r>
            <a:endParaRPr sz="1300">
              <a:latin typeface="Arial MT"/>
              <a:cs typeface="Arial MT"/>
            </a:endParaRPr>
          </a:p>
          <a:p>
            <a:pPr lvl="1" marL="577850" indent="-187325">
              <a:lnSpc>
                <a:spcPct val="100000"/>
              </a:lnSpc>
              <a:spcBef>
                <a:spcPts val="280"/>
              </a:spcBef>
              <a:buChar char="•"/>
              <a:tabLst>
                <a:tab pos="577850" algn="l"/>
              </a:tabLst>
            </a:pP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Communications</a:t>
            </a:r>
            <a:r>
              <a:rPr dirty="0" sz="130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backbone</a:t>
            </a:r>
            <a:r>
              <a:rPr dirty="0" sz="130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–</a:t>
            </a:r>
            <a:r>
              <a:rPr dirty="0" sz="130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30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150860"/>
                </a:solidFill>
                <a:latin typeface="Arial MT"/>
                <a:cs typeface="Arial MT"/>
              </a:rPr>
              <a:t>bus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Enterprise</a:t>
            </a:r>
            <a:r>
              <a:rPr dirty="0" spc="-175"/>
              <a:t> </a:t>
            </a:r>
            <a:r>
              <a:rPr dirty="0"/>
              <a:t>Application</a:t>
            </a:r>
            <a:r>
              <a:rPr dirty="0" spc="-114"/>
              <a:t> </a:t>
            </a:r>
            <a:r>
              <a:rPr dirty="0"/>
              <a:t>Integration</a:t>
            </a:r>
            <a:r>
              <a:rPr dirty="0" spc="-95"/>
              <a:t> </a:t>
            </a:r>
            <a:r>
              <a:rPr dirty="0" spc="-10"/>
              <a:t>(EAI)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9159" y="4387596"/>
            <a:ext cx="5216651" cy="226923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927" y="5372100"/>
            <a:ext cx="3079080" cy="100334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18" y="1851234"/>
            <a:ext cx="9897110" cy="446786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230"/>
              </a:spcBef>
            </a:pP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Message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Channels</a:t>
            </a:r>
            <a:r>
              <a:rPr dirty="0" sz="1650" spc="-5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C1572"/>
                </a:solidFill>
                <a:latin typeface="Arial"/>
                <a:cs typeface="Arial"/>
              </a:rPr>
              <a:t>-</a:t>
            </a:r>
            <a:r>
              <a:rPr dirty="0" sz="1650" spc="-30" b="1">
                <a:solidFill>
                  <a:srgbClr val="1C1572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C1572"/>
                </a:solidFill>
                <a:latin typeface="Arial"/>
                <a:cs typeface="Arial"/>
              </a:rPr>
              <a:t>Overview</a:t>
            </a:r>
            <a:endParaRPr sz="1650">
              <a:latin typeface="Arial"/>
              <a:cs typeface="Arial"/>
            </a:endParaRPr>
          </a:p>
          <a:p>
            <a:pPr marL="200660" indent="-187960">
              <a:lnSpc>
                <a:spcPct val="100000"/>
              </a:lnSpc>
              <a:spcBef>
                <a:spcPts val="105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enterprise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has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two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separate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need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communicate,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preferably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by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using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Messaging.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How</a:t>
            </a:r>
            <a:r>
              <a:rPr dirty="0" sz="14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does</a:t>
            </a:r>
            <a:r>
              <a:rPr dirty="0" sz="14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dirty="0" sz="1450" spc="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application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communicate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dirty="0" sz="1450" spc="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another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using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Arial MT"/>
                <a:cs typeface="Arial MT"/>
              </a:rPr>
              <a:t>messaging?</a:t>
            </a:r>
            <a:endParaRPr sz="1450">
              <a:latin typeface="Arial MT"/>
              <a:cs typeface="Arial MT"/>
            </a:endParaRPr>
          </a:p>
          <a:p>
            <a:pPr marL="200025" marR="462280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Once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group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have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450" spc="8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available,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it's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tempting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think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any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can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communicate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with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any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any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time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desired.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Yet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 system</a:t>
            </a:r>
            <a:r>
              <a:rPr dirty="0" sz="1450" spc="9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does</a:t>
            </a:r>
            <a:r>
              <a:rPr dirty="0" sz="1450" spc="1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not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magically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connect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all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applications.</a:t>
            </a:r>
            <a:endParaRPr sz="1450">
              <a:latin typeface="Arial MT"/>
              <a:cs typeface="Arial MT"/>
            </a:endParaRPr>
          </a:p>
          <a:p>
            <a:pPr marL="200025" marR="120014" indent="-187960">
              <a:lnSpc>
                <a:spcPts val="160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sending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out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knows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what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sort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is,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would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like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receive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aren't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looking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just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any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information,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but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for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particular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sorts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they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can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use.</a:t>
            </a:r>
            <a:endParaRPr sz="1450">
              <a:latin typeface="Arial MT"/>
              <a:cs typeface="Arial MT"/>
            </a:endParaRPr>
          </a:p>
          <a:p>
            <a:pPr marL="200025" marR="329565" indent="-187960">
              <a:lnSpc>
                <a:spcPts val="1600"/>
              </a:lnSpc>
              <a:spcBef>
                <a:spcPts val="83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</a:t>
            </a:r>
            <a:r>
              <a:rPr dirty="0" sz="1450" spc="9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is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set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of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connections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enable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communicate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by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transmitting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in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predetermined,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predictable</a:t>
            </a:r>
            <a:r>
              <a:rPr dirty="0" sz="1450" spc="9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150860"/>
                </a:solidFill>
                <a:latin typeface="Arial MT"/>
                <a:cs typeface="Arial MT"/>
              </a:rPr>
              <a:t>ways.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60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Connect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applications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using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450" spc="3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Channel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,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where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writes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7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channel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and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the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other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one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reads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that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channel.</a:t>
            </a:r>
            <a:endParaRPr sz="1450">
              <a:latin typeface="Arial MT"/>
              <a:cs typeface="Arial MT"/>
            </a:endParaRPr>
          </a:p>
          <a:p>
            <a:pPr marL="200025" marR="27305" indent="-187960">
              <a:lnSpc>
                <a:spcPts val="1610"/>
              </a:lnSpc>
              <a:spcBef>
                <a:spcPts val="82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When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has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communicate,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doesn't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just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fling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into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system,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2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adds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2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to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particular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450" spc="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Channel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.</a:t>
            </a:r>
            <a:endParaRPr sz="1450">
              <a:latin typeface="Arial MT"/>
              <a:cs typeface="Arial MT"/>
            </a:endParaRPr>
          </a:p>
          <a:p>
            <a:pPr marL="200025" marR="367665" indent="-187960">
              <a:lnSpc>
                <a:spcPts val="16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An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application</a:t>
            </a:r>
            <a:r>
              <a:rPr dirty="0" sz="1450" spc="1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receiving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3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doesn't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just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pick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up</a:t>
            </a:r>
            <a:r>
              <a:rPr dirty="0" sz="1450" spc="4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at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random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messaging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system;</a:t>
            </a:r>
            <a:r>
              <a:rPr dirty="0" sz="1450" spc="10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it</a:t>
            </a:r>
            <a:r>
              <a:rPr dirty="0" sz="1450" spc="5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retrieves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the </a:t>
            </a:r>
            <a:r>
              <a:rPr dirty="0" sz="1450" spc="-25">
                <a:solidFill>
                  <a:srgbClr val="150860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information</a:t>
            </a:r>
            <a:r>
              <a:rPr dirty="0" sz="1450" spc="4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from</a:t>
            </a:r>
            <a:r>
              <a:rPr dirty="0" sz="1450" spc="6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particular</a:t>
            </a:r>
            <a:r>
              <a:rPr dirty="0" sz="1450" spc="3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150860"/>
                </a:solidFill>
                <a:latin typeface="Arial MT"/>
                <a:cs typeface="Arial MT"/>
              </a:rPr>
              <a:t>Message</a:t>
            </a:r>
            <a:r>
              <a:rPr dirty="0" sz="1450" spc="60">
                <a:solidFill>
                  <a:srgbClr val="15086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Arial MT"/>
                <a:cs typeface="Arial MT"/>
              </a:rPr>
              <a:t>Channel.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Enterprise</a:t>
            </a:r>
            <a:r>
              <a:rPr dirty="0" spc="-175"/>
              <a:t> </a:t>
            </a:r>
            <a:r>
              <a:rPr dirty="0"/>
              <a:t>Application</a:t>
            </a:r>
            <a:r>
              <a:rPr dirty="0" spc="-114"/>
              <a:t> </a:t>
            </a:r>
            <a:r>
              <a:rPr dirty="0"/>
              <a:t>Integration</a:t>
            </a:r>
            <a:r>
              <a:rPr dirty="0" spc="-95"/>
              <a:t> </a:t>
            </a:r>
            <a:r>
              <a:rPr dirty="0" spc="-10"/>
              <a:t>(EAI)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446" y="1744060"/>
            <a:ext cx="9785985" cy="47504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consists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two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basic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parts: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1.</a:t>
            </a:r>
            <a:r>
              <a:rPr dirty="0" u="sng" sz="1450" spc="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Header</a:t>
            </a:r>
            <a:r>
              <a:rPr dirty="0" sz="145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–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Information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used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by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messaging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system that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describes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being</a:t>
            </a:r>
            <a:r>
              <a:rPr dirty="0" sz="1450" spc="6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transmitted,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its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origin,</a:t>
            </a:r>
            <a:r>
              <a:rPr dirty="0" sz="1450" spc="8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its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destination.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2.</a:t>
            </a:r>
            <a:r>
              <a:rPr dirty="0" u="sng" sz="1450" spc="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Body</a:t>
            </a:r>
            <a:r>
              <a:rPr dirty="0" sz="145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–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6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being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transmitted;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generally</a:t>
            </a:r>
            <a:r>
              <a:rPr dirty="0" sz="1450" spc="9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ignored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by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messaging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system and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simply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transmitted</a:t>
            </a:r>
            <a:r>
              <a:rPr dirty="0" sz="1450" spc="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as-</a:t>
            </a:r>
            <a:r>
              <a:rPr dirty="0" sz="1450" spc="-25">
                <a:solidFill>
                  <a:srgbClr val="150860"/>
                </a:solidFill>
                <a:latin typeface="Calibri"/>
                <a:cs typeface="Calibri"/>
              </a:rPr>
              <a:t>is.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This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concept</a:t>
            </a:r>
            <a:r>
              <a:rPr dirty="0" sz="1450" spc="7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not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unique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messaging.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Both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postal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service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mail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and</a:t>
            </a:r>
            <a:r>
              <a:rPr dirty="0" sz="1450" spc="7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e-mail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send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discrete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mail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messages.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Ethernet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network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transmits</a:t>
            </a:r>
            <a:r>
              <a:rPr dirty="0" sz="1450" spc="2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packets,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does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IP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part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TCP/IP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such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Internet.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Streaming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media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on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Internet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is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actually</a:t>
            </a:r>
            <a:r>
              <a:rPr dirty="0" sz="1450" spc="8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series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packets.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 spc="-3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messaging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system, all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messages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are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same: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Some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body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2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be</a:t>
            </a:r>
            <a:r>
              <a:rPr dirty="0" sz="1450" spc="6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transmitted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described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by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header.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Command</a:t>
            </a:r>
            <a:r>
              <a:rPr dirty="0" u="sng" sz="1450" spc="7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Message</a:t>
            </a:r>
            <a:r>
              <a:rPr dirty="0" sz="1450" spc="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invoke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procedure</a:t>
            </a:r>
            <a:r>
              <a:rPr dirty="0" sz="1450" spc="8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another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application.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</a:t>
            </a:r>
            <a:r>
              <a:rPr dirty="0" sz="1450" spc="2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Document</a:t>
            </a:r>
            <a:r>
              <a:rPr dirty="0" u="sng" sz="1450" spc="6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Message</a:t>
            </a:r>
            <a:r>
              <a:rPr dirty="0" sz="1450" spc="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pass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set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another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application.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Event</a:t>
            </a:r>
            <a:r>
              <a:rPr dirty="0" u="sng" sz="1450" spc="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Message</a:t>
            </a:r>
            <a:r>
              <a:rPr dirty="0" sz="1450" spc="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notify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another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application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change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this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application.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If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other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application</a:t>
            </a:r>
            <a:r>
              <a:rPr dirty="0" sz="1450" spc="9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should</a:t>
            </a:r>
            <a:r>
              <a:rPr dirty="0" sz="1450" spc="6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send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reply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back,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Request-</a:t>
            </a:r>
            <a:r>
              <a:rPr dirty="0" u="sng" sz="14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Reply</a:t>
            </a:r>
            <a:r>
              <a:rPr dirty="0" sz="1450" spc="-1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200025" marR="5080" indent="-187960">
              <a:lnSpc>
                <a:spcPts val="161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If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application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wishes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to</a:t>
            </a:r>
            <a:r>
              <a:rPr dirty="0" sz="1450" spc="1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send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more</a:t>
            </a:r>
            <a:r>
              <a:rPr dirty="0" sz="1450" spc="7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information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than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one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can</a:t>
            </a:r>
            <a:r>
              <a:rPr dirty="0" sz="1450" spc="7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hold,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break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into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smaller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parts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and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send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Calibri"/>
                <a:cs typeface="Calibri"/>
              </a:rPr>
              <a:t>the </a:t>
            </a:r>
            <a:r>
              <a:rPr dirty="0" sz="1450" spc="-25">
                <a:solidFill>
                  <a:srgbClr val="150860"/>
                </a:solidFill>
                <a:latin typeface="Calibri"/>
                <a:cs typeface="Calibri"/>
              </a:rPr>
              <a:t>	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parts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6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Message</a:t>
            </a:r>
            <a:r>
              <a:rPr dirty="0" u="sng" sz="1450" spc="4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Sequence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If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only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useful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for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limited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amount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time,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specify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this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use-by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time</a:t>
            </a:r>
            <a:r>
              <a:rPr dirty="0" sz="1450" spc="2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Message</a:t>
            </a:r>
            <a:r>
              <a:rPr dirty="0" u="sng" sz="1450" spc="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Expiration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200025" marR="288290" indent="-187960">
              <a:lnSpc>
                <a:spcPts val="160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Since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all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various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senders</a:t>
            </a:r>
            <a:r>
              <a:rPr dirty="0" sz="1450" spc="3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and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receivers</a:t>
            </a:r>
            <a:r>
              <a:rPr dirty="0" sz="1450" spc="5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messages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must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agree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on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format</a:t>
            </a:r>
            <a:r>
              <a:rPr dirty="0" sz="1450" spc="4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of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data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in</a:t>
            </a:r>
            <a:r>
              <a:rPr dirty="0" sz="1450" spc="6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messages,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specify</a:t>
            </a:r>
            <a:r>
              <a:rPr dirty="0" sz="1450" spc="4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50860"/>
                </a:solidFill>
                <a:latin typeface="Calibri"/>
                <a:cs typeface="Calibri"/>
              </a:rPr>
              <a:t>the </a:t>
            </a:r>
            <a:r>
              <a:rPr dirty="0" sz="1450" spc="-25">
                <a:solidFill>
                  <a:srgbClr val="150860"/>
                </a:solidFill>
                <a:latin typeface="Calibri"/>
                <a:cs typeface="Calibri"/>
              </a:rPr>
              <a:t>	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format</a:t>
            </a:r>
            <a:r>
              <a:rPr dirty="0" sz="1450" spc="2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as</a:t>
            </a:r>
            <a:r>
              <a:rPr dirty="0" sz="1450" spc="25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50860"/>
                </a:solidFill>
                <a:latin typeface="Calibri"/>
                <a:cs typeface="Calibri"/>
              </a:rPr>
              <a:t>a</a:t>
            </a:r>
            <a:r>
              <a:rPr dirty="0" sz="1450" spc="30">
                <a:solidFill>
                  <a:srgbClr val="150860"/>
                </a:solid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Canonical</a:t>
            </a:r>
            <a:r>
              <a:rPr dirty="0" u="sng" sz="1450" spc="5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Data</a:t>
            </a:r>
            <a:r>
              <a:rPr dirty="0" u="sng" sz="1450" spc="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Model</a:t>
            </a:r>
            <a:r>
              <a:rPr dirty="0" sz="1450" spc="-10">
                <a:solidFill>
                  <a:srgbClr val="150860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39769"/>
            <a:ext cx="9869170" cy="44684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830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Pipes</a:t>
            </a:r>
            <a:r>
              <a:rPr dirty="0" u="sng" sz="1650" spc="-3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and</a:t>
            </a:r>
            <a:r>
              <a:rPr dirty="0" u="sng" sz="165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Filters</a:t>
            </a:r>
            <a:endParaRPr sz="1650">
              <a:latin typeface="Arial MT"/>
              <a:cs typeface="Arial MT"/>
            </a:endParaRPr>
          </a:p>
          <a:p>
            <a:pPr marL="200025" marR="29845" indent="-187960">
              <a:lnSpc>
                <a:spcPts val="1600"/>
              </a:lnSpc>
              <a:spcBef>
                <a:spcPts val="86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many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enterprise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integration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scenarios,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single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event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triggers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sequence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processing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steps,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each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performing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000099"/>
                </a:solidFill>
                <a:latin typeface="Arial MT"/>
                <a:cs typeface="Arial MT"/>
              </a:rPr>
              <a:t>a </a:t>
            </a:r>
            <a:r>
              <a:rPr dirty="0" sz="1450" spc="-5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specific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function.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6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example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let's</a:t>
            </a:r>
            <a:r>
              <a:rPr dirty="0" sz="145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assume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order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arrives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our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enterprise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form</a:t>
            </a:r>
            <a:r>
              <a:rPr dirty="0" sz="14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.</a:t>
            </a:r>
            <a:endParaRPr sz="1450">
              <a:latin typeface="Arial MT"/>
              <a:cs typeface="Arial MT"/>
            </a:endParaRPr>
          </a:p>
          <a:p>
            <a:pPr marL="200025" marR="410845" indent="-187960">
              <a:lnSpc>
                <a:spcPts val="1610"/>
              </a:lnSpc>
              <a:spcBef>
                <a:spcPts val="844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requirement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may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encrypted</a:t>
            </a:r>
            <a:r>
              <a:rPr dirty="0" sz="1450" spc="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prevent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eavesdroppers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spying</a:t>
            </a:r>
            <a:r>
              <a:rPr dirty="0" sz="14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customer's 	order.</a:t>
            </a:r>
            <a:endParaRPr sz="1450">
              <a:latin typeface="Arial MT"/>
              <a:cs typeface="Arial MT"/>
            </a:endParaRPr>
          </a:p>
          <a:p>
            <a:pPr marL="200025" marR="250825" indent="-187960">
              <a:lnSpc>
                <a:spcPts val="16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second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requirement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contain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authentication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information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form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digital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certificate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000099"/>
                </a:solidFill>
                <a:latin typeface="Arial MT"/>
                <a:cs typeface="Arial MT"/>
              </a:rPr>
              <a:t>to </a:t>
            </a:r>
            <a:r>
              <a:rPr dirty="0" sz="14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ensure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orders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placed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only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by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trusted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customers.</a:t>
            </a:r>
            <a:endParaRPr sz="1450">
              <a:latin typeface="Arial MT"/>
              <a:cs typeface="Arial MT"/>
            </a:endParaRPr>
          </a:p>
          <a:p>
            <a:pPr marL="200025" marR="478155" indent="-187960">
              <a:lnSpc>
                <a:spcPts val="161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addition,</a:t>
            </a:r>
            <a:r>
              <a:rPr dirty="0" sz="14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duplicate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could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sent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external</a:t>
            </a:r>
            <a:r>
              <a:rPr dirty="0" sz="14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parties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(remember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warnings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popular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shopping</a:t>
            </a:r>
            <a:r>
              <a:rPr dirty="0" sz="14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sites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click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'Order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Now'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button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only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once?).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6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450" spc="-45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avoid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duplicate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shipments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unhappy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customers,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we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need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eliminate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duplicate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before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subsequent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order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processing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steps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initiated.</a:t>
            </a:r>
            <a:endParaRPr sz="1450">
              <a:latin typeface="Arial MT"/>
              <a:cs typeface="Arial MT"/>
            </a:endParaRPr>
          </a:p>
          <a:p>
            <a:pPr marL="200025" marR="46355" indent="-187960">
              <a:lnSpc>
                <a:spcPts val="1610"/>
              </a:lnSpc>
              <a:spcBef>
                <a:spcPts val="815"/>
              </a:spcBef>
              <a:buChar char="•"/>
              <a:tabLst>
                <a:tab pos="201295" algn="l"/>
              </a:tabLst>
            </a:pPr>
            <a:r>
              <a:rPr dirty="0" sz="1450" spc="-45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meet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requirements,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we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need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transform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stream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possibly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duplicated,</a:t>
            </a:r>
            <a:r>
              <a:rPr dirty="0" sz="14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encrypted</a:t>
            </a:r>
            <a:r>
              <a:rPr dirty="0" sz="1450" spc="9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containing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extra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authentication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data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into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stream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unique,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simple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plain-text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order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without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extraneous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data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fields.</a:t>
            </a:r>
            <a:endParaRPr sz="1450">
              <a:latin typeface="Arial MT"/>
              <a:cs typeface="Arial MT"/>
            </a:endParaRPr>
          </a:p>
          <a:p>
            <a:pPr marL="200025" marR="929005" indent="-187960">
              <a:lnSpc>
                <a:spcPts val="16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Use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Pipes</a:t>
            </a:r>
            <a:r>
              <a:rPr dirty="0" sz="145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Filters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architectural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style</a:t>
            </a:r>
            <a:r>
              <a:rPr dirty="0" sz="1450" spc="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divide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larger</a:t>
            </a:r>
            <a:r>
              <a:rPr dirty="0" sz="14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processing</a:t>
            </a:r>
            <a:r>
              <a:rPr dirty="0" sz="145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task</a:t>
            </a:r>
            <a:r>
              <a:rPr dirty="0" sz="14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into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450" spc="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dirty="0" sz="14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4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Arial MT"/>
                <a:cs typeface="Arial MT"/>
              </a:rPr>
              <a:t>smaller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,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independent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processing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steps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(Filters)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connected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by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channels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(Pipes).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931972"/>
            <a:ext cx="1777364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105"/>
              </a:spcBef>
              <a:buChar char="•"/>
              <a:tabLst>
                <a:tab pos="201930" algn="l"/>
              </a:tabLst>
            </a:pPr>
            <a:r>
              <a:rPr dirty="0" u="sng" sz="16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Pipes</a:t>
            </a:r>
            <a:r>
              <a:rPr dirty="0" u="sng" sz="165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and</a:t>
            </a:r>
            <a:r>
              <a:rPr dirty="0" u="sng" sz="165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Filters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4016" y="2001012"/>
            <a:ext cx="6827519" cy="131978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3518" y="3484931"/>
            <a:ext cx="9793605" cy="296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Each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exposes</a:t>
            </a:r>
            <a:r>
              <a:rPr dirty="0" sz="14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very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simple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interface: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It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receives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messages</a:t>
            </a:r>
            <a:r>
              <a:rPr dirty="0" sz="14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inbound</a:t>
            </a:r>
            <a:r>
              <a:rPr dirty="0" sz="1450" spc="10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Calibri"/>
                <a:cs typeface="Calibri"/>
              </a:rPr>
              <a:t>pipe,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Processes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message,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Publishes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results</a:t>
            </a:r>
            <a:r>
              <a:rPr dirty="0" sz="14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outbound</a:t>
            </a:r>
            <a:r>
              <a:rPr dirty="0" sz="1450" spc="8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pipe.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pipe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connects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next,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sending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output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messages</a:t>
            </a:r>
            <a:r>
              <a:rPr dirty="0" sz="14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next.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1450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connection</a:t>
            </a:r>
            <a:r>
              <a:rPr dirty="0" sz="1450" spc="8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dirty="0" sz="1450" spc="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filter</a:t>
            </a:r>
            <a:r>
              <a:rPr dirty="0" sz="1450" spc="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1450" spc="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pipe</a:t>
            </a:r>
            <a:r>
              <a:rPr dirty="0" sz="1450" spc="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dirty="0" sz="1450" spc="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sometimes</a:t>
            </a:r>
            <a:r>
              <a:rPr dirty="0" sz="1450" spc="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called</a:t>
            </a:r>
            <a:r>
              <a:rPr dirty="0" sz="1450" spc="8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Calibri"/>
                <a:cs typeface="Calibri"/>
              </a:rPr>
              <a:t>port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basic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form,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each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component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has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input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port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output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port.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1450">
              <a:latin typeface="Calibri"/>
              <a:cs typeface="Calibri"/>
            </a:endParaRPr>
          </a:p>
          <a:p>
            <a:pPr marL="248920" marR="5080" indent="-236220">
              <a:lnSpc>
                <a:spcPct val="102099"/>
              </a:lnSpc>
              <a:buFont typeface="Arial MT"/>
              <a:buChar char="•"/>
              <a:tabLst>
                <a:tab pos="248920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When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applied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our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example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problem,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Pipes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Filters</a:t>
            </a:r>
            <a:r>
              <a:rPr dirty="0" sz="14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architecture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results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three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filters,</a:t>
            </a:r>
            <a:r>
              <a:rPr dirty="0" sz="14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connected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by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two</a:t>
            </a:r>
            <a:r>
              <a:rPr dirty="0" sz="14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pipes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Calibri"/>
                <a:cs typeface="Calibri"/>
              </a:rPr>
              <a:t>(see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picture).</a:t>
            </a:r>
            <a:endParaRPr sz="1450">
              <a:latin typeface="Calibri"/>
              <a:cs typeface="Calibri"/>
            </a:endParaRPr>
          </a:p>
          <a:p>
            <a:pPr marL="248920" marR="20955" indent="-236220">
              <a:lnSpc>
                <a:spcPct val="102099"/>
              </a:lnSpc>
              <a:spcBef>
                <a:spcPts val="10"/>
              </a:spcBef>
              <a:buFont typeface="Arial MT"/>
              <a:buChar char="•"/>
              <a:tabLst>
                <a:tab pos="248920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We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need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additional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pipe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send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messages</a:t>
            </a:r>
            <a:r>
              <a:rPr dirty="0" sz="1450" spc="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decryption</a:t>
            </a:r>
            <a:r>
              <a:rPr dirty="0" sz="1450" spc="8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component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send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clear-text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450" spc="7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messages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de-duper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50" spc="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management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system.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dirty="0" sz="145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makes</a:t>
            </a:r>
            <a:r>
              <a:rPr dirty="0" sz="1450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dirty="0" sz="1450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450" spc="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r>
              <a:rPr dirty="0" sz="1450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1450" spc="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FF0000"/>
                </a:solidFill>
                <a:latin typeface="Calibri"/>
                <a:cs typeface="Calibri"/>
              </a:rPr>
              <a:t>four</a:t>
            </a:r>
            <a:r>
              <a:rPr dirty="0" sz="1450" spc="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FF0000"/>
                </a:solidFill>
                <a:latin typeface="Calibri"/>
                <a:cs typeface="Calibri"/>
              </a:rPr>
              <a:t>pipes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.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0"/>
              <a:t> </a:t>
            </a:r>
            <a:r>
              <a:rPr dirty="0"/>
              <a:t>Channels</a:t>
            </a:r>
            <a:r>
              <a:rPr dirty="0" spc="-90"/>
              <a:t> </a:t>
            </a:r>
            <a:r>
              <a:rPr dirty="0"/>
              <a:t>–</a:t>
            </a:r>
            <a:r>
              <a:rPr dirty="0" spc="-70"/>
              <a:t> </a:t>
            </a:r>
            <a:r>
              <a:rPr dirty="0"/>
              <a:t>Pipes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Filter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897" y="1956326"/>
            <a:ext cx="7999095" cy="478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Pipes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Filters</a:t>
            </a:r>
            <a:r>
              <a:rPr dirty="0" sz="1450" spc="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describe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fundamental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architectural</a:t>
            </a:r>
            <a:r>
              <a:rPr dirty="0" sz="1450" spc="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style</a:t>
            </a:r>
            <a:r>
              <a:rPr dirty="0" sz="14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messaging</a:t>
            </a:r>
            <a:r>
              <a:rPr dirty="0" sz="1450" spc="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systems:</a:t>
            </a:r>
            <a:endParaRPr sz="145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48285" algn="l"/>
              </a:tabLst>
            </a:pP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Individual</a:t>
            </a:r>
            <a:r>
              <a:rPr dirty="0" sz="1450" spc="8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processing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steps</a:t>
            </a:r>
            <a:r>
              <a:rPr dirty="0" sz="1450" spc="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("filters")</a:t>
            </a:r>
            <a:r>
              <a:rPr dirty="0" sz="1450" spc="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are</a:t>
            </a:r>
            <a:r>
              <a:rPr dirty="0" sz="1450" spc="8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chained</a:t>
            </a:r>
            <a:r>
              <a:rPr dirty="0" sz="1450" spc="8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together</a:t>
            </a:r>
            <a:r>
              <a:rPr dirty="0" sz="1450" spc="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through</a:t>
            </a:r>
            <a:r>
              <a:rPr dirty="0" sz="1450" spc="8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50" spc="7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messaging</a:t>
            </a:r>
            <a:r>
              <a:rPr dirty="0" sz="1450" spc="6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000099"/>
                </a:solidFill>
                <a:latin typeface="Calibri"/>
                <a:cs typeface="Calibri"/>
              </a:rPr>
              <a:t>channels</a:t>
            </a:r>
            <a:r>
              <a:rPr dirty="0" sz="1450" spc="10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Calibri"/>
                <a:cs typeface="Calibri"/>
              </a:rPr>
              <a:t>("pipes").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2630424"/>
            <a:ext cx="5721096" cy="22113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4227" y="4956047"/>
            <a:ext cx="5343143" cy="147065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907531"/>
            <a:ext cx="9618345" cy="2313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10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650" spc="-4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Router</a:t>
            </a:r>
            <a:r>
              <a:rPr dirty="0" u="sng" sz="1650" spc="-3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295" marR="5080" indent="-189230">
              <a:lnSpc>
                <a:spcPts val="1580"/>
              </a:lnSpc>
              <a:buChar char="•"/>
              <a:tabLst>
                <a:tab pos="201295" algn="l"/>
              </a:tabLst>
            </a:pP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How</a:t>
            </a:r>
            <a:r>
              <a:rPr dirty="0" sz="165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dirty="0" sz="16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dirty="0" sz="165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decouple</a:t>
            </a:r>
            <a:r>
              <a:rPr dirty="0" sz="165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individual</a:t>
            </a:r>
            <a:r>
              <a:rPr dirty="0" sz="165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processing</a:t>
            </a:r>
            <a:r>
              <a:rPr dirty="0" sz="165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steps</a:t>
            </a:r>
            <a:r>
              <a:rPr dirty="0" sz="165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so</a:t>
            </a:r>
            <a:r>
              <a:rPr dirty="0" sz="16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dirty="0" sz="165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messages</a:t>
            </a:r>
            <a:r>
              <a:rPr dirty="0" sz="165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dirty="0" sz="165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dirty="0" sz="16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passed</a:t>
            </a:r>
            <a:r>
              <a:rPr dirty="0" sz="1650" spc="-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dirty="0" sz="16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different</a:t>
            </a:r>
            <a:r>
              <a:rPr dirty="0" sz="165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filters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depending</a:t>
            </a:r>
            <a:r>
              <a:rPr dirty="0" sz="165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165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set</a:t>
            </a:r>
            <a:r>
              <a:rPr dirty="0" sz="165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65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0000"/>
                </a:solidFill>
                <a:latin typeface="Arial MT"/>
                <a:cs typeface="Arial MT"/>
              </a:rPr>
              <a:t>conditions?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Insert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special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filter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420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Router,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which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consumes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650" spc="-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Channel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endParaRPr sz="1650">
              <a:latin typeface="Arial MT"/>
              <a:cs typeface="Arial MT"/>
            </a:endParaRPr>
          </a:p>
          <a:p>
            <a:pPr marL="201930" indent="-189230">
              <a:lnSpc>
                <a:spcPct val="100000"/>
              </a:lnSpc>
              <a:spcBef>
                <a:spcPts val="430"/>
              </a:spcBef>
              <a:buChar char="•"/>
              <a:tabLst>
                <a:tab pos="201930" algn="l"/>
              </a:tabLst>
            </a:pP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republishes</a:t>
            </a:r>
            <a:r>
              <a:rPr dirty="0" sz="16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6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different</a:t>
            </a:r>
            <a:r>
              <a:rPr dirty="0" sz="16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Channel</a:t>
            </a:r>
            <a:r>
              <a:rPr dirty="0" sz="16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depending</a:t>
            </a:r>
            <a:r>
              <a:rPr dirty="0" sz="1650" spc="-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on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6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set</a:t>
            </a:r>
            <a:r>
              <a:rPr dirty="0" sz="165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65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00099"/>
                </a:solidFill>
                <a:latin typeface="Arial MT"/>
                <a:cs typeface="Arial MT"/>
              </a:rPr>
              <a:t>conditions.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7736" y="4515611"/>
            <a:ext cx="5766815" cy="1571243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31" y="1854541"/>
            <a:ext cx="9712325" cy="472249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560"/>
              </a:spcBef>
              <a:buChar char="•"/>
              <a:tabLst>
                <a:tab pos="200660" algn="l"/>
              </a:tabLst>
            </a:pPr>
            <a:r>
              <a:rPr dirty="0" u="sng" sz="15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550" spc="3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5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Router</a:t>
            </a:r>
            <a:r>
              <a:rPr dirty="0" u="sng" sz="1550" spc="6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5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endParaRPr sz="15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470"/>
              </a:spcBef>
              <a:buChar char="•"/>
              <a:tabLst>
                <a:tab pos="200660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advantage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Pipes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Filters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composability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individual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components.</a:t>
            </a:r>
            <a:endParaRPr sz="15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470"/>
              </a:spcBef>
              <a:buChar char="•"/>
              <a:tabLst>
                <a:tab pos="200660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allows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us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insert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additional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steps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into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chain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without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having</a:t>
            </a:r>
            <a:r>
              <a:rPr dirty="0" sz="15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change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existing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components.</a:t>
            </a:r>
            <a:endParaRPr sz="1550">
              <a:latin typeface="Arial MT"/>
              <a:cs typeface="Arial MT"/>
            </a:endParaRPr>
          </a:p>
          <a:p>
            <a:pPr marL="200025" marR="5080" indent="-187960">
              <a:lnSpc>
                <a:spcPts val="15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This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opens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up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option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decoupling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two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filters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by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inserting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another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filter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between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determines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000099"/>
                </a:solidFill>
                <a:latin typeface="Arial MT"/>
                <a:cs typeface="Arial MT"/>
              </a:rPr>
              <a:t>what </a:t>
            </a:r>
            <a:r>
              <a:rPr dirty="0" sz="155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step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execute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next.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7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200025" marR="313690" indent="-187960">
              <a:lnSpc>
                <a:spcPts val="1500"/>
              </a:lnSpc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5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55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Router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differs</a:t>
            </a:r>
            <a:r>
              <a:rPr dirty="0" sz="1550" spc="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5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most</a:t>
            </a:r>
            <a:r>
              <a:rPr dirty="0" sz="155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basic</a:t>
            </a:r>
            <a:r>
              <a:rPr dirty="0" sz="155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notion</a:t>
            </a:r>
            <a:r>
              <a:rPr dirty="0" sz="1550" spc="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dirty="0" sz="155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Pipes</a:t>
            </a:r>
            <a:r>
              <a:rPr dirty="0" sz="15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15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Filters</a:t>
            </a:r>
            <a:r>
              <a:rPr dirty="0" sz="15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connects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multiple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output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channels.</a:t>
            </a:r>
            <a:endParaRPr sz="1550">
              <a:latin typeface="Arial MT"/>
              <a:cs typeface="Arial MT"/>
            </a:endParaRPr>
          </a:p>
          <a:p>
            <a:pPr marL="200025" marR="165100" indent="-187960">
              <a:lnSpc>
                <a:spcPts val="151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components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surrounding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Router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completely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unaware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existence</a:t>
            </a:r>
            <a:r>
              <a:rPr dirty="0" sz="15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Message 	Router.</a:t>
            </a:r>
            <a:endParaRPr sz="15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480"/>
              </a:spcBef>
              <a:buChar char="•"/>
              <a:tabLst>
                <a:tab pos="200660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-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key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property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Router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does</a:t>
            </a:r>
            <a:r>
              <a:rPr dirty="0" sz="15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dirty="0" sz="155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modify</a:t>
            </a:r>
            <a:r>
              <a:rPr dirty="0" sz="1550" spc="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dirty="0" sz="15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message</a:t>
            </a:r>
            <a:r>
              <a:rPr dirty="0" sz="155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0000"/>
                </a:solidFill>
                <a:latin typeface="Arial MT"/>
                <a:cs typeface="Arial MT"/>
              </a:rPr>
              <a:t>contents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.</a:t>
            </a:r>
            <a:endParaRPr sz="15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470"/>
              </a:spcBef>
              <a:buChar char="•"/>
              <a:tabLst>
                <a:tab pos="200660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only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concerns</a:t>
            </a:r>
            <a:r>
              <a:rPr dirty="0" sz="15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itself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destination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message.</a:t>
            </a:r>
            <a:endParaRPr sz="1550">
              <a:latin typeface="Arial MT"/>
              <a:cs typeface="Arial MT"/>
            </a:endParaRPr>
          </a:p>
          <a:p>
            <a:pPr marL="200025" marR="92710" indent="-187960">
              <a:lnSpc>
                <a:spcPts val="151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key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benefit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using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Router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decision</a:t>
            </a:r>
            <a:r>
              <a:rPr dirty="0" sz="15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criteria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destination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000099"/>
                </a:solidFill>
                <a:latin typeface="Arial MT"/>
                <a:cs typeface="Arial MT"/>
              </a:rPr>
              <a:t>are </a:t>
            </a:r>
            <a:r>
              <a:rPr dirty="0" sz="15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maintained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single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location.</a:t>
            </a:r>
            <a:endParaRPr sz="1550">
              <a:latin typeface="Arial MT"/>
              <a:cs typeface="Arial MT"/>
            </a:endParaRPr>
          </a:p>
          <a:p>
            <a:pPr marL="200025" marR="71120" indent="-187960">
              <a:lnSpc>
                <a:spcPts val="1500"/>
              </a:lnSpc>
              <a:spcBef>
                <a:spcPts val="825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If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new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types</a:t>
            </a:r>
            <a:r>
              <a:rPr dirty="0" sz="1550" spc="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defined,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new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processing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components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added,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routing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rules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change,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000099"/>
                </a:solidFill>
                <a:latin typeface="Arial MT"/>
                <a:cs typeface="Arial MT"/>
              </a:rPr>
              <a:t>we </a:t>
            </a:r>
            <a:r>
              <a:rPr dirty="0" sz="15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need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change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only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Router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logic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components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remain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unaffected.</a:t>
            </a:r>
            <a:endParaRPr sz="1550">
              <a:latin typeface="Arial MT"/>
              <a:cs typeface="Arial MT"/>
            </a:endParaRPr>
          </a:p>
          <a:p>
            <a:pPr marL="200025" marR="67945" indent="-187960">
              <a:lnSpc>
                <a:spcPts val="1510"/>
              </a:lnSpc>
              <a:spcBef>
                <a:spcPts val="819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Also,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since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all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pass</a:t>
            </a:r>
            <a:r>
              <a:rPr dirty="0" sz="15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through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single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Router,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incoming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guaranteed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000099"/>
                </a:solidFill>
                <a:latin typeface="Arial MT"/>
                <a:cs typeface="Arial MT"/>
              </a:rPr>
              <a:t>be </a:t>
            </a:r>
            <a:r>
              <a:rPr dirty="0" sz="15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processed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one-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by-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550" spc="10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5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correct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order.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531" y="1856101"/>
            <a:ext cx="9602470" cy="226568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380"/>
              </a:spcBef>
              <a:buChar char="•"/>
              <a:tabLst>
                <a:tab pos="200660" algn="l"/>
              </a:tabLst>
            </a:pPr>
            <a:r>
              <a:rPr dirty="0" u="sng" sz="15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 Translator</a:t>
            </a:r>
            <a:r>
              <a:rPr dirty="0" u="sng" sz="1550" spc="4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5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endParaRPr sz="15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290"/>
              </a:spcBef>
              <a:buChar char="•"/>
              <a:tabLst>
                <a:tab pos="200660" algn="l"/>
              </a:tabLst>
            </a:pP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How</a:t>
            </a:r>
            <a:r>
              <a:rPr dirty="0" sz="155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systems</a:t>
            </a:r>
            <a:r>
              <a:rPr dirty="0" sz="1550" spc="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using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different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dirty="0" sz="1550" spc="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formats</a:t>
            </a:r>
            <a:r>
              <a:rPr dirty="0" sz="155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communicate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dirty="0" sz="1550" spc="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each</a:t>
            </a:r>
            <a:r>
              <a:rPr dirty="0" sz="1550" spc="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other</a:t>
            </a:r>
            <a:r>
              <a:rPr dirty="0" sz="1550" spc="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0000"/>
                </a:solidFill>
                <a:latin typeface="Arial MT"/>
                <a:cs typeface="Arial MT"/>
              </a:rPr>
              <a:t>using</a:t>
            </a:r>
            <a:r>
              <a:rPr dirty="0" sz="155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0000"/>
                </a:solidFill>
                <a:latin typeface="Arial MT"/>
                <a:cs typeface="Arial MT"/>
              </a:rPr>
              <a:t>messaging?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200025" marR="5080" indent="-187960">
              <a:lnSpc>
                <a:spcPct val="70300"/>
              </a:lnSpc>
              <a:spcBef>
                <a:spcPts val="5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Use</a:t>
            </a:r>
            <a:r>
              <a:rPr dirty="0" sz="155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special</a:t>
            </a:r>
            <a:r>
              <a:rPr dirty="0" sz="15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filter,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Translator,</a:t>
            </a:r>
            <a:r>
              <a:rPr dirty="0" sz="15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between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filters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translate</a:t>
            </a:r>
            <a:r>
              <a:rPr dirty="0" sz="15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5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data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format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into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another.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buChar char="•"/>
              <a:tabLst>
                <a:tab pos="200660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5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Translator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equivalent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Adapter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pattern</a:t>
            </a:r>
            <a:r>
              <a:rPr dirty="0" sz="15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described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5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[GoF].</a:t>
            </a:r>
            <a:endParaRPr sz="1550">
              <a:latin typeface="Arial MT"/>
              <a:cs typeface="Arial MT"/>
            </a:endParaRPr>
          </a:p>
          <a:p>
            <a:pPr marL="200025" marR="208279" indent="-187960">
              <a:lnSpc>
                <a:spcPct val="7100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5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adapter</a:t>
            </a:r>
            <a:r>
              <a:rPr dirty="0" sz="15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converts</a:t>
            </a:r>
            <a:r>
              <a:rPr dirty="0" sz="15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interface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5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component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into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another</a:t>
            </a:r>
            <a:r>
              <a:rPr dirty="0" sz="15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interface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so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used</a:t>
            </a:r>
            <a:r>
              <a:rPr dirty="0" sz="15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5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000099"/>
                </a:solidFill>
                <a:latin typeface="Arial MT"/>
                <a:cs typeface="Arial MT"/>
              </a:rPr>
              <a:t>different 	context.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1948" y="4453128"/>
            <a:ext cx="5233416" cy="1618487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1" y="1857760"/>
            <a:ext cx="9719310" cy="229171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200025" indent="-187325">
              <a:lnSpc>
                <a:spcPct val="100000"/>
              </a:lnSpc>
              <a:spcBef>
                <a:spcPts val="565"/>
              </a:spcBef>
              <a:buChar char="•"/>
              <a:tabLst>
                <a:tab pos="200025" algn="l"/>
              </a:tabLst>
            </a:pPr>
            <a:r>
              <a:rPr dirty="0" u="sng" sz="14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400" spc="-4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Translator</a:t>
            </a:r>
            <a:r>
              <a:rPr dirty="0" u="sng" sz="1400" spc="-2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r>
              <a:rPr dirty="0" u="sng" sz="1400" spc="-1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–</a:t>
            </a:r>
            <a:r>
              <a:rPr dirty="0" u="sng" sz="1400" spc="-1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0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Chaining</a:t>
            </a:r>
            <a:r>
              <a:rPr dirty="0" u="sng" sz="1400" spc="-2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40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Transformation</a:t>
            </a:r>
            <a:endParaRPr sz="1400">
              <a:latin typeface="Arial MT"/>
              <a:cs typeface="Arial MT"/>
            </a:endParaRPr>
          </a:p>
          <a:p>
            <a:pPr marL="199390" marR="476884" indent="-187325">
              <a:lnSpc>
                <a:spcPct val="80000"/>
              </a:lnSpc>
              <a:spcBef>
                <a:spcPts val="80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For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example,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let's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assume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dirty="0" sz="14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EDI</a:t>
            </a:r>
            <a:r>
              <a:rPr dirty="0" sz="140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850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Purchase</a:t>
            </a:r>
            <a:r>
              <a:rPr dirty="0" sz="14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Order</a:t>
            </a:r>
            <a:r>
              <a:rPr dirty="0" sz="1400" spc="-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record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represented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fixed-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format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file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has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translated</a:t>
            </a:r>
            <a:r>
              <a:rPr dirty="0" sz="14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an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XML 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document sent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over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http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management system</a:t>
            </a:r>
            <a:r>
              <a:rPr dirty="0" sz="14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which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uses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different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definition</a:t>
            </a:r>
            <a:r>
              <a:rPr dirty="0" sz="14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400" spc="-30" i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object.</a:t>
            </a:r>
            <a:endParaRPr sz="1400">
              <a:latin typeface="Calibri"/>
              <a:cs typeface="Calibri"/>
            </a:endParaRPr>
          </a:p>
          <a:p>
            <a:pPr marL="200025" indent="-18732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required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transformation</a:t>
            </a:r>
            <a:r>
              <a:rPr dirty="0" sz="14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spans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all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four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levels:</a:t>
            </a:r>
            <a:endParaRPr sz="1400">
              <a:latin typeface="Calibri"/>
              <a:cs typeface="Calibri"/>
            </a:endParaRPr>
          </a:p>
          <a:p>
            <a:pPr marL="200025" indent="-18732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transport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changes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file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HTTP,</a:t>
            </a:r>
            <a:endParaRPr sz="1400">
              <a:latin typeface="Calibri"/>
              <a:cs typeface="Calibri"/>
            </a:endParaRPr>
          </a:p>
          <a:p>
            <a:pPr marL="200025" indent="-18732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dirty="0" sz="1400" spc="-6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format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changes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from</a:t>
            </a:r>
            <a:r>
              <a:rPr dirty="0" sz="1400" spc="-5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fixed-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format</a:t>
            </a:r>
            <a:r>
              <a:rPr dirty="0" sz="1400" spc="-5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XML,</a:t>
            </a:r>
            <a:endParaRPr sz="1400">
              <a:latin typeface="Calibri"/>
              <a:cs typeface="Calibri"/>
            </a:endParaRPr>
          </a:p>
          <a:p>
            <a:pPr marL="200025" indent="-18732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types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formats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have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be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converted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comply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with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400" spc="-25" i="1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object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defined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by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order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management</a:t>
            </a:r>
            <a:r>
              <a:rPr dirty="0" sz="14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  <a:p>
            <a:pPr marL="199390" marR="5080" indent="-187325">
              <a:lnSpc>
                <a:spcPct val="800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beauty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layered</a:t>
            </a:r>
            <a:r>
              <a:rPr dirty="0" sz="14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model</a:t>
            </a:r>
            <a:r>
              <a:rPr dirty="0" sz="1400" spc="-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is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we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treat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one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layer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without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regard</a:t>
            </a:r>
            <a:r>
              <a:rPr dirty="0" sz="14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1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lower</a:t>
            </a:r>
            <a:r>
              <a:rPr dirty="0" sz="14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layers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therefore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can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choose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work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at </a:t>
            </a:r>
            <a:r>
              <a:rPr dirty="0" sz="1400" spc="-25">
                <a:solidFill>
                  <a:srgbClr val="000099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different</a:t>
            </a:r>
            <a:r>
              <a:rPr dirty="0" sz="1400" spc="-3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levels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dirty="0" sz="1400" spc="-4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Calibri"/>
                <a:cs typeface="Calibri"/>
              </a:rPr>
              <a:t>abstraction.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067" y="4264152"/>
            <a:ext cx="4713732" cy="2252471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931972"/>
            <a:ext cx="9872980" cy="173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105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650" spc="-7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Translator</a:t>
            </a:r>
            <a:r>
              <a:rPr dirty="0" u="sng" sz="1650" spc="-3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r>
              <a:rPr dirty="0" u="sng" sz="1650" spc="-3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–</a:t>
            </a:r>
            <a:r>
              <a:rPr dirty="0" u="sng" sz="1650" spc="-2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Chaining</a:t>
            </a:r>
            <a:r>
              <a:rPr dirty="0" u="sng" sz="1650" spc="-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Transformation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95"/>
              </a:spcBef>
              <a:buFont typeface="Arial MT"/>
              <a:buChar char="•"/>
            </a:pPr>
            <a:endParaRPr sz="16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Chaining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multiple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Message</a:t>
            </a:r>
            <a:r>
              <a:rPr dirty="0" sz="1450" spc="35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Translator</a:t>
            </a:r>
            <a:r>
              <a:rPr dirty="0" sz="1450" spc="3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units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using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Pipes</a:t>
            </a:r>
            <a:r>
              <a:rPr dirty="0" sz="1450" spc="3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and</a:t>
            </a:r>
            <a:r>
              <a:rPr dirty="0" sz="1450" spc="3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Filters</a:t>
            </a:r>
            <a:r>
              <a:rPr dirty="0" sz="1450" spc="45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results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following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architecture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(see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picture).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8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Creating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Message</a:t>
            </a:r>
            <a:r>
              <a:rPr dirty="0" sz="1450" spc="2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Translator</a:t>
            </a:r>
            <a:r>
              <a:rPr dirty="0" sz="1450" spc="15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each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layer</a:t>
            </a:r>
            <a:r>
              <a:rPr dirty="0" sz="1450" spc="7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allows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reuse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these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components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scenarios.</a:t>
            </a:r>
            <a:endParaRPr sz="1450">
              <a:latin typeface="Arial MT"/>
              <a:cs typeface="Arial MT"/>
            </a:endParaRPr>
          </a:p>
          <a:p>
            <a:pPr marL="200025" marR="38735" indent="-187960">
              <a:lnSpc>
                <a:spcPts val="1600"/>
              </a:lnSpc>
              <a:spcBef>
                <a:spcPts val="87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example,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Channel</a:t>
            </a:r>
            <a:r>
              <a:rPr dirty="0" sz="1450" spc="-5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Adapter</a:t>
            </a:r>
            <a:r>
              <a:rPr dirty="0" sz="1450" spc="3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EDI-to-XML</a:t>
            </a:r>
            <a:r>
              <a:rPr dirty="0" sz="1450" spc="25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Message</a:t>
            </a:r>
            <a:r>
              <a:rPr dirty="0" sz="1450" spc="25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 i="1">
                <a:solidFill>
                  <a:srgbClr val="000099"/>
                </a:solidFill>
                <a:latin typeface="Arial"/>
                <a:cs typeface="Arial"/>
              </a:rPr>
              <a:t>Translator</a:t>
            </a:r>
            <a:r>
              <a:rPr dirty="0" sz="1450" spc="20" i="1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generic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enough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deal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000099"/>
                </a:solidFill>
                <a:latin typeface="Arial MT"/>
                <a:cs typeface="Arial MT"/>
              </a:rPr>
              <a:t>any </a:t>
            </a:r>
            <a:r>
              <a:rPr dirty="0" sz="14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incoming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EDI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document.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2767" y="4381500"/>
            <a:ext cx="7641335" cy="142951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42349"/>
            <a:ext cx="9289415" cy="223964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620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650" spc="-4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End</a:t>
            </a:r>
            <a:r>
              <a:rPr dirty="0" u="sng" sz="1650" spc="-2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Point</a:t>
            </a:r>
            <a:r>
              <a:rPr dirty="0" u="sng" sz="1650" spc="-2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endParaRPr sz="16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0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Applications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communicating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by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sending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each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other</a:t>
            </a:r>
            <a:r>
              <a:rPr dirty="0" sz="1450" spc="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via</a:t>
            </a:r>
            <a:r>
              <a:rPr dirty="0" sz="14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Channels.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1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How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does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connect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channel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send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receive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messages?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0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two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separate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sets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software.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1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provides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functionally</a:t>
            </a:r>
            <a:r>
              <a:rPr dirty="0" sz="145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some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type</a:t>
            </a:r>
            <a:r>
              <a:rPr dirty="0" sz="1450" spc="9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user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515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50" spc="10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manages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channels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transmitting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communication.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430"/>
              </a:lnSpc>
              <a:spcBef>
                <a:spcPts val="81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Because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5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are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separate,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they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must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have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way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connect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work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together.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251" y="4381500"/>
            <a:ext cx="6787896" cy="172059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81" y="1841083"/>
            <a:ext cx="9919335" cy="298831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670"/>
              </a:spcBef>
              <a:buChar char="•"/>
              <a:tabLst>
                <a:tab pos="200660" algn="l"/>
              </a:tabLst>
            </a:pPr>
            <a:r>
              <a:rPr dirty="0" u="sng" sz="15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550" spc="1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5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End</a:t>
            </a:r>
            <a:r>
              <a:rPr dirty="0" u="sng" sz="1550" spc="5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5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Point</a:t>
            </a:r>
            <a:r>
              <a:rPr dirty="0" u="sng" sz="1550" spc="3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5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endParaRPr sz="155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5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 system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 type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server,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capable of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taking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requests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responding to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them.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5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Like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database</a:t>
            </a:r>
            <a:r>
              <a:rPr dirty="0" sz="14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accepting and retrieving data,</a:t>
            </a:r>
            <a:r>
              <a:rPr dirty="0" sz="14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server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accepts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delivers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messages.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0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 messaging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server.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0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server</a:t>
            </a:r>
            <a:r>
              <a:rPr dirty="0" sz="14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needs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clients,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an application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uses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 messaging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server.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5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 messaging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server,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like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database server,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has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400" spc="-9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API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use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interact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server.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80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-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API</a:t>
            </a:r>
            <a:r>
              <a:rPr dirty="0" sz="14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not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application-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specific;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it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domain-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specific,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where</a:t>
            </a:r>
            <a:r>
              <a:rPr dirty="0" sz="140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domain.</a:t>
            </a:r>
            <a:endParaRPr sz="1400">
              <a:latin typeface="Arial MT"/>
              <a:cs typeface="Arial MT"/>
            </a:endParaRPr>
          </a:p>
          <a:p>
            <a:pPr marL="199390" marR="5080" indent="-187325">
              <a:lnSpc>
                <a:spcPts val="1360"/>
              </a:lnSpc>
              <a:spcBef>
                <a:spcPts val="805"/>
              </a:spcBef>
              <a:buChar char="•"/>
              <a:tabLst>
                <a:tab pos="20129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must</a:t>
            </a:r>
            <a:r>
              <a:rPr dirty="0" sz="1400" spc="-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contain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 set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code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connects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and unites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domain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with</a:t>
            </a:r>
            <a:r>
              <a:rPr dirty="0" sz="140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allow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000099"/>
                </a:solidFill>
                <a:latin typeface="Arial MT"/>
                <a:cs typeface="Arial MT"/>
              </a:rPr>
              <a:t>the </a:t>
            </a:r>
            <a:r>
              <a:rPr dirty="0" sz="140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to perform</a:t>
            </a:r>
            <a:r>
              <a:rPr dirty="0" sz="1400" spc="-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messaging.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5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Connect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an</a:t>
            </a:r>
            <a:r>
              <a:rPr dirty="0" sz="1400" spc="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to a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messaging channel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using a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Message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Endpoint.</a:t>
            </a:r>
            <a:endParaRPr sz="1400">
              <a:latin typeface="Arial MT"/>
              <a:cs typeface="Arial MT"/>
            </a:endParaRPr>
          </a:p>
          <a:p>
            <a:pPr marL="200025" indent="-187325">
              <a:lnSpc>
                <a:spcPct val="100000"/>
              </a:lnSpc>
              <a:spcBef>
                <a:spcPts val="490"/>
              </a:spcBef>
              <a:buChar char="•"/>
              <a:tabLst>
                <a:tab pos="200025" algn="l"/>
              </a:tabLst>
            </a:pP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00" spc="-8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 messaging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then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use to</a:t>
            </a:r>
            <a:r>
              <a:rPr dirty="0" sz="1400" spc="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send</a:t>
            </a:r>
            <a:r>
              <a:rPr dirty="0" sz="1400" spc="-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000099"/>
                </a:solidFill>
                <a:latin typeface="Arial MT"/>
                <a:cs typeface="Arial MT"/>
              </a:rPr>
              <a:t>receive</a:t>
            </a:r>
            <a:r>
              <a:rPr dirty="0" sz="140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000099"/>
                </a:solidFill>
                <a:latin typeface="Arial MT"/>
                <a:cs typeface="Arial MT"/>
              </a:rPr>
              <a:t>messages.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63" y="5010912"/>
            <a:ext cx="5839967" cy="1516379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497" y="1839769"/>
            <a:ext cx="9906635" cy="252412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830"/>
              </a:spcBef>
              <a:buChar char="•"/>
              <a:tabLst>
                <a:tab pos="201930" algn="l"/>
              </a:tabLst>
            </a:pP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Message</a:t>
            </a:r>
            <a:r>
              <a:rPr dirty="0" u="sng" sz="1650" spc="-4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End</a:t>
            </a:r>
            <a:r>
              <a:rPr dirty="0" u="sng" sz="1650" spc="-2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Point</a:t>
            </a:r>
            <a:r>
              <a:rPr dirty="0" u="sng" sz="1650" spc="-25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650" spc="-1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Arial MT"/>
                <a:cs typeface="Arial MT"/>
              </a:rPr>
              <a:t>Pattern</a:t>
            </a:r>
            <a:endParaRPr sz="16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9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Endpoint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code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custom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both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system’s</a:t>
            </a:r>
            <a:r>
              <a:rPr dirty="0" sz="14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client</a:t>
            </a:r>
            <a:r>
              <a:rPr dirty="0" sz="1450" spc="-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API.</a:t>
            </a:r>
            <a:endParaRPr sz="1450">
              <a:latin typeface="Arial MT"/>
              <a:cs typeface="Arial MT"/>
            </a:endParaRPr>
          </a:p>
          <a:p>
            <a:pPr marL="200025" marR="507365" indent="-187960">
              <a:lnSpc>
                <a:spcPts val="1610"/>
              </a:lnSpc>
              <a:spcBef>
                <a:spcPts val="85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Endpoint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encapsulates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50" spc="10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rest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application,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customizes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50">
                <a:solidFill>
                  <a:srgbClr val="000099"/>
                </a:solidFill>
                <a:latin typeface="Arial MT"/>
                <a:cs typeface="Arial MT"/>
              </a:rPr>
              <a:t>a </a:t>
            </a:r>
            <a:r>
              <a:rPr dirty="0" sz="1450" spc="-5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general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-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API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8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specific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application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task.</a:t>
            </a:r>
            <a:endParaRPr sz="1450">
              <a:latin typeface="Arial MT"/>
              <a:cs typeface="Arial MT"/>
            </a:endParaRPr>
          </a:p>
          <a:p>
            <a:pPr marL="200660" indent="-187960">
              <a:lnSpc>
                <a:spcPct val="100000"/>
              </a:lnSpc>
              <a:spcBef>
                <a:spcPts val="650"/>
              </a:spcBef>
              <a:buChar char="•"/>
              <a:tabLst>
                <a:tab pos="200660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-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Endpoint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can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used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send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messages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or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receive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them,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but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instance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does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not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do</a:t>
            </a:r>
            <a:r>
              <a:rPr dirty="0" sz="1450" spc="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both.</a:t>
            </a:r>
            <a:endParaRPr sz="1450">
              <a:latin typeface="Arial MT"/>
              <a:cs typeface="Arial MT"/>
            </a:endParaRPr>
          </a:p>
          <a:p>
            <a:pPr marL="200025" marR="108585" indent="-187960">
              <a:lnSpc>
                <a:spcPts val="1600"/>
              </a:lnSpc>
              <a:spcBef>
                <a:spcPts val="865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-4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Endpoint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is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specialized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Channel</a:t>
            </a:r>
            <a:r>
              <a:rPr dirty="0" sz="1450" spc="-7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Adapter,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one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that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has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been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custom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developed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for</a:t>
            </a:r>
            <a:r>
              <a:rPr dirty="0" sz="1450" spc="5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integrated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into </a:t>
            </a:r>
            <a:r>
              <a:rPr dirty="0" sz="1450" spc="-20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its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application.</a:t>
            </a:r>
            <a:endParaRPr sz="1450">
              <a:latin typeface="Arial MT"/>
              <a:cs typeface="Arial MT"/>
            </a:endParaRPr>
          </a:p>
          <a:p>
            <a:pPr marL="200025" marR="5080" indent="-187960">
              <a:lnSpc>
                <a:spcPts val="1600"/>
              </a:lnSpc>
              <a:spcBef>
                <a:spcPts val="830"/>
              </a:spcBef>
              <a:buChar char="•"/>
              <a:tabLst>
                <a:tab pos="201295" algn="l"/>
              </a:tabLst>
            </a:pP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-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Endpoint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should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be</a:t>
            </a:r>
            <a:r>
              <a:rPr dirty="0" sz="1450" spc="3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designed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as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Gateway</a:t>
            </a:r>
            <a:r>
              <a:rPr dirty="0" sz="1450" spc="6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to</a:t>
            </a:r>
            <a:r>
              <a:rPr dirty="0" sz="1450" spc="6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encapsulate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messaging</a:t>
            </a:r>
            <a:r>
              <a:rPr dirty="0" sz="1450" spc="2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code</a:t>
            </a:r>
            <a:r>
              <a:rPr dirty="0" sz="1450" spc="4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and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hide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25">
                <a:solidFill>
                  <a:srgbClr val="000099"/>
                </a:solidFill>
                <a:latin typeface="Arial MT"/>
                <a:cs typeface="Arial MT"/>
              </a:rPr>
              <a:t>the </a:t>
            </a:r>
            <a:r>
              <a:rPr dirty="0" sz="1450" spc="-25">
                <a:solidFill>
                  <a:srgbClr val="000099"/>
                </a:solidFill>
                <a:latin typeface="Arial MT"/>
                <a:cs typeface="Arial MT"/>
              </a:rPr>
              <a:t>	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message</a:t>
            </a:r>
            <a:r>
              <a:rPr dirty="0" sz="1450" spc="1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system</a:t>
            </a:r>
            <a:r>
              <a:rPr dirty="0" sz="1450" spc="9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from</a:t>
            </a:r>
            <a:r>
              <a:rPr dirty="0" sz="1450" spc="2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rest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of</a:t>
            </a:r>
            <a:r>
              <a:rPr dirty="0" sz="1450" spc="5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000099"/>
                </a:solidFill>
                <a:latin typeface="Arial MT"/>
                <a:cs typeface="Arial MT"/>
              </a:rPr>
              <a:t>the</a:t>
            </a:r>
            <a:r>
              <a:rPr dirty="0" sz="1450" spc="35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99"/>
                </a:solidFill>
                <a:latin typeface="Arial MT"/>
                <a:cs typeface="Arial MT"/>
              </a:rPr>
              <a:t>application.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Message</a:t>
            </a:r>
            <a:r>
              <a:rPr dirty="0" spc="-95"/>
              <a:t> </a:t>
            </a:r>
            <a:r>
              <a:rPr dirty="0"/>
              <a:t>Channels</a:t>
            </a:r>
            <a:r>
              <a:rPr dirty="0" spc="-95"/>
              <a:t> </a:t>
            </a:r>
            <a:r>
              <a:rPr dirty="0"/>
              <a:t>-</a:t>
            </a:r>
            <a:r>
              <a:rPr dirty="0" spc="-90"/>
              <a:t> </a:t>
            </a:r>
            <a:r>
              <a:rPr dirty="0" spc="-10"/>
              <a:t>Overview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63" y="5010912"/>
            <a:ext cx="5839967" cy="151637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679" y="2886456"/>
            <a:ext cx="2226564" cy="226161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78168"/>
            <a:ext cx="10058400" cy="380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>
                <a:solidFill>
                  <a:srgbClr val="150860"/>
                </a:solidFill>
              </a:rPr>
              <a:t>Thank</a:t>
            </a:r>
            <a:r>
              <a:rPr dirty="0" sz="4450" spc="-65">
                <a:solidFill>
                  <a:srgbClr val="150860"/>
                </a:solidFill>
              </a:rPr>
              <a:t> </a:t>
            </a:r>
            <a:r>
              <a:rPr dirty="0" sz="4450" spc="-70">
                <a:solidFill>
                  <a:srgbClr val="150860"/>
                </a:solidFill>
              </a:rPr>
              <a:t>You!</a:t>
            </a:r>
            <a:endParaRPr sz="4450"/>
          </a:p>
        </p:txBody>
      </p:sp>
      <p:sp>
        <p:nvSpPr>
          <p:cNvPr id="5" name="object 5" descr=""/>
          <p:cNvSpPr txBox="1"/>
          <p:nvPr/>
        </p:nvSpPr>
        <p:spPr>
          <a:xfrm>
            <a:off x="4778868" y="4077636"/>
            <a:ext cx="4521200" cy="704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7635" algn="l"/>
              </a:tabLst>
            </a:pPr>
            <a:r>
              <a:rPr dirty="0" sz="4450" spc="-25" b="1">
                <a:solidFill>
                  <a:srgbClr val="150860"/>
                </a:solidFill>
                <a:latin typeface="Arial"/>
                <a:cs typeface="Arial"/>
              </a:rPr>
              <a:t>Any</a:t>
            </a:r>
            <a:r>
              <a:rPr dirty="0" sz="4450" b="1">
                <a:solidFill>
                  <a:srgbClr val="150860"/>
                </a:solidFill>
                <a:latin typeface="Arial"/>
                <a:cs typeface="Arial"/>
              </a:rPr>
              <a:t>	</a:t>
            </a:r>
            <a:r>
              <a:rPr dirty="0" sz="4450" spc="-10" b="1">
                <a:solidFill>
                  <a:srgbClr val="150860"/>
                </a:solidFill>
                <a:latin typeface="Arial"/>
                <a:cs typeface="Arial"/>
              </a:rPr>
              <a:t>Questions?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Ranganath Krishnan</dc:creator>
  <dc:title>Microsoft PowerPoint - CS 01_CS 02- Middleware Technologies.pptx</dc:title>
  <dcterms:created xsi:type="dcterms:W3CDTF">2025-04-06T03:42:19Z</dcterms:created>
  <dcterms:modified xsi:type="dcterms:W3CDTF">2025-04-06T03:42:19Z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2025-03-29T00:00:00Z</vt:filetime>
  </property>
  <property fmtid="{D5CDD505-2E9C-101B-9397-08002B2CF9AE}" pid="3" name="LastSaved">
    <vt:filetime>2025-04-06T00:00:00Z</vt:filetime>
  </property>
  <property fmtid="{D5CDD505-2E9C-101B-9397-08002B2CF9AE}" pid="4" name="Producer">
    <vt:lpwstr>Microsoft: Print To PDF</vt:lpwstr>
  </property>
</Properties>
</file>