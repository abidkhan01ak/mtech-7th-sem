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0" r:id="rId4"/>
    <p:sldId id="271" r:id="rId5"/>
    <p:sldId id="272" r:id="rId6"/>
    <p:sldId id="274" r:id="rId7"/>
    <p:sldId id="273" r:id="rId8"/>
    <p:sldId id="275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827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Structures</a:t>
            </a:r>
          </a:p>
          <a:p>
            <a:r>
              <a:rPr lang="en-US" dirty="0"/>
              <a:t>Library Calls</a:t>
            </a:r>
          </a:p>
          <a:p>
            <a:r>
              <a:rPr lang="en-US" dirty="0"/>
              <a:t>General Operation</a:t>
            </a:r>
          </a:p>
          <a:p>
            <a:r>
              <a:rPr lang="en-US" dirty="0"/>
              <a:t>Socket Example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Sockets Overview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Socket is an internal endpoint for sending/receiving data within a node on network</a:t>
            </a:r>
          </a:p>
          <a:p>
            <a:r>
              <a:rPr lang="en-US" dirty="0"/>
              <a:t>Berkeley/POSIX sockets defined API for Inter Process Communication (IPC) within same host (BSD 4.2 – circa 1983)</a:t>
            </a:r>
          </a:p>
          <a:p>
            <a:r>
              <a:rPr lang="en-US" dirty="0"/>
              <a:t>Early form of Middleware (limited to same host systems)</a:t>
            </a:r>
          </a:p>
          <a:p>
            <a:r>
              <a:rPr lang="en-US" dirty="0"/>
              <a:t>Windows variant (WinSock) based on BSD Sockets.</a:t>
            </a:r>
          </a:p>
          <a:p>
            <a:r>
              <a:rPr lang="en-US" dirty="0"/>
              <a:t>Treated similar to files in BSD/POSIX</a:t>
            </a:r>
          </a:p>
          <a:p>
            <a:r>
              <a:rPr lang="en-US" dirty="0"/>
              <a:t>Maintained in File Descriptor table</a:t>
            </a:r>
          </a:p>
          <a:p>
            <a:r>
              <a:rPr lang="en-US" dirty="0"/>
              <a:t>Supported protocols</a:t>
            </a:r>
          </a:p>
          <a:p>
            <a:pPr lvl="1"/>
            <a:r>
              <a:rPr lang="en-US" dirty="0"/>
              <a:t>TCP/IP – IPv4, IPv6</a:t>
            </a:r>
          </a:p>
          <a:p>
            <a:pPr lvl="1"/>
            <a:r>
              <a:rPr lang="en-US" dirty="0"/>
              <a:t>UDP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-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What is it ?</a:t>
            </a:r>
          </a:p>
        </p:txBody>
      </p:sp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6381261" cy="4114799"/>
          </a:xfrm>
        </p:spPr>
        <p:txBody>
          <a:bodyPr>
            <a:normAutofit/>
          </a:bodyPr>
          <a:lstStyle/>
          <a:p>
            <a:r>
              <a:rPr lang="en-US" dirty="0"/>
              <a:t>Defined in </a:t>
            </a:r>
            <a:r>
              <a:rPr lang="en-US" i="1" dirty="0"/>
              <a:t>sys/</a:t>
            </a:r>
            <a:r>
              <a:rPr lang="en-US" i="1" dirty="0" err="1"/>
              <a:t>socket.h</a:t>
            </a:r>
            <a:endParaRPr lang="en-US" i="1" dirty="0"/>
          </a:p>
          <a:p>
            <a:r>
              <a:rPr lang="en-US" dirty="0"/>
              <a:t>Address length is 8 bytes by default</a:t>
            </a:r>
          </a:p>
          <a:p>
            <a:r>
              <a:rPr lang="en-US" dirty="0"/>
              <a:t>Family – Denotes the family of protocol (TCP, UDP)</a:t>
            </a:r>
          </a:p>
          <a:p>
            <a:r>
              <a:rPr lang="en-US" dirty="0"/>
              <a:t>Address contains – host and port</a:t>
            </a:r>
          </a:p>
          <a:p>
            <a:r>
              <a:rPr lang="en-US" dirty="0"/>
              <a:t>Socket Address family TCP/IP</a:t>
            </a:r>
          </a:p>
          <a:p>
            <a:pPr lvl="1"/>
            <a:r>
              <a:rPr lang="en-US" dirty="0"/>
              <a:t>IPv4 - </a:t>
            </a:r>
            <a:r>
              <a:rPr lang="en-US" dirty="0" err="1"/>
              <a:t>sockaddr_in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IPv6 - sockaddr_in6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Data Structures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Socket Address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39D81-D7A7-D144-8E80-7321FD0E6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144197"/>
            <a:ext cx="4635500" cy="168470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2906EE-F80C-D649-A6E4-77AB6C45F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810000"/>
            <a:ext cx="2895600" cy="804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735F56-B070-3A43-92D2-C4854A7A7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81600"/>
            <a:ext cx="3213100" cy="140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8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Library Calls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Socket APIs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6BD793A-C82F-064D-A8FF-A1280A903C6E}"/>
              </a:ext>
            </a:extLst>
          </p:cNvPr>
          <p:cNvSpPr txBox="1">
            <a:spLocks/>
          </p:cNvSpPr>
          <p:nvPr/>
        </p:nvSpPr>
        <p:spPr>
          <a:xfrm>
            <a:off x="857739" y="1600201"/>
            <a:ext cx="5238261" cy="4114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socket</a:t>
            </a:r>
            <a:r>
              <a:rPr lang="en-US" sz="1600" dirty="0"/>
              <a:t> —creates a descriptor for use in network communications</a:t>
            </a:r>
          </a:p>
          <a:p>
            <a:pPr marL="0" indent="0">
              <a:buNone/>
            </a:pPr>
            <a:r>
              <a:rPr lang="en-US" sz="1600" b="1" dirty="0"/>
              <a:t>connect</a:t>
            </a:r>
            <a:r>
              <a:rPr lang="en-US" sz="1600" dirty="0"/>
              <a:t> —connect to a remote peer (client)</a:t>
            </a:r>
          </a:p>
          <a:p>
            <a:pPr marL="0" indent="0">
              <a:buNone/>
            </a:pPr>
            <a:r>
              <a:rPr lang="en-US" sz="1600" b="1" dirty="0"/>
              <a:t>write</a:t>
            </a:r>
            <a:r>
              <a:rPr lang="en-US" sz="1600" dirty="0"/>
              <a:t> —send outgoing data across a connection</a:t>
            </a:r>
          </a:p>
          <a:p>
            <a:pPr marL="0" indent="0">
              <a:buNone/>
            </a:pPr>
            <a:r>
              <a:rPr lang="en-US" sz="1600" b="1" dirty="0"/>
              <a:t>read</a:t>
            </a:r>
            <a:r>
              <a:rPr lang="en-US" sz="1600" dirty="0"/>
              <a:t> —acquire incoming data from a connection</a:t>
            </a:r>
          </a:p>
          <a:p>
            <a:pPr marL="0" indent="0">
              <a:buNone/>
            </a:pPr>
            <a:r>
              <a:rPr lang="en-US" sz="1600" b="1" dirty="0"/>
              <a:t>close</a:t>
            </a:r>
            <a:r>
              <a:rPr lang="en-US" sz="1600" dirty="0"/>
              <a:t> —terminate communication and deallocate a descriptor</a:t>
            </a:r>
          </a:p>
          <a:p>
            <a:pPr marL="0" indent="0">
              <a:buNone/>
            </a:pPr>
            <a:r>
              <a:rPr lang="en-US" sz="1600" b="1" dirty="0"/>
              <a:t>bind</a:t>
            </a:r>
            <a:r>
              <a:rPr lang="en-US" sz="1600" dirty="0"/>
              <a:t> —bind a local IP address and protocol port to a socket</a:t>
            </a:r>
          </a:p>
          <a:p>
            <a:pPr marL="0" indent="0">
              <a:buNone/>
            </a:pPr>
            <a:r>
              <a:rPr lang="en-US" sz="1600" b="1" dirty="0"/>
              <a:t>listen</a:t>
            </a:r>
            <a:r>
              <a:rPr lang="en-US" sz="1600" dirty="0"/>
              <a:t> —set the socket listening on the given address and port for connections from the client and set the number of incoming connections from a client (backlog) that will be allowed in the listen queue at any one time</a:t>
            </a:r>
          </a:p>
          <a:p>
            <a:pPr marL="0" indent="0">
              <a:buNone/>
            </a:pPr>
            <a:r>
              <a:rPr lang="en-US" sz="1600" b="1" dirty="0"/>
              <a:t>accept</a:t>
            </a:r>
            <a:r>
              <a:rPr lang="en-US" sz="1600" dirty="0"/>
              <a:t> —accept the next incoming connection (server)</a:t>
            </a:r>
          </a:p>
          <a:p>
            <a:pPr marL="0" indent="0">
              <a:buNone/>
            </a:pPr>
            <a:r>
              <a:rPr lang="en-US" sz="1600" b="1" dirty="0" err="1"/>
              <a:t>recv</a:t>
            </a:r>
            <a:r>
              <a:rPr lang="en-US" sz="1600" dirty="0"/>
              <a:t> —receive the next incoming datagram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4BA4C-0F33-3340-9A40-75FF270CC025}"/>
              </a:ext>
            </a:extLst>
          </p:cNvPr>
          <p:cNvSpPr/>
          <p:nvPr/>
        </p:nvSpPr>
        <p:spPr>
          <a:xfrm>
            <a:off x="6101938" y="1600201"/>
            <a:ext cx="5638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recvmsg</a:t>
            </a:r>
            <a:r>
              <a:rPr lang="en-US" dirty="0"/>
              <a:t> —receive the next incoming datagram (variation of </a:t>
            </a:r>
            <a:r>
              <a:rPr lang="en-US" dirty="0" err="1"/>
              <a:t>recv</a:t>
            </a:r>
            <a:r>
              <a:rPr lang="en-US" dirty="0"/>
              <a:t>)</a:t>
            </a:r>
          </a:p>
          <a:p>
            <a:r>
              <a:rPr lang="en-US" b="1" dirty="0" err="1"/>
              <a:t>recvfrom</a:t>
            </a:r>
            <a:r>
              <a:rPr lang="en-US" dirty="0"/>
              <a:t> —receive the next incoming datagram and record its source endpoint address</a:t>
            </a:r>
          </a:p>
          <a:p>
            <a:r>
              <a:rPr lang="en-US" b="1" dirty="0"/>
              <a:t>send</a:t>
            </a:r>
            <a:r>
              <a:rPr lang="en-US" dirty="0"/>
              <a:t> —send an outgoing datagram</a:t>
            </a:r>
          </a:p>
          <a:p>
            <a:r>
              <a:rPr lang="en-US" b="1" dirty="0" err="1"/>
              <a:t>sendmsg</a:t>
            </a:r>
            <a:r>
              <a:rPr lang="en-US" dirty="0"/>
              <a:t> —send an outgoing datagram (variation of send)</a:t>
            </a:r>
          </a:p>
          <a:p>
            <a:r>
              <a:rPr lang="en-US" b="1" dirty="0" err="1"/>
              <a:t>sendto</a:t>
            </a:r>
            <a:r>
              <a:rPr lang="en-US" dirty="0"/>
              <a:t> —send an outgoing datagram, usually to a prerecorded endpoint address</a:t>
            </a:r>
          </a:p>
          <a:p>
            <a:r>
              <a:rPr lang="en-US" b="1" dirty="0"/>
              <a:t>shutdown</a:t>
            </a:r>
            <a:r>
              <a:rPr lang="en-US" dirty="0"/>
              <a:t> —terminate a TCP connection in one or both directions</a:t>
            </a:r>
          </a:p>
          <a:p>
            <a:r>
              <a:rPr lang="en-US" b="1" dirty="0" err="1"/>
              <a:t>getpeername</a:t>
            </a:r>
            <a:r>
              <a:rPr lang="en-US" dirty="0"/>
              <a:t> —after a connection arrives, obtain the remote machine’s endpoint address from a socket</a:t>
            </a:r>
          </a:p>
          <a:p>
            <a:r>
              <a:rPr lang="en-US" b="1" dirty="0" err="1"/>
              <a:t>getsockopt</a:t>
            </a:r>
            <a:r>
              <a:rPr lang="en-US" dirty="0"/>
              <a:t> —obtain the current options for a socket</a:t>
            </a:r>
          </a:p>
          <a:p>
            <a:r>
              <a:rPr lang="en-US" b="1" dirty="0" err="1"/>
              <a:t>setsockopt</a:t>
            </a:r>
            <a:r>
              <a:rPr lang="en-US" dirty="0"/>
              <a:t> —change the options for a socket</a:t>
            </a:r>
          </a:p>
        </p:txBody>
      </p:sp>
    </p:spTree>
    <p:extLst>
      <p:ext uri="{BB962C8B-B14F-4D97-AF65-F5344CB8AC3E}">
        <p14:creationId xmlns:p14="http://schemas.microsoft.com/office/powerpoint/2010/main" val="394058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General Operation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Lifecycle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489FAD-AF39-A04A-B20A-A54B4468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120240"/>
            <a:ext cx="4152900" cy="538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1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Server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18584-906F-A644-8059-7462225A2DBF}"/>
              </a:ext>
            </a:extLst>
          </p:cNvPr>
          <p:cNvSpPr/>
          <p:nvPr/>
        </p:nvSpPr>
        <p:spPr>
          <a:xfrm>
            <a:off x="838200" y="1562755"/>
            <a:ext cx="400920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main()</a:t>
            </a:r>
          </a:p>
          <a:p>
            <a:r>
              <a:rPr lang="en-US" sz="1200" dirty="0">
                <a:latin typeface="Helvetica" pitchFamily="2" charset="0"/>
              </a:rPr>
              <a:t>{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client_conn_fd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client_addr_size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struct </a:t>
            </a:r>
            <a:r>
              <a:rPr lang="en-US" sz="1200" dirty="0" err="1">
                <a:latin typeface="Helvetica" pitchFamily="2" charset="0"/>
              </a:rPr>
              <a:t>sockaddr_in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server_addr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client_addr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char </a:t>
            </a:r>
            <a:r>
              <a:rPr lang="en-US" sz="1200" dirty="0" err="1">
                <a:latin typeface="Helvetica" pitchFamily="2" charset="0"/>
              </a:rPr>
              <a:t>message_from_client</a:t>
            </a:r>
            <a:r>
              <a:rPr lang="en-US" sz="1200" dirty="0">
                <a:latin typeface="Helvetica" pitchFamily="2" charset="0"/>
              </a:rPr>
              <a:t>[256];</a:t>
            </a:r>
          </a:p>
          <a:p>
            <a:r>
              <a:rPr lang="en-US" sz="1200" dirty="0">
                <a:latin typeface="Helvetica" pitchFamily="2" charset="0"/>
              </a:rPr>
              <a:t>char </a:t>
            </a:r>
            <a:r>
              <a:rPr lang="en-US" sz="1200" dirty="0" err="1">
                <a:latin typeface="Helvetica" pitchFamily="2" charset="0"/>
              </a:rPr>
              <a:t>message_from_server_to_client</a:t>
            </a:r>
            <a:r>
              <a:rPr lang="en-US" sz="1200" dirty="0">
                <a:latin typeface="Helvetica" pitchFamily="2" charset="0"/>
              </a:rPr>
              <a:t>[256];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client_message_length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server_message_length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// Set the port number</a:t>
            </a:r>
          </a:p>
          <a:p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 = 1132;</a:t>
            </a:r>
          </a:p>
          <a:p>
            <a:r>
              <a:rPr lang="en-US" sz="1200" dirty="0">
                <a:latin typeface="Helvetica" pitchFamily="2" charset="0"/>
              </a:rPr>
              <a:t>// Create the socket for the server to listen on</a:t>
            </a:r>
          </a:p>
          <a:p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 = socket( AF_INET,</a:t>
            </a:r>
          </a:p>
          <a:p>
            <a:r>
              <a:rPr lang="en-US" sz="1200" dirty="0">
                <a:latin typeface="Helvetica" pitchFamily="2" charset="0"/>
              </a:rPr>
              <a:t>SOCK_STREAM,</a:t>
            </a:r>
          </a:p>
          <a:p>
            <a:r>
              <a:rPr lang="en-US" sz="1200" dirty="0">
                <a:latin typeface="Helvetica" pitchFamily="2" charset="0"/>
              </a:rPr>
              <a:t>0</a:t>
            </a: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(“ERROR opening socket”);</a:t>
            </a:r>
          </a:p>
          <a:p>
            <a:r>
              <a:rPr lang="en-US" sz="1200" dirty="0">
                <a:latin typeface="Helvetica" pitchFamily="2" charset="0"/>
              </a:rPr>
              <a:t>// clear out the server address to make sure no problems with binding</a:t>
            </a:r>
          </a:p>
          <a:p>
            <a:r>
              <a:rPr lang="en-US" sz="1200" dirty="0">
                <a:latin typeface="Helvetica" pitchFamily="2" charset="0"/>
              </a:rPr>
              <a:t>// if the address is clear then it won’t think the address has</a:t>
            </a:r>
          </a:p>
          <a:p>
            <a:r>
              <a:rPr lang="en-US" sz="1200" dirty="0">
                <a:latin typeface="Helvetica" pitchFamily="2" charset="0"/>
              </a:rPr>
              <a:t>// already been used by another socket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 (char *) &amp;</a:t>
            </a:r>
            <a:r>
              <a:rPr lang="en-US" sz="1200" dirty="0" err="1">
                <a:latin typeface="Helvetica" pitchFamily="2" charset="0"/>
              </a:rPr>
              <a:t>server_addr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server_addr</a:t>
            </a:r>
            <a:r>
              <a:rPr lang="en-US" sz="1200" dirty="0">
                <a:latin typeface="Helvetica" pitchFamily="2" charset="0"/>
              </a:rPr>
              <a:t>));</a:t>
            </a:r>
          </a:p>
          <a:p>
            <a:endParaRPr lang="en-US" sz="1200" dirty="0">
              <a:latin typeface="Helvetica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D185D-911C-A040-BA0D-C42ECC1C704B}"/>
              </a:ext>
            </a:extLst>
          </p:cNvPr>
          <p:cNvSpPr/>
          <p:nvPr/>
        </p:nvSpPr>
        <p:spPr>
          <a:xfrm>
            <a:off x="6096000" y="1509033"/>
            <a:ext cx="435684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// set the </a:t>
            </a:r>
            <a:r>
              <a:rPr lang="en-US" sz="1200" dirty="0" err="1">
                <a:latin typeface="Helvetica" pitchFamily="2" charset="0"/>
              </a:rPr>
              <a:t>sockaddr_in</a:t>
            </a:r>
            <a:r>
              <a:rPr lang="en-US" sz="1200" dirty="0">
                <a:latin typeface="Helvetica" pitchFamily="2" charset="0"/>
              </a:rPr>
              <a:t> struct appropriately</a:t>
            </a:r>
          </a:p>
          <a:p>
            <a:r>
              <a:rPr lang="en-US" sz="1200" dirty="0">
                <a:latin typeface="Helvetica" pitchFamily="2" charset="0"/>
              </a:rPr>
              <a:t>// note that this assumes IPv4</a:t>
            </a:r>
          </a:p>
          <a:p>
            <a:r>
              <a:rPr lang="en-US" sz="1200" dirty="0" err="1">
                <a:latin typeface="Helvetica" pitchFamily="2" charset="0"/>
              </a:rPr>
              <a:t>server_addr.sin_family</a:t>
            </a:r>
            <a:r>
              <a:rPr lang="en-US" sz="1200" dirty="0">
                <a:latin typeface="Helvetica" pitchFamily="2" charset="0"/>
              </a:rPr>
              <a:t> = AF_INET;</a:t>
            </a:r>
          </a:p>
          <a:p>
            <a:r>
              <a:rPr lang="en-US" sz="1200" dirty="0" err="1">
                <a:latin typeface="Helvetica" pitchFamily="2" charset="0"/>
              </a:rPr>
              <a:t>server_addr.sin_addr.s_addr</a:t>
            </a:r>
            <a:r>
              <a:rPr lang="en-US" sz="1200" dirty="0">
                <a:latin typeface="Helvetica" pitchFamily="2" charset="0"/>
              </a:rPr>
              <a:t> = INADDR_ANY;</a:t>
            </a:r>
          </a:p>
          <a:p>
            <a:r>
              <a:rPr lang="en-US" sz="1200" dirty="0" err="1">
                <a:latin typeface="Helvetica" pitchFamily="2" charset="0"/>
              </a:rPr>
              <a:t>server_addr.sin_port</a:t>
            </a:r>
            <a:r>
              <a:rPr lang="en-US" sz="1200" dirty="0">
                <a:latin typeface="Helvetica" pitchFamily="2" charset="0"/>
              </a:rPr>
              <a:t> = </a:t>
            </a:r>
            <a:r>
              <a:rPr lang="en-US" sz="1200" dirty="0" err="1">
                <a:latin typeface="Helvetica" pitchFamily="2" charset="0"/>
              </a:rPr>
              <a:t>htons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// Bind the socket descriptor to the address</a:t>
            </a:r>
          </a:p>
          <a:p>
            <a:r>
              <a:rPr lang="en-US" sz="1200" dirty="0">
                <a:latin typeface="Helvetica" pitchFamily="2" charset="0"/>
              </a:rPr>
              <a:t>if (bind( </a:t>
            </a:r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(struct </a:t>
            </a:r>
            <a:r>
              <a:rPr lang="en-US" sz="1200" dirty="0" err="1">
                <a:latin typeface="Helvetica" pitchFamily="2" charset="0"/>
              </a:rPr>
              <a:t>sockaddr</a:t>
            </a:r>
            <a:r>
              <a:rPr lang="en-US" sz="1200" dirty="0">
                <a:latin typeface="Helvetica" pitchFamily="2" charset="0"/>
              </a:rPr>
              <a:t> *) &amp;</a:t>
            </a:r>
            <a:r>
              <a:rPr lang="en-US" sz="1200" dirty="0" err="1">
                <a:latin typeface="Helvetica" pitchFamily="2" charset="0"/>
              </a:rPr>
              <a:t>server_addr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server_addr</a:t>
            </a:r>
            <a:r>
              <a:rPr lang="en-US" sz="1200" dirty="0">
                <a:latin typeface="Helvetica" pitchFamily="2" charset="0"/>
              </a:rPr>
              <a:t>))</a:t>
            </a:r>
          </a:p>
          <a:p>
            <a:r>
              <a:rPr lang="en-US" sz="1200" dirty="0">
                <a:latin typeface="Helvetica" pitchFamily="2" charset="0"/>
              </a:rPr>
              <a:t>&lt;0)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(“binding to socket failed”);</a:t>
            </a:r>
          </a:p>
          <a:p>
            <a:r>
              <a:rPr lang="en-US" sz="1200" dirty="0">
                <a:latin typeface="Helvetica" pitchFamily="2" charset="0"/>
              </a:rPr>
              <a:t>// Start the server listening on the socket</a:t>
            </a:r>
          </a:p>
          <a:p>
            <a:r>
              <a:rPr lang="en-US" sz="1200" dirty="0">
                <a:latin typeface="Helvetica" pitchFamily="2" charset="0"/>
              </a:rPr>
              <a:t>// limit the number of connections in the listen queue to 3</a:t>
            </a:r>
          </a:p>
          <a:p>
            <a:r>
              <a:rPr lang="en-US" sz="1200" dirty="0">
                <a:latin typeface="Helvetica" pitchFamily="2" charset="0"/>
              </a:rPr>
              <a:t>// (this is the backlog)</a:t>
            </a:r>
          </a:p>
          <a:p>
            <a:r>
              <a:rPr lang="en-US" sz="1200" dirty="0">
                <a:latin typeface="Helvetica" pitchFamily="2" charset="0"/>
              </a:rPr>
              <a:t>listen(</a:t>
            </a:r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, 3);</a:t>
            </a:r>
          </a:p>
          <a:p>
            <a:r>
              <a:rPr lang="en-US" sz="1200" dirty="0">
                <a:latin typeface="Helvetica" pitchFamily="2" charset="0"/>
              </a:rPr>
              <a:t>while (1)</a:t>
            </a:r>
          </a:p>
          <a:p>
            <a:r>
              <a:rPr lang="en-US" sz="1200" dirty="0">
                <a:latin typeface="Helvetica" pitchFamily="2" charset="0"/>
              </a:rPr>
              <a:t>{</a:t>
            </a:r>
          </a:p>
          <a:p>
            <a:r>
              <a:rPr lang="en-US" sz="1200" dirty="0">
                <a:latin typeface="Helvetica" pitchFamily="2" charset="0"/>
              </a:rPr>
              <a:t>// clear out the client address to make sure no problems with accepting</a:t>
            </a:r>
          </a:p>
          <a:p>
            <a:r>
              <a:rPr lang="en-US" sz="1200" dirty="0">
                <a:latin typeface="Helvetica" pitchFamily="2" charset="0"/>
              </a:rPr>
              <a:t>// on this address</a:t>
            </a:r>
          </a:p>
          <a:p>
            <a:r>
              <a:rPr lang="en-US" sz="1200" dirty="0">
                <a:latin typeface="Helvetica" pitchFamily="2" charset="0"/>
              </a:rPr>
              <a:t>// if the address is clear then it won’t think the address has</a:t>
            </a:r>
          </a:p>
          <a:p>
            <a:r>
              <a:rPr lang="en-US" sz="1200" dirty="0">
                <a:latin typeface="Helvetica" pitchFamily="2" charset="0"/>
              </a:rPr>
              <a:t>// already been used by another socket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 (char *) &amp;</a:t>
            </a:r>
            <a:r>
              <a:rPr lang="en-US" sz="1200" dirty="0" err="1">
                <a:latin typeface="Helvetica" pitchFamily="2" charset="0"/>
              </a:rPr>
              <a:t>client_addr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client_addr</a:t>
            </a:r>
            <a:r>
              <a:rPr lang="en-US" sz="1200" dirty="0">
                <a:latin typeface="Helvetica" pitchFamily="2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86966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Server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97CAE-1D5A-BF48-B52E-26217C09B9F5}"/>
              </a:ext>
            </a:extLst>
          </p:cNvPr>
          <p:cNvSpPr/>
          <p:nvPr/>
        </p:nvSpPr>
        <p:spPr>
          <a:xfrm>
            <a:off x="838200" y="1538288"/>
            <a:ext cx="429659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// accept a connection from a client</a:t>
            </a:r>
          </a:p>
          <a:p>
            <a:r>
              <a:rPr lang="en-US" sz="1200" dirty="0">
                <a:latin typeface="Helvetica" pitchFamily="2" charset="0"/>
              </a:rPr>
              <a:t>// on the open socket</a:t>
            </a:r>
          </a:p>
          <a:p>
            <a:r>
              <a:rPr lang="en-US" sz="1200" dirty="0" err="1">
                <a:latin typeface="Helvetica" pitchFamily="2" charset="0"/>
              </a:rPr>
              <a:t>client_addr_size</a:t>
            </a:r>
            <a:r>
              <a:rPr lang="en-US" sz="1200" dirty="0">
                <a:latin typeface="Helvetica" pitchFamily="2" charset="0"/>
              </a:rPr>
              <a:t> = </a:t>
            </a:r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client_addr</a:t>
            </a:r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 err="1">
                <a:latin typeface="Helvetica" pitchFamily="2" charset="0"/>
              </a:rPr>
              <a:t>client_conn_fd</a:t>
            </a:r>
            <a:r>
              <a:rPr lang="en-US" sz="1200" dirty="0">
                <a:latin typeface="Helvetica" pitchFamily="2" charset="0"/>
              </a:rPr>
              <a:t> = accept( </a:t>
            </a:r>
            <a:r>
              <a:rPr lang="en-US" sz="1200" dirty="0" err="1">
                <a:latin typeface="Helvetica" pitchFamily="2" charset="0"/>
              </a:rPr>
              <a:t>server_socket_fd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(struct </a:t>
            </a:r>
            <a:r>
              <a:rPr lang="en-US" sz="1200" dirty="0" err="1">
                <a:latin typeface="Helvetica" pitchFamily="2" charset="0"/>
              </a:rPr>
              <a:t>sockaddr</a:t>
            </a:r>
            <a:r>
              <a:rPr lang="en-US" sz="1200" dirty="0">
                <a:latin typeface="Helvetica" pitchFamily="2" charset="0"/>
              </a:rPr>
              <a:t> *) &amp;</a:t>
            </a:r>
            <a:r>
              <a:rPr lang="en-US" sz="1200" dirty="0" err="1">
                <a:latin typeface="Helvetica" pitchFamily="2" charset="0"/>
              </a:rPr>
              <a:t>client_addr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socklen_t</a:t>
            </a:r>
            <a:r>
              <a:rPr lang="en-US" sz="1200" dirty="0">
                <a:latin typeface="Helvetica" pitchFamily="2" charset="0"/>
              </a:rPr>
              <a:t> *) &amp;</a:t>
            </a:r>
            <a:r>
              <a:rPr lang="en-US" sz="1200" dirty="0" err="1">
                <a:latin typeface="Helvetica" pitchFamily="2" charset="0"/>
              </a:rPr>
              <a:t>client_addr_size</a:t>
            </a:r>
            <a:endParaRPr lang="en-US" sz="1200" dirty="0">
              <a:latin typeface="Helvetica" pitchFamily="2" charset="0"/>
            </a:endParaRP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client_conn_fd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(“the accept failed”);</a:t>
            </a:r>
          </a:p>
          <a:p>
            <a:r>
              <a:rPr lang="en-US" sz="1200" dirty="0">
                <a:latin typeface="Helvetica" pitchFamily="2" charset="0"/>
              </a:rPr>
              <a:t>// Clear out the character array to store the client message</a:t>
            </a:r>
          </a:p>
          <a:p>
            <a:r>
              <a:rPr lang="en-US" sz="1200" dirty="0">
                <a:latin typeface="Helvetica" pitchFamily="2" charset="0"/>
              </a:rPr>
              <a:t>// to make sure there’ s no garbage in it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message_from_client</a:t>
            </a:r>
            <a:r>
              <a:rPr lang="en-US" sz="1200" dirty="0">
                <a:latin typeface="Helvetica" pitchFamily="2" charset="0"/>
              </a:rPr>
              <a:t>, 256);</a:t>
            </a:r>
          </a:p>
          <a:p>
            <a:r>
              <a:rPr lang="en-US" sz="1200" dirty="0">
                <a:latin typeface="Helvetica" pitchFamily="2" charset="0"/>
              </a:rPr>
              <a:t>// read the message from the client</a:t>
            </a:r>
          </a:p>
          <a:p>
            <a:r>
              <a:rPr lang="en-US" sz="1200" dirty="0" err="1">
                <a:latin typeface="Helvetica" pitchFamily="2" charset="0"/>
              </a:rPr>
              <a:t>client_message_length</a:t>
            </a:r>
            <a:r>
              <a:rPr lang="en-US" sz="1200" dirty="0">
                <a:latin typeface="Helvetica" pitchFamily="2" charset="0"/>
              </a:rPr>
              <a:t> = read( </a:t>
            </a:r>
            <a:r>
              <a:rPr lang="en-US" sz="1200" dirty="0" err="1">
                <a:latin typeface="Helvetica" pitchFamily="2" charset="0"/>
              </a:rPr>
              <a:t>client_conn_fd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message_from_client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255</a:t>
            </a: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client_message_length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 unable to read from socket” );</a:t>
            </a:r>
          </a:p>
          <a:p>
            <a:r>
              <a:rPr lang="en-US" sz="1200" dirty="0" err="1">
                <a:latin typeface="Helvetica" pitchFamily="2" charset="0"/>
              </a:rPr>
              <a:t>cout</a:t>
            </a:r>
            <a:r>
              <a:rPr lang="en-US" sz="1200" dirty="0">
                <a:latin typeface="Helvetica" pitchFamily="2" charset="0"/>
              </a:rPr>
              <a:t> &lt;&lt; “ message is”  &lt;&lt; </a:t>
            </a:r>
            <a:r>
              <a:rPr lang="en-US" sz="1200" dirty="0" err="1">
                <a:latin typeface="Helvetica" pitchFamily="2" charset="0"/>
              </a:rPr>
              <a:t>message_from_client</a:t>
            </a:r>
            <a:r>
              <a:rPr lang="en-US" sz="1200" dirty="0">
                <a:latin typeface="Helvetica" pitchFamily="2" charset="0"/>
              </a:rPr>
              <a:t> &lt;&lt; </a:t>
            </a:r>
            <a:r>
              <a:rPr lang="en-US" sz="1200" dirty="0" err="1">
                <a:latin typeface="Helvetica" pitchFamily="2" charset="0"/>
              </a:rPr>
              <a:t>endl</a:t>
            </a:r>
            <a:r>
              <a:rPr lang="en-US" sz="1200" dirty="0">
                <a:latin typeface="Helvetica" pitchFamily="2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E18EB-E0A1-7849-AFAE-34AC88A079B0}"/>
              </a:ext>
            </a:extLst>
          </p:cNvPr>
          <p:cNvSpPr/>
          <p:nvPr/>
        </p:nvSpPr>
        <p:spPr>
          <a:xfrm>
            <a:off x="5428673" y="1538288"/>
            <a:ext cx="508692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// Now write a message back to the client</a:t>
            </a:r>
          </a:p>
          <a:p>
            <a:r>
              <a:rPr lang="en-US" sz="1200" dirty="0"/>
              <a:t>// Doing a little </a:t>
            </a:r>
            <a:r>
              <a:rPr lang="en-US" sz="1200" dirty="0">
                <a:latin typeface="Helvetica" pitchFamily="2" charset="0"/>
              </a:rPr>
              <a:t>mixed</a:t>
            </a:r>
            <a:r>
              <a:rPr lang="en-US" sz="1200" dirty="0"/>
              <a:t> mode C++ strings and char buffers</a:t>
            </a:r>
          </a:p>
          <a:p>
            <a:r>
              <a:rPr lang="en-US" sz="1200" dirty="0"/>
              <a:t>// just to show you how</a:t>
            </a:r>
          </a:p>
          <a:p>
            <a:r>
              <a:rPr lang="en-US" sz="1200" dirty="0"/>
              <a:t>string </a:t>
            </a:r>
            <a:r>
              <a:rPr lang="en-US" sz="1200" dirty="0" err="1"/>
              <a:t>mystring</a:t>
            </a:r>
            <a:r>
              <a:rPr lang="en-US" sz="1200" dirty="0"/>
              <a:t>;</a:t>
            </a:r>
          </a:p>
          <a:p>
            <a:r>
              <a:rPr lang="en-US" sz="1200" dirty="0" err="1"/>
              <a:t>mystring</a:t>
            </a:r>
            <a:r>
              <a:rPr lang="en-US" sz="1200" dirty="0"/>
              <a:t> = “ Server received from client, then echoed back to client:” ;</a:t>
            </a:r>
          </a:p>
          <a:p>
            <a:r>
              <a:rPr lang="en-US" sz="1200" dirty="0" err="1"/>
              <a:t>mystring</a:t>
            </a:r>
            <a:r>
              <a:rPr lang="en-US" sz="1200" dirty="0"/>
              <a:t> += </a:t>
            </a:r>
            <a:r>
              <a:rPr lang="en-US" sz="1200" dirty="0" err="1"/>
              <a:t>message_from_client</a:t>
            </a:r>
            <a:r>
              <a:rPr lang="en-US" sz="1200" dirty="0"/>
              <a:t>;</a:t>
            </a:r>
          </a:p>
          <a:p>
            <a:r>
              <a:rPr lang="en-US" sz="1200" dirty="0" err="1"/>
              <a:t>bzero</a:t>
            </a:r>
            <a:r>
              <a:rPr lang="en-US" sz="1200" dirty="0"/>
              <a:t>(</a:t>
            </a:r>
            <a:r>
              <a:rPr lang="en-US" sz="1200" dirty="0" err="1"/>
              <a:t>message_from_server_to_client</a:t>
            </a:r>
            <a:r>
              <a:rPr lang="en-US" sz="1200" dirty="0"/>
              <a:t>, 256);</a:t>
            </a:r>
          </a:p>
          <a:p>
            <a:r>
              <a:rPr lang="en-US" sz="1200" dirty="0" err="1"/>
              <a:t>mystring.copy</a:t>
            </a:r>
            <a:r>
              <a:rPr lang="en-US" sz="1200" dirty="0"/>
              <a:t>(</a:t>
            </a:r>
            <a:r>
              <a:rPr lang="en-US" sz="1200" dirty="0" err="1"/>
              <a:t>message_from_server_to_client</a:t>
            </a:r>
            <a:r>
              <a:rPr lang="en-US" sz="1200" dirty="0"/>
              <a:t>, </a:t>
            </a:r>
            <a:r>
              <a:rPr lang="en-US" sz="1200" dirty="0" err="1"/>
              <a:t>mystring.length</a:t>
            </a:r>
            <a:r>
              <a:rPr lang="en-US" sz="1200" dirty="0"/>
              <a:t>() );</a:t>
            </a:r>
          </a:p>
          <a:p>
            <a:r>
              <a:rPr lang="en-US" sz="1200" dirty="0" err="1"/>
              <a:t>server_message_length</a:t>
            </a:r>
            <a:r>
              <a:rPr lang="en-US" sz="1200" dirty="0"/>
              <a:t> = write( </a:t>
            </a:r>
            <a:r>
              <a:rPr lang="en-US" sz="1200" dirty="0" err="1"/>
              <a:t>client_conn_fd</a:t>
            </a:r>
            <a:r>
              <a:rPr lang="en-US" sz="1200" dirty="0"/>
              <a:t>,</a:t>
            </a:r>
          </a:p>
          <a:p>
            <a:r>
              <a:rPr lang="en-US" sz="1200" dirty="0"/>
              <a:t>(char *) </a:t>
            </a:r>
            <a:r>
              <a:rPr lang="en-US" sz="1200" dirty="0" err="1"/>
              <a:t>message_from_server_to_client</a:t>
            </a:r>
            <a:r>
              <a:rPr lang="en-US" sz="1200" dirty="0"/>
              <a:t>,</a:t>
            </a:r>
          </a:p>
          <a:p>
            <a:r>
              <a:rPr lang="en-US" sz="1200" dirty="0" err="1"/>
              <a:t>strlen</a:t>
            </a:r>
            <a:r>
              <a:rPr lang="en-US" sz="1200" dirty="0"/>
              <a:t>(</a:t>
            </a:r>
            <a:r>
              <a:rPr lang="en-US" sz="1200" dirty="0" err="1"/>
              <a:t>message_from_server_to_client</a:t>
            </a:r>
            <a:r>
              <a:rPr lang="en-US" sz="1200" dirty="0"/>
              <a:t>)</a:t>
            </a:r>
          </a:p>
          <a:p>
            <a:r>
              <a:rPr lang="en-US" sz="1200" dirty="0"/>
              <a:t>);</a:t>
            </a:r>
          </a:p>
          <a:p>
            <a:r>
              <a:rPr lang="en-US" sz="1200" dirty="0"/>
              <a:t>if (</a:t>
            </a:r>
            <a:r>
              <a:rPr lang="en-US" sz="1200" dirty="0" err="1"/>
              <a:t>server_message_length</a:t>
            </a:r>
            <a:r>
              <a:rPr lang="en-US" sz="1200" dirty="0"/>
              <a:t> &lt; 0)</a:t>
            </a:r>
          </a:p>
          <a:p>
            <a:r>
              <a:rPr lang="en-US" sz="1200" dirty="0" err="1"/>
              <a:t>PrintError</a:t>
            </a:r>
            <a:r>
              <a:rPr lang="en-US" sz="1200" dirty="0"/>
              <a:t>(“ unable to write to socket” );</a:t>
            </a:r>
          </a:p>
          <a:p>
            <a:r>
              <a:rPr lang="en-US" sz="1200" dirty="0"/>
              <a:t>sleep(5); // let the client close first, avoids socket address reuse issues</a:t>
            </a:r>
          </a:p>
          <a:p>
            <a:r>
              <a:rPr lang="en-US" sz="1200" dirty="0"/>
              <a:t>close(</a:t>
            </a:r>
            <a:r>
              <a:rPr lang="en-US" sz="1200" dirty="0" err="1"/>
              <a:t>client_conn_fd</a:t>
            </a:r>
            <a:r>
              <a:rPr lang="en-US" sz="1200" dirty="0"/>
              <a:t>);</a:t>
            </a:r>
          </a:p>
          <a:p>
            <a:r>
              <a:rPr lang="en-US" sz="1200" dirty="0"/>
              <a:t>} // end while (1)</a:t>
            </a:r>
          </a:p>
          <a:p>
            <a:r>
              <a:rPr lang="en-US" sz="1200" dirty="0"/>
              <a:t>close(</a:t>
            </a:r>
            <a:r>
              <a:rPr lang="en-US" sz="1200" dirty="0" err="1"/>
              <a:t>server_socket_fd</a:t>
            </a:r>
            <a:r>
              <a:rPr lang="en-US" sz="1200" dirty="0"/>
              <a:t>); // this </a:t>
            </a:r>
            <a:r>
              <a:rPr lang="en-US" sz="1200" dirty="0" err="1"/>
              <a:t>isn</a:t>
            </a:r>
            <a:r>
              <a:rPr lang="en-US" sz="1200" dirty="0"/>
              <a:t>’ t reached because we used while (1)</a:t>
            </a:r>
          </a:p>
          <a:p>
            <a:r>
              <a:rPr lang="en-US" sz="1200" dirty="0"/>
              <a:t>// but with a different while loop test condition</a:t>
            </a:r>
          </a:p>
          <a:p>
            <a:r>
              <a:rPr lang="en-US" sz="1200" dirty="0"/>
              <a:t>// this would be important</a:t>
            </a:r>
          </a:p>
          <a:p>
            <a:r>
              <a:rPr lang="en-US" sz="1200" dirty="0"/>
              <a:t>return 0;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444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Client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18584-906F-A644-8059-7462225A2DBF}"/>
              </a:ext>
            </a:extLst>
          </p:cNvPr>
          <p:cNvSpPr/>
          <p:nvPr/>
        </p:nvSpPr>
        <p:spPr>
          <a:xfrm>
            <a:off x="838200" y="1562755"/>
            <a:ext cx="40092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 </a:t>
            </a:r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main()</a:t>
            </a:r>
          </a:p>
          <a:p>
            <a:r>
              <a:rPr lang="en-US" sz="1200" dirty="0">
                <a:latin typeface="Helvetica" pitchFamily="2" charset="0"/>
              </a:rPr>
              <a:t>{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struct </a:t>
            </a:r>
            <a:r>
              <a:rPr lang="en-US" sz="1200" dirty="0" err="1">
                <a:latin typeface="Helvetica" pitchFamily="2" charset="0"/>
              </a:rPr>
              <a:t>sockaddr_in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char * </a:t>
            </a:r>
            <a:r>
              <a:rPr lang="en-US" sz="1200" dirty="0" err="1">
                <a:latin typeface="Helvetica" pitchFamily="2" charset="0"/>
              </a:rPr>
              <a:t>IP_address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char </a:t>
            </a:r>
            <a:r>
              <a:rPr lang="en-US" sz="1200" dirty="0" err="1">
                <a:latin typeface="Helvetica" pitchFamily="2" charset="0"/>
              </a:rPr>
              <a:t>client_message</a:t>
            </a:r>
            <a:r>
              <a:rPr lang="en-US" sz="1200" dirty="0">
                <a:latin typeface="Helvetica" pitchFamily="2" charset="0"/>
              </a:rPr>
              <a:t>[256];</a:t>
            </a:r>
          </a:p>
          <a:p>
            <a:r>
              <a:rPr lang="en-US" sz="1200" dirty="0" err="1">
                <a:latin typeface="Helvetica" pitchFamily="2" charset="0"/>
              </a:rPr>
              <a:t>int</a:t>
            </a:r>
            <a:r>
              <a:rPr lang="en-US" sz="1200" dirty="0">
                <a:latin typeface="Helvetica" pitchFamily="2" charset="0"/>
              </a:rPr>
              <a:t> </a:t>
            </a:r>
            <a:r>
              <a:rPr lang="en-US" sz="1200" dirty="0" err="1">
                <a:latin typeface="Helvetica" pitchFamily="2" charset="0"/>
              </a:rPr>
              <a:t>message_result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// Set the IP address (IPv4)</a:t>
            </a:r>
          </a:p>
          <a:p>
            <a:r>
              <a:rPr lang="en-US" sz="1200" dirty="0" err="1">
                <a:latin typeface="Helvetica" pitchFamily="2" charset="0"/>
              </a:rPr>
              <a:t>IP_address</a:t>
            </a:r>
            <a:r>
              <a:rPr lang="en-US" sz="1200" dirty="0">
                <a:latin typeface="Helvetica" pitchFamily="2" charset="0"/>
              </a:rPr>
              <a:t> = new char [</a:t>
            </a:r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(“ 127.0.0.1” )];</a:t>
            </a:r>
          </a:p>
          <a:p>
            <a:r>
              <a:rPr lang="en-US" sz="1200" dirty="0" err="1">
                <a:latin typeface="Helvetica" pitchFamily="2" charset="0"/>
              </a:rPr>
              <a:t>strcpy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IP_address</a:t>
            </a:r>
            <a:r>
              <a:rPr lang="en-US" sz="1200" dirty="0">
                <a:latin typeface="Helvetica" pitchFamily="2" charset="0"/>
              </a:rPr>
              <a:t>, “ 127.0.0.1” ); // could instead have copied “ localhost”</a:t>
            </a:r>
          </a:p>
          <a:p>
            <a:r>
              <a:rPr lang="en-US" sz="1200" dirty="0">
                <a:latin typeface="Helvetica" pitchFamily="2" charset="0"/>
              </a:rPr>
              <a:t> // Set the port number</a:t>
            </a:r>
          </a:p>
          <a:p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 = 1132;</a:t>
            </a:r>
          </a:p>
          <a:p>
            <a:r>
              <a:rPr lang="en-US" sz="1200" dirty="0">
                <a:latin typeface="Helvetica" pitchFamily="2" charset="0"/>
              </a:rPr>
              <a:t>// Create the socket</a:t>
            </a:r>
          </a:p>
          <a:p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 = socket( AF_INET,</a:t>
            </a:r>
          </a:p>
          <a:p>
            <a:r>
              <a:rPr lang="en-US" sz="1200" dirty="0">
                <a:latin typeface="Helvetica" pitchFamily="2" charset="0"/>
              </a:rPr>
              <a:t>SOCK_STREAM,</a:t>
            </a:r>
          </a:p>
          <a:p>
            <a:r>
              <a:rPr lang="en-US" sz="1200" dirty="0">
                <a:latin typeface="Helvetica" pitchFamily="2" charset="0"/>
              </a:rPr>
              <a:t>0</a:t>
            </a: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 ERROR opening socket” );</a:t>
            </a:r>
          </a:p>
          <a:p>
            <a:r>
              <a:rPr lang="en-US" sz="1200" dirty="0">
                <a:latin typeface="Helvetica" pitchFamily="2" charset="0"/>
              </a:rPr>
              <a:t>// clear out the server address to make sure no problems with binding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((char *) &amp;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));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D185D-911C-A040-BA0D-C42ECC1C704B}"/>
              </a:ext>
            </a:extLst>
          </p:cNvPr>
          <p:cNvSpPr/>
          <p:nvPr/>
        </p:nvSpPr>
        <p:spPr>
          <a:xfrm>
            <a:off x="6096000" y="1509033"/>
            <a:ext cx="435684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 // set the </a:t>
            </a:r>
            <a:r>
              <a:rPr lang="en-US" sz="1200" dirty="0" err="1">
                <a:latin typeface="Helvetica" pitchFamily="2" charset="0"/>
              </a:rPr>
              <a:t>sockaddr_in</a:t>
            </a:r>
            <a:r>
              <a:rPr lang="en-US" sz="1200" dirty="0">
                <a:latin typeface="Helvetica" pitchFamily="2" charset="0"/>
              </a:rPr>
              <a:t> struct appropriately</a:t>
            </a:r>
          </a:p>
          <a:p>
            <a:r>
              <a:rPr lang="en-US" sz="1200" dirty="0" err="1">
                <a:latin typeface="Helvetica" pitchFamily="2" charset="0"/>
              </a:rPr>
              <a:t>serv_addr.sin_family</a:t>
            </a:r>
            <a:r>
              <a:rPr lang="en-US" sz="1200" dirty="0">
                <a:latin typeface="Helvetica" pitchFamily="2" charset="0"/>
              </a:rPr>
              <a:t> = AF_INET;</a:t>
            </a:r>
          </a:p>
          <a:p>
            <a:r>
              <a:rPr lang="en-US" sz="1200" dirty="0" err="1">
                <a:latin typeface="Helvetica" pitchFamily="2" charset="0"/>
              </a:rPr>
              <a:t>serv_addr.sin_port</a:t>
            </a:r>
            <a:r>
              <a:rPr lang="en-US" sz="1200" dirty="0">
                <a:latin typeface="Helvetica" pitchFamily="2" charset="0"/>
              </a:rPr>
              <a:t> = </a:t>
            </a:r>
            <a:r>
              <a:rPr lang="en-US" sz="1200" dirty="0" err="1">
                <a:latin typeface="Helvetica" pitchFamily="2" charset="0"/>
              </a:rPr>
              <a:t>htons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port_number</a:t>
            </a:r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// Use the </a:t>
            </a:r>
            <a:r>
              <a:rPr lang="en-US" sz="1200" dirty="0" err="1">
                <a:latin typeface="Helvetica" pitchFamily="2" charset="0"/>
              </a:rPr>
              <a:t>inet_pton</a:t>
            </a:r>
            <a:r>
              <a:rPr lang="en-US" sz="1200" dirty="0">
                <a:latin typeface="Helvetica" pitchFamily="2" charset="0"/>
              </a:rPr>
              <a:t> function to convert the IP address to</a:t>
            </a:r>
          </a:p>
          <a:p>
            <a:r>
              <a:rPr lang="en-US" sz="1200" dirty="0">
                <a:latin typeface="Helvetica" pitchFamily="2" charset="0"/>
              </a:rPr>
              <a:t>// binary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inet_pton</a:t>
            </a:r>
            <a:r>
              <a:rPr lang="en-US" sz="1200" dirty="0">
                <a:latin typeface="Helvetica" pitchFamily="2" charset="0"/>
              </a:rPr>
              <a:t>( AF_INET,</a:t>
            </a:r>
          </a:p>
          <a:p>
            <a:r>
              <a:rPr lang="en-US" sz="1200" dirty="0" err="1">
                <a:latin typeface="Helvetica" pitchFamily="2" charset="0"/>
              </a:rPr>
              <a:t>IP_address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&amp;</a:t>
            </a:r>
            <a:r>
              <a:rPr lang="en-US" sz="1200" dirty="0" err="1">
                <a:latin typeface="Helvetica" pitchFamily="2" charset="0"/>
              </a:rPr>
              <a:t>serv_addr.sin_addr</a:t>
            </a:r>
            <a:endParaRPr lang="en-US" sz="1200" dirty="0">
              <a:latin typeface="Helvetica" pitchFamily="2" charset="0"/>
            </a:endParaRPr>
          </a:p>
          <a:p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>
                <a:latin typeface="Helvetica" pitchFamily="2" charset="0"/>
              </a:rPr>
              <a:t>&lt; 0</a:t>
            </a:r>
          </a:p>
          <a:p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 Unable to convert IP address to binary to put in 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” );</a:t>
            </a:r>
          </a:p>
          <a:p>
            <a:r>
              <a:rPr lang="en-US" sz="1200" dirty="0">
                <a:latin typeface="Helvetica" pitchFamily="2" charset="0"/>
              </a:rPr>
              <a:t>// Connect to the server</a:t>
            </a:r>
          </a:p>
          <a:p>
            <a:r>
              <a:rPr lang="en-US" sz="1200" dirty="0">
                <a:latin typeface="Helvetica" pitchFamily="2" charset="0"/>
              </a:rPr>
              <a:t>if (connect( 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(struct </a:t>
            </a:r>
            <a:r>
              <a:rPr lang="en-US" sz="1200" dirty="0" err="1">
                <a:latin typeface="Helvetica" pitchFamily="2" charset="0"/>
              </a:rPr>
              <a:t>sockaddr</a:t>
            </a:r>
            <a:r>
              <a:rPr lang="en-US" sz="1200" dirty="0">
                <a:latin typeface="Helvetica" pitchFamily="2" charset="0"/>
              </a:rPr>
              <a:t> *)</a:t>
            </a:r>
          </a:p>
          <a:p>
            <a:r>
              <a:rPr lang="en-US" sz="1200" dirty="0">
                <a:latin typeface="Helvetica" pitchFamily="2" charset="0"/>
              </a:rPr>
              <a:t>&amp;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sizeof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serv_addr</a:t>
            </a:r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>
                <a:latin typeface="Helvetica" pitchFamily="2" charset="0"/>
              </a:rPr>
              <a:t>&lt;0</a:t>
            </a:r>
          </a:p>
          <a:p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 unable to connect to server” );</a:t>
            </a:r>
          </a:p>
          <a:p>
            <a:r>
              <a:rPr lang="en-US" sz="1200" dirty="0">
                <a:latin typeface="Helvetica" pitchFamily="2" charset="0"/>
              </a:rPr>
              <a:t> </a:t>
            </a:r>
            <a:r>
              <a:rPr lang="en-US" sz="1200" dirty="0" err="1">
                <a:latin typeface="Helvetica" pitchFamily="2" charset="0"/>
              </a:rPr>
              <a:t>cout</a:t>
            </a:r>
            <a:r>
              <a:rPr lang="en-US" sz="1200" dirty="0">
                <a:latin typeface="Helvetica" pitchFamily="2" charset="0"/>
              </a:rPr>
              <a:t> &lt;&lt; “ Enter message to send to server: ” ;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(client_message,256);</a:t>
            </a:r>
          </a:p>
          <a:p>
            <a:endParaRPr lang="en-US" sz="1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74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–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Client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97CAE-1D5A-BF48-B52E-26217C09B9F5}"/>
              </a:ext>
            </a:extLst>
          </p:cNvPr>
          <p:cNvSpPr/>
          <p:nvPr/>
        </p:nvSpPr>
        <p:spPr>
          <a:xfrm>
            <a:off x="838200" y="1538288"/>
            <a:ext cx="429659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string </a:t>
            </a:r>
            <a:r>
              <a:rPr lang="en-US" sz="1200" dirty="0" err="1">
                <a:latin typeface="Helvetica" pitchFamily="2" charset="0"/>
              </a:rPr>
              <a:t>mystring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 err="1">
                <a:latin typeface="Helvetica" pitchFamily="2" charset="0"/>
              </a:rPr>
              <a:t>getline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cin</a:t>
            </a:r>
            <a:r>
              <a:rPr lang="en-US" sz="1200" dirty="0">
                <a:latin typeface="Helvetica" pitchFamily="2" charset="0"/>
              </a:rPr>
              <a:t>, </a:t>
            </a:r>
            <a:r>
              <a:rPr lang="en-US" sz="1200" dirty="0" err="1">
                <a:latin typeface="Helvetica" pitchFamily="2" charset="0"/>
              </a:rPr>
              <a:t>mystring</a:t>
            </a:r>
            <a:r>
              <a:rPr lang="en-US" sz="1200" dirty="0">
                <a:latin typeface="Helvetica" pitchFamily="2" charset="0"/>
              </a:rPr>
              <a:t>); // read the line from standard input</a:t>
            </a:r>
          </a:p>
          <a:p>
            <a:r>
              <a:rPr lang="en-US" sz="1200" dirty="0" err="1">
                <a:latin typeface="Helvetica" pitchFamily="2" charset="0"/>
              </a:rPr>
              <a:t>cout</a:t>
            </a:r>
            <a:r>
              <a:rPr lang="en-US" sz="1200" dirty="0">
                <a:latin typeface="Helvetica" pitchFamily="2" charset="0"/>
              </a:rPr>
              <a:t> &lt;&lt; </a:t>
            </a:r>
            <a:r>
              <a:rPr lang="en-US" sz="1200" dirty="0" err="1">
                <a:latin typeface="Helvetica" pitchFamily="2" charset="0"/>
              </a:rPr>
              <a:t>endl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 err="1">
                <a:latin typeface="Helvetica" pitchFamily="2" charset="0"/>
              </a:rPr>
              <a:t>strcpy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client_message,mystring.c_str</a:t>
            </a:r>
            <a:r>
              <a:rPr lang="en-US" sz="1200" dirty="0">
                <a:latin typeface="Helvetica" pitchFamily="2" charset="0"/>
              </a:rPr>
              <a:t>());</a:t>
            </a:r>
          </a:p>
          <a:p>
            <a:r>
              <a:rPr lang="en-US" sz="1200" dirty="0">
                <a:latin typeface="Helvetica" pitchFamily="2" charset="0"/>
              </a:rPr>
              <a:t>// Write the message to the socket to send to the server</a:t>
            </a:r>
          </a:p>
          <a:p>
            <a:r>
              <a:rPr lang="en-US" sz="1200" dirty="0" err="1">
                <a:latin typeface="Helvetica" pitchFamily="2" charset="0"/>
              </a:rPr>
              <a:t>message_result</a:t>
            </a:r>
            <a:r>
              <a:rPr lang="en-US" sz="1200" dirty="0">
                <a:latin typeface="Helvetica" pitchFamily="2" charset="0"/>
              </a:rPr>
              <a:t> = write( 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client_message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strlen</a:t>
            </a:r>
            <a:r>
              <a:rPr lang="en-US" sz="1200" dirty="0">
                <a:latin typeface="Helvetica" pitchFamily="2" charset="0"/>
              </a:rPr>
              <a:t>(</a:t>
            </a:r>
            <a:r>
              <a:rPr lang="en-US" sz="1200" dirty="0" err="1">
                <a:latin typeface="Helvetica" pitchFamily="2" charset="0"/>
              </a:rPr>
              <a:t>client_message</a:t>
            </a:r>
            <a:r>
              <a:rPr lang="en-US" sz="1200" dirty="0">
                <a:latin typeface="Helvetica" pitchFamily="2" charset="0"/>
              </a:rPr>
              <a:t>)</a:t>
            </a: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message_result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(“unable to write to socket”);</a:t>
            </a:r>
          </a:p>
          <a:p>
            <a:r>
              <a:rPr lang="en-US" sz="1200" dirty="0">
                <a:latin typeface="Helvetica" pitchFamily="2" charset="0"/>
              </a:rPr>
              <a:t>// Read the return message from the server</a:t>
            </a:r>
          </a:p>
          <a:p>
            <a:r>
              <a:rPr lang="en-US" sz="1200" dirty="0" err="1">
                <a:latin typeface="Helvetica" pitchFamily="2" charset="0"/>
              </a:rPr>
              <a:t>bzero</a:t>
            </a:r>
            <a:r>
              <a:rPr lang="en-US" sz="1200" dirty="0">
                <a:latin typeface="Helvetica" pitchFamily="2" charset="0"/>
              </a:rPr>
              <a:t>(client_message,256);</a:t>
            </a:r>
          </a:p>
          <a:p>
            <a:r>
              <a:rPr lang="en-US" sz="1200" dirty="0" err="1">
                <a:latin typeface="Helvetica" pitchFamily="2" charset="0"/>
              </a:rPr>
              <a:t>message_result</a:t>
            </a:r>
            <a:r>
              <a:rPr lang="en-US" sz="1200" dirty="0">
                <a:latin typeface="Helvetica" pitchFamily="2" charset="0"/>
              </a:rPr>
              <a:t> = read( 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 err="1">
                <a:latin typeface="Helvetica" pitchFamily="2" charset="0"/>
              </a:rPr>
              <a:t>client_message</a:t>
            </a:r>
            <a:r>
              <a:rPr lang="en-US" sz="1200" dirty="0">
                <a:latin typeface="Helvetica" pitchFamily="2" charset="0"/>
              </a:rPr>
              <a:t>,</a:t>
            </a:r>
          </a:p>
          <a:p>
            <a:r>
              <a:rPr lang="en-US" sz="1200" dirty="0">
                <a:latin typeface="Helvetica" pitchFamily="2" charset="0"/>
              </a:rPr>
              <a:t>255</a:t>
            </a:r>
          </a:p>
          <a:p>
            <a:r>
              <a:rPr lang="en-US" sz="1200" dirty="0">
                <a:latin typeface="Helvetica" pitchFamily="2" charset="0"/>
              </a:rPr>
              <a:t>);</a:t>
            </a:r>
          </a:p>
          <a:p>
            <a:r>
              <a:rPr lang="en-US" sz="1200" dirty="0">
                <a:latin typeface="Helvetica" pitchFamily="2" charset="0"/>
              </a:rPr>
              <a:t>if (</a:t>
            </a:r>
            <a:r>
              <a:rPr lang="en-US" sz="1200" dirty="0" err="1">
                <a:latin typeface="Helvetica" pitchFamily="2" charset="0"/>
              </a:rPr>
              <a:t>message_result</a:t>
            </a:r>
            <a:r>
              <a:rPr lang="en-US" sz="1200" dirty="0">
                <a:latin typeface="Helvetica" pitchFamily="2" charset="0"/>
              </a:rPr>
              <a:t> &lt; 0)</a:t>
            </a:r>
          </a:p>
          <a:p>
            <a:r>
              <a:rPr lang="en-US" sz="1200" dirty="0" err="1">
                <a:latin typeface="Helvetica" pitchFamily="2" charset="0"/>
              </a:rPr>
              <a:t>PrintError</a:t>
            </a:r>
            <a:r>
              <a:rPr lang="en-US" sz="1200" dirty="0">
                <a:latin typeface="Helvetica" pitchFamily="2" charset="0"/>
              </a:rPr>
              <a:t>(“unable to read from socket”);</a:t>
            </a:r>
          </a:p>
          <a:p>
            <a:r>
              <a:rPr lang="en-US" sz="1200" dirty="0" err="1">
                <a:latin typeface="Helvetica" pitchFamily="2" charset="0"/>
              </a:rPr>
              <a:t>cout</a:t>
            </a:r>
            <a:r>
              <a:rPr lang="en-US" sz="1200" dirty="0">
                <a:latin typeface="Helvetica" pitchFamily="2" charset="0"/>
              </a:rPr>
              <a:t> &lt;&lt; </a:t>
            </a:r>
            <a:r>
              <a:rPr lang="en-US" sz="1200" dirty="0" err="1">
                <a:latin typeface="Helvetica" pitchFamily="2" charset="0"/>
              </a:rPr>
              <a:t>client_message</a:t>
            </a:r>
            <a:r>
              <a:rPr lang="en-US" sz="1200" dirty="0">
                <a:latin typeface="Helvetica" pitchFamily="2" charset="0"/>
              </a:rPr>
              <a:t> &lt;&lt; </a:t>
            </a:r>
            <a:r>
              <a:rPr lang="en-US" sz="1200" dirty="0" err="1">
                <a:latin typeface="Helvetica" pitchFamily="2" charset="0"/>
              </a:rPr>
              <a:t>endl</a:t>
            </a:r>
            <a:r>
              <a:rPr lang="en-US" sz="1200" dirty="0">
                <a:latin typeface="Helvetica" pitchFamily="2" charset="0"/>
              </a:rPr>
              <a:t>;</a:t>
            </a:r>
          </a:p>
          <a:p>
            <a:r>
              <a:rPr lang="en-US" sz="1200" dirty="0">
                <a:latin typeface="Helvetica" pitchFamily="2" charset="0"/>
              </a:rPr>
              <a:t>// close(</a:t>
            </a:r>
            <a:r>
              <a:rPr lang="en-US" sz="1200" dirty="0" err="1">
                <a:latin typeface="Helvetica" pitchFamily="2" charset="0"/>
              </a:rPr>
              <a:t>socket_fd</a:t>
            </a:r>
            <a:r>
              <a:rPr lang="en-US" sz="1200" dirty="0">
                <a:latin typeface="Helvetica" pitchFamily="2" charset="0"/>
              </a:rPr>
              <a:t>); // commented out because only close it if you</a:t>
            </a:r>
          </a:p>
          <a:p>
            <a:r>
              <a:rPr lang="en-US" sz="1200" dirty="0">
                <a:latin typeface="Helvetica" pitchFamily="2" charset="0"/>
              </a:rPr>
              <a:t>// don’t want to do more calling the server from</a:t>
            </a:r>
          </a:p>
          <a:p>
            <a:r>
              <a:rPr lang="en-US" sz="1200" dirty="0">
                <a:latin typeface="Helvetica" pitchFamily="2" charset="0"/>
              </a:rPr>
              <a:t>// a run of the client</a:t>
            </a:r>
          </a:p>
          <a:p>
            <a:r>
              <a:rPr lang="en-US" sz="1200" dirty="0">
                <a:latin typeface="Helvetica" pitchFamily="2" charset="0"/>
              </a:rPr>
              <a:t>delete [] </a:t>
            </a:r>
            <a:r>
              <a:rPr lang="en-US" sz="1200" dirty="0" err="1">
                <a:latin typeface="Helvetica" pitchFamily="2" charset="0"/>
              </a:rPr>
              <a:t>IP_address</a:t>
            </a:r>
            <a:r>
              <a:rPr lang="en-US" sz="1200" dirty="0">
                <a:latin typeface="Helvetica" pitchFamily="2" charset="0"/>
              </a:rPr>
              <a:t>; // return the memory to the heap</a:t>
            </a:r>
          </a:p>
          <a:p>
            <a:r>
              <a:rPr lang="en-US" sz="1200" dirty="0">
                <a:latin typeface="Helvetica" pitchFamily="2" charset="0"/>
              </a:rPr>
              <a:t>return 0;</a:t>
            </a:r>
          </a:p>
          <a:p>
            <a:r>
              <a:rPr lang="en-US" sz="1200" dirty="0">
                <a:latin typeface="Helvetica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92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5537</TotalTime>
  <Words>1657</Words>
  <Application>Microsoft Office PowerPoint</Application>
  <PresentationFormat>Widescreen</PresentationFormat>
  <Paragraphs>224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Socket - Introduction</vt:lpstr>
      <vt:lpstr>Socket – Data Structures</vt:lpstr>
      <vt:lpstr>Socket – Library Calls</vt:lpstr>
      <vt:lpstr>Socket – General Operation</vt:lpstr>
      <vt:lpstr>Socket – Example</vt:lpstr>
      <vt:lpstr>Socket – Example</vt:lpstr>
      <vt:lpstr>Socket – Example</vt:lpstr>
      <vt:lpstr>Socket –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242</cp:revision>
  <dcterms:created xsi:type="dcterms:W3CDTF">2018-10-16T06:13:57Z</dcterms:created>
  <dcterms:modified xsi:type="dcterms:W3CDTF">2025-04-18T09:59:17Z</dcterms:modified>
</cp:coreProperties>
</file>