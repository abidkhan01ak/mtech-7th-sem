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7"/>
  </p:notesMasterIdLst>
  <p:sldIdLst>
    <p:sldId id="265" r:id="rId2"/>
    <p:sldId id="278" r:id="rId3"/>
    <p:sldId id="277" r:id="rId4"/>
    <p:sldId id="279" r:id="rId5"/>
    <p:sldId id="28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0860"/>
    <a:srgbClr val="1C1573"/>
    <a:srgbClr val="283E84"/>
    <a:srgbClr val="211D71"/>
    <a:srgbClr val="000099"/>
    <a:srgbClr val="1E2F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5821" autoAdjust="0"/>
  </p:normalViewPr>
  <p:slideViewPr>
    <p:cSldViewPr>
      <p:cViewPr varScale="1">
        <p:scale>
          <a:sx n="74" d="100"/>
          <a:sy n="74" d="100"/>
        </p:scale>
        <p:origin x="1013" y="62"/>
      </p:cViewPr>
      <p:guideLst>
        <p:guide orient="horz" pos="2208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99278A-3672-9F40-BB78-56D2A6DD9FAC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0C3986-5174-5341-8438-64ECB6E49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582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335" y="2482116"/>
            <a:ext cx="8848465" cy="2130566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 userDrawn="1"/>
        </p:nvSpPr>
        <p:spPr>
          <a:xfrm>
            <a:off x="1831508" y="2575123"/>
            <a:ext cx="8666988" cy="19368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Helvetica" panose="020B060402020203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Click to edit Session title</a:t>
            </a:r>
          </a:p>
        </p:txBody>
      </p:sp>
    </p:spTree>
    <p:extLst>
      <p:ext uri="{BB962C8B-B14F-4D97-AF65-F5344CB8AC3E}">
        <p14:creationId xmlns:p14="http://schemas.microsoft.com/office/powerpoint/2010/main" val="1461970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569"/>
            <a:ext cx="10668000" cy="7643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0569"/>
            <a:ext cx="9321800" cy="764364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2728913"/>
          </a:xfrm>
        </p:spPr>
        <p:txBody>
          <a:bodyPr/>
          <a:lstStyle>
            <a:lvl1pPr>
              <a:defRPr sz="1800">
                <a:latin typeface="Helvetica" panose="020B0604020202030204" pitchFamily="34" charset="0"/>
              </a:defRPr>
            </a:lvl1pPr>
            <a:lvl2pPr>
              <a:defRPr sz="1600">
                <a:latin typeface="Helvetica" panose="020B0604020202030204" pitchFamily="34" charset="0"/>
              </a:defRPr>
            </a:lvl2pPr>
            <a:lvl3pPr>
              <a:defRPr sz="1400">
                <a:latin typeface="Helvetica" panose="020B0604020202030204" pitchFamily="34" charset="0"/>
              </a:defRPr>
            </a:lvl3pPr>
            <a:lvl4pPr>
              <a:defRPr sz="1200">
                <a:latin typeface="Helvetica" panose="020B0604020202030204" pitchFamily="34" charset="0"/>
              </a:defRPr>
            </a:lvl4pPr>
            <a:lvl5pPr>
              <a:defRPr sz="1200"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2pPr>
            <a:lvl3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3pPr>
            <a:lvl4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4pPr>
            <a:lvl5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1542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 algn="r">
              <a:defRPr sz="5400" b="1">
                <a:solidFill>
                  <a:srgbClr val="150860"/>
                </a:solidFill>
                <a:latin typeface="Helvetica"/>
                <a:cs typeface="Helvetica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chemeClr val="tx1">
                    <a:tint val="75000"/>
                  </a:schemeClr>
                </a:solidFill>
                <a:latin typeface="Helvetica Light"/>
                <a:cs typeface="Helvetica Ligh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687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184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9" r:id="rId2"/>
    <p:sldLayoutId id="214748374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Addressing Overview</a:t>
            </a:r>
          </a:p>
          <a:p>
            <a:r>
              <a:rPr lang="en-US" dirty="0"/>
              <a:t>Interoperable Object Reference (IOR) format</a:t>
            </a:r>
          </a:p>
          <a:p>
            <a:pPr lvl="1"/>
            <a:r>
              <a:rPr lang="en-US" dirty="0"/>
              <a:t>The original CORBA Naming Service</a:t>
            </a:r>
          </a:p>
          <a:p>
            <a:r>
              <a:rPr lang="en-US" dirty="0"/>
              <a:t>CORBA Interoperable Naming Services</a:t>
            </a:r>
          </a:p>
          <a:p>
            <a:pPr lvl="1"/>
            <a:r>
              <a:rPr lang="en-US" dirty="0" err="1"/>
              <a:t>Corbaloc</a:t>
            </a:r>
            <a:endParaRPr lang="en-US" dirty="0"/>
          </a:p>
          <a:p>
            <a:pPr lvl="1"/>
            <a:r>
              <a:rPr lang="en-US" dirty="0" err="1"/>
              <a:t>Corbaname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/>
          <a:lstStyle/>
          <a:p>
            <a:r>
              <a:rPr lang="en-US" dirty="0"/>
              <a:t>CORBA Addressing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this segment</a:t>
            </a:r>
          </a:p>
        </p:txBody>
      </p:sp>
    </p:spTree>
    <p:extLst>
      <p:ext uri="{BB962C8B-B14F-4D97-AF65-F5344CB8AC3E}">
        <p14:creationId xmlns:p14="http://schemas.microsoft.com/office/powerpoint/2010/main" val="1092033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9810261" cy="4571999"/>
          </a:xfrm>
        </p:spPr>
        <p:txBody>
          <a:bodyPr>
            <a:normAutofit/>
          </a:bodyPr>
          <a:lstStyle/>
          <a:p>
            <a:r>
              <a:rPr lang="en-US" dirty="0"/>
              <a:t>Major address formats in CORBA</a:t>
            </a:r>
          </a:p>
          <a:p>
            <a:pPr lvl="1"/>
            <a:r>
              <a:rPr lang="en-US" dirty="0"/>
              <a:t>Interoperable Object Reference (IOR) format</a:t>
            </a:r>
          </a:p>
          <a:p>
            <a:pPr lvl="1"/>
            <a:r>
              <a:rPr lang="en-US" dirty="0"/>
              <a:t>Uniform Resource Identifier (URI) formats from CORBA Interoperable naming services</a:t>
            </a:r>
          </a:p>
          <a:p>
            <a:pPr lvl="2"/>
            <a:r>
              <a:rPr lang="en-US" dirty="0" err="1"/>
              <a:t>Corbaloc</a:t>
            </a:r>
            <a:endParaRPr lang="en-US" dirty="0"/>
          </a:p>
          <a:p>
            <a:pPr lvl="2"/>
            <a:r>
              <a:rPr lang="en-US" dirty="0" err="1"/>
              <a:t>Corbaname</a:t>
            </a:r>
            <a:endParaRPr lang="en-US" dirty="0"/>
          </a:p>
          <a:p>
            <a:r>
              <a:rPr lang="en-US" dirty="0"/>
              <a:t>Address is obtained using “</a:t>
            </a:r>
            <a:r>
              <a:rPr lang="en-US" dirty="0" err="1"/>
              <a:t>string_to_object</a:t>
            </a:r>
            <a:r>
              <a:rPr lang="en-US" dirty="0"/>
              <a:t>” function on client object, which takes address string and returns object reference</a:t>
            </a:r>
          </a:p>
          <a:p>
            <a:r>
              <a:rPr lang="en-US" dirty="0"/>
              <a:t>Reference is then narrowed to proxy object using Helper methods</a:t>
            </a:r>
          </a:p>
          <a:p>
            <a:r>
              <a:rPr lang="en-US" dirty="0"/>
              <a:t>Other address formats (optional) are:</a:t>
            </a:r>
          </a:p>
          <a:p>
            <a:pPr lvl="1"/>
            <a:r>
              <a:rPr lang="en-US" dirty="0"/>
              <a:t>file://filename (name of the file that contains address)</a:t>
            </a:r>
          </a:p>
          <a:p>
            <a:pPr lvl="1"/>
            <a:r>
              <a:rPr lang="en-US" dirty="0"/>
              <a:t>http://</a:t>
            </a:r>
            <a:r>
              <a:rPr lang="en-US" dirty="0" err="1"/>
              <a:t>url</a:t>
            </a:r>
            <a:r>
              <a:rPr lang="en-US" dirty="0"/>
              <a:t> (URL that contains address)</a:t>
            </a:r>
          </a:p>
          <a:p>
            <a:pPr lvl="1"/>
            <a:r>
              <a:rPr lang="en-US" dirty="0"/>
              <a:t>ftp://filename (location of file that contains address)</a:t>
            </a:r>
          </a:p>
          <a:p>
            <a:pPr lvl="2"/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CORBA Addressing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913638-8679-2E48-AE77-2E33423879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/>
          <a:lstStyle/>
          <a:p>
            <a:r>
              <a:rPr lang="en-US" dirty="0"/>
              <a:t>Overview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64C683-F4D3-BA42-8417-B738C6C7EE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4807" y="5458926"/>
            <a:ext cx="5188585" cy="77518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38608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15061" cy="3124199"/>
          </a:xfrm>
        </p:spPr>
        <p:txBody>
          <a:bodyPr>
            <a:normAutofit/>
          </a:bodyPr>
          <a:lstStyle/>
          <a:p>
            <a:r>
              <a:rPr lang="en-US" dirty="0"/>
              <a:t>Original addressing format started by CORBA (1991)</a:t>
            </a:r>
          </a:p>
          <a:p>
            <a:r>
              <a:rPr lang="en-US" dirty="0"/>
              <a:t>IOR is created on server and shared with client (via email/sftp) in string format</a:t>
            </a:r>
          </a:p>
          <a:p>
            <a:r>
              <a:rPr lang="en-US" dirty="0"/>
              <a:t>IOR contains:</a:t>
            </a:r>
          </a:p>
          <a:p>
            <a:pPr lvl="1"/>
            <a:r>
              <a:rPr lang="en-US" dirty="0"/>
              <a:t>IP address and port Number</a:t>
            </a:r>
          </a:p>
          <a:p>
            <a:pPr lvl="1"/>
            <a:r>
              <a:rPr lang="en-US" dirty="0"/>
              <a:t>Object reference (for skeleton)</a:t>
            </a:r>
          </a:p>
          <a:p>
            <a:pPr lvl="1"/>
            <a:r>
              <a:rPr lang="en-US" dirty="0"/>
              <a:t>Unique ID for the Interface</a:t>
            </a:r>
          </a:p>
          <a:p>
            <a:pPr lvl="1"/>
            <a:r>
              <a:rPr lang="en-US" dirty="0"/>
              <a:t>Version of Internet Inter-Orb Protocol (IIOP)</a:t>
            </a:r>
          </a:p>
          <a:p>
            <a:r>
              <a:rPr lang="en-US" dirty="0"/>
              <a:t>IOR provides “tagged profiles”, each of which would contain different sets of information to obtain address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CORBA Addressing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913638-8679-2E48-AE77-2E33423879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/>
          <a:lstStyle/>
          <a:p>
            <a:r>
              <a:rPr lang="en-US" dirty="0"/>
              <a:t>Interoperable Object Reference (IOR)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CBED1B8-A9C6-374F-868B-4098FD838E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8375" y="4691062"/>
            <a:ext cx="7378700" cy="183874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28642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15061" cy="3124199"/>
          </a:xfrm>
        </p:spPr>
        <p:txBody>
          <a:bodyPr>
            <a:normAutofit/>
          </a:bodyPr>
          <a:lstStyle/>
          <a:p>
            <a:r>
              <a:rPr lang="en-US" dirty="0"/>
              <a:t>Maps domain names to object references (analogous to DNS)</a:t>
            </a:r>
          </a:p>
          <a:p>
            <a:r>
              <a:rPr lang="en-US" dirty="0"/>
              <a:t>Naming service runs separately, included by ORB vendors</a:t>
            </a:r>
          </a:p>
          <a:p>
            <a:r>
              <a:rPr lang="en-US" dirty="0"/>
              <a:t>Server “binds” name to CORBA object reference using CORBA naming interface</a:t>
            </a:r>
          </a:p>
          <a:p>
            <a:r>
              <a:rPr lang="en-US" dirty="0"/>
              <a:t>Naming works hierarchically like directory structure, but uses naming graph to represent the structure (due to CORBA’s naming limitation with ‘/’)</a:t>
            </a:r>
          </a:p>
          <a:p>
            <a:r>
              <a:rPr lang="en-US" dirty="0"/>
              <a:t>Naming service interface is represented as IDL (in ORB source code)</a:t>
            </a:r>
          </a:p>
          <a:p>
            <a:pPr lvl="1"/>
            <a:r>
              <a:rPr lang="en-US" dirty="0"/>
              <a:t>Each node is represented as a struct defined in IDL containing its parents and its own details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CORBA Addressing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913638-8679-2E48-AE77-2E33423879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/>
          <a:lstStyle/>
          <a:p>
            <a:r>
              <a:rPr lang="en-US" dirty="0"/>
              <a:t>The Original CORBA naming service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E26570-08AB-C748-8818-5C437191B1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6376" y="4191000"/>
            <a:ext cx="6499224" cy="24061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12D9F67-6371-3A43-BCD6-48424054E7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4200525"/>
            <a:ext cx="2298700" cy="119684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33555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5995353" cy="449579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Introduced in CORBA 2.4 spec (2000)</a:t>
            </a:r>
          </a:p>
          <a:p>
            <a:r>
              <a:rPr lang="en-US" dirty="0"/>
              <a:t>Contains two addressing formats: </a:t>
            </a:r>
            <a:r>
              <a:rPr lang="en-US" dirty="0" err="1"/>
              <a:t>corbaloc</a:t>
            </a:r>
            <a:r>
              <a:rPr lang="en-US" dirty="0"/>
              <a:t> and </a:t>
            </a:r>
            <a:r>
              <a:rPr lang="en-US" dirty="0" err="1"/>
              <a:t>corbaname</a:t>
            </a:r>
            <a:endParaRPr lang="en-US" dirty="0"/>
          </a:p>
          <a:p>
            <a:r>
              <a:rPr lang="en-US" dirty="0" err="1"/>
              <a:t>Corbaloc</a:t>
            </a:r>
            <a:endParaRPr lang="en-US" dirty="0"/>
          </a:p>
          <a:p>
            <a:pPr lvl="1"/>
            <a:r>
              <a:rPr lang="en-US" dirty="0" err="1"/>
              <a:t>corbaloc:iiop</a:t>
            </a:r>
            <a:r>
              <a:rPr lang="en-US" dirty="0"/>
              <a:t>: &lt; host IP address&gt;:&lt; port number&gt;/</a:t>
            </a:r>
            <a:r>
              <a:rPr lang="en-US" dirty="0" err="1"/>
              <a:t>object_key</a:t>
            </a:r>
            <a:r>
              <a:rPr lang="en-US" dirty="0"/>
              <a:t> (default port 2809)</a:t>
            </a:r>
          </a:p>
          <a:p>
            <a:pPr lvl="1"/>
            <a:r>
              <a:rPr lang="en-US" dirty="0" err="1"/>
              <a:t>corbaloc:rir</a:t>
            </a:r>
            <a:r>
              <a:rPr lang="en-US" dirty="0"/>
              <a:t>: &lt; host IP address&gt;:&lt; port number&gt;/</a:t>
            </a:r>
            <a:r>
              <a:rPr lang="en-US" dirty="0" err="1"/>
              <a:t>object_key</a:t>
            </a:r>
            <a:r>
              <a:rPr lang="en-US" dirty="0"/>
              <a:t> (resolves initial references)</a:t>
            </a:r>
          </a:p>
          <a:p>
            <a:pPr lvl="1"/>
            <a:r>
              <a:rPr lang="en-US" dirty="0"/>
              <a:t>corbaloc:iiop:1.2@[ipv6 address]:&lt;port number&gt;/</a:t>
            </a:r>
            <a:r>
              <a:rPr lang="en-US" dirty="0" err="1"/>
              <a:t>object_key</a:t>
            </a:r>
            <a:endParaRPr lang="en-US" dirty="0"/>
          </a:p>
          <a:p>
            <a:pPr lvl="1"/>
            <a:r>
              <a:rPr lang="en-US" dirty="0"/>
              <a:t>Ex: corbaloc:iiop:localhost:4321/</a:t>
            </a:r>
            <a:r>
              <a:rPr lang="en-US" dirty="0" err="1"/>
              <a:t>theObjectKey</a:t>
            </a:r>
            <a:r>
              <a:rPr lang="en-US" dirty="0"/>
              <a:t> </a:t>
            </a:r>
          </a:p>
          <a:p>
            <a:r>
              <a:rPr lang="en-US" dirty="0" err="1"/>
              <a:t>Corbaname</a:t>
            </a:r>
            <a:endParaRPr lang="en-US" dirty="0"/>
          </a:p>
          <a:p>
            <a:pPr lvl="1"/>
            <a:r>
              <a:rPr lang="en-US" dirty="0" err="1"/>
              <a:t>corbaname</a:t>
            </a:r>
            <a:r>
              <a:rPr lang="en-US" dirty="0"/>
              <a:t>: &lt;</a:t>
            </a:r>
            <a:r>
              <a:rPr lang="en-US" dirty="0" err="1"/>
              <a:t>corbaloc</a:t>
            </a:r>
            <a:r>
              <a:rPr lang="en-US" dirty="0"/>
              <a:t> format including object key as before&gt; #name string</a:t>
            </a:r>
          </a:p>
          <a:p>
            <a:pPr lvl="1"/>
            <a:r>
              <a:rPr lang="en-US" dirty="0"/>
              <a:t>Ex: </a:t>
            </a:r>
            <a:r>
              <a:rPr lang="en-US" dirty="0" err="1"/>
              <a:t>corbaname</a:t>
            </a:r>
            <a:r>
              <a:rPr lang="en-US" dirty="0"/>
              <a:t>::theServer.edu:1234#echo</a:t>
            </a:r>
          </a:p>
          <a:p>
            <a:pPr lvl="1"/>
            <a:r>
              <a:rPr lang="en-US" dirty="0"/>
              <a:t>Can be used to find Naming service with “</a:t>
            </a:r>
            <a:r>
              <a:rPr lang="en-US" dirty="0" err="1"/>
              <a:t>rir</a:t>
            </a:r>
            <a:r>
              <a:rPr lang="en-US" dirty="0"/>
              <a:t>”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CORBA Addressing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913638-8679-2E48-AE77-2E33423879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/>
          <a:lstStyle/>
          <a:p>
            <a:r>
              <a:rPr lang="en-US" dirty="0"/>
              <a:t>CORBA Interoperable naming service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BC8AD3-7D34-6848-A1FC-A87F7785A5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1357" y="3047999"/>
            <a:ext cx="5979996" cy="12277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F6F65B7-0319-524B-B901-1F3FDC9A1B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589" y="5839446"/>
            <a:ext cx="7042150" cy="636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040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9836</TotalTime>
  <Words>427</Words>
  <Application>Microsoft Office PowerPoint</Application>
  <PresentationFormat>Widescreen</PresentationFormat>
  <Paragraphs>67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Helvetica</vt:lpstr>
      <vt:lpstr>Helvetica Light</vt:lpstr>
      <vt:lpstr>Office Theme</vt:lpstr>
      <vt:lpstr>In this segment</vt:lpstr>
      <vt:lpstr>CORBA Addressing</vt:lpstr>
      <vt:lpstr>CORBA Addressing</vt:lpstr>
      <vt:lpstr>CORBA Addressing</vt:lpstr>
      <vt:lpstr>CORBA Addressing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Abid AK</cp:lastModifiedBy>
  <cp:revision>317</cp:revision>
  <dcterms:created xsi:type="dcterms:W3CDTF">2018-10-16T06:13:57Z</dcterms:created>
  <dcterms:modified xsi:type="dcterms:W3CDTF">2025-04-18T10:14:55Z</dcterms:modified>
</cp:coreProperties>
</file>