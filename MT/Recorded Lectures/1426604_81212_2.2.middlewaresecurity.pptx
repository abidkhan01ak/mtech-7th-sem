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5" r:id="rId2"/>
    <p:sldId id="269" r:id="rId3"/>
    <p:sldId id="270" r:id="rId4"/>
    <p:sldId id="271" r:id="rId5"/>
    <p:sldId id="272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5821" autoAdjust="0"/>
  </p:normalViewPr>
  <p:slideViewPr>
    <p:cSldViewPr>
      <p:cViewPr varScale="1">
        <p:scale>
          <a:sx n="74" d="100"/>
          <a:sy n="74" d="100"/>
        </p:scale>
        <p:origin x="1013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Symmetric and Asymmetric keys</a:t>
            </a:r>
          </a:p>
          <a:p>
            <a:r>
              <a:rPr lang="en-US" dirty="0"/>
              <a:t>Digital Signatures</a:t>
            </a:r>
          </a:p>
          <a:p>
            <a:r>
              <a:rPr lang="en-US" dirty="0"/>
              <a:t>Message Authentication Codes</a:t>
            </a:r>
          </a:p>
          <a:p>
            <a:r>
              <a:rPr lang="en-US" dirty="0"/>
              <a:t>Secure Socket Layer / Transport Layer Security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Middleware Security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Symmetric key cryptography - uses the same key to encrypt the text and to decrypt the text</a:t>
            </a:r>
          </a:p>
          <a:p>
            <a:pPr lvl="1"/>
            <a:r>
              <a:rPr lang="en-US" dirty="0"/>
              <a:t>Both the parties need to know the key (offline sync of the keys)</a:t>
            </a:r>
          </a:p>
          <a:p>
            <a:r>
              <a:rPr lang="en-US" dirty="0"/>
              <a:t>Asymmetric/Public key cryptography - uses two mathematically related keys</a:t>
            </a:r>
          </a:p>
          <a:p>
            <a:pPr lvl="1"/>
            <a:r>
              <a:rPr lang="en-US" dirty="0"/>
              <a:t>Public key</a:t>
            </a:r>
          </a:p>
          <a:p>
            <a:pPr lvl="1"/>
            <a:r>
              <a:rPr lang="en-US" dirty="0"/>
              <a:t>Private key</a:t>
            </a:r>
          </a:p>
          <a:p>
            <a:pPr lvl="1"/>
            <a:r>
              <a:rPr lang="en-US" dirty="0"/>
              <a:t>Message encrypted using either of the keys can be decrypted with the other</a:t>
            </a:r>
          </a:p>
          <a:p>
            <a:pPr lvl="1"/>
            <a:r>
              <a:rPr lang="en-US" dirty="0"/>
              <a:t>Often used to establish secure connection between two entities, to negotiate Symmetric key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Security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Symmetric Cryptography and Asymmetric/Public Keys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52D686-DE31-BB43-A785-AB5E410E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39" y="3836377"/>
            <a:ext cx="3898900" cy="2125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A94F57-78B8-DD41-94D3-C9CC1F12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363" y="3873499"/>
            <a:ext cx="2997002" cy="212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Validates the authenticity and integrity of the digital message using asymmetric keys</a:t>
            </a:r>
          </a:p>
          <a:p>
            <a:r>
              <a:rPr lang="en-US" dirty="0"/>
              <a:t>Sender side:</a:t>
            </a:r>
          </a:p>
          <a:p>
            <a:pPr lvl="1"/>
            <a:r>
              <a:rPr lang="en-US" dirty="0"/>
              <a:t>Digital message is hashed (ex: SHA-1)</a:t>
            </a:r>
          </a:p>
          <a:p>
            <a:pPr lvl="1"/>
            <a:r>
              <a:rPr lang="en-US" dirty="0"/>
              <a:t>Sender’s private key is used to encrypt it</a:t>
            </a:r>
          </a:p>
          <a:p>
            <a:pPr lvl="1"/>
            <a:r>
              <a:rPr lang="en-US" dirty="0"/>
              <a:t>Message is sent along with digital signature</a:t>
            </a:r>
          </a:p>
          <a:p>
            <a:r>
              <a:rPr lang="en-US" dirty="0"/>
              <a:t>Recipient side:</a:t>
            </a:r>
          </a:p>
          <a:p>
            <a:pPr lvl="1"/>
            <a:r>
              <a:rPr lang="en-US" dirty="0"/>
              <a:t>Digital signature is decrypted using sender’s public key</a:t>
            </a:r>
          </a:p>
          <a:p>
            <a:pPr lvl="1"/>
            <a:r>
              <a:rPr lang="en-US" dirty="0"/>
              <a:t>Message is hashed and compared with decrypted signature</a:t>
            </a:r>
          </a:p>
          <a:p>
            <a:pPr lvl="1"/>
            <a:r>
              <a:rPr lang="en-US" dirty="0"/>
              <a:t>If they match, message is accepted as not tampered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Security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Digital Signatures</a:t>
            </a:r>
          </a:p>
        </p:txBody>
      </p:sp>
    </p:spTree>
    <p:extLst>
      <p:ext uri="{BB962C8B-B14F-4D97-AF65-F5344CB8AC3E}">
        <p14:creationId xmlns:p14="http://schemas.microsoft.com/office/powerpoint/2010/main" val="392028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Function same as digital signature, but by using symmetric keys</a:t>
            </a:r>
          </a:p>
          <a:p>
            <a:r>
              <a:rPr lang="en-US" dirty="0"/>
              <a:t>Sender and receiver share same encryption key and use it for encrypting/decrypting the hash</a:t>
            </a:r>
          </a:p>
          <a:p>
            <a:r>
              <a:rPr lang="en-US" dirty="0"/>
              <a:t>Caveat – A receiver can use the MAC to pretend to be the original sender to a third party</a:t>
            </a:r>
          </a:p>
          <a:p>
            <a:pPr lvl="1"/>
            <a:r>
              <a:rPr lang="en-US" dirty="0"/>
              <a:t>Workaround - Hash based MAC (HMAC) – uses hashing with secret key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Security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Message Authentication Codes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2DFFD7-DF10-D244-ABF3-8CE97C6E9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429000"/>
            <a:ext cx="8347564" cy="282936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269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SSL Evolved in 1990s as security mechanism for HTTP (i.e. HTTPS)</a:t>
            </a:r>
          </a:p>
          <a:p>
            <a:r>
              <a:rPr lang="en-US" dirty="0"/>
              <a:t>Transport Layer Security (TLS) evolved as follow-on for SSL in late ‘90s</a:t>
            </a:r>
          </a:p>
          <a:p>
            <a:r>
              <a:rPr lang="en-US" dirty="0"/>
              <a:t>SSL/TLS run on TCP/IP, above HTTP – making it HTTPS</a:t>
            </a:r>
          </a:p>
          <a:p>
            <a:r>
              <a:rPr lang="en-US" dirty="0"/>
              <a:t>SSL 2.0 Major Limitations (RFC 6175)</a:t>
            </a:r>
          </a:p>
          <a:p>
            <a:pPr lvl="1"/>
            <a:r>
              <a:rPr lang="en-US" dirty="0"/>
              <a:t>MD5 is no longer considered secure</a:t>
            </a:r>
          </a:p>
          <a:p>
            <a:pPr lvl="1"/>
            <a:r>
              <a:rPr lang="en-US" dirty="0"/>
              <a:t>Subject to man-in-the-middle attacks and forced session terminations</a:t>
            </a:r>
          </a:p>
          <a:p>
            <a:pPr lvl="1"/>
            <a:r>
              <a:rPr lang="en-US" dirty="0"/>
              <a:t>Same key used for message integrity and encryption</a:t>
            </a:r>
          </a:p>
          <a:p>
            <a:r>
              <a:rPr lang="en-US" dirty="0"/>
              <a:t>TLS Sub protocols (RFC 5246)</a:t>
            </a:r>
          </a:p>
          <a:p>
            <a:pPr lvl="1"/>
            <a:r>
              <a:rPr lang="en-US" dirty="0"/>
              <a:t>Record protocol – Encrypts message using MAC</a:t>
            </a:r>
          </a:p>
          <a:p>
            <a:pPr lvl="1"/>
            <a:r>
              <a:rPr lang="en-US" dirty="0"/>
              <a:t>Handshake protocol – Agrees on the algorithm to use in the session</a:t>
            </a:r>
          </a:p>
          <a:p>
            <a:pPr lvl="1"/>
            <a:r>
              <a:rPr lang="en-US" dirty="0"/>
              <a:t>Alert protocol – Error handling</a:t>
            </a:r>
          </a:p>
          <a:p>
            <a:pPr lvl="1"/>
            <a:r>
              <a:rPr lang="en-US" dirty="0"/>
              <a:t>Cipher spec protocol – Changes cipher strategies/signals</a:t>
            </a:r>
          </a:p>
          <a:p>
            <a:pPr lvl="1"/>
            <a:r>
              <a:rPr lang="en-US" dirty="0"/>
              <a:t>Application data protocol – Provides data transparency to applications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Security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Secure Socket Layer and Transport Layer Security</a:t>
            </a:r>
          </a:p>
        </p:txBody>
      </p:sp>
    </p:spTree>
    <p:extLst>
      <p:ext uri="{BB962C8B-B14F-4D97-AF65-F5344CB8AC3E}">
        <p14:creationId xmlns:p14="http://schemas.microsoft.com/office/powerpoint/2010/main" val="4212778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Security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TLS Handshake Protocol 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CA48FC-912D-8A43-AFC7-25F0C3C213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39" y="1566863"/>
            <a:ext cx="5430371" cy="492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9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2771</TotalTime>
  <Words>381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Middleware Security</vt:lpstr>
      <vt:lpstr>Middleware Security</vt:lpstr>
      <vt:lpstr>Middleware Security</vt:lpstr>
      <vt:lpstr>Middleware Security</vt:lpstr>
      <vt:lpstr>Middleware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253</cp:revision>
  <dcterms:created xsi:type="dcterms:W3CDTF">2018-10-16T06:13:57Z</dcterms:created>
  <dcterms:modified xsi:type="dcterms:W3CDTF">2025-04-18T10:23:01Z</dcterms:modified>
</cp:coreProperties>
</file>