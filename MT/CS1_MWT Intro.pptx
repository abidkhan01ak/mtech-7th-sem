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2"/>
    <p:sldId id="289" r:id="rId3"/>
    <p:sldId id="290" r:id="rId4"/>
    <p:sldId id="265" r:id="rId5"/>
    <p:sldId id="291" r:id="rId6"/>
    <p:sldId id="266" r:id="rId7"/>
    <p:sldId id="292" r:id="rId8"/>
    <p:sldId id="293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766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88473" y="2210780"/>
            <a:ext cx="4391025" cy="3891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345649" y="2194023"/>
            <a:ext cx="4516383" cy="4100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094732" y="6461760"/>
            <a:ext cx="2562225" cy="41275"/>
          </a:xfrm>
          <a:custGeom>
            <a:avLst/>
            <a:gdLst/>
            <a:ahLst/>
            <a:cxnLst/>
            <a:rect l="l" t="t" r="r" b="b"/>
            <a:pathLst>
              <a:path w="2562225" h="41275">
                <a:moveTo>
                  <a:pt x="2561844" y="41147"/>
                </a:moveTo>
                <a:lnTo>
                  <a:pt x="0" y="41147"/>
                </a:lnTo>
                <a:lnTo>
                  <a:pt x="0" y="0"/>
                </a:lnTo>
                <a:lnTo>
                  <a:pt x="2561844" y="0"/>
                </a:lnTo>
                <a:lnTo>
                  <a:pt x="2561844" y="41147"/>
                </a:lnTo>
                <a:close/>
              </a:path>
            </a:pathLst>
          </a:custGeom>
          <a:solidFill>
            <a:srgbClr val="75C1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600188" y="6461760"/>
            <a:ext cx="2458720" cy="38100"/>
          </a:xfrm>
          <a:custGeom>
            <a:avLst/>
            <a:gdLst/>
            <a:ahLst/>
            <a:cxnLst/>
            <a:rect l="l" t="t" r="r" b="b"/>
            <a:pathLst>
              <a:path w="2458720" h="38100">
                <a:moveTo>
                  <a:pt x="2458212" y="38100"/>
                </a:moveTo>
                <a:lnTo>
                  <a:pt x="0" y="38100"/>
                </a:lnTo>
                <a:lnTo>
                  <a:pt x="0" y="0"/>
                </a:lnTo>
                <a:lnTo>
                  <a:pt x="2458212" y="0"/>
                </a:lnTo>
                <a:lnTo>
                  <a:pt x="2458212" y="38100"/>
                </a:lnTo>
                <a:close/>
              </a:path>
            </a:pathLst>
          </a:custGeom>
          <a:solidFill>
            <a:srgbClr val="E2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93620" y="6461760"/>
            <a:ext cx="2839720" cy="41275"/>
          </a:xfrm>
          <a:custGeom>
            <a:avLst/>
            <a:gdLst/>
            <a:ahLst/>
            <a:cxnLst/>
            <a:rect l="l" t="t" r="r" b="b"/>
            <a:pathLst>
              <a:path w="2839720" h="41275">
                <a:moveTo>
                  <a:pt x="2839212" y="41147"/>
                </a:moveTo>
                <a:lnTo>
                  <a:pt x="0" y="41147"/>
                </a:lnTo>
                <a:lnTo>
                  <a:pt x="0" y="0"/>
                </a:lnTo>
                <a:lnTo>
                  <a:pt x="2839212" y="0"/>
                </a:lnTo>
                <a:lnTo>
                  <a:pt x="2839212" y="41147"/>
                </a:lnTo>
                <a:close/>
              </a:path>
            </a:pathLst>
          </a:custGeom>
          <a:solidFill>
            <a:srgbClr val="FBA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945379" y="6464807"/>
            <a:ext cx="2562225" cy="38100"/>
          </a:xfrm>
          <a:custGeom>
            <a:avLst/>
            <a:gdLst/>
            <a:ahLst/>
            <a:cxnLst/>
            <a:rect l="l" t="t" r="r" b="b"/>
            <a:pathLst>
              <a:path w="2562225" h="38100">
                <a:moveTo>
                  <a:pt x="2561843" y="38100"/>
                </a:moveTo>
                <a:lnTo>
                  <a:pt x="0" y="38100"/>
                </a:lnTo>
                <a:lnTo>
                  <a:pt x="0" y="0"/>
                </a:lnTo>
                <a:lnTo>
                  <a:pt x="2561843" y="0"/>
                </a:lnTo>
                <a:lnTo>
                  <a:pt x="2561843" y="38100"/>
                </a:lnTo>
                <a:close/>
              </a:path>
            </a:pathLst>
          </a:custGeom>
          <a:solidFill>
            <a:srgbClr val="75C1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346960" y="6464807"/>
            <a:ext cx="2598420" cy="38100"/>
          </a:xfrm>
          <a:custGeom>
            <a:avLst/>
            <a:gdLst/>
            <a:ahLst/>
            <a:cxnLst/>
            <a:rect l="l" t="t" r="r" b="b"/>
            <a:pathLst>
              <a:path w="2598420" h="38100">
                <a:moveTo>
                  <a:pt x="2598420" y="38100"/>
                </a:moveTo>
                <a:lnTo>
                  <a:pt x="0" y="38100"/>
                </a:lnTo>
                <a:lnTo>
                  <a:pt x="0" y="0"/>
                </a:lnTo>
                <a:lnTo>
                  <a:pt x="2598420" y="0"/>
                </a:lnTo>
                <a:lnTo>
                  <a:pt x="2598420" y="38100"/>
                </a:lnTo>
                <a:close/>
              </a:path>
            </a:pathLst>
          </a:custGeom>
          <a:solidFill>
            <a:srgbClr val="FBA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498080" y="6464807"/>
            <a:ext cx="2560320" cy="38100"/>
          </a:xfrm>
          <a:custGeom>
            <a:avLst/>
            <a:gdLst/>
            <a:ahLst/>
            <a:cxnLst/>
            <a:rect l="l" t="t" r="r" b="b"/>
            <a:pathLst>
              <a:path w="2560320" h="38100">
                <a:moveTo>
                  <a:pt x="2560319" y="38100"/>
                </a:moveTo>
                <a:lnTo>
                  <a:pt x="0" y="38100"/>
                </a:lnTo>
                <a:lnTo>
                  <a:pt x="0" y="0"/>
                </a:lnTo>
                <a:lnTo>
                  <a:pt x="2560319" y="0"/>
                </a:lnTo>
                <a:lnTo>
                  <a:pt x="2560319" y="38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094732" y="6461760"/>
            <a:ext cx="2562225" cy="41275"/>
          </a:xfrm>
          <a:custGeom>
            <a:avLst/>
            <a:gdLst/>
            <a:ahLst/>
            <a:cxnLst/>
            <a:rect l="l" t="t" r="r" b="b"/>
            <a:pathLst>
              <a:path w="2562225" h="41275">
                <a:moveTo>
                  <a:pt x="2561844" y="41147"/>
                </a:moveTo>
                <a:lnTo>
                  <a:pt x="0" y="41147"/>
                </a:lnTo>
                <a:lnTo>
                  <a:pt x="0" y="0"/>
                </a:lnTo>
                <a:lnTo>
                  <a:pt x="2561844" y="0"/>
                </a:lnTo>
                <a:lnTo>
                  <a:pt x="2561844" y="41147"/>
                </a:lnTo>
                <a:close/>
              </a:path>
            </a:pathLst>
          </a:custGeom>
          <a:solidFill>
            <a:srgbClr val="75C1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600188" y="6461760"/>
            <a:ext cx="2458720" cy="38100"/>
          </a:xfrm>
          <a:custGeom>
            <a:avLst/>
            <a:gdLst/>
            <a:ahLst/>
            <a:cxnLst/>
            <a:rect l="l" t="t" r="r" b="b"/>
            <a:pathLst>
              <a:path w="2458720" h="38100">
                <a:moveTo>
                  <a:pt x="2458212" y="38100"/>
                </a:moveTo>
                <a:lnTo>
                  <a:pt x="0" y="38100"/>
                </a:lnTo>
                <a:lnTo>
                  <a:pt x="0" y="0"/>
                </a:lnTo>
                <a:lnTo>
                  <a:pt x="2458212" y="0"/>
                </a:lnTo>
                <a:lnTo>
                  <a:pt x="2458212" y="38100"/>
                </a:lnTo>
                <a:close/>
              </a:path>
            </a:pathLst>
          </a:custGeom>
          <a:solidFill>
            <a:srgbClr val="E21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293620" y="6461760"/>
            <a:ext cx="2839720" cy="41275"/>
          </a:xfrm>
          <a:custGeom>
            <a:avLst/>
            <a:gdLst/>
            <a:ahLst/>
            <a:cxnLst/>
            <a:rect l="l" t="t" r="r" b="b"/>
            <a:pathLst>
              <a:path w="2839720" h="41275">
                <a:moveTo>
                  <a:pt x="2839212" y="41147"/>
                </a:moveTo>
                <a:lnTo>
                  <a:pt x="0" y="41147"/>
                </a:lnTo>
                <a:lnTo>
                  <a:pt x="0" y="0"/>
                </a:lnTo>
                <a:lnTo>
                  <a:pt x="2839212" y="0"/>
                </a:lnTo>
                <a:lnTo>
                  <a:pt x="2839212" y="41147"/>
                </a:lnTo>
                <a:close/>
              </a:path>
            </a:pathLst>
          </a:custGeom>
          <a:solidFill>
            <a:srgbClr val="FBA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945380" y="6464807"/>
            <a:ext cx="2562225" cy="38100"/>
          </a:xfrm>
          <a:custGeom>
            <a:avLst/>
            <a:gdLst/>
            <a:ahLst/>
            <a:cxnLst/>
            <a:rect l="l" t="t" r="r" b="b"/>
            <a:pathLst>
              <a:path w="2562225" h="38100">
                <a:moveTo>
                  <a:pt x="2561843" y="38100"/>
                </a:moveTo>
                <a:lnTo>
                  <a:pt x="0" y="38100"/>
                </a:lnTo>
                <a:lnTo>
                  <a:pt x="0" y="0"/>
                </a:lnTo>
                <a:lnTo>
                  <a:pt x="2561843" y="0"/>
                </a:lnTo>
                <a:lnTo>
                  <a:pt x="2561843" y="38100"/>
                </a:lnTo>
                <a:close/>
              </a:path>
            </a:pathLst>
          </a:custGeom>
          <a:solidFill>
            <a:srgbClr val="75C1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346959" y="6464807"/>
            <a:ext cx="2598420" cy="38100"/>
          </a:xfrm>
          <a:custGeom>
            <a:avLst/>
            <a:gdLst/>
            <a:ahLst/>
            <a:cxnLst/>
            <a:rect l="l" t="t" r="r" b="b"/>
            <a:pathLst>
              <a:path w="2598420" h="38100">
                <a:moveTo>
                  <a:pt x="2598420" y="38100"/>
                </a:moveTo>
                <a:lnTo>
                  <a:pt x="0" y="38100"/>
                </a:lnTo>
                <a:lnTo>
                  <a:pt x="0" y="0"/>
                </a:lnTo>
                <a:lnTo>
                  <a:pt x="2598420" y="0"/>
                </a:lnTo>
                <a:lnTo>
                  <a:pt x="2598420" y="38100"/>
                </a:lnTo>
                <a:close/>
              </a:path>
            </a:pathLst>
          </a:custGeom>
          <a:solidFill>
            <a:srgbClr val="FBA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498080" y="6464807"/>
            <a:ext cx="2560320" cy="38100"/>
          </a:xfrm>
          <a:custGeom>
            <a:avLst/>
            <a:gdLst/>
            <a:ahLst/>
            <a:cxnLst/>
            <a:rect l="l" t="t" r="r" b="b"/>
            <a:pathLst>
              <a:path w="2560320" h="38100">
                <a:moveTo>
                  <a:pt x="2560319" y="38100"/>
                </a:moveTo>
                <a:lnTo>
                  <a:pt x="0" y="38100"/>
                </a:lnTo>
                <a:lnTo>
                  <a:pt x="0" y="0"/>
                </a:lnTo>
                <a:lnTo>
                  <a:pt x="2560319" y="0"/>
                </a:lnTo>
                <a:lnTo>
                  <a:pt x="2560319" y="38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92340" y="1057656"/>
            <a:ext cx="2414016" cy="571499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2598419" y="2127504"/>
            <a:ext cx="2562225" cy="38100"/>
          </a:xfrm>
          <a:custGeom>
            <a:avLst/>
            <a:gdLst/>
            <a:ahLst/>
            <a:cxnLst/>
            <a:rect l="l" t="t" r="r" b="b"/>
            <a:pathLst>
              <a:path w="2562225" h="38100">
                <a:moveTo>
                  <a:pt x="2561844" y="38100"/>
                </a:moveTo>
                <a:lnTo>
                  <a:pt x="0" y="38100"/>
                </a:lnTo>
                <a:lnTo>
                  <a:pt x="0" y="0"/>
                </a:lnTo>
                <a:lnTo>
                  <a:pt x="2561844" y="0"/>
                </a:lnTo>
                <a:lnTo>
                  <a:pt x="2561844" y="38100"/>
                </a:lnTo>
                <a:close/>
              </a:path>
            </a:pathLst>
          </a:custGeom>
          <a:solidFill>
            <a:srgbClr val="75C1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0" y="2127504"/>
            <a:ext cx="2598420" cy="38100"/>
          </a:xfrm>
          <a:custGeom>
            <a:avLst/>
            <a:gdLst/>
            <a:ahLst/>
            <a:cxnLst/>
            <a:rect l="l" t="t" r="r" b="b"/>
            <a:pathLst>
              <a:path w="2598420" h="38100">
                <a:moveTo>
                  <a:pt x="2598419" y="38100"/>
                </a:moveTo>
                <a:lnTo>
                  <a:pt x="0" y="38100"/>
                </a:lnTo>
                <a:lnTo>
                  <a:pt x="0" y="0"/>
                </a:lnTo>
                <a:lnTo>
                  <a:pt x="2598419" y="0"/>
                </a:lnTo>
                <a:lnTo>
                  <a:pt x="2598419" y="38100"/>
                </a:lnTo>
                <a:close/>
              </a:path>
            </a:pathLst>
          </a:custGeom>
          <a:solidFill>
            <a:srgbClr val="FBAF1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5151120" y="2127504"/>
            <a:ext cx="2560320" cy="38100"/>
          </a:xfrm>
          <a:custGeom>
            <a:avLst/>
            <a:gdLst/>
            <a:ahLst/>
            <a:cxnLst/>
            <a:rect l="l" t="t" r="r" b="b"/>
            <a:pathLst>
              <a:path w="2560320" h="38100">
                <a:moveTo>
                  <a:pt x="2560319" y="38100"/>
                </a:moveTo>
                <a:lnTo>
                  <a:pt x="0" y="38100"/>
                </a:lnTo>
                <a:lnTo>
                  <a:pt x="0" y="0"/>
                </a:lnTo>
                <a:lnTo>
                  <a:pt x="2560319" y="0"/>
                </a:lnTo>
                <a:lnTo>
                  <a:pt x="2560319" y="381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12700" y="1458034"/>
            <a:ext cx="9063355" cy="703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16522" y="3561073"/>
            <a:ext cx="4776470" cy="279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582571" y="6531586"/>
            <a:ext cx="1412240" cy="156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://www.middleware.org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api.google.com/Google" TargetMode="Externa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47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65" dirty="0"/>
              <a:t>What</a:t>
            </a:r>
            <a:r>
              <a:rPr spc="85" dirty="0"/>
              <a:t> is</a:t>
            </a:r>
            <a:r>
              <a:rPr spc="125" dirty="0"/>
              <a:t> </a:t>
            </a:r>
            <a:r>
              <a:rPr spc="45" dirty="0"/>
              <a:t>Middleware?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274" y="2239082"/>
            <a:ext cx="6176645" cy="118237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49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75" dirty="0">
                <a:latin typeface="Cambria"/>
                <a:cs typeface="Cambria"/>
              </a:rPr>
              <a:t>Layer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between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260" dirty="0">
                <a:latin typeface="Cambria"/>
                <a:cs typeface="Cambria"/>
              </a:rPr>
              <a:t>OS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distributed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applications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05" dirty="0">
                <a:latin typeface="Cambria"/>
                <a:cs typeface="Cambria"/>
              </a:rPr>
              <a:t>Hides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complexity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heterogeneity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distributed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system</a:t>
            </a:r>
            <a:endParaRPr sz="1650">
              <a:latin typeface="Cambria"/>
              <a:cs typeface="Cambria"/>
            </a:endParaRPr>
          </a:p>
          <a:p>
            <a:pPr marL="295910" marR="38100" indent="-283845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295910" algn="l"/>
                <a:tab pos="1259205" algn="l"/>
                <a:tab pos="1818639" algn="l"/>
                <a:tab pos="2853055" algn="l"/>
                <a:tab pos="3928110" algn="l"/>
                <a:tab pos="4428490" algn="l"/>
              </a:tabLst>
            </a:pPr>
            <a:r>
              <a:rPr sz="1650" spc="75" dirty="0">
                <a:latin typeface="Cambria"/>
                <a:cs typeface="Cambria"/>
              </a:rPr>
              <a:t>Bridges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85" dirty="0">
                <a:latin typeface="Cambria"/>
                <a:cs typeface="Cambria"/>
              </a:rPr>
              <a:t>gap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60" dirty="0">
                <a:latin typeface="Cambria"/>
                <a:cs typeface="Cambria"/>
              </a:rPr>
              <a:t>between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50" dirty="0">
                <a:latin typeface="Cambria"/>
                <a:cs typeface="Cambria"/>
              </a:rPr>
              <a:t>low-</a:t>
            </a:r>
            <a:r>
              <a:rPr sz="1650" spc="-10" dirty="0">
                <a:latin typeface="Cambria"/>
                <a:cs typeface="Cambria"/>
              </a:rPr>
              <a:t>level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225" dirty="0">
                <a:latin typeface="Cambria"/>
                <a:cs typeface="Cambria"/>
              </a:rPr>
              <a:t>OS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100" dirty="0">
                <a:latin typeface="Cambria"/>
                <a:cs typeface="Cambria"/>
              </a:rPr>
              <a:t>communications </a:t>
            </a:r>
            <a:r>
              <a:rPr sz="1650" spc="90" dirty="0">
                <a:latin typeface="Cambria"/>
                <a:cs typeface="Cambria"/>
              </a:rPr>
              <a:t>abstractions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84262" y="2892037"/>
            <a:ext cx="1983739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96900" algn="l"/>
              </a:tabLst>
            </a:pPr>
            <a:r>
              <a:rPr sz="1650" spc="114" dirty="0">
                <a:latin typeface="Cambria"/>
                <a:cs typeface="Cambria"/>
              </a:rPr>
              <a:t>and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80" dirty="0">
                <a:latin typeface="Cambria"/>
                <a:cs typeface="Cambria"/>
              </a:rPr>
              <a:t>programming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33453" y="2892037"/>
            <a:ext cx="94488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100" dirty="0">
                <a:latin typeface="Cambria"/>
                <a:cs typeface="Cambria"/>
              </a:rPr>
              <a:t>language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3274" y="3445236"/>
            <a:ext cx="5249545" cy="8312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  <a:tab pos="1378585" algn="l"/>
                <a:tab pos="2479040" algn="l"/>
                <a:tab pos="4079240" algn="l"/>
              </a:tabLst>
            </a:pPr>
            <a:r>
              <a:rPr sz="1650" spc="45" dirty="0">
                <a:latin typeface="Cambria"/>
                <a:cs typeface="Cambria"/>
              </a:rPr>
              <a:t>Provides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105" dirty="0">
                <a:latin typeface="Cambria"/>
                <a:cs typeface="Cambria"/>
              </a:rPr>
              <a:t>common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80" dirty="0">
                <a:latin typeface="Cambria"/>
                <a:cs typeface="Cambria"/>
              </a:rPr>
              <a:t>programming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80" dirty="0">
                <a:latin typeface="Cambria"/>
                <a:cs typeface="Cambria"/>
              </a:rPr>
              <a:t>abstraction </a:t>
            </a:r>
            <a:r>
              <a:rPr sz="1650" spc="85" dirty="0">
                <a:latin typeface="Cambria"/>
                <a:cs typeface="Cambria"/>
              </a:rPr>
              <a:t>applications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55" dirty="0">
                <a:latin typeface="Cambria"/>
                <a:cs typeface="Cambria"/>
              </a:rPr>
              <a:t>Overview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at: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  <a:hlinkClick r:id="rId2"/>
              </a:rPr>
              <a:t>http://www.middleware.org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21980" y="3445236"/>
            <a:ext cx="258318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30555" algn="l"/>
                <a:tab pos="2294255" algn="l"/>
              </a:tabLst>
            </a:pPr>
            <a:r>
              <a:rPr sz="1650" spc="114" dirty="0">
                <a:latin typeface="Cambria"/>
                <a:cs typeface="Cambria"/>
              </a:rPr>
              <a:t>and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80" dirty="0">
                <a:latin typeface="Cambria"/>
                <a:cs typeface="Cambria"/>
              </a:rPr>
              <a:t>infrastructure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-25" dirty="0">
                <a:latin typeface="Cambria"/>
                <a:cs typeface="Cambria"/>
              </a:rPr>
              <a:t>for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27347" y="3445236"/>
            <a:ext cx="115316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70" dirty="0">
                <a:latin typeface="Cambria"/>
                <a:cs typeface="Cambria"/>
              </a:rPr>
              <a:t>distributed</a:t>
            </a:r>
            <a:endParaRPr sz="1650">
              <a:latin typeface="Cambria"/>
              <a:cs typeface="Cambri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0519" y="4346447"/>
            <a:ext cx="9151619" cy="2068067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EDA34-0622-FA04-49E1-C1CC539D2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A01EC05-EB64-40BE-AF32-90178FCC1A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47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65" dirty="0"/>
              <a:t>What</a:t>
            </a:r>
            <a:r>
              <a:rPr spc="85" dirty="0"/>
              <a:t> is</a:t>
            </a:r>
            <a:r>
              <a:rPr spc="125" dirty="0"/>
              <a:t> </a:t>
            </a:r>
            <a:r>
              <a:rPr spc="45" dirty="0"/>
              <a:t>Middleware?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6696F43-BF53-8243-C943-218224AA079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0CABF733-8532-E4F6-F0DF-F3661FBF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700" y="2067049"/>
            <a:ext cx="991870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layer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sits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between the Operating System (OS) and Distributed Applications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hides the complexity and heterogeneity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(differences in hardware, OS, protocols) of a distributed system.</a:t>
            </a:r>
          </a:p>
          <a:p>
            <a:pPr>
              <a:buNone/>
            </a:pPr>
            <a:r>
              <a:rPr lang="en-US" b="1" dirty="0"/>
              <a:t>Key Roles of Middleware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Abstraction Layer:</a:t>
            </a:r>
            <a:br>
              <a:rPr lang="en-US" dirty="0"/>
            </a:br>
            <a:r>
              <a:rPr lang="en-US" dirty="0"/>
              <a:t>Provides a high-level programming abstraction so developers don’t need to deal with low-level OS or network details.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Communication Bridge:</a:t>
            </a:r>
            <a:br>
              <a:rPr lang="en-US" dirty="0"/>
            </a:br>
            <a:r>
              <a:rPr lang="en-US" dirty="0"/>
              <a:t>Connects OS-level communication (like TCP/IP, sockets) with application-level interactions (like remote method calls, object messaging).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Infrastructure Provider:</a:t>
            </a:r>
            <a:br>
              <a:rPr lang="en-US" dirty="0"/>
            </a:br>
            <a:r>
              <a:rPr lang="en-US" dirty="0"/>
              <a:t>Offers tools and services (e.g., messaging, naming, transactions) to help build distributed applications efficiently.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388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36F7F-1D86-7C41-F408-B25C65854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E9B4FD1-5D22-E473-A22C-B981E34490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5547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65" dirty="0"/>
              <a:t>What</a:t>
            </a:r>
            <a:r>
              <a:rPr spc="85" dirty="0"/>
              <a:t> is</a:t>
            </a:r>
            <a:r>
              <a:rPr spc="125" dirty="0"/>
              <a:t> </a:t>
            </a:r>
            <a:r>
              <a:rPr spc="45" dirty="0"/>
              <a:t>Middleware?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B064AC9-7BFA-13D5-0B90-2361D5C6D5E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3CD2B3-714D-F6DB-1BEF-24B2A3E386B8}"/>
              </a:ext>
            </a:extLst>
          </p:cNvPr>
          <p:cNvSpPr txBox="1"/>
          <p:nvPr/>
        </p:nvSpPr>
        <p:spPr>
          <a:xfrm>
            <a:off x="0" y="2190730"/>
            <a:ext cx="98298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Distributed Applications: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Top-level user applications that may be spread across different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 Layer: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Offers services like remote procedure calls (RPC), message passing, and object invocation.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CORBA, RPC, RMI, REST,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gRPC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Operating System Communications: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Manages low-level data transmission via sockets, IP, TCP, UDP.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Layer: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Responsible for actual data transfer as packets and bits.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acts as glue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distributed apps.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simplifies programming in complex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ensures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interoperability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distributed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039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276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65" dirty="0"/>
              <a:t>What</a:t>
            </a:r>
            <a:r>
              <a:rPr spc="85" dirty="0"/>
              <a:t> is</a:t>
            </a:r>
            <a:r>
              <a:rPr spc="125" dirty="0"/>
              <a:t> </a:t>
            </a:r>
            <a:r>
              <a:rPr spc="45" dirty="0"/>
              <a:t>Middleware?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0867" y="2358656"/>
            <a:ext cx="9514840" cy="1283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70" dirty="0">
                <a:latin typeface="Cambria"/>
                <a:cs typeface="Cambria"/>
              </a:rPr>
              <a:t>“Middleware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software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that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connects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software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components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or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enterprise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applications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 </a:t>
            </a:r>
            <a:r>
              <a:rPr sz="1650" spc="85" dirty="0">
                <a:latin typeface="Cambria"/>
                <a:cs typeface="Cambria"/>
              </a:rPr>
              <a:t>distributed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system”.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marR="1466215" indent="-283845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120" dirty="0">
                <a:latin typeface="Cambria"/>
                <a:cs typeface="Cambria"/>
              </a:rPr>
              <a:t>Examples: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Enterprise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Application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Integration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software,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telecommunications </a:t>
            </a:r>
            <a:r>
              <a:rPr sz="1650" spc="80" dirty="0">
                <a:latin typeface="Cambria"/>
                <a:cs typeface="Cambria"/>
              </a:rPr>
              <a:t>software,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transaction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monitors,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messaging-</a:t>
            </a:r>
            <a:r>
              <a:rPr sz="1650" spc="125" dirty="0">
                <a:latin typeface="Cambria"/>
                <a:cs typeface="Cambria"/>
              </a:rPr>
              <a:t>and-</a:t>
            </a:r>
            <a:r>
              <a:rPr sz="1650" spc="100" dirty="0">
                <a:latin typeface="Cambria"/>
                <a:cs typeface="Cambria"/>
              </a:rPr>
              <a:t>queueing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software.</a:t>
            </a:r>
            <a:endParaRPr sz="16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1171" y="3818181"/>
            <a:ext cx="8810833" cy="242341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988AD-12A3-12F7-4CCE-D46D21969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112DCE-92A8-6223-1BE4-12FA35D9B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7276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65" dirty="0"/>
              <a:t>What</a:t>
            </a:r>
            <a:r>
              <a:rPr spc="85" dirty="0"/>
              <a:t> is</a:t>
            </a:r>
            <a:r>
              <a:rPr spc="125" dirty="0"/>
              <a:t> </a:t>
            </a:r>
            <a:r>
              <a:rPr spc="45" dirty="0"/>
              <a:t>Middleware?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798BA5E-F077-BFA5-6D94-EAD07EF4D35E}"/>
              </a:ext>
            </a:extLst>
          </p:cNvPr>
          <p:cNvSpPr txBox="1"/>
          <p:nvPr/>
        </p:nvSpPr>
        <p:spPr>
          <a:xfrm>
            <a:off x="76200" y="2190730"/>
            <a:ext cx="9514840" cy="24756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buNone/>
            </a:pPr>
            <a:r>
              <a:rPr lang="en-IN" sz="1600" b="1"/>
              <a:t>Real-World Examples</a:t>
            </a:r>
          </a:p>
          <a:p>
            <a:pPr>
              <a:buNone/>
            </a:pPr>
            <a:r>
              <a:rPr lang="en-IN" sz="1600"/>
              <a:t>Middleware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/>
              <a:t>Enterprise Application Integration (EAI)</a:t>
            </a:r>
            <a:r>
              <a:rPr lang="en-IN" sz="1600"/>
              <a:t> software</a:t>
            </a:r>
            <a:br>
              <a:rPr lang="en-IN" sz="1600"/>
            </a:br>
            <a:r>
              <a:rPr lang="en-IN" sz="1600"/>
              <a:t>(Connects different enterprise apps like ERP, CRM)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/>
              <a:t>Telecommunication middleware</a:t>
            </a:r>
            <a:br>
              <a:rPr lang="en-IN" sz="1600"/>
            </a:br>
            <a:r>
              <a:rPr lang="en-IN" sz="1600"/>
              <a:t>(Supports call routing, messaging, etc.)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/>
              <a:t>Transaction monitors</a:t>
            </a:r>
            <a:br>
              <a:rPr lang="en-IN" sz="1600"/>
            </a:br>
            <a:r>
              <a:rPr lang="en-IN" sz="1600"/>
              <a:t>(Ensures consistency in banking transactions)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b="1"/>
              <a:t>Messaging and Queueing software</a:t>
            </a:r>
            <a:br>
              <a:rPr lang="en-IN" sz="1600"/>
            </a:br>
            <a:r>
              <a:rPr lang="en-IN" sz="1600"/>
              <a:t>(e.g., RabbitMQ, Kafka – used in real-time data pipelines)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C449FC9-DA5C-96E4-4F70-184EDB9EA10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29F63B-8DBF-6B0C-5BF5-77D2F179FB32}"/>
              </a:ext>
            </a:extLst>
          </p:cNvPr>
          <p:cNvSpPr txBox="1"/>
          <p:nvPr/>
        </p:nvSpPr>
        <p:spPr>
          <a:xfrm>
            <a:off x="5181600" y="2190730"/>
            <a:ext cx="5105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Diagram:</a:t>
            </a:r>
          </a:p>
          <a:p>
            <a:pPr>
              <a:buNone/>
            </a:pPr>
            <a:r>
              <a:rPr lang="en-US" b="1" dirty="0"/>
              <a:t>Top Layer – Application: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These are end-user or business applications (like a billing system, HR system, etc.).</a:t>
            </a:r>
          </a:p>
          <a:p>
            <a:pPr>
              <a:buNone/>
            </a:pPr>
            <a:r>
              <a:rPr lang="en-US" b="1" dirty="0"/>
              <a:t>Middle Layer – Middleware: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Acts as a communication bridge.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Standard APIs</a:t>
            </a:r>
            <a:r>
              <a:rPr lang="en-US" dirty="0"/>
              <a:t> to talk to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Specific APIs</a:t>
            </a:r>
            <a:r>
              <a:rPr lang="en-US" dirty="0"/>
              <a:t> to communicate with the OS.</a:t>
            </a:r>
          </a:p>
          <a:p>
            <a:pPr>
              <a:buNone/>
            </a:pPr>
            <a:r>
              <a:rPr lang="en-US" b="1" dirty="0"/>
              <a:t>Bottom Layer – OS + Communication: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Operating System</a:t>
            </a:r>
            <a:r>
              <a:rPr lang="en-US" dirty="0"/>
              <a:t> handles local system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Communication System</a:t>
            </a:r>
            <a:r>
              <a:rPr lang="en-US" dirty="0"/>
              <a:t> ensures messages/data travel between machines.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E80476-B64A-F087-CE42-6839C995A059}"/>
              </a:ext>
            </a:extLst>
          </p:cNvPr>
          <p:cNvSpPr txBox="1"/>
          <p:nvPr/>
        </p:nvSpPr>
        <p:spPr>
          <a:xfrm>
            <a:off x="76200" y="5237718"/>
            <a:ext cx="52226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Middleware abstracts the </a:t>
            </a:r>
            <a:r>
              <a:rPr lang="en-US" b="1" dirty="0"/>
              <a:t>OS and network-level complexities</a:t>
            </a:r>
            <a:r>
              <a:rPr lang="en-US" dirty="0"/>
              <a:t>, making </a:t>
            </a:r>
            <a:r>
              <a:rPr lang="en-US" b="1" dirty="0"/>
              <a:t>application communication seamless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1664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989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200" dirty="0"/>
              <a:t>Cont.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0193" y="2257361"/>
            <a:ext cx="6129655" cy="1534795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49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75" dirty="0">
                <a:latin typeface="Cambria"/>
                <a:cs typeface="Cambria"/>
              </a:rPr>
              <a:t>Middleware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provides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support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(some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-20" dirty="0">
                <a:latin typeface="Cambria"/>
                <a:cs typeface="Cambria"/>
              </a:rPr>
              <a:t>of):</a:t>
            </a:r>
            <a:endParaRPr sz="1650">
              <a:latin typeface="Cambria"/>
              <a:cs typeface="Cambria"/>
            </a:endParaRPr>
          </a:p>
          <a:p>
            <a:pPr marL="624840" lvl="1" indent="-234315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624840" algn="l"/>
              </a:tabLst>
            </a:pPr>
            <a:r>
              <a:rPr sz="1650" spc="125" dirty="0">
                <a:latin typeface="Cambria"/>
                <a:cs typeface="Cambria"/>
              </a:rPr>
              <a:t>Naming,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Location,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Service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discovery,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Replication</a:t>
            </a:r>
            <a:endParaRPr sz="1650">
              <a:latin typeface="Cambria"/>
              <a:cs typeface="Cambria"/>
            </a:endParaRPr>
          </a:p>
          <a:p>
            <a:pPr marL="624840" lvl="1" indent="-234315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624840" algn="l"/>
              </a:tabLst>
            </a:pPr>
            <a:r>
              <a:rPr sz="1650" spc="55" dirty="0">
                <a:latin typeface="Cambria"/>
                <a:cs typeface="Cambria"/>
              </a:rPr>
              <a:t>Protocol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handling,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Communication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faults,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55" dirty="0">
                <a:latin typeface="Cambria"/>
                <a:cs typeface="Cambria"/>
              </a:rPr>
              <a:t>QoS</a:t>
            </a:r>
            <a:endParaRPr sz="1650">
              <a:latin typeface="Cambria"/>
              <a:cs typeface="Cambria"/>
            </a:endParaRPr>
          </a:p>
          <a:p>
            <a:pPr marL="624840" lvl="1" indent="-234315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624840" algn="l"/>
              </a:tabLst>
            </a:pPr>
            <a:r>
              <a:rPr sz="1650" spc="105" dirty="0">
                <a:latin typeface="Cambria"/>
                <a:cs typeface="Cambria"/>
              </a:rPr>
              <a:t>Synchronization,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Concurrency,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Transactions,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Storage</a:t>
            </a:r>
            <a:endParaRPr sz="1650">
              <a:latin typeface="Cambria"/>
              <a:cs typeface="Cambria"/>
            </a:endParaRPr>
          </a:p>
          <a:p>
            <a:pPr marL="624840" lvl="1" indent="-234315">
              <a:lnSpc>
                <a:spcPct val="100000"/>
              </a:lnSpc>
              <a:spcBef>
                <a:spcPts val="400"/>
              </a:spcBef>
              <a:buFont typeface="Wingdings"/>
              <a:buChar char=""/>
              <a:tabLst>
                <a:tab pos="624840" algn="l"/>
              </a:tabLst>
            </a:pPr>
            <a:r>
              <a:rPr sz="1650" spc="114" dirty="0">
                <a:latin typeface="Cambria"/>
                <a:cs typeface="Cambria"/>
              </a:rPr>
              <a:t>Access</a:t>
            </a:r>
            <a:r>
              <a:rPr sz="1650" spc="12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control,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Authentication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415" y="4003839"/>
            <a:ext cx="2792730" cy="73025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89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75" dirty="0">
                <a:latin typeface="Cambria"/>
                <a:cs typeface="Cambria"/>
              </a:rPr>
              <a:t>Middleware</a:t>
            </a:r>
            <a:r>
              <a:rPr sz="1650" spc="12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dimensions:</a:t>
            </a:r>
            <a:endParaRPr sz="1650">
              <a:latin typeface="Cambria"/>
              <a:cs typeface="Cambria"/>
            </a:endParaRPr>
          </a:p>
          <a:p>
            <a:pPr marL="390525">
              <a:lnSpc>
                <a:spcPct val="100000"/>
              </a:lnSpc>
              <a:spcBef>
                <a:spcPts val="795"/>
              </a:spcBef>
              <a:tabLst>
                <a:tab pos="624840" algn="l"/>
              </a:tabLst>
            </a:pPr>
            <a:r>
              <a:rPr sz="1650" spc="-75" baseline="2525" dirty="0">
                <a:latin typeface="Cambria"/>
                <a:cs typeface="Cambria"/>
              </a:rPr>
              <a:t>–</a:t>
            </a:r>
            <a:r>
              <a:rPr sz="1650" baseline="2525" dirty="0">
                <a:latin typeface="Cambria"/>
                <a:cs typeface="Cambria"/>
              </a:rPr>
              <a:t>	</a:t>
            </a:r>
            <a:r>
              <a:rPr sz="1650" spc="85" dirty="0">
                <a:latin typeface="Cambria"/>
                <a:cs typeface="Cambria"/>
              </a:rPr>
              <a:t>Request/Reply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73197" y="4375891"/>
            <a:ext cx="3504565" cy="1674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3695">
              <a:lnSpc>
                <a:spcPct val="132100"/>
              </a:lnSpc>
              <a:spcBef>
                <a:spcPts val="100"/>
              </a:spcBef>
              <a:tabLst>
                <a:tab pos="536575" algn="l"/>
              </a:tabLst>
            </a:pPr>
            <a:r>
              <a:rPr sz="1650" spc="90" dirty="0">
                <a:latin typeface="Cambria"/>
                <a:cs typeface="Cambria"/>
              </a:rPr>
              <a:t>vs.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114" dirty="0">
                <a:latin typeface="Cambria"/>
                <a:cs typeface="Cambria"/>
              </a:rPr>
              <a:t>Asynchronous </a:t>
            </a:r>
            <a:r>
              <a:rPr sz="1650" spc="100" dirty="0">
                <a:latin typeface="Cambria"/>
                <a:cs typeface="Cambria"/>
              </a:rPr>
              <a:t>Messaging </a:t>
            </a:r>
            <a:r>
              <a:rPr sz="1650" spc="90" dirty="0">
                <a:latin typeface="Cambria"/>
                <a:cs typeface="Cambria"/>
              </a:rPr>
              <a:t>vs.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120" dirty="0">
                <a:latin typeface="Cambria"/>
                <a:cs typeface="Cambria"/>
              </a:rPr>
              <a:t>Language-</a:t>
            </a:r>
            <a:r>
              <a:rPr sz="1650" spc="80" dirty="0">
                <a:latin typeface="Cambria"/>
                <a:cs typeface="Cambria"/>
              </a:rPr>
              <a:t>independent </a:t>
            </a:r>
            <a:r>
              <a:rPr sz="1650" spc="90" dirty="0">
                <a:latin typeface="Cambria"/>
                <a:cs typeface="Cambria"/>
              </a:rPr>
              <a:t>vs.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130" dirty="0">
                <a:latin typeface="Cambria"/>
                <a:cs typeface="Cambria"/>
              </a:rPr>
              <a:t>Standards-</a:t>
            </a:r>
            <a:r>
              <a:rPr sz="1650" spc="95" dirty="0">
                <a:latin typeface="Cambria"/>
                <a:cs typeface="Cambria"/>
              </a:rPr>
              <a:t>based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  <a:tabLst>
                <a:tab pos="536575" algn="l"/>
              </a:tabLst>
            </a:pPr>
            <a:r>
              <a:rPr sz="1650" spc="90" dirty="0">
                <a:latin typeface="Cambria"/>
                <a:cs typeface="Cambria"/>
              </a:rPr>
              <a:t>vs.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90" dirty="0">
                <a:latin typeface="Cambria"/>
                <a:cs typeface="Cambria"/>
              </a:rPr>
              <a:t>Large-</a:t>
            </a:r>
            <a:r>
              <a:rPr sz="1650" spc="85" dirty="0">
                <a:latin typeface="Cambria"/>
                <a:cs typeface="Cambria"/>
              </a:rPr>
              <a:t>scale</a:t>
            </a:r>
            <a:endParaRPr sz="16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  <a:tabLst>
                <a:tab pos="536575" algn="l"/>
              </a:tabLst>
            </a:pPr>
            <a:r>
              <a:rPr sz="1650" spc="90" dirty="0">
                <a:latin typeface="Cambria"/>
                <a:cs typeface="Cambria"/>
              </a:rPr>
              <a:t>vs.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70" dirty="0">
                <a:latin typeface="Cambria"/>
                <a:cs typeface="Cambria"/>
              </a:rPr>
              <a:t>Loosely-</a:t>
            </a:r>
            <a:r>
              <a:rPr sz="1650" spc="90" dirty="0">
                <a:latin typeface="Cambria"/>
                <a:cs typeface="Cambria"/>
              </a:rPr>
              <a:t>coupled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components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9389" y="5833417"/>
            <a:ext cx="9588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50" dirty="0">
                <a:latin typeface="Cambria"/>
                <a:cs typeface="Cambria"/>
              </a:rPr>
              <a:t>–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9389" y="4708098"/>
            <a:ext cx="2090420" cy="1342390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247015" indent="-234315">
              <a:lnSpc>
                <a:spcPct val="100000"/>
              </a:lnSpc>
              <a:spcBef>
                <a:spcPts val="735"/>
              </a:spcBef>
              <a:buSzPct val="66666"/>
              <a:buChar char="–"/>
              <a:tabLst>
                <a:tab pos="247015" algn="l"/>
              </a:tabLst>
            </a:pPr>
            <a:r>
              <a:rPr sz="1650" spc="120" dirty="0">
                <a:latin typeface="Cambria"/>
                <a:cs typeface="Cambria"/>
              </a:rPr>
              <a:t>Language-</a:t>
            </a:r>
            <a:r>
              <a:rPr sz="1650" spc="65" dirty="0">
                <a:latin typeface="Cambria"/>
                <a:cs typeface="Cambria"/>
              </a:rPr>
              <a:t>specific</a:t>
            </a:r>
            <a:endParaRPr sz="1650">
              <a:latin typeface="Cambria"/>
              <a:cs typeface="Cambria"/>
            </a:endParaRPr>
          </a:p>
          <a:p>
            <a:pPr marL="247015" indent="-234315">
              <a:lnSpc>
                <a:spcPct val="100000"/>
              </a:lnSpc>
              <a:spcBef>
                <a:spcPts val="635"/>
              </a:spcBef>
              <a:buSzPct val="66666"/>
              <a:buChar char="–"/>
              <a:tabLst>
                <a:tab pos="247015" algn="l"/>
              </a:tabLst>
            </a:pPr>
            <a:r>
              <a:rPr sz="1650" spc="50" dirty="0">
                <a:latin typeface="Cambria"/>
                <a:cs typeface="Cambria"/>
              </a:rPr>
              <a:t>Proprietary</a:t>
            </a:r>
            <a:endParaRPr sz="1650">
              <a:latin typeface="Cambria"/>
              <a:cs typeface="Cambria"/>
            </a:endParaRPr>
          </a:p>
          <a:p>
            <a:pPr marL="247015" marR="246379" indent="-234950">
              <a:lnSpc>
                <a:spcPct val="127899"/>
              </a:lnSpc>
              <a:spcBef>
                <a:spcPts val="70"/>
              </a:spcBef>
              <a:buSzPct val="66666"/>
              <a:buChar char="–"/>
              <a:tabLst>
                <a:tab pos="247015" algn="l"/>
              </a:tabLst>
            </a:pPr>
            <a:r>
              <a:rPr sz="1650" spc="130" dirty="0">
                <a:latin typeface="Cambria"/>
                <a:cs typeface="Cambria"/>
              </a:rPr>
              <a:t>Small-</a:t>
            </a:r>
            <a:r>
              <a:rPr sz="1650" spc="80" dirty="0">
                <a:latin typeface="Cambria"/>
                <a:cs typeface="Cambria"/>
              </a:rPr>
              <a:t>scale </a:t>
            </a:r>
            <a:r>
              <a:rPr sz="1650" spc="65" dirty="0">
                <a:latin typeface="Cambria"/>
                <a:cs typeface="Cambria"/>
              </a:rPr>
              <a:t>Tightly-</a:t>
            </a:r>
            <a:r>
              <a:rPr sz="1650" spc="90" dirty="0">
                <a:latin typeface="Cambria"/>
                <a:cs typeface="Cambria"/>
              </a:rPr>
              <a:t>coupled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805BB-20B4-CAB1-A0B8-C71D9FC21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732D54-A218-60E0-E9C6-8F6AB745DF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989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200" dirty="0"/>
              <a:t>Cont.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F50E050-02FB-AA65-F967-1DC743F60A5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F80DC4-825B-9E63-1502-2A73AAB3DA7A}"/>
              </a:ext>
            </a:extLst>
          </p:cNvPr>
          <p:cNvSpPr txBox="1"/>
          <p:nvPr/>
        </p:nvSpPr>
        <p:spPr>
          <a:xfrm>
            <a:off x="63589" y="2161422"/>
            <a:ext cx="9994811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Middleware – Features and Dimensions</a:t>
            </a:r>
          </a:p>
          <a:p>
            <a:pPr>
              <a:buNone/>
            </a:pPr>
            <a:r>
              <a:rPr lang="en-US" sz="1600" b="1" dirty="0"/>
              <a:t>A. Support Provided by Middleware</a:t>
            </a:r>
          </a:p>
          <a:p>
            <a:pPr>
              <a:buNone/>
            </a:pPr>
            <a:r>
              <a:rPr lang="en-US" sz="1600" dirty="0"/>
              <a:t>Middleware provides services essential for building distributed systems: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Naming, Location, Service Discovery, Replication</a:t>
            </a:r>
            <a:endParaRPr lang="en-US" sz="1600" dirty="0"/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Helps applications find each other on the network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Enables data or service copies for reliability and performance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Protocol Handling, Communication Faults, QoS</a:t>
            </a:r>
            <a:endParaRPr lang="en-US" sz="1600" dirty="0"/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Manages underlying communication protocols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Handles errors during message delivery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Ensures </a:t>
            </a:r>
            <a:r>
              <a:rPr lang="en-US" sz="1600" b="1" dirty="0"/>
              <a:t>Quality of Service</a:t>
            </a:r>
            <a:r>
              <a:rPr lang="en-US" sz="1600" dirty="0"/>
              <a:t> (QoS), e.g., reliability or timeliness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Synchronization, Concurrency, Transactions, Storage</a:t>
            </a:r>
            <a:endParaRPr lang="en-US" sz="1600" dirty="0"/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Ensures correct operation when multiple processes interact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Supports atomic transactions (all-or-nothing operations)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Offers distributed storage support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Access Control, Authentication</a:t>
            </a:r>
            <a:endParaRPr lang="en-US" sz="1600" dirty="0"/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Verifies identity of users/services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Controls what each user or service can access</a:t>
            </a:r>
          </a:p>
        </p:txBody>
      </p:sp>
    </p:spTree>
    <p:extLst>
      <p:ext uri="{BB962C8B-B14F-4D97-AF65-F5344CB8AC3E}">
        <p14:creationId xmlns:p14="http://schemas.microsoft.com/office/powerpoint/2010/main" val="3366772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150AF-3063-B423-FE61-FBE2E39D0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10243DB-C605-1E31-65FB-62A7B44523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989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200" dirty="0"/>
              <a:t>Cont.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2DCE514-CD44-9187-CD49-BE9220CE5E4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0942DA-C42D-4764-FDE4-2821893F8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007400"/>
              </p:ext>
            </p:extLst>
          </p:nvPr>
        </p:nvGraphicFramePr>
        <p:xfrm>
          <a:off x="152400" y="2876056"/>
          <a:ext cx="5486400" cy="3233209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4154699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423598761"/>
                    </a:ext>
                  </a:extLst>
                </a:gridCol>
              </a:tblGrid>
              <a:tr h="248214">
                <a:tc>
                  <a:txBody>
                    <a:bodyPr/>
                    <a:lstStyle/>
                    <a:p>
                      <a:r>
                        <a:rPr lang="en-IN" sz="1800" dirty="0"/>
                        <a:t>Dimension</a:t>
                      </a:r>
                    </a:p>
                  </a:txBody>
                  <a:tcPr marL="62054" marR="62054" marT="31027" marB="31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Types/Variations</a:t>
                      </a:r>
                    </a:p>
                  </a:txBody>
                  <a:tcPr marL="62054" marR="62054" marT="31027" marB="31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33511"/>
                  </a:ext>
                </a:extLst>
              </a:tr>
              <a:tr h="620536">
                <a:tc>
                  <a:txBody>
                    <a:bodyPr/>
                    <a:lstStyle/>
                    <a:p>
                      <a:r>
                        <a:rPr lang="en-IN" sz="1800" b="1" dirty="0"/>
                        <a:t>Communication Style</a:t>
                      </a:r>
                      <a:endParaRPr lang="en-IN" sz="1800" dirty="0"/>
                    </a:p>
                  </a:txBody>
                  <a:tcPr marL="62054" marR="62054" marT="31027" marB="31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Request/Reply ⬄ Asynchronous Messaging</a:t>
                      </a:r>
                    </a:p>
                  </a:txBody>
                  <a:tcPr marL="62054" marR="62054" marT="31027" marB="31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156234"/>
                  </a:ext>
                </a:extLst>
              </a:tr>
              <a:tr h="434375">
                <a:tc>
                  <a:txBody>
                    <a:bodyPr/>
                    <a:lstStyle/>
                    <a:p>
                      <a:r>
                        <a:rPr lang="en-IN" sz="1800" b="1" dirty="0"/>
                        <a:t>Language Support</a:t>
                      </a:r>
                      <a:endParaRPr lang="en-IN" sz="1800" dirty="0"/>
                    </a:p>
                  </a:txBody>
                  <a:tcPr marL="62054" marR="62054" marT="31027" marB="31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Language-Specific ⬄ Language-Independent</a:t>
                      </a:r>
                    </a:p>
                  </a:txBody>
                  <a:tcPr marL="62054" marR="62054" marT="31027" marB="31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41335"/>
                  </a:ext>
                </a:extLst>
              </a:tr>
              <a:tr h="434375">
                <a:tc>
                  <a:txBody>
                    <a:bodyPr/>
                    <a:lstStyle/>
                    <a:p>
                      <a:r>
                        <a:rPr lang="en-IN" sz="1800" b="1"/>
                        <a:t>Design</a:t>
                      </a:r>
                      <a:endParaRPr lang="en-IN" sz="1800"/>
                    </a:p>
                  </a:txBody>
                  <a:tcPr marL="62054" marR="62054" marT="31027" marB="31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Proprietary ⬄ Standards-Based</a:t>
                      </a:r>
                    </a:p>
                  </a:txBody>
                  <a:tcPr marL="62054" marR="62054" marT="31027" marB="31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4832595"/>
                  </a:ext>
                </a:extLst>
              </a:tr>
              <a:tr h="434375">
                <a:tc>
                  <a:txBody>
                    <a:bodyPr/>
                    <a:lstStyle/>
                    <a:p>
                      <a:r>
                        <a:rPr lang="en-IN" sz="1800" b="1"/>
                        <a:t>Deployment Size</a:t>
                      </a:r>
                      <a:endParaRPr lang="en-IN" sz="1800"/>
                    </a:p>
                  </a:txBody>
                  <a:tcPr marL="62054" marR="62054" marT="31027" marB="31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Small-Scale ⬄ Large-Scale</a:t>
                      </a:r>
                    </a:p>
                  </a:txBody>
                  <a:tcPr marL="62054" marR="62054" marT="31027" marB="31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4568119"/>
                  </a:ext>
                </a:extLst>
              </a:tr>
              <a:tr h="620536">
                <a:tc>
                  <a:txBody>
                    <a:bodyPr/>
                    <a:lstStyle/>
                    <a:p>
                      <a:r>
                        <a:rPr lang="en-IN" sz="1800" b="1"/>
                        <a:t>Component Coupling</a:t>
                      </a:r>
                      <a:endParaRPr lang="en-IN" sz="1800"/>
                    </a:p>
                  </a:txBody>
                  <a:tcPr marL="62054" marR="62054" marT="31027" marB="31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Tightly-Coupled ⬄ Loosely-Coupled Components</a:t>
                      </a:r>
                    </a:p>
                  </a:txBody>
                  <a:tcPr marL="62054" marR="62054" marT="31027" marB="3102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9309038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F33696D4-3498-D15E-7ADA-45772CFFE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334073"/>
            <a:ext cx="514756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 Dimensions (Comparison Points)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F82578-FDF7-AE0F-2DB8-E44326277537}"/>
              </a:ext>
            </a:extLst>
          </p:cNvPr>
          <p:cNvSpPr txBox="1"/>
          <p:nvPr/>
        </p:nvSpPr>
        <p:spPr>
          <a:xfrm>
            <a:off x="5943600" y="2870537"/>
            <a:ext cx="42250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Middleware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hides complexity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distributed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naming, replication, transactions, and security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can classify middleware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 support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9686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362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195" dirty="0"/>
              <a:t>Common</a:t>
            </a:r>
            <a:r>
              <a:rPr spc="60" dirty="0"/>
              <a:t> </a:t>
            </a:r>
            <a:r>
              <a:rPr spc="120" dirty="0"/>
              <a:t>Forms</a:t>
            </a:r>
            <a:r>
              <a:rPr spc="95" dirty="0"/>
              <a:t> </a:t>
            </a:r>
            <a:r>
              <a:rPr spc="105" dirty="0"/>
              <a:t>of</a:t>
            </a:r>
            <a:r>
              <a:rPr spc="95" dirty="0"/>
              <a:t> </a:t>
            </a:r>
            <a:r>
              <a:rPr spc="-25" dirty="0"/>
              <a:t>MW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46" y="2325154"/>
            <a:ext cx="9316720" cy="358711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610"/>
              </a:spcBef>
              <a:buFont typeface="Wingdings"/>
              <a:buChar char=""/>
              <a:tabLst>
                <a:tab pos="295910" algn="l"/>
              </a:tabLst>
            </a:pPr>
            <a:r>
              <a:rPr sz="1950" spc="145" dirty="0">
                <a:latin typeface="Cambria"/>
                <a:cs typeface="Cambria"/>
              </a:rPr>
              <a:t>Sockets</a:t>
            </a:r>
            <a:endParaRPr sz="19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515"/>
              </a:spcBef>
              <a:buFont typeface="Wingdings"/>
              <a:buChar char=""/>
              <a:tabLst>
                <a:tab pos="295910" algn="l"/>
              </a:tabLst>
            </a:pPr>
            <a:r>
              <a:rPr sz="1950" spc="120" dirty="0">
                <a:latin typeface="Cambria"/>
                <a:cs typeface="Cambria"/>
              </a:rPr>
              <a:t>Remote</a:t>
            </a:r>
            <a:r>
              <a:rPr sz="1950" spc="204" dirty="0">
                <a:latin typeface="Cambria"/>
                <a:cs typeface="Cambria"/>
              </a:rPr>
              <a:t> </a:t>
            </a:r>
            <a:r>
              <a:rPr sz="1950" spc="105" dirty="0">
                <a:latin typeface="Cambria"/>
                <a:cs typeface="Cambria"/>
              </a:rPr>
              <a:t>Procedure</a:t>
            </a:r>
            <a:r>
              <a:rPr sz="1950" spc="229" dirty="0">
                <a:latin typeface="Cambria"/>
                <a:cs typeface="Cambria"/>
              </a:rPr>
              <a:t> </a:t>
            </a:r>
            <a:r>
              <a:rPr sz="1950" spc="145" dirty="0">
                <a:latin typeface="Cambria"/>
                <a:cs typeface="Cambria"/>
              </a:rPr>
              <a:t>Calls</a:t>
            </a:r>
            <a:endParaRPr sz="19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515"/>
              </a:spcBef>
              <a:buFont typeface="Wingdings"/>
              <a:buChar char=""/>
              <a:tabLst>
                <a:tab pos="295910" algn="l"/>
              </a:tabLst>
            </a:pPr>
            <a:r>
              <a:rPr sz="1950" spc="130" dirty="0">
                <a:latin typeface="Cambria"/>
                <a:cs typeface="Cambria"/>
              </a:rPr>
              <a:t>Distributed</a:t>
            </a:r>
            <a:r>
              <a:rPr sz="1950" spc="204" dirty="0">
                <a:latin typeface="Cambria"/>
                <a:cs typeface="Cambria"/>
              </a:rPr>
              <a:t> </a:t>
            </a:r>
            <a:r>
              <a:rPr sz="1950" spc="140" dirty="0">
                <a:latin typeface="Cambria"/>
                <a:cs typeface="Cambria"/>
              </a:rPr>
              <a:t>Object-</a:t>
            </a:r>
            <a:r>
              <a:rPr sz="1950" spc="125" dirty="0">
                <a:latin typeface="Cambria"/>
                <a:cs typeface="Cambria"/>
              </a:rPr>
              <a:t>Oriented</a:t>
            </a:r>
            <a:r>
              <a:rPr sz="1950" spc="185" dirty="0">
                <a:latin typeface="Cambria"/>
                <a:cs typeface="Cambria"/>
              </a:rPr>
              <a:t> </a:t>
            </a:r>
            <a:r>
              <a:rPr sz="1950" spc="160" dirty="0">
                <a:latin typeface="Cambria"/>
                <a:cs typeface="Cambria"/>
              </a:rPr>
              <a:t>Components</a:t>
            </a:r>
            <a:r>
              <a:rPr sz="1950" spc="225" dirty="0">
                <a:latin typeface="Cambria"/>
                <a:cs typeface="Cambria"/>
              </a:rPr>
              <a:t> </a:t>
            </a:r>
            <a:r>
              <a:rPr sz="1950" spc="95" dirty="0">
                <a:latin typeface="Cambria"/>
                <a:cs typeface="Cambria"/>
              </a:rPr>
              <a:t>(Ex:</a:t>
            </a:r>
            <a:r>
              <a:rPr sz="1950" spc="245" dirty="0">
                <a:latin typeface="Cambria"/>
                <a:cs typeface="Cambria"/>
              </a:rPr>
              <a:t> </a:t>
            </a:r>
            <a:r>
              <a:rPr sz="1950" spc="135" dirty="0">
                <a:latin typeface="Cambria"/>
                <a:cs typeface="Cambria"/>
              </a:rPr>
              <a:t>ORB)</a:t>
            </a:r>
            <a:endParaRPr sz="1950">
              <a:latin typeface="Cambria"/>
              <a:cs typeface="Cambria"/>
            </a:endParaRPr>
          </a:p>
          <a:p>
            <a:pPr marL="295910" marR="5080" indent="-283845">
              <a:lnSpc>
                <a:spcPct val="101499"/>
              </a:lnSpc>
              <a:spcBef>
                <a:spcPts val="470"/>
              </a:spcBef>
              <a:buFont typeface="Wingdings"/>
              <a:buChar char=""/>
              <a:tabLst>
                <a:tab pos="295910" algn="l"/>
              </a:tabLst>
            </a:pPr>
            <a:r>
              <a:rPr sz="1950" spc="145" dirty="0">
                <a:latin typeface="Cambria"/>
                <a:cs typeface="Cambria"/>
              </a:rPr>
              <a:t>Message</a:t>
            </a:r>
            <a:r>
              <a:rPr sz="1950" spc="200" dirty="0">
                <a:latin typeface="Cambria"/>
                <a:cs typeface="Cambria"/>
              </a:rPr>
              <a:t> </a:t>
            </a:r>
            <a:r>
              <a:rPr sz="1950" spc="125" dirty="0">
                <a:latin typeface="Cambria"/>
                <a:cs typeface="Cambria"/>
              </a:rPr>
              <a:t>Oriented</a:t>
            </a:r>
            <a:r>
              <a:rPr sz="1950" spc="200" dirty="0">
                <a:latin typeface="Cambria"/>
                <a:cs typeface="Cambria"/>
              </a:rPr>
              <a:t> </a:t>
            </a:r>
            <a:r>
              <a:rPr sz="1950" spc="100" dirty="0">
                <a:latin typeface="Cambria"/>
                <a:cs typeface="Cambria"/>
              </a:rPr>
              <a:t>Middleware</a:t>
            </a:r>
            <a:r>
              <a:rPr sz="1950" spc="220" dirty="0">
                <a:latin typeface="Cambria"/>
                <a:cs typeface="Cambria"/>
              </a:rPr>
              <a:t> </a:t>
            </a:r>
            <a:r>
              <a:rPr sz="1950" spc="110" dirty="0">
                <a:latin typeface="Cambria"/>
                <a:cs typeface="Cambria"/>
              </a:rPr>
              <a:t>(Message</a:t>
            </a:r>
            <a:r>
              <a:rPr sz="1950" spc="200" dirty="0">
                <a:latin typeface="Cambria"/>
                <a:cs typeface="Cambria"/>
              </a:rPr>
              <a:t> </a:t>
            </a:r>
            <a:r>
              <a:rPr sz="1950" spc="155" dirty="0">
                <a:latin typeface="Cambria"/>
                <a:cs typeface="Cambria"/>
              </a:rPr>
              <a:t>Queues/Enterprise</a:t>
            </a:r>
            <a:r>
              <a:rPr sz="1950" spc="200" dirty="0">
                <a:latin typeface="Cambria"/>
                <a:cs typeface="Cambria"/>
              </a:rPr>
              <a:t> </a:t>
            </a:r>
            <a:r>
              <a:rPr sz="1950" spc="145" dirty="0">
                <a:latin typeface="Cambria"/>
                <a:cs typeface="Cambria"/>
              </a:rPr>
              <a:t>Message</a:t>
            </a:r>
            <a:r>
              <a:rPr sz="1950" spc="200" dirty="0">
                <a:latin typeface="Cambria"/>
                <a:cs typeface="Cambria"/>
              </a:rPr>
              <a:t> </a:t>
            </a:r>
            <a:r>
              <a:rPr sz="1950" spc="215" dirty="0">
                <a:latin typeface="Cambria"/>
                <a:cs typeface="Cambria"/>
              </a:rPr>
              <a:t>Bus </a:t>
            </a:r>
            <a:r>
              <a:rPr sz="1950" spc="70" dirty="0">
                <a:latin typeface="Cambria"/>
                <a:cs typeface="Cambria"/>
              </a:rPr>
              <a:t>etc.)</a:t>
            </a:r>
            <a:endParaRPr sz="19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515"/>
              </a:spcBef>
              <a:buFont typeface="Wingdings"/>
              <a:buChar char=""/>
              <a:tabLst>
                <a:tab pos="295910" algn="l"/>
              </a:tabLst>
            </a:pPr>
            <a:r>
              <a:rPr sz="1950" spc="114" dirty="0">
                <a:latin typeface="Cambria"/>
                <a:cs typeface="Cambria"/>
              </a:rPr>
              <a:t>Service</a:t>
            </a:r>
            <a:r>
              <a:rPr sz="1950" spc="195" dirty="0">
                <a:latin typeface="Cambria"/>
                <a:cs typeface="Cambria"/>
              </a:rPr>
              <a:t> </a:t>
            </a:r>
            <a:r>
              <a:rPr sz="1950" spc="125" dirty="0">
                <a:latin typeface="Cambria"/>
                <a:cs typeface="Cambria"/>
              </a:rPr>
              <a:t>Oriented</a:t>
            </a:r>
            <a:r>
              <a:rPr sz="1950" spc="180" dirty="0">
                <a:latin typeface="Cambria"/>
                <a:cs typeface="Cambria"/>
              </a:rPr>
              <a:t> </a:t>
            </a:r>
            <a:r>
              <a:rPr sz="1950" spc="114" dirty="0">
                <a:latin typeface="Cambria"/>
                <a:cs typeface="Cambria"/>
              </a:rPr>
              <a:t>Architectures</a:t>
            </a:r>
            <a:endParaRPr sz="19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505"/>
              </a:spcBef>
              <a:buFont typeface="Wingdings"/>
              <a:buChar char=""/>
              <a:tabLst>
                <a:tab pos="295910" algn="l"/>
              </a:tabLst>
            </a:pPr>
            <a:r>
              <a:rPr sz="1950" spc="105" dirty="0">
                <a:latin typeface="Cambria"/>
                <a:cs typeface="Cambria"/>
              </a:rPr>
              <a:t>Web</a:t>
            </a:r>
            <a:r>
              <a:rPr sz="1950" spc="220" dirty="0">
                <a:latin typeface="Cambria"/>
                <a:cs typeface="Cambria"/>
              </a:rPr>
              <a:t> </a:t>
            </a:r>
            <a:r>
              <a:rPr sz="1950" spc="105" dirty="0">
                <a:latin typeface="Cambria"/>
                <a:cs typeface="Cambria"/>
              </a:rPr>
              <a:t>services</a:t>
            </a:r>
            <a:r>
              <a:rPr sz="1950" spc="180" dirty="0">
                <a:latin typeface="Cambria"/>
                <a:cs typeface="Cambria"/>
              </a:rPr>
              <a:t> </a:t>
            </a:r>
            <a:r>
              <a:rPr sz="1950" spc="65" dirty="0">
                <a:latin typeface="Cambria"/>
                <a:cs typeface="Cambria"/>
              </a:rPr>
              <a:t>(Arbitrary</a:t>
            </a:r>
            <a:r>
              <a:rPr sz="1950" spc="220" dirty="0">
                <a:latin typeface="Cambria"/>
                <a:cs typeface="Cambria"/>
              </a:rPr>
              <a:t> </a:t>
            </a:r>
            <a:r>
              <a:rPr sz="1950" spc="235" dirty="0">
                <a:latin typeface="Cambria"/>
                <a:cs typeface="Cambria"/>
              </a:rPr>
              <a:t>/</a:t>
            </a:r>
            <a:r>
              <a:rPr sz="1950" spc="200" dirty="0">
                <a:latin typeface="Cambria"/>
                <a:cs typeface="Cambria"/>
              </a:rPr>
              <a:t> </a:t>
            </a:r>
            <a:r>
              <a:rPr sz="1950" spc="125" dirty="0">
                <a:latin typeface="Cambria"/>
                <a:cs typeface="Cambria"/>
              </a:rPr>
              <a:t>RESTful)</a:t>
            </a:r>
            <a:endParaRPr sz="19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515"/>
              </a:spcBef>
              <a:buFont typeface="Wingdings"/>
              <a:buChar char=""/>
              <a:tabLst>
                <a:tab pos="295910" algn="l"/>
              </a:tabLst>
            </a:pPr>
            <a:r>
              <a:rPr sz="1950" spc="225" dirty="0">
                <a:latin typeface="Cambria"/>
                <a:cs typeface="Cambria"/>
              </a:rPr>
              <a:t>SQL-</a:t>
            </a:r>
            <a:r>
              <a:rPr sz="1950" spc="95" dirty="0">
                <a:latin typeface="Cambria"/>
                <a:cs typeface="Cambria"/>
              </a:rPr>
              <a:t>oriented</a:t>
            </a:r>
            <a:r>
              <a:rPr sz="1950" spc="210" dirty="0">
                <a:latin typeface="Cambria"/>
                <a:cs typeface="Cambria"/>
              </a:rPr>
              <a:t> </a:t>
            </a:r>
            <a:r>
              <a:rPr sz="1950" spc="145" dirty="0">
                <a:latin typeface="Cambria"/>
                <a:cs typeface="Cambria"/>
              </a:rPr>
              <a:t>data</a:t>
            </a:r>
            <a:r>
              <a:rPr sz="1950" spc="190" dirty="0">
                <a:latin typeface="Cambria"/>
                <a:cs typeface="Cambria"/>
              </a:rPr>
              <a:t> </a:t>
            </a:r>
            <a:r>
              <a:rPr sz="1950" spc="150" dirty="0">
                <a:latin typeface="Cambria"/>
                <a:cs typeface="Cambria"/>
              </a:rPr>
              <a:t>access</a:t>
            </a:r>
            <a:endParaRPr sz="19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515"/>
              </a:spcBef>
              <a:buFont typeface="Wingdings"/>
              <a:buChar char=""/>
              <a:tabLst>
                <a:tab pos="295910" algn="l"/>
              </a:tabLst>
            </a:pPr>
            <a:r>
              <a:rPr sz="1950" spc="150" dirty="0">
                <a:latin typeface="Cambria"/>
                <a:cs typeface="Cambria"/>
              </a:rPr>
              <a:t>Embedded</a:t>
            </a:r>
            <a:r>
              <a:rPr sz="1950" spc="195" dirty="0">
                <a:latin typeface="Cambria"/>
                <a:cs typeface="Cambria"/>
              </a:rPr>
              <a:t> </a:t>
            </a:r>
            <a:r>
              <a:rPr sz="1950" spc="90" dirty="0">
                <a:latin typeface="Cambria"/>
                <a:cs typeface="Cambria"/>
              </a:rPr>
              <a:t>middleware</a:t>
            </a:r>
            <a:endParaRPr sz="19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505"/>
              </a:spcBef>
              <a:buFont typeface="Wingdings"/>
              <a:buChar char=""/>
              <a:tabLst>
                <a:tab pos="295910" algn="l"/>
              </a:tabLst>
            </a:pPr>
            <a:r>
              <a:rPr sz="1950" spc="170" dirty="0">
                <a:latin typeface="Cambria"/>
                <a:cs typeface="Cambria"/>
              </a:rPr>
              <a:t>Cloud</a:t>
            </a:r>
            <a:r>
              <a:rPr sz="1950" spc="229" dirty="0">
                <a:latin typeface="Cambria"/>
                <a:cs typeface="Cambria"/>
              </a:rPr>
              <a:t> </a:t>
            </a:r>
            <a:r>
              <a:rPr sz="1950" spc="155" dirty="0">
                <a:latin typeface="Cambria"/>
                <a:cs typeface="Cambria"/>
              </a:rPr>
              <a:t>Computing</a:t>
            </a:r>
            <a:endParaRPr sz="19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362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135" dirty="0"/>
              <a:t>Sockets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7053" y="2270196"/>
            <a:ext cx="8906510" cy="38284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5910" marR="490220" indent="-283845">
              <a:lnSpc>
                <a:spcPct val="101600"/>
              </a:lnSpc>
              <a:spcBef>
                <a:spcPts val="90"/>
              </a:spcBef>
              <a:buFont typeface="Wingdings"/>
              <a:buChar char=""/>
              <a:tabLst>
                <a:tab pos="295910" algn="l"/>
              </a:tabLst>
            </a:pPr>
            <a:r>
              <a:rPr sz="1950" spc="150" dirty="0">
                <a:latin typeface="Cambria"/>
                <a:cs typeface="Cambria"/>
              </a:rPr>
              <a:t>Socket</a:t>
            </a:r>
            <a:r>
              <a:rPr sz="1950" spc="210" dirty="0">
                <a:latin typeface="Cambria"/>
                <a:cs typeface="Cambria"/>
              </a:rPr>
              <a:t> </a:t>
            </a:r>
            <a:r>
              <a:rPr sz="1950" spc="114" dirty="0">
                <a:latin typeface="Cambria"/>
                <a:cs typeface="Cambria"/>
              </a:rPr>
              <a:t>is</a:t>
            </a:r>
            <a:r>
              <a:rPr sz="1950" spc="210" dirty="0">
                <a:latin typeface="Cambria"/>
                <a:cs typeface="Cambria"/>
              </a:rPr>
              <a:t> </a:t>
            </a:r>
            <a:r>
              <a:rPr sz="1950" spc="200" dirty="0">
                <a:latin typeface="Cambria"/>
                <a:cs typeface="Cambria"/>
              </a:rPr>
              <a:t>an</a:t>
            </a:r>
            <a:r>
              <a:rPr sz="1950" spc="210" dirty="0">
                <a:latin typeface="Cambria"/>
                <a:cs typeface="Cambria"/>
              </a:rPr>
              <a:t> </a:t>
            </a:r>
            <a:r>
              <a:rPr sz="1950" spc="120" dirty="0">
                <a:latin typeface="Cambria"/>
                <a:cs typeface="Cambria"/>
              </a:rPr>
              <a:t>internal</a:t>
            </a:r>
            <a:r>
              <a:rPr sz="1950" spc="190" dirty="0">
                <a:latin typeface="Cambria"/>
                <a:cs typeface="Cambria"/>
              </a:rPr>
              <a:t> </a:t>
            </a:r>
            <a:r>
              <a:rPr sz="1950" spc="114" dirty="0">
                <a:latin typeface="Cambria"/>
                <a:cs typeface="Cambria"/>
              </a:rPr>
              <a:t>endpoint</a:t>
            </a:r>
            <a:r>
              <a:rPr sz="1950" spc="225" dirty="0">
                <a:latin typeface="Cambria"/>
                <a:cs typeface="Cambria"/>
              </a:rPr>
              <a:t> </a:t>
            </a:r>
            <a:r>
              <a:rPr sz="1950" spc="50" dirty="0">
                <a:latin typeface="Cambria"/>
                <a:cs typeface="Cambria"/>
              </a:rPr>
              <a:t>for</a:t>
            </a:r>
            <a:r>
              <a:rPr sz="1950" spc="190" dirty="0">
                <a:latin typeface="Cambria"/>
                <a:cs typeface="Cambria"/>
              </a:rPr>
              <a:t> </a:t>
            </a:r>
            <a:r>
              <a:rPr sz="1950" spc="120" dirty="0">
                <a:latin typeface="Cambria"/>
                <a:cs typeface="Cambria"/>
              </a:rPr>
              <a:t>sending/receiving</a:t>
            </a:r>
            <a:r>
              <a:rPr sz="1950" spc="190" dirty="0">
                <a:latin typeface="Cambria"/>
                <a:cs typeface="Cambria"/>
              </a:rPr>
              <a:t> </a:t>
            </a:r>
            <a:r>
              <a:rPr sz="1950" spc="150" dirty="0">
                <a:latin typeface="Cambria"/>
                <a:cs typeface="Cambria"/>
              </a:rPr>
              <a:t>data</a:t>
            </a:r>
            <a:r>
              <a:rPr sz="1950" spc="190" dirty="0">
                <a:latin typeface="Cambria"/>
                <a:cs typeface="Cambria"/>
              </a:rPr>
              <a:t> </a:t>
            </a:r>
            <a:r>
              <a:rPr sz="1950" spc="110" dirty="0">
                <a:latin typeface="Cambria"/>
                <a:cs typeface="Cambria"/>
              </a:rPr>
              <a:t>within</a:t>
            </a:r>
            <a:r>
              <a:rPr sz="1950" spc="225" dirty="0">
                <a:latin typeface="Cambria"/>
                <a:cs typeface="Cambria"/>
              </a:rPr>
              <a:t> </a:t>
            </a:r>
            <a:r>
              <a:rPr sz="1950" spc="140" dirty="0">
                <a:latin typeface="Cambria"/>
                <a:cs typeface="Cambria"/>
              </a:rPr>
              <a:t>a </a:t>
            </a:r>
            <a:r>
              <a:rPr sz="1950" spc="114" dirty="0">
                <a:latin typeface="Cambria"/>
                <a:cs typeface="Cambria"/>
              </a:rPr>
              <a:t>node</a:t>
            </a:r>
            <a:r>
              <a:rPr sz="1950" spc="204" dirty="0">
                <a:latin typeface="Cambria"/>
                <a:cs typeface="Cambria"/>
              </a:rPr>
              <a:t> </a:t>
            </a:r>
            <a:r>
              <a:rPr sz="1950" spc="135" dirty="0">
                <a:latin typeface="Cambria"/>
                <a:cs typeface="Cambria"/>
              </a:rPr>
              <a:t>on</a:t>
            </a:r>
            <a:r>
              <a:rPr sz="1950" spc="210" dirty="0">
                <a:latin typeface="Cambria"/>
                <a:cs typeface="Cambria"/>
              </a:rPr>
              <a:t> </a:t>
            </a:r>
            <a:r>
              <a:rPr sz="1950" spc="95" dirty="0">
                <a:latin typeface="Cambria"/>
                <a:cs typeface="Cambria"/>
              </a:rPr>
              <a:t>network</a:t>
            </a:r>
            <a:endParaRPr sz="1950">
              <a:latin typeface="Cambria"/>
              <a:cs typeface="Cambria"/>
            </a:endParaRPr>
          </a:p>
          <a:p>
            <a:pPr marL="295910" marR="5080" indent="-283845">
              <a:lnSpc>
                <a:spcPct val="101600"/>
              </a:lnSpc>
              <a:spcBef>
                <a:spcPts val="480"/>
              </a:spcBef>
              <a:buFont typeface="Wingdings"/>
              <a:buChar char=""/>
              <a:tabLst>
                <a:tab pos="295910" algn="l"/>
              </a:tabLst>
            </a:pPr>
            <a:r>
              <a:rPr sz="1950" spc="160" dirty="0">
                <a:latin typeface="Cambria"/>
                <a:cs typeface="Cambria"/>
              </a:rPr>
              <a:t>Berkeley/POSIX</a:t>
            </a:r>
            <a:r>
              <a:rPr sz="1950" spc="165" dirty="0">
                <a:latin typeface="Cambria"/>
                <a:cs typeface="Cambria"/>
              </a:rPr>
              <a:t> </a:t>
            </a:r>
            <a:r>
              <a:rPr sz="1950" spc="135" dirty="0">
                <a:latin typeface="Cambria"/>
                <a:cs typeface="Cambria"/>
              </a:rPr>
              <a:t>sockets</a:t>
            </a:r>
            <a:r>
              <a:rPr sz="1950" spc="185" dirty="0">
                <a:latin typeface="Cambria"/>
                <a:cs typeface="Cambria"/>
              </a:rPr>
              <a:t> </a:t>
            </a:r>
            <a:r>
              <a:rPr sz="1950" spc="105" dirty="0">
                <a:latin typeface="Cambria"/>
                <a:cs typeface="Cambria"/>
              </a:rPr>
              <a:t>defined</a:t>
            </a:r>
            <a:r>
              <a:rPr sz="1950" spc="165" dirty="0">
                <a:latin typeface="Cambria"/>
                <a:cs typeface="Cambria"/>
              </a:rPr>
              <a:t> </a:t>
            </a:r>
            <a:r>
              <a:rPr sz="1950" spc="85" dirty="0">
                <a:latin typeface="Cambria"/>
                <a:cs typeface="Cambria"/>
              </a:rPr>
              <a:t>API</a:t>
            </a:r>
            <a:r>
              <a:rPr sz="1950" spc="210" dirty="0">
                <a:latin typeface="Cambria"/>
                <a:cs typeface="Cambria"/>
              </a:rPr>
              <a:t> </a:t>
            </a:r>
            <a:r>
              <a:rPr sz="1950" spc="50" dirty="0">
                <a:latin typeface="Cambria"/>
                <a:cs typeface="Cambria"/>
              </a:rPr>
              <a:t>for</a:t>
            </a:r>
            <a:r>
              <a:rPr sz="1950" spc="204" dirty="0">
                <a:latin typeface="Cambria"/>
                <a:cs typeface="Cambria"/>
              </a:rPr>
              <a:t> </a:t>
            </a:r>
            <a:r>
              <a:rPr sz="1950" spc="95" dirty="0">
                <a:latin typeface="Cambria"/>
                <a:cs typeface="Cambria"/>
              </a:rPr>
              <a:t>Inter</a:t>
            </a:r>
            <a:r>
              <a:rPr sz="1950" spc="165" dirty="0">
                <a:latin typeface="Cambria"/>
                <a:cs typeface="Cambria"/>
              </a:rPr>
              <a:t> </a:t>
            </a:r>
            <a:r>
              <a:rPr sz="1950" spc="120" dirty="0">
                <a:latin typeface="Cambria"/>
                <a:cs typeface="Cambria"/>
              </a:rPr>
              <a:t>Process</a:t>
            </a:r>
            <a:r>
              <a:rPr sz="1950" spc="210" dirty="0">
                <a:latin typeface="Cambria"/>
                <a:cs typeface="Cambria"/>
              </a:rPr>
              <a:t> </a:t>
            </a:r>
            <a:r>
              <a:rPr sz="1950" spc="155" dirty="0">
                <a:latin typeface="Cambria"/>
                <a:cs typeface="Cambria"/>
              </a:rPr>
              <a:t>Communication </a:t>
            </a:r>
            <a:r>
              <a:rPr sz="1950" dirty="0">
                <a:latin typeface="Cambria"/>
                <a:cs typeface="Cambria"/>
              </a:rPr>
              <a:t>(IPC)</a:t>
            </a:r>
            <a:r>
              <a:rPr sz="1950" spc="225" dirty="0">
                <a:latin typeface="Cambria"/>
                <a:cs typeface="Cambria"/>
              </a:rPr>
              <a:t> </a:t>
            </a:r>
            <a:r>
              <a:rPr sz="1950" spc="110" dirty="0">
                <a:latin typeface="Cambria"/>
                <a:cs typeface="Cambria"/>
              </a:rPr>
              <a:t>within</a:t>
            </a:r>
            <a:r>
              <a:rPr sz="1950" spc="229" dirty="0">
                <a:latin typeface="Cambria"/>
                <a:cs typeface="Cambria"/>
              </a:rPr>
              <a:t> </a:t>
            </a:r>
            <a:r>
              <a:rPr sz="1950" spc="170" dirty="0">
                <a:latin typeface="Cambria"/>
                <a:cs typeface="Cambria"/>
              </a:rPr>
              <a:t>same</a:t>
            </a:r>
            <a:r>
              <a:rPr sz="1950" spc="210" dirty="0">
                <a:latin typeface="Cambria"/>
                <a:cs typeface="Cambria"/>
              </a:rPr>
              <a:t> </a:t>
            </a:r>
            <a:r>
              <a:rPr sz="1950" spc="135" dirty="0">
                <a:latin typeface="Cambria"/>
                <a:cs typeface="Cambria"/>
              </a:rPr>
              <a:t>host</a:t>
            </a:r>
            <a:r>
              <a:rPr sz="1950" spc="245" dirty="0">
                <a:latin typeface="Cambria"/>
                <a:cs typeface="Cambria"/>
              </a:rPr>
              <a:t> </a:t>
            </a:r>
            <a:r>
              <a:rPr sz="1950" spc="175" dirty="0">
                <a:latin typeface="Cambria"/>
                <a:cs typeface="Cambria"/>
              </a:rPr>
              <a:t>(BSD</a:t>
            </a:r>
            <a:r>
              <a:rPr sz="1950" spc="245" dirty="0">
                <a:latin typeface="Cambria"/>
                <a:cs typeface="Cambria"/>
              </a:rPr>
              <a:t> </a:t>
            </a:r>
            <a:r>
              <a:rPr sz="1950" spc="175" dirty="0">
                <a:latin typeface="Cambria"/>
                <a:cs typeface="Cambria"/>
              </a:rPr>
              <a:t>4.2</a:t>
            </a:r>
            <a:r>
              <a:rPr sz="1950" spc="204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–</a:t>
            </a:r>
            <a:r>
              <a:rPr sz="1950" spc="229" dirty="0">
                <a:latin typeface="Cambria"/>
                <a:cs typeface="Cambria"/>
              </a:rPr>
              <a:t> </a:t>
            </a:r>
            <a:r>
              <a:rPr sz="1950" spc="125" dirty="0">
                <a:latin typeface="Cambria"/>
                <a:cs typeface="Cambria"/>
              </a:rPr>
              <a:t>circa</a:t>
            </a:r>
            <a:r>
              <a:rPr sz="1950" spc="229" dirty="0">
                <a:latin typeface="Cambria"/>
                <a:cs typeface="Cambria"/>
              </a:rPr>
              <a:t> </a:t>
            </a:r>
            <a:r>
              <a:rPr sz="1950" spc="70" dirty="0">
                <a:latin typeface="Cambria"/>
                <a:cs typeface="Cambria"/>
              </a:rPr>
              <a:t>1983)</a:t>
            </a:r>
            <a:endParaRPr sz="19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515"/>
              </a:spcBef>
              <a:buFont typeface="Wingdings"/>
              <a:buChar char=""/>
              <a:tabLst>
                <a:tab pos="295910" algn="l"/>
              </a:tabLst>
            </a:pPr>
            <a:r>
              <a:rPr sz="1950" spc="130" dirty="0">
                <a:latin typeface="Cambria"/>
                <a:cs typeface="Cambria"/>
              </a:rPr>
              <a:t>Early</a:t>
            </a:r>
            <a:r>
              <a:rPr sz="1950" spc="210" dirty="0">
                <a:latin typeface="Cambria"/>
                <a:cs typeface="Cambria"/>
              </a:rPr>
              <a:t> </a:t>
            </a:r>
            <a:r>
              <a:rPr sz="1950" spc="95" dirty="0">
                <a:latin typeface="Cambria"/>
                <a:cs typeface="Cambria"/>
              </a:rPr>
              <a:t>form</a:t>
            </a:r>
            <a:r>
              <a:rPr sz="1950" spc="204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of</a:t>
            </a:r>
            <a:r>
              <a:rPr sz="1950" spc="240" dirty="0">
                <a:latin typeface="Cambria"/>
                <a:cs typeface="Cambria"/>
              </a:rPr>
              <a:t> </a:t>
            </a:r>
            <a:r>
              <a:rPr sz="1950" spc="100" dirty="0">
                <a:latin typeface="Cambria"/>
                <a:cs typeface="Cambria"/>
              </a:rPr>
              <a:t>Middleware</a:t>
            </a:r>
            <a:r>
              <a:rPr sz="1950" spc="220" dirty="0">
                <a:latin typeface="Cambria"/>
                <a:cs typeface="Cambria"/>
              </a:rPr>
              <a:t> </a:t>
            </a:r>
            <a:r>
              <a:rPr sz="1950" spc="60" dirty="0">
                <a:latin typeface="Cambria"/>
                <a:cs typeface="Cambria"/>
              </a:rPr>
              <a:t>(limited</a:t>
            </a:r>
            <a:r>
              <a:rPr sz="1950" spc="260" dirty="0">
                <a:latin typeface="Cambria"/>
                <a:cs typeface="Cambria"/>
              </a:rPr>
              <a:t> </a:t>
            </a:r>
            <a:r>
              <a:rPr sz="1950" spc="70" dirty="0">
                <a:latin typeface="Cambria"/>
                <a:cs typeface="Cambria"/>
              </a:rPr>
              <a:t>to</a:t>
            </a:r>
            <a:r>
              <a:rPr sz="1950" spc="225" dirty="0">
                <a:latin typeface="Cambria"/>
                <a:cs typeface="Cambria"/>
              </a:rPr>
              <a:t> </a:t>
            </a:r>
            <a:r>
              <a:rPr sz="1950" spc="165" dirty="0">
                <a:latin typeface="Cambria"/>
                <a:cs typeface="Cambria"/>
              </a:rPr>
              <a:t>same</a:t>
            </a:r>
            <a:r>
              <a:rPr sz="1950" spc="204" dirty="0">
                <a:latin typeface="Cambria"/>
                <a:cs typeface="Cambria"/>
              </a:rPr>
              <a:t> </a:t>
            </a:r>
            <a:r>
              <a:rPr sz="1950" spc="135" dirty="0">
                <a:latin typeface="Cambria"/>
                <a:cs typeface="Cambria"/>
              </a:rPr>
              <a:t>host</a:t>
            </a:r>
            <a:r>
              <a:rPr sz="1950" spc="225" dirty="0">
                <a:latin typeface="Cambria"/>
                <a:cs typeface="Cambria"/>
              </a:rPr>
              <a:t> </a:t>
            </a:r>
            <a:r>
              <a:rPr sz="1950" spc="95" dirty="0">
                <a:latin typeface="Cambria"/>
                <a:cs typeface="Cambria"/>
              </a:rPr>
              <a:t>systems)</a:t>
            </a:r>
            <a:endParaRPr sz="19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505"/>
              </a:spcBef>
              <a:buFont typeface="Wingdings"/>
              <a:buChar char=""/>
              <a:tabLst>
                <a:tab pos="295910" algn="l"/>
              </a:tabLst>
            </a:pPr>
            <a:r>
              <a:rPr sz="1950" spc="105" dirty="0">
                <a:latin typeface="Cambria"/>
                <a:cs typeface="Cambria"/>
              </a:rPr>
              <a:t>Windows</a:t>
            </a:r>
            <a:r>
              <a:rPr sz="1950" spc="225" dirty="0">
                <a:latin typeface="Cambria"/>
                <a:cs typeface="Cambria"/>
              </a:rPr>
              <a:t> </a:t>
            </a:r>
            <a:r>
              <a:rPr sz="1950" spc="114" dirty="0">
                <a:latin typeface="Cambria"/>
                <a:cs typeface="Cambria"/>
              </a:rPr>
              <a:t>variant</a:t>
            </a:r>
            <a:r>
              <a:rPr sz="1950" spc="190" dirty="0">
                <a:latin typeface="Cambria"/>
                <a:cs typeface="Cambria"/>
              </a:rPr>
              <a:t> </a:t>
            </a:r>
            <a:r>
              <a:rPr sz="1950" spc="85" dirty="0">
                <a:latin typeface="Cambria"/>
                <a:cs typeface="Cambria"/>
              </a:rPr>
              <a:t>(WinSock)</a:t>
            </a:r>
            <a:r>
              <a:rPr sz="1950" spc="245" dirty="0">
                <a:latin typeface="Cambria"/>
                <a:cs typeface="Cambria"/>
              </a:rPr>
              <a:t> </a:t>
            </a:r>
            <a:r>
              <a:rPr sz="1950" spc="145" dirty="0">
                <a:latin typeface="Cambria"/>
                <a:cs typeface="Cambria"/>
              </a:rPr>
              <a:t>based</a:t>
            </a:r>
            <a:r>
              <a:rPr sz="1950" spc="170" dirty="0">
                <a:latin typeface="Cambria"/>
                <a:cs typeface="Cambria"/>
              </a:rPr>
              <a:t> </a:t>
            </a:r>
            <a:r>
              <a:rPr sz="1950" spc="135" dirty="0">
                <a:latin typeface="Cambria"/>
                <a:cs typeface="Cambria"/>
              </a:rPr>
              <a:t>on</a:t>
            </a:r>
            <a:r>
              <a:rPr sz="1950" spc="210" dirty="0">
                <a:latin typeface="Cambria"/>
                <a:cs typeface="Cambria"/>
              </a:rPr>
              <a:t> </a:t>
            </a:r>
            <a:r>
              <a:rPr sz="1950" spc="295" dirty="0">
                <a:latin typeface="Cambria"/>
                <a:cs typeface="Cambria"/>
              </a:rPr>
              <a:t>BSD</a:t>
            </a:r>
            <a:r>
              <a:rPr sz="1950" spc="225" dirty="0">
                <a:latin typeface="Cambria"/>
                <a:cs typeface="Cambria"/>
              </a:rPr>
              <a:t> </a:t>
            </a:r>
            <a:r>
              <a:rPr sz="1950" spc="155" dirty="0">
                <a:latin typeface="Cambria"/>
                <a:cs typeface="Cambria"/>
              </a:rPr>
              <a:t>Sockets.</a:t>
            </a:r>
            <a:endParaRPr sz="19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515"/>
              </a:spcBef>
              <a:buFont typeface="Wingdings"/>
              <a:buChar char=""/>
              <a:tabLst>
                <a:tab pos="295910" algn="l"/>
              </a:tabLst>
            </a:pPr>
            <a:r>
              <a:rPr sz="1950" spc="95" dirty="0">
                <a:latin typeface="Cambria"/>
                <a:cs typeface="Cambria"/>
              </a:rPr>
              <a:t>Treated</a:t>
            </a:r>
            <a:r>
              <a:rPr sz="1950" spc="170" dirty="0">
                <a:latin typeface="Cambria"/>
                <a:cs typeface="Cambria"/>
              </a:rPr>
              <a:t> </a:t>
            </a:r>
            <a:r>
              <a:rPr sz="1950" spc="114" dirty="0">
                <a:latin typeface="Cambria"/>
                <a:cs typeface="Cambria"/>
              </a:rPr>
              <a:t>similar</a:t>
            </a:r>
            <a:r>
              <a:rPr sz="1950" spc="215" dirty="0">
                <a:latin typeface="Cambria"/>
                <a:cs typeface="Cambria"/>
              </a:rPr>
              <a:t> </a:t>
            </a:r>
            <a:r>
              <a:rPr sz="1950" spc="70" dirty="0">
                <a:latin typeface="Cambria"/>
                <a:cs typeface="Cambria"/>
              </a:rPr>
              <a:t>to</a:t>
            </a:r>
            <a:r>
              <a:rPr sz="1950" spc="220" dirty="0">
                <a:latin typeface="Cambria"/>
                <a:cs typeface="Cambria"/>
              </a:rPr>
              <a:t> </a:t>
            </a:r>
            <a:r>
              <a:rPr sz="1950" spc="80" dirty="0">
                <a:latin typeface="Cambria"/>
                <a:cs typeface="Cambria"/>
              </a:rPr>
              <a:t>files</a:t>
            </a:r>
            <a:r>
              <a:rPr sz="1950" spc="229" dirty="0">
                <a:latin typeface="Cambria"/>
                <a:cs typeface="Cambria"/>
              </a:rPr>
              <a:t> </a:t>
            </a:r>
            <a:r>
              <a:rPr sz="1950" spc="125" dirty="0">
                <a:latin typeface="Cambria"/>
                <a:cs typeface="Cambria"/>
              </a:rPr>
              <a:t>in</a:t>
            </a:r>
            <a:r>
              <a:rPr sz="1950" spc="229" dirty="0">
                <a:latin typeface="Cambria"/>
                <a:cs typeface="Cambria"/>
              </a:rPr>
              <a:t> </a:t>
            </a:r>
            <a:r>
              <a:rPr sz="1950" spc="235" dirty="0">
                <a:latin typeface="Cambria"/>
                <a:cs typeface="Cambria"/>
              </a:rPr>
              <a:t>BSD/POSIX</a:t>
            </a:r>
            <a:endParaRPr sz="19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505"/>
              </a:spcBef>
              <a:buFont typeface="Wingdings"/>
              <a:buChar char=""/>
              <a:tabLst>
                <a:tab pos="295910" algn="l"/>
              </a:tabLst>
            </a:pPr>
            <a:r>
              <a:rPr sz="1950" spc="140" dirty="0">
                <a:latin typeface="Cambria"/>
                <a:cs typeface="Cambria"/>
              </a:rPr>
              <a:t>Maintained</a:t>
            </a:r>
            <a:r>
              <a:rPr sz="1950" spc="195" dirty="0">
                <a:latin typeface="Cambria"/>
                <a:cs typeface="Cambria"/>
              </a:rPr>
              <a:t> </a:t>
            </a:r>
            <a:r>
              <a:rPr sz="1950" spc="135" dirty="0">
                <a:latin typeface="Cambria"/>
                <a:cs typeface="Cambria"/>
              </a:rPr>
              <a:t>in</a:t>
            </a:r>
            <a:r>
              <a:rPr sz="1950" spc="235" dirty="0">
                <a:latin typeface="Cambria"/>
                <a:cs typeface="Cambria"/>
              </a:rPr>
              <a:t> </a:t>
            </a:r>
            <a:r>
              <a:rPr sz="1950" spc="95" dirty="0">
                <a:latin typeface="Cambria"/>
                <a:cs typeface="Cambria"/>
              </a:rPr>
              <a:t>File</a:t>
            </a:r>
            <a:r>
              <a:rPr sz="1950" spc="235" dirty="0">
                <a:latin typeface="Cambria"/>
                <a:cs typeface="Cambria"/>
              </a:rPr>
              <a:t> </a:t>
            </a:r>
            <a:r>
              <a:rPr sz="1950" spc="110" dirty="0">
                <a:latin typeface="Cambria"/>
                <a:cs typeface="Cambria"/>
              </a:rPr>
              <a:t>Descriptor</a:t>
            </a:r>
            <a:r>
              <a:rPr sz="1950" spc="220" dirty="0">
                <a:latin typeface="Cambria"/>
                <a:cs typeface="Cambria"/>
              </a:rPr>
              <a:t> </a:t>
            </a:r>
            <a:r>
              <a:rPr sz="1950" spc="100" dirty="0">
                <a:latin typeface="Cambria"/>
                <a:cs typeface="Cambria"/>
              </a:rPr>
              <a:t>table</a:t>
            </a:r>
            <a:endParaRPr sz="19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515"/>
              </a:spcBef>
              <a:buFont typeface="Wingdings"/>
              <a:buChar char=""/>
              <a:tabLst>
                <a:tab pos="295910" algn="l"/>
              </a:tabLst>
            </a:pPr>
            <a:r>
              <a:rPr sz="1950" spc="135" dirty="0">
                <a:latin typeface="Cambria"/>
                <a:cs typeface="Cambria"/>
              </a:rPr>
              <a:t>Supported</a:t>
            </a:r>
            <a:r>
              <a:rPr sz="1950" spc="235" dirty="0">
                <a:latin typeface="Cambria"/>
                <a:cs typeface="Cambria"/>
              </a:rPr>
              <a:t> </a:t>
            </a:r>
            <a:r>
              <a:rPr sz="1950" spc="85" dirty="0">
                <a:latin typeface="Cambria"/>
                <a:cs typeface="Cambria"/>
              </a:rPr>
              <a:t>protocols</a:t>
            </a:r>
            <a:endParaRPr sz="19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515"/>
              </a:spcBef>
              <a:buFont typeface="Wingdings"/>
              <a:buChar char=""/>
              <a:tabLst>
                <a:tab pos="671830" algn="l"/>
              </a:tabLst>
            </a:pPr>
            <a:r>
              <a:rPr sz="1950" spc="145" dirty="0">
                <a:latin typeface="Cambria"/>
                <a:cs typeface="Cambria"/>
              </a:rPr>
              <a:t>TCP/IP</a:t>
            </a:r>
            <a:r>
              <a:rPr sz="1950" spc="21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–</a:t>
            </a:r>
            <a:r>
              <a:rPr sz="1950" spc="215" dirty="0">
                <a:latin typeface="Cambria"/>
                <a:cs typeface="Cambria"/>
              </a:rPr>
              <a:t> </a:t>
            </a:r>
            <a:r>
              <a:rPr sz="1950" spc="114" dirty="0">
                <a:latin typeface="Cambria"/>
                <a:cs typeface="Cambria"/>
              </a:rPr>
              <a:t>IPv4,</a:t>
            </a:r>
            <a:r>
              <a:rPr sz="1950" spc="190" dirty="0">
                <a:latin typeface="Cambria"/>
                <a:cs typeface="Cambria"/>
              </a:rPr>
              <a:t> </a:t>
            </a:r>
            <a:r>
              <a:rPr sz="1950" spc="60" dirty="0">
                <a:latin typeface="Cambria"/>
                <a:cs typeface="Cambria"/>
              </a:rPr>
              <a:t>IPv6</a:t>
            </a:r>
            <a:endParaRPr sz="19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505"/>
              </a:spcBef>
              <a:buFont typeface="Wingdings"/>
              <a:buChar char=""/>
              <a:tabLst>
                <a:tab pos="671830" algn="l"/>
              </a:tabLst>
            </a:pPr>
            <a:r>
              <a:rPr sz="1950" spc="195" dirty="0">
                <a:latin typeface="Cambria"/>
                <a:cs typeface="Cambria"/>
              </a:rPr>
              <a:t>UDP</a:t>
            </a:r>
            <a:endParaRPr sz="19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945379" y="6461760"/>
            <a:ext cx="5113020" cy="41275"/>
            <a:chOff x="4945379" y="6461760"/>
            <a:chExt cx="5113020" cy="41275"/>
          </a:xfrm>
        </p:grpSpPr>
        <p:sp>
          <p:nvSpPr>
            <p:cNvPr id="3" name="object 3"/>
            <p:cNvSpPr/>
            <p:nvPr/>
          </p:nvSpPr>
          <p:spPr>
            <a:xfrm>
              <a:off x="5094731" y="6461760"/>
              <a:ext cx="2562225" cy="41275"/>
            </a:xfrm>
            <a:custGeom>
              <a:avLst/>
              <a:gdLst/>
              <a:ahLst/>
              <a:cxnLst/>
              <a:rect l="l" t="t" r="r" b="b"/>
              <a:pathLst>
                <a:path w="2562225" h="41275">
                  <a:moveTo>
                    <a:pt x="2561844" y="41147"/>
                  </a:moveTo>
                  <a:lnTo>
                    <a:pt x="0" y="41147"/>
                  </a:lnTo>
                  <a:lnTo>
                    <a:pt x="0" y="0"/>
                  </a:lnTo>
                  <a:lnTo>
                    <a:pt x="2561844" y="0"/>
                  </a:lnTo>
                  <a:lnTo>
                    <a:pt x="2561844" y="41147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00187" y="6461760"/>
              <a:ext cx="2458720" cy="38100"/>
            </a:xfrm>
            <a:custGeom>
              <a:avLst/>
              <a:gdLst/>
              <a:ahLst/>
              <a:cxnLst/>
              <a:rect l="l" t="t" r="r" b="b"/>
              <a:pathLst>
                <a:path w="2458720" h="38100">
                  <a:moveTo>
                    <a:pt x="2458212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458212" y="0"/>
                  </a:lnTo>
                  <a:lnTo>
                    <a:pt x="2458212" y="3810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45379" y="6464807"/>
              <a:ext cx="2562225" cy="38100"/>
            </a:xfrm>
            <a:custGeom>
              <a:avLst/>
              <a:gdLst/>
              <a:ahLst/>
              <a:cxnLst/>
              <a:rect l="l" t="t" r="r" b="b"/>
              <a:pathLst>
                <a:path w="2562225" h="38100">
                  <a:moveTo>
                    <a:pt x="2561843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1843" y="0"/>
                  </a:lnTo>
                  <a:lnTo>
                    <a:pt x="2561843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98079" y="6464807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2340" y="1057656"/>
            <a:ext cx="2414016" cy="571499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2127504"/>
            <a:ext cx="7711440" cy="38100"/>
            <a:chOff x="0" y="2127504"/>
            <a:chExt cx="7711440" cy="38100"/>
          </a:xfrm>
        </p:grpSpPr>
        <p:sp>
          <p:nvSpPr>
            <p:cNvPr id="9" name="object 9"/>
            <p:cNvSpPr/>
            <p:nvPr/>
          </p:nvSpPr>
          <p:spPr>
            <a:xfrm>
              <a:off x="2598419" y="2127504"/>
              <a:ext cx="2562225" cy="38100"/>
            </a:xfrm>
            <a:custGeom>
              <a:avLst/>
              <a:gdLst/>
              <a:ahLst/>
              <a:cxnLst/>
              <a:rect l="l" t="t" r="r" b="b"/>
              <a:pathLst>
                <a:path w="2562225" h="38100">
                  <a:moveTo>
                    <a:pt x="2561844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1844" y="0"/>
                  </a:lnTo>
                  <a:lnTo>
                    <a:pt x="2561844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2127504"/>
              <a:ext cx="2598420" cy="38100"/>
            </a:xfrm>
            <a:custGeom>
              <a:avLst/>
              <a:gdLst/>
              <a:ahLst/>
              <a:cxnLst/>
              <a:rect l="l" t="t" r="r" b="b"/>
              <a:pathLst>
                <a:path w="2598420" h="38100">
                  <a:moveTo>
                    <a:pt x="25984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98419" y="0"/>
                  </a:lnTo>
                  <a:lnTo>
                    <a:pt x="2598419" y="38100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51120" y="2127504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362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145" dirty="0"/>
              <a:t>Sockets</a:t>
            </a:r>
            <a:r>
              <a:rPr spc="105" dirty="0"/>
              <a:t> </a:t>
            </a:r>
            <a:r>
              <a:rPr spc="60" dirty="0"/>
              <a:t>API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57015" y="2247357"/>
            <a:ext cx="5037455" cy="42360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48920" marR="325120" indent="-236220">
              <a:lnSpc>
                <a:spcPct val="102800"/>
              </a:lnSpc>
              <a:spcBef>
                <a:spcPts val="90"/>
              </a:spcBef>
              <a:buFont typeface="Wingdings"/>
              <a:buChar char=""/>
              <a:tabLst>
                <a:tab pos="248920" algn="l"/>
              </a:tabLst>
            </a:pPr>
            <a:r>
              <a:rPr sz="1450" b="1" spc="114" dirty="0">
                <a:latin typeface="Cambria"/>
                <a:cs typeface="Cambria"/>
              </a:rPr>
              <a:t>socket</a:t>
            </a:r>
            <a:r>
              <a:rPr sz="1450" b="1" spc="175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—</a:t>
            </a:r>
            <a:r>
              <a:rPr sz="1450" spc="95" dirty="0">
                <a:latin typeface="Cambria"/>
                <a:cs typeface="Cambria"/>
              </a:rPr>
              <a:t>creates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145" dirty="0">
                <a:latin typeface="Cambria"/>
                <a:cs typeface="Cambria"/>
              </a:rPr>
              <a:t>a</a:t>
            </a:r>
            <a:r>
              <a:rPr sz="1450" spc="190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descriptor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for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125" dirty="0">
                <a:latin typeface="Cambria"/>
                <a:cs typeface="Cambria"/>
              </a:rPr>
              <a:t>use</a:t>
            </a:r>
            <a:r>
              <a:rPr sz="1450" spc="21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in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75" dirty="0">
                <a:latin typeface="Cambria"/>
                <a:cs typeface="Cambria"/>
              </a:rPr>
              <a:t>network </a:t>
            </a:r>
            <a:r>
              <a:rPr sz="1450" spc="110" dirty="0">
                <a:latin typeface="Cambria"/>
                <a:cs typeface="Cambria"/>
              </a:rPr>
              <a:t>communications</a:t>
            </a:r>
            <a:endParaRPr sz="1450">
              <a:latin typeface="Cambria"/>
              <a:cs typeface="Cambria"/>
            </a:endParaRPr>
          </a:p>
          <a:p>
            <a:pPr marL="248285" indent="-235585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248285" algn="l"/>
              </a:tabLst>
            </a:pPr>
            <a:r>
              <a:rPr sz="1450" b="1" spc="130" dirty="0">
                <a:latin typeface="Cambria"/>
                <a:cs typeface="Cambria"/>
              </a:rPr>
              <a:t>connect</a:t>
            </a:r>
            <a:r>
              <a:rPr sz="1450" b="1" spc="17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—</a:t>
            </a:r>
            <a:r>
              <a:rPr sz="1450" spc="105" dirty="0">
                <a:latin typeface="Cambria"/>
                <a:cs typeface="Cambria"/>
              </a:rPr>
              <a:t>connect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60" dirty="0">
                <a:latin typeface="Cambria"/>
                <a:cs typeface="Cambria"/>
              </a:rPr>
              <a:t>to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145" dirty="0">
                <a:latin typeface="Cambria"/>
                <a:cs typeface="Cambria"/>
              </a:rPr>
              <a:t>a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remote</a:t>
            </a:r>
            <a:r>
              <a:rPr sz="1450" spc="145" dirty="0">
                <a:latin typeface="Cambria"/>
                <a:cs typeface="Cambria"/>
              </a:rPr>
              <a:t> </a:t>
            </a:r>
            <a:r>
              <a:rPr sz="1450" spc="65" dirty="0">
                <a:latin typeface="Cambria"/>
                <a:cs typeface="Cambria"/>
              </a:rPr>
              <a:t>peer</a:t>
            </a:r>
            <a:r>
              <a:rPr sz="1450" spc="140" dirty="0">
                <a:latin typeface="Cambria"/>
                <a:cs typeface="Cambria"/>
              </a:rPr>
              <a:t> </a:t>
            </a:r>
            <a:r>
              <a:rPr sz="1450" spc="-10" dirty="0">
                <a:latin typeface="Cambria"/>
                <a:cs typeface="Cambria"/>
              </a:rPr>
              <a:t>(client)</a:t>
            </a:r>
            <a:endParaRPr sz="1450">
              <a:latin typeface="Cambria"/>
              <a:cs typeface="Cambria"/>
            </a:endParaRPr>
          </a:p>
          <a:p>
            <a:pPr marL="248285" indent="-235585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248285" algn="l"/>
              </a:tabLst>
            </a:pPr>
            <a:r>
              <a:rPr sz="1450" b="1" spc="70" dirty="0">
                <a:latin typeface="Cambria"/>
                <a:cs typeface="Cambria"/>
              </a:rPr>
              <a:t>write</a:t>
            </a:r>
            <a:r>
              <a:rPr sz="1450" b="1" spc="16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—</a:t>
            </a:r>
            <a:r>
              <a:rPr sz="1450" spc="114" dirty="0">
                <a:latin typeface="Cambria"/>
                <a:cs typeface="Cambria"/>
              </a:rPr>
              <a:t>send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outgoing</a:t>
            </a:r>
            <a:r>
              <a:rPr sz="1450" spc="190" dirty="0">
                <a:latin typeface="Cambria"/>
                <a:cs typeface="Cambria"/>
              </a:rPr>
              <a:t> </a:t>
            </a:r>
            <a:r>
              <a:rPr sz="1450" spc="120" dirty="0">
                <a:latin typeface="Cambria"/>
                <a:cs typeface="Cambria"/>
              </a:rPr>
              <a:t>data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110" dirty="0">
                <a:latin typeface="Cambria"/>
                <a:cs typeface="Cambria"/>
              </a:rPr>
              <a:t>across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145" dirty="0">
                <a:latin typeface="Cambria"/>
                <a:cs typeface="Cambria"/>
              </a:rPr>
              <a:t>a</a:t>
            </a:r>
            <a:r>
              <a:rPr sz="1450" spc="185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connection</a:t>
            </a:r>
            <a:endParaRPr sz="1450">
              <a:latin typeface="Cambria"/>
              <a:cs typeface="Cambria"/>
            </a:endParaRPr>
          </a:p>
          <a:p>
            <a:pPr marL="248285" indent="-235585">
              <a:lnSpc>
                <a:spcPct val="100000"/>
              </a:lnSpc>
              <a:spcBef>
                <a:spcPts val="395"/>
              </a:spcBef>
              <a:buFont typeface="Wingdings"/>
              <a:buChar char=""/>
              <a:tabLst>
                <a:tab pos="248285" algn="l"/>
              </a:tabLst>
            </a:pPr>
            <a:r>
              <a:rPr sz="1450" b="1" spc="60" dirty="0">
                <a:latin typeface="Cambria"/>
                <a:cs typeface="Cambria"/>
              </a:rPr>
              <a:t>read</a:t>
            </a:r>
            <a:r>
              <a:rPr sz="1450" b="1" spc="17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—</a:t>
            </a:r>
            <a:r>
              <a:rPr sz="1450" spc="100" dirty="0">
                <a:latin typeface="Cambria"/>
                <a:cs typeface="Cambria"/>
              </a:rPr>
              <a:t>acquire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incoming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120" dirty="0">
                <a:latin typeface="Cambria"/>
                <a:cs typeface="Cambria"/>
              </a:rPr>
              <a:t>data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from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145" dirty="0">
                <a:latin typeface="Cambria"/>
                <a:cs typeface="Cambria"/>
              </a:rPr>
              <a:t>a</a:t>
            </a:r>
            <a:r>
              <a:rPr sz="1450" spc="195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connection</a:t>
            </a:r>
            <a:endParaRPr sz="1450">
              <a:latin typeface="Cambria"/>
              <a:cs typeface="Cambria"/>
            </a:endParaRPr>
          </a:p>
          <a:p>
            <a:pPr marL="248920" marR="84455" indent="-236220">
              <a:lnSpc>
                <a:spcPct val="102099"/>
              </a:lnSpc>
              <a:spcBef>
                <a:spcPts val="370"/>
              </a:spcBef>
              <a:buFont typeface="Wingdings"/>
              <a:buChar char=""/>
              <a:tabLst>
                <a:tab pos="248920" algn="l"/>
              </a:tabLst>
            </a:pPr>
            <a:r>
              <a:rPr sz="1450" b="1" spc="100" dirty="0">
                <a:latin typeface="Cambria"/>
                <a:cs typeface="Cambria"/>
              </a:rPr>
              <a:t>close</a:t>
            </a:r>
            <a:r>
              <a:rPr sz="1450" b="1" spc="18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—</a:t>
            </a:r>
            <a:r>
              <a:rPr sz="1450" spc="95" dirty="0">
                <a:latin typeface="Cambria"/>
                <a:cs typeface="Cambria"/>
              </a:rPr>
              <a:t>terminate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spc="114" dirty="0">
                <a:latin typeface="Cambria"/>
                <a:cs typeface="Cambria"/>
              </a:rPr>
              <a:t>communication</a:t>
            </a:r>
            <a:r>
              <a:rPr sz="1450" spc="185" dirty="0">
                <a:latin typeface="Cambria"/>
                <a:cs typeface="Cambria"/>
              </a:rPr>
              <a:t> </a:t>
            </a:r>
            <a:r>
              <a:rPr sz="1450" spc="140" dirty="0">
                <a:latin typeface="Cambria"/>
                <a:cs typeface="Cambria"/>
              </a:rPr>
              <a:t>and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deallocate</a:t>
            </a:r>
            <a:r>
              <a:rPr sz="1450" spc="185" dirty="0">
                <a:latin typeface="Cambria"/>
                <a:cs typeface="Cambria"/>
              </a:rPr>
              <a:t> </a:t>
            </a:r>
            <a:r>
              <a:rPr sz="1450" spc="95" dirty="0">
                <a:latin typeface="Cambria"/>
                <a:cs typeface="Cambria"/>
              </a:rPr>
              <a:t>a </a:t>
            </a:r>
            <a:r>
              <a:rPr sz="1450" spc="70" dirty="0">
                <a:latin typeface="Cambria"/>
                <a:cs typeface="Cambria"/>
              </a:rPr>
              <a:t>descriptor</a:t>
            </a:r>
            <a:endParaRPr sz="1450">
              <a:latin typeface="Cambria"/>
              <a:cs typeface="Cambria"/>
            </a:endParaRPr>
          </a:p>
          <a:p>
            <a:pPr marL="248920" marR="118110" indent="-236220">
              <a:lnSpc>
                <a:spcPct val="102699"/>
              </a:lnSpc>
              <a:spcBef>
                <a:spcPts val="350"/>
              </a:spcBef>
              <a:buFont typeface="Wingdings"/>
              <a:buChar char=""/>
              <a:tabLst>
                <a:tab pos="248920" algn="l"/>
              </a:tabLst>
            </a:pPr>
            <a:r>
              <a:rPr sz="1450" b="1" spc="75" dirty="0">
                <a:latin typeface="Cambria"/>
                <a:cs typeface="Cambria"/>
              </a:rPr>
              <a:t>bind</a:t>
            </a:r>
            <a:r>
              <a:rPr sz="1450" b="1" spc="15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—</a:t>
            </a:r>
            <a:r>
              <a:rPr sz="1450" spc="110" dirty="0">
                <a:latin typeface="Cambria"/>
                <a:cs typeface="Cambria"/>
              </a:rPr>
              <a:t>bind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145" dirty="0">
                <a:latin typeface="Cambria"/>
                <a:cs typeface="Cambria"/>
              </a:rPr>
              <a:t>a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local</a:t>
            </a:r>
            <a:r>
              <a:rPr sz="1450" spc="190" dirty="0">
                <a:latin typeface="Cambria"/>
                <a:cs typeface="Cambria"/>
              </a:rPr>
              <a:t> </a:t>
            </a:r>
            <a:r>
              <a:rPr sz="1450" spc="65" dirty="0">
                <a:latin typeface="Cambria"/>
                <a:cs typeface="Cambria"/>
              </a:rPr>
              <a:t>IP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105" dirty="0">
                <a:latin typeface="Cambria"/>
                <a:cs typeface="Cambria"/>
              </a:rPr>
              <a:t>address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140" dirty="0">
                <a:latin typeface="Cambria"/>
                <a:cs typeface="Cambria"/>
              </a:rPr>
              <a:t>and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spc="70" dirty="0">
                <a:latin typeface="Cambria"/>
                <a:cs typeface="Cambria"/>
              </a:rPr>
              <a:t>protocol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65" dirty="0">
                <a:latin typeface="Cambria"/>
                <a:cs typeface="Cambria"/>
              </a:rPr>
              <a:t>port</a:t>
            </a:r>
            <a:r>
              <a:rPr sz="1450" spc="190" dirty="0">
                <a:latin typeface="Cambria"/>
                <a:cs typeface="Cambria"/>
              </a:rPr>
              <a:t> </a:t>
            </a:r>
            <a:r>
              <a:rPr sz="1450" spc="30" dirty="0">
                <a:latin typeface="Cambria"/>
                <a:cs typeface="Cambria"/>
              </a:rPr>
              <a:t>to </a:t>
            </a:r>
            <a:r>
              <a:rPr sz="1450" spc="145" dirty="0">
                <a:latin typeface="Cambria"/>
                <a:cs typeface="Cambria"/>
              </a:rPr>
              <a:t>a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socket</a:t>
            </a:r>
            <a:endParaRPr sz="1450">
              <a:latin typeface="Cambria"/>
              <a:cs typeface="Cambria"/>
            </a:endParaRPr>
          </a:p>
          <a:p>
            <a:pPr marL="248920" marR="5080" indent="-236220">
              <a:lnSpc>
                <a:spcPct val="102400"/>
              </a:lnSpc>
              <a:spcBef>
                <a:spcPts val="355"/>
              </a:spcBef>
              <a:buFont typeface="Wingdings"/>
              <a:buChar char=""/>
              <a:tabLst>
                <a:tab pos="248920" algn="l"/>
              </a:tabLst>
            </a:pPr>
            <a:r>
              <a:rPr sz="1450" b="1" spc="100" dirty="0">
                <a:latin typeface="Cambria"/>
                <a:cs typeface="Cambria"/>
              </a:rPr>
              <a:t>listen</a:t>
            </a:r>
            <a:r>
              <a:rPr sz="1450" b="1" spc="16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—</a:t>
            </a:r>
            <a:r>
              <a:rPr sz="1450" spc="90" dirty="0">
                <a:latin typeface="Cambria"/>
                <a:cs typeface="Cambria"/>
              </a:rPr>
              <a:t>set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the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socket</a:t>
            </a:r>
            <a:r>
              <a:rPr sz="1450" spc="185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listening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105" dirty="0">
                <a:latin typeface="Cambria"/>
                <a:cs typeface="Cambria"/>
              </a:rPr>
              <a:t>on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the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65" dirty="0">
                <a:latin typeface="Cambria"/>
                <a:cs typeface="Cambria"/>
              </a:rPr>
              <a:t>given </a:t>
            </a:r>
            <a:r>
              <a:rPr sz="1450" spc="110" dirty="0">
                <a:latin typeface="Cambria"/>
                <a:cs typeface="Cambria"/>
              </a:rPr>
              <a:t>address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spc="140" dirty="0">
                <a:latin typeface="Cambria"/>
                <a:cs typeface="Cambria"/>
              </a:rPr>
              <a:t>and</a:t>
            </a:r>
            <a:r>
              <a:rPr sz="1450" spc="185" dirty="0">
                <a:latin typeface="Cambria"/>
                <a:cs typeface="Cambria"/>
              </a:rPr>
              <a:t> </a:t>
            </a:r>
            <a:r>
              <a:rPr sz="1450" spc="70" dirty="0">
                <a:latin typeface="Cambria"/>
                <a:cs typeface="Cambria"/>
              </a:rPr>
              <a:t>port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for</a:t>
            </a:r>
            <a:r>
              <a:rPr sz="1450" spc="185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connections</a:t>
            </a:r>
            <a:r>
              <a:rPr sz="1450" spc="204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from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the</a:t>
            </a:r>
            <a:r>
              <a:rPr sz="1450" spc="185" dirty="0">
                <a:latin typeface="Cambria"/>
                <a:cs typeface="Cambria"/>
              </a:rPr>
              <a:t> </a:t>
            </a:r>
            <a:r>
              <a:rPr sz="1450" spc="75" dirty="0">
                <a:latin typeface="Cambria"/>
                <a:cs typeface="Cambria"/>
              </a:rPr>
              <a:t>client </a:t>
            </a:r>
            <a:r>
              <a:rPr sz="1450" spc="140" dirty="0">
                <a:latin typeface="Cambria"/>
                <a:cs typeface="Cambria"/>
              </a:rPr>
              <a:t>and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set</a:t>
            </a:r>
            <a:r>
              <a:rPr sz="1450" spc="18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the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spc="130" dirty="0">
                <a:latin typeface="Cambria"/>
                <a:cs typeface="Cambria"/>
              </a:rPr>
              <a:t>number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of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105" dirty="0">
                <a:latin typeface="Cambria"/>
                <a:cs typeface="Cambria"/>
              </a:rPr>
              <a:t>incoming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connections</a:t>
            </a:r>
            <a:r>
              <a:rPr sz="1450" spc="200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from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spc="95" dirty="0">
                <a:latin typeface="Cambria"/>
                <a:cs typeface="Cambria"/>
              </a:rPr>
              <a:t>a </a:t>
            </a:r>
            <a:r>
              <a:rPr sz="1450" spc="85" dirty="0">
                <a:latin typeface="Cambria"/>
                <a:cs typeface="Cambria"/>
              </a:rPr>
              <a:t>client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55" dirty="0">
                <a:latin typeface="Cambria"/>
                <a:cs typeface="Cambria"/>
              </a:rPr>
              <a:t>(backlog)</a:t>
            </a:r>
            <a:r>
              <a:rPr sz="1450" spc="210" dirty="0">
                <a:latin typeface="Cambria"/>
                <a:cs typeface="Cambria"/>
              </a:rPr>
              <a:t> </a:t>
            </a:r>
            <a:r>
              <a:rPr sz="1450" spc="114" dirty="0">
                <a:latin typeface="Cambria"/>
                <a:cs typeface="Cambria"/>
              </a:rPr>
              <a:t>that</a:t>
            </a:r>
            <a:r>
              <a:rPr sz="1450" spc="19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will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be</a:t>
            </a:r>
            <a:r>
              <a:rPr sz="1450" spc="190" dirty="0">
                <a:latin typeface="Cambria"/>
                <a:cs typeface="Cambria"/>
              </a:rPr>
              <a:t> </a:t>
            </a:r>
            <a:r>
              <a:rPr sz="1450" spc="70" dirty="0">
                <a:latin typeface="Cambria"/>
                <a:cs typeface="Cambria"/>
              </a:rPr>
              <a:t>allowed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in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the</a:t>
            </a:r>
            <a:r>
              <a:rPr sz="1450" spc="195" dirty="0">
                <a:latin typeface="Cambria"/>
                <a:cs typeface="Cambria"/>
              </a:rPr>
              <a:t> </a:t>
            </a:r>
            <a:r>
              <a:rPr sz="1450" spc="75" dirty="0">
                <a:latin typeface="Cambria"/>
                <a:cs typeface="Cambria"/>
              </a:rPr>
              <a:t>listen </a:t>
            </a:r>
            <a:r>
              <a:rPr sz="1450" spc="114" dirty="0">
                <a:latin typeface="Cambria"/>
                <a:cs typeface="Cambria"/>
              </a:rPr>
              <a:t>queue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105" dirty="0">
                <a:latin typeface="Cambria"/>
                <a:cs typeface="Cambria"/>
              </a:rPr>
              <a:t>at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120" dirty="0">
                <a:latin typeface="Cambria"/>
                <a:cs typeface="Cambria"/>
              </a:rPr>
              <a:t>any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one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65" dirty="0">
                <a:latin typeface="Cambria"/>
                <a:cs typeface="Cambria"/>
              </a:rPr>
              <a:t>time</a:t>
            </a:r>
            <a:endParaRPr sz="1450">
              <a:latin typeface="Cambria"/>
              <a:cs typeface="Cambria"/>
            </a:endParaRPr>
          </a:p>
          <a:p>
            <a:pPr marL="248920" marR="504190" indent="-236220">
              <a:lnSpc>
                <a:spcPct val="102099"/>
              </a:lnSpc>
              <a:spcBef>
                <a:spcPts val="360"/>
              </a:spcBef>
              <a:buFont typeface="Wingdings"/>
              <a:buChar char=""/>
              <a:tabLst>
                <a:tab pos="248920" algn="l"/>
              </a:tabLst>
            </a:pPr>
            <a:r>
              <a:rPr sz="1450" b="1" spc="125" dirty="0">
                <a:latin typeface="Cambria"/>
                <a:cs typeface="Cambria"/>
              </a:rPr>
              <a:t>accept</a:t>
            </a:r>
            <a:r>
              <a:rPr sz="1450" b="1" spc="175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—</a:t>
            </a:r>
            <a:r>
              <a:rPr sz="1450" spc="105" dirty="0">
                <a:latin typeface="Cambria"/>
                <a:cs typeface="Cambria"/>
              </a:rPr>
              <a:t>accept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the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next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105" dirty="0">
                <a:latin typeface="Cambria"/>
                <a:cs typeface="Cambria"/>
              </a:rPr>
              <a:t>incoming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connection </a:t>
            </a:r>
            <a:r>
              <a:rPr sz="1450" spc="-10" dirty="0">
                <a:latin typeface="Cambria"/>
                <a:cs typeface="Cambria"/>
              </a:rPr>
              <a:t>(server)</a:t>
            </a:r>
            <a:endParaRPr sz="1450">
              <a:latin typeface="Cambria"/>
              <a:cs typeface="Cambria"/>
            </a:endParaRPr>
          </a:p>
          <a:p>
            <a:pPr marL="248285" indent="-235585">
              <a:lnSpc>
                <a:spcPct val="100000"/>
              </a:lnSpc>
              <a:spcBef>
                <a:spcPts val="409"/>
              </a:spcBef>
              <a:buFont typeface="Wingdings"/>
              <a:buChar char=""/>
              <a:tabLst>
                <a:tab pos="248285" algn="l"/>
                <a:tab pos="4875530" algn="l"/>
              </a:tabLst>
            </a:pPr>
            <a:r>
              <a:rPr sz="1450" b="1" spc="95" dirty="0">
                <a:latin typeface="Cambria"/>
                <a:cs typeface="Cambria"/>
              </a:rPr>
              <a:t>recv</a:t>
            </a:r>
            <a:r>
              <a:rPr sz="1450" b="1" spc="17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—</a:t>
            </a:r>
            <a:r>
              <a:rPr sz="1450" spc="60" dirty="0">
                <a:latin typeface="Cambria"/>
                <a:cs typeface="Cambria"/>
              </a:rPr>
              <a:t>receive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the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spc="-235" dirty="0">
                <a:latin typeface="Cambria"/>
                <a:cs typeface="Cambria"/>
              </a:rPr>
              <a:t>n</a:t>
            </a:r>
            <a:r>
              <a:rPr sz="1450" u="heavy" spc="45" dirty="0">
                <a:uFill>
                  <a:solidFill>
                    <a:srgbClr val="FBAF1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50" u="heavy" spc="85" dirty="0">
                <a:uFill>
                  <a:solidFill>
                    <a:srgbClr val="FBAF16"/>
                  </a:solidFill>
                </a:uFill>
                <a:latin typeface="Cambria"/>
                <a:cs typeface="Cambria"/>
              </a:rPr>
              <a:t>ext</a:t>
            </a:r>
            <a:r>
              <a:rPr sz="1450" u="heavy" spc="175" dirty="0">
                <a:uFill>
                  <a:solidFill>
                    <a:srgbClr val="FBAF16"/>
                  </a:solidFill>
                </a:uFill>
                <a:latin typeface="Cambria"/>
                <a:cs typeface="Cambria"/>
              </a:rPr>
              <a:t> </a:t>
            </a:r>
            <a:r>
              <a:rPr sz="1450" u="heavy" spc="100" dirty="0">
                <a:uFill>
                  <a:solidFill>
                    <a:srgbClr val="FBAF16"/>
                  </a:solidFill>
                </a:uFill>
                <a:latin typeface="Cambria"/>
                <a:cs typeface="Cambria"/>
              </a:rPr>
              <a:t>incoming</a:t>
            </a:r>
            <a:r>
              <a:rPr sz="1450" u="heavy" spc="155" dirty="0">
                <a:uFill>
                  <a:solidFill>
                    <a:srgbClr val="FBAF16"/>
                  </a:solidFill>
                </a:uFill>
                <a:latin typeface="Cambria"/>
                <a:cs typeface="Cambria"/>
              </a:rPr>
              <a:t> </a:t>
            </a:r>
            <a:r>
              <a:rPr sz="1450" u="heavy" spc="105" dirty="0">
                <a:uFill>
                  <a:solidFill>
                    <a:srgbClr val="FBAF16"/>
                  </a:solidFill>
                </a:uFill>
                <a:latin typeface="Cambria"/>
                <a:cs typeface="Cambria"/>
              </a:rPr>
              <a:t>datagram</a:t>
            </a:r>
            <a:r>
              <a:rPr sz="1450" u="heavy" dirty="0">
                <a:uFill>
                  <a:solidFill>
                    <a:srgbClr val="FBAF16"/>
                  </a:solidFill>
                </a:uFill>
                <a:latin typeface="Cambria"/>
                <a:cs typeface="Cambria"/>
              </a:rPr>
              <a:t>	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5430" marR="826135" indent="-236220">
              <a:lnSpc>
                <a:spcPct val="102800"/>
              </a:lnSpc>
              <a:spcBef>
                <a:spcPts val="90"/>
              </a:spcBef>
              <a:buFont typeface="Wingdings"/>
              <a:buChar char=""/>
              <a:tabLst>
                <a:tab pos="265430" algn="l"/>
              </a:tabLst>
            </a:pPr>
            <a:r>
              <a:rPr b="1" spc="110" dirty="0">
                <a:latin typeface="Cambria"/>
                <a:cs typeface="Cambria"/>
              </a:rPr>
              <a:t>recvmsg</a:t>
            </a:r>
            <a:r>
              <a:rPr b="1" spc="185" dirty="0">
                <a:latin typeface="Cambria"/>
                <a:cs typeface="Cambria"/>
              </a:rPr>
              <a:t> </a:t>
            </a:r>
            <a:r>
              <a:rPr dirty="0"/>
              <a:t>—</a:t>
            </a:r>
            <a:r>
              <a:rPr spc="60" dirty="0"/>
              <a:t>receive</a:t>
            </a:r>
            <a:r>
              <a:rPr spc="150" dirty="0"/>
              <a:t> </a:t>
            </a:r>
            <a:r>
              <a:rPr spc="100" dirty="0"/>
              <a:t>the</a:t>
            </a:r>
            <a:r>
              <a:rPr spc="155" dirty="0"/>
              <a:t> </a:t>
            </a:r>
            <a:r>
              <a:rPr spc="105" dirty="0"/>
              <a:t>next</a:t>
            </a:r>
            <a:r>
              <a:rPr spc="170" dirty="0"/>
              <a:t> </a:t>
            </a:r>
            <a:r>
              <a:rPr spc="90" dirty="0"/>
              <a:t>incoming </a:t>
            </a:r>
            <a:r>
              <a:rPr spc="114" dirty="0"/>
              <a:t>datagram</a:t>
            </a:r>
            <a:r>
              <a:rPr spc="190" dirty="0"/>
              <a:t> </a:t>
            </a:r>
            <a:r>
              <a:rPr spc="60" dirty="0"/>
              <a:t>(variation</a:t>
            </a:r>
            <a:r>
              <a:rPr spc="204" dirty="0"/>
              <a:t> </a:t>
            </a:r>
            <a:r>
              <a:rPr dirty="0"/>
              <a:t>of</a:t>
            </a:r>
            <a:r>
              <a:rPr spc="210" dirty="0"/>
              <a:t> </a:t>
            </a:r>
            <a:r>
              <a:rPr spc="-20" dirty="0"/>
              <a:t>recv)</a:t>
            </a:r>
          </a:p>
          <a:p>
            <a:pPr marL="264795" indent="-235585">
              <a:lnSpc>
                <a:spcPct val="100000"/>
              </a:lnSpc>
              <a:spcBef>
                <a:spcPts val="35"/>
              </a:spcBef>
              <a:buFont typeface="Wingdings"/>
              <a:buChar char=""/>
              <a:tabLst>
                <a:tab pos="264795" algn="l"/>
              </a:tabLst>
            </a:pPr>
            <a:r>
              <a:rPr b="1" spc="90" dirty="0">
                <a:latin typeface="Cambria"/>
                <a:cs typeface="Cambria"/>
              </a:rPr>
              <a:t>recvfrom</a:t>
            </a:r>
            <a:r>
              <a:rPr b="1" spc="165" dirty="0">
                <a:latin typeface="Cambria"/>
                <a:cs typeface="Cambria"/>
              </a:rPr>
              <a:t> </a:t>
            </a:r>
            <a:r>
              <a:rPr dirty="0"/>
              <a:t>—</a:t>
            </a:r>
            <a:r>
              <a:rPr spc="60" dirty="0"/>
              <a:t>receive</a:t>
            </a:r>
            <a:r>
              <a:rPr spc="160" dirty="0"/>
              <a:t> </a:t>
            </a:r>
            <a:r>
              <a:rPr spc="100" dirty="0"/>
              <a:t>the</a:t>
            </a:r>
            <a:r>
              <a:rPr spc="165" dirty="0"/>
              <a:t> </a:t>
            </a:r>
            <a:r>
              <a:rPr spc="105" dirty="0"/>
              <a:t>next</a:t>
            </a:r>
            <a:r>
              <a:rPr spc="175" dirty="0"/>
              <a:t> </a:t>
            </a:r>
            <a:r>
              <a:rPr spc="90" dirty="0"/>
              <a:t>incoming</a:t>
            </a:r>
          </a:p>
          <a:p>
            <a:pPr marL="265430" marR="470534">
              <a:lnSpc>
                <a:spcPct val="102099"/>
              </a:lnSpc>
              <a:spcBef>
                <a:spcPts val="10"/>
              </a:spcBef>
            </a:pPr>
            <a:r>
              <a:rPr spc="114" dirty="0"/>
              <a:t>datagram</a:t>
            </a:r>
            <a:r>
              <a:rPr spc="145" dirty="0"/>
              <a:t> </a:t>
            </a:r>
            <a:r>
              <a:rPr spc="140" dirty="0"/>
              <a:t>and</a:t>
            </a:r>
            <a:r>
              <a:rPr spc="150" dirty="0"/>
              <a:t> </a:t>
            </a:r>
            <a:r>
              <a:rPr spc="80" dirty="0"/>
              <a:t>record</a:t>
            </a:r>
            <a:r>
              <a:rPr spc="135" dirty="0"/>
              <a:t> </a:t>
            </a:r>
            <a:r>
              <a:rPr spc="85" dirty="0"/>
              <a:t>its</a:t>
            </a:r>
            <a:r>
              <a:rPr spc="165" dirty="0"/>
              <a:t> </a:t>
            </a:r>
            <a:r>
              <a:rPr spc="105" dirty="0"/>
              <a:t>source</a:t>
            </a:r>
            <a:r>
              <a:rPr spc="190" dirty="0"/>
              <a:t> </a:t>
            </a:r>
            <a:r>
              <a:rPr spc="80" dirty="0"/>
              <a:t>endpoint </a:t>
            </a:r>
            <a:r>
              <a:rPr spc="100" dirty="0"/>
              <a:t>address</a:t>
            </a:r>
          </a:p>
          <a:p>
            <a:pPr marL="264795" indent="-235585">
              <a:lnSpc>
                <a:spcPct val="100000"/>
              </a:lnSpc>
              <a:spcBef>
                <a:spcPts val="50"/>
              </a:spcBef>
              <a:buFont typeface="Wingdings"/>
              <a:buChar char=""/>
              <a:tabLst>
                <a:tab pos="264795" algn="l"/>
              </a:tabLst>
            </a:pPr>
            <a:r>
              <a:rPr b="1" spc="95" dirty="0">
                <a:latin typeface="Cambria"/>
                <a:cs typeface="Cambria"/>
              </a:rPr>
              <a:t>send</a:t>
            </a:r>
            <a:r>
              <a:rPr b="1" spc="180" dirty="0">
                <a:latin typeface="Cambria"/>
                <a:cs typeface="Cambria"/>
              </a:rPr>
              <a:t> </a:t>
            </a:r>
            <a:r>
              <a:rPr dirty="0"/>
              <a:t>—</a:t>
            </a:r>
            <a:r>
              <a:rPr spc="114" dirty="0"/>
              <a:t>send</a:t>
            </a:r>
            <a:r>
              <a:rPr spc="175" dirty="0"/>
              <a:t> </a:t>
            </a:r>
            <a:r>
              <a:rPr spc="150" dirty="0"/>
              <a:t>an</a:t>
            </a:r>
            <a:r>
              <a:rPr spc="155" dirty="0"/>
              <a:t> </a:t>
            </a:r>
            <a:r>
              <a:rPr spc="90" dirty="0"/>
              <a:t>outgoing</a:t>
            </a:r>
            <a:r>
              <a:rPr spc="195" dirty="0"/>
              <a:t> </a:t>
            </a:r>
            <a:r>
              <a:rPr spc="105" dirty="0"/>
              <a:t>datagram</a:t>
            </a:r>
          </a:p>
          <a:p>
            <a:pPr marL="265430" marR="608965" indent="-236220">
              <a:lnSpc>
                <a:spcPts val="1789"/>
              </a:lnSpc>
              <a:spcBef>
                <a:spcPts val="55"/>
              </a:spcBef>
              <a:buFont typeface="Wingdings"/>
              <a:buChar char=""/>
              <a:tabLst>
                <a:tab pos="265430" algn="l"/>
              </a:tabLst>
            </a:pPr>
            <a:r>
              <a:rPr b="1" spc="110" dirty="0">
                <a:latin typeface="Cambria"/>
                <a:cs typeface="Cambria"/>
              </a:rPr>
              <a:t>sendmsg</a:t>
            </a:r>
            <a:r>
              <a:rPr b="1" spc="195" dirty="0">
                <a:latin typeface="Cambria"/>
                <a:cs typeface="Cambria"/>
              </a:rPr>
              <a:t> </a:t>
            </a:r>
            <a:r>
              <a:rPr dirty="0"/>
              <a:t>—</a:t>
            </a:r>
            <a:r>
              <a:rPr spc="114" dirty="0"/>
              <a:t>send</a:t>
            </a:r>
            <a:r>
              <a:rPr spc="160" dirty="0"/>
              <a:t> </a:t>
            </a:r>
            <a:r>
              <a:rPr spc="150" dirty="0"/>
              <a:t>an</a:t>
            </a:r>
            <a:r>
              <a:rPr spc="175" dirty="0"/>
              <a:t> </a:t>
            </a:r>
            <a:r>
              <a:rPr spc="90" dirty="0"/>
              <a:t>outgoing</a:t>
            </a:r>
            <a:r>
              <a:rPr spc="200" dirty="0"/>
              <a:t> </a:t>
            </a:r>
            <a:r>
              <a:rPr spc="105" dirty="0"/>
              <a:t>datagram </a:t>
            </a:r>
            <a:r>
              <a:rPr spc="60" dirty="0"/>
              <a:t>(variation</a:t>
            </a:r>
            <a:r>
              <a:rPr spc="229" dirty="0"/>
              <a:t> </a:t>
            </a:r>
            <a:r>
              <a:rPr dirty="0"/>
              <a:t>of</a:t>
            </a:r>
            <a:r>
              <a:rPr spc="235" dirty="0"/>
              <a:t> </a:t>
            </a:r>
            <a:r>
              <a:rPr spc="60" dirty="0"/>
              <a:t>send)</a:t>
            </a:r>
          </a:p>
          <a:p>
            <a:pPr marL="264795" indent="-235585">
              <a:lnSpc>
                <a:spcPts val="1705"/>
              </a:lnSpc>
              <a:buFont typeface="Wingdings"/>
              <a:buChar char=""/>
              <a:tabLst>
                <a:tab pos="264795" algn="l"/>
              </a:tabLst>
            </a:pPr>
            <a:r>
              <a:rPr b="1" spc="100" dirty="0">
                <a:latin typeface="Cambria"/>
                <a:cs typeface="Cambria"/>
              </a:rPr>
              <a:t>sendto</a:t>
            </a:r>
            <a:r>
              <a:rPr b="1" spc="185" dirty="0">
                <a:latin typeface="Cambria"/>
                <a:cs typeface="Cambria"/>
              </a:rPr>
              <a:t> </a:t>
            </a:r>
            <a:r>
              <a:rPr dirty="0"/>
              <a:t>—</a:t>
            </a:r>
            <a:r>
              <a:rPr spc="114" dirty="0"/>
              <a:t>send</a:t>
            </a:r>
            <a:r>
              <a:rPr spc="165" dirty="0"/>
              <a:t> </a:t>
            </a:r>
            <a:r>
              <a:rPr spc="150" dirty="0"/>
              <a:t>an</a:t>
            </a:r>
            <a:r>
              <a:rPr spc="180" dirty="0"/>
              <a:t> </a:t>
            </a:r>
            <a:r>
              <a:rPr spc="85" dirty="0"/>
              <a:t>outgoing</a:t>
            </a:r>
            <a:r>
              <a:rPr spc="215" dirty="0"/>
              <a:t> </a:t>
            </a:r>
            <a:r>
              <a:rPr spc="125" dirty="0"/>
              <a:t>datagram,</a:t>
            </a:r>
            <a:r>
              <a:rPr spc="150" dirty="0"/>
              <a:t> </a:t>
            </a:r>
            <a:r>
              <a:rPr spc="110" dirty="0"/>
              <a:t>usually</a:t>
            </a:r>
          </a:p>
          <a:p>
            <a:pPr marL="265430">
              <a:lnSpc>
                <a:spcPct val="100000"/>
              </a:lnSpc>
              <a:spcBef>
                <a:spcPts val="45"/>
              </a:spcBef>
            </a:pPr>
            <a:r>
              <a:rPr spc="60" dirty="0"/>
              <a:t>to</a:t>
            </a:r>
            <a:r>
              <a:rPr spc="165" dirty="0"/>
              <a:t> </a:t>
            </a:r>
            <a:r>
              <a:rPr spc="145" dirty="0"/>
              <a:t>a</a:t>
            </a:r>
            <a:r>
              <a:rPr spc="170" dirty="0"/>
              <a:t> </a:t>
            </a:r>
            <a:r>
              <a:rPr spc="75" dirty="0"/>
              <a:t>prerecorded</a:t>
            </a:r>
            <a:r>
              <a:rPr spc="120" dirty="0"/>
              <a:t> </a:t>
            </a:r>
            <a:r>
              <a:rPr spc="95" dirty="0"/>
              <a:t>endpoint</a:t>
            </a:r>
            <a:r>
              <a:rPr spc="140" dirty="0"/>
              <a:t> </a:t>
            </a:r>
            <a:r>
              <a:rPr spc="100" dirty="0"/>
              <a:t>address</a:t>
            </a:r>
          </a:p>
          <a:p>
            <a:pPr marL="265430" marR="235585" indent="-236220">
              <a:lnSpc>
                <a:spcPts val="1789"/>
              </a:lnSpc>
              <a:spcBef>
                <a:spcPts val="55"/>
              </a:spcBef>
              <a:buFont typeface="Wingdings"/>
              <a:buChar char=""/>
              <a:tabLst>
                <a:tab pos="265430" algn="l"/>
              </a:tabLst>
            </a:pPr>
            <a:r>
              <a:rPr b="1" spc="100" dirty="0">
                <a:latin typeface="Cambria"/>
                <a:cs typeface="Cambria"/>
              </a:rPr>
              <a:t>shutdown</a:t>
            </a:r>
            <a:r>
              <a:rPr b="1" spc="165" dirty="0">
                <a:latin typeface="Cambria"/>
                <a:cs typeface="Cambria"/>
              </a:rPr>
              <a:t> </a:t>
            </a:r>
            <a:r>
              <a:rPr dirty="0"/>
              <a:t>—</a:t>
            </a:r>
            <a:r>
              <a:rPr spc="95" dirty="0"/>
              <a:t>terminate</a:t>
            </a:r>
            <a:r>
              <a:rPr spc="145" dirty="0"/>
              <a:t> a</a:t>
            </a:r>
            <a:r>
              <a:rPr spc="195" dirty="0"/>
              <a:t> </a:t>
            </a:r>
            <a:r>
              <a:rPr spc="130" dirty="0"/>
              <a:t>TCP</a:t>
            </a:r>
            <a:r>
              <a:rPr spc="200" dirty="0"/>
              <a:t> </a:t>
            </a:r>
            <a:r>
              <a:rPr spc="95" dirty="0"/>
              <a:t>connection</a:t>
            </a:r>
            <a:r>
              <a:rPr spc="175" dirty="0"/>
              <a:t> </a:t>
            </a:r>
            <a:r>
              <a:rPr spc="75" dirty="0"/>
              <a:t>in </a:t>
            </a:r>
            <a:r>
              <a:rPr spc="85" dirty="0"/>
              <a:t>one</a:t>
            </a:r>
            <a:r>
              <a:rPr spc="190" dirty="0"/>
              <a:t> </a:t>
            </a:r>
            <a:r>
              <a:rPr dirty="0"/>
              <a:t>or</a:t>
            </a:r>
            <a:r>
              <a:rPr spc="210" dirty="0"/>
              <a:t> </a:t>
            </a:r>
            <a:r>
              <a:rPr spc="105" dirty="0"/>
              <a:t>both</a:t>
            </a:r>
            <a:r>
              <a:rPr spc="175" dirty="0"/>
              <a:t> </a:t>
            </a:r>
            <a:r>
              <a:rPr spc="75" dirty="0"/>
              <a:t>directions</a:t>
            </a:r>
          </a:p>
          <a:p>
            <a:pPr marL="264795" indent="-235585">
              <a:lnSpc>
                <a:spcPts val="1705"/>
              </a:lnSpc>
              <a:buFont typeface="Wingdings"/>
              <a:buChar char=""/>
              <a:tabLst>
                <a:tab pos="264795" algn="l"/>
              </a:tabLst>
            </a:pPr>
            <a:r>
              <a:rPr b="1" spc="95" dirty="0">
                <a:latin typeface="Cambria"/>
                <a:cs typeface="Cambria"/>
              </a:rPr>
              <a:t>getpeername</a:t>
            </a:r>
            <a:r>
              <a:rPr b="1" spc="175" dirty="0">
                <a:latin typeface="Cambria"/>
                <a:cs typeface="Cambria"/>
              </a:rPr>
              <a:t> </a:t>
            </a:r>
            <a:r>
              <a:rPr dirty="0"/>
              <a:t>—</a:t>
            </a:r>
            <a:r>
              <a:rPr spc="70" dirty="0"/>
              <a:t>after</a:t>
            </a:r>
            <a:r>
              <a:rPr spc="165" dirty="0"/>
              <a:t> </a:t>
            </a:r>
            <a:r>
              <a:rPr spc="145" dirty="0"/>
              <a:t>a</a:t>
            </a:r>
            <a:r>
              <a:rPr spc="180" dirty="0"/>
              <a:t> </a:t>
            </a:r>
            <a:r>
              <a:rPr spc="100" dirty="0"/>
              <a:t>connection</a:t>
            </a:r>
            <a:r>
              <a:rPr spc="175" dirty="0"/>
              <a:t> </a:t>
            </a:r>
            <a:r>
              <a:rPr spc="80" dirty="0"/>
              <a:t>arrives,</a:t>
            </a:r>
          </a:p>
          <a:p>
            <a:pPr marL="265430" marR="741045">
              <a:lnSpc>
                <a:spcPct val="102099"/>
              </a:lnSpc>
              <a:spcBef>
                <a:spcPts val="10"/>
              </a:spcBef>
            </a:pPr>
            <a:r>
              <a:rPr spc="100" dirty="0"/>
              <a:t>obtain</a:t>
            </a:r>
            <a:r>
              <a:rPr spc="165" dirty="0"/>
              <a:t> </a:t>
            </a:r>
            <a:r>
              <a:rPr spc="100" dirty="0"/>
              <a:t>the</a:t>
            </a:r>
            <a:r>
              <a:rPr spc="165" dirty="0"/>
              <a:t> </a:t>
            </a:r>
            <a:r>
              <a:rPr spc="80" dirty="0"/>
              <a:t>remote</a:t>
            </a:r>
            <a:r>
              <a:rPr spc="135" dirty="0"/>
              <a:t> </a:t>
            </a:r>
            <a:r>
              <a:rPr spc="110" dirty="0"/>
              <a:t>machine’s</a:t>
            </a:r>
            <a:r>
              <a:rPr spc="150" dirty="0"/>
              <a:t> </a:t>
            </a:r>
            <a:r>
              <a:rPr spc="85" dirty="0"/>
              <a:t>endpoint </a:t>
            </a:r>
            <a:r>
              <a:rPr spc="110" dirty="0"/>
              <a:t>address</a:t>
            </a:r>
            <a:r>
              <a:rPr spc="130" dirty="0"/>
              <a:t> </a:t>
            </a:r>
            <a:r>
              <a:rPr spc="80" dirty="0"/>
              <a:t>from</a:t>
            </a:r>
            <a:r>
              <a:rPr spc="150" dirty="0"/>
              <a:t> </a:t>
            </a:r>
            <a:r>
              <a:rPr spc="145" dirty="0"/>
              <a:t>a</a:t>
            </a:r>
            <a:r>
              <a:rPr spc="165" dirty="0"/>
              <a:t> </a:t>
            </a:r>
            <a:r>
              <a:rPr spc="90" dirty="0"/>
              <a:t>socket</a:t>
            </a:r>
          </a:p>
          <a:p>
            <a:pPr marL="265430" marR="8890" indent="-236220">
              <a:lnSpc>
                <a:spcPct val="102099"/>
              </a:lnSpc>
              <a:spcBef>
                <a:spcPts val="15"/>
              </a:spcBef>
              <a:buFont typeface="Wingdings"/>
              <a:buChar char=""/>
              <a:tabLst>
                <a:tab pos="265430" algn="l"/>
              </a:tabLst>
            </a:pPr>
            <a:r>
              <a:rPr b="1" spc="110" dirty="0">
                <a:latin typeface="Cambria"/>
                <a:cs typeface="Cambria"/>
              </a:rPr>
              <a:t>getsockopt</a:t>
            </a:r>
            <a:r>
              <a:rPr b="1" spc="185" dirty="0">
                <a:latin typeface="Cambria"/>
                <a:cs typeface="Cambria"/>
              </a:rPr>
              <a:t> </a:t>
            </a:r>
            <a:r>
              <a:rPr dirty="0"/>
              <a:t>—</a:t>
            </a:r>
            <a:r>
              <a:rPr spc="100" dirty="0"/>
              <a:t>obtain</a:t>
            </a:r>
            <a:r>
              <a:rPr spc="180" dirty="0"/>
              <a:t> </a:t>
            </a:r>
            <a:r>
              <a:rPr spc="100" dirty="0"/>
              <a:t>the</a:t>
            </a:r>
            <a:r>
              <a:rPr spc="195" dirty="0"/>
              <a:t> </a:t>
            </a:r>
            <a:r>
              <a:rPr spc="105" dirty="0"/>
              <a:t>current</a:t>
            </a:r>
            <a:r>
              <a:rPr spc="160" dirty="0"/>
              <a:t> </a:t>
            </a:r>
            <a:r>
              <a:rPr spc="85" dirty="0"/>
              <a:t>options</a:t>
            </a:r>
            <a:r>
              <a:rPr spc="200" dirty="0"/>
              <a:t> </a:t>
            </a:r>
            <a:r>
              <a:rPr dirty="0"/>
              <a:t>for</a:t>
            </a:r>
            <a:r>
              <a:rPr spc="195" dirty="0"/>
              <a:t> </a:t>
            </a:r>
            <a:r>
              <a:rPr spc="95" dirty="0"/>
              <a:t>a </a:t>
            </a:r>
            <a:r>
              <a:rPr spc="90" dirty="0"/>
              <a:t>socket</a:t>
            </a:r>
          </a:p>
          <a:p>
            <a:pPr marL="264795" indent="-235585">
              <a:lnSpc>
                <a:spcPct val="100000"/>
              </a:lnSpc>
              <a:spcBef>
                <a:spcPts val="45"/>
              </a:spcBef>
              <a:buFont typeface="Wingdings"/>
              <a:buChar char=""/>
              <a:tabLst>
                <a:tab pos="264795" algn="l"/>
              </a:tabLst>
            </a:pPr>
            <a:r>
              <a:rPr b="1" spc="110" dirty="0">
                <a:latin typeface="Cambria"/>
                <a:cs typeface="Cambria"/>
              </a:rPr>
              <a:t>setsockopt</a:t>
            </a:r>
            <a:r>
              <a:rPr b="1" spc="185" dirty="0">
                <a:latin typeface="Cambria"/>
                <a:cs typeface="Cambria"/>
              </a:rPr>
              <a:t> </a:t>
            </a:r>
            <a:r>
              <a:rPr dirty="0"/>
              <a:t>—</a:t>
            </a:r>
            <a:r>
              <a:rPr spc="120" dirty="0"/>
              <a:t>change</a:t>
            </a:r>
            <a:r>
              <a:rPr spc="195" dirty="0"/>
              <a:t> </a:t>
            </a:r>
            <a:r>
              <a:rPr spc="100" dirty="0"/>
              <a:t>the</a:t>
            </a:r>
            <a:r>
              <a:rPr spc="195" dirty="0"/>
              <a:t> </a:t>
            </a:r>
            <a:r>
              <a:rPr spc="85" dirty="0"/>
              <a:t>options</a:t>
            </a:r>
            <a:r>
              <a:rPr spc="195" dirty="0"/>
              <a:t> </a:t>
            </a:r>
            <a:r>
              <a:rPr dirty="0"/>
              <a:t>for</a:t>
            </a:r>
            <a:r>
              <a:rPr spc="195" dirty="0"/>
              <a:t> </a:t>
            </a:r>
            <a:r>
              <a:rPr spc="145" dirty="0"/>
              <a:t>a</a:t>
            </a:r>
            <a:r>
              <a:rPr spc="195" dirty="0"/>
              <a:t> </a:t>
            </a:r>
            <a:r>
              <a:rPr spc="90" dirty="0"/>
              <a:t>socket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127504"/>
            <a:ext cx="10058400" cy="4375785"/>
            <a:chOff x="0" y="2127504"/>
            <a:chExt cx="10058400" cy="4375785"/>
          </a:xfrm>
        </p:grpSpPr>
        <p:sp>
          <p:nvSpPr>
            <p:cNvPr id="3" name="object 3"/>
            <p:cNvSpPr/>
            <p:nvPr/>
          </p:nvSpPr>
          <p:spPr>
            <a:xfrm>
              <a:off x="5094732" y="6461760"/>
              <a:ext cx="2562225" cy="41275"/>
            </a:xfrm>
            <a:custGeom>
              <a:avLst/>
              <a:gdLst/>
              <a:ahLst/>
              <a:cxnLst/>
              <a:rect l="l" t="t" r="r" b="b"/>
              <a:pathLst>
                <a:path w="2562225" h="41275">
                  <a:moveTo>
                    <a:pt x="2561844" y="41147"/>
                  </a:moveTo>
                  <a:lnTo>
                    <a:pt x="0" y="41147"/>
                  </a:lnTo>
                  <a:lnTo>
                    <a:pt x="0" y="0"/>
                  </a:lnTo>
                  <a:lnTo>
                    <a:pt x="2561844" y="0"/>
                  </a:lnTo>
                  <a:lnTo>
                    <a:pt x="2561844" y="41147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00188" y="6461760"/>
              <a:ext cx="2458720" cy="38100"/>
            </a:xfrm>
            <a:custGeom>
              <a:avLst/>
              <a:gdLst/>
              <a:ahLst/>
              <a:cxnLst/>
              <a:rect l="l" t="t" r="r" b="b"/>
              <a:pathLst>
                <a:path w="2458720" h="38100">
                  <a:moveTo>
                    <a:pt x="2458212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458212" y="0"/>
                  </a:lnTo>
                  <a:lnTo>
                    <a:pt x="2458212" y="3810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93620" y="6461760"/>
              <a:ext cx="2839720" cy="41275"/>
            </a:xfrm>
            <a:custGeom>
              <a:avLst/>
              <a:gdLst/>
              <a:ahLst/>
              <a:cxnLst/>
              <a:rect l="l" t="t" r="r" b="b"/>
              <a:pathLst>
                <a:path w="2839720" h="41275">
                  <a:moveTo>
                    <a:pt x="2839212" y="41147"/>
                  </a:moveTo>
                  <a:lnTo>
                    <a:pt x="0" y="41147"/>
                  </a:lnTo>
                  <a:lnTo>
                    <a:pt x="0" y="0"/>
                  </a:lnTo>
                  <a:lnTo>
                    <a:pt x="2839212" y="0"/>
                  </a:lnTo>
                  <a:lnTo>
                    <a:pt x="2839212" y="41147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45379" y="6464807"/>
              <a:ext cx="2562225" cy="38100"/>
            </a:xfrm>
            <a:custGeom>
              <a:avLst/>
              <a:gdLst/>
              <a:ahLst/>
              <a:cxnLst/>
              <a:rect l="l" t="t" r="r" b="b"/>
              <a:pathLst>
                <a:path w="2562225" h="38100">
                  <a:moveTo>
                    <a:pt x="2561843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1843" y="0"/>
                  </a:lnTo>
                  <a:lnTo>
                    <a:pt x="2561843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46960" y="6464807"/>
              <a:ext cx="2598420" cy="38100"/>
            </a:xfrm>
            <a:custGeom>
              <a:avLst/>
              <a:gdLst/>
              <a:ahLst/>
              <a:cxnLst/>
              <a:rect l="l" t="t" r="r" b="b"/>
              <a:pathLst>
                <a:path w="2598420" h="38100">
                  <a:moveTo>
                    <a:pt x="2598420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98420" y="0"/>
                  </a:lnTo>
                  <a:lnTo>
                    <a:pt x="2598420" y="38100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98080" y="6464807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98419" y="2127504"/>
              <a:ext cx="2562225" cy="38100"/>
            </a:xfrm>
            <a:custGeom>
              <a:avLst/>
              <a:gdLst/>
              <a:ahLst/>
              <a:cxnLst/>
              <a:rect l="l" t="t" r="r" b="b"/>
              <a:pathLst>
                <a:path w="2562225" h="38100">
                  <a:moveTo>
                    <a:pt x="2561844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1844" y="0"/>
                  </a:lnTo>
                  <a:lnTo>
                    <a:pt x="2561844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2127504"/>
              <a:ext cx="2598420" cy="38100"/>
            </a:xfrm>
            <a:custGeom>
              <a:avLst/>
              <a:gdLst/>
              <a:ahLst/>
              <a:cxnLst/>
              <a:rect l="l" t="t" r="r" b="b"/>
              <a:pathLst>
                <a:path w="2598420" h="38100">
                  <a:moveTo>
                    <a:pt x="25984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98419" y="0"/>
                  </a:lnTo>
                  <a:lnTo>
                    <a:pt x="2598419" y="38100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151120" y="2127504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2340" y="1057656"/>
            <a:ext cx="2414016" cy="571499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9838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145" dirty="0"/>
              <a:t>Sockets</a:t>
            </a:r>
            <a:r>
              <a:rPr spc="-170" dirty="0"/>
              <a:t> </a:t>
            </a:r>
            <a:r>
              <a:rPr spc="70" dirty="0"/>
              <a:t>-</a:t>
            </a:r>
            <a:r>
              <a:rPr spc="135" dirty="0"/>
              <a:t> </a:t>
            </a:r>
            <a:r>
              <a:rPr spc="90" dirty="0"/>
              <a:t>Life</a:t>
            </a:r>
            <a:r>
              <a:rPr spc="70" dirty="0"/>
              <a:t> </a:t>
            </a:r>
            <a:r>
              <a:rPr spc="165" dirty="0"/>
              <a:t>Cycle</a:t>
            </a: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69820" y="2142744"/>
            <a:ext cx="7688579" cy="429005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29652" y="3821310"/>
            <a:ext cx="915669" cy="10858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9060">
              <a:lnSpc>
                <a:spcPct val="100000"/>
              </a:lnSpc>
              <a:spcBef>
                <a:spcPts val="110"/>
              </a:spcBef>
            </a:pPr>
            <a:r>
              <a:rPr sz="1900" spc="-10" dirty="0">
                <a:latin typeface="Gadugi"/>
                <a:cs typeface="Gadugi"/>
              </a:rPr>
              <a:t>server.c</a:t>
            </a:r>
            <a:endParaRPr sz="1900">
              <a:latin typeface="Gadugi"/>
              <a:cs typeface="Gadugi"/>
            </a:endParaRPr>
          </a:p>
          <a:p>
            <a:pPr>
              <a:lnSpc>
                <a:spcPct val="100000"/>
              </a:lnSpc>
              <a:spcBef>
                <a:spcPts val="1550"/>
              </a:spcBef>
            </a:pPr>
            <a:endParaRPr sz="1900">
              <a:latin typeface="Gadugi"/>
              <a:cs typeface="Gadugi"/>
            </a:endParaRPr>
          </a:p>
          <a:p>
            <a:pPr marL="12700">
              <a:lnSpc>
                <a:spcPct val="100000"/>
              </a:lnSpc>
            </a:pPr>
            <a:r>
              <a:rPr sz="1650" spc="75" dirty="0">
                <a:latin typeface="Cambria"/>
                <a:cs typeface="Cambria"/>
              </a:rPr>
              <a:t>#Client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3060" y="5768792"/>
            <a:ext cx="793115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-10" dirty="0">
                <a:latin typeface="Gadugi"/>
                <a:cs typeface="Gadugi"/>
              </a:rPr>
              <a:t>client.c</a:t>
            </a:r>
            <a:endParaRPr sz="1950">
              <a:latin typeface="Gadugi"/>
              <a:cs typeface="Gadug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6437" y="2199711"/>
            <a:ext cx="2629535" cy="75692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5"/>
              </a:spcBef>
            </a:pPr>
            <a:r>
              <a:rPr sz="1450" spc="135" dirty="0">
                <a:latin typeface="Cambria"/>
                <a:cs typeface="Cambria"/>
              </a:rPr>
              <a:t>TCP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110" dirty="0">
                <a:latin typeface="Cambria"/>
                <a:cs typeface="Cambria"/>
              </a:rPr>
              <a:t>Client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–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Server</a:t>
            </a:r>
            <a:r>
              <a:rPr sz="1450" spc="120" dirty="0">
                <a:latin typeface="Cambria"/>
                <a:cs typeface="Cambria"/>
              </a:rPr>
              <a:t> </a:t>
            </a:r>
            <a:r>
              <a:rPr sz="1450" spc="95" dirty="0">
                <a:latin typeface="Cambria"/>
                <a:cs typeface="Cambria"/>
              </a:rPr>
              <a:t>example</a:t>
            </a:r>
            <a:endParaRPr sz="1450">
              <a:latin typeface="Cambria"/>
              <a:cs typeface="Cambria"/>
            </a:endParaRPr>
          </a:p>
          <a:p>
            <a:pPr marL="140335">
              <a:lnSpc>
                <a:spcPct val="100000"/>
              </a:lnSpc>
              <a:spcBef>
                <a:spcPts val="1060"/>
              </a:spcBef>
            </a:pPr>
            <a:r>
              <a:rPr sz="1650" spc="50" dirty="0">
                <a:latin typeface="Cambria"/>
                <a:cs typeface="Cambria"/>
              </a:rPr>
              <a:t>#Server</a:t>
            </a:r>
            <a:endParaRPr sz="1650">
              <a:latin typeface="Cambria"/>
              <a:cs typeface="Cambr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17575" y="3150108"/>
            <a:ext cx="685800" cy="2592705"/>
            <a:chOff x="417575" y="3150108"/>
            <a:chExt cx="685800" cy="259270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3295" y="3150108"/>
              <a:ext cx="547115" cy="6461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7575" y="5071872"/>
              <a:ext cx="685799" cy="670560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362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145" dirty="0"/>
              <a:t>Remote</a:t>
            </a:r>
            <a:r>
              <a:rPr spc="165" dirty="0"/>
              <a:t> </a:t>
            </a:r>
            <a:r>
              <a:rPr dirty="0"/>
              <a:t>Procedure</a:t>
            </a:r>
            <a:r>
              <a:rPr spc="170" dirty="0"/>
              <a:t> </a:t>
            </a:r>
            <a:r>
              <a:rPr spc="114" dirty="0"/>
              <a:t>Call</a:t>
            </a:r>
            <a:r>
              <a:rPr spc="200" dirty="0"/>
              <a:t> </a:t>
            </a:r>
            <a:r>
              <a:rPr spc="-10" dirty="0"/>
              <a:t>(RPC)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7053" y="2213913"/>
            <a:ext cx="9110345" cy="1478280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850"/>
              </a:spcBef>
              <a:buFont typeface="Wingdings"/>
              <a:buChar char=""/>
              <a:tabLst>
                <a:tab pos="295910" algn="l"/>
                <a:tab pos="5729605" algn="l"/>
              </a:tabLst>
            </a:pPr>
            <a:r>
              <a:rPr sz="1950" spc="155" dirty="0">
                <a:latin typeface="Cambria"/>
                <a:cs typeface="Cambria"/>
              </a:rPr>
              <a:t>Mask's</a:t>
            </a:r>
            <a:r>
              <a:rPr sz="1950" spc="204" dirty="0">
                <a:latin typeface="Cambria"/>
                <a:cs typeface="Cambria"/>
              </a:rPr>
              <a:t> </a:t>
            </a:r>
            <a:r>
              <a:rPr sz="1950" spc="100" dirty="0">
                <a:latin typeface="Cambria"/>
                <a:cs typeface="Cambria"/>
              </a:rPr>
              <a:t>remote</a:t>
            </a:r>
            <a:r>
              <a:rPr sz="1950" spc="185" dirty="0">
                <a:latin typeface="Cambria"/>
                <a:cs typeface="Cambria"/>
              </a:rPr>
              <a:t> </a:t>
            </a:r>
            <a:r>
              <a:rPr sz="1950" spc="135" dirty="0">
                <a:latin typeface="Cambria"/>
                <a:cs typeface="Cambria"/>
              </a:rPr>
              <a:t>function</a:t>
            </a:r>
            <a:r>
              <a:rPr sz="1950" spc="220" dirty="0">
                <a:latin typeface="Cambria"/>
                <a:cs typeface="Cambria"/>
              </a:rPr>
              <a:t> </a:t>
            </a:r>
            <a:r>
              <a:rPr sz="1950" spc="130" dirty="0">
                <a:latin typeface="Cambria"/>
                <a:cs typeface="Cambria"/>
              </a:rPr>
              <a:t>calls</a:t>
            </a:r>
            <a:r>
              <a:rPr sz="1950" spc="204" dirty="0">
                <a:latin typeface="Cambria"/>
                <a:cs typeface="Cambria"/>
              </a:rPr>
              <a:t> </a:t>
            </a:r>
            <a:r>
              <a:rPr sz="1950" spc="180" dirty="0">
                <a:latin typeface="Cambria"/>
                <a:cs typeface="Cambria"/>
              </a:rPr>
              <a:t>as</a:t>
            </a:r>
            <a:r>
              <a:rPr sz="1950" spc="204" dirty="0">
                <a:latin typeface="Cambria"/>
                <a:cs typeface="Cambria"/>
              </a:rPr>
              <a:t> </a:t>
            </a:r>
            <a:r>
              <a:rPr sz="1950" spc="120" dirty="0">
                <a:latin typeface="Cambria"/>
                <a:cs typeface="Cambria"/>
              </a:rPr>
              <a:t>being</a:t>
            </a:r>
            <a:r>
              <a:rPr sz="1950" spc="204" dirty="0">
                <a:latin typeface="Cambria"/>
                <a:cs typeface="Cambria"/>
              </a:rPr>
              <a:t> </a:t>
            </a:r>
            <a:r>
              <a:rPr sz="1950" spc="95" dirty="0">
                <a:latin typeface="Cambria"/>
                <a:cs typeface="Cambria"/>
              </a:rPr>
              <a:t>local</a:t>
            </a:r>
            <a:r>
              <a:rPr sz="1950" dirty="0">
                <a:latin typeface="Cambria"/>
                <a:cs typeface="Cambria"/>
              </a:rPr>
              <a:t>	</a:t>
            </a:r>
            <a:r>
              <a:rPr sz="1950" spc="120" dirty="0">
                <a:latin typeface="Cambria"/>
                <a:cs typeface="Cambria"/>
              </a:rPr>
              <a:t>Client/server</a:t>
            </a:r>
            <a:r>
              <a:rPr sz="1950" spc="204" dirty="0">
                <a:latin typeface="Cambria"/>
                <a:cs typeface="Cambria"/>
              </a:rPr>
              <a:t> </a:t>
            </a:r>
            <a:r>
              <a:rPr sz="1950" spc="100" dirty="0">
                <a:latin typeface="Cambria"/>
                <a:cs typeface="Cambria"/>
              </a:rPr>
              <a:t>model</a:t>
            </a:r>
            <a:endParaRPr sz="1950">
              <a:latin typeface="Cambria"/>
              <a:cs typeface="Cambria"/>
            </a:endParaRPr>
          </a:p>
          <a:p>
            <a:pPr marL="295910" marR="5080" indent="-283845">
              <a:lnSpc>
                <a:spcPct val="101600"/>
              </a:lnSpc>
              <a:spcBef>
                <a:spcPts val="715"/>
              </a:spcBef>
              <a:buFont typeface="Wingdings"/>
              <a:buChar char=""/>
              <a:tabLst>
                <a:tab pos="295910" algn="l"/>
                <a:tab pos="6713220" algn="l"/>
              </a:tabLst>
            </a:pPr>
            <a:r>
              <a:rPr sz="1950" spc="120" dirty="0">
                <a:latin typeface="Cambria"/>
                <a:cs typeface="Cambria"/>
              </a:rPr>
              <a:t>Request/reply</a:t>
            </a:r>
            <a:r>
              <a:rPr sz="1950" spc="204" dirty="0">
                <a:latin typeface="Cambria"/>
                <a:cs typeface="Cambria"/>
              </a:rPr>
              <a:t> </a:t>
            </a:r>
            <a:r>
              <a:rPr sz="1950" spc="130" dirty="0">
                <a:latin typeface="Cambria"/>
                <a:cs typeface="Cambria"/>
              </a:rPr>
              <a:t>paradigm</a:t>
            </a:r>
            <a:r>
              <a:rPr sz="1950" spc="210" dirty="0">
                <a:latin typeface="Cambria"/>
                <a:cs typeface="Cambria"/>
              </a:rPr>
              <a:t> </a:t>
            </a:r>
            <a:r>
              <a:rPr sz="1950" spc="155" dirty="0">
                <a:latin typeface="Cambria"/>
                <a:cs typeface="Cambria"/>
              </a:rPr>
              <a:t>usually</a:t>
            </a:r>
            <a:r>
              <a:rPr sz="1950" spc="245" dirty="0">
                <a:latin typeface="Cambria"/>
                <a:cs typeface="Cambria"/>
              </a:rPr>
              <a:t> </a:t>
            </a:r>
            <a:r>
              <a:rPr sz="1950" spc="125" dirty="0">
                <a:latin typeface="Cambria"/>
                <a:cs typeface="Cambria"/>
              </a:rPr>
              <a:t>implemented</a:t>
            </a:r>
            <a:r>
              <a:rPr sz="1950" spc="190" dirty="0">
                <a:latin typeface="Cambria"/>
                <a:cs typeface="Cambria"/>
              </a:rPr>
              <a:t> </a:t>
            </a:r>
            <a:r>
              <a:rPr sz="1950" spc="75" dirty="0">
                <a:latin typeface="Cambria"/>
                <a:cs typeface="Cambria"/>
              </a:rPr>
              <a:t>with</a:t>
            </a:r>
            <a:r>
              <a:rPr sz="1950" dirty="0">
                <a:latin typeface="Cambria"/>
                <a:cs typeface="Cambria"/>
              </a:rPr>
              <a:t>	</a:t>
            </a:r>
            <a:r>
              <a:rPr sz="1950" spc="145" dirty="0">
                <a:latin typeface="Cambria"/>
                <a:cs typeface="Cambria"/>
              </a:rPr>
              <a:t>message</a:t>
            </a:r>
            <a:r>
              <a:rPr sz="1950" spc="185" dirty="0">
                <a:latin typeface="Cambria"/>
                <a:cs typeface="Cambria"/>
              </a:rPr>
              <a:t> </a:t>
            </a:r>
            <a:r>
              <a:rPr sz="1950" spc="150" dirty="0">
                <a:latin typeface="Cambria"/>
                <a:cs typeface="Cambria"/>
              </a:rPr>
              <a:t>passing</a:t>
            </a:r>
            <a:r>
              <a:rPr sz="1950" spc="220" dirty="0">
                <a:latin typeface="Cambria"/>
                <a:cs typeface="Cambria"/>
              </a:rPr>
              <a:t> </a:t>
            </a:r>
            <a:r>
              <a:rPr sz="1950" spc="110" dirty="0">
                <a:latin typeface="Cambria"/>
                <a:cs typeface="Cambria"/>
              </a:rPr>
              <a:t>in </a:t>
            </a:r>
            <a:r>
              <a:rPr sz="1950" spc="220" dirty="0">
                <a:latin typeface="Cambria"/>
                <a:cs typeface="Cambria"/>
              </a:rPr>
              <a:t>RPC</a:t>
            </a:r>
            <a:r>
              <a:rPr sz="1950" spc="190" dirty="0">
                <a:latin typeface="Cambria"/>
                <a:cs typeface="Cambria"/>
              </a:rPr>
              <a:t> </a:t>
            </a:r>
            <a:r>
              <a:rPr sz="1950" spc="80" dirty="0">
                <a:latin typeface="Cambria"/>
                <a:cs typeface="Cambria"/>
              </a:rPr>
              <a:t>service</a:t>
            </a:r>
            <a:endParaRPr sz="19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530"/>
              </a:spcBef>
              <a:buFont typeface="Wingdings"/>
              <a:buChar char=""/>
              <a:tabLst>
                <a:tab pos="295910" algn="l"/>
              </a:tabLst>
            </a:pPr>
            <a:r>
              <a:rPr sz="1950" spc="140" dirty="0">
                <a:latin typeface="Cambria"/>
                <a:cs typeface="Cambria"/>
              </a:rPr>
              <a:t>Marshalling</a:t>
            </a:r>
            <a:r>
              <a:rPr sz="1950" spc="240" dirty="0">
                <a:latin typeface="Cambria"/>
                <a:cs typeface="Cambria"/>
              </a:rPr>
              <a:t> </a:t>
            </a:r>
            <a:r>
              <a:rPr sz="1950" dirty="0">
                <a:latin typeface="Cambria"/>
                <a:cs typeface="Cambria"/>
              </a:rPr>
              <a:t>of</a:t>
            </a:r>
            <a:r>
              <a:rPr sz="1950" spc="229" dirty="0">
                <a:latin typeface="Cambria"/>
                <a:cs typeface="Cambria"/>
              </a:rPr>
              <a:t> </a:t>
            </a:r>
            <a:r>
              <a:rPr sz="1950" spc="135" dirty="0">
                <a:latin typeface="Cambria"/>
                <a:cs typeface="Cambria"/>
              </a:rPr>
              <a:t>function</a:t>
            </a:r>
            <a:r>
              <a:rPr sz="1950" spc="245" dirty="0">
                <a:latin typeface="Cambria"/>
                <a:cs typeface="Cambria"/>
              </a:rPr>
              <a:t> </a:t>
            </a:r>
            <a:r>
              <a:rPr sz="1950" spc="125" dirty="0">
                <a:latin typeface="Cambria"/>
                <a:cs typeface="Cambria"/>
              </a:rPr>
              <a:t>parameters</a:t>
            </a:r>
            <a:r>
              <a:rPr sz="1950" spc="185" dirty="0">
                <a:latin typeface="Cambria"/>
                <a:cs typeface="Cambria"/>
              </a:rPr>
              <a:t> </a:t>
            </a:r>
            <a:r>
              <a:rPr sz="1950" spc="175" dirty="0">
                <a:latin typeface="Cambria"/>
                <a:cs typeface="Cambria"/>
              </a:rPr>
              <a:t>and</a:t>
            </a:r>
            <a:r>
              <a:rPr sz="1950" spc="229" dirty="0">
                <a:latin typeface="Cambria"/>
                <a:cs typeface="Cambria"/>
              </a:rPr>
              <a:t> </a:t>
            </a:r>
            <a:r>
              <a:rPr sz="1950" spc="125" dirty="0">
                <a:latin typeface="Cambria"/>
                <a:cs typeface="Cambria"/>
              </a:rPr>
              <a:t>return</a:t>
            </a:r>
            <a:r>
              <a:rPr sz="1950" spc="185" dirty="0">
                <a:latin typeface="Cambria"/>
                <a:cs typeface="Cambria"/>
              </a:rPr>
              <a:t> </a:t>
            </a:r>
            <a:r>
              <a:rPr sz="1950" spc="114" dirty="0">
                <a:latin typeface="Cambria"/>
                <a:cs typeface="Cambria"/>
              </a:rPr>
              <a:t>value</a:t>
            </a:r>
            <a:endParaRPr sz="19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707891"/>
            <a:ext cx="10058400" cy="297332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362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145" dirty="0"/>
              <a:t>Remote</a:t>
            </a:r>
            <a:r>
              <a:rPr spc="165" dirty="0"/>
              <a:t> </a:t>
            </a:r>
            <a:r>
              <a:rPr dirty="0"/>
              <a:t>Procedure</a:t>
            </a:r>
            <a:r>
              <a:rPr spc="170" dirty="0"/>
              <a:t> </a:t>
            </a:r>
            <a:r>
              <a:rPr spc="114" dirty="0"/>
              <a:t>Call</a:t>
            </a:r>
            <a:r>
              <a:rPr spc="200" dirty="0"/>
              <a:t> </a:t>
            </a:r>
            <a:r>
              <a:rPr spc="-10" dirty="0"/>
              <a:t>(RPC)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7071" y="2239185"/>
            <a:ext cx="4765675" cy="4148454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650" b="1" spc="60" dirty="0">
                <a:latin typeface="Cambria"/>
                <a:cs typeface="Cambria"/>
              </a:rPr>
              <a:t>Properties</a:t>
            </a:r>
            <a:r>
              <a:rPr sz="1650" b="1" spc="210" dirty="0">
                <a:latin typeface="Cambria"/>
                <a:cs typeface="Cambria"/>
              </a:rPr>
              <a:t> </a:t>
            </a:r>
            <a:r>
              <a:rPr sz="1650" b="1" spc="85" dirty="0">
                <a:latin typeface="Cambria"/>
                <a:cs typeface="Cambria"/>
              </a:rPr>
              <a:t>of</a:t>
            </a:r>
            <a:r>
              <a:rPr sz="1650" b="1" spc="200" dirty="0">
                <a:latin typeface="Cambria"/>
                <a:cs typeface="Cambria"/>
              </a:rPr>
              <a:t> </a:t>
            </a:r>
            <a:r>
              <a:rPr sz="1650" b="1" spc="150" dirty="0">
                <a:latin typeface="Cambria"/>
                <a:cs typeface="Cambria"/>
              </a:rPr>
              <a:t>RPC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49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20" dirty="0">
                <a:latin typeface="Cambria"/>
                <a:cs typeface="Cambria"/>
              </a:rPr>
              <a:t>Language-</a:t>
            </a:r>
            <a:r>
              <a:rPr sz="1650" dirty="0">
                <a:latin typeface="Cambria"/>
                <a:cs typeface="Cambria"/>
              </a:rPr>
              <a:t>level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pattern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24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function</a:t>
            </a:r>
            <a:r>
              <a:rPr sz="1650" spc="24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call</a:t>
            </a:r>
            <a:endParaRPr sz="1650">
              <a:latin typeface="Cambria"/>
              <a:cs typeface="Cambria"/>
            </a:endParaRPr>
          </a:p>
          <a:p>
            <a:pPr marL="672465" lvl="1" indent="-281940">
              <a:lnSpc>
                <a:spcPct val="100000"/>
              </a:lnSpc>
              <a:spcBef>
                <a:spcPts val="525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100" dirty="0">
                <a:latin typeface="Cambria"/>
                <a:cs typeface="Cambria"/>
              </a:rPr>
              <a:t>easy</a:t>
            </a:r>
            <a:r>
              <a:rPr sz="1450" spc="204" dirty="0">
                <a:latin typeface="Cambria"/>
                <a:cs typeface="Cambria"/>
              </a:rPr>
              <a:t> </a:t>
            </a:r>
            <a:r>
              <a:rPr sz="1450" spc="60" dirty="0">
                <a:latin typeface="Cambria"/>
                <a:cs typeface="Cambria"/>
              </a:rPr>
              <a:t>to</a:t>
            </a:r>
            <a:r>
              <a:rPr sz="1450" spc="204" dirty="0">
                <a:latin typeface="Cambria"/>
                <a:cs typeface="Cambria"/>
              </a:rPr>
              <a:t> </a:t>
            </a:r>
            <a:r>
              <a:rPr sz="1450" spc="120" dirty="0">
                <a:latin typeface="Cambria"/>
                <a:cs typeface="Cambria"/>
              </a:rPr>
              <a:t>understand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for</a:t>
            </a:r>
            <a:r>
              <a:rPr sz="1450" spc="190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programmer</a:t>
            </a:r>
            <a:endParaRPr sz="14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47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25" dirty="0">
                <a:latin typeface="Cambria"/>
                <a:cs typeface="Cambria"/>
              </a:rPr>
              <a:t>Synchronous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request/reply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interaction</a:t>
            </a:r>
            <a:endParaRPr sz="1650">
              <a:latin typeface="Cambria"/>
              <a:cs typeface="Cambria"/>
            </a:endParaRPr>
          </a:p>
          <a:p>
            <a:pPr marL="672465" marR="241300" lvl="1" indent="-282575">
              <a:lnSpc>
                <a:spcPct val="124100"/>
              </a:lnSpc>
              <a:spcBef>
                <a:spcPts val="100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114" dirty="0">
                <a:latin typeface="Cambria"/>
                <a:cs typeface="Cambria"/>
              </a:rPr>
              <a:t>natural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from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145" dirty="0">
                <a:latin typeface="Cambria"/>
                <a:cs typeface="Cambria"/>
              </a:rPr>
              <a:t>a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programming</a:t>
            </a:r>
            <a:r>
              <a:rPr sz="1450" spc="130" dirty="0">
                <a:latin typeface="Cambria"/>
                <a:cs typeface="Cambria"/>
              </a:rPr>
              <a:t> </a:t>
            </a:r>
            <a:r>
              <a:rPr sz="1450" spc="105" dirty="0">
                <a:latin typeface="Cambria"/>
                <a:cs typeface="Cambria"/>
              </a:rPr>
              <a:t>language </a:t>
            </a:r>
            <a:r>
              <a:rPr sz="1450" spc="85" dirty="0">
                <a:latin typeface="Cambria"/>
                <a:cs typeface="Cambria"/>
              </a:rPr>
              <a:t>point-</a:t>
            </a:r>
            <a:r>
              <a:rPr sz="1450" spc="60" dirty="0">
                <a:latin typeface="Cambria"/>
                <a:cs typeface="Cambria"/>
              </a:rPr>
              <a:t>of-</a:t>
            </a:r>
            <a:r>
              <a:rPr sz="1450" dirty="0">
                <a:latin typeface="Cambria"/>
                <a:cs typeface="Cambria"/>
              </a:rPr>
              <a:t>view</a:t>
            </a:r>
            <a:r>
              <a:rPr sz="1450" spc="200" dirty="0">
                <a:latin typeface="Cambria"/>
                <a:cs typeface="Cambria"/>
              </a:rPr>
              <a:t>  </a:t>
            </a:r>
            <a:r>
              <a:rPr sz="1450" spc="130" dirty="0">
                <a:latin typeface="Cambria"/>
                <a:cs typeface="Cambria"/>
              </a:rPr>
              <a:t>matches</a:t>
            </a:r>
            <a:r>
              <a:rPr sz="1450" spc="195" dirty="0">
                <a:latin typeface="Cambria"/>
                <a:cs typeface="Cambria"/>
              </a:rPr>
              <a:t> </a:t>
            </a:r>
            <a:r>
              <a:rPr sz="1450" spc="70" dirty="0">
                <a:latin typeface="Cambria"/>
                <a:cs typeface="Cambria"/>
              </a:rPr>
              <a:t>replies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60" dirty="0">
                <a:latin typeface="Cambria"/>
                <a:cs typeface="Cambria"/>
              </a:rPr>
              <a:t>to</a:t>
            </a:r>
            <a:r>
              <a:rPr sz="1450" spc="229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requests</a:t>
            </a:r>
            <a:endParaRPr sz="1450">
              <a:latin typeface="Cambria"/>
              <a:cs typeface="Cambria"/>
            </a:endParaRPr>
          </a:p>
          <a:p>
            <a:pPr marL="672465" marR="394335" lvl="1" indent="-282575">
              <a:lnSpc>
                <a:spcPct val="124100"/>
              </a:lnSpc>
              <a:spcBef>
                <a:spcPts val="75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100" dirty="0">
                <a:latin typeface="Cambria"/>
                <a:cs typeface="Cambria"/>
              </a:rPr>
              <a:t>built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in</a:t>
            </a:r>
            <a:r>
              <a:rPr sz="1450" spc="190" dirty="0">
                <a:latin typeface="Cambria"/>
                <a:cs typeface="Cambria"/>
              </a:rPr>
              <a:t> </a:t>
            </a:r>
            <a:r>
              <a:rPr sz="1450" spc="95" dirty="0">
                <a:latin typeface="Cambria"/>
                <a:cs typeface="Cambria"/>
              </a:rPr>
              <a:t>synchronization</a:t>
            </a:r>
            <a:r>
              <a:rPr sz="1450" spc="195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of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requests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114" dirty="0">
                <a:latin typeface="Cambria"/>
                <a:cs typeface="Cambria"/>
              </a:rPr>
              <a:t>and </a:t>
            </a:r>
            <a:r>
              <a:rPr sz="1450" spc="60" dirty="0">
                <a:latin typeface="Cambria"/>
                <a:cs typeface="Cambria"/>
              </a:rPr>
              <a:t>replies</a:t>
            </a:r>
            <a:endParaRPr sz="1450">
              <a:latin typeface="Cambria"/>
              <a:cs typeface="Cambria"/>
            </a:endParaRPr>
          </a:p>
          <a:p>
            <a:pPr marL="295910" marR="5080" indent="-283845">
              <a:lnSpc>
                <a:spcPct val="121200"/>
              </a:lnSpc>
              <a:spcBef>
                <a:spcPts val="5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90" dirty="0">
                <a:latin typeface="Cambria"/>
                <a:cs typeface="Cambria"/>
              </a:rPr>
              <a:t>Distribution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transparency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(in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the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no-</a:t>
            </a:r>
            <a:r>
              <a:rPr sz="1650" spc="65" dirty="0">
                <a:latin typeface="Cambria"/>
                <a:cs typeface="Cambria"/>
              </a:rPr>
              <a:t>failure </a:t>
            </a:r>
            <a:r>
              <a:rPr sz="1650" spc="60" dirty="0">
                <a:latin typeface="Cambria"/>
                <a:cs typeface="Cambria"/>
              </a:rPr>
              <a:t>case)</a:t>
            </a:r>
            <a:endParaRPr sz="1650">
              <a:latin typeface="Cambria"/>
              <a:cs typeface="Cambria"/>
            </a:endParaRPr>
          </a:p>
          <a:p>
            <a:pPr marL="672465" lvl="1" indent="-281940">
              <a:lnSpc>
                <a:spcPct val="100000"/>
              </a:lnSpc>
              <a:spcBef>
                <a:spcPts val="525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105" dirty="0">
                <a:latin typeface="Cambria"/>
                <a:cs typeface="Cambria"/>
              </a:rPr>
              <a:t>hides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the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complexity</a:t>
            </a:r>
            <a:r>
              <a:rPr sz="1450" spc="18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of</a:t>
            </a:r>
            <a:r>
              <a:rPr sz="1450" spc="180" dirty="0">
                <a:latin typeface="Cambria"/>
                <a:cs typeface="Cambria"/>
              </a:rPr>
              <a:t> </a:t>
            </a:r>
            <a:r>
              <a:rPr sz="1450" spc="145" dirty="0">
                <a:latin typeface="Cambria"/>
                <a:cs typeface="Cambria"/>
              </a:rPr>
              <a:t>a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95" dirty="0">
                <a:latin typeface="Cambria"/>
                <a:cs typeface="Cambria"/>
              </a:rPr>
              <a:t>distributed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95" dirty="0">
                <a:latin typeface="Cambria"/>
                <a:cs typeface="Cambria"/>
              </a:rPr>
              <a:t>system</a:t>
            </a:r>
            <a:endParaRPr sz="14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47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05" dirty="0">
                <a:latin typeface="Cambria"/>
                <a:cs typeface="Cambria"/>
              </a:rPr>
              <a:t>Various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reliability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guarantees</a:t>
            </a:r>
            <a:endParaRPr sz="1650">
              <a:latin typeface="Cambria"/>
              <a:cs typeface="Cambria"/>
            </a:endParaRPr>
          </a:p>
          <a:p>
            <a:pPr marL="672465" marR="728345" lvl="1" indent="-282575">
              <a:lnSpc>
                <a:spcPct val="123400"/>
              </a:lnSpc>
              <a:spcBef>
                <a:spcPts val="114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100" dirty="0">
                <a:latin typeface="Cambria"/>
                <a:cs typeface="Cambria"/>
              </a:rPr>
              <a:t>deals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with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105" dirty="0">
                <a:latin typeface="Cambria"/>
                <a:cs typeface="Cambria"/>
              </a:rPr>
              <a:t>some</a:t>
            </a:r>
            <a:r>
              <a:rPr sz="1450" spc="180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distributed</a:t>
            </a:r>
            <a:r>
              <a:rPr sz="1450" spc="145" dirty="0">
                <a:latin typeface="Cambria"/>
                <a:cs typeface="Cambria"/>
              </a:rPr>
              <a:t> </a:t>
            </a:r>
            <a:r>
              <a:rPr sz="1450" spc="105" dirty="0">
                <a:latin typeface="Cambria"/>
                <a:cs typeface="Cambria"/>
              </a:rPr>
              <a:t>systems </a:t>
            </a:r>
            <a:r>
              <a:rPr sz="1450" spc="110" dirty="0">
                <a:latin typeface="Cambria"/>
                <a:cs typeface="Cambria"/>
              </a:rPr>
              <a:t>aspects</a:t>
            </a:r>
            <a:r>
              <a:rPr sz="1450" spc="20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of</a:t>
            </a:r>
            <a:r>
              <a:rPr sz="1450" spc="229" dirty="0">
                <a:latin typeface="Cambria"/>
                <a:cs typeface="Cambria"/>
              </a:rPr>
              <a:t> </a:t>
            </a:r>
            <a:r>
              <a:rPr sz="1450" spc="75" dirty="0">
                <a:latin typeface="Cambria"/>
                <a:cs typeface="Cambria"/>
              </a:rPr>
              <a:t>failure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720" y="2222446"/>
            <a:ext cx="4772025" cy="425958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650" b="1" spc="75" dirty="0">
                <a:latin typeface="Cambria"/>
                <a:cs typeface="Cambria"/>
              </a:rPr>
              <a:t>Failure</a:t>
            </a:r>
            <a:r>
              <a:rPr sz="1650" b="1" spc="185" dirty="0">
                <a:latin typeface="Cambria"/>
                <a:cs typeface="Cambria"/>
              </a:rPr>
              <a:t> </a:t>
            </a:r>
            <a:r>
              <a:rPr sz="1650" b="1" spc="85" dirty="0">
                <a:latin typeface="Cambria"/>
                <a:cs typeface="Cambria"/>
              </a:rPr>
              <a:t>Modes</a:t>
            </a:r>
            <a:r>
              <a:rPr sz="1650" b="1" spc="190" dirty="0">
                <a:latin typeface="Cambria"/>
                <a:cs typeface="Cambria"/>
              </a:rPr>
              <a:t> </a:t>
            </a:r>
            <a:r>
              <a:rPr sz="1650" b="1" spc="85" dirty="0">
                <a:latin typeface="Cambria"/>
                <a:cs typeface="Cambria"/>
              </a:rPr>
              <a:t>of</a:t>
            </a:r>
            <a:r>
              <a:rPr sz="1650" b="1" spc="195" dirty="0">
                <a:latin typeface="Cambria"/>
                <a:cs typeface="Cambria"/>
              </a:rPr>
              <a:t> </a:t>
            </a:r>
            <a:r>
              <a:rPr sz="1650" b="1" spc="150" dirty="0">
                <a:latin typeface="Cambria"/>
                <a:cs typeface="Cambria"/>
              </a:rPr>
              <a:t>RPC</a:t>
            </a:r>
            <a:endParaRPr sz="1650">
              <a:latin typeface="Cambria"/>
              <a:cs typeface="Cambria"/>
            </a:endParaRPr>
          </a:p>
          <a:p>
            <a:pPr marL="295910" marR="5080" indent="-283845">
              <a:lnSpc>
                <a:spcPct val="121000"/>
              </a:lnSpc>
              <a:spcBef>
                <a:spcPts val="7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80" dirty="0">
                <a:latin typeface="Cambria"/>
                <a:cs typeface="Cambria"/>
              </a:rPr>
              <a:t>Invocation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semantics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supported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by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75" dirty="0">
                <a:latin typeface="Cambria"/>
                <a:cs typeface="Cambria"/>
              </a:rPr>
              <a:t>RPC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in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light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: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network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and/or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45" dirty="0">
                <a:latin typeface="Cambria"/>
                <a:cs typeface="Cambria"/>
              </a:rPr>
              <a:t>server </a:t>
            </a:r>
            <a:r>
              <a:rPr sz="1650" spc="95" dirty="0">
                <a:latin typeface="Cambria"/>
                <a:cs typeface="Cambria"/>
              </a:rPr>
              <a:t>congestion,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client,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network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and/or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45" dirty="0">
                <a:latin typeface="Cambria"/>
                <a:cs typeface="Cambria"/>
              </a:rPr>
              <a:t>server </a:t>
            </a:r>
            <a:r>
              <a:rPr sz="1650" spc="90" dirty="0">
                <a:latin typeface="Cambria"/>
                <a:cs typeface="Cambria"/>
              </a:rPr>
              <a:t>failure.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b="1" spc="100" dirty="0">
                <a:latin typeface="Cambria"/>
                <a:cs typeface="Cambria"/>
              </a:rPr>
              <a:t>Note</a:t>
            </a:r>
            <a:r>
              <a:rPr sz="1650" b="1" spc="165" dirty="0">
                <a:latin typeface="Cambria"/>
                <a:cs typeface="Cambria"/>
              </a:rPr>
              <a:t> </a:t>
            </a:r>
            <a:r>
              <a:rPr sz="1650" spc="250" dirty="0">
                <a:latin typeface="Cambria"/>
                <a:cs typeface="Cambria"/>
              </a:rPr>
              <a:t>DS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independent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failure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modes</a:t>
            </a:r>
            <a:endParaRPr sz="1650">
              <a:latin typeface="Cambria"/>
              <a:cs typeface="Cambria"/>
            </a:endParaRPr>
          </a:p>
          <a:p>
            <a:pPr marL="295910" marR="217170" indent="-283845">
              <a:lnSpc>
                <a:spcPct val="120600"/>
              </a:lnSpc>
              <a:spcBef>
                <a:spcPts val="9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75" dirty="0">
                <a:latin typeface="Cambria"/>
                <a:cs typeface="Cambria"/>
              </a:rPr>
              <a:t>RPC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systems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differ,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many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examples,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local </a:t>
            </a:r>
            <a:r>
              <a:rPr sz="1650" spc="100" dirty="0">
                <a:latin typeface="Cambria"/>
                <a:cs typeface="Cambria"/>
              </a:rPr>
              <a:t>was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Mayflower</a:t>
            </a:r>
            <a:endParaRPr sz="1650">
              <a:latin typeface="Cambria"/>
              <a:cs typeface="Cambria"/>
            </a:endParaRPr>
          </a:p>
          <a:p>
            <a:pPr marL="295910" marR="48895" indent="-283845">
              <a:lnSpc>
                <a:spcPct val="121200"/>
              </a:lnSpc>
              <a:spcBef>
                <a:spcPts val="8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20" dirty="0">
                <a:latin typeface="Cambria"/>
                <a:cs typeface="Cambria"/>
              </a:rPr>
              <a:t>May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or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at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most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once(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75" dirty="0">
                <a:latin typeface="Cambria"/>
                <a:cs typeface="Cambria"/>
              </a:rPr>
              <a:t>RPC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system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45" dirty="0">
                <a:latin typeface="Cambria"/>
                <a:cs typeface="Cambria"/>
              </a:rPr>
              <a:t>tries </a:t>
            </a:r>
            <a:r>
              <a:rPr sz="1650" spc="50" dirty="0">
                <a:latin typeface="Cambria"/>
                <a:cs typeface="Cambria"/>
              </a:rPr>
              <a:t>once)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Error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return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–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programmer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may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40" dirty="0">
                <a:latin typeface="Cambria"/>
                <a:cs typeface="Cambria"/>
              </a:rPr>
              <a:t>retry</a:t>
            </a:r>
            <a:endParaRPr sz="1650">
              <a:latin typeface="Cambria"/>
              <a:cs typeface="Cambria"/>
            </a:endParaRPr>
          </a:p>
          <a:p>
            <a:pPr marL="295910" marR="509905" indent="-283845">
              <a:lnSpc>
                <a:spcPct val="121200"/>
              </a:lnSpc>
              <a:spcBef>
                <a:spcPts val="7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10" dirty="0">
                <a:latin typeface="Cambria"/>
                <a:cs typeface="Cambria"/>
              </a:rPr>
              <a:t>Exactly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once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(RPC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system</a:t>
            </a:r>
            <a:r>
              <a:rPr sz="1650" spc="12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retries</a:t>
            </a:r>
            <a:r>
              <a:rPr sz="1650" spc="12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-25" dirty="0">
                <a:latin typeface="Cambria"/>
                <a:cs typeface="Cambria"/>
              </a:rPr>
              <a:t>few </a:t>
            </a:r>
            <a:r>
              <a:rPr sz="1650" spc="45" dirty="0">
                <a:latin typeface="Cambria"/>
                <a:cs typeface="Cambria"/>
              </a:rPr>
              <a:t>times)</a:t>
            </a:r>
            <a:endParaRPr sz="1650">
              <a:latin typeface="Cambria"/>
              <a:cs typeface="Cambria"/>
            </a:endParaRPr>
          </a:p>
          <a:p>
            <a:pPr marL="672465" marR="64135" lvl="1" indent="-282575">
              <a:lnSpc>
                <a:spcPct val="124100"/>
              </a:lnSpc>
              <a:spcBef>
                <a:spcPts val="90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125" dirty="0">
                <a:latin typeface="Cambria"/>
                <a:cs typeface="Cambria"/>
              </a:rPr>
              <a:t>Hard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spc="55" dirty="0">
                <a:latin typeface="Cambria"/>
                <a:cs typeface="Cambria"/>
              </a:rPr>
              <a:t>error</a:t>
            </a:r>
            <a:r>
              <a:rPr sz="1450" spc="14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return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–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105" dirty="0">
                <a:latin typeface="Cambria"/>
                <a:cs typeface="Cambria"/>
              </a:rPr>
              <a:t>some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failure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105" dirty="0">
                <a:latin typeface="Cambria"/>
                <a:cs typeface="Cambria"/>
              </a:rPr>
              <a:t>most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60" dirty="0">
                <a:latin typeface="Cambria"/>
                <a:cs typeface="Cambria"/>
              </a:rPr>
              <a:t>likely </a:t>
            </a:r>
            <a:r>
              <a:rPr sz="1450" spc="80" dirty="0">
                <a:latin typeface="Cambria"/>
                <a:cs typeface="Cambria"/>
              </a:rPr>
              <a:t>note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14" dirty="0">
                <a:latin typeface="Cambria"/>
                <a:cs typeface="Cambria"/>
              </a:rPr>
              <a:t>that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“exactly</a:t>
            </a:r>
            <a:r>
              <a:rPr sz="1450" spc="195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once”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114" dirty="0">
                <a:latin typeface="Cambria"/>
                <a:cs typeface="Cambria"/>
              </a:rPr>
              <a:t>cannot</a:t>
            </a:r>
            <a:r>
              <a:rPr sz="1450" spc="195" dirty="0">
                <a:latin typeface="Cambria"/>
                <a:cs typeface="Cambria"/>
              </a:rPr>
              <a:t> </a:t>
            </a:r>
            <a:r>
              <a:rPr sz="1450" spc="65" dirty="0">
                <a:latin typeface="Cambria"/>
                <a:cs typeface="Cambria"/>
              </a:rPr>
              <a:t>be </a:t>
            </a:r>
            <a:r>
              <a:rPr sz="1450" spc="100" dirty="0">
                <a:latin typeface="Cambria"/>
                <a:cs typeface="Cambria"/>
              </a:rPr>
              <a:t>guaranteed</a:t>
            </a:r>
            <a:endParaRPr sz="1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362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145" dirty="0"/>
              <a:t>Remote</a:t>
            </a:r>
            <a:r>
              <a:rPr spc="165" dirty="0"/>
              <a:t> </a:t>
            </a:r>
            <a:r>
              <a:rPr dirty="0"/>
              <a:t>Procedure</a:t>
            </a:r>
            <a:r>
              <a:rPr spc="170" dirty="0"/>
              <a:t> </a:t>
            </a:r>
            <a:r>
              <a:rPr spc="114" dirty="0"/>
              <a:t>Call</a:t>
            </a:r>
            <a:r>
              <a:rPr spc="200" dirty="0"/>
              <a:t> </a:t>
            </a:r>
            <a:r>
              <a:rPr spc="-10" dirty="0"/>
              <a:t>(RPC)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7071" y="2239185"/>
            <a:ext cx="6242050" cy="376999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650" b="1" spc="90" dirty="0">
                <a:latin typeface="Cambria"/>
                <a:cs typeface="Cambria"/>
              </a:rPr>
              <a:t>Disadvantages</a:t>
            </a:r>
            <a:r>
              <a:rPr sz="1650" b="1" spc="175" dirty="0">
                <a:latin typeface="Cambria"/>
                <a:cs typeface="Cambria"/>
              </a:rPr>
              <a:t> </a:t>
            </a:r>
            <a:r>
              <a:rPr sz="1650" b="1" spc="85" dirty="0">
                <a:latin typeface="Cambria"/>
                <a:cs typeface="Cambria"/>
              </a:rPr>
              <a:t>of</a:t>
            </a:r>
            <a:r>
              <a:rPr sz="1650" b="1" spc="190" dirty="0">
                <a:latin typeface="Cambria"/>
                <a:cs typeface="Cambria"/>
              </a:rPr>
              <a:t> </a:t>
            </a:r>
            <a:r>
              <a:rPr sz="1650" b="1" spc="150" dirty="0">
                <a:latin typeface="Cambria"/>
                <a:cs typeface="Cambria"/>
              </a:rPr>
              <a:t>RPC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49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25" dirty="0">
                <a:latin typeface="Cambria"/>
                <a:cs typeface="Cambria"/>
              </a:rPr>
              <a:t>Synchronous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request/reply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interaction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505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80" dirty="0">
                <a:latin typeface="Cambria"/>
                <a:cs typeface="Cambria"/>
              </a:rPr>
              <a:t>tight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coupling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between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client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45" dirty="0">
                <a:latin typeface="Cambria"/>
                <a:cs typeface="Cambria"/>
              </a:rPr>
              <a:t>server</a:t>
            </a:r>
            <a:endParaRPr sz="1650">
              <a:latin typeface="Cambria"/>
              <a:cs typeface="Cambria"/>
            </a:endParaRPr>
          </a:p>
          <a:p>
            <a:pPr marL="671195" marR="120650" lvl="1" indent="-281305">
              <a:lnSpc>
                <a:spcPct val="121200"/>
              </a:lnSpc>
              <a:spcBef>
                <a:spcPts val="70"/>
              </a:spcBef>
              <a:buFont typeface="Wingdings"/>
              <a:buChar char=""/>
              <a:tabLst>
                <a:tab pos="672465" algn="l"/>
              </a:tabLst>
            </a:pPr>
            <a:r>
              <a:rPr sz="1650" spc="80" dirty="0">
                <a:latin typeface="Cambria"/>
                <a:cs typeface="Cambria"/>
              </a:rPr>
              <a:t>client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may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block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long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time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if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server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loaded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leads 	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multi-</a:t>
            </a:r>
            <a:r>
              <a:rPr sz="1650" spc="90" dirty="0">
                <a:latin typeface="Cambria"/>
                <a:cs typeface="Cambria"/>
              </a:rPr>
              <a:t>threaded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programming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at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client</a:t>
            </a:r>
            <a:endParaRPr sz="1650">
              <a:latin typeface="Cambria"/>
              <a:cs typeface="Cambria"/>
            </a:endParaRPr>
          </a:p>
          <a:p>
            <a:pPr marL="671195" marR="290830" lvl="1" indent="-281305">
              <a:lnSpc>
                <a:spcPct val="121200"/>
              </a:lnSpc>
              <a:spcBef>
                <a:spcPts val="75"/>
              </a:spcBef>
              <a:buFont typeface="Wingdings"/>
              <a:buChar char=""/>
              <a:tabLst>
                <a:tab pos="672465" algn="l"/>
              </a:tabLst>
            </a:pPr>
            <a:r>
              <a:rPr sz="1650" spc="75" dirty="0">
                <a:latin typeface="Cambria"/>
                <a:cs typeface="Cambria"/>
              </a:rPr>
              <a:t>slow/failed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clients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may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delay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servers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when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replying 	</a:t>
            </a:r>
            <a:r>
              <a:rPr sz="1650" spc="100" dirty="0">
                <a:latin typeface="Cambria"/>
                <a:cs typeface="Cambria"/>
              </a:rPr>
              <a:t>multi-</a:t>
            </a:r>
            <a:r>
              <a:rPr sz="1650" spc="95" dirty="0">
                <a:latin typeface="Cambria"/>
                <a:cs typeface="Cambria"/>
              </a:rPr>
              <a:t>threading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essential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at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servers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5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90" dirty="0">
                <a:latin typeface="Cambria"/>
                <a:cs typeface="Cambria"/>
              </a:rPr>
              <a:t>Distribution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Transparency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49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60" dirty="0">
                <a:latin typeface="Cambria"/>
                <a:cs typeface="Cambria"/>
              </a:rPr>
              <a:t>Not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possible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mask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all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problems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5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75" dirty="0">
                <a:latin typeface="Cambria"/>
                <a:cs typeface="Cambria"/>
              </a:rPr>
              <a:t>RPC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paradigm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is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not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object-</a:t>
            </a:r>
            <a:r>
              <a:rPr sz="1650" spc="55" dirty="0">
                <a:latin typeface="Cambria"/>
                <a:cs typeface="Cambria"/>
              </a:rPr>
              <a:t>oriented</a:t>
            </a:r>
            <a:endParaRPr sz="1650">
              <a:latin typeface="Cambria"/>
              <a:cs typeface="Cambria"/>
            </a:endParaRPr>
          </a:p>
          <a:p>
            <a:pPr marL="671195" marR="5080" lvl="1" indent="-281305">
              <a:lnSpc>
                <a:spcPct val="121200"/>
              </a:lnSpc>
              <a:spcBef>
                <a:spcPts val="70"/>
              </a:spcBef>
              <a:buFont typeface="Wingdings"/>
              <a:buChar char=""/>
              <a:tabLst>
                <a:tab pos="672465" algn="l"/>
              </a:tabLst>
            </a:pPr>
            <a:r>
              <a:rPr sz="1650" spc="75" dirty="0">
                <a:latin typeface="Cambria"/>
                <a:cs typeface="Cambria"/>
              </a:rPr>
              <a:t>invoke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functions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on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servers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45" dirty="0">
                <a:latin typeface="Cambria"/>
                <a:cs typeface="Cambria"/>
              </a:rPr>
              <a:t>as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opposed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methods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on 	objects</a:t>
            </a:r>
            <a:endParaRPr sz="165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2171" y="2494788"/>
            <a:ext cx="2138171" cy="25145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82571" y="6520615"/>
            <a:ext cx="141224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900" b="1" spc="-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sz="900" spc="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sz="900" spc="10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506467"/>
            <a:ext cx="10058400" cy="1996439"/>
            <a:chOff x="0" y="4506467"/>
            <a:chExt cx="10058400" cy="1996439"/>
          </a:xfrm>
        </p:grpSpPr>
        <p:sp>
          <p:nvSpPr>
            <p:cNvPr id="4" name="object 4"/>
            <p:cNvSpPr/>
            <p:nvPr/>
          </p:nvSpPr>
          <p:spPr>
            <a:xfrm>
              <a:off x="5094732" y="6461760"/>
              <a:ext cx="2562225" cy="41275"/>
            </a:xfrm>
            <a:custGeom>
              <a:avLst/>
              <a:gdLst/>
              <a:ahLst/>
              <a:cxnLst/>
              <a:rect l="l" t="t" r="r" b="b"/>
              <a:pathLst>
                <a:path w="2562225" h="41275">
                  <a:moveTo>
                    <a:pt x="2561844" y="41147"/>
                  </a:moveTo>
                  <a:lnTo>
                    <a:pt x="0" y="41147"/>
                  </a:lnTo>
                  <a:lnTo>
                    <a:pt x="0" y="0"/>
                  </a:lnTo>
                  <a:lnTo>
                    <a:pt x="2561844" y="0"/>
                  </a:lnTo>
                  <a:lnTo>
                    <a:pt x="2561844" y="41147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00188" y="6461760"/>
              <a:ext cx="2458720" cy="38100"/>
            </a:xfrm>
            <a:custGeom>
              <a:avLst/>
              <a:gdLst/>
              <a:ahLst/>
              <a:cxnLst/>
              <a:rect l="l" t="t" r="r" b="b"/>
              <a:pathLst>
                <a:path w="2458720" h="38100">
                  <a:moveTo>
                    <a:pt x="2458212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458212" y="0"/>
                  </a:lnTo>
                  <a:lnTo>
                    <a:pt x="2458212" y="3810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93620" y="6461760"/>
              <a:ext cx="2839720" cy="41275"/>
            </a:xfrm>
            <a:custGeom>
              <a:avLst/>
              <a:gdLst/>
              <a:ahLst/>
              <a:cxnLst/>
              <a:rect l="l" t="t" r="r" b="b"/>
              <a:pathLst>
                <a:path w="2839720" h="41275">
                  <a:moveTo>
                    <a:pt x="2839212" y="41147"/>
                  </a:moveTo>
                  <a:lnTo>
                    <a:pt x="0" y="41147"/>
                  </a:lnTo>
                  <a:lnTo>
                    <a:pt x="0" y="0"/>
                  </a:lnTo>
                  <a:lnTo>
                    <a:pt x="2839212" y="0"/>
                  </a:lnTo>
                  <a:lnTo>
                    <a:pt x="2839212" y="41147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45379" y="6464807"/>
              <a:ext cx="2562225" cy="38100"/>
            </a:xfrm>
            <a:custGeom>
              <a:avLst/>
              <a:gdLst/>
              <a:ahLst/>
              <a:cxnLst/>
              <a:rect l="l" t="t" r="r" b="b"/>
              <a:pathLst>
                <a:path w="2562225" h="38100">
                  <a:moveTo>
                    <a:pt x="2561843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1843" y="0"/>
                  </a:lnTo>
                  <a:lnTo>
                    <a:pt x="2561843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46960" y="6464807"/>
              <a:ext cx="2598420" cy="38100"/>
            </a:xfrm>
            <a:custGeom>
              <a:avLst/>
              <a:gdLst/>
              <a:ahLst/>
              <a:cxnLst/>
              <a:rect l="l" t="t" r="r" b="b"/>
              <a:pathLst>
                <a:path w="2598420" h="38100">
                  <a:moveTo>
                    <a:pt x="2598420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98420" y="0"/>
                  </a:lnTo>
                  <a:lnTo>
                    <a:pt x="2598420" y="38100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98080" y="6464807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506467"/>
              <a:ext cx="4814316" cy="1915667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2340" y="1057656"/>
            <a:ext cx="2414016" cy="571499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0" y="2127504"/>
            <a:ext cx="7711440" cy="38100"/>
            <a:chOff x="0" y="2127504"/>
            <a:chExt cx="7711440" cy="38100"/>
          </a:xfrm>
        </p:grpSpPr>
        <p:sp>
          <p:nvSpPr>
            <p:cNvPr id="13" name="object 13"/>
            <p:cNvSpPr/>
            <p:nvPr/>
          </p:nvSpPr>
          <p:spPr>
            <a:xfrm>
              <a:off x="2598419" y="2127504"/>
              <a:ext cx="2562225" cy="38100"/>
            </a:xfrm>
            <a:custGeom>
              <a:avLst/>
              <a:gdLst/>
              <a:ahLst/>
              <a:cxnLst/>
              <a:rect l="l" t="t" r="r" b="b"/>
              <a:pathLst>
                <a:path w="2562225" h="38100">
                  <a:moveTo>
                    <a:pt x="2561844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1844" y="0"/>
                  </a:lnTo>
                  <a:lnTo>
                    <a:pt x="2561844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2127504"/>
              <a:ext cx="2598420" cy="38100"/>
            </a:xfrm>
            <a:custGeom>
              <a:avLst/>
              <a:gdLst/>
              <a:ahLst/>
              <a:cxnLst/>
              <a:rect l="l" t="t" r="r" b="b"/>
              <a:pathLst>
                <a:path w="2598420" h="38100">
                  <a:moveTo>
                    <a:pt x="25984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98419" y="0"/>
                  </a:lnTo>
                  <a:lnTo>
                    <a:pt x="2598419" y="38100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151120" y="2127504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362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65" dirty="0"/>
              <a:t>Object-Oriented</a:t>
            </a:r>
            <a:r>
              <a:rPr spc="160" dirty="0"/>
              <a:t> </a:t>
            </a:r>
            <a:r>
              <a:rPr dirty="0"/>
              <a:t>Middleware</a:t>
            </a:r>
            <a:r>
              <a:rPr spc="155" dirty="0"/>
              <a:t> </a:t>
            </a:r>
            <a:r>
              <a:rPr spc="-10" dirty="0"/>
              <a:t>(OOM)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85392" y="2271779"/>
            <a:ext cx="3408679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b="1" spc="100" dirty="0">
                <a:latin typeface="Cambria"/>
                <a:cs typeface="Cambria"/>
              </a:rPr>
              <a:t>Objects</a:t>
            </a:r>
            <a:r>
              <a:rPr sz="1650" b="1" spc="200" dirty="0">
                <a:latin typeface="Cambria"/>
                <a:cs typeface="Cambria"/>
              </a:rPr>
              <a:t> </a:t>
            </a:r>
            <a:r>
              <a:rPr sz="1650" spc="150" dirty="0">
                <a:latin typeface="Cambria"/>
                <a:cs typeface="Cambria"/>
              </a:rPr>
              <a:t>can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be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i="1" spc="55" dirty="0">
                <a:latin typeface="Cambria"/>
                <a:cs typeface="Cambria"/>
              </a:rPr>
              <a:t>local</a:t>
            </a:r>
            <a:r>
              <a:rPr sz="1650" i="1" spc="17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or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i="1" spc="50" dirty="0">
                <a:latin typeface="Cambria"/>
                <a:cs typeface="Cambria"/>
              </a:rPr>
              <a:t>remote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5392" y="2585707"/>
            <a:ext cx="112395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b="1" spc="95" dirty="0">
                <a:latin typeface="Cambria"/>
                <a:cs typeface="Cambria"/>
              </a:rPr>
              <a:t>Object</a:t>
            </a:r>
            <a:endParaRPr sz="1650">
              <a:latin typeface="Cambria"/>
              <a:cs typeface="Cambria"/>
            </a:endParaRPr>
          </a:p>
          <a:p>
            <a:pPr marL="22860">
              <a:lnSpc>
                <a:spcPct val="100000"/>
              </a:lnSpc>
            </a:pPr>
            <a:r>
              <a:rPr sz="1650" i="1" spc="50" dirty="0">
                <a:latin typeface="Cambria"/>
                <a:cs typeface="Cambria"/>
              </a:rPr>
              <a:t>remote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5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75" dirty="0">
                <a:latin typeface="Cambria"/>
                <a:cs typeface="Cambria"/>
              </a:rPr>
              <a:t>Remote</a:t>
            </a:r>
            <a:endParaRPr sz="1650">
              <a:latin typeface="Cambria"/>
              <a:cs typeface="Cambria"/>
            </a:endParaRPr>
          </a:p>
          <a:p>
            <a:pPr marL="22860">
              <a:lnSpc>
                <a:spcPct val="100000"/>
              </a:lnSpc>
            </a:pPr>
            <a:r>
              <a:rPr sz="1650" b="1" spc="75" dirty="0">
                <a:latin typeface="Cambria"/>
                <a:cs typeface="Cambria"/>
              </a:rPr>
              <a:t>interfaces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5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35" dirty="0">
                <a:latin typeface="Cambria"/>
                <a:cs typeface="Cambria"/>
              </a:rPr>
              <a:t>Masks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90093" y="2585707"/>
            <a:ext cx="2315845" cy="845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60170" algn="l"/>
                <a:tab pos="1945005" algn="l"/>
              </a:tabLst>
            </a:pPr>
            <a:r>
              <a:rPr sz="1650" b="1" spc="60" dirty="0">
                <a:latin typeface="Cambria"/>
                <a:cs typeface="Cambria"/>
              </a:rPr>
              <a:t>references</a:t>
            </a:r>
            <a:r>
              <a:rPr sz="1650" b="1" dirty="0">
                <a:latin typeface="Cambria"/>
                <a:cs typeface="Cambria"/>
              </a:rPr>
              <a:t>	</a:t>
            </a:r>
            <a:r>
              <a:rPr sz="1650" spc="125" dirty="0">
                <a:latin typeface="Cambria"/>
                <a:cs typeface="Cambria"/>
              </a:rPr>
              <a:t>can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55" dirty="0">
                <a:latin typeface="Cambria"/>
                <a:cs typeface="Cambria"/>
              </a:rPr>
              <a:t>be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650">
              <a:latin typeface="Cambria"/>
              <a:cs typeface="Cambria"/>
            </a:endParaRPr>
          </a:p>
          <a:p>
            <a:pPr marL="58419">
              <a:lnSpc>
                <a:spcPct val="100000"/>
              </a:lnSpc>
              <a:tabLst>
                <a:tab pos="977900" algn="l"/>
                <a:tab pos="1659255" algn="l"/>
              </a:tabLst>
            </a:pPr>
            <a:r>
              <a:rPr sz="1650" spc="70" dirty="0">
                <a:latin typeface="Cambria"/>
                <a:cs typeface="Cambria"/>
              </a:rPr>
              <a:t>objects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70" dirty="0">
                <a:latin typeface="Cambria"/>
                <a:cs typeface="Cambria"/>
              </a:rPr>
              <a:t>have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45" dirty="0">
                <a:latin typeface="Cambria"/>
                <a:cs typeface="Cambria"/>
              </a:rPr>
              <a:t>visible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776007" y="2585707"/>
            <a:ext cx="911225" cy="845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87705" algn="l"/>
              </a:tabLst>
            </a:pPr>
            <a:r>
              <a:rPr sz="1650" i="1" spc="50" dirty="0">
                <a:latin typeface="Cambria"/>
                <a:cs typeface="Cambria"/>
              </a:rPr>
              <a:t>local</a:t>
            </a:r>
            <a:r>
              <a:rPr sz="1650" i="1" dirty="0">
                <a:latin typeface="Cambria"/>
                <a:cs typeface="Cambria"/>
              </a:rPr>
              <a:t>	</a:t>
            </a:r>
            <a:r>
              <a:rPr sz="1650" spc="-25" dirty="0">
                <a:latin typeface="Cambria"/>
                <a:cs typeface="Cambria"/>
              </a:rPr>
              <a:t>or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650">
              <a:latin typeface="Cambria"/>
              <a:cs typeface="Cambria"/>
            </a:endParaRPr>
          </a:p>
          <a:p>
            <a:pPr marL="121920">
              <a:lnSpc>
                <a:spcPct val="100000"/>
              </a:lnSpc>
            </a:pPr>
            <a:r>
              <a:rPr sz="1650" b="1" spc="80" dirty="0">
                <a:latin typeface="Cambria"/>
                <a:cs typeface="Cambria"/>
              </a:rPr>
              <a:t>remote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01761" y="3675369"/>
            <a:ext cx="161798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87094" algn="l"/>
              </a:tabLst>
            </a:pPr>
            <a:r>
              <a:rPr sz="1650" spc="50" dirty="0">
                <a:latin typeface="Cambria"/>
                <a:cs typeface="Cambria"/>
              </a:rPr>
              <a:t>remote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70" dirty="0">
                <a:latin typeface="Cambria"/>
                <a:cs typeface="Cambria"/>
              </a:rPr>
              <a:t>objects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064181" y="3675369"/>
            <a:ext cx="98044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14020" algn="l"/>
              </a:tabLst>
            </a:pPr>
            <a:r>
              <a:rPr sz="1650" spc="114" dirty="0">
                <a:latin typeface="Cambria"/>
                <a:cs typeface="Cambria"/>
              </a:rPr>
              <a:t>as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75" dirty="0">
                <a:latin typeface="Cambria"/>
                <a:cs typeface="Cambria"/>
              </a:rPr>
              <a:t>being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91456" y="3675369"/>
            <a:ext cx="49657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60" dirty="0">
                <a:latin typeface="Cambria"/>
                <a:cs typeface="Cambria"/>
              </a:rPr>
              <a:t>local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6072" y="3926861"/>
            <a:ext cx="137795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94385" algn="l"/>
              </a:tabLst>
            </a:pPr>
            <a:r>
              <a:rPr sz="1650" spc="110" dirty="0">
                <a:latin typeface="Cambria"/>
                <a:cs typeface="Cambria"/>
              </a:rPr>
              <a:t>using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55" dirty="0">
                <a:latin typeface="Cambria"/>
                <a:cs typeface="Cambria"/>
              </a:rPr>
              <a:t>proxy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65004" y="3926861"/>
            <a:ext cx="74295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70" dirty="0">
                <a:latin typeface="Cambria"/>
                <a:cs typeface="Cambria"/>
              </a:rPr>
              <a:t>objects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13310" y="3926861"/>
            <a:ext cx="78676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75" dirty="0">
                <a:latin typeface="Cambria"/>
                <a:cs typeface="Cambria"/>
              </a:rPr>
              <a:t>Remote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91264" y="3926861"/>
            <a:ext cx="79565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85" dirty="0">
                <a:latin typeface="Cambria"/>
                <a:cs typeface="Cambria"/>
              </a:rPr>
              <a:t>method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96072" y="4178353"/>
            <a:ext cx="108331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70" dirty="0">
                <a:latin typeface="Cambria"/>
                <a:cs typeface="Cambria"/>
              </a:rPr>
              <a:t>invocation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92720" y="2190406"/>
            <a:ext cx="4728845" cy="422338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650" b="1" spc="60" dirty="0">
                <a:latin typeface="Cambria"/>
                <a:cs typeface="Cambria"/>
              </a:rPr>
              <a:t>Properties</a:t>
            </a:r>
            <a:r>
              <a:rPr sz="1650" b="1" spc="210" dirty="0">
                <a:latin typeface="Cambria"/>
                <a:cs typeface="Cambria"/>
              </a:rPr>
              <a:t> </a:t>
            </a:r>
            <a:r>
              <a:rPr sz="1650" b="1" spc="85" dirty="0">
                <a:latin typeface="Cambria"/>
                <a:cs typeface="Cambria"/>
              </a:rPr>
              <a:t>of</a:t>
            </a:r>
            <a:r>
              <a:rPr sz="1650" b="1" spc="200" dirty="0">
                <a:latin typeface="Cambria"/>
                <a:cs typeface="Cambria"/>
              </a:rPr>
              <a:t> </a:t>
            </a:r>
            <a:r>
              <a:rPr sz="1650" b="1" spc="130" dirty="0">
                <a:latin typeface="Cambria"/>
                <a:cs typeface="Cambria"/>
              </a:rPr>
              <a:t>OOM</a:t>
            </a:r>
            <a:endParaRPr sz="1650">
              <a:latin typeface="Cambria"/>
              <a:cs typeface="Cambria"/>
            </a:endParaRPr>
          </a:p>
          <a:p>
            <a:pPr marL="295910" marR="210185" indent="-283845">
              <a:lnSpc>
                <a:spcPct val="121200"/>
              </a:lnSpc>
              <a:spcBef>
                <a:spcPts val="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20" dirty="0">
                <a:latin typeface="Cambria"/>
                <a:cs typeface="Cambria"/>
              </a:rPr>
              <a:t>Support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object-</a:t>
            </a:r>
            <a:r>
              <a:rPr sz="1650" spc="65" dirty="0">
                <a:latin typeface="Cambria"/>
                <a:cs typeface="Cambria"/>
              </a:rPr>
              <a:t>oriented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programming </a:t>
            </a:r>
            <a:r>
              <a:rPr sz="1650" spc="75" dirty="0">
                <a:latin typeface="Cambria"/>
                <a:cs typeface="Cambria"/>
              </a:rPr>
              <a:t>model</a:t>
            </a:r>
            <a:endParaRPr sz="1650">
              <a:latin typeface="Cambria"/>
              <a:cs typeface="Cambria"/>
            </a:endParaRPr>
          </a:p>
          <a:p>
            <a:pPr marL="672465" lvl="1" indent="-281940">
              <a:lnSpc>
                <a:spcPct val="100000"/>
              </a:lnSpc>
              <a:spcBef>
                <a:spcPts val="484"/>
              </a:spcBef>
              <a:buFont typeface="Wingdings"/>
              <a:buChar char=""/>
              <a:tabLst>
                <a:tab pos="672465" algn="l"/>
              </a:tabLst>
            </a:pPr>
            <a:r>
              <a:rPr sz="1300" spc="85" dirty="0">
                <a:latin typeface="Cambria"/>
                <a:cs typeface="Cambria"/>
              </a:rPr>
              <a:t>objects,</a:t>
            </a:r>
            <a:r>
              <a:rPr sz="1300" spc="130" dirty="0">
                <a:latin typeface="Cambria"/>
                <a:cs typeface="Cambria"/>
              </a:rPr>
              <a:t> </a:t>
            </a:r>
            <a:r>
              <a:rPr sz="1300" spc="105" dirty="0">
                <a:latin typeface="Cambria"/>
                <a:cs typeface="Cambria"/>
              </a:rPr>
              <a:t>methods,</a:t>
            </a:r>
            <a:r>
              <a:rPr sz="1300" spc="130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interfaces,</a:t>
            </a:r>
            <a:r>
              <a:rPr sz="1300" spc="135" dirty="0">
                <a:latin typeface="Cambria"/>
                <a:cs typeface="Cambria"/>
              </a:rPr>
              <a:t> </a:t>
            </a:r>
            <a:r>
              <a:rPr sz="1300" spc="105" dirty="0">
                <a:latin typeface="Cambria"/>
                <a:cs typeface="Cambria"/>
              </a:rPr>
              <a:t>encapsulation…</a:t>
            </a:r>
            <a:endParaRPr sz="1300">
              <a:latin typeface="Cambria"/>
              <a:cs typeface="Cambria"/>
            </a:endParaRPr>
          </a:p>
          <a:p>
            <a:pPr marL="672465" marR="160655" lvl="1" indent="-282575">
              <a:lnSpc>
                <a:spcPct val="123100"/>
              </a:lnSpc>
              <a:spcBef>
                <a:spcPts val="80"/>
              </a:spcBef>
              <a:buFont typeface="Wingdings"/>
              <a:buChar char=""/>
              <a:tabLst>
                <a:tab pos="672465" algn="l"/>
              </a:tabLst>
            </a:pPr>
            <a:r>
              <a:rPr sz="1300" spc="80" dirty="0">
                <a:latin typeface="Cambria"/>
                <a:cs typeface="Cambria"/>
              </a:rPr>
              <a:t>exceptions</a:t>
            </a:r>
            <a:r>
              <a:rPr sz="1300" spc="120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(were</a:t>
            </a:r>
            <a:r>
              <a:rPr sz="1300" spc="140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also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in</a:t>
            </a:r>
            <a:r>
              <a:rPr sz="1300" spc="165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some</a:t>
            </a:r>
            <a:r>
              <a:rPr sz="1300" spc="165" dirty="0">
                <a:latin typeface="Cambria"/>
                <a:cs typeface="Cambria"/>
              </a:rPr>
              <a:t> </a:t>
            </a:r>
            <a:r>
              <a:rPr sz="1300" spc="145" dirty="0">
                <a:latin typeface="Cambria"/>
                <a:cs typeface="Cambria"/>
              </a:rPr>
              <a:t>RPC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95" dirty="0">
                <a:latin typeface="Cambria"/>
                <a:cs typeface="Cambria"/>
              </a:rPr>
              <a:t>systems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e.g. </a:t>
            </a:r>
            <a:r>
              <a:rPr sz="1300" spc="-10" dirty="0">
                <a:latin typeface="Cambria"/>
                <a:cs typeface="Cambria"/>
              </a:rPr>
              <a:t>Mayflower)</a:t>
            </a:r>
            <a:endParaRPr sz="130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44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25" dirty="0">
                <a:latin typeface="Cambria"/>
                <a:cs typeface="Cambria"/>
              </a:rPr>
              <a:t>Synchronous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request/reply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interaction</a:t>
            </a:r>
            <a:endParaRPr sz="1650">
              <a:latin typeface="Cambria"/>
              <a:cs typeface="Cambria"/>
            </a:endParaRPr>
          </a:p>
          <a:p>
            <a:pPr marL="672465" lvl="1" indent="-281940">
              <a:lnSpc>
                <a:spcPct val="100000"/>
              </a:lnSpc>
              <a:spcBef>
                <a:spcPts val="495"/>
              </a:spcBef>
              <a:buFont typeface="Wingdings"/>
              <a:buChar char=""/>
              <a:tabLst>
                <a:tab pos="672465" algn="l"/>
              </a:tabLst>
            </a:pPr>
            <a:r>
              <a:rPr sz="1300" spc="110" dirty="0">
                <a:latin typeface="Cambria"/>
                <a:cs typeface="Cambria"/>
              </a:rPr>
              <a:t>same</a:t>
            </a:r>
            <a:r>
              <a:rPr sz="1300" spc="135" dirty="0">
                <a:latin typeface="Cambria"/>
                <a:cs typeface="Cambria"/>
              </a:rPr>
              <a:t> </a:t>
            </a:r>
            <a:r>
              <a:rPr sz="1300" spc="120" dirty="0">
                <a:latin typeface="Cambria"/>
                <a:cs typeface="Cambria"/>
              </a:rPr>
              <a:t>as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120" dirty="0">
                <a:latin typeface="Cambria"/>
                <a:cs typeface="Cambria"/>
              </a:rPr>
              <a:t>RPC</a:t>
            </a:r>
            <a:endParaRPr sz="130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44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85" dirty="0">
                <a:latin typeface="Cambria"/>
                <a:cs typeface="Cambria"/>
              </a:rPr>
              <a:t>Location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Transparency</a:t>
            </a:r>
            <a:endParaRPr sz="1650">
              <a:latin typeface="Cambria"/>
              <a:cs typeface="Cambria"/>
            </a:endParaRPr>
          </a:p>
          <a:p>
            <a:pPr marL="672465" lvl="1" indent="-281940">
              <a:lnSpc>
                <a:spcPct val="100000"/>
              </a:lnSpc>
              <a:spcBef>
                <a:spcPts val="495"/>
              </a:spcBef>
              <a:buFont typeface="Wingdings"/>
              <a:buChar char=""/>
              <a:tabLst>
                <a:tab pos="672465" algn="l"/>
              </a:tabLst>
            </a:pPr>
            <a:r>
              <a:rPr sz="1300" spc="95" dirty="0">
                <a:latin typeface="Cambria"/>
                <a:cs typeface="Cambria"/>
              </a:rPr>
              <a:t>system</a:t>
            </a:r>
            <a:r>
              <a:rPr sz="1300" spc="140" dirty="0">
                <a:latin typeface="Cambria"/>
                <a:cs typeface="Cambria"/>
              </a:rPr>
              <a:t> </a:t>
            </a:r>
            <a:r>
              <a:rPr sz="1300" spc="60" dirty="0">
                <a:latin typeface="Cambria"/>
                <a:cs typeface="Cambria"/>
              </a:rPr>
              <a:t>(ORB)</a:t>
            </a:r>
            <a:r>
              <a:rPr sz="1300" spc="125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maps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object</a:t>
            </a:r>
            <a:r>
              <a:rPr sz="1300" spc="130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references</a:t>
            </a:r>
            <a:r>
              <a:rPr sz="1300" spc="110" dirty="0">
                <a:latin typeface="Cambria"/>
                <a:cs typeface="Cambria"/>
              </a:rPr>
              <a:t> </a:t>
            </a:r>
            <a:r>
              <a:rPr sz="1300" spc="50" dirty="0">
                <a:latin typeface="Cambria"/>
                <a:cs typeface="Cambria"/>
              </a:rPr>
              <a:t>to</a:t>
            </a:r>
            <a:r>
              <a:rPr sz="1300" spc="140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locations</a:t>
            </a:r>
            <a:endParaRPr sz="1300">
              <a:latin typeface="Cambria"/>
              <a:cs typeface="Cambria"/>
            </a:endParaRPr>
          </a:p>
          <a:p>
            <a:pPr marL="295910" marR="294005" indent="-283845">
              <a:lnSpc>
                <a:spcPct val="120600"/>
              </a:lnSpc>
              <a:spcBef>
                <a:spcPts val="4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90" dirty="0">
                <a:latin typeface="Cambria"/>
                <a:cs typeface="Cambria"/>
              </a:rPr>
              <a:t>Services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comprising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multiple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servers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are </a:t>
            </a:r>
            <a:r>
              <a:rPr sz="1650" spc="80" dirty="0">
                <a:latin typeface="Cambria"/>
                <a:cs typeface="Cambria"/>
              </a:rPr>
              <a:t>easier</a:t>
            </a:r>
            <a:r>
              <a:rPr sz="1650" spc="12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build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with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90" dirty="0">
                <a:latin typeface="Cambria"/>
                <a:cs typeface="Cambria"/>
              </a:rPr>
              <a:t>OOM</a:t>
            </a:r>
            <a:endParaRPr sz="1650">
              <a:latin typeface="Cambria"/>
              <a:cs typeface="Cambria"/>
            </a:endParaRPr>
          </a:p>
          <a:p>
            <a:pPr marL="672465" marR="83820" lvl="1" indent="-282575">
              <a:lnSpc>
                <a:spcPct val="122300"/>
              </a:lnSpc>
              <a:spcBef>
                <a:spcPts val="145"/>
              </a:spcBef>
              <a:buFont typeface="Wingdings"/>
              <a:buChar char=""/>
              <a:tabLst>
                <a:tab pos="672465" algn="l"/>
              </a:tabLst>
            </a:pPr>
            <a:r>
              <a:rPr sz="1300" spc="145" dirty="0">
                <a:latin typeface="Cambria"/>
                <a:cs typeface="Cambria"/>
              </a:rPr>
              <a:t>RPC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programming</a:t>
            </a:r>
            <a:r>
              <a:rPr sz="1300" spc="135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is</a:t>
            </a:r>
            <a:r>
              <a:rPr sz="1300" spc="170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in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terms</a:t>
            </a:r>
            <a:r>
              <a:rPr sz="1300" spc="140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of</a:t>
            </a:r>
            <a:r>
              <a:rPr sz="1300" spc="165" dirty="0">
                <a:latin typeface="Cambria"/>
                <a:cs typeface="Cambria"/>
              </a:rPr>
              <a:t> </a:t>
            </a:r>
            <a:r>
              <a:rPr sz="1300" spc="60" dirty="0">
                <a:latin typeface="Cambria"/>
                <a:cs typeface="Cambria"/>
              </a:rPr>
              <a:t>server-interface </a:t>
            </a:r>
            <a:r>
              <a:rPr sz="1300" spc="-10" dirty="0">
                <a:latin typeface="Cambria"/>
                <a:cs typeface="Cambria"/>
              </a:rPr>
              <a:t>(operation)</a:t>
            </a:r>
            <a:endParaRPr sz="1300">
              <a:latin typeface="Cambria"/>
              <a:cs typeface="Cambria"/>
            </a:endParaRPr>
          </a:p>
          <a:p>
            <a:pPr marL="672465" lvl="1" indent="-281940">
              <a:lnSpc>
                <a:spcPct val="100000"/>
              </a:lnSpc>
              <a:spcBef>
                <a:spcPts val="445"/>
              </a:spcBef>
              <a:buFont typeface="Wingdings"/>
              <a:buChar char=""/>
              <a:tabLst>
                <a:tab pos="672465" algn="l"/>
              </a:tabLst>
            </a:pPr>
            <a:r>
              <a:rPr sz="1300" spc="145" dirty="0">
                <a:latin typeface="Cambria"/>
                <a:cs typeface="Cambria"/>
              </a:rPr>
              <a:t>RPC</a:t>
            </a:r>
            <a:r>
              <a:rPr sz="1300" spc="140" dirty="0">
                <a:latin typeface="Cambria"/>
                <a:cs typeface="Cambria"/>
              </a:rPr>
              <a:t> </a:t>
            </a:r>
            <a:r>
              <a:rPr sz="1300" spc="95" dirty="0">
                <a:latin typeface="Cambria"/>
                <a:cs typeface="Cambria"/>
              </a:rPr>
              <a:t>system</a:t>
            </a:r>
            <a:r>
              <a:rPr sz="1300" spc="140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looks</a:t>
            </a:r>
            <a:r>
              <a:rPr sz="1300" spc="145" dirty="0">
                <a:latin typeface="Cambria"/>
                <a:cs typeface="Cambria"/>
              </a:rPr>
              <a:t> </a:t>
            </a:r>
            <a:r>
              <a:rPr sz="1300" spc="130" dirty="0">
                <a:latin typeface="Cambria"/>
                <a:cs typeface="Cambria"/>
              </a:rPr>
              <a:t>up</a:t>
            </a:r>
            <a:r>
              <a:rPr sz="1300" spc="140" dirty="0">
                <a:latin typeface="Cambria"/>
                <a:cs typeface="Cambria"/>
              </a:rPr>
              <a:t> </a:t>
            </a:r>
            <a:r>
              <a:rPr sz="1300" spc="55" dirty="0">
                <a:latin typeface="Cambria"/>
                <a:cs typeface="Cambria"/>
              </a:rPr>
              <a:t>server</a:t>
            </a:r>
            <a:r>
              <a:rPr sz="1300" spc="130" dirty="0">
                <a:latin typeface="Cambria"/>
                <a:cs typeface="Cambria"/>
              </a:rPr>
              <a:t> </a:t>
            </a:r>
            <a:r>
              <a:rPr sz="1300" spc="90" dirty="0">
                <a:latin typeface="Cambria"/>
                <a:cs typeface="Cambria"/>
              </a:rPr>
              <a:t>address</a:t>
            </a:r>
            <a:r>
              <a:rPr sz="1300" spc="125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in</a:t>
            </a:r>
            <a:r>
              <a:rPr sz="1300" spc="145" dirty="0">
                <a:latin typeface="Cambria"/>
                <a:cs typeface="Cambria"/>
              </a:rPr>
              <a:t> </a:t>
            </a:r>
            <a:r>
              <a:rPr sz="1300" spc="125" dirty="0">
                <a:latin typeface="Cambria"/>
                <a:cs typeface="Cambria"/>
              </a:rPr>
              <a:t>a </a:t>
            </a:r>
            <a:r>
              <a:rPr sz="1300" spc="65" dirty="0">
                <a:latin typeface="Cambria"/>
                <a:cs typeface="Cambria"/>
              </a:rPr>
              <a:t>location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752643" y="6430826"/>
            <a:ext cx="58737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0" dirty="0">
                <a:latin typeface="Cambria"/>
                <a:cs typeface="Cambria"/>
              </a:rPr>
              <a:t>service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362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260" dirty="0"/>
              <a:t>Java</a:t>
            </a:r>
            <a:r>
              <a:rPr spc="75" dirty="0"/>
              <a:t> </a:t>
            </a:r>
            <a:r>
              <a:rPr spc="145" dirty="0"/>
              <a:t>Remote</a:t>
            </a:r>
            <a:r>
              <a:rPr spc="110" dirty="0"/>
              <a:t> Method</a:t>
            </a:r>
            <a:r>
              <a:rPr spc="75" dirty="0"/>
              <a:t> </a:t>
            </a:r>
            <a:r>
              <a:rPr spc="95" dirty="0"/>
              <a:t>Invocation</a:t>
            </a:r>
            <a:r>
              <a:rPr spc="80" dirty="0"/>
              <a:t> </a:t>
            </a:r>
            <a:r>
              <a:rPr spc="-10" dirty="0"/>
              <a:t>(RMI)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7786" y="2429780"/>
            <a:ext cx="6638925" cy="3467100"/>
          </a:xfrm>
          <a:prstGeom prst="rect">
            <a:avLst/>
          </a:prstGeom>
        </p:spPr>
        <p:txBody>
          <a:bodyPr vert="horz" wrap="square" lIns="0" tIns="137160" rIns="0" bIns="0" rtlCol="0">
            <a:spAutoFit/>
          </a:bodyPr>
          <a:lstStyle/>
          <a:p>
            <a:pPr marL="228600">
              <a:lnSpc>
                <a:spcPct val="100000"/>
              </a:lnSpc>
              <a:spcBef>
                <a:spcPts val="1080"/>
              </a:spcBef>
            </a:pPr>
            <a:r>
              <a:rPr sz="1650" b="1" i="1" spc="130" dirty="0">
                <a:latin typeface="Cambria"/>
                <a:cs typeface="Cambria"/>
              </a:rPr>
              <a:t>public</a:t>
            </a:r>
            <a:r>
              <a:rPr sz="1650" b="1" i="1" spc="200" dirty="0">
                <a:latin typeface="Cambria"/>
                <a:cs typeface="Cambria"/>
              </a:rPr>
              <a:t> </a:t>
            </a:r>
            <a:r>
              <a:rPr sz="1650" b="1" i="1" spc="130" dirty="0">
                <a:latin typeface="Cambria"/>
                <a:cs typeface="Cambria"/>
              </a:rPr>
              <a:t>interface</a:t>
            </a:r>
            <a:r>
              <a:rPr sz="1650" b="1" i="1" spc="200" dirty="0">
                <a:latin typeface="Cambria"/>
                <a:cs typeface="Cambria"/>
              </a:rPr>
              <a:t> </a:t>
            </a:r>
            <a:r>
              <a:rPr sz="1650" b="1" i="1" spc="120" dirty="0">
                <a:latin typeface="Cambria"/>
                <a:cs typeface="Cambria"/>
              </a:rPr>
              <a:t>PrintService</a:t>
            </a:r>
            <a:r>
              <a:rPr sz="1650" b="1" i="1" spc="200" dirty="0">
                <a:latin typeface="Cambria"/>
                <a:cs typeface="Cambria"/>
              </a:rPr>
              <a:t> </a:t>
            </a:r>
            <a:r>
              <a:rPr sz="1650" b="1" i="1" spc="145" dirty="0">
                <a:latin typeface="Cambria"/>
                <a:cs typeface="Cambria"/>
              </a:rPr>
              <a:t>extends</a:t>
            </a:r>
            <a:r>
              <a:rPr sz="1650" b="1" i="1" spc="195" dirty="0">
                <a:latin typeface="Cambria"/>
                <a:cs typeface="Cambria"/>
              </a:rPr>
              <a:t> </a:t>
            </a:r>
            <a:r>
              <a:rPr sz="1650" b="1" i="1" spc="114" dirty="0">
                <a:latin typeface="Cambria"/>
                <a:cs typeface="Cambria"/>
              </a:rPr>
              <a:t>Remote</a:t>
            </a:r>
            <a:endParaRPr sz="1650">
              <a:latin typeface="Cambria"/>
              <a:cs typeface="Cambria"/>
            </a:endParaRPr>
          </a:p>
          <a:p>
            <a:pPr marL="982980">
              <a:lnSpc>
                <a:spcPct val="100000"/>
              </a:lnSpc>
              <a:spcBef>
                <a:spcPts val="985"/>
              </a:spcBef>
            </a:pPr>
            <a:r>
              <a:rPr sz="1650" b="1" i="1" spc="-50" dirty="0">
                <a:latin typeface="Cambria"/>
                <a:cs typeface="Cambria"/>
              </a:rPr>
              <a:t>{</a:t>
            </a:r>
            <a:endParaRPr sz="1650">
              <a:latin typeface="Cambria"/>
              <a:cs typeface="Cambria"/>
            </a:endParaRPr>
          </a:p>
          <a:p>
            <a:pPr marL="982980">
              <a:lnSpc>
                <a:spcPct val="100000"/>
              </a:lnSpc>
              <a:spcBef>
                <a:spcPts val="994"/>
              </a:spcBef>
            </a:pPr>
            <a:r>
              <a:rPr sz="1650" b="1" i="1" spc="135" dirty="0">
                <a:latin typeface="Cambria"/>
                <a:cs typeface="Cambria"/>
              </a:rPr>
              <a:t>int</a:t>
            </a:r>
            <a:r>
              <a:rPr sz="1650" b="1" i="1" spc="185" dirty="0">
                <a:latin typeface="Cambria"/>
                <a:cs typeface="Cambria"/>
              </a:rPr>
              <a:t> </a:t>
            </a:r>
            <a:r>
              <a:rPr sz="1650" b="1" i="1" spc="85" dirty="0">
                <a:latin typeface="Cambria"/>
                <a:cs typeface="Cambria"/>
              </a:rPr>
              <a:t>print(Vector</a:t>
            </a:r>
            <a:r>
              <a:rPr sz="1650" b="1" i="1" spc="185" dirty="0">
                <a:latin typeface="Cambria"/>
                <a:cs typeface="Cambria"/>
              </a:rPr>
              <a:t> </a:t>
            </a:r>
            <a:r>
              <a:rPr sz="1650" b="1" i="1" spc="114" dirty="0">
                <a:latin typeface="Cambria"/>
                <a:cs typeface="Cambria"/>
              </a:rPr>
              <a:t>printJob)</a:t>
            </a:r>
            <a:r>
              <a:rPr sz="1650" b="1" i="1" spc="175" dirty="0">
                <a:latin typeface="Cambria"/>
                <a:cs typeface="Cambria"/>
              </a:rPr>
              <a:t> </a:t>
            </a:r>
            <a:r>
              <a:rPr sz="1650" b="1" i="1" spc="130" dirty="0">
                <a:latin typeface="Cambria"/>
                <a:cs typeface="Cambria"/>
              </a:rPr>
              <a:t>throws</a:t>
            </a:r>
            <a:r>
              <a:rPr sz="1650" b="1" i="1" spc="175" dirty="0">
                <a:latin typeface="Cambria"/>
                <a:cs typeface="Cambria"/>
              </a:rPr>
              <a:t> </a:t>
            </a:r>
            <a:r>
              <a:rPr sz="1650" b="1" i="1" spc="125" dirty="0">
                <a:latin typeface="Cambria"/>
                <a:cs typeface="Cambria"/>
              </a:rPr>
              <a:t>RemoteException;</a:t>
            </a:r>
            <a:endParaRPr sz="1650">
              <a:latin typeface="Cambria"/>
              <a:cs typeface="Cambria"/>
            </a:endParaRPr>
          </a:p>
          <a:p>
            <a:pPr marL="982980">
              <a:lnSpc>
                <a:spcPct val="100000"/>
              </a:lnSpc>
              <a:spcBef>
                <a:spcPts val="985"/>
              </a:spcBef>
            </a:pPr>
            <a:r>
              <a:rPr sz="1650" b="1" i="1" spc="-50" dirty="0">
                <a:latin typeface="Cambria"/>
                <a:cs typeface="Cambria"/>
              </a:rPr>
              <a:t>}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750"/>
              </a:spcBef>
            </a:pP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95" dirty="0">
                <a:latin typeface="Cambria"/>
                <a:cs typeface="Cambria"/>
              </a:rPr>
              <a:t>Distributed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objects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85" dirty="0">
                <a:latin typeface="Cambria"/>
                <a:cs typeface="Cambria"/>
              </a:rPr>
              <a:t>Java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10" dirty="0">
                <a:latin typeface="Cambria"/>
                <a:cs typeface="Cambria"/>
              </a:rPr>
              <a:t>RMI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compiler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creates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proxies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skeletons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10" dirty="0">
                <a:latin typeface="Cambria"/>
                <a:cs typeface="Cambria"/>
              </a:rPr>
              <a:t>RMI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registry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used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interface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lookup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49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90" dirty="0">
                <a:latin typeface="Cambria"/>
                <a:cs typeface="Cambria"/>
              </a:rPr>
              <a:t>Entire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system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written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200" dirty="0">
                <a:latin typeface="Cambria"/>
                <a:cs typeface="Cambria"/>
              </a:rPr>
              <a:t>Java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(single-</a:t>
            </a:r>
            <a:r>
              <a:rPr sz="1650" spc="110" dirty="0">
                <a:latin typeface="Cambria"/>
                <a:cs typeface="Cambria"/>
              </a:rPr>
              <a:t>language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system)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362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215" dirty="0"/>
              <a:t>CORBA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629" y="2269684"/>
            <a:ext cx="6904355" cy="389191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83210" marR="1967230" indent="-283210" algn="r">
              <a:lnSpc>
                <a:spcPct val="100000"/>
              </a:lnSpc>
              <a:spcBef>
                <a:spcPts val="505"/>
              </a:spcBef>
              <a:buFont typeface="Wingdings"/>
              <a:buChar char=""/>
              <a:tabLst>
                <a:tab pos="283210" algn="l"/>
              </a:tabLst>
            </a:pPr>
            <a:r>
              <a:rPr sz="1650" spc="145" dirty="0">
                <a:latin typeface="Cambria"/>
                <a:cs typeface="Cambria"/>
              </a:rPr>
              <a:t>Common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Object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Request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Broker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Architecture</a:t>
            </a:r>
            <a:endParaRPr sz="1650">
              <a:latin typeface="Cambria"/>
              <a:cs typeface="Cambria"/>
            </a:endParaRPr>
          </a:p>
          <a:p>
            <a:pPr marL="281305" marR="2028189" lvl="1" indent="-281305" algn="r">
              <a:lnSpc>
                <a:spcPct val="100000"/>
              </a:lnSpc>
              <a:spcBef>
                <a:spcPts val="409"/>
              </a:spcBef>
              <a:buFont typeface="Wingdings"/>
              <a:buChar char=""/>
              <a:tabLst>
                <a:tab pos="281305" algn="l"/>
              </a:tabLst>
            </a:pPr>
            <a:r>
              <a:rPr sz="1650" spc="145" dirty="0">
                <a:latin typeface="Cambria"/>
                <a:cs typeface="Cambria"/>
              </a:rPr>
              <a:t>Open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standard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by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229" dirty="0">
                <a:latin typeface="Cambria"/>
                <a:cs typeface="Cambria"/>
              </a:rPr>
              <a:t>OMG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(Version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45" dirty="0">
                <a:latin typeface="Cambria"/>
                <a:cs typeface="Cambria"/>
              </a:rPr>
              <a:t>3.0)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20" dirty="0">
                <a:latin typeface="Cambria"/>
                <a:cs typeface="Cambria"/>
              </a:rPr>
              <a:t>Language-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platform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independent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74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10" dirty="0">
                <a:latin typeface="Cambria"/>
                <a:cs typeface="Cambria"/>
              </a:rPr>
              <a:t>Object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Request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Broker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45" dirty="0">
                <a:latin typeface="Cambria"/>
                <a:cs typeface="Cambria"/>
              </a:rPr>
              <a:t>(ORB)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42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14" dirty="0">
                <a:latin typeface="Cambria"/>
                <a:cs typeface="Cambria"/>
              </a:rPr>
              <a:t>General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Inter-</a:t>
            </a:r>
            <a:r>
              <a:rPr sz="1650" spc="195" dirty="0">
                <a:latin typeface="Cambria"/>
                <a:cs typeface="Cambria"/>
              </a:rPr>
              <a:t>ORB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Protocol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(GIOP)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communication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75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70" dirty="0">
                <a:latin typeface="Cambria"/>
                <a:cs typeface="Cambria"/>
              </a:rPr>
              <a:t>Interoperable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Object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References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(IOR)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contain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object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location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Interface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Definition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Language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-10" dirty="0">
                <a:latin typeface="Cambria"/>
                <a:cs typeface="Cambria"/>
              </a:rPr>
              <a:t>(IDL)</a:t>
            </a:r>
            <a:endParaRPr sz="1650">
              <a:latin typeface="Cambria"/>
              <a:cs typeface="Cambria"/>
            </a:endParaRPr>
          </a:p>
          <a:p>
            <a:pPr marL="1049655" lvl="2" indent="-28321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1049655" algn="l"/>
              </a:tabLst>
            </a:pPr>
            <a:r>
              <a:rPr sz="1650" spc="160" dirty="0">
                <a:latin typeface="Cambria"/>
                <a:cs typeface="Cambria"/>
              </a:rPr>
              <a:t>Stubs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(proxies)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skeletons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created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by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IDL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compiler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30" dirty="0">
                <a:latin typeface="Cambria"/>
                <a:cs typeface="Cambria"/>
              </a:rPr>
              <a:t>Dynamic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remote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method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invocation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74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75" dirty="0">
                <a:latin typeface="Cambria"/>
                <a:cs typeface="Cambria"/>
              </a:rPr>
              <a:t>Interface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Repository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405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05" dirty="0">
                <a:latin typeface="Cambria"/>
                <a:cs typeface="Cambria"/>
              </a:rPr>
              <a:t>Querying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existing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remote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interfaces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74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90" dirty="0">
                <a:latin typeface="Cambria"/>
                <a:cs typeface="Cambria"/>
              </a:rPr>
              <a:t>Implementation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Repository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42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80" dirty="0">
                <a:latin typeface="Cambria"/>
                <a:cs typeface="Cambria"/>
              </a:rPr>
              <a:t>Activating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remote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objects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on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demand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82571" y="6520615"/>
            <a:ext cx="1412240" cy="1644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00" b="1" dirty="0">
                <a:solidFill>
                  <a:srgbClr val="0F1141"/>
                </a:solidFill>
                <a:latin typeface="Arial"/>
                <a:cs typeface="Arial"/>
              </a:rPr>
              <a:t>BITS</a:t>
            </a:r>
            <a:r>
              <a:rPr sz="900" b="1" spc="-10" dirty="0">
                <a:solidFill>
                  <a:srgbClr val="0F1141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0F1141"/>
                </a:solidFill>
                <a:latin typeface="Arial MT"/>
                <a:cs typeface="Arial MT"/>
              </a:rPr>
              <a:t>Pilani,</a:t>
            </a:r>
            <a:r>
              <a:rPr sz="900" spc="5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0F1141"/>
                </a:solidFill>
                <a:latin typeface="Arial MT"/>
                <a:cs typeface="Arial MT"/>
              </a:rPr>
              <a:t>Pilani</a:t>
            </a:r>
            <a:r>
              <a:rPr sz="900" spc="10" dirty="0">
                <a:solidFill>
                  <a:srgbClr val="0F1141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solidFill>
                  <a:srgbClr val="0F1141"/>
                </a:solidFill>
                <a:latin typeface="Arial MT"/>
                <a:cs typeface="Arial MT"/>
              </a:rPr>
              <a:t>Campus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047488" y="6461760"/>
            <a:ext cx="5011420" cy="41275"/>
            <a:chOff x="5047488" y="6461760"/>
            <a:chExt cx="5011420" cy="41275"/>
          </a:xfrm>
        </p:grpSpPr>
        <p:sp>
          <p:nvSpPr>
            <p:cNvPr id="4" name="object 4"/>
            <p:cNvSpPr/>
            <p:nvPr/>
          </p:nvSpPr>
          <p:spPr>
            <a:xfrm>
              <a:off x="5094732" y="6461760"/>
              <a:ext cx="2562225" cy="41275"/>
            </a:xfrm>
            <a:custGeom>
              <a:avLst/>
              <a:gdLst/>
              <a:ahLst/>
              <a:cxnLst/>
              <a:rect l="l" t="t" r="r" b="b"/>
              <a:pathLst>
                <a:path w="2562225" h="41275">
                  <a:moveTo>
                    <a:pt x="2561844" y="41147"/>
                  </a:moveTo>
                  <a:lnTo>
                    <a:pt x="0" y="41147"/>
                  </a:lnTo>
                  <a:lnTo>
                    <a:pt x="0" y="0"/>
                  </a:lnTo>
                  <a:lnTo>
                    <a:pt x="2561844" y="0"/>
                  </a:lnTo>
                  <a:lnTo>
                    <a:pt x="2561844" y="41147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00188" y="6461760"/>
              <a:ext cx="2458720" cy="38100"/>
            </a:xfrm>
            <a:custGeom>
              <a:avLst/>
              <a:gdLst/>
              <a:ahLst/>
              <a:cxnLst/>
              <a:rect l="l" t="t" r="r" b="b"/>
              <a:pathLst>
                <a:path w="2458720" h="38100">
                  <a:moveTo>
                    <a:pt x="2458212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458212" y="0"/>
                  </a:lnTo>
                  <a:lnTo>
                    <a:pt x="2458212" y="3810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047488" y="6461760"/>
              <a:ext cx="85725" cy="41275"/>
            </a:xfrm>
            <a:custGeom>
              <a:avLst/>
              <a:gdLst/>
              <a:ahLst/>
              <a:cxnLst/>
              <a:rect l="l" t="t" r="r" b="b"/>
              <a:pathLst>
                <a:path w="85725" h="41275">
                  <a:moveTo>
                    <a:pt x="0" y="41147"/>
                  </a:moveTo>
                  <a:lnTo>
                    <a:pt x="85344" y="41147"/>
                  </a:lnTo>
                  <a:lnTo>
                    <a:pt x="85344" y="0"/>
                  </a:lnTo>
                  <a:lnTo>
                    <a:pt x="0" y="0"/>
                  </a:lnTo>
                  <a:lnTo>
                    <a:pt x="0" y="41147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47488" y="6464807"/>
              <a:ext cx="2459990" cy="38100"/>
            </a:xfrm>
            <a:custGeom>
              <a:avLst/>
              <a:gdLst/>
              <a:ahLst/>
              <a:cxnLst/>
              <a:rect l="l" t="t" r="r" b="b"/>
              <a:pathLst>
                <a:path w="2459990" h="38100">
                  <a:moveTo>
                    <a:pt x="0" y="38100"/>
                  </a:moveTo>
                  <a:lnTo>
                    <a:pt x="2459735" y="38100"/>
                  </a:lnTo>
                  <a:lnTo>
                    <a:pt x="2459735" y="0"/>
                  </a:lnTo>
                  <a:lnTo>
                    <a:pt x="0" y="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98080" y="6464807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2340" y="1057656"/>
            <a:ext cx="2414016" cy="57149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2127504"/>
            <a:ext cx="7711440" cy="38100"/>
            <a:chOff x="0" y="2127504"/>
            <a:chExt cx="7711440" cy="38100"/>
          </a:xfrm>
        </p:grpSpPr>
        <p:sp>
          <p:nvSpPr>
            <p:cNvPr id="11" name="object 11"/>
            <p:cNvSpPr/>
            <p:nvPr/>
          </p:nvSpPr>
          <p:spPr>
            <a:xfrm>
              <a:off x="2598419" y="2127504"/>
              <a:ext cx="2562225" cy="38100"/>
            </a:xfrm>
            <a:custGeom>
              <a:avLst/>
              <a:gdLst/>
              <a:ahLst/>
              <a:cxnLst/>
              <a:rect l="l" t="t" r="r" b="b"/>
              <a:pathLst>
                <a:path w="2562225" h="38100">
                  <a:moveTo>
                    <a:pt x="2561844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1844" y="0"/>
                  </a:lnTo>
                  <a:lnTo>
                    <a:pt x="2561844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2127504"/>
              <a:ext cx="2598420" cy="38100"/>
            </a:xfrm>
            <a:custGeom>
              <a:avLst/>
              <a:gdLst/>
              <a:ahLst/>
              <a:cxnLst/>
              <a:rect l="l" t="t" r="r" b="b"/>
              <a:pathLst>
                <a:path w="2598420" h="38100">
                  <a:moveTo>
                    <a:pt x="25984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98419" y="0"/>
                  </a:lnTo>
                  <a:lnTo>
                    <a:pt x="2598419" y="38100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151120" y="2127504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362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225" dirty="0"/>
              <a:t>CORBA</a:t>
            </a:r>
            <a:r>
              <a:rPr spc="80" dirty="0"/>
              <a:t> </a:t>
            </a:r>
            <a:r>
              <a:rPr spc="110" dirty="0"/>
              <a:t>IDL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12816" y="2238223"/>
            <a:ext cx="5060315" cy="35369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5910" marR="814069" indent="-283845">
              <a:lnSpc>
                <a:spcPct val="102800"/>
              </a:lnSpc>
              <a:spcBef>
                <a:spcPts val="90"/>
              </a:spcBef>
              <a:buFont typeface="Wingdings"/>
              <a:buChar char=""/>
              <a:tabLst>
                <a:tab pos="295910" algn="l"/>
              </a:tabLst>
            </a:pPr>
            <a:r>
              <a:rPr sz="1450" spc="85" dirty="0">
                <a:latin typeface="Cambria"/>
                <a:cs typeface="Cambria"/>
              </a:rPr>
              <a:t>Definition</a:t>
            </a:r>
            <a:r>
              <a:rPr sz="1450" spc="19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of</a:t>
            </a:r>
            <a:r>
              <a:rPr sz="1450" spc="250" dirty="0">
                <a:latin typeface="Cambria"/>
                <a:cs typeface="Cambria"/>
              </a:rPr>
              <a:t> </a:t>
            </a:r>
            <a:r>
              <a:rPr sz="1450" spc="110" dirty="0">
                <a:latin typeface="Cambria"/>
                <a:cs typeface="Cambria"/>
              </a:rPr>
              <a:t>language-</a:t>
            </a:r>
            <a:r>
              <a:rPr sz="1450" spc="95" dirty="0">
                <a:latin typeface="Cambria"/>
                <a:cs typeface="Cambria"/>
              </a:rPr>
              <a:t>independent</a:t>
            </a:r>
            <a:r>
              <a:rPr sz="1450" spc="190" dirty="0">
                <a:latin typeface="Cambria"/>
                <a:cs typeface="Cambria"/>
              </a:rPr>
              <a:t> </a:t>
            </a:r>
            <a:r>
              <a:rPr sz="1450" spc="70" dirty="0">
                <a:latin typeface="Cambria"/>
                <a:cs typeface="Cambria"/>
              </a:rPr>
              <a:t>remote </a:t>
            </a:r>
            <a:r>
              <a:rPr sz="1450" spc="80" dirty="0">
                <a:latin typeface="Cambria"/>
                <a:cs typeface="Cambria"/>
              </a:rPr>
              <a:t>interfaces</a:t>
            </a:r>
            <a:endParaRPr sz="1450">
              <a:latin typeface="Cambria"/>
              <a:cs typeface="Cambria"/>
            </a:endParaRPr>
          </a:p>
          <a:p>
            <a:pPr marL="672465" lvl="1" indent="-281940">
              <a:lnSpc>
                <a:spcPct val="100000"/>
              </a:lnSpc>
              <a:spcBef>
                <a:spcPts val="120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120" dirty="0">
                <a:latin typeface="Cambria"/>
                <a:cs typeface="Cambria"/>
              </a:rPr>
              <a:t>Language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114" dirty="0">
                <a:latin typeface="Cambria"/>
                <a:cs typeface="Cambria"/>
              </a:rPr>
              <a:t>mappings</a:t>
            </a:r>
            <a:r>
              <a:rPr sz="1450" spc="140" dirty="0">
                <a:latin typeface="Cambria"/>
                <a:cs typeface="Cambria"/>
              </a:rPr>
              <a:t> </a:t>
            </a:r>
            <a:r>
              <a:rPr sz="1450" spc="60" dirty="0">
                <a:latin typeface="Cambria"/>
                <a:cs typeface="Cambria"/>
              </a:rPr>
              <a:t>to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55" dirty="0">
                <a:latin typeface="Cambria"/>
                <a:cs typeface="Cambria"/>
              </a:rPr>
              <a:t>C++,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85" dirty="0">
                <a:latin typeface="Cambria"/>
                <a:cs typeface="Cambria"/>
              </a:rPr>
              <a:t>Java,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130" dirty="0">
                <a:latin typeface="Cambria"/>
                <a:cs typeface="Cambria"/>
              </a:rPr>
              <a:t>Smalltalk,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340" dirty="0">
                <a:latin typeface="Cambria"/>
                <a:cs typeface="Cambria"/>
              </a:rPr>
              <a:t>…</a:t>
            </a:r>
            <a:endParaRPr sz="1450">
              <a:latin typeface="Cambria"/>
              <a:cs typeface="Cambria"/>
            </a:endParaRPr>
          </a:p>
          <a:p>
            <a:pPr marL="672465" lvl="1" indent="-281940">
              <a:lnSpc>
                <a:spcPct val="100000"/>
              </a:lnSpc>
              <a:spcBef>
                <a:spcPts val="120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95" dirty="0">
                <a:latin typeface="Cambria"/>
                <a:cs typeface="Cambria"/>
              </a:rPr>
              <a:t>Translation</a:t>
            </a:r>
            <a:r>
              <a:rPr sz="1450" spc="18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by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spc="120" dirty="0">
                <a:latin typeface="Cambria"/>
                <a:cs typeface="Cambria"/>
              </a:rPr>
              <a:t>IDL</a:t>
            </a:r>
            <a:r>
              <a:rPr sz="1450" spc="145" dirty="0">
                <a:latin typeface="Cambria"/>
                <a:cs typeface="Cambria"/>
              </a:rPr>
              <a:t> </a:t>
            </a:r>
            <a:r>
              <a:rPr sz="1450" spc="70" dirty="0">
                <a:latin typeface="Cambria"/>
                <a:cs typeface="Cambria"/>
              </a:rPr>
              <a:t>compiler</a:t>
            </a:r>
            <a:endParaRPr sz="14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295910" algn="l"/>
              </a:tabLst>
            </a:pPr>
            <a:r>
              <a:rPr sz="1450" spc="65" dirty="0">
                <a:latin typeface="Cambria"/>
                <a:cs typeface="Cambria"/>
              </a:rPr>
              <a:t>Type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system</a:t>
            </a:r>
            <a:endParaRPr sz="1450">
              <a:latin typeface="Cambria"/>
              <a:cs typeface="Cambria"/>
            </a:endParaRPr>
          </a:p>
          <a:p>
            <a:pPr marL="672465" lvl="1" indent="-281940">
              <a:lnSpc>
                <a:spcPct val="100000"/>
              </a:lnSpc>
              <a:spcBef>
                <a:spcPts val="120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114" dirty="0">
                <a:latin typeface="Cambria"/>
                <a:cs typeface="Cambria"/>
              </a:rPr>
              <a:t>basic</a:t>
            </a:r>
            <a:r>
              <a:rPr sz="1450" spc="180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types:</a:t>
            </a:r>
            <a:r>
              <a:rPr sz="1450" spc="180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long</a:t>
            </a:r>
            <a:r>
              <a:rPr sz="1450" spc="195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(32</a:t>
            </a:r>
            <a:r>
              <a:rPr sz="1450" spc="180" dirty="0">
                <a:latin typeface="Cambria"/>
                <a:cs typeface="Cambria"/>
              </a:rPr>
              <a:t> </a:t>
            </a:r>
            <a:r>
              <a:rPr sz="1450" spc="40" dirty="0">
                <a:latin typeface="Cambria"/>
                <a:cs typeface="Cambria"/>
              </a:rPr>
              <a:t>bit),</a:t>
            </a:r>
            <a:endParaRPr sz="1450">
              <a:latin typeface="Cambria"/>
              <a:cs typeface="Cambria"/>
            </a:endParaRPr>
          </a:p>
          <a:p>
            <a:pPr marL="672465" marR="267335" lvl="1" indent="-282575">
              <a:lnSpc>
                <a:spcPct val="102800"/>
              </a:lnSpc>
              <a:spcBef>
                <a:spcPts val="70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85" dirty="0">
                <a:latin typeface="Cambria"/>
                <a:cs typeface="Cambria"/>
              </a:rPr>
              <a:t>long</a:t>
            </a:r>
            <a:r>
              <a:rPr sz="1450" spc="185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long</a:t>
            </a:r>
            <a:r>
              <a:rPr sz="1450" spc="185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(64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60" dirty="0">
                <a:latin typeface="Cambria"/>
                <a:cs typeface="Cambria"/>
              </a:rPr>
              <a:t>bit),</a:t>
            </a:r>
            <a:r>
              <a:rPr sz="1450" spc="185" dirty="0">
                <a:latin typeface="Cambria"/>
                <a:cs typeface="Cambria"/>
              </a:rPr>
              <a:t> </a:t>
            </a:r>
            <a:r>
              <a:rPr sz="1450" spc="110" dirty="0">
                <a:latin typeface="Cambria"/>
                <a:cs typeface="Cambria"/>
              </a:rPr>
              <a:t>short,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float,</a:t>
            </a:r>
            <a:r>
              <a:rPr sz="1450" spc="185" dirty="0">
                <a:latin typeface="Cambria"/>
                <a:cs typeface="Cambria"/>
              </a:rPr>
              <a:t> </a:t>
            </a:r>
            <a:r>
              <a:rPr sz="1450" spc="135" dirty="0">
                <a:latin typeface="Cambria"/>
                <a:cs typeface="Cambria"/>
              </a:rPr>
              <a:t>char,</a:t>
            </a:r>
            <a:r>
              <a:rPr sz="1450" spc="185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boolean, octet,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135" dirty="0">
                <a:latin typeface="Cambria"/>
                <a:cs typeface="Cambria"/>
              </a:rPr>
              <a:t>any,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340" dirty="0">
                <a:latin typeface="Cambria"/>
                <a:cs typeface="Cambria"/>
              </a:rPr>
              <a:t>…</a:t>
            </a:r>
            <a:endParaRPr sz="1450">
              <a:latin typeface="Cambria"/>
              <a:cs typeface="Cambria"/>
            </a:endParaRPr>
          </a:p>
          <a:p>
            <a:pPr marL="672465" marR="369570" lvl="1" indent="-282575">
              <a:lnSpc>
                <a:spcPct val="102800"/>
              </a:lnSpc>
              <a:spcBef>
                <a:spcPts val="75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105" dirty="0">
                <a:latin typeface="Cambria"/>
                <a:cs typeface="Cambria"/>
              </a:rPr>
              <a:t>constructed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types: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20" dirty="0">
                <a:latin typeface="Cambria"/>
                <a:cs typeface="Cambria"/>
              </a:rPr>
              <a:t>struct,</a:t>
            </a:r>
            <a:r>
              <a:rPr sz="1450" spc="190" dirty="0">
                <a:latin typeface="Cambria"/>
                <a:cs typeface="Cambria"/>
              </a:rPr>
              <a:t> </a:t>
            </a:r>
            <a:r>
              <a:rPr sz="1450" spc="125" dirty="0">
                <a:latin typeface="Cambria"/>
                <a:cs typeface="Cambria"/>
              </a:rPr>
              <a:t>union,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105" dirty="0">
                <a:latin typeface="Cambria"/>
                <a:cs typeface="Cambria"/>
              </a:rPr>
              <a:t>sequence, array,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spc="125" dirty="0">
                <a:latin typeface="Cambria"/>
                <a:cs typeface="Cambria"/>
              </a:rPr>
              <a:t>enum</a:t>
            </a:r>
            <a:endParaRPr sz="1450">
              <a:latin typeface="Cambria"/>
              <a:cs typeface="Cambria"/>
            </a:endParaRPr>
          </a:p>
          <a:p>
            <a:pPr marL="672465" lvl="1" indent="-281940">
              <a:lnSpc>
                <a:spcPct val="100000"/>
              </a:lnSpc>
              <a:spcBef>
                <a:spcPts val="120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90" dirty="0">
                <a:latin typeface="Cambria"/>
                <a:cs typeface="Cambria"/>
              </a:rPr>
              <a:t>objects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(common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110" dirty="0">
                <a:latin typeface="Cambria"/>
                <a:cs typeface="Cambria"/>
              </a:rPr>
              <a:t>super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spc="70" dirty="0">
                <a:latin typeface="Cambria"/>
                <a:cs typeface="Cambria"/>
              </a:rPr>
              <a:t>type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70" dirty="0">
                <a:latin typeface="Cambria"/>
                <a:cs typeface="Cambria"/>
              </a:rPr>
              <a:t>Object)</a:t>
            </a:r>
            <a:endParaRPr sz="14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295910" algn="l"/>
              </a:tabLst>
            </a:pPr>
            <a:r>
              <a:rPr sz="1450" spc="95" dirty="0">
                <a:latin typeface="Cambria"/>
                <a:cs typeface="Cambria"/>
              </a:rPr>
              <a:t>Parameter</a:t>
            </a:r>
            <a:r>
              <a:rPr sz="1450" spc="130" dirty="0">
                <a:latin typeface="Cambria"/>
                <a:cs typeface="Cambria"/>
              </a:rPr>
              <a:t> </a:t>
            </a:r>
            <a:r>
              <a:rPr sz="1450" spc="105" dirty="0">
                <a:latin typeface="Cambria"/>
                <a:cs typeface="Cambria"/>
              </a:rPr>
              <a:t>passing</a:t>
            </a:r>
            <a:endParaRPr sz="1450">
              <a:latin typeface="Cambria"/>
              <a:cs typeface="Cambria"/>
            </a:endParaRPr>
          </a:p>
          <a:p>
            <a:pPr marL="672465" lvl="1" indent="-281940">
              <a:lnSpc>
                <a:spcPct val="100000"/>
              </a:lnSpc>
              <a:spcBef>
                <a:spcPts val="120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125" dirty="0">
                <a:latin typeface="Cambria"/>
                <a:cs typeface="Cambria"/>
              </a:rPr>
              <a:t>in,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120" dirty="0">
                <a:latin typeface="Cambria"/>
                <a:cs typeface="Cambria"/>
              </a:rPr>
              <a:t>out,</a:t>
            </a:r>
            <a:r>
              <a:rPr sz="1450" spc="160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inout</a:t>
            </a:r>
            <a:endParaRPr sz="1450">
              <a:latin typeface="Cambria"/>
              <a:cs typeface="Cambria"/>
            </a:endParaRPr>
          </a:p>
          <a:p>
            <a:pPr marL="672465" lvl="1" indent="-281940">
              <a:lnSpc>
                <a:spcPct val="100000"/>
              </a:lnSpc>
              <a:spcBef>
                <a:spcPts val="120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114" dirty="0">
                <a:latin typeface="Cambria"/>
                <a:cs typeface="Cambria"/>
              </a:rPr>
              <a:t>basic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spc="190" dirty="0">
                <a:latin typeface="Cambria"/>
                <a:cs typeface="Cambria"/>
              </a:rPr>
              <a:t>&amp;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105" dirty="0">
                <a:latin typeface="Cambria"/>
                <a:cs typeface="Cambria"/>
              </a:rPr>
              <a:t>constructed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types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spc="114" dirty="0">
                <a:latin typeface="Cambria"/>
                <a:cs typeface="Cambria"/>
              </a:rPr>
              <a:t>passed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by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value</a:t>
            </a:r>
            <a:endParaRPr sz="1450">
              <a:latin typeface="Cambria"/>
              <a:cs typeface="Cambria"/>
            </a:endParaRPr>
          </a:p>
          <a:p>
            <a:pPr marL="672465" lvl="1" indent="-281940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90" dirty="0">
                <a:latin typeface="Cambria"/>
                <a:cs typeface="Cambria"/>
              </a:rPr>
              <a:t>objects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spc="114" dirty="0">
                <a:latin typeface="Cambria"/>
                <a:cs typeface="Cambria"/>
              </a:rPr>
              <a:t>passed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by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60" dirty="0">
                <a:latin typeface="Cambria"/>
                <a:cs typeface="Cambria"/>
              </a:rPr>
              <a:t>reference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811" y="5966460"/>
            <a:ext cx="5027930" cy="725805"/>
          </a:xfrm>
          <a:prstGeom prst="rect">
            <a:avLst/>
          </a:prstGeom>
          <a:solidFill>
            <a:srgbClr val="CCEBFF"/>
          </a:solidFill>
        </p:spPr>
        <p:txBody>
          <a:bodyPr vert="horz" wrap="square" lIns="0" tIns="13970" rIns="0" bIns="0" rtlCol="0">
            <a:spAutoFit/>
          </a:bodyPr>
          <a:lstStyle/>
          <a:p>
            <a:pPr marL="71120" marR="215900">
              <a:lnSpc>
                <a:spcPct val="102800"/>
              </a:lnSpc>
              <a:spcBef>
                <a:spcPts val="110"/>
              </a:spcBef>
              <a:tabLst>
                <a:tab pos="3790315" algn="l"/>
              </a:tabLst>
            </a:pPr>
            <a:r>
              <a:rPr sz="1450" b="1" dirty="0">
                <a:latin typeface="Courier New"/>
                <a:cs typeface="Courier New"/>
              </a:rPr>
              <a:t>typedef</a:t>
            </a:r>
            <a:r>
              <a:rPr sz="1450" b="1" spc="114" dirty="0">
                <a:latin typeface="Courier New"/>
                <a:cs typeface="Courier New"/>
              </a:rPr>
              <a:t> </a:t>
            </a:r>
            <a:r>
              <a:rPr sz="1450" b="1" dirty="0">
                <a:latin typeface="Courier New"/>
                <a:cs typeface="Courier New"/>
              </a:rPr>
              <a:t>sequence&lt;string&gt;</a:t>
            </a:r>
            <a:r>
              <a:rPr sz="1450" b="1" spc="120" dirty="0">
                <a:latin typeface="Courier New"/>
                <a:cs typeface="Courier New"/>
              </a:rPr>
              <a:t> </a:t>
            </a:r>
            <a:r>
              <a:rPr sz="1450" b="1" spc="-10" dirty="0">
                <a:latin typeface="Courier New"/>
                <a:cs typeface="Courier New"/>
              </a:rPr>
              <a:t>Files;</a:t>
            </a:r>
            <a:r>
              <a:rPr sz="1450" b="1" dirty="0">
                <a:latin typeface="Courier New"/>
                <a:cs typeface="Courier New"/>
              </a:rPr>
              <a:t>	</a:t>
            </a:r>
            <a:r>
              <a:rPr sz="1450" b="1" spc="-10" dirty="0">
                <a:latin typeface="Courier New"/>
                <a:cs typeface="Courier New"/>
              </a:rPr>
              <a:t>interface </a:t>
            </a:r>
            <a:r>
              <a:rPr sz="1450" b="1" dirty="0">
                <a:latin typeface="Courier New"/>
                <a:cs typeface="Courier New"/>
              </a:rPr>
              <a:t>PrintService</a:t>
            </a:r>
            <a:r>
              <a:rPr sz="1450" b="1" spc="70" dirty="0">
                <a:latin typeface="Courier New"/>
                <a:cs typeface="Courier New"/>
              </a:rPr>
              <a:t> </a:t>
            </a:r>
            <a:r>
              <a:rPr sz="1450" b="1" dirty="0">
                <a:latin typeface="Courier New"/>
                <a:cs typeface="Courier New"/>
              </a:rPr>
              <a:t>:</a:t>
            </a:r>
            <a:r>
              <a:rPr sz="1450" b="1" spc="75" dirty="0">
                <a:latin typeface="Courier New"/>
                <a:cs typeface="Courier New"/>
              </a:rPr>
              <a:t> </a:t>
            </a:r>
            <a:r>
              <a:rPr sz="1450" b="1" dirty="0">
                <a:latin typeface="Courier New"/>
                <a:cs typeface="Courier New"/>
              </a:rPr>
              <a:t>Server</a:t>
            </a:r>
            <a:r>
              <a:rPr sz="1450" b="1" spc="70" dirty="0">
                <a:latin typeface="Courier New"/>
                <a:cs typeface="Courier New"/>
              </a:rPr>
              <a:t> </a:t>
            </a:r>
            <a:r>
              <a:rPr sz="1450" b="1" spc="-50" dirty="0">
                <a:latin typeface="Courier New"/>
                <a:cs typeface="Courier New"/>
              </a:rPr>
              <a:t>{</a:t>
            </a:r>
            <a:endParaRPr sz="1450">
              <a:latin typeface="Courier New"/>
              <a:cs typeface="Courier New"/>
            </a:endParaRPr>
          </a:p>
          <a:p>
            <a:pPr marL="71120">
              <a:lnSpc>
                <a:spcPct val="100000"/>
              </a:lnSpc>
              <a:spcBef>
                <a:spcPts val="35"/>
              </a:spcBef>
            </a:pPr>
            <a:r>
              <a:rPr sz="1450" b="1" dirty="0">
                <a:latin typeface="Courier New"/>
                <a:cs typeface="Courier New"/>
              </a:rPr>
              <a:t>void</a:t>
            </a:r>
            <a:r>
              <a:rPr sz="1450" b="1" spc="70" dirty="0">
                <a:latin typeface="Courier New"/>
                <a:cs typeface="Courier New"/>
              </a:rPr>
              <a:t> </a:t>
            </a:r>
            <a:r>
              <a:rPr sz="1450" b="1" dirty="0">
                <a:latin typeface="Courier New"/>
                <a:cs typeface="Courier New"/>
              </a:rPr>
              <a:t>print(in</a:t>
            </a:r>
            <a:r>
              <a:rPr sz="1450" b="1" spc="70" dirty="0">
                <a:latin typeface="Courier New"/>
                <a:cs typeface="Courier New"/>
              </a:rPr>
              <a:t> </a:t>
            </a:r>
            <a:r>
              <a:rPr sz="1450" b="1" dirty="0">
                <a:latin typeface="Courier New"/>
                <a:cs typeface="Courier New"/>
              </a:rPr>
              <a:t>Files</a:t>
            </a:r>
            <a:r>
              <a:rPr sz="1450" b="1" spc="90" dirty="0">
                <a:latin typeface="Courier New"/>
                <a:cs typeface="Courier New"/>
              </a:rPr>
              <a:t> </a:t>
            </a:r>
            <a:r>
              <a:rPr sz="1450" b="1" dirty="0">
                <a:latin typeface="Courier New"/>
                <a:cs typeface="Courier New"/>
              </a:rPr>
              <a:t>printJob);</a:t>
            </a:r>
            <a:r>
              <a:rPr sz="1450" b="1" spc="70" dirty="0">
                <a:latin typeface="Courier New"/>
                <a:cs typeface="Courier New"/>
              </a:rPr>
              <a:t> </a:t>
            </a:r>
            <a:r>
              <a:rPr sz="1450" b="1" spc="-25" dirty="0">
                <a:latin typeface="Courier New"/>
                <a:cs typeface="Courier New"/>
              </a:rPr>
              <a:t>};</a:t>
            </a:r>
            <a:endParaRPr sz="145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89272" y="2224541"/>
            <a:ext cx="4405630" cy="2633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165" dirty="0">
                <a:latin typeface="Cambria"/>
                <a:cs typeface="Cambria"/>
              </a:rPr>
              <a:t>CORBA</a:t>
            </a:r>
            <a:r>
              <a:rPr sz="1650" b="1" spc="180" dirty="0">
                <a:latin typeface="Cambria"/>
                <a:cs typeface="Cambria"/>
              </a:rPr>
              <a:t> </a:t>
            </a:r>
            <a:r>
              <a:rPr sz="1650" b="1" spc="90" dirty="0">
                <a:latin typeface="Cambria"/>
                <a:cs typeface="Cambria"/>
              </a:rPr>
              <a:t>Services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14" dirty="0">
                <a:latin typeface="Cambria"/>
                <a:cs typeface="Cambria"/>
              </a:rPr>
              <a:t>Naming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Service</a:t>
            </a:r>
            <a:endParaRPr sz="1650">
              <a:latin typeface="Cambria"/>
              <a:cs typeface="Cambria"/>
            </a:endParaRPr>
          </a:p>
          <a:p>
            <a:pPr marL="672465" lvl="1" indent="-281940">
              <a:lnSpc>
                <a:spcPct val="100000"/>
              </a:lnSpc>
              <a:spcBef>
                <a:spcPts val="125"/>
              </a:spcBef>
              <a:buFont typeface="Wingdings"/>
              <a:buChar char=""/>
              <a:tabLst>
                <a:tab pos="672465" algn="l"/>
              </a:tabLst>
            </a:pPr>
            <a:r>
              <a:rPr sz="1300" spc="105" dirty="0">
                <a:latin typeface="Cambria"/>
                <a:cs typeface="Cambria"/>
              </a:rPr>
              <a:t>Names</a:t>
            </a:r>
            <a:r>
              <a:rPr sz="1300" spc="140" dirty="0">
                <a:latin typeface="Cambria"/>
                <a:cs typeface="Cambria"/>
              </a:rPr>
              <a:t> </a:t>
            </a:r>
            <a:r>
              <a:rPr sz="1300" dirty="0">
                <a:latin typeface="Wingdings"/>
                <a:cs typeface="Wingdings"/>
              </a:rPr>
              <a:t></a:t>
            </a:r>
            <a:r>
              <a:rPr sz="1300" spc="95" dirty="0">
                <a:latin typeface="Times New Roman"/>
                <a:cs typeface="Times New Roman"/>
              </a:rPr>
              <a:t> </a:t>
            </a:r>
            <a:r>
              <a:rPr sz="1300" spc="65" dirty="0">
                <a:latin typeface="Cambria"/>
                <a:cs typeface="Cambria"/>
              </a:rPr>
              <a:t>remote</a:t>
            </a:r>
            <a:r>
              <a:rPr sz="1300" spc="135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object</a:t>
            </a:r>
            <a:r>
              <a:rPr sz="1300" spc="130" dirty="0">
                <a:latin typeface="Cambria"/>
                <a:cs typeface="Cambria"/>
              </a:rPr>
              <a:t> </a:t>
            </a:r>
            <a:r>
              <a:rPr sz="1300" spc="60" dirty="0">
                <a:latin typeface="Cambria"/>
                <a:cs typeface="Cambria"/>
              </a:rPr>
              <a:t>references</a:t>
            </a:r>
            <a:endParaRPr sz="130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85" dirty="0">
                <a:latin typeface="Cambria"/>
                <a:cs typeface="Cambria"/>
              </a:rPr>
              <a:t>Trading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Service</a:t>
            </a:r>
            <a:endParaRPr sz="1650">
              <a:latin typeface="Cambria"/>
              <a:cs typeface="Cambria"/>
            </a:endParaRPr>
          </a:p>
          <a:p>
            <a:pPr marL="672465" marR="547370" lvl="1" indent="-281940">
              <a:lnSpc>
                <a:spcPct val="100800"/>
              </a:lnSpc>
              <a:spcBef>
                <a:spcPts val="110"/>
              </a:spcBef>
              <a:buFont typeface="Wingdings"/>
              <a:buChar char=""/>
              <a:tabLst>
                <a:tab pos="672465" algn="l"/>
              </a:tabLst>
            </a:pPr>
            <a:r>
              <a:rPr sz="1300" spc="75" dirty="0">
                <a:latin typeface="Cambria"/>
                <a:cs typeface="Cambria"/>
              </a:rPr>
              <a:t>Attributes</a:t>
            </a:r>
            <a:r>
              <a:rPr sz="1300" spc="235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(properties)</a:t>
            </a:r>
            <a:r>
              <a:rPr sz="1300" spc="229" dirty="0">
                <a:latin typeface="Cambria"/>
                <a:cs typeface="Cambria"/>
              </a:rPr>
              <a:t> </a:t>
            </a:r>
            <a:r>
              <a:rPr sz="1300" dirty="0">
                <a:latin typeface="Wingdings"/>
                <a:cs typeface="Wingdings"/>
              </a:rPr>
              <a:t></a:t>
            </a:r>
            <a:r>
              <a:rPr sz="1300" spc="204" dirty="0">
                <a:latin typeface="Times New Roman"/>
                <a:cs typeface="Times New Roman"/>
              </a:rPr>
              <a:t> </a:t>
            </a:r>
            <a:r>
              <a:rPr sz="1300" spc="65" dirty="0">
                <a:latin typeface="Cambria"/>
                <a:cs typeface="Cambria"/>
              </a:rPr>
              <a:t>remote</a:t>
            </a:r>
            <a:r>
              <a:rPr sz="1300" spc="240" dirty="0">
                <a:latin typeface="Cambria"/>
                <a:cs typeface="Cambria"/>
              </a:rPr>
              <a:t> </a:t>
            </a:r>
            <a:r>
              <a:rPr sz="1300" spc="60" dirty="0">
                <a:latin typeface="Cambria"/>
                <a:cs typeface="Cambria"/>
              </a:rPr>
              <a:t>object references</a:t>
            </a:r>
            <a:endParaRPr sz="130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80" dirty="0">
                <a:latin typeface="Cambria"/>
                <a:cs typeface="Cambria"/>
              </a:rPr>
              <a:t>Persistent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Object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Service</a:t>
            </a:r>
            <a:endParaRPr sz="1650">
              <a:latin typeface="Cambria"/>
              <a:cs typeface="Cambria"/>
            </a:endParaRPr>
          </a:p>
          <a:p>
            <a:pPr marL="672465" lvl="1" indent="-281940">
              <a:lnSpc>
                <a:spcPct val="100000"/>
              </a:lnSpc>
              <a:spcBef>
                <a:spcPts val="120"/>
              </a:spcBef>
              <a:buFont typeface="Wingdings"/>
              <a:buChar char=""/>
              <a:tabLst>
                <a:tab pos="672465" algn="l"/>
              </a:tabLst>
            </a:pPr>
            <a:r>
              <a:rPr sz="1300" spc="80" dirty="0">
                <a:latin typeface="Cambria"/>
                <a:cs typeface="Cambria"/>
              </a:rPr>
              <a:t>Implementation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of</a:t>
            </a:r>
            <a:r>
              <a:rPr sz="1300" spc="190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persistent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160" dirty="0">
                <a:latin typeface="Cambria"/>
                <a:cs typeface="Cambria"/>
              </a:rPr>
              <a:t>CORBA</a:t>
            </a:r>
            <a:r>
              <a:rPr sz="1300" spc="195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objects</a:t>
            </a:r>
            <a:endParaRPr sz="130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00" dirty="0">
                <a:latin typeface="Cambria"/>
                <a:cs typeface="Cambria"/>
              </a:rPr>
              <a:t>Transaction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Service</a:t>
            </a:r>
            <a:endParaRPr sz="1650">
              <a:latin typeface="Cambria"/>
              <a:cs typeface="Cambria"/>
            </a:endParaRPr>
          </a:p>
          <a:p>
            <a:pPr marL="672465" lvl="1" indent="-281940">
              <a:lnSpc>
                <a:spcPct val="100000"/>
              </a:lnSpc>
              <a:spcBef>
                <a:spcPts val="120"/>
              </a:spcBef>
              <a:buFont typeface="Wingdings"/>
              <a:buChar char=""/>
              <a:tabLst>
                <a:tab pos="672465" algn="l"/>
              </a:tabLst>
            </a:pPr>
            <a:r>
              <a:rPr sz="1300" spc="105" dirty="0">
                <a:latin typeface="Cambria"/>
                <a:cs typeface="Cambria"/>
              </a:rPr>
              <a:t>Making</a:t>
            </a:r>
            <a:r>
              <a:rPr sz="1300" spc="165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object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invocation</a:t>
            </a:r>
            <a:r>
              <a:rPr sz="1300" spc="180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part</a:t>
            </a:r>
            <a:r>
              <a:rPr sz="1300" spc="170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of</a:t>
            </a:r>
            <a:r>
              <a:rPr sz="1300" spc="165" dirty="0">
                <a:latin typeface="Cambria"/>
                <a:cs typeface="Cambria"/>
              </a:rPr>
              <a:t> </a:t>
            </a:r>
            <a:r>
              <a:rPr sz="1300" spc="80" dirty="0">
                <a:latin typeface="Cambria"/>
                <a:cs typeface="Cambria"/>
              </a:rPr>
              <a:t>transactions</a:t>
            </a:r>
            <a:endParaRPr sz="130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05" dirty="0">
                <a:latin typeface="Cambria"/>
                <a:cs typeface="Cambria"/>
              </a:rPr>
              <a:t>Event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Service</a:t>
            </a:r>
            <a:r>
              <a:rPr sz="1650" spc="140" dirty="0">
                <a:latin typeface="Cambria"/>
                <a:cs typeface="Cambria"/>
              </a:rPr>
              <a:t> and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Notification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Service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667257" y="4845837"/>
            <a:ext cx="4067810" cy="1252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4005" marR="791210" indent="-281940">
              <a:lnSpc>
                <a:spcPct val="101499"/>
              </a:lnSpc>
              <a:spcBef>
                <a:spcPts val="95"/>
              </a:spcBef>
              <a:buFont typeface="Wingdings"/>
              <a:buChar char=""/>
              <a:tabLst>
                <a:tab pos="294005" algn="l"/>
              </a:tabLst>
            </a:pPr>
            <a:r>
              <a:rPr sz="1300" spc="85" dirty="0">
                <a:latin typeface="Cambria"/>
                <a:cs typeface="Cambria"/>
              </a:rPr>
              <a:t>In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80" dirty="0">
                <a:latin typeface="Cambria"/>
                <a:cs typeface="Cambria"/>
              </a:rPr>
              <a:t>response</a:t>
            </a:r>
            <a:r>
              <a:rPr sz="1300" spc="160" dirty="0">
                <a:latin typeface="Cambria"/>
                <a:cs typeface="Cambria"/>
              </a:rPr>
              <a:t> </a:t>
            </a:r>
            <a:r>
              <a:rPr sz="1300" spc="50" dirty="0">
                <a:latin typeface="Cambria"/>
                <a:cs typeface="Cambria"/>
              </a:rPr>
              <a:t>to</a:t>
            </a:r>
            <a:r>
              <a:rPr sz="1300" spc="150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applications‘</a:t>
            </a:r>
            <a:r>
              <a:rPr sz="1300" spc="120" dirty="0">
                <a:latin typeface="Cambria"/>
                <a:cs typeface="Cambria"/>
              </a:rPr>
              <a:t> </a:t>
            </a:r>
            <a:r>
              <a:rPr sz="1300" spc="90" dirty="0">
                <a:latin typeface="Cambria"/>
                <a:cs typeface="Cambria"/>
              </a:rPr>
              <a:t>need</a:t>
            </a:r>
            <a:r>
              <a:rPr sz="1300" spc="120" dirty="0">
                <a:latin typeface="Cambria"/>
                <a:cs typeface="Cambria"/>
              </a:rPr>
              <a:t> </a:t>
            </a:r>
            <a:r>
              <a:rPr sz="1300" spc="-25" dirty="0">
                <a:latin typeface="Cambria"/>
                <a:cs typeface="Cambria"/>
              </a:rPr>
              <a:t>for </a:t>
            </a:r>
            <a:r>
              <a:rPr sz="1300" spc="105" dirty="0">
                <a:latin typeface="Cambria"/>
                <a:cs typeface="Cambria"/>
              </a:rPr>
              <a:t>asynchronous</a:t>
            </a:r>
            <a:r>
              <a:rPr sz="1300" spc="185" dirty="0">
                <a:latin typeface="Cambria"/>
                <a:cs typeface="Cambria"/>
              </a:rPr>
              <a:t> </a:t>
            </a:r>
            <a:r>
              <a:rPr sz="1300" spc="90" dirty="0">
                <a:latin typeface="Cambria"/>
                <a:cs typeface="Cambria"/>
              </a:rPr>
              <a:t>communication</a:t>
            </a:r>
            <a:endParaRPr sz="1300">
              <a:latin typeface="Cambria"/>
              <a:cs typeface="Cambria"/>
            </a:endParaRPr>
          </a:p>
          <a:p>
            <a:pPr marL="294005" marR="5080" indent="-281940">
              <a:lnSpc>
                <a:spcPct val="101600"/>
              </a:lnSpc>
              <a:spcBef>
                <a:spcPts val="85"/>
              </a:spcBef>
              <a:buFont typeface="Wingdings"/>
              <a:buChar char=""/>
              <a:tabLst>
                <a:tab pos="294005" algn="l"/>
              </a:tabLst>
            </a:pPr>
            <a:r>
              <a:rPr sz="1300" spc="80" dirty="0">
                <a:latin typeface="Cambria"/>
                <a:cs typeface="Cambria"/>
              </a:rPr>
              <a:t>built</a:t>
            </a:r>
            <a:r>
              <a:rPr sz="1300" spc="135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above</a:t>
            </a:r>
            <a:r>
              <a:rPr sz="1300" spc="170" dirty="0">
                <a:latin typeface="Cambria"/>
                <a:cs typeface="Cambria"/>
              </a:rPr>
              <a:t> </a:t>
            </a:r>
            <a:r>
              <a:rPr sz="1300" spc="105" dirty="0">
                <a:latin typeface="Cambria"/>
                <a:cs typeface="Cambria"/>
              </a:rPr>
              <a:t>synchronous</a:t>
            </a:r>
            <a:r>
              <a:rPr sz="1300" spc="165" dirty="0">
                <a:latin typeface="Cambria"/>
                <a:cs typeface="Cambria"/>
              </a:rPr>
              <a:t> </a:t>
            </a:r>
            <a:r>
              <a:rPr sz="1300" spc="100" dirty="0">
                <a:latin typeface="Cambria"/>
                <a:cs typeface="Cambria"/>
              </a:rPr>
              <a:t>communication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45" dirty="0">
                <a:latin typeface="Cambria"/>
                <a:cs typeface="Cambria"/>
              </a:rPr>
              <a:t>with </a:t>
            </a:r>
            <a:r>
              <a:rPr sz="1300" spc="135" dirty="0">
                <a:latin typeface="Cambria"/>
                <a:cs typeface="Cambria"/>
              </a:rPr>
              <a:t>push</a:t>
            </a:r>
            <a:r>
              <a:rPr sz="1300" spc="180" dirty="0">
                <a:latin typeface="Cambria"/>
                <a:cs typeface="Cambria"/>
              </a:rPr>
              <a:t> </a:t>
            </a:r>
            <a:r>
              <a:rPr sz="1300" dirty="0">
                <a:latin typeface="Cambria"/>
                <a:cs typeface="Cambria"/>
              </a:rPr>
              <a:t>or</a:t>
            </a:r>
            <a:r>
              <a:rPr sz="1300" spc="165" dirty="0">
                <a:latin typeface="Cambria"/>
                <a:cs typeface="Cambria"/>
              </a:rPr>
              <a:t> </a:t>
            </a:r>
            <a:r>
              <a:rPr sz="1300" spc="85" dirty="0">
                <a:latin typeface="Cambria"/>
                <a:cs typeface="Cambria"/>
              </a:rPr>
              <a:t>pull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65" dirty="0">
                <a:latin typeface="Cambria"/>
                <a:cs typeface="Cambria"/>
              </a:rPr>
              <a:t>options</a:t>
            </a:r>
            <a:endParaRPr sz="1300">
              <a:latin typeface="Cambria"/>
              <a:cs typeface="Cambria"/>
            </a:endParaRPr>
          </a:p>
          <a:p>
            <a:pPr marL="294005" marR="242570" indent="-281940">
              <a:lnSpc>
                <a:spcPct val="101600"/>
              </a:lnSpc>
              <a:spcBef>
                <a:spcPts val="70"/>
              </a:spcBef>
              <a:buFont typeface="Wingdings"/>
              <a:buChar char=""/>
              <a:tabLst>
                <a:tab pos="294005" algn="l"/>
              </a:tabLst>
            </a:pPr>
            <a:r>
              <a:rPr sz="1300" spc="85" dirty="0">
                <a:latin typeface="Cambria"/>
                <a:cs typeface="Cambria"/>
              </a:rPr>
              <a:t>not</a:t>
            </a:r>
            <a:r>
              <a:rPr sz="1300" spc="155" dirty="0">
                <a:latin typeface="Cambria"/>
                <a:cs typeface="Cambria"/>
              </a:rPr>
              <a:t> </a:t>
            </a:r>
            <a:r>
              <a:rPr sz="1300" spc="130" dirty="0">
                <a:latin typeface="Cambria"/>
                <a:cs typeface="Cambria"/>
              </a:rPr>
              <a:t>an</a:t>
            </a:r>
            <a:r>
              <a:rPr sz="1300" spc="160" dirty="0">
                <a:latin typeface="Cambria"/>
                <a:cs typeface="Cambria"/>
              </a:rPr>
              <a:t> </a:t>
            </a:r>
            <a:r>
              <a:rPr sz="1300" spc="70" dirty="0">
                <a:latin typeface="Cambria"/>
                <a:cs typeface="Cambria"/>
              </a:rPr>
              <a:t>integrated</a:t>
            </a:r>
            <a:r>
              <a:rPr sz="1300" spc="100" dirty="0">
                <a:latin typeface="Cambria"/>
                <a:cs typeface="Cambria"/>
              </a:rPr>
              <a:t> </a:t>
            </a:r>
            <a:r>
              <a:rPr sz="1300" spc="80" dirty="0">
                <a:latin typeface="Cambria"/>
                <a:cs typeface="Cambria"/>
              </a:rPr>
              <a:t>programming</a:t>
            </a:r>
            <a:r>
              <a:rPr sz="1300" spc="170" dirty="0">
                <a:latin typeface="Cambria"/>
                <a:cs typeface="Cambria"/>
              </a:rPr>
              <a:t> </a:t>
            </a:r>
            <a:r>
              <a:rPr sz="1300" spc="75" dirty="0">
                <a:latin typeface="Cambria"/>
                <a:cs typeface="Cambria"/>
              </a:rPr>
              <a:t>model</a:t>
            </a:r>
            <a:r>
              <a:rPr sz="1300" spc="130" dirty="0">
                <a:latin typeface="Cambria"/>
                <a:cs typeface="Cambria"/>
              </a:rPr>
              <a:t> </a:t>
            </a:r>
            <a:r>
              <a:rPr sz="1300" spc="45" dirty="0">
                <a:latin typeface="Cambria"/>
                <a:cs typeface="Cambria"/>
              </a:rPr>
              <a:t>with </a:t>
            </a:r>
            <a:r>
              <a:rPr sz="1300" spc="75" dirty="0">
                <a:latin typeface="Cambria"/>
                <a:cs typeface="Cambria"/>
              </a:rPr>
              <a:t>general</a:t>
            </a:r>
            <a:r>
              <a:rPr sz="1300" spc="105" dirty="0">
                <a:latin typeface="Cambria"/>
                <a:cs typeface="Cambria"/>
              </a:rPr>
              <a:t> IDL</a:t>
            </a:r>
            <a:r>
              <a:rPr sz="1300" spc="135" dirty="0">
                <a:latin typeface="Cambria"/>
                <a:cs typeface="Cambria"/>
              </a:rPr>
              <a:t> </a:t>
            </a:r>
            <a:r>
              <a:rPr sz="1300" spc="90" dirty="0">
                <a:latin typeface="Cambria"/>
                <a:cs typeface="Cambria"/>
              </a:rPr>
              <a:t>messages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362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225" dirty="0"/>
              <a:t>CORBA</a:t>
            </a:r>
            <a:r>
              <a:rPr spc="60" dirty="0"/>
              <a:t> </a:t>
            </a:r>
            <a:r>
              <a:rPr spc="70" dirty="0"/>
              <a:t>-</a:t>
            </a:r>
            <a:r>
              <a:rPr spc="135" dirty="0"/>
              <a:t> </a:t>
            </a:r>
            <a:r>
              <a:rPr spc="60" dirty="0"/>
              <a:t>Disadvantages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629" y="2248222"/>
            <a:ext cx="5878195" cy="312547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25" dirty="0">
                <a:latin typeface="Cambria"/>
                <a:cs typeface="Cambria"/>
              </a:rPr>
              <a:t>Synchronous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request/reply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interaction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only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55" dirty="0">
                <a:latin typeface="Cambria"/>
                <a:cs typeface="Cambria"/>
              </a:rPr>
              <a:t>So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CORBA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oneway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semantics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added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-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14" dirty="0">
                <a:latin typeface="Cambria"/>
                <a:cs typeface="Cambria"/>
              </a:rPr>
              <a:t>Asynchronous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Method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Invocation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-10" dirty="0">
                <a:latin typeface="Cambria"/>
                <a:cs typeface="Cambria"/>
              </a:rPr>
              <a:t>(AMI)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55" dirty="0">
                <a:latin typeface="Cambria"/>
                <a:cs typeface="Cambria"/>
              </a:rPr>
              <a:t>But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implementations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may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not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be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loosely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coupled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95" dirty="0">
                <a:latin typeface="Cambria"/>
                <a:cs typeface="Cambria"/>
              </a:rPr>
              <a:t>Distributed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garbage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collection</a:t>
            </a:r>
            <a:endParaRPr sz="1650">
              <a:latin typeface="Cambria"/>
              <a:cs typeface="Cambria"/>
            </a:endParaRPr>
          </a:p>
          <a:p>
            <a:pPr marL="739140" lvl="1" indent="-348615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739140" algn="l"/>
              </a:tabLst>
            </a:pPr>
            <a:r>
              <a:rPr sz="1650" spc="95" dirty="0">
                <a:latin typeface="Cambria"/>
                <a:cs typeface="Cambria"/>
              </a:rPr>
              <a:t>Releasing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memory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145" dirty="0">
                <a:latin typeface="Cambria"/>
                <a:cs typeface="Cambria"/>
              </a:rPr>
              <a:t>unused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remote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objects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210" dirty="0">
                <a:latin typeface="Cambria"/>
                <a:cs typeface="Cambria"/>
              </a:rPr>
              <a:t>OOM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rather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static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and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heavy-</a:t>
            </a:r>
            <a:r>
              <a:rPr sz="1650" spc="55" dirty="0">
                <a:latin typeface="Cambria"/>
                <a:cs typeface="Cambria"/>
              </a:rPr>
              <a:t>weight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55" dirty="0">
                <a:latin typeface="Cambria"/>
                <a:cs typeface="Cambria"/>
              </a:rPr>
              <a:t>Bad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ubiquitous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systems</a:t>
            </a:r>
            <a:r>
              <a:rPr sz="1650" spc="140" dirty="0">
                <a:latin typeface="Cambria"/>
                <a:cs typeface="Cambria"/>
              </a:rPr>
              <a:t> and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embedded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devices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1822" y="4017825"/>
            <a:ext cx="9946640" cy="2485390"/>
            <a:chOff x="111822" y="4017825"/>
            <a:chExt cx="9946640" cy="2485390"/>
          </a:xfrm>
        </p:grpSpPr>
        <p:sp>
          <p:nvSpPr>
            <p:cNvPr id="3" name="object 3"/>
            <p:cNvSpPr/>
            <p:nvPr/>
          </p:nvSpPr>
          <p:spPr>
            <a:xfrm>
              <a:off x="5094732" y="6461760"/>
              <a:ext cx="2562225" cy="41275"/>
            </a:xfrm>
            <a:custGeom>
              <a:avLst/>
              <a:gdLst/>
              <a:ahLst/>
              <a:cxnLst/>
              <a:rect l="l" t="t" r="r" b="b"/>
              <a:pathLst>
                <a:path w="2562225" h="41275">
                  <a:moveTo>
                    <a:pt x="2561844" y="41147"/>
                  </a:moveTo>
                  <a:lnTo>
                    <a:pt x="0" y="41147"/>
                  </a:lnTo>
                  <a:lnTo>
                    <a:pt x="0" y="0"/>
                  </a:lnTo>
                  <a:lnTo>
                    <a:pt x="2561844" y="0"/>
                  </a:lnTo>
                  <a:lnTo>
                    <a:pt x="2561844" y="41147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00187" y="6461760"/>
              <a:ext cx="2458720" cy="38100"/>
            </a:xfrm>
            <a:custGeom>
              <a:avLst/>
              <a:gdLst/>
              <a:ahLst/>
              <a:cxnLst/>
              <a:rect l="l" t="t" r="r" b="b"/>
              <a:pathLst>
                <a:path w="2458720" h="38100">
                  <a:moveTo>
                    <a:pt x="2458212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458212" y="0"/>
                  </a:lnTo>
                  <a:lnTo>
                    <a:pt x="2458212" y="3810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93620" y="6461760"/>
              <a:ext cx="2839720" cy="41275"/>
            </a:xfrm>
            <a:custGeom>
              <a:avLst/>
              <a:gdLst/>
              <a:ahLst/>
              <a:cxnLst/>
              <a:rect l="l" t="t" r="r" b="b"/>
              <a:pathLst>
                <a:path w="2839720" h="41275">
                  <a:moveTo>
                    <a:pt x="2839212" y="41147"/>
                  </a:moveTo>
                  <a:lnTo>
                    <a:pt x="0" y="41147"/>
                  </a:lnTo>
                  <a:lnTo>
                    <a:pt x="0" y="0"/>
                  </a:lnTo>
                  <a:lnTo>
                    <a:pt x="2839212" y="0"/>
                  </a:lnTo>
                  <a:lnTo>
                    <a:pt x="2839212" y="41147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45380" y="6464807"/>
              <a:ext cx="2562225" cy="38100"/>
            </a:xfrm>
            <a:custGeom>
              <a:avLst/>
              <a:gdLst/>
              <a:ahLst/>
              <a:cxnLst/>
              <a:rect l="l" t="t" r="r" b="b"/>
              <a:pathLst>
                <a:path w="2562225" h="38100">
                  <a:moveTo>
                    <a:pt x="2561843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1843" y="0"/>
                  </a:lnTo>
                  <a:lnTo>
                    <a:pt x="2561843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46960" y="6464807"/>
              <a:ext cx="2598420" cy="38100"/>
            </a:xfrm>
            <a:custGeom>
              <a:avLst/>
              <a:gdLst/>
              <a:ahLst/>
              <a:cxnLst/>
              <a:rect l="l" t="t" r="r" b="b"/>
              <a:pathLst>
                <a:path w="2598420" h="38100">
                  <a:moveTo>
                    <a:pt x="2598420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98420" y="0"/>
                  </a:lnTo>
                  <a:lnTo>
                    <a:pt x="2598420" y="38100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98079" y="6464807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822" y="4017825"/>
              <a:ext cx="5038989" cy="2421074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2340" y="1057656"/>
            <a:ext cx="2414016" cy="57149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2127504"/>
            <a:ext cx="7711440" cy="38100"/>
            <a:chOff x="0" y="2127504"/>
            <a:chExt cx="7711440" cy="38100"/>
          </a:xfrm>
        </p:grpSpPr>
        <p:sp>
          <p:nvSpPr>
            <p:cNvPr id="12" name="object 12"/>
            <p:cNvSpPr/>
            <p:nvPr/>
          </p:nvSpPr>
          <p:spPr>
            <a:xfrm>
              <a:off x="2598419" y="2127504"/>
              <a:ext cx="2562225" cy="38100"/>
            </a:xfrm>
            <a:custGeom>
              <a:avLst/>
              <a:gdLst/>
              <a:ahLst/>
              <a:cxnLst/>
              <a:rect l="l" t="t" r="r" b="b"/>
              <a:pathLst>
                <a:path w="2562225" h="38100">
                  <a:moveTo>
                    <a:pt x="2561844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1844" y="0"/>
                  </a:lnTo>
                  <a:lnTo>
                    <a:pt x="2561844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2127504"/>
              <a:ext cx="2598420" cy="38100"/>
            </a:xfrm>
            <a:custGeom>
              <a:avLst/>
              <a:gdLst/>
              <a:ahLst/>
              <a:cxnLst/>
              <a:rect l="l" t="t" r="r" b="b"/>
              <a:pathLst>
                <a:path w="2598420" h="38100">
                  <a:moveTo>
                    <a:pt x="25984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98419" y="0"/>
                  </a:lnTo>
                  <a:lnTo>
                    <a:pt x="2598419" y="38100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151120" y="2127504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362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45" dirty="0"/>
              <a:t>Message-</a:t>
            </a:r>
            <a:r>
              <a:rPr spc="65" dirty="0"/>
              <a:t>Oriented</a:t>
            </a:r>
            <a:r>
              <a:rPr spc="165" dirty="0"/>
              <a:t> </a:t>
            </a:r>
            <a:r>
              <a:rPr dirty="0"/>
              <a:t>Middleware</a:t>
            </a:r>
            <a:r>
              <a:rPr spc="160" dirty="0"/>
              <a:t> </a:t>
            </a:r>
            <a:r>
              <a:rPr spc="-10" dirty="0"/>
              <a:t>(MOM)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57973" y="2248222"/>
            <a:ext cx="4916805" cy="157543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25" dirty="0">
                <a:latin typeface="Cambria"/>
                <a:cs typeface="Cambria"/>
              </a:rPr>
              <a:t>Communication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using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messages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14" dirty="0">
                <a:latin typeface="Cambria"/>
                <a:cs typeface="Cambria"/>
              </a:rPr>
              <a:t>Messages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stored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message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queues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14" dirty="0">
                <a:latin typeface="Cambria"/>
                <a:cs typeface="Cambria"/>
              </a:rPr>
              <a:t>message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servers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decouple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client</a:t>
            </a:r>
            <a:r>
              <a:rPr sz="1650" spc="140" dirty="0">
                <a:latin typeface="Cambria"/>
                <a:cs typeface="Cambria"/>
              </a:rPr>
              <a:t> and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45" dirty="0">
                <a:latin typeface="Cambria"/>
                <a:cs typeface="Cambria"/>
              </a:rPr>
              <a:t>server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05" dirty="0">
                <a:latin typeface="Cambria"/>
                <a:cs typeface="Cambria"/>
              </a:rPr>
              <a:t>Various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assumptions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about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message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content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45649" y="2238301"/>
            <a:ext cx="4359910" cy="36506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60" dirty="0">
                <a:latin typeface="Cambria"/>
                <a:cs typeface="Cambria"/>
              </a:rPr>
              <a:t>Properties</a:t>
            </a:r>
            <a:r>
              <a:rPr sz="1650" b="1" spc="210" dirty="0">
                <a:latin typeface="Cambria"/>
                <a:cs typeface="Cambria"/>
              </a:rPr>
              <a:t> </a:t>
            </a:r>
            <a:r>
              <a:rPr sz="1650" b="1" spc="85" dirty="0">
                <a:latin typeface="Cambria"/>
                <a:cs typeface="Cambria"/>
              </a:rPr>
              <a:t>of</a:t>
            </a:r>
            <a:r>
              <a:rPr sz="1650" b="1" spc="200" dirty="0">
                <a:latin typeface="Cambria"/>
                <a:cs typeface="Cambria"/>
              </a:rPr>
              <a:t> </a:t>
            </a:r>
            <a:r>
              <a:rPr sz="1650" b="1" spc="125" dirty="0">
                <a:latin typeface="Cambria"/>
                <a:cs typeface="Cambria"/>
              </a:rPr>
              <a:t>MOM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14" dirty="0">
                <a:latin typeface="Cambria"/>
                <a:cs typeface="Cambria"/>
              </a:rPr>
              <a:t>Asynchronous </a:t>
            </a:r>
            <a:r>
              <a:rPr sz="1650" spc="70" dirty="0">
                <a:latin typeface="Cambria"/>
                <a:cs typeface="Cambria"/>
              </a:rPr>
              <a:t>interaction</a:t>
            </a:r>
            <a:endParaRPr sz="1650">
              <a:latin typeface="Cambria"/>
              <a:cs typeface="Cambria"/>
            </a:endParaRPr>
          </a:p>
          <a:p>
            <a:pPr marL="672465" marR="280670" lvl="1" indent="-28194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672465" algn="l"/>
              </a:tabLst>
            </a:pPr>
            <a:r>
              <a:rPr sz="1650" spc="105" dirty="0">
                <a:latin typeface="Cambria"/>
                <a:cs typeface="Cambria"/>
              </a:rPr>
              <a:t>Client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server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are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only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45" dirty="0">
                <a:latin typeface="Cambria"/>
                <a:cs typeface="Cambria"/>
              </a:rPr>
              <a:t>loosely </a:t>
            </a:r>
            <a:r>
              <a:rPr sz="1650" spc="90" dirty="0">
                <a:latin typeface="Cambria"/>
                <a:cs typeface="Cambria"/>
              </a:rPr>
              <a:t>coupled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14" dirty="0">
                <a:latin typeface="Cambria"/>
                <a:cs typeface="Cambria"/>
              </a:rPr>
              <a:t>Messages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are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queued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14" dirty="0">
                <a:latin typeface="Cambria"/>
                <a:cs typeface="Cambria"/>
              </a:rPr>
              <a:t>Good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application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integration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20" dirty="0">
                <a:latin typeface="Cambria"/>
                <a:cs typeface="Cambria"/>
              </a:rPr>
              <a:t>Support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reliable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45" dirty="0">
                <a:latin typeface="Cambria"/>
                <a:cs typeface="Cambria"/>
              </a:rPr>
              <a:t>delivery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service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90" dirty="0">
                <a:latin typeface="Cambria"/>
                <a:cs typeface="Cambria"/>
              </a:rPr>
              <a:t>Keep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queues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in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persistent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storage</a:t>
            </a:r>
            <a:endParaRPr sz="1650">
              <a:latin typeface="Cambria"/>
              <a:cs typeface="Cambria"/>
            </a:endParaRPr>
          </a:p>
          <a:p>
            <a:pPr marL="295910" marR="5080" indent="-28384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85" dirty="0">
                <a:latin typeface="Cambria"/>
                <a:cs typeface="Cambria"/>
              </a:rPr>
              <a:t>Processing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messages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by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intermediate </a:t>
            </a:r>
            <a:r>
              <a:rPr sz="1650" spc="114" dirty="0">
                <a:latin typeface="Cambria"/>
                <a:cs typeface="Cambria"/>
              </a:rPr>
              <a:t>message </a:t>
            </a:r>
            <a:r>
              <a:rPr sz="1650" spc="-10" dirty="0">
                <a:latin typeface="Cambria"/>
                <a:cs typeface="Cambria"/>
              </a:rPr>
              <a:t>server(s)</a:t>
            </a:r>
            <a:endParaRPr sz="1650">
              <a:latin typeface="Cambria"/>
              <a:cs typeface="Cambria"/>
            </a:endParaRPr>
          </a:p>
          <a:p>
            <a:pPr marL="672465" marR="549910" lvl="1" indent="-281940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672465" algn="l"/>
              </a:tabLst>
            </a:pPr>
            <a:r>
              <a:rPr sz="1650" spc="120" dirty="0">
                <a:latin typeface="Cambria"/>
                <a:cs typeface="Cambria"/>
              </a:rPr>
              <a:t>May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do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filtering,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transforming, logging,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355" dirty="0">
                <a:latin typeface="Cambria"/>
                <a:cs typeface="Cambria"/>
              </a:rPr>
              <a:t>…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70" dirty="0">
                <a:latin typeface="Cambria"/>
                <a:cs typeface="Cambria"/>
              </a:rPr>
              <a:t>Networks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message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servers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05" dirty="0">
                <a:latin typeface="Cambria"/>
                <a:cs typeface="Cambria"/>
              </a:rPr>
              <a:t>Natural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database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integration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362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45" dirty="0"/>
              <a:t>Message-</a:t>
            </a:r>
            <a:r>
              <a:rPr spc="65" dirty="0"/>
              <a:t>Oriented</a:t>
            </a:r>
            <a:r>
              <a:rPr spc="165" dirty="0"/>
              <a:t> </a:t>
            </a:r>
            <a:r>
              <a:rPr dirty="0"/>
              <a:t>Middleware</a:t>
            </a:r>
            <a:r>
              <a:rPr spc="160" dirty="0"/>
              <a:t> </a:t>
            </a:r>
            <a:r>
              <a:rPr spc="-10" dirty="0"/>
              <a:t>(MOM)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110" dirty="0"/>
              <a:t>IBM</a:t>
            </a:r>
            <a:r>
              <a:rPr spc="180" dirty="0"/>
              <a:t> </a:t>
            </a:r>
            <a:r>
              <a:rPr spc="114" dirty="0"/>
              <a:t>MQ-</a:t>
            </a:r>
            <a:r>
              <a:rPr spc="75" dirty="0"/>
              <a:t>Series</a:t>
            </a:r>
          </a:p>
          <a:p>
            <a:pPr marL="295910" marR="339090" indent="-283845">
              <a:lnSpc>
                <a:spcPct val="100000"/>
              </a:lnSpc>
              <a:spcBef>
                <a:spcPts val="70"/>
              </a:spcBef>
              <a:buFont typeface="Wingdings"/>
              <a:buChar char=""/>
              <a:tabLst>
                <a:tab pos="295910" algn="l"/>
              </a:tabLst>
            </a:pPr>
            <a:r>
              <a:rPr b="0" spc="140" dirty="0">
                <a:latin typeface="Cambria"/>
                <a:cs typeface="Cambria"/>
              </a:rPr>
              <a:t>One-</a:t>
            </a:r>
            <a:r>
              <a:rPr b="0" spc="70" dirty="0">
                <a:latin typeface="Cambria"/>
                <a:cs typeface="Cambria"/>
              </a:rPr>
              <a:t>to-</a:t>
            </a:r>
            <a:r>
              <a:rPr b="0" spc="85" dirty="0">
                <a:latin typeface="Cambria"/>
                <a:cs typeface="Cambria"/>
              </a:rPr>
              <a:t>one</a:t>
            </a:r>
            <a:r>
              <a:rPr b="0" spc="170" dirty="0">
                <a:latin typeface="Cambria"/>
                <a:cs typeface="Cambria"/>
              </a:rPr>
              <a:t> </a:t>
            </a:r>
            <a:r>
              <a:rPr b="0" spc="65" dirty="0">
                <a:latin typeface="Cambria"/>
                <a:cs typeface="Cambria"/>
              </a:rPr>
              <a:t>reliable</a:t>
            </a:r>
            <a:r>
              <a:rPr b="0" spc="150" dirty="0">
                <a:latin typeface="Cambria"/>
                <a:cs typeface="Cambria"/>
              </a:rPr>
              <a:t> </a:t>
            </a:r>
            <a:r>
              <a:rPr b="0" spc="110" dirty="0">
                <a:latin typeface="Cambria"/>
                <a:cs typeface="Cambria"/>
              </a:rPr>
              <a:t>message</a:t>
            </a:r>
            <a:r>
              <a:rPr b="0" spc="135" dirty="0">
                <a:latin typeface="Cambria"/>
                <a:cs typeface="Cambria"/>
              </a:rPr>
              <a:t> </a:t>
            </a:r>
            <a:r>
              <a:rPr b="0" spc="105" dirty="0">
                <a:latin typeface="Cambria"/>
                <a:cs typeface="Cambria"/>
              </a:rPr>
              <a:t>passing </a:t>
            </a:r>
            <a:r>
              <a:rPr b="0" spc="120" dirty="0">
                <a:latin typeface="Cambria"/>
                <a:cs typeface="Cambria"/>
              </a:rPr>
              <a:t>using</a:t>
            </a:r>
            <a:r>
              <a:rPr b="0" spc="165" dirty="0">
                <a:latin typeface="Cambria"/>
                <a:cs typeface="Cambria"/>
              </a:rPr>
              <a:t> </a:t>
            </a:r>
            <a:r>
              <a:rPr b="0" spc="110" dirty="0">
                <a:latin typeface="Cambria"/>
                <a:cs typeface="Cambria"/>
              </a:rPr>
              <a:t>queues</a:t>
            </a:r>
          </a:p>
          <a:p>
            <a:pPr marL="671195" marR="667385" lvl="1" indent="-28130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672465" algn="l"/>
              </a:tabLst>
            </a:pPr>
            <a:r>
              <a:rPr sz="1650" spc="80" dirty="0">
                <a:latin typeface="Cambria"/>
                <a:cs typeface="Cambria"/>
              </a:rPr>
              <a:t>Persistent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non-</a:t>
            </a:r>
            <a:r>
              <a:rPr sz="1650" spc="75" dirty="0">
                <a:latin typeface="Cambria"/>
                <a:cs typeface="Cambria"/>
              </a:rPr>
              <a:t>persistent 	</a:t>
            </a:r>
            <a:r>
              <a:rPr sz="1650" spc="105" dirty="0">
                <a:latin typeface="Cambria"/>
                <a:cs typeface="Cambria"/>
              </a:rPr>
              <a:t>messages</a:t>
            </a:r>
            <a:endParaRPr sz="1650">
              <a:latin typeface="Cambria"/>
              <a:cs typeface="Cambria"/>
            </a:endParaRPr>
          </a:p>
          <a:p>
            <a:pPr marL="671195" marR="860425" lvl="1" indent="-28130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672465" algn="l"/>
              </a:tabLst>
            </a:pPr>
            <a:r>
              <a:rPr sz="1650" spc="110" dirty="0">
                <a:latin typeface="Cambria"/>
                <a:cs typeface="Cambria"/>
              </a:rPr>
              <a:t>Message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priorities,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message 	</a:t>
            </a:r>
            <a:r>
              <a:rPr sz="1650" spc="60" dirty="0">
                <a:latin typeface="Cambria"/>
                <a:cs typeface="Cambria"/>
              </a:rPr>
              <a:t>notification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295910" algn="l"/>
              </a:tabLst>
            </a:pPr>
            <a:r>
              <a:rPr b="0" spc="155" dirty="0">
                <a:latin typeface="Cambria"/>
                <a:cs typeface="Cambria"/>
              </a:rPr>
              <a:t>Queue</a:t>
            </a:r>
            <a:r>
              <a:rPr b="0" spc="135" dirty="0">
                <a:latin typeface="Cambria"/>
                <a:cs typeface="Cambria"/>
              </a:rPr>
              <a:t> </a:t>
            </a:r>
            <a:r>
              <a:rPr b="0" spc="105" dirty="0">
                <a:latin typeface="Cambria"/>
                <a:cs typeface="Cambria"/>
              </a:rPr>
              <a:t>Managers</a:t>
            </a:r>
          </a:p>
          <a:p>
            <a:pPr marL="671830" lvl="1" indent="-281305">
              <a:lnSpc>
                <a:spcPct val="100000"/>
              </a:lnSpc>
              <a:spcBef>
                <a:spcPts val="7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90" dirty="0">
                <a:latin typeface="Cambria"/>
                <a:cs typeface="Cambria"/>
              </a:rPr>
              <a:t>Responsible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22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queues</a:t>
            </a:r>
            <a:endParaRPr sz="1650">
              <a:latin typeface="Cambria"/>
              <a:cs typeface="Cambria"/>
            </a:endParaRPr>
          </a:p>
          <a:p>
            <a:pPr marL="671195" marR="387350" lvl="1" indent="-28130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672465" algn="l"/>
              </a:tabLst>
            </a:pPr>
            <a:r>
              <a:rPr sz="1650" spc="80" dirty="0">
                <a:latin typeface="Cambria"/>
                <a:cs typeface="Cambria"/>
              </a:rPr>
              <a:t>Transfer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messages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from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input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25" dirty="0">
                <a:latin typeface="Cambria"/>
                <a:cs typeface="Cambria"/>
              </a:rPr>
              <a:t>to 	</a:t>
            </a:r>
            <a:r>
              <a:rPr sz="1650" spc="110" dirty="0">
                <a:latin typeface="Cambria"/>
                <a:cs typeface="Cambria"/>
              </a:rPr>
              <a:t>output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queues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90" dirty="0">
                <a:latin typeface="Cambria"/>
                <a:cs typeface="Cambria"/>
              </a:rPr>
              <a:t>Keep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routing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tables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295910" algn="l"/>
              </a:tabLst>
            </a:pPr>
            <a:r>
              <a:rPr b="0" spc="110" dirty="0">
                <a:latin typeface="Cambria"/>
                <a:cs typeface="Cambria"/>
              </a:rPr>
              <a:t>Message</a:t>
            </a:r>
            <a:r>
              <a:rPr b="0" spc="135" dirty="0">
                <a:latin typeface="Cambria"/>
                <a:cs typeface="Cambria"/>
              </a:rPr>
              <a:t> </a:t>
            </a:r>
            <a:r>
              <a:rPr b="0" spc="140" dirty="0">
                <a:latin typeface="Cambria"/>
                <a:cs typeface="Cambria"/>
              </a:rPr>
              <a:t>Channels</a:t>
            </a:r>
          </a:p>
          <a:p>
            <a:pPr marL="671195" marR="5080" lvl="1" indent="-281305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672465" algn="l"/>
              </a:tabLst>
            </a:pPr>
            <a:r>
              <a:rPr sz="1650" spc="80" dirty="0">
                <a:latin typeface="Cambria"/>
                <a:cs typeface="Cambria"/>
              </a:rPr>
              <a:t>Reliable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connections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between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queue 	</a:t>
            </a:r>
            <a:r>
              <a:rPr sz="1650" spc="105" dirty="0">
                <a:latin typeface="Cambria"/>
                <a:cs typeface="Cambria"/>
              </a:rPr>
              <a:t>managers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92720" y="2210780"/>
            <a:ext cx="4747895" cy="38912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180" dirty="0">
                <a:latin typeface="Cambria"/>
                <a:cs typeface="Cambria"/>
              </a:rPr>
              <a:t>Java</a:t>
            </a:r>
            <a:r>
              <a:rPr sz="1650" b="1" spc="185" dirty="0">
                <a:latin typeface="Cambria"/>
                <a:cs typeface="Cambria"/>
              </a:rPr>
              <a:t> </a:t>
            </a:r>
            <a:r>
              <a:rPr sz="1650" b="1" spc="90" dirty="0">
                <a:latin typeface="Cambria"/>
                <a:cs typeface="Cambria"/>
              </a:rPr>
              <a:t>Messaging</a:t>
            </a:r>
            <a:r>
              <a:rPr sz="1650" b="1" spc="200" dirty="0">
                <a:latin typeface="Cambria"/>
                <a:cs typeface="Cambria"/>
              </a:rPr>
              <a:t> </a:t>
            </a:r>
            <a:r>
              <a:rPr sz="1650" b="1" spc="100" dirty="0">
                <a:latin typeface="Cambria"/>
                <a:cs typeface="Cambria"/>
              </a:rPr>
              <a:t>Service</a:t>
            </a:r>
            <a:r>
              <a:rPr sz="1650" b="1" spc="200" dirty="0">
                <a:latin typeface="Cambria"/>
                <a:cs typeface="Cambria"/>
              </a:rPr>
              <a:t> </a:t>
            </a:r>
            <a:r>
              <a:rPr sz="1650" b="1" spc="100" dirty="0">
                <a:latin typeface="Cambria"/>
                <a:cs typeface="Cambria"/>
              </a:rPr>
              <a:t>(JMS)</a:t>
            </a:r>
            <a:endParaRPr sz="1650">
              <a:latin typeface="Cambria"/>
              <a:cs typeface="Cambria"/>
            </a:endParaRPr>
          </a:p>
          <a:p>
            <a:pPr marL="295910" marR="1137285" indent="-283845">
              <a:lnSpc>
                <a:spcPct val="100000"/>
              </a:lnSpc>
              <a:spcBef>
                <a:spcPts val="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60" dirty="0">
                <a:latin typeface="Cambria"/>
                <a:cs typeface="Cambria"/>
              </a:rPr>
              <a:t>API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specification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access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55" dirty="0">
                <a:latin typeface="Cambria"/>
                <a:cs typeface="Cambria"/>
              </a:rPr>
              <a:t>MOM </a:t>
            </a:r>
            <a:r>
              <a:rPr sz="1650" spc="85" dirty="0">
                <a:latin typeface="Cambria"/>
                <a:cs typeface="Cambria"/>
              </a:rPr>
              <a:t>implementations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latin typeface="Cambria"/>
                <a:cs typeface="Cambria"/>
              </a:rPr>
              <a:t>Two</a:t>
            </a:r>
            <a:r>
              <a:rPr sz="1650" spc="22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modes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operation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*specified*:</a:t>
            </a:r>
            <a:endParaRPr sz="1650">
              <a:latin typeface="Cambria"/>
              <a:cs typeface="Cambria"/>
            </a:endParaRPr>
          </a:p>
          <a:p>
            <a:pPr marL="295910" marR="5080" indent="-28384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b="1" spc="85" dirty="0">
                <a:latin typeface="Cambria"/>
                <a:cs typeface="Cambria"/>
              </a:rPr>
              <a:t>Point-</a:t>
            </a:r>
            <a:r>
              <a:rPr sz="1650" b="1" spc="90" dirty="0">
                <a:latin typeface="Cambria"/>
                <a:cs typeface="Cambria"/>
              </a:rPr>
              <a:t>to-</a:t>
            </a:r>
            <a:r>
              <a:rPr sz="1650" b="1" spc="95" dirty="0">
                <a:latin typeface="Cambria"/>
                <a:cs typeface="Cambria"/>
              </a:rPr>
              <a:t>point:</a:t>
            </a:r>
            <a:r>
              <a:rPr sz="1650" b="1" spc="14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one-</a:t>
            </a:r>
            <a:r>
              <a:rPr sz="1650" spc="70" dirty="0">
                <a:latin typeface="Cambria"/>
                <a:cs typeface="Cambria"/>
              </a:rPr>
              <a:t>to-</a:t>
            </a:r>
            <a:r>
              <a:rPr sz="1650" spc="85" dirty="0">
                <a:latin typeface="Cambria"/>
                <a:cs typeface="Cambria"/>
              </a:rPr>
              <a:t>one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communication </a:t>
            </a:r>
            <a:r>
              <a:rPr sz="1650" spc="120" dirty="0">
                <a:latin typeface="Cambria"/>
                <a:cs typeface="Cambria"/>
              </a:rPr>
              <a:t>using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queues</a:t>
            </a:r>
            <a:endParaRPr sz="1650">
              <a:latin typeface="Cambria"/>
              <a:cs typeface="Cambria"/>
            </a:endParaRPr>
          </a:p>
          <a:p>
            <a:pPr marL="295910" marR="958215" indent="-28384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295910" algn="l"/>
                <a:tab pos="2480945" algn="l"/>
              </a:tabLst>
            </a:pPr>
            <a:r>
              <a:rPr sz="1650" b="1" spc="70" dirty="0">
                <a:latin typeface="Cambria"/>
                <a:cs typeface="Cambria"/>
              </a:rPr>
              <a:t>Publish/Subscribe:</a:t>
            </a:r>
            <a:r>
              <a:rPr sz="1650" b="1" dirty="0">
                <a:latin typeface="Cambria"/>
                <a:cs typeface="Cambria"/>
              </a:rPr>
              <a:t>	</a:t>
            </a:r>
            <a:r>
              <a:rPr sz="1650" spc="105" dirty="0">
                <a:latin typeface="Cambria"/>
                <a:cs typeface="Cambria"/>
              </a:rPr>
              <a:t>Event-</a:t>
            </a:r>
            <a:r>
              <a:rPr sz="1650" spc="120" dirty="0">
                <a:latin typeface="Cambria"/>
                <a:cs typeface="Cambria"/>
              </a:rPr>
              <a:t>Based </a:t>
            </a:r>
            <a:r>
              <a:rPr sz="1650" spc="65" dirty="0">
                <a:latin typeface="Cambria"/>
                <a:cs typeface="Cambria"/>
              </a:rPr>
              <a:t>Middleware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305" dirty="0">
                <a:latin typeface="Cambria"/>
                <a:cs typeface="Cambria"/>
              </a:rPr>
              <a:t>JMS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Server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implements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310" dirty="0">
                <a:latin typeface="Cambria"/>
                <a:cs typeface="Cambria"/>
              </a:rPr>
              <a:t>JMS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35" dirty="0">
                <a:latin typeface="Cambria"/>
                <a:cs typeface="Cambria"/>
              </a:rPr>
              <a:t>API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305" dirty="0">
                <a:latin typeface="Cambria"/>
                <a:cs typeface="Cambria"/>
              </a:rPr>
              <a:t>JMS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Clients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connect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305" dirty="0">
                <a:latin typeface="Cambria"/>
                <a:cs typeface="Cambria"/>
              </a:rPr>
              <a:t>JMS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servers</a:t>
            </a:r>
            <a:endParaRPr sz="1650">
              <a:latin typeface="Cambria"/>
              <a:cs typeface="Cambria"/>
            </a:endParaRPr>
          </a:p>
          <a:p>
            <a:pPr marL="295910" marR="617855" indent="-28384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200" dirty="0">
                <a:latin typeface="Cambria"/>
                <a:cs typeface="Cambria"/>
              </a:rPr>
              <a:t>Java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objects</a:t>
            </a:r>
            <a:r>
              <a:rPr sz="1650" spc="120" dirty="0">
                <a:latin typeface="Cambria"/>
                <a:cs typeface="Cambria"/>
              </a:rPr>
              <a:t> </a:t>
            </a:r>
            <a:r>
              <a:rPr sz="1650" spc="150" dirty="0">
                <a:latin typeface="Cambria"/>
                <a:cs typeface="Cambria"/>
              </a:rPr>
              <a:t>can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serialised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280" dirty="0">
                <a:latin typeface="Cambria"/>
                <a:cs typeface="Cambria"/>
              </a:rPr>
              <a:t>JMS </a:t>
            </a:r>
            <a:r>
              <a:rPr sz="1650" spc="105" dirty="0">
                <a:latin typeface="Cambria"/>
                <a:cs typeface="Cambria"/>
              </a:rPr>
              <a:t>messages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90" dirty="0">
                <a:latin typeface="Cambria"/>
                <a:cs typeface="Cambria"/>
              </a:rPr>
              <a:t>A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305" dirty="0">
                <a:latin typeface="Cambria"/>
                <a:cs typeface="Cambria"/>
              </a:rPr>
              <a:t>JMS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interface</a:t>
            </a:r>
            <a:r>
              <a:rPr sz="1650" spc="155" dirty="0">
                <a:latin typeface="Cambria"/>
                <a:cs typeface="Cambria"/>
              </a:rPr>
              <a:t> has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been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provided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85" dirty="0">
                <a:latin typeface="Cambria"/>
                <a:cs typeface="Cambria"/>
              </a:rPr>
              <a:t>MQ</a:t>
            </a:r>
            <a:endParaRPr sz="1650">
              <a:latin typeface="Cambria"/>
              <a:cs typeface="Cambria"/>
            </a:endParaRPr>
          </a:p>
          <a:p>
            <a:pPr marL="295910" marR="1240790" indent="-283845">
              <a:lnSpc>
                <a:spcPct val="100000"/>
              </a:lnSpc>
              <a:spcBef>
                <a:spcPts val="8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50" dirty="0">
                <a:latin typeface="Cambria"/>
                <a:cs typeface="Cambria"/>
              </a:rPr>
              <a:t>pub/sub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(one-</a:t>
            </a:r>
            <a:r>
              <a:rPr sz="1650" spc="65" dirty="0">
                <a:latin typeface="Cambria"/>
                <a:cs typeface="Cambria"/>
              </a:rPr>
              <a:t>to-</a:t>
            </a:r>
            <a:r>
              <a:rPr sz="1650" spc="85" dirty="0">
                <a:latin typeface="Cambria"/>
                <a:cs typeface="Cambria"/>
              </a:rPr>
              <a:t>many)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-</a:t>
            </a:r>
            <a:r>
              <a:rPr sz="1650" spc="24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just</a:t>
            </a:r>
            <a:r>
              <a:rPr sz="1650" spc="220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a </a:t>
            </a:r>
            <a:r>
              <a:rPr sz="1650" spc="80" dirty="0">
                <a:latin typeface="Cambria"/>
                <a:cs typeface="Cambria"/>
              </a:rPr>
              <a:t>specification?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362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210" dirty="0"/>
              <a:t>MOM</a:t>
            </a:r>
            <a:r>
              <a:rPr spc="80" dirty="0"/>
              <a:t> </a:t>
            </a:r>
            <a:r>
              <a:rPr spc="70" dirty="0"/>
              <a:t>-</a:t>
            </a:r>
            <a:r>
              <a:rPr spc="100" dirty="0"/>
              <a:t> </a:t>
            </a:r>
            <a:r>
              <a:rPr spc="60" dirty="0"/>
              <a:t>Disadvantages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3629" y="2248222"/>
            <a:ext cx="6583045" cy="273875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1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latin typeface="Cambria"/>
                <a:cs typeface="Cambria"/>
              </a:rPr>
              <a:t>Poor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programming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abstraction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(but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155" dirty="0">
                <a:latin typeface="Cambria"/>
                <a:cs typeface="Cambria"/>
              </a:rPr>
              <a:t>has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-10" dirty="0">
                <a:latin typeface="Cambria"/>
                <a:cs typeface="Cambria"/>
              </a:rPr>
              <a:t>evolved)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00" dirty="0">
                <a:latin typeface="Cambria"/>
                <a:cs typeface="Cambria"/>
              </a:rPr>
              <a:t>Rather</a:t>
            </a:r>
            <a:r>
              <a:rPr sz="1650" spc="23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low-</a:t>
            </a:r>
            <a:r>
              <a:rPr sz="1650" dirty="0">
                <a:latin typeface="Cambria"/>
                <a:cs typeface="Cambria"/>
              </a:rPr>
              <a:t>level</a:t>
            </a:r>
            <a:r>
              <a:rPr sz="1650" spc="21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(cf.</a:t>
            </a:r>
            <a:r>
              <a:rPr sz="1650" spc="24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Packets)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90" dirty="0">
                <a:latin typeface="Cambria"/>
                <a:cs typeface="Cambria"/>
              </a:rPr>
              <a:t>Request/reply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more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difficult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achieve,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but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50" dirty="0">
                <a:latin typeface="Cambria"/>
                <a:cs typeface="Cambria"/>
              </a:rPr>
              <a:t>can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be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done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10" dirty="0">
                <a:latin typeface="Cambria"/>
                <a:cs typeface="Cambria"/>
              </a:rPr>
              <a:t>Message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formats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originally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unknown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middleware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65" dirty="0">
                <a:latin typeface="Cambria"/>
                <a:cs typeface="Cambria"/>
              </a:rPr>
              <a:t>No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type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checking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90" dirty="0">
                <a:latin typeface="Cambria"/>
                <a:cs typeface="Cambria"/>
              </a:rPr>
              <a:t>(JMS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addresses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this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–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implementation?)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55" dirty="0">
                <a:latin typeface="Cambria"/>
                <a:cs typeface="Cambria"/>
              </a:rPr>
              <a:t>Queue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abstraction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only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gives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one-</a:t>
            </a:r>
            <a:r>
              <a:rPr sz="1650" spc="60" dirty="0">
                <a:latin typeface="Cambria"/>
                <a:cs typeface="Cambria"/>
              </a:rPr>
              <a:t>to-</a:t>
            </a:r>
            <a:r>
              <a:rPr sz="1650" spc="85" dirty="0">
                <a:latin typeface="Cambria"/>
                <a:cs typeface="Cambria"/>
              </a:rPr>
              <a:t>one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communication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85" dirty="0">
                <a:latin typeface="Cambria"/>
                <a:cs typeface="Cambria"/>
              </a:rPr>
              <a:t>Limits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scalability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95" dirty="0">
                <a:latin typeface="Cambria"/>
                <a:cs typeface="Cambria"/>
              </a:rPr>
              <a:t>(JMS</a:t>
            </a:r>
            <a:r>
              <a:rPr sz="1650" spc="155" dirty="0">
                <a:latin typeface="Cambria"/>
                <a:cs typeface="Cambria"/>
              </a:rPr>
              <a:t> pub/sub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–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implementation?)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362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dirty="0"/>
              <a:t>Web</a:t>
            </a:r>
            <a:r>
              <a:rPr spc="-20" dirty="0"/>
              <a:t> </a:t>
            </a:r>
            <a:r>
              <a:rPr spc="85" dirty="0"/>
              <a:t>Services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473" y="2299198"/>
            <a:ext cx="5034280" cy="405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6350" indent="-28384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35" dirty="0">
                <a:latin typeface="Cambria"/>
                <a:cs typeface="Cambria"/>
              </a:rPr>
              <a:t>Use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well-</a:t>
            </a:r>
            <a:r>
              <a:rPr sz="1650" spc="105" dirty="0">
                <a:latin typeface="Cambria"/>
                <a:cs typeface="Cambria"/>
              </a:rPr>
              <a:t>known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web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standards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distributed </a:t>
            </a:r>
            <a:r>
              <a:rPr sz="1650" spc="100" dirty="0">
                <a:latin typeface="Cambria"/>
                <a:cs typeface="Cambria"/>
              </a:rPr>
              <a:t>computing</a:t>
            </a:r>
            <a:endParaRPr sz="16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Wingdings"/>
              <a:buChar char=""/>
            </a:pP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ts val="1975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b="1" spc="114" dirty="0">
                <a:latin typeface="Cambria"/>
                <a:cs typeface="Cambria"/>
              </a:rPr>
              <a:t>Communication</a:t>
            </a:r>
            <a:endParaRPr sz="1650">
              <a:latin typeface="Cambria"/>
              <a:cs typeface="Cambria"/>
            </a:endParaRPr>
          </a:p>
          <a:p>
            <a:pPr marL="553720" lvl="1" indent="-163195">
              <a:lnSpc>
                <a:spcPts val="1975"/>
              </a:lnSpc>
              <a:buChar char="•"/>
              <a:tabLst>
                <a:tab pos="553720" algn="l"/>
              </a:tabLst>
            </a:pPr>
            <a:r>
              <a:rPr sz="1650" spc="110" dirty="0">
                <a:latin typeface="Cambria"/>
                <a:cs typeface="Cambria"/>
              </a:rPr>
              <a:t>Message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content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expressed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b="1" spc="150" dirty="0">
                <a:latin typeface="Cambria"/>
                <a:cs typeface="Cambria"/>
              </a:rPr>
              <a:t>XML</a:t>
            </a:r>
            <a:endParaRPr sz="1650">
              <a:latin typeface="Cambria"/>
              <a:cs typeface="Cambria"/>
            </a:endParaRPr>
          </a:p>
          <a:p>
            <a:pPr marL="552450" lvl="1" indent="-161925">
              <a:lnSpc>
                <a:spcPct val="100000"/>
              </a:lnSpc>
              <a:buFont typeface="Cambria"/>
              <a:buChar char="•"/>
              <a:tabLst>
                <a:tab pos="552450" algn="l"/>
              </a:tabLst>
            </a:pPr>
            <a:r>
              <a:rPr sz="1650" b="1" spc="105" dirty="0">
                <a:latin typeface="Cambria"/>
                <a:cs typeface="Cambria"/>
              </a:rPr>
              <a:t>S</a:t>
            </a:r>
            <a:r>
              <a:rPr sz="1650" spc="105" dirty="0">
                <a:latin typeface="Cambria"/>
                <a:cs typeface="Cambria"/>
              </a:rPr>
              <a:t>imple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b="1" spc="100" dirty="0">
                <a:latin typeface="Cambria"/>
                <a:cs typeface="Cambria"/>
              </a:rPr>
              <a:t>O</a:t>
            </a:r>
            <a:r>
              <a:rPr sz="1650" spc="100" dirty="0">
                <a:latin typeface="Cambria"/>
                <a:cs typeface="Cambria"/>
              </a:rPr>
              <a:t>bject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b="1" spc="114" dirty="0">
                <a:latin typeface="Cambria"/>
                <a:cs typeface="Cambria"/>
              </a:rPr>
              <a:t>A</a:t>
            </a:r>
            <a:r>
              <a:rPr sz="1650" spc="114" dirty="0">
                <a:latin typeface="Cambria"/>
                <a:cs typeface="Cambria"/>
              </a:rPr>
              <a:t>ccess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b="1" spc="50" dirty="0">
                <a:latin typeface="Cambria"/>
                <a:cs typeface="Cambria"/>
              </a:rPr>
              <a:t>P</a:t>
            </a:r>
            <a:r>
              <a:rPr sz="1650" spc="50" dirty="0">
                <a:latin typeface="Cambria"/>
                <a:cs typeface="Cambria"/>
              </a:rPr>
              <a:t>rotocol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-10" dirty="0">
                <a:latin typeface="Cambria"/>
                <a:cs typeface="Cambria"/>
              </a:rPr>
              <a:t>(</a:t>
            </a:r>
            <a:r>
              <a:rPr sz="1650" b="1" spc="-10" dirty="0">
                <a:latin typeface="Cambria"/>
                <a:cs typeface="Cambria"/>
              </a:rPr>
              <a:t>SOAP</a:t>
            </a:r>
            <a:r>
              <a:rPr sz="1650" spc="-10" dirty="0">
                <a:latin typeface="Cambria"/>
                <a:cs typeface="Cambria"/>
              </a:rPr>
              <a:t>)</a:t>
            </a:r>
            <a:endParaRPr sz="1650">
              <a:latin typeface="Cambria"/>
              <a:cs typeface="Cambria"/>
            </a:endParaRPr>
          </a:p>
          <a:p>
            <a:pPr marL="766445" marR="405765" lvl="2" indent="172085">
              <a:lnSpc>
                <a:spcPct val="100000"/>
              </a:lnSpc>
              <a:buChar char="–"/>
              <a:tabLst>
                <a:tab pos="938530" algn="l"/>
              </a:tabLst>
            </a:pPr>
            <a:r>
              <a:rPr sz="1650" spc="75" dirty="0">
                <a:latin typeface="Cambria"/>
                <a:cs typeface="Cambria"/>
              </a:rPr>
              <a:t>Lightweight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protocol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sync/async </a:t>
            </a:r>
            <a:r>
              <a:rPr sz="1650" spc="105" dirty="0">
                <a:latin typeface="Cambria"/>
                <a:cs typeface="Cambria"/>
              </a:rPr>
              <a:t>communication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ts val="1975"/>
              </a:lnSpc>
              <a:spcBef>
                <a:spcPts val="1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b="1" spc="100" dirty="0">
                <a:latin typeface="Cambria"/>
                <a:cs typeface="Cambria"/>
              </a:rPr>
              <a:t>Service</a:t>
            </a:r>
            <a:r>
              <a:rPr sz="1650" b="1" spc="200" dirty="0">
                <a:latin typeface="Cambria"/>
                <a:cs typeface="Cambria"/>
              </a:rPr>
              <a:t> </a:t>
            </a:r>
            <a:r>
              <a:rPr sz="1650" b="1" spc="80" dirty="0">
                <a:latin typeface="Cambria"/>
                <a:cs typeface="Cambria"/>
              </a:rPr>
              <a:t>Description</a:t>
            </a:r>
            <a:endParaRPr sz="1650">
              <a:latin typeface="Cambria"/>
              <a:cs typeface="Cambria"/>
            </a:endParaRPr>
          </a:p>
          <a:p>
            <a:pPr marL="552450" lvl="1" indent="-161925">
              <a:lnSpc>
                <a:spcPts val="1975"/>
              </a:lnSpc>
              <a:buFont typeface="Cambria"/>
              <a:buChar char="•"/>
              <a:tabLst>
                <a:tab pos="552450" algn="l"/>
              </a:tabLst>
            </a:pPr>
            <a:r>
              <a:rPr sz="1650" b="1" spc="55" dirty="0">
                <a:latin typeface="Cambria"/>
                <a:cs typeface="Cambria"/>
              </a:rPr>
              <a:t>W</a:t>
            </a:r>
            <a:r>
              <a:rPr sz="1650" spc="55" dirty="0">
                <a:latin typeface="Cambria"/>
                <a:cs typeface="Cambria"/>
              </a:rPr>
              <a:t>eb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b="1" spc="85" dirty="0">
                <a:latin typeface="Cambria"/>
                <a:cs typeface="Cambria"/>
              </a:rPr>
              <a:t>S</a:t>
            </a:r>
            <a:r>
              <a:rPr sz="1650" spc="85" dirty="0">
                <a:latin typeface="Cambria"/>
                <a:cs typeface="Cambria"/>
              </a:rPr>
              <a:t>ervices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b="1" spc="80" dirty="0">
                <a:latin typeface="Cambria"/>
                <a:cs typeface="Cambria"/>
              </a:rPr>
              <a:t>D</a:t>
            </a:r>
            <a:r>
              <a:rPr sz="1650" spc="80" dirty="0">
                <a:latin typeface="Cambria"/>
                <a:cs typeface="Cambria"/>
              </a:rPr>
              <a:t>escription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b="1" spc="130" dirty="0">
                <a:latin typeface="Cambria"/>
                <a:cs typeface="Cambria"/>
              </a:rPr>
              <a:t>L</a:t>
            </a:r>
            <a:r>
              <a:rPr sz="1650" spc="130" dirty="0">
                <a:latin typeface="Cambria"/>
                <a:cs typeface="Cambria"/>
              </a:rPr>
              <a:t>anguage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-10" dirty="0">
                <a:latin typeface="Cambria"/>
                <a:cs typeface="Cambria"/>
              </a:rPr>
              <a:t>(</a:t>
            </a:r>
            <a:r>
              <a:rPr sz="1650" b="1" spc="-10" dirty="0">
                <a:latin typeface="Cambria"/>
                <a:cs typeface="Cambria"/>
              </a:rPr>
              <a:t>WSDL</a:t>
            </a:r>
            <a:r>
              <a:rPr sz="1650" spc="-10" dirty="0">
                <a:latin typeface="Cambria"/>
                <a:cs typeface="Cambria"/>
              </a:rPr>
              <a:t>)</a:t>
            </a:r>
            <a:endParaRPr sz="1650">
              <a:latin typeface="Cambria"/>
              <a:cs typeface="Cambria"/>
            </a:endParaRPr>
          </a:p>
          <a:p>
            <a:pPr marL="938530" lvl="2" indent="-172085">
              <a:lnSpc>
                <a:spcPct val="100000"/>
              </a:lnSpc>
              <a:buChar char="–"/>
              <a:tabLst>
                <a:tab pos="938530" algn="l"/>
              </a:tabLst>
            </a:pPr>
            <a:r>
              <a:rPr sz="1650" spc="75" dirty="0">
                <a:latin typeface="Cambria"/>
                <a:cs typeface="Cambria"/>
              </a:rPr>
              <a:t>Interface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description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web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services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ts val="1975"/>
              </a:lnSpc>
              <a:spcBef>
                <a:spcPts val="1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b="1" spc="100" dirty="0">
                <a:latin typeface="Cambria"/>
                <a:cs typeface="Cambria"/>
              </a:rPr>
              <a:t>Service</a:t>
            </a:r>
            <a:r>
              <a:rPr sz="1650" b="1" spc="200" dirty="0">
                <a:latin typeface="Cambria"/>
                <a:cs typeface="Cambria"/>
              </a:rPr>
              <a:t> </a:t>
            </a:r>
            <a:r>
              <a:rPr sz="1650" b="1" spc="85" dirty="0">
                <a:latin typeface="Cambria"/>
                <a:cs typeface="Cambria"/>
              </a:rPr>
              <a:t>Discovery</a:t>
            </a:r>
            <a:endParaRPr sz="1650">
              <a:latin typeface="Cambria"/>
              <a:cs typeface="Cambria"/>
            </a:endParaRPr>
          </a:p>
          <a:p>
            <a:pPr marL="552450" lvl="1" indent="-161925">
              <a:lnSpc>
                <a:spcPts val="1975"/>
              </a:lnSpc>
              <a:buFont typeface="Cambria"/>
              <a:buChar char="•"/>
              <a:tabLst>
                <a:tab pos="552450" algn="l"/>
              </a:tabLst>
            </a:pPr>
            <a:r>
              <a:rPr sz="1650" b="1" spc="80" dirty="0">
                <a:latin typeface="Cambria"/>
                <a:cs typeface="Cambria"/>
              </a:rPr>
              <a:t>U</a:t>
            </a:r>
            <a:r>
              <a:rPr sz="1650" spc="80" dirty="0">
                <a:latin typeface="Cambria"/>
                <a:cs typeface="Cambria"/>
              </a:rPr>
              <a:t>niversal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b="1" spc="80" dirty="0">
                <a:latin typeface="Cambria"/>
                <a:cs typeface="Cambria"/>
              </a:rPr>
              <a:t>D</a:t>
            </a:r>
            <a:r>
              <a:rPr sz="1650" spc="80" dirty="0">
                <a:latin typeface="Cambria"/>
                <a:cs typeface="Cambria"/>
              </a:rPr>
              <a:t>escription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b="1" spc="65" dirty="0">
                <a:latin typeface="Cambria"/>
                <a:cs typeface="Cambria"/>
              </a:rPr>
              <a:t>D</a:t>
            </a:r>
            <a:r>
              <a:rPr sz="1650" spc="65" dirty="0">
                <a:latin typeface="Cambria"/>
                <a:cs typeface="Cambria"/>
              </a:rPr>
              <a:t>iscovery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and</a:t>
            </a:r>
            <a:endParaRPr sz="1650">
              <a:latin typeface="Cambria"/>
              <a:cs typeface="Cambria"/>
            </a:endParaRPr>
          </a:p>
          <a:p>
            <a:pPr marL="390525">
              <a:lnSpc>
                <a:spcPct val="100000"/>
              </a:lnSpc>
            </a:pPr>
            <a:r>
              <a:rPr sz="1650" b="1" spc="80" dirty="0">
                <a:latin typeface="Cambria"/>
                <a:cs typeface="Cambria"/>
              </a:rPr>
              <a:t>I</a:t>
            </a:r>
            <a:r>
              <a:rPr sz="1650" spc="80" dirty="0">
                <a:latin typeface="Cambria"/>
                <a:cs typeface="Cambria"/>
              </a:rPr>
              <a:t>ntegration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-10" dirty="0">
                <a:latin typeface="Cambria"/>
                <a:cs typeface="Cambria"/>
              </a:rPr>
              <a:t>(</a:t>
            </a:r>
            <a:r>
              <a:rPr sz="1650" b="1" spc="-10" dirty="0">
                <a:latin typeface="Cambria"/>
                <a:cs typeface="Cambria"/>
              </a:rPr>
              <a:t>UDDI</a:t>
            </a:r>
            <a:r>
              <a:rPr sz="1650" spc="-10" dirty="0">
                <a:latin typeface="Cambria"/>
                <a:cs typeface="Cambria"/>
              </a:rPr>
              <a:t>)</a:t>
            </a:r>
            <a:endParaRPr sz="1650">
              <a:latin typeface="Cambria"/>
              <a:cs typeface="Cambria"/>
            </a:endParaRPr>
          </a:p>
          <a:p>
            <a:pPr marL="766445" marR="191135" lvl="2" indent="172085">
              <a:lnSpc>
                <a:spcPct val="100000"/>
              </a:lnSpc>
              <a:buChar char="–"/>
              <a:tabLst>
                <a:tab pos="938530" algn="l"/>
              </a:tabLst>
            </a:pPr>
            <a:r>
              <a:rPr sz="1650" spc="70" dirty="0">
                <a:latin typeface="Cambria"/>
                <a:cs typeface="Cambria"/>
              </a:rPr>
              <a:t>Directory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with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web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service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description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WSDL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45649" y="2238301"/>
            <a:ext cx="4489450" cy="3928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spc="60" dirty="0">
                <a:latin typeface="Cambria"/>
                <a:cs typeface="Cambria"/>
              </a:rPr>
              <a:t>Properties</a:t>
            </a:r>
            <a:r>
              <a:rPr sz="1650" b="1" spc="225" dirty="0">
                <a:latin typeface="Cambria"/>
                <a:cs typeface="Cambria"/>
              </a:rPr>
              <a:t> </a:t>
            </a:r>
            <a:r>
              <a:rPr sz="1650" b="1" spc="85" dirty="0">
                <a:latin typeface="Cambria"/>
                <a:cs typeface="Cambria"/>
              </a:rPr>
              <a:t>of</a:t>
            </a:r>
            <a:r>
              <a:rPr sz="1650" b="1" spc="210" dirty="0">
                <a:latin typeface="Cambria"/>
                <a:cs typeface="Cambria"/>
              </a:rPr>
              <a:t> </a:t>
            </a:r>
            <a:r>
              <a:rPr sz="1650" b="1" dirty="0">
                <a:latin typeface="Cambria"/>
                <a:cs typeface="Cambria"/>
              </a:rPr>
              <a:t>Web</a:t>
            </a:r>
            <a:r>
              <a:rPr sz="1650" b="1" spc="200" dirty="0">
                <a:latin typeface="Cambria"/>
                <a:cs typeface="Cambria"/>
              </a:rPr>
              <a:t> </a:t>
            </a:r>
            <a:r>
              <a:rPr sz="1650" b="1" spc="90" dirty="0">
                <a:latin typeface="Cambria"/>
                <a:cs typeface="Cambria"/>
              </a:rPr>
              <a:t>Services</a:t>
            </a:r>
            <a:endParaRPr sz="1650">
              <a:latin typeface="Cambria"/>
              <a:cs typeface="Cambria"/>
            </a:endParaRPr>
          </a:p>
          <a:p>
            <a:pPr marL="295910" marR="820419" indent="-283845">
              <a:lnSpc>
                <a:spcPct val="100000"/>
              </a:lnSpc>
              <a:spcBef>
                <a:spcPts val="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20" dirty="0">
                <a:latin typeface="Cambria"/>
                <a:cs typeface="Cambria"/>
              </a:rPr>
              <a:t>Language-</a:t>
            </a:r>
            <a:r>
              <a:rPr sz="1650" spc="90" dirty="0">
                <a:latin typeface="Cambria"/>
                <a:cs typeface="Cambria"/>
              </a:rPr>
              <a:t>independent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open </a:t>
            </a:r>
            <a:r>
              <a:rPr sz="1650" spc="105" dirty="0">
                <a:latin typeface="Cambria"/>
                <a:cs typeface="Cambria"/>
              </a:rPr>
              <a:t>standard</a:t>
            </a:r>
            <a:endParaRPr sz="1650">
              <a:latin typeface="Cambria"/>
              <a:cs typeface="Cambria"/>
            </a:endParaRPr>
          </a:p>
          <a:p>
            <a:pPr marL="295910" marR="746760" indent="-283845">
              <a:lnSpc>
                <a:spcPct val="100000"/>
              </a:lnSpc>
              <a:spcBef>
                <a:spcPts val="8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70" dirty="0">
                <a:latin typeface="Cambria"/>
                <a:cs typeface="Cambria"/>
              </a:rPr>
              <a:t>SOAP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offers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215" dirty="0">
                <a:latin typeface="Cambria"/>
                <a:cs typeface="Cambria"/>
              </a:rPr>
              <a:t>OOM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70" dirty="0">
                <a:latin typeface="Cambria"/>
                <a:cs typeface="Cambria"/>
              </a:rPr>
              <a:t>MOM-</a:t>
            </a:r>
            <a:r>
              <a:rPr sz="1650" spc="50" dirty="0">
                <a:latin typeface="Cambria"/>
                <a:cs typeface="Cambria"/>
              </a:rPr>
              <a:t>style </a:t>
            </a:r>
            <a:r>
              <a:rPr sz="1650" spc="100" dirty="0">
                <a:latin typeface="Cambria"/>
                <a:cs typeface="Cambria"/>
              </a:rPr>
              <a:t>communication:</a:t>
            </a:r>
            <a:endParaRPr sz="1650">
              <a:latin typeface="Cambria"/>
              <a:cs typeface="Cambria"/>
            </a:endParaRPr>
          </a:p>
          <a:p>
            <a:pPr marL="672465" lvl="1" indent="-281940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130" dirty="0">
                <a:latin typeface="Cambria"/>
                <a:cs typeface="Cambria"/>
              </a:rPr>
              <a:t>Synchronous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spc="90" dirty="0">
                <a:latin typeface="Cambria"/>
                <a:cs typeface="Cambria"/>
              </a:rPr>
              <a:t>request/reply</a:t>
            </a:r>
            <a:r>
              <a:rPr sz="1450" spc="120" dirty="0">
                <a:latin typeface="Cambria"/>
                <a:cs typeface="Cambria"/>
              </a:rPr>
              <a:t> </a:t>
            </a:r>
            <a:r>
              <a:rPr sz="1450" spc="75" dirty="0">
                <a:latin typeface="Cambria"/>
                <a:cs typeface="Cambria"/>
              </a:rPr>
              <a:t>like</a:t>
            </a:r>
            <a:r>
              <a:rPr sz="1450" spc="165" dirty="0">
                <a:latin typeface="Cambria"/>
                <a:cs typeface="Cambria"/>
              </a:rPr>
              <a:t> </a:t>
            </a:r>
            <a:r>
              <a:rPr sz="1450" spc="190" dirty="0">
                <a:latin typeface="Cambria"/>
                <a:cs typeface="Cambria"/>
              </a:rPr>
              <a:t>OOM</a:t>
            </a:r>
            <a:endParaRPr sz="1450">
              <a:latin typeface="Cambria"/>
              <a:cs typeface="Cambria"/>
            </a:endParaRPr>
          </a:p>
          <a:p>
            <a:pPr marL="672465" lvl="1" indent="-281940">
              <a:lnSpc>
                <a:spcPct val="100000"/>
              </a:lnSpc>
              <a:spcBef>
                <a:spcPts val="120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114" dirty="0">
                <a:latin typeface="Cambria"/>
                <a:cs typeface="Cambria"/>
              </a:rPr>
              <a:t>Asynchronous</a:t>
            </a:r>
            <a:r>
              <a:rPr sz="1450" spc="180" dirty="0">
                <a:latin typeface="Cambria"/>
                <a:cs typeface="Cambria"/>
              </a:rPr>
              <a:t> </a:t>
            </a:r>
            <a:r>
              <a:rPr sz="1450" spc="114" dirty="0">
                <a:latin typeface="Cambria"/>
                <a:cs typeface="Cambria"/>
              </a:rPr>
              <a:t>messaging</a:t>
            </a:r>
            <a:r>
              <a:rPr sz="1450" spc="150" dirty="0">
                <a:latin typeface="Cambria"/>
                <a:cs typeface="Cambria"/>
              </a:rPr>
              <a:t> </a:t>
            </a:r>
            <a:r>
              <a:rPr sz="1450" spc="75" dirty="0">
                <a:latin typeface="Cambria"/>
                <a:cs typeface="Cambria"/>
              </a:rPr>
              <a:t>like</a:t>
            </a:r>
            <a:r>
              <a:rPr sz="1450" spc="180" dirty="0">
                <a:latin typeface="Cambria"/>
                <a:cs typeface="Cambria"/>
              </a:rPr>
              <a:t> </a:t>
            </a:r>
            <a:r>
              <a:rPr sz="1450" spc="170" dirty="0">
                <a:latin typeface="Cambria"/>
                <a:cs typeface="Cambria"/>
              </a:rPr>
              <a:t>MOM</a:t>
            </a:r>
            <a:endParaRPr sz="1450">
              <a:latin typeface="Cambria"/>
              <a:cs typeface="Cambria"/>
            </a:endParaRPr>
          </a:p>
          <a:p>
            <a:pPr marL="672465" lvl="1" indent="-281940">
              <a:lnSpc>
                <a:spcPct val="100000"/>
              </a:lnSpc>
              <a:spcBef>
                <a:spcPts val="120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120" dirty="0">
                <a:latin typeface="Cambria"/>
                <a:cs typeface="Cambria"/>
              </a:rPr>
              <a:t>Supports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85" dirty="0">
                <a:latin typeface="Cambria"/>
                <a:cs typeface="Cambria"/>
              </a:rPr>
              <a:t>internet</a:t>
            </a:r>
            <a:r>
              <a:rPr sz="1450" spc="145" dirty="0">
                <a:latin typeface="Cambria"/>
                <a:cs typeface="Cambria"/>
              </a:rPr>
              <a:t> </a:t>
            </a:r>
            <a:r>
              <a:rPr sz="1450" spc="95" dirty="0">
                <a:latin typeface="Cambria"/>
                <a:cs typeface="Cambria"/>
              </a:rPr>
              <a:t>transports</a:t>
            </a:r>
            <a:r>
              <a:rPr sz="1450" spc="155" dirty="0">
                <a:latin typeface="Cambria"/>
                <a:cs typeface="Cambria"/>
              </a:rPr>
              <a:t> </a:t>
            </a:r>
            <a:r>
              <a:rPr sz="1450" spc="80" dirty="0">
                <a:latin typeface="Cambria"/>
                <a:cs typeface="Cambria"/>
              </a:rPr>
              <a:t>(http,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120" dirty="0">
                <a:latin typeface="Cambria"/>
                <a:cs typeface="Cambria"/>
              </a:rPr>
              <a:t>smtp,</a:t>
            </a:r>
            <a:endParaRPr sz="1450">
              <a:latin typeface="Cambria"/>
              <a:cs typeface="Cambria"/>
            </a:endParaRPr>
          </a:p>
          <a:p>
            <a:pPr marL="672465">
              <a:lnSpc>
                <a:spcPct val="100000"/>
              </a:lnSpc>
              <a:spcBef>
                <a:spcPts val="45"/>
              </a:spcBef>
            </a:pPr>
            <a:r>
              <a:rPr sz="1450" spc="85" dirty="0">
                <a:latin typeface="Cambria"/>
                <a:cs typeface="Cambria"/>
              </a:rPr>
              <a:t>...)</a:t>
            </a:r>
            <a:endParaRPr sz="1450">
              <a:latin typeface="Cambria"/>
              <a:cs typeface="Cambria"/>
            </a:endParaRPr>
          </a:p>
          <a:p>
            <a:pPr marL="672465" marR="76835" lvl="1" indent="-281940">
              <a:lnSpc>
                <a:spcPct val="102800"/>
              </a:lnSpc>
              <a:spcBef>
                <a:spcPts val="75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140" dirty="0">
                <a:latin typeface="Cambria"/>
                <a:cs typeface="Cambria"/>
              </a:rPr>
              <a:t>Uses</a:t>
            </a:r>
            <a:r>
              <a:rPr sz="1450" spc="175" dirty="0">
                <a:latin typeface="Cambria"/>
                <a:cs typeface="Cambria"/>
              </a:rPr>
              <a:t> XML</a:t>
            </a:r>
            <a:r>
              <a:rPr sz="1450" spc="180" dirty="0">
                <a:latin typeface="Cambria"/>
                <a:cs typeface="Cambria"/>
              </a:rPr>
              <a:t> </a:t>
            </a:r>
            <a:r>
              <a:rPr sz="1450" spc="155" dirty="0">
                <a:latin typeface="Cambria"/>
                <a:cs typeface="Cambria"/>
              </a:rPr>
              <a:t>Schema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for</a:t>
            </a:r>
            <a:r>
              <a:rPr sz="1450" spc="195" dirty="0">
                <a:latin typeface="Cambria"/>
                <a:cs typeface="Cambria"/>
              </a:rPr>
              <a:t> </a:t>
            </a:r>
            <a:r>
              <a:rPr sz="1450" spc="110" dirty="0">
                <a:latin typeface="Cambria"/>
                <a:cs typeface="Cambria"/>
              </a:rPr>
              <a:t>marshalling</a:t>
            </a:r>
            <a:r>
              <a:rPr sz="1450" spc="180" dirty="0">
                <a:latin typeface="Cambria"/>
                <a:cs typeface="Cambria"/>
              </a:rPr>
              <a:t> </a:t>
            </a:r>
            <a:r>
              <a:rPr sz="1450" spc="70" dirty="0">
                <a:latin typeface="Cambria"/>
                <a:cs typeface="Cambria"/>
              </a:rPr>
              <a:t>types </a:t>
            </a:r>
            <a:r>
              <a:rPr sz="1450" spc="85" dirty="0">
                <a:latin typeface="Cambria"/>
                <a:cs typeface="Cambria"/>
              </a:rPr>
              <a:t>to/from</a:t>
            </a:r>
            <a:r>
              <a:rPr sz="1450" spc="170" dirty="0">
                <a:latin typeface="Cambria"/>
                <a:cs typeface="Cambria"/>
              </a:rPr>
              <a:t> </a:t>
            </a:r>
            <a:r>
              <a:rPr sz="1450" spc="100" dirty="0">
                <a:latin typeface="Cambria"/>
                <a:cs typeface="Cambria"/>
              </a:rPr>
              <a:t>programming</a:t>
            </a:r>
            <a:r>
              <a:rPr sz="1450" spc="155" dirty="0">
                <a:latin typeface="Cambria"/>
                <a:cs typeface="Cambria"/>
              </a:rPr>
              <a:t>  </a:t>
            </a:r>
            <a:r>
              <a:rPr sz="1450" spc="114" dirty="0">
                <a:latin typeface="Cambria"/>
                <a:cs typeface="Cambria"/>
              </a:rPr>
              <a:t>language</a:t>
            </a:r>
            <a:r>
              <a:rPr sz="1450" spc="175" dirty="0">
                <a:latin typeface="Cambria"/>
                <a:cs typeface="Cambria"/>
              </a:rPr>
              <a:t> </a:t>
            </a:r>
            <a:r>
              <a:rPr sz="1450" spc="75" dirty="0">
                <a:latin typeface="Cambria"/>
                <a:cs typeface="Cambria"/>
              </a:rPr>
              <a:t>types</a:t>
            </a:r>
            <a:endParaRPr sz="14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7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55" dirty="0">
                <a:latin typeface="Cambria"/>
                <a:cs typeface="Cambria"/>
              </a:rPr>
              <a:t>WSDL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says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how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use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web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service</a:t>
            </a:r>
            <a:endParaRPr sz="1650">
              <a:latin typeface="Cambria"/>
              <a:cs typeface="Cambria"/>
            </a:endParaRPr>
          </a:p>
          <a:p>
            <a:pPr marL="672465" marR="1049655" lvl="1" indent="-281940">
              <a:lnSpc>
                <a:spcPct val="102699"/>
              </a:lnSpc>
              <a:spcBef>
                <a:spcPts val="80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95" dirty="0">
                <a:latin typeface="Cambria"/>
                <a:cs typeface="Cambria"/>
                <a:hlinkClick r:id="rId2"/>
              </a:rPr>
              <a:t>http://api.google.com/Google</a:t>
            </a:r>
            <a:r>
              <a:rPr sz="1450" spc="95" dirty="0">
                <a:latin typeface="Cambria"/>
                <a:cs typeface="Cambria"/>
              </a:rPr>
              <a:t> </a:t>
            </a:r>
            <a:r>
              <a:rPr sz="1450" spc="110" dirty="0">
                <a:latin typeface="Cambria"/>
                <a:cs typeface="Cambria"/>
              </a:rPr>
              <a:t>Search.wsdl</a:t>
            </a:r>
            <a:endParaRPr sz="14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7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70" dirty="0">
                <a:latin typeface="Cambria"/>
                <a:cs typeface="Cambria"/>
              </a:rPr>
              <a:t>UDDI </a:t>
            </a:r>
            <a:r>
              <a:rPr sz="1650" spc="105" dirty="0">
                <a:latin typeface="Cambria"/>
                <a:cs typeface="Cambria"/>
              </a:rPr>
              <a:t>helps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find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the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right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web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service</a:t>
            </a:r>
            <a:endParaRPr sz="1650">
              <a:latin typeface="Cambria"/>
              <a:cs typeface="Cambria"/>
            </a:endParaRPr>
          </a:p>
          <a:p>
            <a:pPr marL="672465" lvl="1" indent="-281940">
              <a:lnSpc>
                <a:spcPct val="100000"/>
              </a:lnSpc>
              <a:spcBef>
                <a:spcPts val="130"/>
              </a:spcBef>
              <a:buFont typeface="Wingdings"/>
              <a:buChar char=""/>
              <a:tabLst>
                <a:tab pos="672465" algn="l"/>
              </a:tabLst>
            </a:pPr>
            <a:r>
              <a:rPr sz="1450" spc="105" dirty="0">
                <a:latin typeface="Cambria"/>
                <a:cs typeface="Cambria"/>
              </a:rPr>
              <a:t>Exports</a:t>
            </a:r>
            <a:r>
              <a:rPr sz="1450" spc="195" dirty="0">
                <a:latin typeface="Cambria"/>
                <a:cs typeface="Cambria"/>
              </a:rPr>
              <a:t> </a:t>
            </a:r>
            <a:r>
              <a:rPr sz="1450" spc="170" dirty="0">
                <a:latin typeface="Cambria"/>
                <a:cs typeface="Cambria"/>
              </a:rPr>
              <a:t>SOAP</a:t>
            </a:r>
            <a:r>
              <a:rPr sz="1450" spc="195" dirty="0">
                <a:latin typeface="Cambria"/>
                <a:cs typeface="Cambria"/>
              </a:rPr>
              <a:t> </a:t>
            </a:r>
            <a:r>
              <a:rPr sz="1450" spc="65" dirty="0">
                <a:latin typeface="Cambria"/>
                <a:cs typeface="Cambria"/>
              </a:rPr>
              <a:t>API</a:t>
            </a:r>
            <a:r>
              <a:rPr sz="1450" spc="220" dirty="0">
                <a:latin typeface="Cambria"/>
                <a:cs typeface="Cambria"/>
              </a:rPr>
              <a:t> </a:t>
            </a:r>
            <a:r>
              <a:rPr sz="1450" dirty="0">
                <a:latin typeface="Cambria"/>
                <a:cs typeface="Cambria"/>
              </a:rPr>
              <a:t>for</a:t>
            </a:r>
            <a:r>
              <a:rPr sz="1450" spc="180" dirty="0">
                <a:latin typeface="Cambria"/>
                <a:cs typeface="Cambria"/>
              </a:rPr>
              <a:t> </a:t>
            </a:r>
            <a:r>
              <a:rPr sz="1450" spc="114" dirty="0">
                <a:latin typeface="Cambria"/>
                <a:cs typeface="Cambria"/>
              </a:rPr>
              <a:t>access</a:t>
            </a:r>
            <a:endParaRPr sz="1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362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dirty="0"/>
              <a:t>Web</a:t>
            </a:r>
            <a:r>
              <a:rPr spc="-20" dirty="0"/>
              <a:t> </a:t>
            </a:r>
            <a:r>
              <a:rPr spc="85" dirty="0"/>
              <a:t>Services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473" y="2219365"/>
            <a:ext cx="4608195" cy="408686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650" b="1" spc="90" dirty="0">
                <a:latin typeface="Cambria"/>
                <a:cs typeface="Cambria"/>
              </a:rPr>
              <a:t>Disadvantages</a:t>
            </a:r>
            <a:r>
              <a:rPr sz="1650" b="1" spc="170" dirty="0">
                <a:latin typeface="Cambria"/>
                <a:cs typeface="Cambria"/>
              </a:rPr>
              <a:t> </a:t>
            </a:r>
            <a:r>
              <a:rPr sz="1650" b="1" spc="85" dirty="0">
                <a:latin typeface="Cambria"/>
                <a:cs typeface="Cambria"/>
              </a:rPr>
              <a:t>of</a:t>
            </a:r>
            <a:r>
              <a:rPr sz="1650" b="1" spc="190" dirty="0">
                <a:latin typeface="Cambria"/>
                <a:cs typeface="Cambria"/>
              </a:rPr>
              <a:t> </a:t>
            </a:r>
            <a:r>
              <a:rPr sz="1650" b="1" spc="75" dirty="0">
                <a:latin typeface="Cambria"/>
                <a:cs typeface="Cambria"/>
              </a:rPr>
              <a:t>WS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65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60" dirty="0">
                <a:latin typeface="Cambria"/>
                <a:cs typeface="Cambria"/>
              </a:rPr>
              <a:t>Low-</a:t>
            </a:r>
            <a:r>
              <a:rPr sz="1650" dirty="0">
                <a:latin typeface="Cambria"/>
                <a:cs typeface="Cambria"/>
              </a:rPr>
              <a:t>level</a:t>
            </a:r>
            <a:r>
              <a:rPr sz="1650" spc="36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abstraction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98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80" dirty="0">
                <a:latin typeface="Cambria"/>
                <a:cs typeface="Cambria"/>
              </a:rPr>
              <a:t>leaves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lot</a:t>
            </a:r>
            <a:r>
              <a:rPr sz="1650" spc="229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22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be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implemented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0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80" dirty="0">
                <a:latin typeface="Cambria"/>
                <a:cs typeface="Cambria"/>
              </a:rPr>
              <a:t>Interaction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patterns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have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be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built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98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95" dirty="0">
                <a:latin typeface="Cambria"/>
                <a:cs typeface="Cambria"/>
              </a:rPr>
              <a:t>one-</a:t>
            </a:r>
            <a:r>
              <a:rPr sz="1650" spc="60" dirty="0">
                <a:latin typeface="Cambria"/>
                <a:cs typeface="Cambria"/>
              </a:rPr>
              <a:t>to-</a:t>
            </a:r>
            <a:r>
              <a:rPr sz="1650" spc="85" dirty="0">
                <a:latin typeface="Cambria"/>
                <a:cs typeface="Cambria"/>
              </a:rPr>
              <a:t>one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request-</a:t>
            </a:r>
            <a:r>
              <a:rPr sz="1650" spc="50" dirty="0">
                <a:latin typeface="Cambria"/>
                <a:cs typeface="Cambria"/>
              </a:rPr>
              <a:t>reply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provided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100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95" dirty="0">
                <a:latin typeface="Cambria"/>
                <a:cs typeface="Cambria"/>
              </a:rPr>
              <a:t>one-</a:t>
            </a:r>
            <a:r>
              <a:rPr sz="1650" spc="60" dirty="0">
                <a:latin typeface="Cambria"/>
                <a:cs typeface="Cambria"/>
              </a:rPr>
              <a:t>to-</a:t>
            </a:r>
            <a:r>
              <a:rPr sz="1650" spc="135" dirty="0">
                <a:latin typeface="Cambria"/>
                <a:cs typeface="Cambria"/>
              </a:rPr>
              <a:t>many?</a:t>
            </a:r>
            <a:endParaRPr sz="1650">
              <a:latin typeface="Cambria"/>
              <a:cs typeface="Cambria"/>
            </a:endParaRPr>
          </a:p>
          <a:p>
            <a:pPr marL="671195" marR="200660" lvl="1" indent="-281305">
              <a:lnSpc>
                <a:spcPts val="2980"/>
              </a:lnSpc>
              <a:spcBef>
                <a:spcPts val="250"/>
              </a:spcBef>
              <a:buFont typeface="Wingdings"/>
              <a:buChar char=""/>
              <a:tabLst>
                <a:tab pos="672465" algn="l"/>
              </a:tabLst>
            </a:pPr>
            <a:r>
              <a:rPr sz="1650" spc="60" dirty="0">
                <a:latin typeface="Cambria"/>
                <a:cs typeface="Cambria"/>
              </a:rPr>
              <a:t>still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synchronous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service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invocation, 	</a:t>
            </a:r>
            <a:r>
              <a:rPr sz="1650" spc="85" dirty="0">
                <a:latin typeface="Cambria"/>
                <a:cs typeface="Cambria"/>
              </a:rPr>
              <a:t>rather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than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notification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71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65" dirty="0">
                <a:latin typeface="Cambria"/>
                <a:cs typeface="Cambria"/>
              </a:rPr>
              <a:t>No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nested/grouped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invocations,</a:t>
            </a:r>
            <a:endParaRPr sz="1650">
              <a:latin typeface="Cambria"/>
              <a:cs typeface="Cambria"/>
            </a:endParaRPr>
          </a:p>
          <a:p>
            <a:pPr marL="672465">
              <a:lnSpc>
                <a:spcPct val="100000"/>
              </a:lnSpc>
              <a:spcBef>
                <a:spcPts val="1000"/>
              </a:spcBef>
            </a:pPr>
            <a:r>
              <a:rPr sz="1650" spc="110" dirty="0">
                <a:latin typeface="Cambria"/>
                <a:cs typeface="Cambria"/>
              </a:rPr>
              <a:t>transactions,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55" dirty="0">
                <a:latin typeface="Cambria"/>
                <a:cs typeface="Cambria"/>
              </a:rPr>
              <a:t>...</a:t>
            </a:r>
            <a:endParaRPr sz="1650">
              <a:latin typeface="Cambria"/>
              <a:cs typeface="Cambria"/>
            </a:endParaRPr>
          </a:p>
          <a:p>
            <a:pPr marL="362585" indent="-349885">
              <a:lnSpc>
                <a:spcPct val="100000"/>
              </a:lnSpc>
              <a:spcBef>
                <a:spcPts val="980"/>
              </a:spcBef>
              <a:buFont typeface="Wingdings"/>
              <a:buChar char=""/>
              <a:tabLst>
                <a:tab pos="362585" algn="l"/>
              </a:tabLst>
            </a:pPr>
            <a:r>
              <a:rPr sz="1650" spc="65" dirty="0">
                <a:latin typeface="Cambria"/>
                <a:cs typeface="Cambria"/>
              </a:rPr>
              <a:t>No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location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transparency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45649" y="2167609"/>
            <a:ext cx="4547235" cy="428815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650" b="1" spc="80" dirty="0">
                <a:latin typeface="Cambria"/>
                <a:cs typeface="Cambria"/>
              </a:rPr>
              <a:t>What</a:t>
            </a:r>
            <a:r>
              <a:rPr sz="1650" b="1" spc="220" dirty="0">
                <a:latin typeface="Cambria"/>
                <a:cs typeface="Cambria"/>
              </a:rPr>
              <a:t> </a:t>
            </a:r>
            <a:r>
              <a:rPr sz="1650" b="1" dirty="0">
                <a:latin typeface="Cambria"/>
                <a:cs typeface="Cambria"/>
              </a:rPr>
              <a:t>we</a:t>
            </a:r>
            <a:r>
              <a:rPr sz="1650" b="1" spc="225" dirty="0">
                <a:latin typeface="Cambria"/>
                <a:cs typeface="Cambria"/>
              </a:rPr>
              <a:t> </a:t>
            </a:r>
            <a:r>
              <a:rPr sz="1650" b="1" spc="100" dirty="0">
                <a:latin typeface="Cambria"/>
                <a:cs typeface="Cambria"/>
              </a:rPr>
              <a:t>lack</a:t>
            </a:r>
            <a:r>
              <a:rPr sz="1650" b="1" spc="240" dirty="0">
                <a:latin typeface="Cambria"/>
                <a:cs typeface="Cambria"/>
              </a:rPr>
              <a:t> </a:t>
            </a:r>
            <a:r>
              <a:rPr sz="1650" b="1" spc="85" dirty="0">
                <a:latin typeface="Cambria"/>
                <a:cs typeface="Cambria"/>
              </a:rPr>
              <a:t>so</a:t>
            </a:r>
            <a:r>
              <a:rPr sz="1650" b="1" spc="215" dirty="0">
                <a:latin typeface="Cambria"/>
                <a:cs typeface="Cambria"/>
              </a:rPr>
              <a:t> </a:t>
            </a:r>
            <a:r>
              <a:rPr sz="1650" b="1" dirty="0">
                <a:latin typeface="Cambria"/>
                <a:cs typeface="Cambria"/>
              </a:rPr>
              <a:t>far</a:t>
            </a:r>
            <a:r>
              <a:rPr sz="1650" b="1" spc="245" dirty="0">
                <a:latin typeface="Cambria"/>
                <a:cs typeface="Cambria"/>
              </a:rPr>
              <a:t> </a:t>
            </a:r>
            <a:r>
              <a:rPr sz="1650" b="1" spc="285" dirty="0">
                <a:latin typeface="Cambria"/>
                <a:cs typeface="Cambria"/>
              </a:rPr>
              <a:t>?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14" dirty="0">
                <a:latin typeface="Cambria"/>
                <a:cs typeface="Cambria"/>
              </a:rPr>
              <a:t>General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interaction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patterns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dirty="0">
                <a:latin typeface="Cambria"/>
                <a:cs typeface="Cambria"/>
              </a:rPr>
              <a:t>we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have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one-</a:t>
            </a:r>
            <a:r>
              <a:rPr sz="1650" spc="65" dirty="0">
                <a:latin typeface="Cambria"/>
                <a:cs typeface="Cambria"/>
              </a:rPr>
              <a:t>to-</a:t>
            </a:r>
            <a:r>
              <a:rPr sz="1650" spc="85" dirty="0">
                <a:latin typeface="Cambria"/>
                <a:cs typeface="Cambria"/>
              </a:rPr>
              <a:t>one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request-</a:t>
            </a:r>
            <a:r>
              <a:rPr sz="1650" spc="40" dirty="0">
                <a:latin typeface="Cambria"/>
                <a:cs typeface="Cambria"/>
              </a:rPr>
              <a:t>reply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95" dirty="0">
                <a:latin typeface="Cambria"/>
                <a:cs typeface="Cambria"/>
              </a:rPr>
              <a:t>one-</a:t>
            </a:r>
            <a:r>
              <a:rPr sz="1650" spc="60" dirty="0">
                <a:latin typeface="Cambria"/>
                <a:cs typeface="Cambria"/>
              </a:rPr>
              <a:t>to-</a:t>
            </a:r>
            <a:r>
              <a:rPr sz="1650" spc="145" dirty="0">
                <a:latin typeface="Cambria"/>
                <a:cs typeface="Cambria"/>
              </a:rPr>
              <a:t>many?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35" dirty="0">
                <a:latin typeface="Cambria"/>
                <a:cs typeface="Cambria"/>
              </a:rPr>
              <a:t>many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many?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70" dirty="0">
                <a:latin typeface="Cambria"/>
                <a:cs typeface="Cambria"/>
              </a:rPr>
              <a:t>notification?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14" dirty="0">
                <a:latin typeface="Cambria"/>
                <a:cs typeface="Cambria"/>
              </a:rPr>
              <a:t>dynamic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joining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leaving?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85" dirty="0">
                <a:latin typeface="Cambria"/>
                <a:cs typeface="Cambria"/>
              </a:rPr>
              <a:t>Location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transparency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95" dirty="0">
                <a:latin typeface="Cambria"/>
                <a:cs typeface="Cambria"/>
              </a:rPr>
              <a:t>anonymity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21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communicating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entities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20" dirty="0">
                <a:latin typeface="Cambria"/>
                <a:cs typeface="Cambria"/>
              </a:rPr>
              <a:t>Support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pervasive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computing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120" dirty="0">
                <a:latin typeface="Cambria"/>
                <a:cs typeface="Cambria"/>
              </a:rPr>
              <a:t>data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values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from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sensors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spcBef>
                <a:spcPts val="1065"/>
              </a:spcBef>
              <a:buFont typeface="Wingdings"/>
              <a:buChar char=""/>
              <a:tabLst>
                <a:tab pos="671830" algn="l"/>
              </a:tabLst>
            </a:pPr>
            <a:r>
              <a:rPr sz="1650" spc="70" dirty="0">
                <a:latin typeface="Cambria"/>
                <a:cs typeface="Cambria"/>
              </a:rPr>
              <a:t>lightweight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software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93620" y="6461760"/>
            <a:ext cx="7764780" cy="41275"/>
            <a:chOff x="2293620" y="6461760"/>
            <a:chExt cx="7764780" cy="41275"/>
          </a:xfrm>
        </p:grpSpPr>
        <p:sp>
          <p:nvSpPr>
            <p:cNvPr id="3" name="object 3"/>
            <p:cNvSpPr/>
            <p:nvPr/>
          </p:nvSpPr>
          <p:spPr>
            <a:xfrm>
              <a:off x="5094732" y="6461760"/>
              <a:ext cx="2562225" cy="41275"/>
            </a:xfrm>
            <a:custGeom>
              <a:avLst/>
              <a:gdLst/>
              <a:ahLst/>
              <a:cxnLst/>
              <a:rect l="l" t="t" r="r" b="b"/>
              <a:pathLst>
                <a:path w="2562225" h="41275">
                  <a:moveTo>
                    <a:pt x="2561844" y="41147"/>
                  </a:moveTo>
                  <a:lnTo>
                    <a:pt x="0" y="41147"/>
                  </a:lnTo>
                  <a:lnTo>
                    <a:pt x="0" y="0"/>
                  </a:lnTo>
                  <a:lnTo>
                    <a:pt x="2561844" y="0"/>
                  </a:lnTo>
                  <a:lnTo>
                    <a:pt x="2561844" y="41147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00188" y="6461760"/>
              <a:ext cx="2458720" cy="38100"/>
            </a:xfrm>
            <a:custGeom>
              <a:avLst/>
              <a:gdLst/>
              <a:ahLst/>
              <a:cxnLst/>
              <a:rect l="l" t="t" r="r" b="b"/>
              <a:pathLst>
                <a:path w="2458720" h="38100">
                  <a:moveTo>
                    <a:pt x="2458212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458212" y="0"/>
                  </a:lnTo>
                  <a:lnTo>
                    <a:pt x="2458212" y="38100"/>
                  </a:lnTo>
                  <a:close/>
                </a:path>
              </a:pathLst>
            </a:custGeom>
            <a:solidFill>
              <a:srgbClr val="E21C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93620" y="6461760"/>
              <a:ext cx="2839720" cy="41275"/>
            </a:xfrm>
            <a:custGeom>
              <a:avLst/>
              <a:gdLst/>
              <a:ahLst/>
              <a:cxnLst/>
              <a:rect l="l" t="t" r="r" b="b"/>
              <a:pathLst>
                <a:path w="2839720" h="41275">
                  <a:moveTo>
                    <a:pt x="2839212" y="41147"/>
                  </a:moveTo>
                  <a:lnTo>
                    <a:pt x="0" y="41147"/>
                  </a:lnTo>
                  <a:lnTo>
                    <a:pt x="0" y="0"/>
                  </a:lnTo>
                  <a:lnTo>
                    <a:pt x="2839212" y="0"/>
                  </a:lnTo>
                  <a:lnTo>
                    <a:pt x="2839212" y="41147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945380" y="6464807"/>
              <a:ext cx="2562225" cy="38100"/>
            </a:xfrm>
            <a:custGeom>
              <a:avLst/>
              <a:gdLst/>
              <a:ahLst/>
              <a:cxnLst/>
              <a:rect l="l" t="t" r="r" b="b"/>
              <a:pathLst>
                <a:path w="2562225" h="38100">
                  <a:moveTo>
                    <a:pt x="2561843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1843" y="0"/>
                  </a:lnTo>
                  <a:lnTo>
                    <a:pt x="2561843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46959" y="6464807"/>
              <a:ext cx="2598420" cy="38100"/>
            </a:xfrm>
            <a:custGeom>
              <a:avLst/>
              <a:gdLst/>
              <a:ahLst/>
              <a:cxnLst/>
              <a:rect l="l" t="t" r="r" b="b"/>
              <a:pathLst>
                <a:path w="2598420" h="38100">
                  <a:moveTo>
                    <a:pt x="2598420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98420" y="0"/>
                  </a:lnTo>
                  <a:lnTo>
                    <a:pt x="2598420" y="38100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498080" y="6464807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2340" y="1057656"/>
            <a:ext cx="2414016" cy="5714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36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0" u="heavy" spc="-105" dirty="0">
                <a:uFill>
                  <a:solidFill>
                    <a:srgbClr val="FBAF16"/>
                  </a:solidFill>
                </a:uFill>
                <a:latin typeface="Times New Roman"/>
                <a:cs typeface="Times New Roman"/>
              </a:rPr>
              <a:t> </a:t>
            </a:r>
            <a:r>
              <a:rPr u="heavy" spc="110" dirty="0">
                <a:uFill>
                  <a:solidFill>
                    <a:srgbClr val="FBAF16"/>
                  </a:solidFill>
                </a:uFill>
              </a:rPr>
              <a:t>Event-</a:t>
            </a:r>
            <a:r>
              <a:rPr u="heavy" spc="65" dirty="0">
                <a:uFill>
                  <a:solidFill>
                    <a:srgbClr val="FBAF16"/>
                  </a:solidFill>
                </a:uFill>
              </a:rPr>
              <a:t>Based</a:t>
            </a:r>
            <a:r>
              <a:rPr u="heavy" spc="150" dirty="0">
                <a:uFill>
                  <a:solidFill>
                    <a:srgbClr val="FBAF16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FBAF16"/>
                  </a:solidFill>
                </a:uFill>
              </a:rPr>
              <a:t>M</a:t>
            </a:r>
            <a:r>
              <a:rPr u="heavy" dirty="0">
                <a:uFill>
                  <a:solidFill>
                    <a:srgbClr val="75C1E4"/>
                  </a:solidFill>
                </a:uFill>
              </a:rPr>
              <a:t>iddleware</a:t>
            </a:r>
            <a:r>
              <a:rPr u="heavy" spc="110" dirty="0">
                <a:uFill>
                  <a:solidFill>
                    <a:srgbClr val="75C1E4"/>
                  </a:solidFill>
                </a:uFill>
              </a:rPr>
              <a:t> </a:t>
            </a:r>
            <a:r>
              <a:rPr u="heavy" dirty="0">
                <a:uFill>
                  <a:solidFill>
                    <a:srgbClr val="75C1E4"/>
                  </a:solidFill>
                </a:uFill>
              </a:rPr>
              <a:t>a.k</a:t>
            </a:r>
            <a:r>
              <a:rPr u="heavy" spc="-409" dirty="0">
                <a:uFill>
                  <a:solidFill>
                    <a:srgbClr val="FF0000"/>
                  </a:solidFill>
                </a:uFill>
              </a:rPr>
              <a:t> </a:t>
            </a:r>
            <a:r>
              <a:rPr u="heavy" spc="180" dirty="0">
                <a:uFill>
                  <a:solidFill>
                    <a:srgbClr val="FF0000"/>
                  </a:solidFill>
                </a:uFill>
              </a:rPr>
              <a:t>.a.</a:t>
            </a:r>
            <a:r>
              <a:rPr u="heavy" spc="145" dirty="0">
                <a:uFill>
                  <a:solidFill>
                    <a:srgbClr val="FF0000"/>
                  </a:solidFill>
                </a:uFill>
              </a:rPr>
              <a:t> </a:t>
            </a:r>
            <a:r>
              <a:rPr u="heavy" spc="35" dirty="0">
                <a:uFill>
                  <a:solidFill>
                    <a:srgbClr val="FF0000"/>
                  </a:solidFill>
                </a:uFill>
              </a:rPr>
              <a:t>Publish/Su</a:t>
            </a:r>
            <a:r>
              <a:rPr spc="35" dirty="0"/>
              <a:t>bscribe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04309" y="2382994"/>
            <a:ext cx="7014845" cy="14624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b="1" spc="65" dirty="0">
                <a:latin typeface="Cambria"/>
                <a:cs typeface="Cambria"/>
              </a:rPr>
              <a:t>Publishers</a:t>
            </a:r>
            <a:r>
              <a:rPr sz="1650" b="1" spc="18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(</a:t>
            </a:r>
            <a:r>
              <a:rPr sz="1650" i="1" spc="75" dirty="0">
                <a:latin typeface="Cambria"/>
                <a:cs typeface="Cambria"/>
              </a:rPr>
              <a:t>advertise</a:t>
            </a:r>
            <a:r>
              <a:rPr sz="1650" i="1" spc="18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and)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i="1" spc="110" dirty="0">
                <a:latin typeface="Cambria"/>
                <a:cs typeface="Cambria"/>
              </a:rPr>
              <a:t>publish</a:t>
            </a:r>
            <a:r>
              <a:rPr sz="1650" i="1" spc="140" dirty="0">
                <a:latin typeface="Cambria"/>
                <a:cs typeface="Cambria"/>
              </a:rPr>
              <a:t> </a:t>
            </a:r>
            <a:r>
              <a:rPr sz="1650" b="1" spc="100" dirty="0">
                <a:latin typeface="Cambria"/>
                <a:cs typeface="Cambria"/>
              </a:rPr>
              <a:t>events</a:t>
            </a:r>
            <a:r>
              <a:rPr sz="1650" b="1" spc="19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(messages)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4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b="1" spc="70" dirty="0">
                <a:latin typeface="Cambria"/>
                <a:cs typeface="Cambria"/>
              </a:rPr>
              <a:t>Subscribers</a:t>
            </a:r>
            <a:r>
              <a:rPr sz="1650" b="1" spc="19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express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interest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in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events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with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i="1" spc="90" dirty="0">
                <a:latin typeface="Cambria"/>
                <a:cs typeface="Cambria"/>
              </a:rPr>
              <a:t>subscriptions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98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b="1" spc="135" dirty="0">
                <a:latin typeface="Cambria"/>
                <a:cs typeface="Cambria"/>
              </a:rPr>
              <a:t>Event</a:t>
            </a:r>
            <a:r>
              <a:rPr sz="1650" b="1" spc="204" dirty="0">
                <a:latin typeface="Cambria"/>
                <a:cs typeface="Cambria"/>
              </a:rPr>
              <a:t> </a:t>
            </a:r>
            <a:r>
              <a:rPr sz="1650" b="1" spc="100" dirty="0">
                <a:latin typeface="Cambria"/>
                <a:cs typeface="Cambria"/>
              </a:rPr>
              <a:t>Service</a:t>
            </a:r>
            <a:r>
              <a:rPr sz="1650" b="1" spc="210" dirty="0">
                <a:latin typeface="Cambria"/>
                <a:cs typeface="Cambria"/>
              </a:rPr>
              <a:t> </a:t>
            </a:r>
            <a:r>
              <a:rPr sz="1650" i="1" spc="70" dirty="0">
                <a:latin typeface="Cambria"/>
                <a:cs typeface="Cambria"/>
              </a:rPr>
              <a:t>notifies</a:t>
            </a:r>
            <a:r>
              <a:rPr sz="1650" i="1" spc="16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interested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subscribers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published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events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994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10" dirty="0">
                <a:latin typeface="Cambria"/>
                <a:cs typeface="Cambria"/>
              </a:rPr>
              <a:t>Events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50" dirty="0">
                <a:latin typeface="Cambria"/>
                <a:cs typeface="Cambria"/>
              </a:rPr>
              <a:t>can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have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arbitrary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content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(typed)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or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name/value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pairs</a:t>
            </a:r>
            <a:endParaRPr sz="1650">
              <a:latin typeface="Cambria"/>
              <a:cs typeface="Cambri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3441" y="4014801"/>
            <a:ext cx="8097248" cy="228171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92340" y="1057656"/>
            <a:ext cx="2414016" cy="5714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346960" y="6464807"/>
            <a:ext cx="7711440" cy="38100"/>
            <a:chOff x="2346960" y="6464807"/>
            <a:chExt cx="7711440" cy="38100"/>
          </a:xfrm>
        </p:grpSpPr>
        <p:sp>
          <p:nvSpPr>
            <p:cNvPr id="4" name="object 4"/>
            <p:cNvSpPr/>
            <p:nvPr/>
          </p:nvSpPr>
          <p:spPr>
            <a:xfrm>
              <a:off x="4945380" y="6464807"/>
              <a:ext cx="2562225" cy="38100"/>
            </a:xfrm>
            <a:custGeom>
              <a:avLst/>
              <a:gdLst/>
              <a:ahLst/>
              <a:cxnLst/>
              <a:rect l="l" t="t" r="r" b="b"/>
              <a:pathLst>
                <a:path w="2562225" h="38100">
                  <a:moveTo>
                    <a:pt x="2561843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1843" y="0"/>
                  </a:lnTo>
                  <a:lnTo>
                    <a:pt x="2561843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46960" y="6464807"/>
              <a:ext cx="2598420" cy="38100"/>
            </a:xfrm>
            <a:custGeom>
              <a:avLst/>
              <a:gdLst/>
              <a:ahLst/>
              <a:cxnLst/>
              <a:rect l="l" t="t" r="r" b="b"/>
              <a:pathLst>
                <a:path w="2598420" h="38100">
                  <a:moveTo>
                    <a:pt x="2598420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98420" y="0"/>
                  </a:lnTo>
                  <a:lnTo>
                    <a:pt x="2598420" y="38100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98080" y="6464807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0" y="2127504"/>
            <a:ext cx="7711440" cy="38100"/>
            <a:chOff x="0" y="2127504"/>
            <a:chExt cx="7711440" cy="38100"/>
          </a:xfrm>
        </p:grpSpPr>
        <p:sp>
          <p:nvSpPr>
            <p:cNvPr id="8" name="object 8"/>
            <p:cNvSpPr/>
            <p:nvPr/>
          </p:nvSpPr>
          <p:spPr>
            <a:xfrm>
              <a:off x="2598419" y="2127504"/>
              <a:ext cx="2562225" cy="38100"/>
            </a:xfrm>
            <a:custGeom>
              <a:avLst/>
              <a:gdLst/>
              <a:ahLst/>
              <a:cxnLst/>
              <a:rect l="l" t="t" r="r" b="b"/>
              <a:pathLst>
                <a:path w="2562225" h="38100">
                  <a:moveTo>
                    <a:pt x="2561844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1844" y="0"/>
                  </a:lnTo>
                  <a:lnTo>
                    <a:pt x="2561844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2127504"/>
              <a:ext cx="2598420" cy="38100"/>
            </a:xfrm>
            <a:custGeom>
              <a:avLst/>
              <a:gdLst/>
              <a:ahLst/>
              <a:cxnLst/>
              <a:rect l="l" t="t" r="r" b="b"/>
              <a:pathLst>
                <a:path w="2598420" h="38100">
                  <a:moveTo>
                    <a:pt x="25984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98419" y="0"/>
                  </a:lnTo>
                  <a:lnTo>
                    <a:pt x="2598419" y="38100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151120" y="2127504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-1996" y="1630139"/>
            <a:ext cx="8030845" cy="479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338195" algn="l"/>
              </a:tabLst>
            </a:pPr>
            <a:r>
              <a:rPr spc="155" dirty="0"/>
              <a:t>Topic-</a:t>
            </a:r>
            <a:r>
              <a:rPr spc="150" dirty="0"/>
              <a:t>Based</a:t>
            </a:r>
            <a:r>
              <a:rPr spc="285" dirty="0"/>
              <a:t> </a:t>
            </a:r>
            <a:r>
              <a:rPr spc="145" dirty="0"/>
              <a:t>and</a:t>
            </a:r>
            <a:r>
              <a:rPr dirty="0"/>
              <a:t>	</a:t>
            </a:r>
            <a:r>
              <a:rPr spc="240" dirty="0"/>
              <a:t>Content-</a:t>
            </a:r>
            <a:r>
              <a:rPr spc="155" dirty="0"/>
              <a:t>Based</a:t>
            </a:r>
            <a:r>
              <a:rPr spc="355" dirty="0"/>
              <a:t> </a:t>
            </a:r>
            <a:r>
              <a:rPr spc="180" dirty="0"/>
              <a:t>Pub/Sub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61054" y="2267261"/>
            <a:ext cx="4155440" cy="1032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05" dirty="0">
                <a:latin typeface="Cambria"/>
                <a:cs typeface="Cambria"/>
              </a:rPr>
              <a:t>Event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Service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25" dirty="0">
                <a:latin typeface="Cambria"/>
                <a:cs typeface="Cambria"/>
              </a:rPr>
              <a:t>matches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events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against </a:t>
            </a:r>
            <a:r>
              <a:rPr sz="1650" spc="90" dirty="0">
                <a:latin typeface="Cambria"/>
                <a:cs typeface="Cambria"/>
              </a:rPr>
              <a:t>subscriptions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buFont typeface="Wingdings"/>
              <a:buChar char=""/>
              <a:tabLst>
                <a:tab pos="671830" algn="l"/>
              </a:tabLst>
            </a:pPr>
            <a:r>
              <a:rPr sz="1650" spc="110" dirty="0">
                <a:latin typeface="Cambria"/>
                <a:cs typeface="Cambria"/>
              </a:rPr>
              <a:t>What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do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subscriptions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look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like?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70" dirty="0">
                <a:latin typeface="Cambria"/>
                <a:cs typeface="Cambria"/>
              </a:rPr>
              <a:t>Topic-</a:t>
            </a:r>
            <a:r>
              <a:rPr sz="1650" spc="135" dirty="0">
                <a:latin typeface="Cambria"/>
                <a:cs typeface="Cambria"/>
              </a:rPr>
              <a:t>Based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Publish/Subscribe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1054" y="3524515"/>
            <a:ext cx="4648200" cy="2792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72465">
              <a:lnSpc>
                <a:spcPct val="100000"/>
              </a:lnSpc>
              <a:spcBef>
                <a:spcPts val="105"/>
              </a:spcBef>
            </a:pPr>
            <a:r>
              <a:rPr sz="1650" spc="70" dirty="0">
                <a:latin typeface="Cambria"/>
                <a:cs typeface="Cambria"/>
              </a:rPr>
              <a:t>topic</a:t>
            </a:r>
            <a:r>
              <a:rPr sz="1650" spc="20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or</a:t>
            </a:r>
            <a:r>
              <a:rPr sz="1650" spc="204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subject</a:t>
            </a:r>
            <a:endParaRPr sz="1650">
              <a:latin typeface="Cambria"/>
              <a:cs typeface="Cambria"/>
            </a:endParaRPr>
          </a:p>
          <a:p>
            <a:pPr marL="671195" marR="196215" indent="-281305">
              <a:lnSpc>
                <a:spcPct val="100000"/>
              </a:lnSpc>
              <a:buFont typeface="Wingdings"/>
              <a:buChar char=""/>
              <a:tabLst>
                <a:tab pos="672465" algn="l"/>
              </a:tabLst>
            </a:pPr>
            <a:r>
              <a:rPr sz="1650" spc="114" dirty="0">
                <a:latin typeface="Cambria"/>
                <a:cs typeface="Cambria"/>
              </a:rPr>
              <a:t>Subscribers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subscribe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to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 </a:t>
            </a:r>
            <a:r>
              <a:rPr sz="1650" spc="60" dirty="0">
                <a:latin typeface="Cambria"/>
                <a:cs typeface="Cambria"/>
              </a:rPr>
              <a:t>topic 	</a:t>
            </a:r>
            <a:r>
              <a:rPr sz="1650" spc="95" dirty="0">
                <a:latin typeface="Cambria"/>
                <a:cs typeface="Cambria"/>
              </a:rPr>
              <a:t>subscribe(PrintJobFinishedTopic,</a:t>
            </a:r>
            <a:r>
              <a:rPr sz="1650" spc="27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…)</a:t>
            </a:r>
            <a:endParaRPr sz="1650">
              <a:latin typeface="Cambria"/>
              <a:cs typeface="Cambria"/>
            </a:endParaRPr>
          </a:p>
          <a:p>
            <a:pPr marL="295910" marR="1616710" indent="-283845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dirty="0">
                <a:latin typeface="Cambria"/>
                <a:cs typeface="Cambria"/>
              </a:rPr>
              <a:t>(Topic</a:t>
            </a:r>
            <a:r>
              <a:rPr sz="1650" spc="265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and)</a:t>
            </a:r>
            <a:r>
              <a:rPr sz="1650" spc="254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Content-</a:t>
            </a:r>
            <a:r>
              <a:rPr sz="1650" spc="120" dirty="0">
                <a:latin typeface="Cambria"/>
                <a:cs typeface="Cambria"/>
              </a:rPr>
              <a:t>Based </a:t>
            </a:r>
            <a:r>
              <a:rPr sz="1650" spc="110" dirty="0">
                <a:latin typeface="Cambria"/>
                <a:cs typeface="Cambria"/>
              </a:rPr>
              <a:t>Publish/Subscribe</a:t>
            </a:r>
            <a:endParaRPr sz="1650">
              <a:latin typeface="Cambria"/>
              <a:cs typeface="Cambria"/>
            </a:endParaRPr>
          </a:p>
          <a:p>
            <a:pPr marL="671195" marR="5080" lvl="1" indent="-281305">
              <a:lnSpc>
                <a:spcPct val="100000"/>
              </a:lnSpc>
              <a:buFont typeface="Wingdings"/>
              <a:buChar char=""/>
              <a:tabLst>
                <a:tab pos="672465" algn="l"/>
              </a:tabLst>
            </a:pPr>
            <a:r>
              <a:rPr sz="1650" spc="100" dirty="0">
                <a:latin typeface="Cambria"/>
                <a:cs typeface="Cambria"/>
              </a:rPr>
              <a:t>Publishers</a:t>
            </a:r>
            <a:r>
              <a:rPr sz="1650" spc="13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publish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events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belonging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-25" dirty="0">
                <a:latin typeface="Cambria"/>
                <a:cs typeface="Cambria"/>
              </a:rPr>
              <a:t>to 	</a:t>
            </a:r>
            <a:r>
              <a:rPr sz="1650" spc="85" dirty="0">
                <a:latin typeface="Cambria"/>
                <a:cs typeface="Cambria"/>
              </a:rPr>
              <a:t>topics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and</a:t>
            </a:r>
            <a:endParaRPr sz="1650">
              <a:latin typeface="Cambria"/>
              <a:cs typeface="Cambria"/>
            </a:endParaRPr>
          </a:p>
          <a:p>
            <a:pPr marL="671195" marR="212725" lvl="1" indent="-281305">
              <a:lnSpc>
                <a:spcPct val="100000"/>
              </a:lnSpc>
              <a:buFont typeface="Wingdings"/>
              <a:buChar char=""/>
              <a:tabLst>
                <a:tab pos="672465" algn="l"/>
              </a:tabLst>
            </a:pPr>
            <a:r>
              <a:rPr sz="1650" spc="114" dirty="0">
                <a:latin typeface="Cambria"/>
                <a:cs typeface="Cambria"/>
              </a:rPr>
              <a:t>Subscribers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50" dirty="0">
                <a:latin typeface="Cambria"/>
                <a:cs typeface="Cambria"/>
              </a:rPr>
              <a:t>provide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22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filter</a:t>
            </a:r>
            <a:r>
              <a:rPr sz="1650" spc="21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based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on 	</a:t>
            </a:r>
            <a:r>
              <a:rPr sz="1650" i="1" spc="60" dirty="0">
                <a:latin typeface="Cambria"/>
                <a:cs typeface="Cambria"/>
              </a:rPr>
              <a:t>content</a:t>
            </a:r>
            <a:r>
              <a:rPr sz="1650" i="1" spc="165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of</a:t>
            </a:r>
            <a:r>
              <a:rPr sz="1650" spc="215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events 	subscribe(type=printjobfinished,</a:t>
            </a:r>
            <a:endParaRPr sz="1650">
              <a:latin typeface="Cambria"/>
              <a:cs typeface="Cambria"/>
            </a:endParaRPr>
          </a:p>
          <a:p>
            <a:pPr marL="390525">
              <a:lnSpc>
                <a:spcPct val="100000"/>
              </a:lnSpc>
            </a:pPr>
            <a:r>
              <a:rPr sz="1650" spc="80" dirty="0">
                <a:latin typeface="Cambria"/>
                <a:cs typeface="Cambria"/>
              </a:rPr>
              <a:t>printer=‘aspen’,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…)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16522" y="2305359"/>
            <a:ext cx="4635500" cy="779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975"/>
              </a:lnSpc>
              <a:spcBef>
                <a:spcPts val="105"/>
              </a:spcBef>
            </a:pPr>
            <a:r>
              <a:rPr sz="1650" b="1" spc="60" dirty="0">
                <a:latin typeface="Cambria"/>
                <a:cs typeface="Cambria"/>
              </a:rPr>
              <a:t>Properties</a:t>
            </a:r>
            <a:r>
              <a:rPr sz="1650" b="1" spc="210" dirty="0">
                <a:latin typeface="Cambria"/>
                <a:cs typeface="Cambria"/>
              </a:rPr>
              <a:t> </a:t>
            </a:r>
            <a:r>
              <a:rPr sz="1650" b="1" spc="85" dirty="0">
                <a:latin typeface="Cambria"/>
                <a:cs typeface="Cambria"/>
              </a:rPr>
              <a:t>of</a:t>
            </a:r>
            <a:r>
              <a:rPr sz="1650" b="1" spc="200" dirty="0">
                <a:latin typeface="Cambria"/>
                <a:cs typeface="Cambria"/>
              </a:rPr>
              <a:t> </a:t>
            </a:r>
            <a:r>
              <a:rPr sz="1650" b="1" spc="80" dirty="0">
                <a:latin typeface="Cambria"/>
                <a:cs typeface="Cambria"/>
              </a:rPr>
              <a:t>Pub/Sub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ts val="1975"/>
              </a:lnSpc>
              <a:buFont typeface="Wingdings"/>
              <a:buChar char=""/>
              <a:tabLst>
                <a:tab pos="295910" algn="l"/>
              </a:tabLst>
            </a:pPr>
            <a:r>
              <a:rPr sz="1650" spc="114" dirty="0">
                <a:latin typeface="Cambria"/>
                <a:cs typeface="Cambria"/>
              </a:rPr>
              <a:t>Asynchronous </a:t>
            </a:r>
            <a:r>
              <a:rPr sz="1650" spc="100" dirty="0">
                <a:latin typeface="Cambria"/>
                <a:cs typeface="Cambria"/>
              </a:rPr>
              <a:t>communication</a:t>
            </a:r>
            <a:endParaRPr sz="1650">
              <a:latin typeface="Cambria"/>
              <a:cs typeface="Cambria"/>
            </a:endParaRPr>
          </a:p>
          <a:p>
            <a:pPr marL="671830" lvl="1" indent="-281305">
              <a:lnSpc>
                <a:spcPct val="100000"/>
              </a:lnSpc>
              <a:buFont typeface="Wingdings"/>
              <a:buChar char=""/>
              <a:tabLst>
                <a:tab pos="671830" algn="l"/>
              </a:tabLst>
            </a:pPr>
            <a:r>
              <a:rPr sz="1650" spc="100" dirty="0">
                <a:latin typeface="Cambria"/>
                <a:cs typeface="Cambria"/>
              </a:rPr>
              <a:t>Publishers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40" dirty="0">
                <a:latin typeface="Cambria"/>
                <a:cs typeface="Cambria"/>
              </a:rPr>
              <a:t>and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00" dirty="0">
                <a:latin typeface="Cambria"/>
                <a:cs typeface="Cambria"/>
              </a:rPr>
              <a:t>subscribers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are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45" dirty="0">
                <a:latin typeface="Cambria"/>
                <a:cs typeface="Cambria"/>
              </a:rPr>
              <a:t>loosely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76419" y="3058192"/>
            <a:ext cx="83121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spc="90" dirty="0">
                <a:latin typeface="Cambria"/>
                <a:cs typeface="Cambria"/>
              </a:rPr>
              <a:t>coupled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3559" y="3273023"/>
            <a:ext cx="907097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9405" indent="-28130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319405" algn="l"/>
              </a:tabLst>
            </a:pPr>
            <a:r>
              <a:rPr sz="1650" spc="100" dirty="0">
                <a:latin typeface="Cambria"/>
                <a:cs typeface="Cambria"/>
              </a:rPr>
              <a:t>Publishers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publish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events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belonging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to</a:t>
            </a:r>
            <a:r>
              <a:rPr sz="1650" spc="185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-5" dirty="0">
                <a:latin typeface="Cambria"/>
                <a:cs typeface="Cambria"/>
              </a:rPr>
              <a:t> </a:t>
            </a:r>
            <a:r>
              <a:rPr sz="2475" baseline="-10101" dirty="0">
                <a:latin typeface="Wingdings"/>
                <a:cs typeface="Wingdings"/>
              </a:rPr>
              <a:t></a:t>
            </a:r>
            <a:r>
              <a:rPr sz="2475" spc="97" baseline="-10101" dirty="0">
                <a:latin typeface="Times New Roman"/>
                <a:cs typeface="Times New Roman"/>
              </a:rPr>
              <a:t>  </a:t>
            </a:r>
            <a:r>
              <a:rPr sz="2475" spc="187" baseline="-10101" dirty="0">
                <a:latin typeface="Cambria"/>
                <a:cs typeface="Cambria"/>
              </a:rPr>
              <a:t>Many-</a:t>
            </a:r>
            <a:r>
              <a:rPr sz="2475" spc="104" baseline="-10101" dirty="0">
                <a:latin typeface="Cambria"/>
                <a:cs typeface="Cambria"/>
              </a:rPr>
              <a:t>to-</a:t>
            </a:r>
            <a:r>
              <a:rPr sz="2475" spc="202" baseline="-10101" dirty="0">
                <a:latin typeface="Cambria"/>
                <a:cs typeface="Cambria"/>
              </a:rPr>
              <a:t>many</a:t>
            </a:r>
            <a:r>
              <a:rPr sz="2475" spc="225" baseline="-10101" dirty="0">
                <a:latin typeface="Cambria"/>
                <a:cs typeface="Cambria"/>
              </a:rPr>
              <a:t> </a:t>
            </a:r>
            <a:r>
              <a:rPr sz="2475" spc="120" baseline="-10101" dirty="0">
                <a:latin typeface="Cambria"/>
                <a:cs typeface="Cambria"/>
              </a:rPr>
              <a:t>interaction</a:t>
            </a:r>
            <a:r>
              <a:rPr sz="2475" spc="254" baseline="-10101" dirty="0">
                <a:latin typeface="Cambria"/>
                <a:cs typeface="Cambria"/>
              </a:rPr>
              <a:t> </a:t>
            </a:r>
            <a:r>
              <a:rPr sz="2475" spc="112" baseline="-10101" dirty="0">
                <a:latin typeface="Cambria"/>
                <a:cs typeface="Cambria"/>
              </a:rPr>
              <a:t>between</a:t>
            </a:r>
            <a:r>
              <a:rPr sz="2475" spc="202" baseline="-10101" dirty="0">
                <a:latin typeface="Cambria"/>
                <a:cs typeface="Cambria"/>
              </a:rPr>
              <a:t> pubs.</a:t>
            </a:r>
            <a:endParaRPr sz="2475" baseline="-10101">
              <a:latin typeface="Cambria"/>
              <a:cs typeface="Cambri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>
              <a:lnSpc>
                <a:spcPct val="100000"/>
              </a:lnSpc>
              <a:spcBef>
                <a:spcPts val="105"/>
              </a:spcBef>
            </a:pPr>
            <a:r>
              <a:rPr spc="140" dirty="0"/>
              <a:t>and</a:t>
            </a:r>
            <a:r>
              <a:rPr spc="150" dirty="0"/>
              <a:t> </a:t>
            </a:r>
            <a:r>
              <a:rPr spc="140" dirty="0"/>
              <a:t>subs.</a:t>
            </a:r>
          </a:p>
          <a:p>
            <a:pPr marL="671830" indent="-281305">
              <a:lnSpc>
                <a:spcPct val="100000"/>
              </a:lnSpc>
              <a:buFont typeface="Wingdings"/>
              <a:buChar char=""/>
              <a:tabLst>
                <a:tab pos="671830" algn="l"/>
              </a:tabLst>
            </a:pPr>
            <a:r>
              <a:rPr spc="120" dirty="0"/>
              <a:t>Scalable</a:t>
            </a:r>
            <a:r>
              <a:rPr spc="170" dirty="0"/>
              <a:t> </a:t>
            </a:r>
            <a:r>
              <a:rPr spc="120" dirty="0"/>
              <a:t>scheme</a:t>
            </a:r>
            <a:r>
              <a:rPr spc="155" dirty="0"/>
              <a:t> </a:t>
            </a:r>
            <a:r>
              <a:rPr dirty="0"/>
              <a:t>for</a:t>
            </a:r>
            <a:r>
              <a:rPr spc="190" dirty="0"/>
              <a:t> </a:t>
            </a:r>
            <a:r>
              <a:rPr spc="80" dirty="0"/>
              <a:t>large-</a:t>
            </a:r>
            <a:r>
              <a:rPr spc="100" dirty="0"/>
              <a:t>scale</a:t>
            </a:r>
            <a:r>
              <a:rPr spc="170" dirty="0"/>
              <a:t> </a:t>
            </a:r>
            <a:r>
              <a:rPr spc="95" dirty="0"/>
              <a:t>systems</a:t>
            </a:r>
          </a:p>
          <a:p>
            <a:pPr marL="671195" marR="856615" indent="-281305">
              <a:lnSpc>
                <a:spcPct val="100000"/>
              </a:lnSpc>
              <a:buFont typeface="Wingdings"/>
              <a:buChar char=""/>
              <a:tabLst>
                <a:tab pos="672465" algn="l"/>
              </a:tabLst>
            </a:pPr>
            <a:r>
              <a:rPr spc="100" dirty="0"/>
              <a:t>Publishers</a:t>
            </a:r>
            <a:r>
              <a:rPr spc="125" dirty="0"/>
              <a:t> </a:t>
            </a:r>
            <a:r>
              <a:rPr spc="70" dirty="0"/>
              <a:t>do</a:t>
            </a:r>
            <a:r>
              <a:rPr spc="175" dirty="0"/>
              <a:t> </a:t>
            </a:r>
            <a:r>
              <a:rPr spc="85" dirty="0"/>
              <a:t>not</a:t>
            </a:r>
            <a:r>
              <a:rPr spc="165" dirty="0"/>
              <a:t> </a:t>
            </a:r>
            <a:r>
              <a:rPr spc="100" dirty="0"/>
              <a:t>need</a:t>
            </a:r>
            <a:r>
              <a:rPr spc="125" dirty="0"/>
              <a:t> </a:t>
            </a:r>
            <a:r>
              <a:rPr spc="50" dirty="0"/>
              <a:t>to</a:t>
            </a:r>
            <a:r>
              <a:rPr spc="190" dirty="0"/>
              <a:t> </a:t>
            </a:r>
            <a:r>
              <a:rPr spc="70" dirty="0"/>
              <a:t>know 	</a:t>
            </a:r>
            <a:r>
              <a:rPr spc="110" dirty="0"/>
              <a:t>subscribers,</a:t>
            </a:r>
            <a:r>
              <a:rPr spc="125" dirty="0"/>
              <a:t> </a:t>
            </a:r>
            <a:r>
              <a:rPr spc="140" dirty="0"/>
              <a:t>and</a:t>
            </a:r>
            <a:r>
              <a:rPr spc="180" dirty="0"/>
              <a:t> </a:t>
            </a:r>
            <a:r>
              <a:rPr spc="70" dirty="0"/>
              <a:t>vice-</a:t>
            </a:r>
            <a:r>
              <a:rPr spc="50" dirty="0"/>
              <a:t>versa</a:t>
            </a:r>
          </a:p>
          <a:p>
            <a:pPr marL="671830" indent="-281305">
              <a:lnSpc>
                <a:spcPct val="100000"/>
              </a:lnSpc>
              <a:buFont typeface="Wingdings"/>
              <a:buChar char=""/>
              <a:tabLst>
                <a:tab pos="671830" algn="l"/>
              </a:tabLst>
            </a:pPr>
            <a:r>
              <a:rPr spc="130" dirty="0"/>
              <a:t>Dynamic</a:t>
            </a:r>
            <a:r>
              <a:rPr spc="145" dirty="0"/>
              <a:t> </a:t>
            </a:r>
            <a:r>
              <a:rPr spc="65" dirty="0"/>
              <a:t>join</a:t>
            </a:r>
            <a:r>
              <a:rPr spc="195" dirty="0"/>
              <a:t> </a:t>
            </a:r>
            <a:r>
              <a:rPr spc="135" dirty="0"/>
              <a:t>and</a:t>
            </a:r>
            <a:r>
              <a:rPr spc="185" dirty="0"/>
              <a:t> </a:t>
            </a:r>
            <a:r>
              <a:rPr spc="65" dirty="0"/>
              <a:t>leave</a:t>
            </a:r>
            <a:r>
              <a:rPr spc="150" dirty="0"/>
              <a:t> </a:t>
            </a:r>
            <a:r>
              <a:rPr dirty="0"/>
              <a:t>of</a:t>
            </a:r>
            <a:r>
              <a:rPr spc="185" dirty="0"/>
              <a:t> </a:t>
            </a:r>
            <a:r>
              <a:rPr spc="155" dirty="0"/>
              <a:t>pubs,</a:t>
            </a:r>
            <a:r>
              <a:rPr spc="150" dirty="0"/>
              <a:t> subs,</a:t>
            </a:r>
          </a:p>
          <a:p>
            <a:pPr marL="295910" marR="303530" indent="-283845">
              <a:lnSpc>
                <a:spcPct val="100000"/>
              </a:lnSpc>
              <a:buFont typeface="Wingdings"/>
              <a:buChar char=""/>
              <a:tabLst>
                <a:tab pos="295910" algn="l"/>
              </a:tabLst>
            </a:pPr>
            <a:r>
              <a:rPr dirty="0"/>
              <a:t>(Topic</a:t>
            </a:r>
            <a:r>
              <a:rPr spc="220" dirty="0"/>
              <a:t> </a:t>
            </a:r>
            <a:r>
              <a:rPr spc="75" dirty="0"/>
              <a:t>and)</a:t>
            </a:r>
            <a:r>
              <a:rPr spc="210" dirty="0"/>
              <a:t> </a:t>
            </a:r>
            <a:r>
              <a:rPr spc="114" dirty="0"/>
              <a:t>Content-</a:t>
            </a:r>
            <a:r>
              <a:rPr spc="120" dirty="0"/>
              <a:t>based</a:t>
            </a:r>
            <a:r>
              <a:rPr spc="165" dirty="0"/>
              <a:t> </a:t>
            </a:r>
            <a:r>
              <a:rPr spc="155" dirty="0"/>
              <a:t>pub/sub</a:t>
            </a:r>
            <a:r>
              <a:rPr spc="170" dirty="0"/>
              <a:t> </a:t>
            </a:r>
            <a:r>
              <a:rPr spc="-20" dirty="0"/>
              <a:t>very </a:t>
            </a:r>
            <a:r>
              <a:rPr spc="60" dirty="0"/>
              <a:t>expressive</a:t>
            </a:r>
          </a:p>
          <a:p>
            <a:pPr marL="671195" marR="313690" lvl="1" indent="-281305">
              <a:lnSpc>
                <a:spcPct val="100000"/>
              </a:lnSpc>
              <a:buFont typeface="Wingdings"/>
              <a:buChar char=""/>
              <a:tabLst>
                <a:tab pos="672465" algn="l"/>
              </a:tabLst>
            </a:pPr>
            <a:r>
              <a:rPr sz="1650" spc="65" dirty="0">
                <a:latin typeface="Cambria"/>
                <a:cs typeface="Cambria"/>
              </a:rPr>
              <a:t>Filtered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80" dirty="0">
                <a:latin typeface="Cambria"/>
                <a:cs typeface="Cambria"/>
              </a:rPr>
              <a:t>information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55" dirty="0">
                <a:latin typeface="Cambria"/>
                <a:cs typeface="Cambria"/>
              </a:rPr>
              <a:t>delivered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0" dirty="0">
                <a:latin typeface="Cambria"/>
                <a:cs typeface="Cambria"/>
              </a:rPr>
              <a:t>only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25" dirty="0">
                <a:latin typeface="Cambria"/>
                <a:cs typeface="Cambria"/>
              </a:rPr>
              <a:t>to 	</a:t>
            </a:r>
            <a:r>
              <a:rPr sz="1650" spc="75" dirty="0">
                <a:latin typeface="Cambria"/>
                <a:cs typeface="Cambria"/>
              </a:rPr>
              <a:t>interested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parties</a:t>
            </a:r>
            <a:endParaRPr sz="1650">
              <a:latin typeface="Cambria"/>
              <a:cs typeface="Cambria"/>
            </a:endParaRPr>
          </a:p>
          <a:p>
            <a:pPr marL="671195" marR="23495" lvl="1" indent="-281305">
              <a:lnSpc>
                <a:spcPct val="100000"/>
              </a:lnSpc>
              <a:buFont typeface="Wingdings"/>
              <a:buChar char=""/>
              <a:tabLst>
                <a:tab pos="672465" algn="l"/>
              </a:tabLst>
            </a:pPr>
            <a:r>
              <a:rPr sz="1650" spc="80" dirty="0">
                <a:latin typeface="Cambria"/>
                <a:cs typeface="Cambria"/>
              </a:rPr>
              <a:t>Efficient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content-</a:t>
            </a:r>
            <a:r>
              <a:rPr sz="1650" spc="114" dirty="0">
                <a:latin typeface="Cambria"/>
                <a:cs typeface="Cambria"/>
              </a:rPr>
              <a:t>based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routing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through 	</a:t>
            </a:r>
            <a:r>
              <a:rPr sz="1650" spc="160" dirty="0">
                <a:latin typeface="Cambria"/>
                <a:cs typeface="Cambria"/>
              </a:rPr>
              <a:t>a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broker</a:t>
            </a:r>
            <a:r>
              <a:rPr sz="1650" spc="12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network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8362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25"/>
              </a:spcBef>
            </a:pPr>
            <a:r>
              <a:rPr spc="130" dirty="0"/>
              <a:t>Summary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309" y="2382994"/>
            <a:ext cx="7769225" cy="3620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indent="-283210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295910" algn="l"/>
                <a:tab pos="5732145" algn="l"/>
              </a:tabLst>
            </a:pPr>
            <a:r>
              <a:rPr sz="1650" spc="75" dirty="0">
                <a:latin typeface="Cambria"/>
                <a:cs typeface="Cambria"/>
              </a:rPr>
              <a:t>Middleware</a:t>
            </a:r>
            <a:r>
              <a:rPr sz="1650" spc="13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is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60" dirty="0">
                <a:latin typeface="Cambria"/>
                <a:cs typeface="Cambria"/>
              </a:rPr>
              <a:t>an</a:t>
            </a:r>
            <a:r>
              <a:rPr sz="1650" spc="190" dirty="0">
                <a:latin typeface="Cambria"/>
                <a:cs typeface="Cambria"/>
              </a:rPr>
              <a:t> </a:t>
            </a:r>
            <a:r>
              <a:rPr sz="1650" spc="90" dirty="0">
                <a:latin typeface="Cambria"/>
                <a:cs typeface="Cambria"/>
              </a:rPr>
              <a:t>important</a:t>
            </a:r>
            <a:r>
              <a:rPr sz="1650" spc="17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abstraction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dirty="0">
                <a:latin typeface="Cambria"/>
                <a:cs typeface="Cambria"/>
              </a:rPr>
              <a:t>for</a:t>
            </a:r>
            <a:r>
              <a:rPr sz="1650" spc="195" dirty="0">
                <a:latin typeface="Cambria"/>
                <a:cs typeface="Cambria"/>
              </a:rPr>
              <a:t> </a:t>
            </a:r>
            <a:r>
              <a:rPr sz="1650" spc="85" dirty="0">
                <a:latin typeface="Cambria"/>
                <a:cs typeface="Cambria"/>
              </a:rPr>
              <a:t>building</a:t>
            </a:r>
            <a:r>
              <a:rPr sz="1650" dirty="0">
                <a:latin typeface="Cambria"/>
                <a:cs typeface="Cambria"/>
              </a:rPr>
              <a:t>	</a:t>
            </a:r>
            <a:r>
              <a:rPr sz="1650" spc="85" dirty="0">
                <a:latin typeface="Cambria"/>
                <a:cs typeface="Cambria"/>
              </a:rPr>
              <a:t>distributed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systems</a:t>
            </a:r>
            <a:endParaRPr sz="1650">
              <a:latin typeface="Cambria"/>
              <a:cs typeface="Cambria"/>
            </a:endParaRPr>
          </a:p>
          <a:p>
            <a:pPr marL="829310" lvl="1" indent="-376555">
              <a:lnSpc>
                <a:spcPct val="100000"/>
              </a:lnSpc>
              <a:spcBef>
                <a:spcPts val="1320"/>
              </a:spcBef>
              <a:buAutoNum type="arabicPeriod"/>
              <a:tabLst>
                <a:tab pos="829310" algn="l"/>
              </a:tabLst>
            </a:pPr>
            <a:r>
              <a:rPr sz="1650" spc="85" dirty="0">
                <a:latin typeface="Cambria"/>
                <a:cs typeface="Cambria"/>
              </a:rPr>
              <a:t>Remote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Procedure</a:t>
            </a:r>
            <a:r>
              <a:rPr sz="1650" spc="125" dirty="0">
                <a:latin typeface="Cambria"/>
                <a:cs typeface="Cambria"/>
              </a:rPr>
              <a:t> </a:t>
            </a:r>
            <a:r>
              <a:rPr sz="1650" spc="110" dirty="0">
                <a:latin typeface="Cambria"/>
                <a:cs typeface="Cambria"/>
              </a:rPr>
              <a:t>Call</a:t>
            </a:r>
            <a:endParaRPr sz="1650">
              <a:latin typeface="Cambria"/>
              <a:cs typeface="Cambria"/>
            </a:endParaRPr>
          </a:p>
          <a:p>
            <a:pPr marL="829310" lvl="1" indent="-376555">
              <a:lnSpc>
                <a:spcPct val="100000"/>
              </a:lnSpc>
              <a:spcBef>
                <a:spcPts val="1475"/>
              </a:spcBef>
              <a:buAutoNum type="arabicPeriod"/>
              <a:tabLst>
                <a:tab pos="829310" algn="l"/>
              </a:tabLst>
            </a:pPr>
            <a:r>
              <a:rPr sz="1650" spc="105" dirty="0">
                <a:latin typeface="Cambria"/>
                <a:cs typeface="Cambria"/>
              </a:rPr>
              <a:t>Object-</a:t>
            </a:r>
            <a:r>
              <a:rPr sz="1650" spc="85" dirty="0">
                <a:latin typeface="Cambria"/>
                <a:cs typeface="Cambria"/>
              </a:rPr>
              <a:t>Oriented</a:t>
            </a:r>
            <a:r>
              <a:rPr sz="1650" spc="17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Middleware</a:t>
            </a:r>
            <a:endParaRPr sz="1650">
              <a:latin typeface="Cambria"/>
              <a:cs typeface="Cambria"/>
            </a:endParaRPr>
          </a:p>
          <a:p>
            <a:pPr marL="829310" lvl="1" indent="-376555">
              <a:lnSpc>
                <a:spcPct val="100000"/>
              </a:lnSpc>
              <a:spcBef>
                <a:spcPts val="1490"/>
              </a:spcBef>
              <a:buAutoNum type="arabicPeriod"/>
              <a:tabLst>
                <a:tab pos="829310" algn="l"/>
              </a:tabLst>
            </a:pPr>
            <a:r>
              <a:rPr sz="1650" spc="105" dirty="0">
                <a:latin typeface="Cambria"/>
                <a:cs typeface="Cambria"/>
              </a:rPr>
              <a:t>Message-</a:t>
            </a:r>
            <a:r>
              <a:rPr sz="1650" spc="85" dirty="0">
                <a:latin typeface="Cambria"/>
                <a:cs typeface="Cambria"/>
              </a:rPr>
              <a:t>Oriented</a:t>
            </a:r>
            <a:r>
              <a:rPr sz="1650" spc="160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Middleware</a:t>
            </a:r>
            <a:endParaRPr sz="1650">
              <a:latin typeface="Cambria"/>
              <a:cs typeface="Cambria"/>
            </a:endParaRPr>
          </a:p>
          <a:p>
            <a:pPr marL="829310" lvl="1" indent="-37655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829310" algn="l"/>
              </a:tabLst>
            </a:pPr>
            <a:r>
              <a:rPr sz="1650" spc="105" dirty="0">
                <a:latin typeface="Cambria"/>
                <a:cs typeface="Cambria"/>
              </a:rPr>
              <a:t>Event-</a:t>
            </a:r>
            <a:r>
              <a:rPr sz="1650" spc="125" dirty="0">
                <a:latin typeface="Cambria"/>
                <a:cs typeface="Cambria"/>
              </a:rPr>
              <a:t>Based</a:t>
            </a:r>
            <a:r>
              <a:rPr sz="1650" spc="105" dirty="0">
                <a:latin typeface="Cambria"/>
                <a:cs typeface="Cambria"/>
              </a:rPr>
              <a:t> </a:t>
            </a:r>
            <a:r>
              <a:rPr sz="1650" spc="60" dirty="0">
                <a:latin typeface="Cambria"/>
                <a:cs typeface="Cambria"/>
              </a:rPr>
              <a:t>Middleware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25" dirty="0">
                <a:latin typeface="Cambria"/>
                <a:cs typeface="Cambria"/>
              </a:rPr>
              <a:t>Synchronous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vs.</a:t>
            </a:r>
            <a:r>
              <a:rPr sz="1650" spc="180" dirty="0">
                <a:latin typeface="Cambria"/>
                <a:cs typeface="Cambria"/>
              </a:rPr>
              <a:t> </a:t>
            </a:r>
            <a:r>
              <a:rPr sz="1650" spc="114" dirty="0">
                <a:latin typeface="Cambria"/>
                <a:cs typeface="Cambria"/>
              </a:rPr>
              <a:t>asynchronous</a:t>
            </a:r>
            <a:r>
              <a:rPr sz="1650" spc="145" dirty="0">
                <a:latin typeface="Cambria"/>
                <a:cs typeface="Cambria"/>
              </a:rPr>
              <a:t> </a:t>
            </a:r>
            <a:r>
              <a:rPr sz="1650" spc="105" dirty="0">
                <a:latin typeface="Cambria"/>
                <a:cs typeface="Cambria"/>
              </a:rPr>
              <a:t>communication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05" dirty="0">
                <a:latin typeface="Cambria"/>
                <a:cs typeface="Cambria"/>
              </a:rPr>
              <a:t>Scalability,</a:t>
            </a:r>
            <a:r>
              <a:rPr sz="1650" spc="155" dirty="0">
                <a:latin typeface="Cambria"/>
                <a:cs typeface="Cambria"/>
              </a:rPr>
              <a:t> </a:t>
            </a:r>
            <a:r>
              <a:rPr sz="1650" spc="130" dirty="0">
                <a:latin typeface="Cambria"/>
                <a:cs typeface="Cambria"/>
              </a:rPr>
              <a:t>many-</a:t>
            </a:r>
            <a:r>
              <a:rPr sz="1650" spc="65" dirty="0">
                <a:latin typeface="Cambria"/>
                <a:cs typeface="Cambria"/>
              </a:rPr>
              <a:t>to-</a:t>
            </a:r>
            <a:r>
              <a:rPr sz="1650" spc="135" dirty="0">
                <a:latin typeface="Cambria"/>
                <a:cs typeface="Cambria"/>
              </a:rPr>
              <a:t>many </a:t>
            </a:r>
            <a:r>
              <a:rPr sz="1650" spc="100" dirty="0">
                <a:latin typeface="Cambria"/>
                <a:cs typeface="Cambria"/>
              </a:rPr>
              <a:t>communication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070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20" dirty="0">
                <a:latin typeface="Cambria"/>
                <a:cs typeface="Cambria"/>
              </a:rPr>
              <a:t>Language</a:t>
            </a:r>
            <a:r>
              <a:rPr sz="1650" spc="150" dirty="0">
                <a:latin typeface="Cambria"/>
                <a:cs typeface="Cambria"/>
              </a:rPr>
              <a:t> </a:t>
            </a:r>
            <a:r>
              <a:rPr sz="1650" spc="65" dirty="0">
                <a:latin typeface="Cambria"/>
                <a:cs typeface="Cambria"/>
              </a:rPr>
              <a:t>integration</a:t>
            </a:r>
            <a:endParaRPr sz="1650">
              <a:latin typeface="Cambria"/>
              <a:cs typeface="Cambria"/>
            </a:endParaRPr>
          </a:p>
          <a:p>
            <a:pPr marL="295910" indent="-283210">
              <a:lnSpc>
                <a:spcPct val="100000"/>
              </a:lnSpc>
              <a:spcBef>
                <a:spcPts val="1485"/>
              </a:spcBef>
              <a:buFont typeface="Wingdings"/>
              <a:buChar char=""/>
              <a:tabLst>
                <a:tab pos="295910" algn="l"/>
              </a:tabLst>
            </a:pPr>
            <a:r>
              <a:rPr sz="1650" spc="110" dirty="0">
                <a:latin typeface="Cambria"/>
                <a:cs typeface="Cambria"/>
              </a:rPr>
              <a:t>Ubiquitous</a:t>
            </a:r>
            <a:r>
              <a:rPr sz="1650" spc="140" dirty="0">
                <a:latin typeface="Cambria"/>
                <a:cs typeface="Cambria"/>
              </a:rPr>
              <a:t> </a:t>
            </a:r>
            <a:r>
              <a:rPr sz="1650" spc="120" dirty="0">
                <a:latin typeface="Cambria"/>
                <a:cs typeface="Cambria"/>
              </a:rPr>
              <a:t>systems,</a:t>
            </a:r>
            <a:r>
              <a:rPr sz="1650" spc="110" dirty="0">
                <a:latin typeface="Cambria"/>
                <a:cs typeface="Cambria"/>
              </a:rPr>
              <a:t> </a:t>
            </a:r>
            <a:r>
              <a:rPr sz="1650" spc="75" dirty="0">
                <a:latin typeface="Cambria"/>
                <a:cs typeface="Cambria"/>
              </a:rPr>
              <a:t>mobile</a:t>
            </a:r>
            <a:r>
              <a:rPr sz="1650" spc="165" dirty="0">
                <a:latin typeface="Cambria"/>
                <a:cs typeface="Cambria"/>
              </a:rPr>
              <a:t> </a:t>
            </a:r>
            <a:r>
              <a:rPr sz="1650" spc="95" dirty="0">
                <a:latin typeface="Cambria"/>
                <a:cs typeface="Cambria"/>
              </a:rPr>
              <a:t>systems</a:t>
            </a:r>
            <a:endParaRPr sz="16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61708" y="6314975"/>
            <a:ext cx="217804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-25" dirty="0">
                <a:latin typeface="Calibri"/>
                <a:cs typeface="Calibri"/>
              </a:rPr>
              <a:t>32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54872" y="3398051"/>
            <a:ext cx="5207635" cy="1132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3368675" algn="l"/>
              </a:tabLst>
            </a:pPr>
            <a:r>
              <a:rPr sz="7250" spc="450" dirty="0"/>
              <a:t>Thank</a:t>
            </a:r>
            <a:r>
              <a:rPr sz="7250" dirty="0"/>
              <a:t>	</a:t>
            </a:r>
            <a:r>
              <a:rPr sz="7250" spc="455" dirty="0"/>
              <a:t>You</a:t>
            </a:r>
            <a:endParaRPr sz="725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127504"/>
            <a:ext cx="10058400" cy="4375785"/>
            <a:chOff x="0" y="2127504"/>
            <a:chExt cx="10058400" cy="4375785"/>
          </a:xfrm>
        </p:grpSpPr>
        <p:sp>
          <p:nvSpPr>
            <p:cNvPr id="3" name="object 3"/>
            <p:cNvSpPr/>
            <p:nvPr/>
          </p:nvSpPr>
          <p:spPr>
            <a:xfrm>
              <a:off x="2598419" y="2127504"/>
              <a:ext cx="2562225" cy="38100"/>
            </a:xfrm>
            <a:custGeom>
              <a:avLst/>
              <a:gdLst/>
              <a:ahLst/>
              <a:cxnLst/>
              <a:rect l="l" t="t" r="r" b="b"/>
              <a:pathLst>
                <a:path w="2562225" h="38100">
                  <a:moveTo>
                    <a:pt x="2561844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1844" y="0"/>
                  </a:lnTo>
                  <a:lnTo>
                    <a:pt x="2561844" y="38100"/>
                  </a:lnTo>
                  <a:close/>
                </a:path>
              </a:pathLst>
            </a:custGeom>
            <a:solidFill>
              <a:srgbClr val="75C1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2127504"/>
              <a:ext cx="2598420" cy="38100"/>
            </a:xfrm>
            <a:custGeom>
              <a:avLst/>
              <a:gdLst/>
              <a:ahLst/>
              <a:cxnLst/>
              <a:rect l="l" t="t" r="r" b="b"/>
              <a:pathLst>
                <a:path w="2598420" h="38100">
                  <a:moveTo>
                    <a:pt x="25984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98419" y="0"/>
                  </a:lnTo>
                  <a:lnTo>
                    <a:pt x="2598419" y="38100"/>
                  </a:lnTo>
                  <a:close/>
                </a:path>
              </a:pathLst>
            </a:custGeom>
            <a:solidFill>
              <a:srgbClr val="FBAF1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51120" y="2127504"/>
              <a:ext cx="2560320" cy="38100"/>
            </a:xfrm>
            <a:custGeom>
              <a:avLst/>
              <a:gdLst/>
              <a:ahLst/>
              <a:cxnLst/>
              <a:rect l="l" t="t" r="r" b="b"/>
              <a:pathLst>
                <a:path w="2560320" h="38100">
                  <a:moveTo>
                    <a:pt x="2560319" y="38100"/>
                  </a:moveTo>
                  <a:lnTo>
                    <a:pt x="0" y="38100"/>
                  </a:lnTo>
                  <a:lnTo>
                    <a:pt x="0" y="0"/>
                  </a:lnTo>
                  <a:lnTo>
                    <a:pt x="2560319" y="0"/>
                  </a:lnTo>
                  <a:lnTo>
                    <a:pt x="2560319" y="381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165604"/>
              <a:ext cx="10058400" cy="4335779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92340" y="1057656"/>
            <a:ext cx="2414016" cy="57149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5" dirty="0"/>
              <a:t> </a:t>
            </a:r>
            <a:r>
              <a:rPr dirty="0"/>
              <a:t>Pilani</a:t>
            </a:r>
            <a:r>
              <a:rPr spc="10" dirty="0"/>
              <a:t> </a:t>
            </a:r>
            <a:r>
              <a:rPr spc="-10" dirty="0"/>
              <a:t>Campus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</TotalTime>
  <Words>2738</Words>
  <Application>Microsoft Office PowerPoint</Application>
  <PresentationFormat>Custom</PresentationFormat>
  <Paragraphs>436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Arial MT</vt:lpstr>
      <vt:lpstr>Calibri</vt:lpstr>
      <vt:lpstr>Cambria</vt:lpstr>
      <vt:lpstr>Courier New</vt:lpstr>
      <vt:lpstr>Gadugi</vt:lpstr>
      <vt:lpstr>Times New Roman</vt:lpstr>
      <vt:lpstr>Wingdings</vt:lpstr>
      <vt:lpstr>Office Theme</vt:lpstr>
      <vt:lpstr>What is Middleware?</vt:lpstr>
      <vt:lpstr>What is Middleware?</vt:lpstr>
      <vt:lpstr>What is Middleware?</vt:lpstr>
      <vt:lpstr>What is Middleware?</vt:lpstr>
      <vt:lpstr>What is Middleware?</vt:lpstr>
      <vt:lpstr>Cont.</vt:lpstr>
      <vt:lpstr>Cont.</vt:lpstr>
      <vt:lpstr>Cont.</vt:lpstr>
      <vt:lpstr>Common Forms of MW</vt:lpstr>
      <vt:lpstr>Sockets</vt:lpstr>
      <vt:lpstr>Sockets API</vt:lpstr>
      <vt:lpstr>Sockets - Life Cycle</vt:lpstr>
      <vt:lpstr>Remote Procedure Call (RPC)</vt:lpstr>
      <vt:lpstr>Remote Procedure Call (RPC)</vt:lpstr>
      <vt:lpstr>Remote Procedure Call (RPC)</vt:lpstr>
      <vt:lpstr>Object-Oriented Middleware (OOM)</vt:lpstr>
      <vt:lpstr>Java Remote Method Invocation (RMI)</vt:lpstr>
      <vt:lpstr>CORBA</vt:lpstr>
      <vt:lpstr>CORBA IDL</vt:lpstr>
      <vt:lpstr>CORBA - Disadvantages</vt:lpstr>
      <vt:lpstr>Message-Oriented Middleware (MOM)</vt:lpstr>
      <vt:lpstr>Message-Oriented Middleware (MOM)</vt:lpstr>
      <vt:lpstr>MOM - Disadvantages</vt:lpstr>
      <vt:lpstr>Web Services</vt:lpstr>
      <vt:lpstr>Web Services</vt:lpstr>
      <vt:lpstr> Event-Based Middleware a.k .a. Publish/Subscribe</vt:lpstr>
      <vt:lpstr>Topic-Based and Content-Based Pub/Sub</vt:lpstr>
      <vt:lpstr>Summary</vt:lpstr>
      <vt:lpstr>Thank You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CS1_MWT Intro.ppt  -  Compatibility Mode</dc:title>
  <dc:creator>ifsrk</dc:creator>
  <cp:lastModifiedBy>Abid AK</cp:lastModifiedBy>
  <cp:revision>2</cp:revision>
  <dcterms:created xsi:type="dcterms:W3CDTF">2025-04-06T03:41:46Z</dcterms:created>
  <dcterms:modified xsi:type="dcterms:W3CDTF">2025-04-06T06:50:13Z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2023-05-05T00:00:00Z</vt:filetime>
  </property>
  <property fmtid="{D5CDD505-2E9C-101B-9397-08002B2CF9AE}" pid="3" name="LastSaved">
    <vt:filetime>2025-04-06T00:00:00Z</vt:filetime>
  </property>
  <property fmtid="{D5CDD505-2E9C-101B-9397-08002B2CF9AE}" pid="4" name="Producer">
    <vt:lpwstr>Microsoft: Print To PDF</vt:lpwstr>
  </property>
</Properties>
</file>