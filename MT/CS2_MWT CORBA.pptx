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7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94732" y="6461760"/>
            <a:ext cx="2562225" cy="41275"/>
          </a:xfrm>
          <a:custGeom>
            <a:avLst/>
            <a:gdLst/>
            <a:ahLst/>
            <a:cxnLst/>
            <a:rect l="l" t="t" r="r" b="b"/>
            <a:pathLst>
              <a:path w="2562225" h="41275">
                <a:moveTo>
                  <a:pt x="2561844" y="41147"/>
                </a:moveTo>
                <a:lnTo>
                  <a:pt x="0" y="41147"/>
                </a:lnTo>
                <a:lnTo>
                  <a:pt x="0" y="0"/>
                </a:lnTo>
                <a:lnTo>
                  <a:pt x="2561844" y="0"/>
                </a:lnTo>
                <a:lnTo>
                  <a:pt x="2561844" y="41147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00188" y="6461760"/>
            <a:ext cx="2458720" cy="38100"/>
          </a:xfrm>
          <a:custGeom>
            <a:avLst/>
            <a:gdLst/>
            <a:ahLst/>
            <a:cxnLst/>
            <a:rect l="l" t="t" r="r" b="b"/>
            <a:pathLst>
              <a:path w="2458720" h="38100">
                <a:moveTo>
                  <a:pt x="2458212" y="38100"/>
                </a:moveTo>
                <a:lnTo>
                  <a:pt x="0" y="38100"/>
                </a:lnTo>
                <a:lnTo>
                  <a:pt x="0" y="0"/>
                </a:lnTo>
                <a:lnTo>
                  <a:pt x="2458212" y="0"/>
                </a:lnTo>
                <a:lnTo>
                  <a:pt x="2458212" y="3810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3620" y="6461760"/>
            <a:ext cx="2839720" cy="41275"/>
          </a:xfrm>
          <a:custGeom>
            <a:avLst/>
            <a:gdLst/>
            <a:ahLst/>
            <a:cxnLst/>
            <a:rect l="l" t="t" r="r" b="b"/>
            <a:pathLst>
              <a:path w="2839720" h="41275">
                <a:moveTo>
                  <a:pt x="2839212" y="41147"/>
                </a:moveTo>
                <a:lnTo>
                  <a:pt x="0" y="41147"/>
                </a:lnTo>
                <a:lnTo>
                  <a:pt x="0" y="0"/>
                </a:lnTo>
                <a:lnTo>
                  <a:pt x="2839212" y="0"/>
                </a:lnTo>
                <a:lnTo>
                  <a:pt x="2839212" y="41147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45379" y="6464807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3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3" y="0"/>
                </a:lnTo>
                <a:lnTo>
                  <a:pt x="2561843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46960" y="6464807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20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20" y="0"/>
                </a:lnTo>
                <a:lnTo>
                  <a:pt x="2598420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98080" y="6464807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94732" y="6461760"/>
            <a:ext cx="2562225" cy="41275"/>
          </a:xfrm>
          <a:custGeom>
            <a:avLst/>
            <a:gdLst/>
            <a:ahLst/>
            <a:cxnLst/>
            <a:rect l="l" t="t" r="r" b="b"/>
            <a:pathLst>
              <a:path w="2562225" h="41275">
                <a:moveTo>
                  <a:pt x="2561844" y="41147"/>
                </a:moveTo>
                <a:lnTo>
                  <a:pt x="0" y="41147"/>
                </a:lnTo>
                <a:lnTo>
                  <a:pt x="0" y="0"/>
                </a:lnTo>
                <a:lnTo>
                  <a:pt x="2561844" y="0"/>
                </a:lnTo>
                <a:lnTo>
                  <a:pt x="2561844" y="41147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00188" y="6461760"/>
            <a:ext cx="2458720" cy="38100"/>
          </a:xfrm>
          <a:custGeom>
            <a:avLst/>
            <a:gdLst/>
            <a:ahLst/>
            <a:cxnLst/>
            <a:rect l="l" t="t" r="r" b="b"/>
            <a:pathLst>
              <a:path w="2458720" h="38100">
                <a:moveTo>
                  <a:pt x="2458212" y="38100"/>
                </a:moveTo>
                <a:lnTo>
                  <a:pt x="0" y="38100"/>
                </a:lnTo>
                <a:lnTo>
                  <a:pt x="0" y="0"/>
                </a:lnTo>
                <a:lnTo>
                  <a:pt x="2458212" y="0"/>
                </a:lnTo>
                <a:lnTo>
                  <a:pt x="2458212" y="3810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3620" y="6461760"/>
            <a:ext cx="2839720" cy="41275"/>
          </a:xfrm>
          <a:custGeom>
            <a:avLst/>
            <a:gdLst/>
            <a:ahLst/>
            <a:cxnLst/>
            <a:rect l="l" t="t" r="r" b="b"/>
            <a:pathLst>
              <a:path w="2839720" h="41275">
                <a:moveTo>
                  <a:pt x="2839212" y="41147"/>
                </a:moveTo>
                <a:lnTo>
                  <a:pt x="0" y="41147"/>
                </a:lnTo>
                <a:lnTo>
                  <a:pt x="0" y="0"/>
                </a:lnTo>
                <a:lnTo>
                  <a:pt x="2839212" y="0"/>
                </a:lnTo>
                <a:lnTo>
                  <a:pt x="2839212" y="41147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45379" y="6464807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3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3" y="0"/>
                </a:lnTo>
                <a:lnTo>
                  <a:pt x="2561843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46960" y="6464807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20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20" y="0"/>
                </a:lnTo>
                <a:lnTo>
                  <a:pt x="2598420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98080" y="6464807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94732" y="6461760"/>
            <a:ext cx="2562225" cy="41275"/>
          </a:xfrm>
          <a:custGeom>
            <a:avLst/>
            <a:gdLst/>
            <a:ahLst/>
            <a:cxnLst/>
            <a:rect l="l" t="t" r="r" b="b"/>
            <a:pathLst>
              <a:path w="2562225" h="41275">
                <a:moveTo>
                  <a:pt x="2561844" y="41147"/>
                </a:moveTo>
                <a:lnTo>
                  <a:pt x="0" y="41147"/>
                </a:lnTo>
                <a:lnTo>
                  <a:pt x="0" y="0"/>
                </a:lnTo>
                <a:lnTo>
                  <a:pt x="2561844" y="0"/>
                </a:lnTo>
                <a:lnTo>
                  <a:pt x="2561844" y="41147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00188" y="6461760"/>
            <a:ext cx="2458720" cy="38100"/>
          </a:xfrm>
          <a:custGeom>
            <a:avLst/>
            <a:gdLst/>
            <a:ahLst/>
            <a:cxnLst/>
            <a:rect l="l" t="t" r="r" b="b"/>
            <a:pathLst>
              <a:path w="2458720" h="38100">
                <a:moveTo>
                  <a:pt x="2458212" y="38100"/>
                </a:moveTo>
                <a:lnTo>
                  <a:pt x="0" y="38100"/>
                </a:lnTo>
                <a:lnTo>
                  <a:pt x="0" y="0"/>
                </a:lnTo>
                <a:lnTo>
                  <a:pt x="2458212" y="0"/>
                </a:lnTo>
                <a:lnTo>
                  <a:pt x="2458212" y="3810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3620" y="6461760"/>
            <a:ext cx="2839720" cy="41275"/>
          </a:xfrm>
          <a:custGeom>
            <a:avLst/>
            <a:gdLst/>
            <a:ahLst/>
            <a:cxnLst/>
            <a:rect l="l" t="t" r="r" b="b"/>
            <a:pathLst>
              <a:path w="2839720" h="41275">
                <a:moveTo>
                  <a:pt x="2839212" y="41147"/>
                </a:moveTo>
                <a:lnTo>
                  <a:pt x="0" y="41147"/>
                </a:lnTo>
                <a:lnTo>
                  <a:pt x="0" y="0"/>
                </a:lnTo>
                <a:lnTo>
                  <a:pt x="2839212" y="0"/>
                </a:lnTo>
                <a:lnTo>
                  <a:pt x="2839212" y="41147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45380" y="6464807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3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3" y="0"/>
                </a:lnTo>
                <a:lnTo>
                  <a:pt x="2561843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46959" y="6464807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20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20" y="0"/>
                </a:lnTo>
                <a:lnTo>
                  <a:pt x="2598420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98080" y="6464807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598419" y="1962911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4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4" y="0"/>
                </a:lnTo>
                <a:lnTo>
                  <a:pt x="2561844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962911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19" y="0"/>
                </a:lnTo>
                <a:lnTo>
                  <a:pt x="2598419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51120" y="1962911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25" y="1063210"/>
            <a:ext cx="6893017" cy="996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77" y="2078205"/>
            <a:ext cx="8550910" cy="4206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582571" y="6531586"/>
            <a:ext cx="1412240" cy="15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uder.org/corba/matrix/)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564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25"/>
              </a:spcBef>
            </a:pPr>
            <a:r>
              <a:rPr spc="215" dirty="0"/>
              <a:t>CORBA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098908"/>
            <a:ext cx="9670415" cy="308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 algn="just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229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Common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Object</a:t>
            </a:r>
            <a:r>
              <a:rPr sz="1650" spc="229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Request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Broker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Architecture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(CORBA)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standard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architecture</a:t>
            </a:r>
            <a:r>
              <a:rPr sz="1650" spc="229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system.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 algn="just">
              <a:lnSpc>
                <a:spcPct val="15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254" dirty="0">
                <a:latin typeface="Cambria"/>
                <a:cs typeface="Cambria"/>
              </a:rPr>
              <a:t> 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250" dirty="0">
                <a:latin typeface="Cambria"/>
                <a:cs typeface="Cambria"/>
              </a:rPr>
              <a:t>  </a:t>
            </a:r>
            <a:r>
              <a:rPr sz="1650" spc="85" dirty="0">
                <a:latin typeface="Cambria"/>
                <a:cs typeface="Cambria"/>
              </a:rPr>
              <a:t>designed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spc="55" dirty="0">
                <a:latin typeface="Cambria"/>
                <a:cs typeface="Cambria"/>
              </a:rPr>
              <a:t>allow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250" dirty="0">
                <a:latin typeface="Cambria"/>
                <a:cs typeface="Cambria"/>
              </a:rPr>
              <a:t>  </a:t>
            </a:r>
            <a:r>
              <a:rPr sz="1650" spc="80" dirty="0">
                <a:latin typeface="Cambria"/>
                <a:cs typeface="Cambria"/>
              </a:rPr>
              <a:t>objects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spc="65" dirty="0">
                <a:latin typeface="Cambria"/>
                <a:cs typeface="Cambria"/>
              </a:rPr>
              <a:t>interoperate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250" dirty="0">
                <a:latin typeface="Cambria"/>
                <a:cs typeface="Cambria"/>
              </a:rPr>
              <a:t> 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60" dirty="0">
                <a:latin typeface="Cambria"/>
                <a:cs typeface="Cambria"/>
              </a:rPr>
              <a:t>  </a:t>
            </a:r>
            <a:r>
              <a:rPr sz="1650" spc="70" dirty="0">
                <a:latin typeface="Cambria"/>
                <a:cs typeface="Cambria"/>
              </a:rPr>
              <a:t>heterogeneous </a:t>
            </a:r>
            <a:r>
              <a:rPr sz="1650" spc="90" dirty="0">
                <a:latin typeface="Cambria"/>
                <a:cs typeface="Cambria"/>
              </a:rPr>
              <a:t>environment,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where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can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be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implemented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different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programming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language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and/or </a:t>
            </a:r>
            <a:r>
              <a:rPr sz="1650" spc="65" dirty="0">
                <a:latin typeface="Cambria"/>
                <a:cs typeface="Cambria"/>
              </a:rPr>
              <a:t>deployed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different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platforms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not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itself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facility;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instead,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set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protocols.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564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25"/>
              </a:spcBef>
            </a:pPr>
            <a:r>
              <a:rPr spc="215" dirty="0"/>
              <a:t>CORBA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098908"/>
            <a:ext cx="9672320" cy="3482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5080" indent="-283845" algn="just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A</a:t>
            </a:r>
            <a:r>
              <a:rPr sz="1650" spc="220" dirty="0">
                <a:latin typeface="Cambria"/>
                <a:cs typeface="Cambria"/>
              </a:rPr>
              <a:t> 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60" dirty="0">
                <a:latin typeface="Cambria"/>
                <a:cs typeface="Cambria"/>
              </a:rPr>
              <a:t>facility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225" dirty="0">
                <a:latin typeface="Cambria"/>
                <a:cs typeface="Cambria"/>
              </a:rPr>
              <a:t>  </a:t>
            </a:r>
            <a:r>
              <a:rPr sz="1650" spc="90" dirty="0">
                <a:latin typeface="Cambria"/>
                <a:cs typeface="Cambria"/>
              </a:rPr>
              <a:t>adhere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90" dirty="0">
                <a:latin typeface="Cambria"/>
                <a:cs typeface="Cambria"/>
              </a:rPr>
              <a:t>these</a:t>
            </a:r>
            <a:r>
              <a:rPr sz="1650" spc="220" dirty="0">
                <a:latin typeface="Cambria"/>
                <a:cs typeface="Cambria"/>
              </a:rPr>
              <a:t>  </a:t>
            </a:r>
            <a:r>
              <a:rPr sz="1650" spc="65" dirty="0">
                <a:latin typeface="Cambria"/>
                <a:cs typeface="Cambria"/>
              </a:rPr>
              <a:t>protocols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225" dirty="0">
                <a:latin typeface="Cambria"/>
                <a:cs typeface="Cambria"/>
              </a:rPr>
              <a:t>  </a:t>
            </a:r>
            <a:r>
              <a:rPr sz="1650" spc="105" dirty="0">
                <a:latin typeface="Cambria"/>
                <a:cs typeface="Cambria"/>
              </a:rPr>
              <a:t>said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25" dirty="0">
                <a:latin typeface="Cambria"/>
                <a:cs typeface="Cambria"/>
              </a:rPr>
              <a:t>  </a:t>
            </a:r>
            <a:r>
              <a:rPr sz="1650" spc="80" dirty="0">
                <a:latin typeface="Cambria"/>
                <a:cs typeface="Cambria"/>
              </a:rPr>
              <a:t>be</a:t>
            </a:r>
            <a:r>
              <a:rPr sz="1650" spc="235" dirty="0">
                <a:latin typeface="Cambria"/>
                <a:cs typeface="Cambria"/>
              </a:rPr>
              <a:t>  </a:t>
            </a:r>
            <a:r>
              <a:rPr sz="1650" spc="170" dirty="0">
                <a:latin typeface="Cambria"/>
                <a:cs typeface="Cambria"/>
              </a:rPr>
              <a:t>CORBA- </a:t>
            </a:r>
            <a:r>
              <a:rPr sz="1650" spc="105" dirty="0">
                <a:latin typeface="Cambria"/>
                <a:cs typeface="Cambria"/>
              </a:rPr>
              <a:t>compliant,</a:t>
            </a:r>
            <a:r>
              <a:rPr sz="1650" spc="155" dirty="0">
                <a:latin typeface="Cambria"/>
                <a:cs typeface="Cambria"/>
              </a:rPr>
              <a:t>  </a:t>
            </a:r>
            <a:r>
              <a:rPr sz="1650" spc="135" dirty="0">
                <a:latin typeface="Cambria"/>
                <a:cs typeface="Cambria"/>
              </a:rPr>
              <a:t>and</a:t>
            </a:r>
            <a:r>
              <a:rPr sz="1650" spc="165" dirty="0">
                <a:latin typeface="Cambria"/>
                <a:cs typeface="Cambria"/>
              </a:rPr>
              <a:t> 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50" dirty="0">
                <a:latin typeface="Cambria"/>
                <a:cs typeface="Cambria"/>
              </a:rPr>
              <a:t> 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155" dirty="0">
                <a:latin typeface="Cambria"/>
                <a:cs typeface="Cambria"/>
              </a:rPr>
              <a:t>  </a:t>
            </a:r>
            <a:r>
              <a:rPr sz="1650" spc="80" dirty="0">
                <a:latin typeface="Cambria"/>
                <a:cs typeface="Cambria"/>
              </a:rPr>
              <a:t>objects</a:t>
            </a:r>
            <a:r>
              <a:rPr sz="1650" spc="155" dirty="0">
                <a:latin typeface="Cambria"/>
                <a:cs typeface="Cambria"/>
              </a:rPr>
              <a:t>  </a:t>
            </a:r>
            <a:r>
              <a:rPr sz="1650" spc="110" dirty="0">
                <a:latin typeface="Cambria"/>
                <a:cs typeface="Cambria"/>
              </a:rPr>
              <a:t>that</a:t>
            </a:r>
            <a:r>
              <a:rPr sz="1650" spc="160" dirty="0">
                <a:latin typeface="Cambria"/>
                <a:cs typeface="Cambria"/>
              </a:rPr>
              <a:t> 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60" dirty="0">
                <a:latin typeface="Cambria"/>
                <a:cs typeface="Cambria"/>
              </a:rPr>
              <a:t>  </a:t>
            </a:r>
            <a:r>
              <a:rPr sz="1650" spc="60" dirty="0">
                <a:latin typeface="Cambria"/>
                <a:cs typeface="Cambria"/>
              </a:rPr>
              <a:t>facility</a:t>
            </a:r>
            <a:r>
              <a:rPr sz="1650" spc="160" dirty="0">
                <a:latin typeface="Cambria"/>
                <a:cs typeface="Cambria"/>
              </a:rPr>
              <a:t>  </a:t>
            </a:r>
            <a:r>
              <a:rPr sz="1650" spc="95" dirty="0">
                <a:latin typeface="Cambria"/>
                <a:cs typeface="Cambria"/>
              </a:rPr>
              <a:t>support</a:t>
            </a:r>
            <a:r>
              <a:rPr sz="1650" spc="150" dirty="0">
                <a:latin typeface="Cambria"/>
                <a:cs typeface="Cambria"/>
              </a:rPr>
              <a:t>  can</a:t>
            </a:r>
            <a:r>
              <a:rPr sz="1650" spc="155" dirty="0">
                <a:latin typeface="Cambria"/>
                <a:cs typeface="Cambria"/>
              </a:rPr>
              <a:t>  </a:t>
            </a:r>
            <a:r>
              <a:rPr sz="1650" spc="65" dirty="0">
                <a:latin typeface="Cambria"/>
                <a:cs typeface="Cambria"/>
              </a:rPr>
              <a:t>interoperate</a:t>
            </a:r>
            <a:r>
              <a:rPr sz="1650" spc="155" dirty="0">
                <a:latin typeface="Cambria"/>
                <a:cs typeface="Cambria"/>
              </a:rPr>
              <a:t>  </a:t>
            </a:r>
            <a:r>
              <a:rPr sz="1650" spc="50" dirty="0">
                <a:latin typeface="Cambria"/>
                <a:cs typeface="Cambria"/>
              </a:rPr>
              <a:t>with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supported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other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80" dirty="0">
                <a:latin typeface="Cambria"/>
                <a:cs typeface="Cambria"/>
              </a:rPr>
              <a:t>CORBA-</a:t>
            </a:r>
            <a:r>
              <a:rPr sz="1650" spc="95" dirty="0">
                <a:latin typeface="Cambria"/>
                <a:cs typeface="Cambria"/>
              </a:rPr>
              <a:t>compliant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facilities.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very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rich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set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protocols.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55" dirty="0">
                <a:latin typeface="Cambria"/>
                <a:cs typeface="Cambria"/>
              </a:rPr>
              <a:t>We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will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focus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key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concepts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related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paradigm.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55" dirty="0">
                <a:latin typeface="Cambria"/>
                <a:cs typeface="Cambria"/>
              </a:rPr>
              <a:t>We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will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also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study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facility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based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75" dirty="0">
                <a:latin typeface="Cambria"/>
                <a:cs typeface="Cambria"/>
              </a:rPr>
              <a:t>CORBA: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IDL.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9252" y="2175762"/>
            <a:ext cx="123952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latin typeface="Cambria"/>
                <a:cs typeface="Cambria"/>
              </a:rPr>
              <a:t>Architecture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" y="2465832"/>
            <a:ext cx="5029200" cy="392125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059359" y="2667095"/>
            <a:ext cx="981075" cy="728345"/>
            <a:chOff x="7059359" y="2667095"/>
            <a:chExt cx="981075" cy="728345"/>
          </a:xfrm>
        </p:grpSpPr>
        <p:sp>
          <p:nvSpPr>
            <p:cNvPr id="5" name="object 5"/>
            <p:cNvSpPr/>
            <p:nvPr/>
          </p:nvSpPr>
          <p:spPr>
            <a:xfrm>
              <a:off x="7064121" y="2671857"/>
              <a:ext cx="971550" cy="683260"/>
            </a:xfrm>
            <a:custGeom>
              <a:avLst/>
              <a:gdLst/>
              <a:ahLst/>
              <a:cxnLst/>
              <a:rect l="l" t="t" r="r" b="b"/>
              <a:pathLst>
                <a:path w="971550" h="683260">
                  <a:moveTo>
                    <a:pt x="0" y="683037"/>
                  </a:moveTo>
                  <a:lnTo>
                    <a:pt x="971168" y="683037"/>
                  </a:lnTo>
                  <a:lnTo>
                    <a:pt x="971168" y="0"/>
                  </a:lnTo>
                  <a:lnTo>
                    <a:pt x="0" y="0"/>
                  </a:lnTo>
                  <a:lnTo>
                    <a:pt x="0" y="683037"/>
                  </a:lnTo>
                  <a:close/>
                </a:path>
              </a:pathLst>
            </a:custGeom>
            <a:solidFill>
              <a:srgbClr val="D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64121" y="2671857"/>
              <a:ext cx="971550" cy="718820"/>
            </a:xfrm>
            <a:custGeom>
              <a:avLst/>
              <a:gdLst/>
              <a:ahLst/>
              <a:cxnLst/>
              <a:rect l="l" t="t" r="r" b="b"/>
              <a:pathLst>
                <a:path w="971550" h="718820">
                  <a:moveTo>
                    <a:pt x="971168" y="0"/>
                  </a:moveTo>
                  <a:lnTo>
                    <a:pt x="95" y="0"/>
                  </a:lnTo>
                  <a:lnTo>
                    <a:pt x="0" y="718756"/>
                  </a:lnTo>
                  <a:lnTo>
                    <a:pt x="971073" y="718756"/>
                  </a:lnTo>
                  <a:lnTo>
                    <a:pt x="97116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201987" y="2914274"/>
            <a:ext cx="69469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75" dirty="0">
                <a:latin typeface="Times New Roman"/>
                <a:cs typeface="Times New Roman"/>
              </a:rPr>
              <a:t>object</a:t>
            </a:r>
            <a:r>
              <a:rPr sz="1350" b="1" spc="15" dirty="0">
                <a:latin typeface="Times New Roman"/>
                <a:cs typeface="Times New Roman"/>
              </a:rPr>
              <a:t> </a:t>
            </a:r>
            <a:r>
              <a:rPr sz="1350" b="1" spc="-120" dirty="0">
                <a:latin typeface="Times New Roman"/>
                <a:cs typeface="Times New Roman"/>
              </a:rPr>
              <a:t>client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7298" y="2829496"/>
            <a:ext cx="898525" cy="403860"/>
          </a:xfrm>
          <a:prstGeom prst="rect">
            <a:avLst/>
          </a:prstGeom>
          <a:solidFill>
            <a:srgbClr val="DFDFDF"/>
          </a:solidFill>
          <a:ln w="9181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790"/>
              </a:spcBef>
            </a:pPr>
            <a:r>
              <a:rPr sz="1350" b="1" spc="-185" dirty="0">
                <a:latin typeface="Times New Roman"/>
                <a:cs typeface="Times New Roman"/>
              </a:rPr>
              <a:t>naming</a:t>
            </a:r>
            <a:r>
              <a:rPr sz="1350" b="1" spc="-50" dirty="0">
                <a:latin typeface="Times New Roman"/>
                <a:cs typeface="Times New Roman"/>
              </a:rPr>
              <a:t> </a:t>
            </a:r>
            <a:r>
              <a:rPr sz="1350" b="1" spc="-105" dirty="0">
                <a:latin typeface="Times New Roman"/>
                <a:cs typeface="Times New Roman"/>
              </a:rPr>
              <a:t>service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39268" y="2976372"/>
            <a:ext cx="1701164" cy="999490"/>
            <a:chOff x="6339268" y="2976372"/>
            <a:chExt cx="1701164" cy="999490"/>
          </a:xfrm>
        </p:grpSpPr>
        <p:sp>
          <p:nvSpPr>
            <p:cNvPr id="10" name="object 10"/>
            <p:cNvSpPr/>
            <p:nvPr/>
          </p:nvSpPr>
          <p:spPr>
            <a:xfrm>
              <a:off x="6384035" y="3031236"/>
              <a:ext cx="633730" cy="0"/>
            </a:xfrm>
            <a:custGeom>
              <a:avLst/>
              <a:gdLst/>
              <a:ahLst/>
              <a:cxnLst/>
              <a:rect l="l" t="t" r="r" b="b"/>
              <a:pathLst>
                <a:path w="633729">
                  <a:moveTo>
                    <a:pt x="0" y="0"/>
                  </a:moveTo>
                  <a:lnTo>
                    <a:pt x="633221" y="0"/>
                  </a:lnTo>
                </a:path>
              </a:pathLst>
            </a:custGeom>
            <a:ln w="476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268" y="2978467"/>
              <a:ext cx="127444" cy="1077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580" y="2976372"/>
              <a:ext cx="127444" cy="1077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64120" y="3354895"/>
              <a:ext cx="971550" cy="615950"/>
            </a:xfrm>
            <a:custGeom>
              <a:avLst/>
              <a:gdLst/>
              <a:ahLst/>
              <a:cxnLst/>
              <a:rect l="l" t="t" r="r" b="b"/>
              <a:pathLst>
                <a:path w="971550" h="615950">
                  <a:moveTo>
                    <a:pt x="971073" y="615695"/>
                  </a:moveTo>
                  <a:lnTo>
                    <a:pt x="0" y="615695"/>
                  </a:lnTo>
                  <a:lnTo>
                    <a:pt x="95" y="0"/>
                  </a:lnTo>
                  <a:lnTo>
                    <a:pt x="971168" y="0"/>
                  </a:lnTo>
                  <a:lnTo>
                    <a:pt x="971073" y="615695"/>
                  </a:lnTo>
                  <a:close/>
                </a:path>
              </a:pathLst>
            </a:custGeom>
            <a:solidFill>
              <a:srgbClr val="F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64120" y="3354895"/>
              <a:ext cx="971550" cy="615950"/>
            </a:xfrm>
            <a:custGeom>
              <a:avLst/>
              <a:gdLst/>
              <a:ahLst/>
              <a:cxnLst/>
              <a:rect l="l" t="t" r="r" b="b"/>
              <a:pathLst>
                <a:path w="971550" h="615950">
                  <a:moveTo>
                    <a:pt x="971168" y="0"/>
                  </a:moveTo>
                  <a:lnTo>
                    <a:pt x="95" y="0"/>
                  </a:lnTo>
                  <a:lnTo>
                    <a:pt x="0" y="615695"/>
                  </a:lnTo>
                  <a:lnTo>
                    <a:pt x="971073" y="615695"/>
                  </a:lnTo>
                  <a:lnTo>
                    <a:pt x="97116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26092" y="2526265"/>
            <a:ext cx="384810" cy="3568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50"/>
              </a:spcBef>
            </a:pPr>
            <a:r>
              <a:rPr sz="1100" b="1" spc="-130" dirty="0">
                <a:latin typeface="Times New Roman"/>
                <a:cs typeface="Times New Roman"/>
              </a:rPr>
              <a:t>naming</a:t>
            </a:r>
            <a:r>
              <a:rPr sz="1100" b="1" spc="500" dirty="0">
                <a:latin typeface="Times New Roman"/>
                <a:cs typeface="Times New Roman"/>
              </a:rPr>
              <a:t> </a:t>
            </a:r>
            <a:r>
              <a:rPr sz="1100" b="1" spc="-80" dirty="0">
                <a:latin typeface="Times New Roman"/>
                <a:cs typeface="Times New Roman"/>
              </a:rPr>
              <a:t>lookup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8760" y="3359438"/>
            <a:ext cx="479425" cy="613410"/>
          </a:xfrm>
          <a:prstGeom prst="rect">
            <a:avLst/>
          </a:prstGeom>
          <a:solidFill>
            <a:srgbClr val="FFDFD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R="10160" algn="r">
              <a:lnSpc>
                <a:spcPct val="100000"/>
              </a:lnSpc>
            </a:pPr>
            <a:r>
              <a:rPr sz="1350" b="1" spc="-25" dirty="0">
                <a:latin typeface="Times New Roman"/>
                <a:cs typeface="Times New Roman"/>
              </a:rPr>
              <a:t>st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52849" y="3359438"/>
            <a:ext cx="478155" cy="613410"/>
          </a:xfrm>
          <a:prstGeom prst="rect">
            <a:avLst/>
          </a:prstGeom>
          <a:solidFill>
            <a:srgbClr val="FFDFD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350" b="1" spc="-25" dirty="0">
                <a:latin typeface="Times New Roman"/>
                <a:cs typeface="Times New Roman"/>
              </a:rPr>
              <a:t>ub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59359" y="3978402"/>
            <a:ext cx="981075" cy="628015"/>
            <a:chOff x="7059359" y="3978402"/>
            <a:chExt cx="981075" cy="628015"/>
          </a:xfrm>
        </p:grpSpPr>
        <p:sp>
          <p:nvSpPr>
            <p:cNvPr id="19" name="object 19"/>
            <p:cNvSpPr/>
            <p:nvPr/>
          </p:nvSpPr>
          <p:spPr>
            <a:xfrm>
              <a:off x="7064121" y="3983164"/>
              <a:ext cx="971550" cy="580390"/>
            </a:xfrm>
            <a:custGeom>
              <a:avLst/>
              <a:gdLst/>
              <a:ahLst/>
              <a:cxnLst/>
              <a:rect l="l" t="t" r="r" b="b"/>
              <a:pathLst>
                <a:path w="971550" h="580389">
                  <a:moveTo>
                    <a:pt x="0" y="579977"/>
                  </a:moveTo>
                  <a:lnTo>
                    <a:pt x="971168" y="579977"/>
                  </a:lnTo>
                  <a:lnTo>
                    <a:pt x="971168" y="0"/>
                  </a:lnTo>
                  <a:lnTo>
                    <a:pt x="0" y="0"/>
                  </a:lnTo>
                  <a:lnTo>
                    <a:pt x="0" y="579977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64121" y="3983164"/>
              <a:ext cx="971550" cy="618490"/>
            </a:xfrm>
            <a:custGeom>
              <a:avLst/>
              <a:gdLst/>
              <a:ahLst/>
              <a:cxnLst/>
              <a:rect l="l" t="t" r="r" b="b"/>
              <a:pathLst>
                <a:path w="971550" h="618489">
                  <a:moveTo>
                    <a:pt x="971168" y="0"/>
                  </a:moveTo>
                  <a:lnTo>
                    <a:pt x="95" y="0"/>
                  </a:lnTo>
                  <a:lnTo>
                    <a:pt x="0" y="617886"/>
                  </a:lnTo>
                  <a:lnTo>
                    <a:pt x="971073" y="617886"/>
                  </a:lnTo>
                  <a:lnTo>
                    <a:pt x="97116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401652" y="4174642"/>
            <a:ext cx="30162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285" dirty="0">
                <a:latin typeface="Times New Roman"/>
                <a:cs typeface="Times New Roman"/>
              </a:rPr>
              <a:t>ORB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54881" y="4558379"/>
            <a:ext cx="989965" cy="527050"/>
            <a:chOff x="7054881" y="4558379"/>
            <a:chExt cx="989965" cy="527050"/>
          </a:xfrm>
        </p:grpSpPr>
        <p:sp>
          <p:nvSpPr>
            <p:cNvPr id="23" name="object 23"/>
            <p:cNvSpPr/>
            <p:nvPr/>
          </p:nvSpPr>
          <p:spPr>
            <a:xfrm>
              <a:off x="7059644" y="456314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122" y="517016"/>
                  </a:moveTo>
                  <a:lnTo>
                    <a:pt x="0" y="517016"/>
                  </a:lnTo>
                  <a:lnTo>
                    <a:pt x="95" y="0"/>
                  </a:lnTo>
                  <a:lnTo>
                    <a:pt x="980218" y="0"/>
                  </a:lnTo>
                  <a:lnTo>
                    <a:pt x="980122" y="517016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59644" y="456314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218" y="0"/>
                  </a:moveTo>
                  <a:lnTo>
                    <a:pt x="95" y="0"/>
                  </a:lnTo>
                  <a:lnTo>
                    <a:pt x="0" y="517016"/>
                  </a:lnTo>
                  <a:lnTo>
                    <a:pt x="980122" y="517016"/>
                  </a:lnTo>
                  <a:lnTo>
                    <a:pt x="98021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05602" y="4703435"/>
            <a:ext cx="47879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75" dirty="0">
                <a:latin typeface="Times New Roman"/>
                <a:cs typeface="Times New Roman"/>
              </a:rPr>
              <a:t>network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054881" y="5087969"/>
            <a:ext cx="989965" cy="527050"/>
            <a:chOff x="7054881" y="5087969"/>
            <a:chExt cx="989965" cy="527050"/>
          </a:xfrm>
        </p:grpSpPr>
        <p:sp>
          <p:nvSpPr>
            <p:cNvPr id="27" name="object 27"/>
            <p:cNvSpPr/>
            <p:nvPr/>
          </p:nvSpPr>
          <p:spPr>
            <a:xfrm>
              <a:off x="7059644" y="509273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122" y="517017"/>
                  </a:moveTo>
                  <a:lnTo>
                    <a:pt x="0" y="517017"/>
                  </a:lnTo>
                  <a:lnTo>
                    <a:pt x="95" y="0"/>
                  </a:lnTo>
                  <a:lnTo>
                    <a:pt x="980218" y="0"/>
                  </a:lnTo>
                  <a:lnTo>
                    <a:pt x="980122" y="517017"/>
                  </a:lnTo>
                  <a:close/>
                </a:path>
              </a:pathLst>
            </a:custGeom>
            <a:solidFill>
              <a:srgbClr val="F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59644" y="509273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218" y="0"/>
                  </a:moveTo>
                  <a:lnTo>
                    <a:pt x="95" y="0"/>
                  </a:lnTo>
                  <a:lnTo>
                    <a:pt x="0" y="517017"/>
                  </a:lnTo>
                  <a:lnTo>
                    <a:pt x="980122" y="517017"/>
                  </a:lnTo>
                  <a:lnTo>
                    <a:pt x="98021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73625" y="5127134"/>
            <a:ext cx="554990" cy="44830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0645" marR="5080" indent="-68580">
              <a:lnSpc>
                <a:spcPct val="103699"/>
              </a:lnSpc>
              <a:spcBef>
                <a:spcPts val="60"/>
              </a:spcBef>
            </a:pPr>
            <a:r>
              <a:rPr sz="1350" b="1" spc="-165" dirty="0">
                <a:latin typeface="Times New Roman"/>
                <a:cs typeface="Times New Roman"/>
              </a:rPr>
              <a:t>operating</a:t>
            </a:r>
            <a:r>
              <a:rPr sz="1350" b="1" spc="-60" dirty="0">
                <a:latin typeface="Times New Roman"/>
                <a:cs typeface="Times New Roman"/>
              </a:rPr>
              <a:t> system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877204" y="2667095"/>
            <a:ext cx="981075" cy="728345"/>
            <a:chOff x="8877204" y="2667095"/>
            <a:chExt cx="981075" cy="728345"/>
          </a:xfrm>
        </p:grpSpPr>
        <p:sp>
          <p:nvSpPr>
            <p:cNvPr id="31" name="object 31"/>
            <p:cNvSpPr/>
            <p:nvPr/>
          </p:nvSpPr>
          <p:spPr>
            <a:xfrm>
              <a:off x="8881967" y="2671857"/>
              <a:ext cx="971550" cy="683260"/>
            </a:xfrm>
            <a:custGeom>
              <a:avLst/>
              <a:gdLst/>
              <a:ahLst/>
              <a:cxnLst/>
              <a:rect l="l" t="t" r="r" b="b"/>
              <a:pathLst>
                <a:path w="971550" h="683260">
                  <a:moveTo>
                    <a:pt x="0" y="683037"/>
                  </a:moveTo>
                  <a:lnTo>
                    <a:pt x="971073" y="683037"/>
                  </a:lnTo>
                  <a:lnTo>
                    <a:pt x="971073" y="0"/>
                  </a:lnTo>
                  <a:lnTo>
                    <a:pt x="0" y="0"/>
                  </a:lnTo>
                  <a:lnTo>
                    <a:pt x="0" y="683037"/>
                  </a:lnTo>
                  <a:close/>
                </a:path>
              </a:pathLst>
            </a:custGeom>
            <a:solidFill>
              <a:srgbClr val="B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881967" y="2671857"/>
              <a:ext cx="971550" cy="718820"/>
            </a:xfrm>
            <a:custGeom>
              <a:avLst/>
              <a:gdLst/>
              <a:ahLst/>
              <a:cxnLst/>
              <a:rect l="l" t="t" r="r" b="b"/>
              <a:pathLst>
                <a:path w="971550" h="718820">
                  <a:moveTo>
                    <a:pt x="971073" y="0"/>
                  </a:moveTo>
                  <a:lnTo>
                    <a:pt x="95" y="0"/>
                  </a:lnTo>
                  <a:lnTo>
                    <a:pt x="0" y="718756"/>
                  </a:lnTo>
                  <a:lnTo>
                    <a:pt x="970979" y="718756"/>
                  </a:lnTo>
                  <a:lnTo>
                    <a:pt x="971073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914980" y="2806028"/>
            <a:ext cx="905510" cy="4495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276860">
              <a:lnSpc>
                <a:spcPct val="104400"/>
              </a:lnSpc>
              <a:spcBef>
                <a:spcPts val="50"/>
              </a:spcBef>
            </a:pPr>
            <a:r>
              <a:rPr sz="1350" b="1" spc="-10" dirty="0">
                <a:latin typeface="Times New Roman"/>
                <a:cs typeface="Times New Roman"/>
              </a:rPr>
              <a:t>object </a:t>
            </a:r>
            <a:r>
              <a:rPr sz="1350" b="1" spc="-165" dirty="0">
                <a:latin typeface="Times New Roman"/>
                <a:cs typeface="Times New Roman"/>
              </a:rPr>
              <a:t>implementation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877204" y="3350133"/>
            <a:ext cx="981075" cy="625475"/>
            <a:chOff x="8877204" y="3350133"/>
            <a:chExt cx="981075" cy="625475"/>
          </a:xfrm>
        </p:grpSpPr>
        <p:sp>
          <p:nvSpPr>
            <p:cNvPr id="35" name="object 35"/>
            <p:cNvSpPr/>
            <p:nvPr/>
          </p:nvSpPr>
          <p:spPr>
            <a:xfrm>
              <a:off x="8881967" y="3354895"/>
              <a:ext cx="971550" cy="615950"/>
            </a:xfrm>
            <a:custGeom>
              <a:avLst/>
              <a:gdLst/>
              <a:ahLst/>
              <a:cxnLst/>
              <a:rect l="l" t="t" r="r" b="b"/>
              <a:pathLst>
                <a:path w="971550" h="615950">
                  <a:moveTo>
                    <a:pt x="970979" y="615695"/>
                  </a:moveTo>
                  <a:lnTo>
                    <a:pt x="0" y="615695"/>
                  </a:lnTo>
                  <a:lnTo>
                    <a:pt x="95" y="0"/>
                  </a:lnTo>
                  <a:lnTo>
                    <a:pt x="971073" y="0"/>
                  </a:lnTo>
                  <a:lnTo>
                    <a:pt x="970979" y="615695"/>
                  </a:lnTo>
                  <a:close/>
                </a:path>
              </a:pathLst>
            </a:custGeom>
            <a:solidFill>
              <a:srgbClr val="FFA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81967" y="3354895"/>
              <a:ext cx="971550" cy="615950"/>
            </a:xfrm>
            <a:custGeom>
              <a:avLst/>
              <a:gdLst/>
              <a:ahLst/>
              <a:cxnLst/>
              <a:rect l="l" t="t" r="r" b="b"/>
              <a:pathLst>
                <a:path w="971550" h="615950">
                  <a:moveTo>
                    <a:pt x="971073" y="0"/>
                  </a:moveTo>
                  <a:lnTo>
                    <a:pt x="95" y="0"/>
                  </a:lnTo>
                  <a:lnTo>
                    <a:pt x="0" y="615695"/>
                  </a:lnTo>
                  <a:lnTo>
                    <a:pt x="970979" y="615695"/>
                  </a:lnTo>
                  <a:lnTo>
                    <a:pt x="971073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886605" y="3359438"/>
            <a:ext cx="479425" cy="613410"/>
          </a:xfrm>
          <a:prstGeom prst="rect">
            <a:avLst/>
          </a:prstGeom>
          <a:solidFill>
            <a:srgbClr val="FFA0A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sz="1350" b="1" spc="-105" dirty="0">
                <a:latin typeface="Times New Roman"/>
                <a:cs typeface="Times New Roman"/>
              </a:rPr>
              <a:t>skel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370599" y="3359438"/>
            <a:ext cx="478155" cy="613410"/>
          </a:xfrm>
          <a:prstGeom prst="rect">
            <a:avLst/>
          </a:prstGeom>
          <a:solidFill>
            <a:srgbClr val="FFA0A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350" b="1" spc="-20" dirty="0">
                <a:latin typeface="Times New Roman"/>
                <a:cs typeface="Times New Roman"/>
              </a:rPr>
              <a:t>eton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877204" y="3978402"/>
            <a:ext cx="981075" cy="628015"/>
            <a:chOff x="8877204" y="3978402"/>
            <a:chExt cx="981075" cy="628015"/>
          </a:xfrm>
        </p:grpSpPr>
        <p:sp>
          <p:nvSpPr>
            <p:cNvPr id="40" name="object 40"/>
            <p:cNvSpPr/>
            <p:nvPr/>
          </p:nvSpPr>
          <p:spPr>
            <a:xfrm>
              <a:off x="8881967" y="3983164"/>
              <a:ext cx="971550" cy="580390"/>
            </a:xfrm>
            <a:custGeom>
              <a:avLst/>
              <a:gdLst/>
              <a:ahLst/>
              <a:cxnLst/>
              <a:rect l="l" t="t" r="r" b="b"/>
              <a:pathLst>
                <a:path w="971550" h="580389">
                  <a:moveTo>
                    <a:pt x="0" y="579977"/>
                  </a:moveTo>
                  <a:lnTo>
                    <a:pt x="971073" y="579977"/>
                  </a:lnTo>
                  <a:lnTo>
                    <a:pt x="971073" y="0"/>
                  </a:lnTo>
                  <a:lnTo>
                    <a:pt x="0" y="0"/>
                  </a:lnTo>
                  <a:lnTo>
                    <a:pt x="0" y="579977"/>
                  </a:lnTo>
                  <a:close/>
                </a:path>
              </a:pathLst>
            </a:custGeom>
            <a:solidFill>
              <a:srgbClr val="BF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881967" y="3983164"/>
              <a:ext cx="971550" cy="618490"/>
            </a:xfrm>
            <a:custGeom>
              <a:avLst/>
              <a:gdLst/>
              <a:ahLst/>
              <a:cxnLst/>
              <a:rect l="l" t="t" r="r" b="b"/>
              <a:pathLst>
                <a:path w="971550" h="618489">
                  <a:moveTo>
                    <a:pt x="971073" y="0"/>
                  </a:moveTo>
                  <a:lnTo>
                    <a:pt x="95" y="0"/>
                  </a:lnTo>
                  <a:lnTo>
                    <a:pt x="0" y="617886"/>
                  </a:lnTo>
                  <a:lnTo>
                    <a:pt x="970979" y="617886"/>
                  </a:lnTo>
                  <a:lnTo>
                    <a:pt x="971073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219782" y="4174642"/>
            <a:ext cx="30162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285" dirty="0">
                <a:latin typeface="Times New Roman"/>
                <a:cs typeface="Times New Roman"/>
              </a:rPr>
              <a:t>ORB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72632" y="4558379"/>
            <a:ext cx="989965" cy="527050"/>
            <a:chOff x="8872632" y="4558379"/>
            <a:chExt cx="989965" cy="527050"/>
          </a:xfrm>
        </p:grpSpPr>
        <p:sp>
          <p:nvSpPr>
            <p:cNvPr id="44" name="object 44"/>
            <p:cNvSpPr/>
            <p:nvPr/>
          </p:nvSpPr>
          <p:spPr>
            <a:xfrm>
              <a:off x="8877395" y="456314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122" y="517016"/>
                  </a:moveTo>
                  <a:lnTo>
                    <a:pt x="0" y="517016"/>
                  </a:lnTo>
                  <a:lnTo>
                    <a:pt x="95" y="0"/>
                  </a:lnTo>
                  <a:lnTo>
                    <a:pt x="980218" y="0"/>
                  </a:lnTo>
                  <a:lnTo>
                    <a:pt x="980122" y="517016"/>
                  </a:lnTo>
                  <a:close/>
                </a:path>
              </a:pathLst>
            </a:custGeom>
            <a:solidFill>
              <a:srgbClr val="D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77395" y="456314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218" y="0"/>
                  </a:moveTo>
                  <a:lnTo>
                    <a:pt x="95" y="0"/>
                  </a:lnTo>
                  <a:lnTo>
                    <a:pt x="0" y="517016"/>
                  </a:lnTo>
                  <a:lnTo>
                    <a:pt x="980122" y="517016"/>
                  </a:lnTo>
                  <a:lnTo>
                    <a:pt x="98021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123771" y="4703435"/>
            <a:ext cx="47879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75" dirty="0">
                <a:latin typeface="Times New Roman"/>
                <a:cs typeface="Times New Roman"/>
              </a:rPr>
              <a:t>network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872632" y="5087969"/>
            <a:ext cx="989965" cy="527050"/>
            <a:chOff x="8872632" y="5087969"/>
            <a:chExt cx="989965" cy="527050"/>
          </a:xfrm>
        </p:grpSpPr>
        <p:sp>
          <p:nvSpPr>
            <p:cNvPr id="48" name="object 48"/>
            <p:cNvSpPr/>
            <p:nvPr/>
          </p:nvSpPr>
          <p:spPr>
            <a:xfrm>
              <a:off x="8877395" y="509273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122" y="517017"/>
                  </a:moveTo>
                  <a:lnTo>
                    <a:pt x="0" y="517017"/>
                  </a:lnTo>
                  <a:lnTo>
                    <a:pt x="95" y="0"/>
                  </a:lnTo>
                  <a:lnTo>
                    <a:pt x="980218" y="0"/>
                  </a:lnTo>
                  <a:lnTo>
                    <a:pt x="980122" y="517017"/>
                  </a:lnTo>
                  <a:close/>
                </a:path>
              </a:pathLst>
            </a:custGeom>
            <a:solidFill>
              <a:srgbClr val="FFB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877395" y="5092731"/>
              <a:ext cx="980440" cy="517525"/>
            </a:xfrm>
            <a:custGeom>
              <a:avLst/>
              <a:gdLst/>
              <a:ahLst/>
              <a:cxnLst/>
              <a:rect l="l" t="t" r="r" b="b"/>
              <a:pathLst>
                <a:path w="980440" h="517525">
                  <a:moveTo>
                    <a:pt x="980218" y="0"/>
                  </a:moveTo>
                  <a:lnTo>
                    <a:pt x="95" y="0"/>
                  </a:lnTo>
                  <a:lnTo>
                    <a:pt x="0" y="517017"/>
                  </a:lnTo>
                  <a:lnTo>
                    <a:pt x="980122" y="517017"/>
                  </a:lnTo>
                  <a:lnTo>
                    <a:pt x="980218" y="0"/>
                  </a:lnTo>
                  <a:close/>
                </a:path>
              </a:pathLst>
            </a:custGeom>
            <a:ln w="9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091755" y="5127134"/>
            <a:ext cx="55372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55" dirty="0">
                <a:latin typeface="Times New Roman"/>
                <a:cs typeface="Times New Roman"/>
              </a:rPr>
              <a:t>operating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86605" y="5340453"/>
            <a:ext cx="96202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1350" b="1" spc="-10" dirty="0">
                <a:latin typeface="Times New Roman"/>
                <a:cs typeface="Times New Roman"/>
              </a:rPr>
              <a:t>system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477791" y="2774632"/>
            <a:ext cx="1929764" cy="2730500"/>
            <a:chOff x="7477791" y="2774632"/>
            <a:chExt cx="1929764" cy="2730500"/>
          </a:xfrm>
        </p:grpSpPr>
        <p:sp>
          <p:nvSpPr>
            <p:cNvPr id="53" name="object 53"/>
            <p:cNvSpPr/>
            <p:nvPr/>
          </p:nvSpPr>
          <p:spPr>
            <a:xfrm>
              <a:off x="7777733" y="4292155"/>
              <a:ext cx="1402715" cy="0"/>
            </a:xfrm>
            <a:custGeom>
              <a:avLst/>
              <a:gdLst/>
              <a:ahLst/>
              <a:cxnLst/>
              <a:rect l="l" t="t" r="r" b="b"/>
              <a:pathLst>
                <a:path w="1402715">
                  <a:moveTo>
                    <a:pt x="0" y="0"/>
                  </a:moveTo>
                  <a:lnTo>
                    <a:pt x="1402651" y="0"/>
                  </a:lnTo>
                </a:path>
              </a:pathLst>
            </a:custGeom>
            <a:ln w="4762">
              <a:solidFill>
                <a:srgbClr val="0000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7708" y="4237196"/>
              <a:ext cx="127539" cy="10772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550467" y="3144774"/>
              <a:ext cx="0" cy="2248535"/>
            </a:xfrm>
            <a:custGeom>
              <a:avLst/>
              <a:gdLst/>
              <a:ahLst/>
              <a:cxnLst/>
              <a:rect l="l" t="t" r="r" b="b"/>
              <a:pathLst>
                <a:path h="2248535">
                  <a:moveTo>
                    <a:pt x="0" y="0"/>
                  </a:moveTo>
                  <a:lnTo>
                    <a:pt x="0" y="2248471"/>
                  </a:lnTo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1700" y="5279517"/>
              <a:ext cx="77533" cy="1749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550467" y="5452110"/>
              <a:ext cx="1775460" cy="0"/>
            </a:xfrm>
            <a:custGeom>
              <a:avLst/>
              <a:gdLst/>
              <a:ahLst/>
              <a:cxnLst/>
              <a:rect l="l" t="t" r="r" b="b"/>
              <a:pathLst>
                <a:path w="1775459">
                  <a:moveTo>
                    <a:pt x="0" y="0"/>
                  </a:moveTo>
                  <a:lnTo>
                    <a:pt x="1775364" y="0"/>
                  </a:lnTo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43154" y="5397150"/>
              <a:ext cx="127444" cy="10772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368218" y="309010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009"/>
                  </a:lnTo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29546" y="3028854"/>
              <a:ext cx="77438" cy="17497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477791" y="2829496"/>
              <a:ext cx="1775460" cy="0"/>
            </a:xfrm>
            <a:custGeom>
              <a:avLst/>
              <a:gdLst/>
              <a:ahLst/>
              <a:cxnLst/>
              <a:rect l="l" t="t" r="r" b="b"/>
              <a:pathLst>
                <a:path w="1775459">
                  <a:moveTo>
                    <a:pt x="0" y="0"/>
                  </a:moveTo>
                  <a:lnTo>
                    <a:pt x="1775364" y="0"/>
                  </a:lnTo>
                </a:path>
              </a:pathLst>
            </a:custGeom>
            <a:ln w="4762">
              <a:solidFill>
                <a:srgbClr val="0000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70479" y="2774632"/>
              <a:ext cx="127443" cy="107727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7177849" y="5926740"/>
            <a:ext cx="375285" cy="107950"/>
            <a:chOff x="7177849" y="5926740"/>
            <a:chExt cx="375285" cy="107950"/>
          </a:xfrm>
        </p:grpSpPr>
        <p:sp>
          <p:nvSpPr>
            <p:cNvPr id="64" name="object 64"/>
            <p:cNvSpPr/>
            <p:nvPr/>
          </p:nvSpPr>
          <p:spPr>
            <a:xfrm>
              <a:off x="7177849" y="5981700"/>
              <a:ext cx="330835" cy="0"/>
            </a:xfrm>
            <a:custGeom>
              <a:avLst/>
              <a:gdLst/>
              <a:ahLst/>
              <a:cxnLst/>
              <a:rect l="l" t="t" r="r" b="b"/>
              <a:pathLst>
                <a:path w="330834">
                  <a:moveTo>
                    <a:pt x="0" y="0"/>
                  </a:moveTo>
                  <a:lnTo>
                    <a:pt x="330231" y="0"/>
                  </a:lnTo>
                </a:path>
              </a:pathLst>
            </a:custGeom>
            <a:ln w="4762">
              <a:solidFill>
                <a:srgbClr val="0000F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25404" y="5926740"/>
              <a:ext cx="127444" cy="107727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7177849" y="6241922"/>
            <a:ext cx="375285" cy="107950"/>
            <a:chOff x="7177849" y="6241922"/>
            <a:chExt cx="375285" cy="107950"/>
          </a:xfrm>
        </p:grpSpPr>
        <p:sp>
          <p:nvSpPr>
            <p:cNvPr id="67" name="object 67"/>
            <p:cNvSpPr/>
            <p:nvPr/>
          </p:nvSpPr>
          <p:spPr>
            <a:xfrm>
              <a:off x="7177849" y="6296882"/>
              <a:ext cx="330835" cy="0"/>
            </a:xfrm>
            <a:custGeom>
              <a:avLst/>
              <a:gdLst/>
              <a:ahLst/>
              <a:cxnLst/>
              <a:rect l="l" t="t" r="r" b="b"/>
              <a:pathLst>
                <a:path w="330834">
                  <a:moveTo>
                    <a:pt x="0" y="0"/>
                  </a:moveTo>
                  <a:lnTo>
                    <a:pt x="330231" y="0"/>
                  </a:lnTo>
                </a:path>
              </a:pathLst>
            </a:custGeom>
            <a:ln w="4762">
              <a:solidFill>
                <a:srgbClr val="FF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25404" y="6241922"/>
              <a:ext cx="127444" cy="107727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7653108" y="5688470"/>
            <a:ext cx="1017905" cy="656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9370">
              <a:lnSpc>
                <a:spcPct val="153300"/>
              </a:lnSpc>
              <a:spcBef>
                <a:spcPts val="95"/>
              </a:spcBef>
            </a:pPr>
            <a:r>
              <a:rPr sz="1350" b="1" spc="-145" dirty="0">
                <a:latin typeface="Times New Roman"/>
                <a:cs typeface="Times New Roman"/>
              </a:rPr>
              <a:t>logical</a:t>
            </a:r>
            <a:r>
              <a:rPr sz="1350" b="1" spc="-45" dirty="0">
                <a:latin typeface="Times New Roman"/>
                <a:cs typeface="Times New Roman"/>
              </a:rPr>
              <a:t> </a:t>
            </a:r>
            <a:r>
              <a:rPr sz="1350" b="1" spc="-175" dirty="0">
                <a:latin typeface="Times New Roman"/>
                <a:cs typeface="Times New Roman"/>
              </a:rPr>
              <a:t>data</a:t>
            </a:r>
            <a:r>
              <a:rPr sz="1350" b="1" spc="-50" dirty="0">
                <a:latin typeface="Times New Roman"/>
                <a:cs typeface="Times New Roman"/>
              </a:rPr>
              <a:t> flow </a:t>
            </a:r>
            <a:r>
              <a:rPr sz="1350" b="1" spc="-160" dirty="0">
                <a:latin typeface="Times New Roman"/>
                <a:cs typeface="Times New Roman"/>
              </a:rPr>
              <a:t>physical</a:t>
            </a:r>
            <a:r>
              <a:rPr sz="1350" b="1" spc="-35" dirty="0">
                <a:latin typeface="Times New Roman"/>
                <a:cs typeface="Times New Roman"/>
              </a:rPr>
              <a:t> </a:t>
            </a:r>
            <a:r>
              <a:rPr sz="1350" b="1" spc="-180" dirty="0">
                <a:latin typeface="Times New Roman"/>
                <a:cs typeface="Times New Roman"/>
              </a:rPr>
              <a:t>data</a:t>
            </a:r>
            <a:r>
              <a:rPr sz="1350" b="1" spc="-50" dirty="0">
                <a:latin typeface="Times New Roman"/>
                <a:cs typeface="Times New Roman"/>
              </a:rPr>
              <a:t> </a:t>
            </a:r>
            <a:r>
              <a:rPr sz="1350" b="1" spc="-150" dirty="0">
                <a:latin typeface="Times New Roman"/>
                <a:cs typeface="Times New Roman"/>
              </a:rPr>
              <a:t>flow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60" dirty="0"/>
              <a:t> </a:t>
            </a:r>
            <a:r>
              <a:rPr spc="80" dirty="0"/>
              <a:t>Architecture</a:t>
            </a:r>
            <a:r>
              <a:rPr spc="75" dirty="0"/>
              <a:t> </a:t>
            </a:r>
            <a:r>
              <a:rPr spc="95" dirty="0"/>
              <a:t>and</a:t>
            </a:r>
            <a:r>
              <a:rPr spc="10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7616458" y="2175762"/>
            <a:ext cx="14871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latin typeface="Cambria"/>
                <a:cs typeface="Cambria"/>
              </a:rPr>
              <a:t>Basic</a:t>
            </a:r>
            <a:r>
              <a:rPr sz="1650" b="1" spc="-65" dirty="0">
                <a:latin typeface="Cambria"/>
                <a:cs typeface="Cambria"/>
              </a:rPr>
              <a:t> </a:t>
            </a:r>
            <a:r>
              <a:rPr sz="1650" b="1" spc="-50" dirty="0">
                <a:latin typeface="Cambria"/>
                <a:cs typeface="Cambria"/>
              </a:rPr>
              <a:t>Workflow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34384"/>
            <a:ext cx="10058400" cy="2882265"/>
            <a:chOff x="0" y="3834384"/>
            <a:chExt cx="10058400" cy="2882265"/>
          </a:xfrm>
        </p:grpSpPr>
        <p:sp>
          <p:nvSpPr>
            <p:cNvPr id="3" name="object 3"/>
            <p:cNvSpPr/>
            <p:nvPr/>
          </p:nvSpPr>
          <p:spPr>
            <a:xfrm>
              <a:off x="5094732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00188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93620" y="6461760"/>
              <a:ext cx="2839720" cy="41275"/>
            </a:xfrm>
            <a:custGeom>
              <a:avLst/>
              <a:gdLst/>
              <a:ahLst/>
              <a:cxnLst/>
              <a:rect l="l" t="t" r="r" b="b"/>
              <a:pathLst>
                <a:path w="2839720" h="41275">
                  <a:moveTo>
                    <a:pt x="2839212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839212" y="0"/>
                  </a:lnTo>
                  <a:lnTo>
                    <a:pt x="2839212" y="41147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45379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46960" y="6464807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2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20" y="0"/>
                  </a:lnTo>
                  <a:lnTo>
                    <a:pt x="2598420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0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34384"/>
              <a:ext cx="5047487" cy="288188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1962911"/>
            <a:ext cx="7711440" cy="38100"/>
            <a:chOff x="0" y="1962911"/>
            <a:chExt cx="7711440" cy="38100"/>
          </a:xfrm>
        </p:grpSpPr>
        <p:sp>
          <p:nvSpPr>
            <p:cNvPr id="12" name="object 12"/>
            <p:cNvSpPr/>
            <p:nvPr/>
          </p:nvSpPr>
          <p:spPr>
            <a:xfrm>
              <a:off x="2598419" y="1962911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962911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1120" y="1962911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75" dirty="0"/>
              <a:t> </a:t>
            </a:r>
            <a:r>
              <a:rPr spc="140" dirty="0"/>
              <a:t>vs</a:t>
            </a:r>
            <a:r>
              <a:rPr spc="105" dirty="0"/>
              <a:t> </a:t>
            </a:r>
            <a:r>
              <a:rPr spc="155" dirty="0"/>
              <a:t>RMI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3490" y="2223000"/>
            <a:ext cx="9671050" cy="1516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differs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architecture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RMI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one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significant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aspect:</a:t>
            </a:r>
            <a:endParaRPr sz="1650">
              <a:latin typeface="Cambria"/>
              <a:cs typeface="Cambria"/>
            </a:endParaRPr>
          </a:p>
          <a:p>
            <a:pPr marL="672465" marR="5080" lvl="1" indent="-283845">
              <a:lnSpc>
                <a:spcPct val="152300"/>
              </a:lnSpc>
              <a:spcBef>
                <a:spcPts val="155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100" dirty="0">
                <a:latin typeface="Cambria"/>
                <a:cs typeface="Cambria"/>
              </a:rPr>
              <a:t>RMI</a:t>
            </a:r>
            <a:r>
              <a:rPr sz="1300" spc="254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is</a:t>
            </a:r>
            <a:r>
              <a:rPr sz="1300" spc="245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a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proprietary</a:t>
            </a:r>
            <a:r>
              <a:rPr sz="1300" spc="245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facility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developed</a:t>
            </a:r>
            <a:r>
              <a:rPr sz="1300" spc="24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by</a:t>
            </a:r>
            <a:r>
              <a:rPr sz="1300" spc="225" dirty="0">
                <a:latin typeface="Cambria"/>
                <a:cs typeface="Cambria"/>
              </a:rPr>
              <a:t> </a:t>
            </a:r>
            <a:r>
              <a:rPr sz="1300" spc="185" dirty="0">
                <a:latin typeface="Cambria"/>
                <a:cs typeface="Cambria"/>
              </a:rPr>
              <a:t>Sun</a:t>
            </a:r>
            <a:r>
              <a:rPr sz="1300" spc="26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MicroSystems,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Inc.,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and</a:t>
            </a:r>
            <a:r>
              <a:rPr sz="1300" spc="245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supports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objects</a:t>
            </a:r>
            <a:r>
              <a:rPr sz="1300" spc="245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written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in</a:t>
            </a:r>
            <a:r>
              <a:rPr sz="1300" spc="24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the</a:t>
            </a:r>
            <a:r>
              <a:rPr sz="1300" spc="270" dirty="0">
                <a:latin typeface="Cambria"/>
                <a:cs typeface="Cambria"/>
              </a:rPr>
              <a:t> </a:t>
            </a:r>
            <a:r>
              <a:rPr sz="1300" spc="140" dirty="0">
                <a:latin typeface="Cambria"/>
                <a:cs typeface="Cambria"/>
              </a:rPr>
              <a:t>Java </a:t>
            </a:r>
            <a:r>
              <a:rPr sz="1300" spc="85" dirty="0">
                <a:latin typeface="Cambria"/>
                <a:cs typeface="Cambria"/>
              </a:rPr>
              <a:t>programming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language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only.</a:t>
            </a:r>
            <a:endParaRPr sz="1300">
              <a:latin typeface="Cambria"/>
              <a:cs typeface="Cambria"/>
            </a:endParaRPr>
          </a:p>
          <a:p>
            <a:pPr marL="672465" marR="5080" lvl="1" indent="-283845">
              <a:lnSpc>
                <a:spcPct val="1523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  <a:tab pos="8552815" algn="l"/>
              </a:tabLst>
            </a:pP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47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is</a:t>
            </a:r>
            <a:r>
              <a:rPr sz="1300" spc="465" dirty="0">
                <a:latin typeface="Cambria"/>
                <a:cs typeface="Cambria"/>
              </a:rPr>
              <a:t> </a:t>
            </a:r>
            <a:r>
              <a:rPr sz="1300" spc="130" dirty="0">
                <a:latin typeface="Cambria"/>
                <a:cs typeface="Cambria"/>
              </a:rPr>
              <a:t>an</a:t>
            </a:r>
            <a:r>
              <a:rPr sz="1300" spc="47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architecture</a:t>
            </a:r>
            <a:r>
              <a:rPr sz="1300" spc="49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that</a:t>
            </a:r>
            <a:r>
              <a:rPr sz="1300" spc="47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was</a:t>
            </a:r>
            <a:r>
              <a:rPr sz="1300" spc="47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developed</a:t>
            </a:r>
            <a:r>
              <a:rPr sz="1300" spc="46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by</a:t>
            </a:r>
            <a:r>
              <a:rPr sz="1300" spc="465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the</a:t>
            </a:r>
            <a:r>
              <a:rPr sz="1300" spc="475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Object</a:t>
            </a:r>
            <a:r>
              <a:rPr sz="1300" spc="475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Management</a:t>
            </a:r>
            <a:r>
              <a:rPr sz="1300" spc="47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Group</a:t>
            </a:r>
            <a:r>
              <a:rPr sz="1300" spc="47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(OMG),</a:t>
            </a:r>
            <a:r>
              <a:rPr sz="1300" dirty="0">
                <a:latin typeface="Cambria"/>
                <a:cs typeface="Cambria"/>
              </a:rPr>
              <a:t>	</a:t>
            </a:r>
            <a:r>
              <a:rPr sz="1300" spc="130" dirty="0">
                <a:latin typeface="Cambria"/>
                <a:cs typeface="Cambria"/>
              </a:rPr>
              <a:t>an</a:t>
            </a:r>
            <a:r>
              <a:rPr sz="1300" spc="47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industrial </a:t>
            </a:r>
            <a:r>
              <a:rPr sz="1300" spc="85" dirty="0">
                <a:latin typeface="Cambria"/>
                <a:cs typeface="Cambria"/>
              </a:rPr>
              <a:t>consortium.</a:t>
            </a:r>
            <a:endParaRPr sz="13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6839" y="3823715"/>
            <a:ext cx="4861560" cy="2892551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859" y="2113788"/>
            <a:ext cx="7560563" cy="4315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962911"/>
            <a:ext cx="7711440" cy="38100"/>
            <a:chOff x="0" y="1962911"/>
            <a:chExt cx="7711440" cy="38100"/>
          </a:xfrm>
        </p:grpSpPr>
        <p:sp>
          <p:nvSpPr>
            <p:cNvPr id="5" name="object 5"/>
            <p:cNvSpPr/>
            <p:nvPr/>
          </p:nvSpPr>
          <p:spPr>
            <a:xfrm>
              <a:off x="2598419" y="1962911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962911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51120" y="1962911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002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75" dirty="0"/>
              <a:t> </a:t>
            </a:r>
            <a:r>
              <a:rPr spc="140" dirty="0"/>
              <a:t>vs</a:t>
            </a:r>
            <a:r>
              <a:rPr spc="105" dirty="0"/>
              <a:t> </a:t>
            </a:r>
            <a:r>
              <a:rPr spc="155" dirty="0"/>
              <a:t>RMI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831848"/>
            <a:ext cx="9101455" cy="4491355"/>
            <a:chOff x="0" y="1831848"/>
            <a:chExt cx="9101455" cy="4491355"/>
          </a:xfrm>
        </p:grpSpPr>
        <p:sp>
          <p:nvSpPr>
            <p:cNvPr id="4" name="object 4"/>
            <p:cNvSpPr/>
            <p:nvPr/>
          </p:nvSpPr>
          <p:spPr>
            <a:xfrm>
              <a:off x="2598419" y="1962912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62912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1120" y="1962912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2955" y="1831848"/>
              <a:ext cx="7548371" cy="449122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130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75" dirty="0"/>
              <a:t> </a:t>
            </a:r>
            <a:r>
              <a:rPr spc="140" dirty="0"/>
              <a:t>vs</a:t>
            </a:r>
            <a:r>
              <a:rPr spc="105" dirty="0"/>
              <a:t> </a:t>
            </a:r>
            <a:r>
              <a:rPr spc="155" dirty="0"/>
              <a:t>RMI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5" dirty="0"/>
              <a:t> </a:t>
            </a:r>
            <a:r>
              <a:rPr spc="105" dirty="0"/>
              <a:t>Object</a:t>
            </a:r>
            <a:r>
              <a:rPr spc="85" dirty="0"/>
              <a:t> </a:t>
            </a:r>
            <a:r>
              <a:rPr spc="55" dirty="0"/>
              <a:t>Interface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098908"/>
            <a:ext cx="9672320" cy="423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6985" indent="-283845" algn="just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A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defined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software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similar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remote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interface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in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RMI.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6985" indent="-283845" algn="just">
              <a:lnSpc>
                <a:spcPct val="1497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Since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2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language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independent,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27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interface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defined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universal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language </a:t>
            </a:r>
            <a:r>
              <a:rPr sz="1650" spc="70" dirty="0">
                <a:latin typeface="Cambria"/>
                <a:cs typeface="Cambria"/>
              </a:rPr>
              <a:t>with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distinct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syntax,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known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Definition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Language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(IDL).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363220" indent="-350520">
              <a:lnSpc>
                <a:spcPct val="100000"/>
              </a:lnSpc>
              <a:buFont typeface="Wingdings"/>
              <a:buChar char=""/>
              <a:tabLst>
                <a:tab pos="36322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syntax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IDL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similar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C++.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 algn="just">
              <a:lnSpc>
                <a:spcPct val="15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70" dirty="0">
                <a:latin typeface="Cambria"/>
                <a:cs typeface="Cambria"/>
              </a:rPr>
              <a:t>However,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defined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190" dirty="0">
                <a:latin typeface="Cambria"/>
                <a:cs typeface="Cambria"/>
              </a:rPr>
              <a:t>CORBA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IDL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implemented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large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number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of </a:t>
            </a:r>
            <a:r>
              <a:rPr sz="1650" spc="55" dirty="0">
                <a:latin typeface="Cambria"/>
                <a:cs typeface="Cambria"/>
              </a:rPr>
              <a:t>diverse</a:t>
            </a:r>
            <a:r>
              <a:rPr sz="1650" spc="80" dirty="0">
                <a:latin typeface="Cambria"/>
                <a:cs typeface="Cambria"/>
              </a:rPr>
              <a:t>  </a:t>
            </a:r>
            <a:r>
              <a:rPr sz="1650" spc="90" dirty="0">
                <a:latin typeface="Cambria"/>
                <a:cs typeface="Cambria"/>
              </a:rPr>
              <a:t>programming</a:t>
            </a:r>
            <a:r>
              <a:rPr sz="1650" spc="100" dirty="0">
                <a:latin typeface="Cambria"/>
                <a:cs typeface="Cambria"/>
              </a:rPr>
              <a:t>  </a:t>
            </a:r>
            <a:r>
              <a:rPr sz="1650" spc="120" dirty="0">
                <a:latin typeface="Cambria"/>
                <a:cs typeface="Cambria"/>
              </a:rPr>
              <a:t>languages,</a:t>
            </a:r>
            <a:r>
              <a:rPr sz="1650" spc="100" dirty="0">
                <a:latin typeface="Cambria"/>
                <a:cs typeface="Cambria"/>
              </a:rPr>
              <a:t>  including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240" dirty="0">
                <a:latin typeface="Cambria"/>
                <a:cs typeface="Cambria"/>
              </a:rPr>
              <a:t>C,</a:t>
            </a:r>
            <a:r>
              <a:rPr sz="1650" spc="80" dirty="0">
                <a:latin typeface="Cambria"/>
                <a:cs typeface="Cambria"/>
              </a:rPr>
              <a:t>  </a:t>
            </a:r>
            <a:r>
              <a:rPr sz="1650" spc="155" dirty="0">
                <a:latin typeface="Cambria"/>
                <a:cs typeface="Cambria"/>
              </a:rPr>
              <a:t>C++,</a:t>
            </a:r>
            <a:r>
              <a:rPr sz="1650" spc="85" dirty="0">
                <a:latin typeface="Cambria"/>
                <a:cs typeface="Cambria"/>
              </a:rPr>
              <a:t>  </a:t>
            </a:r>
            <a:r>
              <a:rPr sz="1650" spc="195" dirty="0">
                <a:latin typeface="Cambria"/>
                <a:cs typeface="Cambria"/>
              </a:rPr>
              <a:t>Java,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204" dirty="0">
                <a:latin typeface="Cambria"/>
                <a:cs typeface="Cambria"/>
              </a:rPr>
              <a:t>COBOL,</a:t>
            </a:r>
            <a:r>
              <a:rPr sz="1650" spc="80" dirty="0">
                <a:latin typeface="Cambria"/>
                <a:cs typeface="Cambria"/>
              </a:rPr>
              <a:t>  </a:t>
            </a:r>
            <a:r>
              <a:rPr sz="1650" spc="125" dirty="0">
                <a:latin typeface="Cambria"/>
                <a:cs typeface="Cambria"/>
              </a:rPr>
              <a:t>Smalltalk,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130" dirty="0">
                <a:latin typeface="Cambria"/>
                <a:cs typeface="Cambria"/>
              </a:rPr>
              <a:t>Ada,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85" dirty="0">
                <a:latin typeface="Cambria"/>
                <a:cs typeface="Cambria"/>
              </a:rPr>
              <a:t>Lisp, </a:t>
            </a:r>
            <a:r>
              <a:rPr sz="1650" spc="105" dirty="0">
                <a:latin typeface="Cambria"/>
                <a:cs typeface="Cambria"/>
              </a:rPr>
              <a:t>Python,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IDLScript.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5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5" dirty="0"/>
              <a:t> </a:t>
            </a:r>
            <a:r>
              <a:rPr spc="105" dirty="0"/>
              <a:t>Object</a:t>
            </a:r>
            <a:r>
              <a:rPr spc="85" dirty="0"/>
              <a:t> </a:t>
            </a:r>
            <a:r>
              <a:rPr spc="55" dirty="0"/>
              <a:t>Interface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152" y="2607950"/>
            <a:ext cx="9670415" cy="316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 algn="just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For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each</a:t>
            </a:r>
            <a:r>
              <a:rPr sz="1650" spc="409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41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these</a:t>
            </a:r>
            <a:r>
              <a:rPr sz="1650" spc="42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languages,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229" dirty="0">
                <a:latin typeface="Cambria"/>
                <a:cs typeface="Cambria"/>
              </a:rPr>
              <a:t>OMG</a:t>
            </a:r>
            <a:r>
              <a:rPr sz="1650" spc="415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has</a:t>
            </a:r>
            <a:r>
              <a:rPr sz="1650" spc="42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3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standardized</a:t>
            </a:r>
            <a:r>
              <a:rPr sz="1650" spc="40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mapping</a:t>
            </a:r>
            <a:r>
              <a:rPr sz="1650" spc="41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from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39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IDL</a:t>
            </a:r>
            <a:r>
              <a:rPr sz="1650" spc="41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41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 </a:t>
            </a:r>
            <a:r>
              <a:rPr sz="1650" spc="95" dirty="0">
                <a:latin typeface="Cambria"/>
                <a:cs typeface="Cambria"/>
              </a:rPr>
              <a:t>programming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language.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 algn="just">
              <a:lnSpc>
                <a:spcPct val="15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This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mapping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helps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compiler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be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used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process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interface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generate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 </a:t>
            </a:r>
            <a:r>
              <a:rPr sz="1650" spc="65" dirty="0">
                <a:latin typeface="Cambria"/>
                <a:cs typeface="Cambria"/>
              </a:rPr>
              <a:t>proxy</a:t>
            </a:r>
            <a:r>
              <a:rPr sz="1650" spc="27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files</a:t>
            </a:r>
            <a:r>
              <a:rPr sz="1650" spc="2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needed</a:t>
            </a:r>
            <a:r>
              <a:rPr sz="1650" spc="26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with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implementation</a:t>
            </a:r>
            <a:r>
              <a:rPr sz="1650" spc="2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2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2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written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 </a:t>
            </a:r>
            <a:r>
              <a:rPr sz="1650" spc="120" dirty="0">
                <a:latin typeface="Cambria"/>
                <a:cs typeface="Cambria"/>
              </a:rPr>
              <a:t>any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80" dirty="0">
                <a:latin typeface="Cambria"/>
                <a:cs typeface="Cambria"/>
              </a:rPr>
              <a:t>CORBA-</a:t>
            </a:r>
            <a:r>
              <a:rPr sz="1650" spc="90" dirty="0">
                <a:latin typeface="Cambria"/>
                <a:cs typeface="Cambria"/>
              </a:rPr>
              <a:t>compatible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languages.</a:t>
            </a:r>
            <a:endParaRPr sz="1650">
              <a:latin typeface="Cambria"/>
              <a:cs typeface="Cambria"/>
            </a:endParaRPr>
          </a:p>
          <a:p>
            <a:pPr marL="2261870">
              <a:lnSpc>
                <a:spcPct val="100000"/>
              </a:lnSpc>
              <a:spcBef>
                <a:spcPts val="1760"/>
              </a:spcBef>
            </a:pPr>
            <a:r>
              <a:rPr sz="1450" b="1" dirty="0">
                <a:solidFill>
                  <a:srgbClr val="FF0000"/>
                </a:solidFill>
                <a:latin typeface="Arial"/>
                <a:cs typeface="Arial"/>
              </a:rPr>
              <a:t>Mapping</a:t>
            </a:r>
            <a:r>
              <a:rPr sz="145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450" b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FF0000"/>
                </a:solidFill>
                <a:latin typeface="Arial"/>
                <a:cs typeface="Arial"/>
              </a:rPr>
              <a:t>OMG</a:t>
            </a:r>
            <a:r>
              <a:rPr sz="1450" b="1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FF0000"/>
                </a:solidFill>
                <a:latin typeface="Arial"/>
                <a:cs typeface="Arial"/>
              </a:rPr>
              <a:t>IDL</a:t>
            </a:r>
            <a:r>
              <a:rPr sz="1450" b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FF0000"/>
                </a:solidFill>
                <a:latin typeface="Arial"/>
                <a:cs typeface="Arial"/>
              </a:rPr>
              <a:t>Statements</a:t>
            </a:r>
            <a:r>
              <a:rPr sz="1450" b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450" b="1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50" b="1" spc="-25" dirty="0">
                <a:solidFill>
                  <a:srgbClr val="FF0000"/>
                </a:solidFill>
                <a:latin typeface="Arial"/>
                <a:cs typeface="Arial"/>
              </a:rPr>
              <a:t>C++</a:t>
            </a:r>
            <a:endParaRPr sz="1450">
              <a:latin typeface="Arial"/>
              <a:cs typeface="Arial"/>
            </a:endParaRPr>
          </a:p>
          <a:p>
            <a:pPr marL="189865" algn="ctr">
              <a:lnSpc>
                <a:spcPct val="100000"/>
              </a:lnSpc>
              <a:spcBef>
                <a:spcPts val="1535"/>
              </a:spcBef>
            </a:pPr>
            <a:r>
              <a:rPr sz="1450" spc="-10" dirty="0">
                <a:latin typeface="Calibri"/>
                <a:cs typeface="Calibri"/>
              </a:rPr>
              <a:t>https://docs.oracle.com/cd/E13203_01/tuxedo/tux80/cref/member.htm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2195582"/>
            <a:ext cx="1930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33CC"/>
                </a:solidFill>
                <a:latin typeface="Wingdings"/>
                <a:cs typeface="Wingdings"/>
              </a:rPr>
              <a:t>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31" y="2217420"/>
            <a:ext cx="5686425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Overview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(Common</a:t>
            </a:r>
            <a:r>
              <a:rPr sz="1650" spc="-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Request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Broker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Architecture)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" y="2844244"/>
            <a:ext cx="9921875" cy="270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5080" indent="-283845">
              <a:lnSpc>
                <a:spcPct val="1503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22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650" spc="2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2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middleware</a:t>
            </a:r>
            <a:r>
              <a:rPr sz="1650" spc="2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standard</a:t>
            </a:r>
            <a:r>
              <a:rPr sz="1650" spc="2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defined</a:t>
            </a:r>
            <a:r>
              <a:rPr sz="1650" spc="2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1650" spc="22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22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2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Management</a:t>
            </a:r>
            <a:r>
              <a:rPr sz="1650" spc="2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Group</a:t>
            </a:r>
            <a:r>
              <a:rPr sz="1650" spc="2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(OMG)</a:t>
            </a:r>
            <a:r>
              <a:rPr sz="1650" spc="2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1650" spc="2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enabling</a:t>
            </a:r>
            <a:r>
              <a:rPr sz="1650" spc="22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distributed object-oriented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communication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across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different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platforms,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programming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languages,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networks.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allows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seamlessly,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even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if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they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are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built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using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different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technologies.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50300"/>
              </a:lnSpc>
              <a:spcBef>
                <a:spcPts val="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One</a:t>
            </a:r>
            <a:r>
              <a:rPr sz="1650" spc="4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7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4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critical</a:t>
            </a:r>
            <a:r>
              <a:rPr sz="1650" spc="7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aspects</a:t>
            </a:r>
            <a:r>
              <a:rPr sz="1650" spc="6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6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7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650" spc="7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6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7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Bindings,</a:t>
            </a:r>
            <a:r>
              <a:rPr sz="1650" spc="6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which</a:t>
            </a:r>
            <a:r>
              <a:rPr sz="1650" spc="6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define</a:t>
            </a:r>
            <a:r>
              <a:rPr sz="1650" spc="6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how</a:t>
            </a:r>
            <a:r>
              <a:rPr sz="1650" spc="70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clients</a:t>
            </a:r>
            <a:r>
              <a:rPr sz="1650" spc="7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locate</a:t>
            </a:r>
            <a:r>
              <a:rPr sz="1650" spc="6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and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communicate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remote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objects.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2110245"/>
            <a:ext cx="1930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33CC"/>
                </a:solidFill>
                <a:latin typeface="Wingdings"/>
                <a:cs typeface="Wingdings"/>
              </a:rPr>
              <a:t>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31" y="2133600"/>
            <a:ext cx="2736215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Bindings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" y="2748227"/>
            <a:ext cx="9923145" cy="311785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1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11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1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refers</a:t>
            </a:r>
            <a:r>
              <a:rPr sz="1650" spc="1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1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how</a:t>
            </a:r>
            <a:r>
              <a:rPr sz="1650" spc="1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clients</a:t>
            </a:r>
            <a:r>
              <a:rPr sz="1650" spc="1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find</a:t>
            </a:r>
            <a:r>
              <a:rPr sz="1650" spc="1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1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refer</a:t>
            </a:r>
            <a:r>
              <a:rPr sz="1650" spc="1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1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remote</a:t>
            </a:r>
            <a:r>
              <a:rPr sz="1650" spc="1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objects</a:t>
            </a:r>
            <a:r>
              <a:rPr sz="1650" spc="1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within</a:t>
            </a:r>
            <a:r>
              <a:rPr sz="1650" spc="1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1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distributed</a:t>
            </a:r>
            <a:r>
              <a:rPr sz="1650" spc="1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environment.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References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(IOR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Interoperable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References)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uniquely</a:t>
            </a:r>
            <a:r>
              <a:rPr sz="165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identify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objects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network.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42900" algn="l"/>
              </a:tabLst>
            </a:pP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Types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CORBA: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1.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Direct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(Explicit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Reference)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obtain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explicitly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(e.g.,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from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naming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configuration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file).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Example: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Using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Interoperable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(IOR)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stored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string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format.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47" y="1073925"/>
            <a:ext cx="6000115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1975575"/>
            <a:ext cx="7915275" cy="428815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2.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Indirect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(Using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Services)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Naming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Trader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discover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objects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dynamically.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Example: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Naming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provides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hierarchical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registration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lookup.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3.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Persistent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Objects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are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stored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persistently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retrieved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when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required.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Example: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applications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store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user’s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account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future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transactions.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4.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Transient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Addressing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exist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only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duration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application's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execution.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Example: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video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streaming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service's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session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expires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after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logout.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3" name="object 3"/>
          <p:cNvSpPr txBox="1"/>
          <p:nvPr/>
        </p:nvSpPr>
        <p:spPr>
          <a:xfrm>
            <a:off x="74177" y="2111785"/>
            <a:ext cx="1930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33CC"/>
                </a:solidFill>
                <a:latin typeface="Wingdings"/>
                <a:cs typeface="Wingdings"/>
              </a:rPr>
              <a:t>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31" y="2133600"/>
            <a:ext cx="1585595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" y="2498830"/>
            <a:ext cx="8896985" cy="1054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refers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how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establishes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connection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before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making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request.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buFont typeface="Wingdings"/>
              <a:buChar char=""/>
              <a:tabLst>
                <a:tab pos="342900" algn="l"/>
              </a:tabLst>
            </a:pP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Types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CORBA: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933" y="3660503"/>
            <a:ext cx="7718367" cy="263071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2110245"/>
            <a:ext cx="1930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33CC"/>
                </a:solidFill>
                <a:latin typeface="Wingdings"/>
                <a:cs typeface="Wingdings"/>
              </a:rPr>
              <a:t>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31" y="2133600"/>
            <a:ext cx="2628265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900"/>
              </a:lnSpc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How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Works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CORBA: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" y="2884438"/>
            <a:ext cx="8413115" cy="2605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1.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gets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(directly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via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Naming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Service).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2.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invokes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method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on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reference,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handles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communication.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3.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CORBA’s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ORB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Request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Broker)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marshals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request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sends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over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network.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4.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server’s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ORB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unmarshals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request,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invokes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method,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sends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response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back.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47" y="1073925"/>
            <a:ext cx="6000115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331" y="2133600"/>
            <a:ext cx="4258310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Industry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Case: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Transactions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77" y="1975575"/>
            <a:ext cx="1146810" cy="8001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650" spc="-50" dirty="0">
                <a:solidFill>
                  <a:srgbClr val="0033CC"/>
                </a:solidFill>
                <a:latin typeface="Wingdings"/>
                <a:cs typeface="Wingdings"/>
              </a:rPr>
              <a:t></a:t>
            </a:r>
            <a:endParaRPr sz="1650">
              <a:latin typeface="Wingdings"/>
              <a:cs typeface="Wingdings"/>
            </a:endParaRPr>
          </a:p>
          <a:p>
            <a:pPr marL="342900" indent="-33020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342900" algn="l"/>
              </a:tabLst>
            </a:pP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Scenario: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" y="2748227"/>
            <a:ext cx="9905365" cy="351599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global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system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needs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handle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secure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transactions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between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branches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worldwide.</a:t>
            </a:r>
            <a:r>
              <a:rPr sz="165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system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requires: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Interoperability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(different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software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stacks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communicate).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Scalability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(millions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customers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transactions).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Security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(transactions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must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encrypted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reliable).</a:t>
            </a: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34290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How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Help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Transactions:</a:t>
            </a:r>
            <a:endParaRPr sz="1650">
              <a:latin typeface="Calibri"/>
              <a:cs typeface="Calibri"/>
            </a:endParaRPr>
          </a:p>
          <a:p>
            <a:pPr marL="671830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1.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Addressing:</a:t>
            </a:r>
            <a:endParaRPr sz="1650">
              <a:latin typeface="Calibri"/>
              <a:cs typeface="Calibri"/>
            </a:endParaRPr>
          </a:p>
          <a:p>
            <a:pPr marL="814069" lvl="1" indent="-42545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814069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Each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server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has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unique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customer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accounts.</a:t>
            </a:r>
            <a:endParaRPr sz="1650">
              <a:latin typeface="Calibri"/>
              <a:cs typeface="Calibri"/>
            </a:endParaRPr>
          </a:p>
          <a:p>
            <a:pPr marL="814069" lvl="1" indent="-42545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814069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Naming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allows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(banking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applications)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find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account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objects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dynamically.</a:t>
            </a:r>
            <a:endParaRPr sz="1650">
              <a:latin typeface="Calibri"/>
              <a:cs typeface="Calibri"/>
            </a:endParaRPr>
          </a:p>
          <a:p>
            <a:pPr marL="814069" lvl="1" indent="-42545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814069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system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persistent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ensure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account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remains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valid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across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sessions.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47" y="1073925"/>
            <a:ext cx="6000115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1975575"/>
            <a:ext cx="9924415" cy="427926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Binding:</a:t>
            </a: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503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Times New Roman"/>
                <a:cs typeface="Times New Roman"/>
              </a:rPr>
              <a:t>	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When</a:t>
            </a:r>
            <a:r>
              <a:rPr sz="165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 customer initiates</a:t>
            </a:r>
            <a:r>
              <a:rPr sz="1650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 transaction,</a:t>
            </a:r>
            <a:r>
              <a:rPr sz="165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</a:t>
            </a:r>
            <a:r>
              <a:rPr sz="165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dynamically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binds</a:t>
            </a:r>
            <a:r>
              <a:rPr sz="1650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bank’s</a:t>
            </a:r>
            <a:r>
              <a:rPr sz="1650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transaction- processing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service.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Interoperable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Reference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(IOR)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ensures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secure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communication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correct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branch.</a:t>
            </a:r>
            <a:endParaRPr sz="165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43751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ORB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server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ORB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communicate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securely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process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transaction.</a:t>
            </a: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spcBef>
                <a:spcPts val="1075"/>
              </a:spcBef>
              <a:buFont typeface="Wingdings"/>
              <a:buChar char=""/>
              <a:tabLst>
                <a:tab pos="34290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Process</a:t>
            </a:r>
            <a:r>
              <a:rPr sz="1650" spc="-8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Flow: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1.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user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logs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into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portal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(client).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2.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queries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Naming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locate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account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service.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3.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binds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dynamically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correct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server.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4.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transaction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executed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securely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via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ORB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communication.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5.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server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returns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result,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confirming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success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failure.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47" y="1073925"/>
            <a:ext cx="6000115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1950" spc="120" dirty="0"/>
              <a:t>CORBA</a:t>
            </a:r>
            <a:r>
              <a:rPr sz="1950" spc="75" dirty="0"/>
              <a:t> </a:t>
            </a:r>
            <a:r>
              <a:rPr sz="1950" dirty="0"/>
              <a:t>Addressing</a:t>
            </a:r>
            <a:r>
              <a:rPr sz="1950" spc="50" dirty="0"/>
              <a:t> </a:t>
            </a:r>
            <a:r>
              <a:rPr sz="1950" dirty="0"/>
              <a:t>and</a:t>
            </a:r>
            <a:r>
              <a:rPr sz="1950" spc="105" dirty="0"/>
              <a:t> </a:t>
            </a:r>
            <a:r>
              <a:rPr sz="1950" dirty="0"/>
              <a:t>Bindings</a:t>
            </a:r>
            <a:r>
              <a:rPr sz="1950" spc="105" dirty="0"/>
              <a:t> </a:t>
            </a:r>
            <a:r>
              <a:rPr sz="1950" dirty="0"/>
              <a:t>Explained</a:t>
            </a:r>
            <a:r>
              <a:rPr sz="1950" spc="75" dirty="0"/>
              <a:t> </a:t>
            </a:r>
            <a:r>
              <a:rPr sz="1950" dirty="0"/>
              <a:t>with</a:t>
            </a:r>
            <a:r>
              <a:rPr sz="1950" spc="105" dirty="0"/>
              <a:t> </a:t>
            </a:r>
            <a:r>
              <a:rPr sz="1950" spc="45" dirty="0"/>
              <a:t>an </a:t>
            </a:r>
            <a:r>
              <a:rPr sz="1950" dirty="0"/>
              <a:t>Industry</a:t>
            </a:r>
            <a:r>
              <a:rPr sz="1950" spc="120" dirty="0"/>
              <a:t> </a:t>
            </a:r>
            <a:r>
              <a:rPr sz="1950" dirty="0"/>
              <a:t>Use</a:t>
            </a:r>
            <a:r>
              <a:rPr sz="1950" spc="150" dirty="0"/>
              <a:t> </a:t>
            </a:r>
            <a:r>
              <a:rPr sz="1950" spc="55" dirty="0"/>
              <a:t>Case</a:t>
            </a:r>
            <a:endParaRPr sz="19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1975575"/>
            <a:ext cx="9922510" cy="426847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Benefits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System: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Seamless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Communication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between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different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software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stacks.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Scalability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handle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millions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transactions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per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second.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Security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via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encrypted</a:t>
            </a:r>
            <a:r>
              <a:rPr sz="1650" spc="-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communication.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Fault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Tolerance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using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CORBA’s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built-in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load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balancing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failover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mechanisms.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Conclusion</a:t>
            </a: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503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CORBA’s</a:t>
            </a:r>
            <a:r>
              <a:rPr sz="1650" spc="30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addressing</a:t>
            </a:r>
            <a:r>
              <a:rPr sz="1650" spc="3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2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bindings</a:t>
            </a:r>
            <a:r>
              <a:rPr sz="1650" spc="2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provide</a:t>
            </a:r>
            <a:r>
              <a:rPr sz="1650" spc="3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29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robust</a:t>
            </a:r>
            <a:r>
              <a:rPr sz="1650" spc="30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mechanism</a:t>
            </a:r>
            <a:r>
              <a:rPr sz="1650" spc="2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1650" spc="2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distributed</a:t>
            </a:r>
            <a:r>
              <a:rPr sz="1650" spc="3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applications</a:t>
            </a:r>
            <a:r>
              <a:rPr sz="1650" spc="3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3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communicate seamlessly.</a:t>
            </a: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503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Industries</a:t>
            </a:r>
            <a:r>
              <a:rPr sz="1650" spc="3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like</a:t>
            </a:r>
            <a:r>
              <a:rPr sz="1650" spc="3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banking,</a:t>
            </a:r>
            <a:r>
              <a:rPr sz="1650" spc="3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telecommunications,</a:t>
            </a:r>
            <a:r>
              <a:rPr sz="1650" spc="3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39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aerospace</a:t>
            </a:r>
            <a:r>
              <a:rPr sz="1650" spc="3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use</a:t>
            </a:r>
            <a:r>
              <a:rPr sz="1650" spc="3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38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3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handle</a:t>
            </a:r>
            <a:r>
              <a:rPr sz="1650" spc="38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complex,</a:t>
            </a:r>
            <a:r>
              <a:rPr sz="1650" spc="36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cross-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platform communication.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4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Cross-</a:t>
            </a:r>
            <a:r>
              <a:rPr spc="55" dirty="0"/>
              <a:t>language</a:t>
            </a:r>
            <a:r>
              <a:rPr spc="75" dirty="0"/>
              <a:t> </a:t>
            </a:r>
            <a:r>
              <a:rPr spc="225" dirty="0"/>
              <a:t>CORBA</a:t>
            </a:r>
            <a:r>
              <a:rPr spc="80" dirty="0"/>
              <a:t> </a:t>
            </a:r>
            <a:r>
              <a:rPr spc="55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7280" y="2511044"/>
            <a:ext cx="3479800" cy="1432560"/>
            <a:chOff x="597280" y="2511044"/>
            <a:chExt cx="3479800" cy="1432560"/>
          </a:xfrm>
        </p:grpSpPr>
        <p:sp>
          <p:nvSpPr>
            <p:cNvPr id="4" name="object 4"/>
            <p:cNvSpPr/>
            <p:nvPr/>
          </p:nvSpPr>
          <p:spPr>
            <a:xfrm>
              <a:off x="606170" y="2519934"/>
              <a:ext cx="3462020" cy="1414780"/>
            </a:xfrm>
            <a:custGeom>
              <a:avLst/>
              <a:gdLst/>
              <a:ahLst/>
              <a:cxnLst/>
              <a:rect l="l" t="t" r="r" b="b"/>
              <a:pathLst>
                <a:path w="3462020" h="1414779">
                  <a:moveTo>
                    <a:pt x="3461670" y="1414272"/>
                  </a:moveTo>
                  <a:lnTo>
                    <a:pt x="0" y="1414272"/>
                  </a:lnTo>
                  <a:lnTo>
                    <a:pt x="95" y="0"/>
                  </a:lnTo>
                  <a:lnTo>
                    <a:pt x="3461765" y="0"/>
                  </a:lnTo>
                  <a:lnTo>
                    <a:pt x="3461670" y="1414272"/>
                  </a:lnTo>
                  <a:close/>
                </a:path>
              </a:pathLst>
            </a:custGeom>
            <a:solidFill>
              <a:srgbClr val="F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6170" y="2519934"/>
              <a:ext cx="3462020" cy="1414780"/>
            </a:xfrm>
            <a:custGeom>
              <a:avLst/>
              <a:gdLst/>
              <a:ahLst/>
              <a:cxnLst/>
              <a:rect l="l" t="t" r="r" b="b"/>
              <a:pathLst>
                <a:path w="3462020" h="1414779">
                  <a:moveTo>
                    <a:pt x="3461765" y="0"/>
                  </a:moveTo>
                  <a:lnTo>
                    <a:pt x="95" y="0"/>
                  </a:lnTo>
                  <a:lnTo>
                    <a:pt x="0" y="1414272"/>
                  </a:lnTo>
                  <a:lnTo>
                    <a:pt x="3461670" y="1414272"/>
                  </a:lnTo>
                  <a:lnTo>
                    <a:pt x="3461765" y="0"/>
                  </a:lnTo>
                  <a:close/>
                </a:path>
              </a:pathLst>
            </a:custGeom>
            <a:ln w="17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5337" y="3036786"/>
            <a:ext cx="2985135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00" b="1" spc="-195" dirty="0">
                <a:latin typeface="Times New Roman"/>
                <a:cs typeface="Times New Roman"/>
              </a:rPr>
              <a:t>object</a:t>
            </a:r>
            <a:r>
              <a:rPr sz="2300" b="1" spc="40" dirty="0">
                <a:latin typeface="Times New Roman"/>
                <a:cs typeface="Times New Roman"/>
              </a:rPr>
              <a:t> </a:t>
            </a:r>
            <a:r>
              <a:rPr sz="2300" b="1" spc="-130" dirty="0">
                <a:latin typeface="Times New Roman"/>
                <a:cs typeface="Times New Roman"/>
              </a:rPr>
              <a:t>client</a:t>
            </a:r>
            <a:r>
              <a:rPr sz="2300" b="1" spc="45" dirty="0">
                <a:latin typeface="Times New Roman"/>
                <a:cs typeface="Times New Roman"/>
              </a:rPr>
              <a:t> </a:t>
            </a:r>
            <a:r>
              <a:rPr sz="2300" b="1" spc="-180" dirty="0">
                <a:latin typeface="Times New Roman"/>
                <a:cs typeface="Times New Roman"/>
              </a:rPr>
              <a:t>written</a:t>
            </a:r>
            <a:r>
              <a:rPr sz="2300" b="1" spc="15" dirty="0">
                <a:latin typeface="Times New Roman"/>
                <a:cs typeface="Times New Roman"/>
              </a:rPr>
              <a:t> </a:t>
            </a:r>
            <a:r>
              <a:rPr sz="2300" b="1" spc="-155" dirty="0">
                <a:latin typeface="Times New Roman"/>
                <a:cs typeface="Times New Roman"/>
              </a:rPr>
              <a:t>in</a:t>
            </a:r>
            <a:r>
              <a:rPr sz="2300" b="1" spc="20" dirty="0">
                <a:latin typeface="Times New Roman"/>
                <a:cs typeface="Times New Roman"/>
              </a:rPr>
              <a:t> </a:t>
            </a:r>
            <a:r>
              <a:rPr sz="2300" b="1" spc="-150" dirty="0">
                <a:latin typeface="Times New Roman"/>
                <a:cs typeface="Times New Roman"/>
              </a:rPr>
              <a:t>Java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7280" y="3950367"/>
            <a:ext cx="3479800" cy="1067435"/>
            <a:chOff x="597280" y="3950367"/>
            <a:chExt cx="3479800" cy="1067435"/>
          </a:xfrm>
        </p:grpSpPr>
        <p:sp>
          <p:nvSpPr>
            <p:cNvPr id="8" name="object 8"/>
            <p:cNvSpPr/>
            <p:nvPr/>
          </p:nvSpPr>
          <p:spPr>
            <a:xfrm>
              <a:off x="606170" y="3959257"/>
              <a:ext cx="3462020" cy="1049655"/>
            </a:xfrm>
            <a:custGeom>
              <a:avLst/>
              <a:gdLst/>
              <a:ahLst/>
              <a:cxnLst/>
              <a:rect l="l" t="t" r="r" b="b"/>
              <a:pathLst>
                <a:path w="3462020" h="1049654">
                  <a:moveTo>
                    <a:pt x="3461670" y="1049083"/>
                  </a:moveTo>
                  <a:lnTo>
                    <a:pt x="0" y="1049083"/>
                  </a:lnTo>
                  <a:lnTo>
                    <a:pt x="95" y="0"/>
                  </a:lnTo>
                  <a:lnTo>
                    <a:pt x="3461765" y="0"/>
                  </a:lnTo>
                  <a:lnTo>
                    <a:pt x="3461670" y="1049083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6170" y="3959257"/>
              <a:ext cx="3462020" cy="1049655"/>
            </a:xfrm>
            <a:custGeom>
              <a:avLst/>
              <a:gdLst/>
              <a:ahLst/>
              <a:cxnLst/>
              <a:rect l="l" t="t" r="r" b="b"/>
              <a:pathLst>
                <a:path w="3462020" h="1049654">
                  <a:moveTo>
                    <a:pt x="3461765" y="0"/>
                  </a:moveTo>
                  <a:lnTo>
                    <a:pt x="95" y="0"/>
                  </a:lnTo>
                  <a:lnTo>
                    <a:pt x="0" y="1049083"/>
                  </a:lnTo>
                  <a:lnTo>
                    <a:pt x="3461670" y="1049083"/>
                  </a:lnTo>
                  <a:lnTo>
                    <a:pt x="3461765" y="0"/>
                  </a:lnTo>
                  <a:close/>
                </a:path>
              </a:pathLst>
            </a:custGeom>
            <a:ln w="17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7478" y="4139917"/>
            <a:ext cx="3279775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marR="5080" indent="-349250">
              <a:lnSpc>
                <a:spcPct val="100499"/>
              </a:lnSpc>
              <a:spcBef>
                <a:spcPts val="100"/>
              </a:spcBef>
            </a:pPr>
            <a:r>
              <a:rPr sz="2100" b="1" spc="-195" dirty="0">
                <a:latin typeface="Times New Roman"/>
                <a:cs typeface="Times New Roman"/>
              </a:rPr>
              <a:t>stub</a:t>
            </a:r>
            <a:r>
              <a:rPr sz="2100" b="1" spc="-185" dirty="0">
                <a:latin typeface="Times New Roman"/>
                <a:cs typeface="Times New Roman"/>
              </a:rPr>
              <a:t> </a:t>
            </a:r>
            <a:r>
              <a:rPr sz="2100" b="1" spc="-150" dirty="0">
                <a:latin typeface="Times New Roman"/>
                <a:cs typeface="Times New Roman"/>
              </a:rPr>
              <a:t>in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275" dirty="0">
                <a:latin typeface="Times New Roman"/>
                <a:cs typeface="Times New Roman"/>
              </a:rPr>
              <a:t>Java</a:t>
            </a:r>
            <a:r>
              <a:rPr sz="2100" b="1" spc="-85" dirty="0">
                <a:latin typeface="Times New Roman"/>
                <a:cs typeface="Times New Roman"/>
              </a:rPr>
              <a:t> </a:t>
            </a:r>
            <a:r>
              <a:rPr sz="2100" b="1" spc="-200" dirty="0">
                <a:latin typeface="Times New Roman"/>
                <a:cs typeface="Times New Roman"/>
              </a:rPr>
              <a:t>generated</a:t>
            </a:r>
            <a:r>
              <a:rPr sz="2100" b="1" spc="-204" dirty="0">
                <a:latin typeface="Times New Roman"/>
                <a:cs typeface="Times New Roman"/>
              </a:rPr>
              <a:t> </a:t>
            </a:r>
            <a:r>
              <a:rPr sz="2100" b="1" spc="-290" dirty="0">
                <a:latin typeface="Times New Roman"/>
                <a:cs typeface="Times New Roman"/>
              </a:rPr>
              <a:t>by</a:t>
            </a:r>
            <a:r>
              <a:rPr sz="2100" b="1" spc="-100" dirty="0">
                <a:latin typeface="Times New Roman"/>
                <a:cs typeface="Times New Roman"/>
              </a:rPr>
              <a:t> </a:t>
            </a:r>
            <a:r>
              <a:rPr sz="2100" b="1" spc="-185" dirty="0">
                <a:latin typeface="Times New Roman"/>
                <a:cs typeface="Times New Roman"/>
              </a:rPr>
              <a:t>compiling </a:t>
            </a:r>
            <a:r>
              <a:rPr sz="2100" b="1" spc="-204" dirty="0">
                <a:latin typeface="Times New Roman"/>
                <a:cs typeface="Times New Roman"/>
              </a:rPr>
              <a:t>the</a:t>
            </a:r>
            <a:r>
              <a:rPr sz="2100" b="1" spc="15" dirty="0">
                <a:latin typeface="Times New Roman"/>
                <a:cs typeface="Times New Roman"/>
              </a:rPr>
              <a:t> </a:t>
            </a:r>
            <a:r>
              <a:rPr sz="1850" b="1" spc="-200" dirty="0">
                <a:latin typeface="Times New Roman"/>
                <a:cs typeface="Times New Roman"/>
              </a:rPr>
              <a:t>CO</a:t>
            </a:r>
            <a:r>
              <a:rPr sz="1850" b="1" spc="-250" dirty="0">
                <a:latin typeface="Times New Roman"/>
                <a:cs typeface="Times New Roman"/>
              </a:rPr>
              <a:t> </a:t>
            </a:r>
            <a:r>
              <a:rPr sz="1850" b="1" spc="-235" dirty="0">
                <a:latin typeface="Times New Roman"/>
                <a:cs typeface="Times New Roman"/>
              </a:rPr>
              <a:t>RBA</a:t>
            </a:r>
            <a:r>
              <a:rPr sz="1850" b="1" spc="-5" dirty="0">
                <a:latin typeface="Times New Roman"/>
                <a:cs typeface="Times New Roman"/>
              </a:rPr>
              <a:t> </a:t>
            </a:r>
            <a:r>
              <a:rPr sz="1850" b="1" spc="-120" dirty="0">
                <a:latin typeface="Times New Roman"/>
                <a:cs typeface="Times New Roman"/>
              </a:rPr>
              <a:t>object</a:t>
            </a:r>
            <a:r>
              <a:rPr sz="1850" b="1" spc="30" dirty="0">
                <a:latin typeface="Times New Roman"/>
                <a:cs typeface="Times New Roman"/>
              </a:rPr>
              <a:t> </a:t>
            </a:r>
            <a:r>
              <a:rPr sz="1850" b="1" spc="-75" dirty="0">
                <a:latin typeface="Times New Roman"/>
                <a:cs typeface="Times New Roman"/>
              </a:rPr>
              <a:t>inte</a:t>
            </a:r>
            <a:r>
              <a:rPr sz="1850" b="1" spc="-275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rface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7474" y="5024694"/>
            <a:ext cx="3479165" cy="1066800"/>
            <a:chOff x="597474" y="5024694"/>
            <a:chExt cx="3479165" cy="1066800"/>
          </a:xfrm>
        </p:grpSpPr>
        <p:sp>
          <p:nvSpPr>
            <p:cNvPr id="12" name="object 12"/>
            <p:cNvSpPr/>
            <p:nvPr/>
          </p:nvSpPr>
          <p:spPr>
            <a:xfrm>
              <a:off x="606170" y="5033391"/>
              <a:ext cx="3462020" cy="1049020"/>
            </a:xfrm>
            <a:custGeom>
              <a:avLst/>
              <a:gdLst/>
              <a:ahLst/>
              <a:cxnLst/>
              <a:rect l="l" t="t" r="r" b="b"/>
              <a:pathLst>
                <a:path w="3462020" h="1049020">
                  <a:moveTo>
                    <a:pt x="3461670" y="1048988"/>
                  </a:moveTo>
                  <a:lnTo>
                    <a:pt x="0" y="1048988"/>
                  </a:lnTo>
                  <a:lnTo>
                    <a:pt x="95" y="0"/>
                  </a:lnTo>
                  <a:lnTo>
                    <a:pt x="3461765" y="0"/>
                  </a:lnTo>
                  <a:lnTo>
                    <a:pt x="3461670" y="1048988"/>
                  </a:lnTo>
                  <a:close/>
                </a:path>
              </a:pathLst>
            </a:custGeom>
            <a:solidFill>
              <a:srgbClr val="F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6170" y="5033391"/>
              <a:ext cx="3462020" cy="1049020"/>
            </a:xfrm>
            <a:custGeom>
              <a:avLst/>
              <a:gdLst/>
              <a:ahLst/>
              <a:cxnLst/>
              <a:rect l="l" t="t" r="r" b="b"/>
              <a:pathLst>
                <a:path w="3462020" h="1049020">
                  <a:moveTo>
                    <a:pt x="3461765" y="0"/>
                  </a:moveTo>
                  <a:lnTo>
                    <a:pt x="95" y="0"/>
                  </a:lnTo>
                  <a:lnTo>
                    <a:pt x="0" y="1048988"/>
                  </a:lnTo>
                  <a:lnTo>
                    <a:pt x="3461670" y="1048988"/>
                  </a:lnTo>
                  <a:lnTo>
                    <a:pt x="3461765" y="0"/>
                  </a:lnTo>
                  <a:close/>
                </a:path>
              </a:pathLst>
            </a:custGeom>
            <a:ln w="17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27841" y="5368447"/>
            <a:ext cx="2219325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00" b="1" spc="-285" dirty="0">
                <a:latin typeface="Times New Roman"/>
                <a:cs typeface="Times New Roman"/>
              </a:rPr>
              <a:t>ORB</a:t>
            </a:r>
            <a:r>
              <a:rPr sz="2300" b="1" spc="-65" dirty="0">
                <a:latin typeface="Times New Roman"/>
                <a:cs typeface="Times New Roman"/>
              </a:rPr>
              <a:t> </a:t>
            </a:r>
            <a:r>
              <a:rPr sz="2300" b="1" spc="-180" dirty="0">
                <a:latin typeface="Times New Roman"/>
                <a:cs typeface="Times New Roman"/>
              </a:rPr>
              <a:t>written</a:t>
            </a:r>
            <a:r>
              <a:rPr sz="2300" b="1" spc="20" dirty="0">
                <a:latin typeface="Times New Roman"/>
                <a:cs typeface="Times New Roman"/>
              </a:rPr>
              <a:t> </a:t>
            </a:r>
            <a:r>
              <a:rPr sz="2300" b="1" spc="-155" dirty="0">
                <a:latin typeface="Times New Roman"/>
                <a:cs typeface="Times New Roman"/>
              </a:rPr>
              <a:t>in</a:t>
            </a:r>
            <a:r>
              <a:rPr sz="2300" b="1" spc="20" dirty="0">
                <a:latin typeface="Times New Roman"/>
                <a:cs typeface="Times New Roman"/>
              </a:rPr>
              <a:t> </a:t>
            </a:r>
            <a:r>
              <a:rPr sz="2300" b="1" spc="-160" dirty="0">
                <a:latin typeface="Times New Roman"/>
                <a:cs typeface="Times New Roman"/>
              </a:rPr>
              <a:t>Java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81021" y="2511044"/>
            <a:ext cx="3479800" cy="1432560"/>
            <a:chOff x="5381021" y="2511044"/>
            <a:chExt cx="3479800" cy="1432560"/>
          </a:xfrm>
        </p:grpSpPr>
        <p:sp>
          <p:nvSpPr>
            <p:cNvPr id="16" name="object 16"/>
            <p:cNvSpPr/>
            <p:nvPr/>
          </p:nvSpPr>
          <p:spPr>
            <a:xfrm>
              <a:off x="5389911" y="2519934"/>
              <a:ext cx="3462020" cy="1414780"/>
            </a:xfrm>
            <a:custGeom>
              <a:avLst/>
              <a:gdLst/>
              <a:ahLst/>
              <a:cxnLst/>
              <a:rect l="l" t="t" r="r" b="b"/>
              <a:pathLst>
                <a:path w="3462020" h="1414779">
                  <a:moveTo>
                    <a:pt x="3461670" y="1414272"/>
                  </a:moveTo>
                  <a:lnTo>
                    <a:pt x="0" y="1414272"/>
                  </a:lnTo>
                  <a:lnTo>
                    <a:pt x="95" y="0"/>
                  </a:lnTo>
                  <a:lnTo>
                    <a:pt x="3461766" y="0"/>
                  </a:lnTo>
                  <a:lnTo>
                    <a:pt x="3461670" y="1414272"/>
                  </a:lnTo>
                  <a:close/>
                </a:path>
              </a:pathLst>
            </a:custGeom>
            <a:solidFill>
              <a:srgbClr val="FFA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9911" y="2519934"/>
              <a:ext cx="3462020" cy="1414780"/>
            </a:xfrm>
            <a:custGeom>
              <a:avLst/>
              <a:gdLst/>
              <a:ahLst/>
              <a:cxnLst/>
              <a:rect l="l" t="t" r="r" b="b"/>
              <a:pathLst>
                <a:path w="3462020" h="1414779">
                  <a:moveTo>
                    <a:pt x="3461766" y="0"/>
                  </a:moveTo>
                  <a:lnTo>
                    <a:pt x="95" y="0"/>
                  </a:lnTo>
                  <a:lnTo>
                    <a:pt x="0" y="1414272"/>
                  </a:lnTo>
                  <a:lnTo>
                    <a:pt x="3461670" y="1414272"/>
                  </a:lnTo>
                  <a:lnTo>
                    <a:pt x="3461766" y="0"/>
                  </a:lnTo>
                  <a:close/>
                </a:path>
              </a:pathLst>
            </a:custGeom>
            <a:ln w="17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9637" y="2853956"/>
            <a:ext cx="3241040" cy="7480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56030" marR="5080" indent="-1243965">
              <a:lnSpc>
                <a:spcPct val="104400"/>
              </a:lnSpc>
              <a:spcBef>
                <a:spcPts val="15"/>
              </a:spcBef>
            </a:pPr>
            <a:r>
              <a:rPr sz="2300" b="1" spc="-195" dirty="0">
                <a:latin typeface="Times New Roman"/>
                <a:cs typeface="Times New Roman"/>
              </a:rPr>
              <a:t>object</a:t>
            </a:r>
            <a:r>
              <a:rPr sz="2300" b="1" spc="60" dirty="0">
                <a:latin typeface="Times New Roman"/>
                <a:cs typeface="Times New Roman"/>
              </a:rPr>
              <a:t> </a:t>
            </a:r>
            <a:r>
              <a:rPr sz="2300" b="1" spc="-170" dirty="0">
                <a:latin typeface="Times New Roman"/>
                <a:cs typeface="Times New Roman"/>
              </a:rPr>
              <a:t>implementation</a:t>
            </a:r>
            <a:r>
              <a:rPr sz="2300" b="1" spc="75" dirty="0">
                <a:latin typeface="Times New Roman"/>
                <a:cs typeface="Times New Roman"/>
              </a:rPr>
              <a:t> </a:t>
            </a:r>
            <a:r>
              <a:rPr sz="2300" b="1" spc="-155" dirty="0">
                <a:latin typeface="Times New Roman"/>
                <a:cs typeface="Times New Roman"/>
              </a:rPr>
              <a:t>written </a:t>
            </a:r>
            <a:r>
              <a:rPr sz="2300" b="1" spc="-160" dirty="0">
                <a:latin typeface="Times New Roman"/>
                <a:cs typeface="Times New Roman"/>
              </a:rPr>
              <a:t>in</a:t>
            </a:r>
            <a:r>
              <a:rPr sz="2300" b="1" spc="-5" dirty="0">
                <a:latin typeface="Times New Roman"/>
                <a:cs typeface="Times New Roman"/>
              </a:rPr>
              <a:t> </a:t>
            </a:r>
            <a:r>
              <a:rPr sz="2300" b="1" spc="-25" dirty="0">
                <a:latin typeface="Times New Roman"/>
                <a:cs typeface="Times New Roman"/>
              </a:rPr>
              <a:t>C++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81021" y="3950367"/>
            <a:ext cx="3479800" cy="1067435"/>
            <a:chOff x="5381021" y="3950367"/>
            <a:chExt cx="3479800" cy="1067435"/>
          </a:xfrm>
        </p:grpSpPr>
        <p:sp>
          <p:nvSpPr>
            <p:cNvPr id="20" name="object 20"/>
            <p:cNvSpPr/>
            <p:nvPr/>
          </p:nvSpPr>
          <p:spPr>
            <a:xfrm>
              <a:off x="5389911" y="3959257"/>
              <a:ext cx="3462020" cy="1049655"/>
            </a:xfrm>
            <a:custGeom>
              <a:avLst/>
              <a:gdLst/>
              <a:ahLst/>
              <a:cxnLst/>
              <a:rect l="l" t="t" r="r" b="b"/>
              <a:pathLst>
                <a:path w="3462020" h="1049654">
                  <a:moveTo>
                    <a:pt x="3461670" y="1049083"/>
                  </a:moveTo>
                  <a:lnTo>
                    <a:pt x="0" y="1049083"/>
                  </a:lnTo>
                  <a:lnTo>
                    <a:pt x="95" y="0"/>
                  </a:lnTo>
                  <a:lnTo>
                    <a:pt x="3461766" y="0"/>
                  </a:lnTo>
                  <a:lnTo>
                    <a:pt x="3461670" y="1049083"/>
                  </a:lnTo>
                  <a:close/>
                </a:path>
              </a:pathLst>
            </a:custGeom>
            <a:solidFill>
              <a:srgbClr val="FFB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89911" y="3959257"/>
              <a:ext cx="3462020" cy="1049655"/>
            </a:xfrm>
            <a:custGeom>
              <a:avLst/>
              <a:gdLst/>
              <a:ahLst/>
              <a:cxnLst/>
              <a:rect l="l" t="t" r="r" b="b"/>
              <a:pathLst>
                <a:path w="3462020" h="1049654">
                  <a:moveTo>
                    <a:pt x="3461766" y="0"/>
                  </a:moveTo>
                  <a:lnTo>
                    <a:pt x="95" y="0"/>
                  </a:lnTo>
                  <a:lnTo>
                    <a:pt x="0" y="1049083"/>
                  </a:lnTo>
                  <a:lnTo>
                    <a:pt x="3461670" y="1049083"/>
                  </a:lnTo>
                  <a:lnTo>
                    <a:pt x="3461766" y="0"/>
                  </a:lnTo>
                  <a:close/>
                </a:path>
              </a:pathLst>
            </a:custGeom>
            <a:ln w="17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47480" y="4015216"/>
            <a:ext cx="2938780" cy="9493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2000"/>
              </a:lnSpc>
              <a:spcBef>
                <a:spcPts val="85"/>
              </a:spcBef>
              <a:tabLst>
                <a:tab pos="1073785" algn="l"/>
              </a:tabLst>
            </a:pPr>
            <a:r>
              <a:rPr sz="2300" b="1" spc="-10" dirty="0">
                <a:latin typeface="Times New Roman"/>
                <a:cs typeface="Times New Roman"/>
              </a:rPr>
              <a:t>skeleton</a:t>
            </a:r>
            <a:r>
              <a:rPr sz="2300" b="1" dirty="0">
                <a:latin typeface="Times New Roman"/>
                <a:cs typeface="Times New Roman"/>
              </a:rPr>
              <a:t>	</a:t>
            </a:r>
            <a:r>
              <a:rPr sz="2300" b="1" spc="-160" dirty="0">
                <a:latin typeface="Times New Roman"/>
                <a:cs typeface="Times New Roman"/>
              </a:rPr>
              <a:t>in</a:t>
            </a:r>
            <a:r>
              <a:rPr sz="2300" b="1" spc="15" dirty="0">
                <a:latin typeface="Times New Roman"/>
                <a:cs typeface="Times New Roman"/>
              </a:rPr>
              <a:t> </a:t>
            </a:r>
            <a:r>
              <a:rPr sz="1850" b="1" spc="-190" dirty="0">
                <a:latin typeface="Times New Roman"/>
                <a:cs typeface="Times New Roman"/>
              </a:rPr>
              <a:t>C++</a:t>
            </a:r>
            <a:r>
              <a:rPr sz="1850" b="1" spc="-65" dirty="0">
                <a:latin typeface="Times New Roman"/>
                <a:cs typeface="Times New Roman"/>
              </a:rPr>
              <a:t> </a:t>
            </a:r>
            <a:r>
              <a:rPr sz="1850" b="1" spc="-85" dirty="0">
                <a:latin typeface="Times New Roman"/>
                <a:cs typeface="Times New Roman"/>
              </a:rPr>
              <a:t>generated</a:t>
            </a:r>
            <a:r>
              <a:rPr sz="1850" b="1" spc="-60" dirty="0">
                <a:latin typeface="Times New Roman"/>
                <a:cs typeface="Times New Roman"/>
              </a:rPr>
              <a:t> </a:t>
            </a:r>
            <a:r>
              <a:rPr sz="1850" b="1" spc="-160" dirty="0">
                <a:latin typeface="Times New Roman"/>
                <a:cs typeface="Times New Roman"/>
              </a:rPr>
              <a:t>by </a:t>
            </a:r>
            <a:r>
              <a:rPr sz="1850" b="1" spc="-90" dirty="0">
                <a:latin typeface="Times New Roman"/>
                <a:cs typeface="Times New Roman"/>
              </a:rPr>
              <a:t>compiling</a:t>
            </a:r>
            <a:r>
              <a:rPr sz="1850" b="1" spc="-30" dirty="0">
                <a:latin typeface="Times New Roman"/>
                <a:cs typeface="Times New Roman"/>
              </a:rPr>
              <a:t> </a:t>
            </a:r>
            <a:r>
              <a:rPr sz="1850" b="1" spc="-45" dirty="0">
                <a:latin typeface="Times New Roman"/>
                <a:cs typeface="Times New Roman"/>
              </a:rPr>
              <a:t>the</a:t>
            </a:r>
            <a:r>
              <a:rPr sz="1850" b="1" spc="30" dirty="0">
                <a:latin typeface="Times New Roman"/>
                <a:cs typeface="Times New Roman"/>
              </a:rPr>
              <a:t> </a:t>
            </a:r>
            <a:r>
              <a:rPr sz="1850" b="1" spc="-204" dirty="0">
                <a:latin typeface="Times New Roman"/>
                <a:cs typeface="Times New Roman"/>
              </a:rPr>
              <a:t>CO</a:t>
            </a:r>
            <a:r>
              <a:rPr sz="1850" b="1" spc="-250" dirty="0">
                <a:latin typeface="Times New Roman"/>
                <a:cs typeface="Times New Roman"/>
              </a:rPr>
              <a:t> </a:t>
            </a:r>
            <a:r>
              <a:rPr sz="1850" b="1" spc="-235" dirty="0">
                <a:latin typeface="Times New Roman"/>
                <a:cs typeface="Times New Roman"/>
              </a:rPr>
              <a:t>RBA</a:t>
            </a:r>
            <a:r>
              <a:rPr sz="1850" b="1" spc="-5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  <a:p>
            <a:pPr marR="3810" algn="ctr">
              <a:lnSpc>
                <a:spcPts val="2195"/>
              </a:lnSpc>
            </a:pPr>
            <a:r>
              <a:rPr sz="1850" b="1" spc="-10" dirty="0">
                <a:latin typeface="Times New Roman"/>
                <a:cs typeface="Times New Roman"/>
              </a:rPr>
              <a:t>interface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81021" y="5024501"/>
            <a:ext cx="3479800" cy="1066800"/>
            <a:chOff x="5381021" y="5024501"/>
            <a:chExt cx="3479800" cy="1066800"/>
          </a:xfrm>
        </p:grpSpPr>
        <p:sp>
          <p:nvSpPr>
            <p:cNvPr id="24" name="object 24"/>
            <p:cNvSpPr/>
            <p:nvPr/>
          </p:nvSpPr>
          <p:spPr>
            <a:xfrm>
              <a:off x="5389911" y="5033391"/>
              <a:ext cx="3462020" cy="1049020"/>
            </a:xfrm>
            <a:custGeom>
              <a:avLst/>
              <a:gdLst/>
              <a:ahLst/>
              <a:cxnLst/>
              <a:rect l="l" t="t" r="r" b="b"/>
              <a:pathLst>
                <a:path w="3462020" h="1049020">
                  <a:moveTo>
                    <a:pt x="3461670" y="1048988"/>
                  </a:moveTo>
                  <a:lnTo>
                    <a:pt x="0" y="1048988"/>
                  </a:lnTo>
                  <a:lnTo>
                    <a:pt x="95" y="0"/>
                  </a:lnTo>
                  <a:lnTo>
                    <a:pt x="3461766" y="0"/>
                  </a:lnTo>
                  <a:lnTo>
                    <a:pt x="3461670" y="1048988"/>
                  </a:lnTo>
                  <a:close/>
                </a:path>
              </a:pathLst>
            </a:custGeom>
            <a:solidFill>
              <a:srgbClr val="F4F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9911" y="5033391"/>
              <a:ext cx="3462020" cy="1049020"/>
            </a:xfrm>
            <a:custGeom>
              <a:avLst/>
              <a:gdLst/>
              <a:ahLst/>
              <a:cxnLst/>
              <a:rect l="l" t="t" r="r" b="b"/>
              <a:pathLst>
                <a:path w="3462020" h="1049020">
                  <a:moveTo>
                    <a:pt x="3461766" y="0"/>
                  </a:moveTo>
                  <a:lnTo>
                    <a:pt x="95" y="0"/>
                  </a:lnTo>
                  <a:lnTo>
                    <a:pt x="0" y="1048988"/>
                  </a:lnTo>
                  <a:lnTo>
                    <a:pt x="3461670" y="1048988"/>
                  </a:lnTo>
                  <a:lnTo>
                    <a:pt x="3461766" y="0"/>
                  </a:lnTo>
                  <a:close/>
                </a:path>
              </a:pathLst>
            </a:custGeom>
            <a:ln w="17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29984" y="5368447"/>
            <a:ext cx="2182495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00" b="1" spc="-295" dirty="0">
                <a:latin typeface="Times New Roman"/>
                <a:cs typeface="Times New Roman"/>
              </a:rPr>
              <a:t>ORB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spc="-180" dirty="0">
                <a:latin typeface="Times New Roman"/>
                <a:cs typeface="Times New Roman"/>
              </a:rPr>
              <a:t>written</a:t>
            </a:r>
            <a:r>
              <a:rPr sz="2300" b="1" spc="25" dirty="0">
                <a:latin typeface="Times New Roman"/>
                <a:cs typeface="Times New Roman"/>
              </a:rPr>
              <a:t> </a:t>
            </a:r>
            <a:r>
              <a:rPr sz="2300" b="1" spc="-165" dirty="0">
                <a:latin typeface="Times New Roman"/>
                <a:cs typeface="Times New Roman"/>
              </a:rPr>
              <a:t>in</a:t>
            </a:r>
            <a:r>
              <a:rPr sz="2300" b="1" spc="45" dirty="0">
                <a:latin typeface="Times New Roman"/>
                <a:cs typeface="Times New Roman"/>
              </a:rPr>
              <a:t> </a:t>
            </a:r>
            <a:r>
              <a:rPr sz="2300" b="1" spc="-280" dirty="0">
                <a:latin typeface="Times New Roman"/>
                <a:cs typeface="Times New Roman"/>
              </a:rPr>
              <a:t>C++</a:t>
            </a:r>
            <a:endParaRPr sz="2300">
              <a:latin typeface="Times New Roman"/>
              <a:cs typeface="Times New Roma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1450" y="5793676"/>
            <a:ext cx="248316" cy="215931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2250567" y="3411473"/>
            <a:ext cx="5113655" cy="2500630"/>
            <a:chOff x="2250567" y="3411473"/>
            <a:chExt cx="5113655" cy="2500630"/>
          </a:xfrm>
        </p:grpSpPr>
        <p:sp>
          <p:nvSpPr>
            <p:cNvPr id="29" name="object 29"/>
            <p:cNvSpPr/>
            <p:nvPr/>
          </p:nvSpPr>
          <p:spPr>
            <a:xfrm>
              <a:off x="2337054" y="3411473"/>
              <a:ext cx="0" cy="2385060"/>
            </a:xfrm>
            <a:custGeom>
              <a:avLst/>
              <a:gdLst/>
              <a:ahLst/>
              <a:cxnLst/>
              <a:rect l="l" t="t" r="r" b="b"/>
              <a:pathLst>
                <a:path h="2385060">
                  <a:moveTo>
                    <a:pt x="0" y="0"/>
                  </a:moveTo>
                  <a:lnTo>
                    <a:pt x="0" y="2384583"/>
                  </a:lnTo>
                </a:path>
              </a:pathLst>
            </a:custGeom>
            <a:ln w="173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52948" y="5602700"/>
              <a:ext cx="168275" cy="300990"/>
            </a:xfrm>
            <a:custGeom>
              <a:avLst/>
              <a:gdLst/>
              <a:ahLst/>
              <a:cxnLst/>
              <a:rect l="l" t="t" r="r" b="b"/>
              <a:pathLst>
                <a:path w="168275" h="300989">
                  <a:moveTo>
                    <a:pt x="84105" y="300704"/>
                  </a:moveTo>
                  <a:lnTo>
                    <a:pt x="0" y="0"/>
                  </a:lnTo>
                  <a:lnTo>
                    <a:pt x="84105" y="139636"/>
                  </a:lnTo>
                  <a:lnTo>
                    <a:pt x="168211" y="0"/>
                  </a:lnTo>
                  <a:lnTo>
                    <a:pt x="84105" y="3007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52948" y="5602700"/>
              <a:ext cx="168275" cy="300990"/>
            </a:xfrm>
            <a:custGeom>
              <a:avLst/>
              <a:gdLst/>
              <a:ahLst/>
              <a:cxnLst/>
              <a:rect l="l" t="t" r="r" b="b"/>
              <a:pathLst>
                <a:path w="168275" h="300989">
                  <a:moveTo>
                    <a:pt x="84105" y="300704"/>
                  </a:moveTo>
                  <a:lnTo>
                    <a:pt x="0" y="0"/>
                  </a:lnTo>
                  <a:lnTo>
                    <a:pt x="84105" y="139636"/>
                  </a:lnTo>
                  <a:lnTo>
                    <a:pt x="168211" y="0"/>
                  </a:lnTo>
                  <a:lnTo>
                    <a:pt x="84105" y="300704"/>
                  </a:lnTo>
                  <a:close/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37054" y="3690747"/>
              <a:ext cx="4940935" cy="2212975"/>
            </a:xfrm>
            <a:custGeom>
              <a:avLst/>
              <a:gdLst/>
              <a:ahLst/>
              <a:cxnLst/>
              <a:rect l="l" t="t" r="r" b="b"/>
              <a:pathLst>
                <a:path w="4940934" h="2212975">
                  <a:moveTo>
                    <a:pt x="0" y="2212657"/>
                  </a:moveTo>
                  <a:lnTo>
                    <a:pt x="4853368" y="2212657"/>
                  </a:lnTo>
                </a:path>
                <a:path w="4940934" h="2212975">
                  <a:moveTo>
                    <a:pt x="4940332" y="0"/>
                  </a:moveTo>
                  <a:lnTo>
                    <a:pt x="4940332" y="2212657"/>
                  </a:lnTo>
                </a:path>
              </a:pathLst>
            </a:custGeom>
            <a:ln w="173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93280" y="3583305"/>
              <a:ext cx="168275" cy="300990"/>
            </a:xfrm>
            <a:custGeom>
              <a:avLst/>
              <a:gdLst/>
              <a:ahLst/>
              <a:cxnLst/>
              <a:rect l="l" t="t" r="r" b="b"/>
              <a:pathLst>
                <a:path w="168275" h="300989">
                  <a:moveTo>
                    <a:pt x="168211" y="300799"/>
                  </a:moveTo>
                  <a:lnTo>
                    <a:pt x="84105" y="161162"/>
                  </a:lnTo>
                  <a:lnTo>
                    <a:pt x="0" y="300799"/>
                  </a:lnTo>
                  <a:lnTo>
                    <a:pt x="84105" y="0"/>
                  </a:lnTo>
                  <a:lnTo>
                    <a:pt x="168211" y="3007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93280" y="3583305"/>
              <a:ext cx="168275" cy="300990"/>
            </a:xfrm>
            <a:custGeom>
              <a:avLst/>
              <a:gdLst/>
              <a:ahLst/>
              <a:cxnLst/>
              <a:rect l="l" t="t" r="r" b="b"/>
              <a:pathLst>
                <a:path w="168275" h="300989">
                  <a:moveTo>
                    <a:pt x="84105" y="0"/>
                  </a:moveTo>
                  <a:lnTo>
                    <a:pt x="168211" y="300799"/>
                  </a:lnTo>
                  <a:lnTo>
                    <a:pt x="84105" y="161162"/>
                  </a:lnTo>
                  <a:lnTo>
                    <a:pt x="0" y="300799"/>
                  </a:lnTo>
                  <a:lnTo>
                    <a:pt x="84105" y="0"/>
                  </a:lnTo>
                  <a:close/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46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25"/>
              </a:spcBef>
            </a:pPr>
            <a:r>
              <a:rPr dirty="0"/>
              <a:t>Inter-</a:t>
            </a:r>
            <a:r>
              <a:rPr spc="220" dirty="0"/>
              <a:t>ORB</a:t>
            </a:r>
            <a:r>
              <a:rPr spc="229" dirty="0"/>
              <a:t> </a:t>
            </a:r>
            <a:r>
              <a:rPr spc="50" dirty="0"/>
              <a:t>Protocols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662160" cy="2308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5080" indent="-283845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To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allow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80" dirty="0">
                <a:latin typeface="Cambria"/>
                <a:cs typeface="Cambria"/>
              </a:rPr>
              <a:t>ORBs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interoperable,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OMG(Object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Management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Group)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specified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</a:t>
            </a:r>
            <a:r>
              <a:rPr sz="1650" spc="50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protocol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known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General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Inter-</a:t>
            </a:r>
            <a:r>
              <a:rPr sz="1650" spc="195" dirty="0">
                <a:latin typeface="Cambria"/>
                <a:cs typeface="Cambria"/>
              </a:rPr>
              <a:t>ORB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Protocol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(GIOP),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specification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“provides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 </a:t>
            </a:r>
            <a:r>
              <a:rPr sz="1650" spc="85" dirty="0">
                <a:latin typeface="Cambria"/>
                <a:cs typeface="Cambria"/>
              </a:rPr>
              <a:t>general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framework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protocols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built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top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specific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transport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layers.”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63500" indent="-283845">
              <a:lnSpc>
                <a:spcPct val="1503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A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special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case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protocol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Inter-</a:t>
            </a:r>
            <a:r>
              <a:rPr sz="1650" spc="200" dirty="0">
                <a:latin typeface="Cambria"/>
                <a:cs typeface="Cambria"/>
              </a:rPr>
              <a:t>ORB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Protocol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(IIOP),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GIOP </a:t>
            </a:r>
            <a:r>
              <a:rPr sz="1650" spc="85" dirty="0">
                <a:latin typeface="Cambria"/>
                <a:cs typeface="Cambria"/>
              </a:rPr>
              <a:t>applied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25" dirty="0">
                <a:latin typeface="Cambria"/>
                <a:cs typeface="Cambria"/>
              </a:rPr>
              <a:t>to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TCP/IP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transport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layer.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351787"/>
            <a:ext cx="7711440" cy="4895215"/>
            <a:chOff x="0" y="1351787"/>
            <a:chExt cx="7711440" cy="4895215"/>
          </a:xfrm>
        </p:grpSpPr>
        <p:sp>
          <p:nvSpPr>
            <p:cNvPr id="4" name="object 4"/>
            <p:cNvSpPr/>
            <p:nvPr/>
          </p:nvSpPr>
          <p:spPr>
            <a:xfrm>
              <a:off x="2598419" y="1962911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62911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1120" y="1962911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20" y="1351787"/>
              <a:ext cx="6527292" cy="489508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4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Inter-</a:t>
            </a:r>
            <a:r>
              <a:rPr spc="220" dirty="0"/>
              <a:t>ORB</a:t>
            </a:r>
            <a:r>
              <a:rPr spc="229" dirty="0"/>
              <a:t> </a:t>
            </a:r>
            <a:r>
              <a:rPr spc="50" dirty="0"/>
              <a:t>Protocols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286977"/>
            <a:ext cx="9671685" cy="3538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IIOP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specification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includes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following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elements: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766445" marR="6985" lvl="1" indent="-378460">
              <a:lnSpc>
                <a:spcPct val="102099"/>
              </a:lnSpc>
              <a:buAutoNum type="arabicPeriod"/>
              <a:tabLst>
                <a:tab pos="766445" algn="l"/>
              </a:tabLst>
            </a:pPr>
            <a:r>
              <a:rPr sz="1450" spc="90" dirty="0">
                <a:latin typeface="Cambria"/>
                <a:cs typeface="Cambria"/>
              </a:rPr>
              <a:t>Transport</a:t>
            </a:r>
            <a:r>
              <a:rPr sz="1450" spc="25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management</a:t>
            </a:r>
            <a:r>
              <a:rPr sz="1450" spc="23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requirements</a:t>
            </a:r>
            <a:r>
              <a:rPr sz="1450" spc="254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specifies</a:t>
            </a:r>
            <a:r>
              <a:rPr sz="1450" spc="23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254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connection</a:t>
            </a:r>
            <a:r>
              <a:rPr sz="1450" spc="265" dirty="0">
                <a:latin typeface="Cambria"/>
                <a:cs typeface="Cambria"/>
              </a:rPr>
              <a:t> </a:t>
            </a:r>
            <a:r>
              <a:rPr sz="1450" spc="135" dirty="0">
                <a:latin typeface="Cambria"/>
                <a:cs typeface="Cambria"/>
              </a:rPr>
              <a:t>and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disconnection</a:t>
            </a:r>
            <a:r>
              <a:rPr sz="1450" spc="25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requirements,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roles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object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client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and </a:t>
            </a:r>
            <a:r>
              <a:rPr sz="1450" spc="80" dirty="0">
                <a:latin typeface="Cambria"/>
                <a:cs typeface="Cambria"/>
              </a:rPr>
              <a:t>object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server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in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130" dirty="0">
                <a:latin typeface="Cambria"/>
                <a:cs typeface="Cambria"/>
              </a:rPr>
              <a:t>making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unmaking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connections.</a:t>
            </a:r>
            <a:endParaRPr sz="14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45"/>
              </a:spcBef>
              <a:buFont typeface="Cambria"/>
              <a:buAutoNum type="arabicPeriod"/>
            </a:pPr>
            <a:endParaRPr sz="1450">
              <a:latin typeface="Cambria"/>
              <a:cs typeface="Cambria"/>
            </a:endParaRPr>
          </a:p>
          <a:p>
            <a:pPr marL="766445" marR="5080" lvl="1" indent="-378460">
              <a:lnSpc>
                <a:spcPct val="102699"/>
              </a:lnSpc>
              <a:buAutoNum type="arabicPeriod"/>
              <a:tabLst>
                <a:tab pos="766445" algn="l"/>
              </a:tabLst>
            </a:pPr>
            <a:r>
              <a:rPr sz="1450" spc="85" dirty="0">
                <a:latin typeface="Cambria"/>
                <a:cs typeface="Cambria"/>
              </a:rPr>
              <a:t>Definition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common</a:t>
            </a:r>
            <a:r>
              <a:rPr sz="1450" spc="26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data</a:t>
            </a:r>
            <a:r>
              <a:rPr sz="1450" spc="28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representation:</a:t>
            </a:r>
            <a:r>
              <a:rPr sz="1450" spc="290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coding</a:t>
            </a:r>
            <a:r>
              <a:rPr sz="1450" spc="27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scheme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254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marshalling</a:t>
            </a:r>
            <a:r>
              <a:rPr sz="1450" spc="275" dirty="0">
                <a:latin typeface="Cambria"/>
                <a:cs typeface="Cambria"/>
              </a:rPr>
              <a:t> </a:t>
            </a:r>
            <a:r>
              <a:rPr sz="1450" spc="135" dirty="0">
                <a:latin typeface="Cambria"/>
                <a:cs typeface="Cambria"/>
              </a:rPr>
              <a:t>and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unmarshalling </a:t>
            </a:r>
            <a:r>
              <a:rPr sz="1450" spc="120" dirty="0">
                <a:latin typeface="Cambria"/>
                <a:cs typeface="Cambria"/>
              </a:rPr>
              <a:t>data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25" dirty="0">
                <a:latin typeface="Cambria"/>
                <a:cs typeface="Cambria"/>
              </a:rPr>
              <a:t>each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25" dirty="0">
                <a:latin typeface="Cambria"/>
                <a:cs typeface="Cambria"/>
              </a:rPr>
              <a:t>IDL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data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50" dirty="0">
                <a:latin typeface="Cambria"/>
                <a:cs typeface="Cambria"/>
              </a:rPr>
              <a:t>type</a:t>
            </a:r>
            <a:endParaRPr sz="14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80"/>
              </a:spcBef>
              <a:buFont typeface="Cambria"/>
              <a:buAutoNum type="arabicPeriod"/>
            </a:pPr>
            <a:endParaRPr sz="1450">
              <a:latin typeface="Cambria"/>
              <a:cs typeface="Cambria"/>
            </a:endParaRPr>
          </a:p>
          <a:p>
            <a:pPr marL="766445" lvl="1" indent="-377825">
              <a:lnSpc>
                <a:spcPct val="100000"/>
              </a:lnSpc>
              <a:buAutoNum type="arabicPeriod"/>
              <a:tabLst>
                <a:tab pos="766445" algn="l"/>
              </a:tabLst>
            </a:pPr>
            <a:r>
              <a:rPr sz="1450" spc="114" dirty="0">
                <a:latin typeface="Cambria"/>
                <a:cs typeface="Cambria"/>
              </a:rPr>
              <a:t>Message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formats: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different</a:t>
            </a:r>
            <a:r>
              <a:rPr sz="1450" spc="13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types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message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format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are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defined.</a:t>
            </a:r>
            <a:endParaRPr sz="14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95"/>
              </a:spcBef>
              <a:buFont typeface="Cambria"/>
              <a:buAutoNum type="arabicPeriod"/>
            </a:pPr>
            <a:endParaRPr sz="1450">
              <a:latin typeface="Cambria"/>
              <a:cs typeface="Cambria"/>
            </a:endParaRPr>
          </a:p>
          <a:p>
            <a:pPr marL="766445" lvl="1" indent="-377825">
              <a:lnSpc>
                <a:spcPct val="100000"/>
              </a:lnSpc>
              <a:buAutoNum type="arabicPeriod"/>
              <a:tabLst>
                <a:tab pos="766445" algn="l"/>
              </a:tabLst>
            </a:pPr>
            <a:r>
              <a:rPr sz="1450" spc="85" dirty="0">
                <a:latin typeface="Cambria"/>
                <a:cs typeface="Cambria"/>
              </a:rPr>
              <a:t>The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messages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allow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clients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55" dirty="0">
                <a:latin typeface="Cambria"/>
                <a:cs typeface="Cambria"/>
              </a:rPr>
              <a:t>to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send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requests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object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servers</a:t>
            </a:r>
            <a:r>
              <a:rPr sz="1450" spc="135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receive</a:t>
            </a:r>
            <a:r>
              <a:rPr sz="1450" spc="13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replies.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50">
              <a:latin typeface="Cambria"/>
              <a:cs typeface="Cambria"/>
            </a:endParaRPr>
          </a:p>
          <a:p>
            <a:pPr marL="766445" marR="5080" indent="-378460">
              <a:lnSpc>
                <a:spcPct val="111000"/>
              </a:lnSpc>
              <a:buAutoNum type="arabicPeriod"/>
              <a:tabLst>
                <a:tab pos="766445" algn="l"/>
              </a:tabLst>
            </a:pPr>
            <a:r>
              <a:rPr sz="1450" spc="105" dirty="0">
                <a:latin typeface="Cambria"/>
                <a:cs typeface="Cambria"/>
              </a:rPr>
              <a:t>A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client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35" dirty="0">
                <a:latin typeface="Cambria"/>
                <a:cs typeface="Cambria"/>
              </a:rPr>
              <a:t>uses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Request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message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55" dirty="0">
                <a:latin typeface="Cambria"/>
                <a:cs typeface="Cambria"/>
              </a:rPr>
              <a:t>to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invoke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method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declared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in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200" dirty="0">
                <a:latin typeface="Cambria"/>
                <a:cs typeface="Cambria"/>
              </a:rPr>
              <a:t>CORBA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interface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50" dirty="0">
                <a:latin typeface="Cambria"/>
                <a:cs typeface="Cambria"/>
              </a:rPr>
              <a:t>an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object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receives</a:t>
            </a:r>
            <a:r>
              <a:rPr sz="1450" spc="145" dirty="0">
                <a:latin typeface="Cambria"/>
                <a:cs typeface="Cambria"/>
              </a:rPr>
              <a:t> a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reply</a:t>
            </a:r>
            <a:r>
              <a:rPr sz="1450" spc="13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message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from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server.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455" rIns="0" bIns="0" rtlCol="0">
            <a:spAutoFit/>
          </a:bodyPr>
          <a:lstStyle/>
          <a:p>
            <a:pPr marL="1320165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Object</a:t>
            </a:r>
            <a:r>
              <a:rPr spc="85" dirty="0"/>
              <a:t> </a:t>
            </a:r>
            <a:r>
              <a:rPr spc="90" dirty="0"/>
              <a:t>Bus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310370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ORB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which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adheres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specifications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IIOP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interoperate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any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other </a:t>
            </a:r>
            <a:r>
              <a:rPr sz="1650" spc="95" dirty="0">
                <a:latin typeface="Cambria"/>
                <a:cs typeface="Cambria"/>
              </a:rPr>
              <a:t>IIOP-compliant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85" dirty="0">
                <a:latin typeface="Cambria"/>
                <a:cs typeface="Cambria"/>
              </a:rPr>
              <a:t>ORBs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over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Internet.</a:t>
            </a:r>
            <a:endParaRPr sz="1650">
              <a:latin typeface="Cambria"/>
              <a:cs typeface="Cambria"/>
            </a:endParaRPr>
          </a:p>
          <a:p>
            <a:pPr marL="295910" marR="852169" indent="-283845">
              <a:lnSpc>
                <a:spcPct val="1497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This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gives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rise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term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“object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bus”, </a:t>
            </a:r>
            <a:r>
              <a:rPr sz="1650" spc="65" dirty="0">
                <a:latin typeface="Cambria"/>
                <a:cs typeface="Cambria"/>
              </a:rPr>
              <a:t>where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Internet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seen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bus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that </a:t>
            </a:r>
            <a:r>
              <a:rPr sz="1650" spc="90" dirty="0">
                <a:latin typeface="Cambria"/>
                <a:cs typeface="Cambria"/>
              </a:rPr>
              <a:t>interconnects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objects.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0" dirty="0">
                <a:latin typeface="Cambria"/>
                <a:cs typeface="Cambria"/>
              </a:rPr>
              <a:t>There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are</a:t>
            </a:r>
            <a:r>
              <a:rPr sz="1650" spc="160" dirty="0">
                <a:latin typeface="Cambria"/>
                <a:cs typeface="Cambria"/>
              </a:rPr>
              <a:t> a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large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number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proprietary</a:t>
            </a:r>
            <a:r>
              <a:rPr sz="1650" spc="145" dirty="0">
                <a:latin typeface="Cambria"/>
                <a:cs typeface="Cambria"/>
              </a:rPr>
              <a:t> as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well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experimental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80" dirty="0">
                <a:latin typeface="Cambria"/>
                <a:cs typeface="Cambria"/>
              </a:rPr>
              <a:t>ORBs </a:t>
            </a:r>
            <a:r>
              <a:rPr sz="1650" spc="75" dirty="0">
                <a:latin typeface="Cambria"/>
                <a:cs typeface="Cambria"/>
              </a:rPr>
              <a:t>available: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81084" y="6401561"/>
            <a:ext cx="5548630" cy="0"/>
          </a:xfrm>
          <a:custGeom>
            <a:avLst/>
            <a:gdLst/>
            <a:ahLst/>
            <a:cxnLst/>
            <a:rect l="l" t="t" r="r" b="b"/>
            <a:pathLst>
              <a:path w="5548630">
                <a:moveTo>
                  <a:pt x="0" y="0"/>
                </a:moveTo>
                <a:lnTo>
                  <a:pt x="5548502" y="0"/>
                </a:lnTo>
              </a:path>
            </a:pathLst>
          </a:custGeom>
          <a:ln w="13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0649" y="4276739"/>
            <a:ext cx="889635" cy="547370"/>
            <a:chOff x="2800649" y="4276739"/>
            <a:chExt cx="889635" cy="547370"/>
          </a:xfrm>
        </p:grpSpPr>
        <p:sp>
          <p:nvSpPr>
            <p:cNvPr id="6" name="object 6"/>
            <p:cNvSpPr/>
            <p:nvPr/>
          </p:nvSpPr>
          <p:spPr>
            <a:xfrm>
              <a:off x="2807303" y="4283392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437959" y="533780"/>
                  </a:moveTo>
                  <a:lnTo>
                    <a:pt x="378519" y="531343"/>
                  </a:lnTo>
                  <a:lnTo>
                    <a:pt x="321512" y="524244"/>
                  </a:lnTo>
                  <a:lnTo>
                    <a:pt x="267462" y="512800"/>
                  </a:lnTo>
                  <a:lnTo>
                    <a:pt x="216887" y="497331"/>
                  </a:lnTo>
                  <a:lnTo>
                    <a:pt x="170311" y="478156"/>
                  </a:lnTo>
                  <a:lnTo>
                    <a:pt x="128254" y="455592"/>
                  </a:lnTo>
                  <a:lnTo>
                    <a:pt x="91237" y="429958"/>
                  </a:lnTo>
                  <a:lnTo>
                    <a:pt x="59781" y="401573"/>
                  </a:lnTo>
                  <a:lnTo>
                    <a:pt x="34409" y="370756"/>
                  </a:lnTo>
                  <a:lnTo>
                    <a:pt x="3996" y="303095"/>
                  </a:lnTo>
                  <a:lnTo>
                    <a:pt x="0" y="266890"/>
                  </a:lnTo>
                  <a:lnTo>
                    <a:pt x="3996" y="230685"/>
                  </a:lnTo>
                  <a:lnTo>
                    <a:pt x="34409" y="163024"/>
                  </a:lnTo>
                  <a:lnTo>
                    <a:pt x="59781" y="132206"/>
                  </a:lnTo>
                  <a:lnTo>
                    <a:pt x="91237" y="103822"/>
                  </a:lnTo>
                  <a:lnTo>
                    <a:pt x="128254" y="78188"/>
                  </a:lnTo>
                  <a:lnTo>
                    <a:pt x="170311" y="55624"/>
                  </a:lnTo>
                  <a:lnTo>
                    <a:pt x="216887" y="36448"/>
                  </a:lnTo>
                  <a:lnTo>
                    <a:pt x="267462" y="20980"/>
                  </a:lnTo>
                  <a:lnTo>
                    <a:pt x="321512" y="9536"/>
                  </a:lnTo>
                  <a:lnTo>
                    <a:pt x="378519" y="2437"/>
                  </a:lnTo>
                  <a:lnTo>
                    <a:pt x="437959" y="0"/>
                  </a:lnTo>
                  <a:lnTo>
                    <a:pt x="497399" y="2437"/>
                  </a:lnTo>
                  <a:lnTo>
                    <a:pt x="554406" y="9536"/>
                  </a:lnTo>
                  <a:lnTo>
                    <a:pt x="608456" y="20980"/>
                  </a:lnTo>
                  <a:lnTo>
                    <a:pt x="659031" y="36448"/>
                  </a:lnTo>
                  <a:lnTo>
                    <a:pt x="705607" y="55624"/>
                  </a:lnTo>
                  <a:lnTo>
                    <a:pt x="747664" y="78188"/>
                  </a:lnTo>
                  <a:lnTo>
                    <a:pt x="784681" y="103822"/>
                  </a:lnTo>
                  <a:lnTo>
                    <a:pt x="816137" y="132206"/>
                  </a:lnTo>
                  <a:lnTo>
                    <a:pt x="841509" y="163024"/>
                  </a:lnTo>
                  <a:lnTo>
                    <a:pt x="871922" y="230685"/>
                  </a:lnTo>
                  <a:lnTo>
                    <a:pt x="875918" y="266890"/>
                  </a:lnTo>
                  <a:lnTo>
                    <a:pt x="871922" y="303095"/>
                  </a:lnTo>
                  <a:lnTo>
                    <a:pt x="841509" y="370756"/>
                  </a:lnTo>
                  <a:lnTo>
                    <a:pt x="816137" y="401573"/>
                  </a:lnTo>
                  <a:lnTo>
                    <a:pt x="784681" y="429958"/>
                  </a:lnTo>
                  <a:lnTo>
                    <a:pt x="747664" y="455592"/>
                  </a:lnTo>
                  <a:lnTo>
                    <a:pt x="705607" y="478156"/>
                  </a:lnTo>
                  <a:lnTo>
                    <a:pt x="659031" y="497331"/>
                  </a:lnTo>
                  <a:lnTo>
                    <a:pt x="608456" y="512800"/>
                  </a:lnTo>
                  <a:lnTo>
                    <a:pt x="554406" y="524244"/>
                  </a:lnTo>
                  <a:lnTo>
                    <a:pt x="497399" y="531343"/>
                  </a:lnTo>
                  <a:lnTo>
                    <a:pt x="437959" y="533780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07303" y="4283392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875918" y="266890"/>
                  </a:moveTo>
                  <a:lnTo>
                    <a:pt x="860278" y="195957"/>
                  </a:lnTo>
                  <a:lnTo>
                    <a:pt x="816137" y="132206"/>
                  </a:lnTo>
                  <a:lnTo>
                    <a:pt x="784681" y="103822"/>
                  </a:lnTo>
                  <a:lnTo>
                    <a:pt x="747664" y="78188"/>
                  </a:lnTo>
                  <a:lnTo>
                    <a:pt x="705607" y="55624"/>
                  </a:lnTo>
                  <a:lnTo>
                    <a:pt x="659031" y="36448"/>
                  </a:lnTo>
                  <a:lnTo>
                    <a:pt x="608456" y="20980"/>
                  </a:lnTo>
                  <a:lnTo>
                    <a:pt x="554406" y="9536"/>
                  </a:lnTo>
                  <a:lnTo>
                    <a:pt x="497399" y="2437"/>
                  </a:lnTo>
                  <a:lnTo>
                    <a:pt x="437959" y="0"/>
                  </a:lnTo>
                  <a:lnTo>
                    <a:pt x="378519" y="2437"/>
                  </a:lnTo>
                  <a:lnTo>
                    <a:pt x="321512" y="9536"/>
                  </a:lnTo>
                  <a:lnTo>
                    <a:pt x="267462" y="20980"/>
                  </a:lnTo>
                  <a:lnTo>
                    <a:pt x="216887" y="36448"/>
                  </a:lnTo>
                  <a:lnTo>
                    <a:pt x="170311" y="55624"/>
                  </a:lnTo>
                  <a:lnTo>
                    <a:pt x="128254" y="78188"/>
                  </a:lnTo>
                  <a:lnTo>
                    <a:pt x="91237" y="103822"/>
                  </a:lnTo>
                  <a:lnTo>
                    <a:pt x="59781" y="132206"/>
                  </a:lnTo>
                  <a:lnTo>
                    <a:pt x="34409" y="163024"/>
                  </a:lnTo>
                  <a:lnTo>
                    <a:pt x="3996" y="230685"/>
                  </a:lnTo>
                  <a:lnTo>
                    <a:pt x="0" y="266890"/>
                  </a:lnTo>
                  <a:lnTo>
                    <a:pt x="3996" y="303095"/>
                  </a:lnTo>
                  <a:lnTo>
                    <a:pt x="34409" y="370756"/>
                  </a:lnTo>
                  <a:lnTo>
                    <a:pt x="59781" y="401573"/>
                  </a:lnTo>
                  <a:lnTo>
                    <a:pt x="91237" y="429958"/>
                  </a:lnTo>
                  <a:lnTo>
                    <a:pt x="128254" y="455592"/>
                  </a:lnTo>
                  <a:lnTo>
                    <a:pt x="170311" y="478156"/>
                  </a:lnTo>
                  <a:lnTo>
                    <a:pt x="216887" y="497331"/>
                  </a:lnTo>
                  <a:lnTo>
                    <a:pt x="267462" y="512800"/>
                  </a:lnTo>
                  <a:lnTo>
                    <a:pt x="321512" y="524244"/>
                  </a:lnTo>
                  <a:lnTo>
                    <a:pt x="378519" y="531343"/>
                  </a:lnTo>
                  <a:lnTo>
                    <a:pt x="437959" y="533780"/>
                  </a:lnTo>
                  <a:lnTo>
                    <a:pt x="497399" y="531343"/>
                  </a:lnTo>
                  <a:lnTo>
                    <a:pt x="554406" y="524244"/>
                  </a:lnTo>
                  <a:lnTo>
                    <a:pt x="608456" y="512800"/>
                  </a:lnTo>
                  <a:lnTo>
                    <a:pt x="659031" y="497331"/>
                  </a:lnTo>
                  <a:lnTo>
                    <a:pt x="705607" y="478156"/>
                  </a:lnTo>
                  <a:lnTo>
                    <a:pt x="747664" y="455592"/>
                  </a:lnTo>
                  <a:lnTo>
                    <a:pt x="784681" y="429958"/>
                  </a:lnTo>
                  <a:lnTo>
                    <a:pt x="816137" y="401573"/>
                  </a:lnTo>
                  <a:lnTo>
                    <a:pt x="841509" y="370756"/>
                  </a:lnTo>
                  <a:lnTo>
                    <a:pt x="871922" y="303095"/>
                  </a:lnTo>
                  <a:lnTo>
                    <a:pt x="875918" y="266890"/>
                  </a:lnTo>
                  <a:close/>
                </a:path>
              </a:pathLst>
            </a:custGeom>
            <a:ln w="13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94118" y="4382605"/>
            <a:ext cx="508634" cy="3276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latin typeface="Times New Roman"/>
                <a:cs typeface="Times New Roman"/>
              </a:rPr>
              <a:t>CORBA</a:t>
            </a:r>
            <a:endParaRPr sz="10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80"/>
              </a:spcBef>
            </a:pPr>
            <a:r>
              <a:rPr sz="850" b="1" spc="-10" dirty="0">
                <a:latin typeface="Times New Roman"/>
                <a:cs typeface="Times New Roman"/>
              </a:rPr>
              <a:t>object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24803" y="4276739"/>
            <a:ext cx="889635" cy="547370"/>
            <a:chOff x="4024803" y="4276739"/>
            <a:chExt cx="889635" cy="547370"/>
          </a:xfrm>
        </p:grpSpPr>
        <p:sp>
          <p:nvSpPr>
            <p:cNvPr id="10" name="object 10"/>
            <p:cNvSpPr/>
            <p:nvPr/>
          </p:nvSpPr>
          <p:spPr>
            <a:xfrm>
              <a:off x="4031456" y="4283392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437959" y="533780"/>
                  </a:moveTo>
                  <a:lnTo>
                    <a:pt x="378519" y="531343"/>
                  </a:lnTo>
                  <a:lnTo>
                    <a:pt x="321512" y="524244"/>
                  </a:lnTo>
                  <a:lnTo>
                    <a:pt x="267462" y="512800"/>
                  </a:lnTo>
                  <a:lnTo>
                    <a:pt x="216887" y="497331"/>
                  </a:lnTo>
                  <a:lnTo>
                    <a:pt x="170311" y="478156"/>
                  </a:lnTo>
                  <a:lnTo>
                    <a:pt x="128254" y="455592"/>
                  </a:lnTo>
                  <a:lnTo>
                    <a:pt x="91237" y="429958"/>
                  </a:lnTo>
                  <a:lnTo>
                    <a:pt x="59781" y="401573"/>
                  </a:lnTo>
                  <a:lnTo>
                    <a:pt x="34409" y="370756"/>
                  </a:lnTo>
                  <a:lnTo>
                    <a:pt x="3996" y="303095"/>
                  </a:lnTo>
                  <a:lnTo>
                    <a:pt x="0" y="266890"/>
                  </a:lnTo>
                  <a:lnTo>
                    <a:pt x="3996" y="230685"/>
                  </a:lnTo>
                  <a:lnTo>
                    <a:pt x="34409" y="163024"/>
                  </a:lnTo>
                  <a:lnTo>
                    <a:pt x="59781" y="132206"/>
                  </a:lnTo>
                  <a:lnTo>
                    <a:pt x="91237" y="103822"/>
                  </a:lnTo>
                  <a:lnTo>
                    <a:pt x="128254" y="78188"/>
                  </a:lnTo>
                  <a:lnTo>
                    <a:pt x="170311" y="55624"/>
                  </a:lnTo>
                  <a:lnTo>
                    <a:pt x="216887" y="36448"/>
                  </a:lnTo>
                  <a:lnTo>
                    <a:pt x="267462" y="20980"/>
                  </a:lnTo>
                  <a:lnTo>
                    <a:pt x="321512" y="9536"/>
                  </a:lnTo>
                  <a:lnTo>
                    <a:pt x="378519" y="2437"/>
                  </a:lnTo>
                  <a:lnTo>
                    <a:pt x="437959" y="0"/>
                  </a:lnTo>
                  <a:lnTo>
                    <a:pt x="497399" y="2437"/>
                  </a:lnTo>
                  <a:lnTo>
                    <a:pt x="554406" y="9536"/>
                  </a:lnTo>
                  <a:lnTo>
                    <a:pt x="608456" y="20980"/>
                  </a:lnTo>
                  <a:lnTo>
                    <a:pt x="659031" y="36448"/>
                  </a:lnTo>
                  <a:lnTo>
                    <a:pt x="705607" y="55624"/>
                  </a:lnTo>
                  <a:lnTo>
                    <a:pt x="747664" y="78188"/>
                  </a:lnTo>
                  <a:lnTo>
                    <a:pt x="784681" y="103822"/>
                  </a:lnTo>
                  <a:lnTo>
                    <a:pt x="816137" y="132206"/>
                  </a:lnTo>
                  <a:lnTo>
                    <a:pt x="841509" y="163024"/>
                  </a:lnTo>
                  <a:lnTo>
                    <a:pt x="871922" y="230685"/>
                  </a:lnTo>
                  <a:lnTo>
                    <a:pt x="875918" y="266890"/>
                  </a:lnTo>
                  <a:lnTo>
                    <a:pt x="871922" y="303095"/>
                  </a:lnTo>
                  <a:lnTo>
                    <a:pt x="841509" y="370756"/>
                  </a:lnTo>
                  <a:lnTo>
                    <a:pt x="816137" y="401573"/>
                  </a:lnTo>
                  <a:lnTo>
                    <a:pt x="784681" y="429958"/>
                  </a:lnTo>
                  <a:lnTo>
                    <a:pt x="747664" y="455592"/>
                  </a:lnTo>
                  <a:lnTo>
                    <a:pt x="705607" y="478156"/>
                  </a:lnTo>
                  <a:lnTo>
                    <a:pt x="659031" y="497331"/>
                  </a:lnTo>
                  <a:lnTo>
                    <a:pt x="608456" y="512800"/>
                  </a:lnTo>
                  <a:lnTo>
                    <a:pt x="554406" y="524244"/>
                  </a:lnTo>
                  <a:lnTo>
                    <a:pt x="497399" y="531343"/>
                  </a:lnTo>
                  <a:lnTo>
                    <a:pt x="437959" y="533780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1456" y="4283392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875918" y="266890"/>
                  </a:moveTo>
                  <a:lnTo>
                    <a:pt x="860278" y="195957"/>
                  </a:lnTo>
                  <a:lnTo>
                    <a:pt x="816137" y="132206"/>
                  </a:lnTo>
                  <a:lnTo>
                    <a:pt x="784681" y="103822"/>
                  </a:lnTo>
                  <a:lnTo>
                    <a:pt x="747664" y="78188"/>
                  </a:lnTo>
                  <a:lnTo>
                    <a:pt x="705607" y="55624"/>
                  </a:lnTo>
                  <a:lnTo>
                    <a:pt x="659031" y="36448"/>
                  </a:lnTo>
                  <a:lnTo>
                    <a:pt x="608456" y="20980"/>
                  </a:lnTo>
                  <a:lnTo>
                    <a:pt x="554406" y="9536"/>
                  </a:lnTo>
                  <a:lnTo>
                    <a:pt x="497399" y="2437"/>
                  </a:lnTo>
                  <a:lnTo>
                    <a:pt x="437959" y="0"/>
                  </a:lnTo>
                  <a:lnTo>
                    <a:pt x="378519" y="2437"/>
                  </a:lnTo>
                  <a:lnTo>
                    <a:pt x="321512" y="9536"/>
                  </a:lnTo>
                  <a:lnTo>
                    <a:pt x="267462" y="20980"/>
                  </a:lnTo>
                  <a:lnTo>
                    <a:pt x="216887" y="36448"/>
                  </a:lnTo>
                  <a:lnTo>
                    <a:pt x="170311" y="55624"/>
                  </a:lnTo>
                  <a:lnTo>
                    <a:pt x="128254" y="78188"/>
                  </a:lnTo>
                  <a:lnTo>
                    <a:pt x="91237" y="103822"/>
                  </a:lnTo>
                  <a:lnTo>
                    <a:pt x="59781" y="132206"/>
                  </a:lnTo>
                  <a:lnTo>
                    <a:pt x="34409" y="163024"/>
                  </a:lnTo>
                  <a:lnTo>
                    <a:pt x="3996" y="230685"/>
                  </a:lnTo>
                  <a:lnTo>
                    <a:pt x="0" y="266890"/>
                  </a:lnTo>
                  <a:lnTo>
                    <a:pt x="3996" y="303095"/>
                  </a:lnTo>
                  <a:lnTo>
                    <a:pt x="34409" y="370756"/>
                  </a:lnTo>
                  <a:lnTo>
                    <a:pt x="59781" y="401573"/>
                  </a:lnTo>
                  <a:lnTo>
                    <a:pt x="91237" y="429958"/>
                  </a:lnTo>
                  <a:lnTo>
                    <a:pt x="128254" y="455592"/>
                  </a:lnTo>
                  <a:lnTo>
                    <a:pt x="170311" y="478156"/>
                  </a:lnTo>
                  <a:lnTo>
                    <a:pt x="216887" y="497331"/>
                  </a:lnTo>
                  <a:lnTo>
                    <a:pt x="267462" y="512800"/>
                  </a:lnTo>
                  <a:lnTo>
                    <a:pt x="321512" y="524244"/>
                  </a:lnTo>
                  <a:lnTo>
                    <a:pt x="378519" y="531343"/>
                  </a:lnTo>
                  <a:lnTo>
                    <a:pt x="437959" y="533780"/>
                  </a:lnTo>
                  <a:lnTo>
                    <a:pt x="497399" y="531343"/>
                  </a:lnTo>
                  <a:lnTo>
                    <a:pt x="554406" y="524244"/>
                  </a:lnTo>
                  <a:lnTo>
                    <a:pt x="608456" y="512800"/>
                  </a:lnTo>
                  <a:lnTo>
                    <a:pt x="659031" y="497331"/>
                  </a:lnTo>
                  <a:lnTo>
                    <a:pt x="705607" y="478156"/>
                  </a:lnTo>
                  <a:lnTo>
                    <a:pt x="747664" y="455592"/>
                  </a:lnTo>
                  <a:lnTo>
                    <a:pt x="784681" y="429958"/>
                  </a:lnTo>
                  <a:lnTo>
                    <a:pt x="816137" y="401573"/>
                  </a:lnTo>
                  <a:lnTo>
                    <a:pt x="841509" y="370756"/>
                  </a:lnTo>
                  <a:lnTo>
                    <a:pt x="871922" y="303095"/>
                  </a:lnTo>
                  <a:lnTo>
                    <a:pt x="875918" y="266890"/>
                  </a:lnTo>
                  <a:close/>
                </a:path>
              </a:pathLst>
            </a:custGeom>
            <a:ln w="13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17916" y="4382605"/>
            <a:ext cx="508634" cy="3276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latin typeface="Times New Roman"/>
                <a:cs typeface="Times New Roman"/>
              </a:rPr>
              <a:t>CORBA</a:t>
            </a:r>
            <a:endParaRPr sz="10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80"/>
              </a:spcBef>
            </a:pPr>
            <a:r>
              <a:rPr sz="850" b="1" spc="-10" dirty="0">
                <a:latin typeface="Times New Roman"/>
                <a:cs typeface="Times New Roman"/>
              </a:rPr>
              <a:t>object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94452" y="4276739"/>
            <a:ext cx="889635" cy="547370"/>
            <a:chOff x="5794452" y="4276739"/>
            <a:chExt cx="889635" cy="547370"/>
          </a:xfrm>
        </p:grpSpPr>
        <p:sp>
          <p:nvSpPr>
            <p:cNvPr id="14" name="object 14"/>
            <p:cNvSpPr/>
            <p:nvPr/>
          </p:nvSpPr>
          <p:spPr>
            <a:xfrm>
              <a:off x="5801106" y="4283392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437959" y="533780"/>
                  </a:moveTo>
                  <a:lnTo>
                    <a:pt x="378519" y="531343"/>
                  </a:lnTo>
                  <a:lnTo>
                    <a:pt x="321512" y="524244"/>
                  </a:lnTo>
                  <a:lnTo>
                    <a:pt x="267462" y="512800"/>
                  </a:lnTo>
                  <a:lnTo>
                    <a:pt x="216887" y="497331"/>
                  </a:lnTo>
                  <a:lnTo>
                    <a:pt x="170311" y="478156"/>
                  </a:lnTo>
                  <a:lnTo>
                    <a:pt x="128254" y="455592"/>
                  </a:lnTo>
                  <a:lnTo>
                    <a:pt x="91237" y="429958"/>
                  </a:lnTo>
                  <a:lnTo>
                    <a:pt x="59781" y="401573"/>
                  </a:lnTo>
                  <a:lnTo>
                    <a:pt x="34409" y="370756"/>
                  </a:lnTo>
                  <a:lnTo>
                    <a:pt x="3996" y="303095"/>
                  </a:lnTo>
                  <a:lnTo>
                    <a:pt x="0" y="266890"/>
                  </a:lnTo>
                  <a:lnTo>
                    <a:pt x="3996" y="230685"/>
                  </a:lnTo>
                  <a:lnTo>
                    <a:pt x="34409" y="163024"/>
                  </a:lnTo>
                  <a:lnTo>
                    <a:pt x="59781" y="132206"/>
                  </a:lnTo>
                  <a:lnTo>
                    <a:pt x="91237" y="103822"/>
                  </a:lnTo>
                  <a:lnTo>
                    <a:pt x="128254" y="78188"/>
                  </a:lnTo>
                  <a:lnTo>
                    <a:pt x="170311" y="55624"/>
                  </a:lnTo>
                  <a:lnTo>
                    <a:pt x="216887" y="36448"/>
                  </a:lnTo>
                  <a:lnTo>
                    <a:pt x="267462" y="20980"/>
                  </a:lnTo>
                  <a:lnTo>
                    <a:pt x="321512" y="9536"/>
                  </a:lnTo>
                  <a:lnTo>
                    <a:pt x="378519" y="2437"/>
                  </a:lnTo>
                  <a:lnTo>
                    <a:pt x="437959" y="0"/>
                  </a:lnTo>
                  <a:lnTo>
                    <a:pt x="497399" y="2437"/>
                  </a:lnTo>
                  <a:lnTo>
                    <a:pt x="554406" y="9536"/>
                  </a:lnTo>
                  <a:lnTo>
                    <a:pt x="608456" y="20980"/>
                  </a:lnTo>
                  <a:lnTo>
                    <a:pt x="659031" y="36448"/>
                  </a:lnTo>
                  <a:lnTo>
                    <a:pt x="705607" y="55624"/>
                  </a:lnTo>
                  <a:lnTo>
                    <a:pt x="747664" y="78188"/>
                  </a:lnTo>
                  <a:lnTo>
                    <a:pt x="784681" y="103822"/>
                  </a:lnTo>
                  <a:lnTo>
                    <a:pt x="816137" y="132206"/>
                  </a:lnTo>
                  <a:lnTo>
                    <a:pt x="841509" y="163024"/>
                  </a:lnTo>
                  <a:lnTo>
                    <a:pt x="871922" y="230685"/>
                  </a:lnTo>
                  <a:lnTo>
                    <a:pt x="875918" y="266890"/>
                  </a:lnTo>
                  <a:lnTo>
                    <a:pt x="871922" y="303095"/>
                  </a:lnTo>
                  <a:lnTo>
                    <a:pt x="841509" y="370756"/>
                  </a:lnTo>
                  <a:lnTo>
                    <a:pt x="816137" y="401573"/>
                  </a:lnTo>
                  <a:lnTo>
                    <a:pt x="784681" y="429958"/>
                  </a:lnTo>
                  <a:lnTo>
                    <a:pt x="747664" y="455592"/>
                  </a:lnTo>
                  <a:lnTo>
                    <a:pt x="705607" y="478156"/>
                  </a:lnTo>
                  <a:lnTo>
                    <a:pt x="659031" y="497331"/>
                  </a:lnTo>
                  <a:lnTo>
                    <a:pt x="608456" y="512800"/>
                  </a:lnTo>
                  <a:lnTo>
                    <a:pt x="554406" y="524244"/>
                  </a:lnTo>
                  <a:lnTo>
                    <a:pt x="497399" y="531343"/>
                  </a:lnTo>
                  <a:lnTo>
                    <a:pt x="437959" y="533780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01106" y="4283392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875918" y="266890"/>
                  </a:moveTo>
                  <a:lnTo>
                    <a:pt x="860278" y="195957"/>
                  </a:lnTo>
                  <a:lnTo>
                    <a:pt x="816137" y="132206"/>
                  </a:lnTo>
                  <a:lnTo>
                    <a:pt x="784681" y="103822"/>
                  </a:lnTo>
                  <a:lnTo>
                    <a:pt x="747664" y="78188"/>
                  </a:lnTo>
                  <a:lnTo>
                    <a:pt x="705607" y="55624"/>
                  </a:lnTo>
                  <a:lnTo>
                    <a:pt x="659031" y="36448"/>
                  </a:lnTo>
                  <a:lnTo>
                    <a:pt x="608456" y="20980"/>
                  </a:lnTo>
                  <a:lnTo>
                    <a:pt x="554406" y="9536"/>
                  </a:lnTo>
                  <a:lnTo>
                    <a:pt x="497399" y="2437"/>
                  </a:lnTo>
                  <a:lnTo>
                    <a:pt x="437959" y="0"/>
                  </a:lnTo>
                  <a:lnTo>
                    <a:pt x="378519" y="2437"/>
                  </a:lnTo>
                  <a:lnTo>
                    <a:pt x="321512" y="9536"/>
                  </a:lnTo>
                  <a:lnTo>
                    <a:pt x="267462" y="20980"/>
                  </a:lnTo>
                  <a:lnTo>
                    <a:pt x="216887" y="36448"/>
                  </a:lnTo>
                  <a:lnTo>
                    <a:pt x="170311" y="55624"/>
                  </a:lnTo>
                  <a:lnTo>
                    <a:pt x="128254" y="78188"/>
                  </a:lnTo>
                  <a:lnTo>
                    <a:pt x="91237" y="103822"/>
                  </a:lnTo>
                  <a:lnTo>
                    <a:pt x="59781" y="132206"/>
                  </a:lnTo>
                  <a:lnTo>
                    <a:pt x="34409" y="163024"/>
                  </a:lnTo>
                  <a:lnTo>
                    <a:pt x="3996" y="230685"/>
                  </a:lnTo>
                  <a:lnTo>
                    <a:pt x="0" y="266890"/>
                  </a:lnTo>
                  <a:lnTo>
                    <a:pt x="3996" y="303095"/>
                  </a:lnTo>
                  <a:lnTo>
                    <a:pt x="34409" y="370756"/>
                  </a:lnTo>
                  <a:lnTo>
                    <a:pt x="59781" y="401573"/>
                  </a:lnTo>
                  <a:lnTo>
                    <a:pt x="91237" y="429958"/>
                  </a:lnTo>
                  <a:lnTo>
                    <a:pt x="128254" y="455592"/>
                  </a:lnTo>
                  <a:lnTo>
                    <a:pt x="170311" y="478156"/>
                  </a:lnTo>
                  <a:lnTo>
                    <a:pt x="216887" y="497331"/>
                  </a:lnTo>
                  <a:lnTo>
                    <a:pt x="267462" y="512800"/>
                  </a:lnTo>
                  <a:lnTo>
                    <a:pt x="321512" y="524244"/>
                  </a:lnTo>
                  <a:lnTo>
                    <a:pt x="378519" y="531343"/>
                  </a:lnTo>
                  <a:lnTo>
                    <a:pt x="437959" y="533780"/>
                  </a:lnTo>
                  <a:lnTo>
                    <a:pt x="497399" y="531343"/>
                  </a:lnTo>
                  <a:lnTo>
                    <a:pt x="554406" y="524244"/>
                  </a:lnTo>
                  <a:lnTo>
                    <a:pt x="608456" y="512800"/>
                  </a:lnTo>
                  <a:lnTo>
                    <a:pt x="659031" y="497331"/>
                  </a:lnTo>
                  <a:lnTo>
                    <a:pt x="705607" y="478156"/>
                  </a:lnTo>
                  <a:lnTo>
                    <a:pt x="747664" y="455592"/>
                  </a:lnTo>
                  <a:lnTo>
                    <a:pt x="784681" y="429958"/>
                  </a:lnTo>
                  <a:lnTo>
                    <a:pt x="816137" y="401573"/>
                  </a:lnTo>
                  <a:lnTo>
                    <a:pt x="841509" y="370756"/>
                  </a:lnTo>
                  <a:lnTo>
                    <a:pt x="871922" y="303095"/>
                  </a:lnTo>
                  <a:lnTo>
                    <a:pt x="875918" y="266890"/>
                  </a:lnTo>
                  <a:close/>
                </a:path>
              </a:pathLst>
            </a:custGeom>
            <a:ln w="13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87298" y="4382605"/>
            <a:ext cx="511175" cy="3276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latin typeface="Times New Roman"/>
                <a:cs typeface="Times New Roman"/>
              </a:rPr>
              <a:t>CORBA</a:t>
            </a:r>
            <a:endParaRPr sz="100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80"/>
              </a:spcBef>
            </a:pPr>
            <a:r>
              <a:rPr sz="850" b="1" spc="-10" dirty="0">
                <a:latin typeface="Times New Roman"/>
                <a:cs typeface="Times New Roman"/>
              </a:rPr>
              <a:t>object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581084" y="4812630"/>
          <a:ext cx="5551166" cy="1477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2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66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08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FFF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FFF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7660">
                        <a:lnSpc>
                          <a:spcPts val="2105"/>
                        </a:lnSpc>
                      </a:pPr>
                      <a:r>
                        <a:rPr sz="2250" b="1" spc="-25" dirty="0">
                          <a:latin typeface="Times New Roman"/>
                          <a:cs typeface="Times New Roman"/>
                        </a:rPr>
                        <a:t>...</a:t>
                      </a:r>
                      <a:endParaRPr sz="2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FFF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0730">
                        <a:lnSpc>
                          <a:spcPts val="1195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45" dirty="0">
                          <a:latin typeface="Times New Roman"/>
                          <a:cs typeface="Times New Roman"/>
                        </a:rPr>
                        <a:t>Internet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8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Object</a:t>
            </a:r>
            <a:r>
              <a:rPr spc="85" dirty="0"/>
              <a:t> </a:t>
            </a:r>
            <a:r>
              <a:rPr spc="90" dirty="0"/>
              <a:t>Bus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7362825" cy="118681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65" dirty="0">
                <a:latin typeface="Cambria"/>
                <a:cs typeface="Cambria"/>
              </a:rPr>
              <a:t>(See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Product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Profiles,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  <a:hlinkClick r:id="rId2"/>
              </a:rPr>
              <a:t>http://www.puder.org/corba/matrix/)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0" dirty="0">
                <a:latin typeface="Cambria"/>
                <a:cs typeface="Cambria"/>
              </a:rPr>
              <a:t>Orbix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IONA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05" dirty="0">
                <a:latin typeface="Cambria"/>
                <a:cs typeface="Cambria"/>
              </a:rPr>
              <a:t>Borland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Visibroker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958" y="3315188"/>
            <a:ext cx="3537585" cy="157543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PrismTech’s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OpenFusion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Web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Logic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Enterprise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BEA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Ada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Broker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ENST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Free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75" dirty="0">
                <a:latin typeface="Cambria"/>
                <a:cs typeface="Cambria"/>
              </a:rPr>
              <a:t>ORB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1304" y="5622797"/>
            <a:ext cx="5548630" cy="0"/>
          </a:xfrm>
          <a:custGeom>
            <a:avLst/>
            <a:gdLst/>
            <a:ahLst/>
            <a:cxnLst/>
            <a:rect l="l" t="t" r="r" b="b"/>
            <a:pathLst>
              <a:path w="5548630">
                <a:moveTo>
                  <a:pt x="0" y="0"/>
                </a:moveTo>
                <a:lnTo>
                  <a:pt x="5548503" y="0"/>
                </a:lnTo>
              </a:path>
            </a:pathLst>
          </a:custGeom>
          <a:ln w="13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560870" y="3499023"/>
            <a:ext cx="889635" cy="547370"/>
            <a:chOff x="4560870" y="3499023"/>
            <a:chExt cx="889635" cy="547370"/>
          </a:xfrm>
        </p:grpSpPr>
        <p:sp>
          <p:nvSpPr>
            <p:cNvPr id="7" name="object 7"/>
            <p:cNvSpPr/>
            <p:nvPr/>
          </p:nvSpPr>
          <p:spPr>
            <a:xfrm>
              <a:off x="4567523" y="3505676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437959" y="533780"/>
                  </a:moveTo>
                  <a:lnTo>
                    <a:pt x="378519" y="531343"/>
                  </a:lnTo>
                  <a:lnTo>
                    <a:pt x="321512" y="524244"/>
                  </a:lnTo>
                  <a:lnTo>
                    <a:pt x="267462" y="512800"/>
                  </a:lnTo>
                  <a:lnTo>
                    <a:pt x="216887" y="497331"/>
                  </a:lnTo>
                  <a:lnTo>
                    <a:pt x="170311" y="478156"/>
                  </a:lnTo>
                  <a:lnTo>
                    <a:pt x="128254" y="455592"/>
                  </a:lnTo>
                  <a:lnTo>
                    <a:pt x="91237" y="429958"/>
                  </a:lnTo>
                  <a:lnTo>
                    <a:pt x="59781" y="401573"/>
                  </a:lnTo>
                  <a:lnTo>
                    <a:pt x="34409" y="370756"/>
                  </a:lnTo>
                  <a:lnTo>
                    <a:pt x="3996" y="303095"/>
                  </a:lnTo>
                  <a:lnTo>
                    <a:pt x="0" y="266890"/>
                  </a:lnTo>
                  <a:lnTo>
                    <a:pt x="3996" y="230685"/>
                  </a:lnTo>
                  <a:lnTo>
                    <a:pt x="34409" y="163024"/>
                  </a:lnTo>
                  <a:lnTo>
                    <a:pt x="59781" y="132206"/>
                  </a:lnTo>
                  <a:lnTo>
                    <a:pt x="91237" y="103822"/>
                  </a:lnTo>
                  <a:lnTo>
                    <a:pt x="128254" y="78188"/>
                  </a:lnTo>
                  <a:lnTo>
                    <a:pt x="170311" y="55624"/>
                  </a:lnTo>
                  <a:lnTo>
                    <a:pt x="216887" y="36448"/>
                  </a:lnTo>
                  <a:lnTo>
                    <a:pt x="267462" y="20980"/>
                  </a:lnTo>
                  <a:lnTo>
                    <a:pt x="321512" y="9536"/>
                  </a:lnTo>
                  <a:lnTo>
                    <a:pt x="378519" y="2437"/>
                  </a:lnTo>
                  <a:lnTo>
                    <a:pt x="437959" y="0"/>
                  </a:lnTo>
                  <a:lnTo>
                    <a:pt x="497399" y="2437"/>
                  </a:lnTo>
                  <a:lnTo>
                    <a:pt x="554406" y="9536"/>
                  </a:lnTo>
                  <a:lnTo>
                    <a:pt x="608456" y="20980"/>
                  </a:lnTo>
                  <a:lnTo>
                    <a:pt x="659031" y="36448"/>
                  </a:lnTo>
                  <a:lnTo>
                    <a:pt x="705607" y="55624"/>
                  </a:lnTo>
                  <a:lnTo>
                    <a:pt x="747664" y="78188"/>
                  </a:lnTo>
                  <a:lnTo>
                    <a:pt x="784681" y="103822"/>
                  </a:lnTo>
                  <a:lnTo>
                    <a:pt x="816137" y="132206"/>
                  </a:lnTo>
                  <a:lnTo>
                    <a:pt x="841509" y="163024"/>
                  </a:lnTo>
                  <a:lnTo>
                    <a:pt x="871922" y="230685"/>
                  </a:lnTo>
                  <a:lnTo>
                    <a:pt x="875918" y="266890"/>
                  </a:lnTo>
                  <a:lnTo>
                    <a:pt x="871922" y="303095"/>
                  </a:lnTo>
                  <a:lnTo>
                    <a:pt x="841509" y="370756"/>
                  </a:lnTo>
                  <a:lnTo>
                    <a:pt x="816137" y="401573"/>
                  </a:lnTo>
                  <a:lnTo>
                    <a:pt x="784681" y="429958"/>
                  </a:lnTo>
                  <a:lnTo>
                    <a:pt x="747664" y="455592"/>
                  </a:lnTo>
                  <a:lnTo>
                    <a:pt x="705607" y="478156"/>
                  </a:lnTo>
                  <a:lnTo>
                    <a:pt x="659031" y="497331"/>
                  </a:lnTo>
                  <a:lnTo>
                    <a:pt x="608456" y="512800"/>
                  </a:lnTo>
                  <a:lnTo>
                    <a:pt x="554406" y="524244"/>
                  </a:lnTo>
                  <a:lnTo>
                    <a:pt x="497399" y="531343"/>
                  </a:lnTo>
                  <a:lnTo>
                    <a:pt x="437959" y="533780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7523" y="3505676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875918" y="266890"/>
                  </a:moveTo>
                  <a:lnTo>
                    <a:pt x="860278" y="195957"/>
                  </a:lnTo>
                  <a:lnTo>
                    <a:pt x="816137" y="132206"/>
                  </a:lnTo>
                  <a:lnTo>
                    <a:pt x="784681" y="103822"/>
                  </a:lnTo>
                  <a:lnTo>
                    <a:pt x="747664" y="78188"/>
                  </a:lnTo>
                  <a:lnTo>
                    <a:pt x="705607" y="55624"/>
                  </a:lnTo>
                  <a:lnTo>
                    <a:pt x="659031" y="36448"/>
                  </a:lnTo>
                  <a:lnTo>
                    <a:pt x="608456" y="20980"/>
                  </a:lnTo>
                  <a:lnTo>
                    <a:pt x="554406" y="9536"/>
                  </a:lnTo>
                  <a:lnTo>
                    <a:pt x="497399" y="2437"/>
                  </a:lnTo>
                  <a:lnTo>
                    <a:pt x="437959" y="0"/>
                  </a:lnTo>
                  <a:lnTo>
                    <a:pt x="378519" y="2437"/>
                  </a:lnTo>
                  <a:lnTo>
                    <a:pt x="321512" y="9536"/>
                  </a:lnTo>
                  <a:lnTo>
                    <a:pt x="267462" y="20980"/>
                  </a:lnTo>
                  <a:lnTo>
                    <a:pt x="216887" y="36448"/>
                  </a:lnTo>
                  <a:lnTo>
                    <a:pt x="170311" y="55624"/>
                  </a:lnTo>
                  <a:lnTo>
                    <a:pt x="128254" y="78188"/>
                  </a:lnTo>
                  <a:lnTo>
                    <a:pt x="91237" y="103822"/>
                  </a:lnTo>
                  <a:lnTo>
                    <a:pt x="59781" y="132206"/>
                  </a:lnTo>
                  <a:lnTo>
                    <a:pt x="34409" y="163024"/>
                  </a:lnTo>
                  <a:lnTo>
                    <a:pt x="3996" y="230685"/>
                  </a:lnTo>
                  <a:lnTo>
                    <a:pt x="0" y="266890"/>
                  </a:lnTo>
                  <a:lnTo>
                    <a:pt x="3996" y="303095"/>
                  </a:lnTo>
                  <a:lnTo>
                    <a:pt x="34409" y="370756"/>
                  </a:lnTo>
                  <a:lnTo>
                    <a:pt x="59781" y="401573"/>
                  </a:lnTo>
                  <a:lnTo>
                    <a:pt x="91237" y="429958"/>
                  </a:lnTo>
                  <a:lnTo>
                    <a:pt x="128254" y="455592"/>
                  </a:lnTo>
                  <a:lnTo>
                    <a:pt x="170311" y="478156"/>
                  </a:lnTo>
                  <a:lnTo>
                    <a:pt x="216887" y="497331"/>
                  </a:lnTo>
                  <a:lnTo>
                    <a:pt x="267462" y="512800"/>
                  </a:lnTo>
                  <a:lnTo>
                    <a:pt x="321512" y="524244"/>
                  </a:lnTo>
                  <a:lnTo>
                    <a:pt x="378519" y="531343"/>
                  </a:lnTo>
                  <a:lnTo>
                    <a:pt x="437959" y="533780"/>
                  </a:lnTo>
                  <a:lnTo>
                    <a:pt x="497399" y="531343"/>
                  </a:lnTo>
                  <a:lnTo>
                    <a:pt x="554406" y="524244"/>
                  </a:lnTo>
                  <a:lnTo>
                    <a:pt x="608456" y="512800"/>
                  </a:lnTo>
                  <a:lnTo>
                    <a:pt x="659031" y="497331"/>
                  </a:lnTo>
                  <a:lnTo>
                    <a:pt x="705607" y="478156"/>
                  </a:lnTo>
                  <a:lnTo>
                    <a:pt x="747664" y="455592"/>
                  </a:lnTo>
                  <a:lnTo>
                    <a:pt x="784681" y="429958"/>
                  </a:lnTo>
                  <a:lnTo>
                    <a:pt x="816137" y="401573"/>
                  </a:lnTo>
                  <a:lnTo>
                    <a:pt x="841509" y="370756"/>
                  </a:lnTo>
                  <a:lnTo>
                    <a:pt x="871922" y="303095"/>
                  </a:lnTo>
                  <a:lnTo>
                    <a:pt x="875918" y="266890"/>
                  </a:lnTo>
                  <a:close/>
                </a:path>
              </a:pathLst>
            </a:custGeom>
            <a:ln w="13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54371" y="3603828"/>
            <a:ext cx="508634" cy="3276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latin typeface="Times New Roman"/>
                <a:cs typeface="Times New Roman"/>
              </a:rPr>
              <a:t>CORBA</a:t>
            </a:r>
            <a:endParaRPr sz="10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80"/>
              </a:spcBef>
            </a:pPr>
            <a:r>
              <a:rPr sz="850" b="1" spc="-10" dirty="0">
                <a:latin typeface="Times New Roman"/>
                <a:cs typeface="Times New Roman"/>
              </a:rPr>
              <a:t>object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85023" y="3499023"/>
            <a:ext cx="889635" cy="547370"/>
            <a:chOff x="5785023" y="3499023"/>
            <a:chExt cx="889635" cy="547370"/>
          </a:xfrm>
        </p:grpSpPr>
        <p:sp>
          <p:nvSpPr>
            <p:cNvPr id="11" name="object 11"/>
            <p:cNvSpPr/>
            <p:nvPr/>
          </p:nvSpPr>
          <p:spPr>
            <a:xfrm>
              <a:off x="5791676" y="3505676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437959" y="533780"/>
                  </a:moveTo>
                  <a:lnTo>
                    <a:pt x="378519" y="531343"/>
                  </a:lnTo>
                  <a:lnTo>
                    <a:pt x="321512" y="524244"/>
                  </a:lnTo>
                  <a:lnTo>
                    <a:pt x="267462" y="512800"/>
                  </a:lnTo>
                  <a:lnTo>
                    <a:pt x="216887" y="497331"/>
                  </a:lnTo>
                  <a:lnTo>
                    <a:pt x="170311" y="478156"/>
                  </a:lnTo>
                  <a:lnTo>
                    <a:pt x="128254" y="455592"/>
                  </a:lnTo>
                  <a:lnTo>
                    <a:pt x="91237" y="429958"/>
                  </a:lnTo>
                  <a:lnTo>
                    <a:pt x="59781" y="401573"/>
                  </a:lnTo>
                  <a:lnTo>
                    <a:pt x="34409" y="370756"/>
                  </a:lnTo>
                  <a:lnTo>
                    <a:pt x="3996" y="303095"/>
                  </a:lnTo>
                  <a:lnTo>
                    <a:pt x="0" y="266890"/>
                  </a:lnTo>
                  <a:lnTo>
                    <a:pt x="3996" y="230685"/>
                  </a:lnTo>
                  <a:lnTo>
                    <a:pt x="34409" y="163024"/>
                  </a:lnTo>
                  <a:lnTo>
                    <a:pt x="59781" y="132206"/>
                  </a:lnTo>
                  <a:lnTo>
                    <a:pt x="91237" y="103822"/>
                  </a:lnTo>
                  <a:lnTo>
                    <a:pt x="128254" y="78188"/>
                  </a:lnTo>
                  <a:lnTo>
                    <a:pt x="170311" y="55624"/>
                  </a:lnTo>
                  <a:lnTo>
                    <a:pt x="216887" y="36448"/>
                  </a:lnTo>
                  <a:lnTo>
                    <a:pt x="267462" y="20980"/>
                  </a:lnTo>
                  <a:lnTo>
                    <a:pt x="321512" y="9536"/>
                  </a:lnTo>
                  <a:lnTo>
                    <a:pt x="378519" y="2437"/>
                  </a:lnTo>
                  <a:lnTo>
                    <a:pt x="437959" y="0"/>
                  </a:lnTo>
                  <a:lnTo>
                    <a:pt x="497399" y="2437"/>
                  </a:lnTo>
                  <a:lnTo>
                    <a:pt x="554406" y="9536"/>
                  </a:lnTo>
                  <a:lnTo>
                    <a:pt x="608456" y="20980"/>
                  </a:lnTo>
                  <a:lnTo>
                    <a:pt x="659031" y="36448"/>
                  </a:lnTo>
                  <a:lnTo>
                    <a:pt x="705607" y="55624"/>
                  </a:lnTo>
                  <a:lnTo>
                    <a:pt x="747664" y="78188"/>
                  </a:lnTo>
                  <a:lnTo>
                    <a:pt x="784681" y="103822"/>
                  </a:lnTo>
                  <a:lnTo>
                    <a:pt x="816137" y="132206"/>
                  </a:lnTo>
                  <a:lnTo>
                    <a:pt x="841509" y="163024"/>
                  </a:lnTo>
                  <a:lnTo>
                    <a:pt x="871922" y="230685"/>
                  </a:lnTo>
                  <a:lnTo>
                    <a:pt x="875918" y="266890"/>
                  </a:lnTo>
                  <a:lnTo>
                    <a:pt x="871922" y="303095"/>
                  </a:lnTo>
                  <a:lnTo>
                    <a:pt x="841509" y="370756"/>
                  </a:lnTo>
                  <a:lnTo>
                    <a:pt x="816137" y="401573"/>
                  </a:lnTo>
                  <a:lnTo>
                    <a:pt x="784681" y="429958"/>
                  </a:lnTo>
                  <a:lnTo>
                    <a:pt x="747664" y="455592"/>
                  </a:lnTo>
                  <a:lnTo>
                    <a:pt x="705607" y="478156"/>
                  </a:lnTo>
                  <a:lnTo>
                    <a:pt x="659031" y="497331"/>
                  </a:lnTo>
                  <a:lnTo>
                    <a:pt x="608456" y="512800"/>
                  </a:lnTo>
                  <a:lnTo>
                    <a:pt x="554406" y="524244"/>
                  </a:lnTo>
                  <a:lnTo>
                    <a:pt x="497399" y="531343"/>
                  </a:lnTo>
                  <a:lnTo>
                    <a:pt x="437959" y="533780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91676" y="3505676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875918" y="266890"/>
                  </a:moveTo>
                  <a:lnTo>
                    <a:pt x="860278" y="195957"/>
                  </a:lnTo>
                  <a:lnTo>
                    <a:pt x="816137" y="132206"/>
                  </a:lnTo>
                  <a:lnTo>
                    <a:pt x="784681" y="103822"/>
                  </a:lnTo>
                  <a:lnTo>
                    <a:pt x="747664" y="78188"/>
                  </a:lnTo>
                  <a:lnTo>
                    <a:pt x="705607" y="55624"/>
                  </a:lnTo>
                  <a:lnTo>
                    <a:pt x="659031" y="36448"/>
                  </a:lnTo>
                  <a:lnTo>
                    <a:pt x="608456" y="20980"/>
                  </a:lnTo>
                  <a:lnTo>
                    <a:pt x="554406" y="9536"/>
                  </a:lnTo>
                  <a:lnTo>
                    <a:pt x="497399" y="2437"/>
                  </a:lnTo>
                  <a:lnTo>
                    <a:pt x="437959" y="0"/>
                  </a:lnTo>
                  <a:lnTo>
                    <a:pt x="378519" y="2437"/>
                  </a:lnTo>
                  <a:lnTo>
                    <a:pt x="321512" y="9536"/>
                  </a:lnTo>
                  <a:lnTo>
                    <a:pt x="267462" y="20980"/>
                  </a:lnTo>
                  <a:lnTo>
                    <a:pt x="216887" y="36448"/>
                  </a:lnTo>
                  <a:lnTo>
                    <a:pt x="170311" y="55624"/>
                  </a:lnTo>
                  <a:lnTo>
                    <a:pt x="128254" y="78188"/>
                  </a:lnTo>
                  <a:lnTo>
                    <a:pt x="91237" y="103822"/>
                  </a:lnTo>
                  <a:lnTo>
                    <a:pt x="59781" y="132206"/>
                  </a:lnTo>
                  <a:lnTo>
                    <a:pt x="34409" y="163024"/>
                  </a:lnTo>
                  <a:lnTo>
                    <a:pt x="3996" y="230685"/>
                  </a:lnTo>
                  <a:lnTo>
                    <a:pt x="0" y="266890"/>
                  </a:lnTo>
                  <a:lnTo>
                    <a:pt x="3996" y="303095"/>
                  </a:lnTo>
                  <a:lnTo>
                    <a:pt x="34409" y="370756"/>
                  </a:lnTo>
                  <a:lnTo>
                    <a:pt x="59781" y="401573"/>
                  </a:lnTo>
                  <a:lnTo>
                    <a:pt x="91237" y="429958"/>
                  </a:lnTo>
                  <a:lnTo>
                    <a:pt x="128254" y="455592"/>
                  </a:lnTo>
                  <a:lnTo>
                    <a:pt x="170311" y="478156"/>
                  </a:lnTo>
                  <a:lnTo>
                    <a:pt x="216887" y="497331"/>
                  </a:lnTo>
                  <a:lnTo>
                    <a:pt x="267462" y="512800"/>
                  </a:lnTo>
                  <a:lnTo>
                    <a:pt x="321512" y="524244"/>
                  </a:lnTo>
                  <a:lnTo>
                    <a:pt x="378519" y="531343"/>
                  </a:lnTo>
                  <a:lnTo>
                    <a:pt x="437959" y="533780"/>
                  </a:lnTo>
                  <a:lnTo>
                    <a:pt x="497399" y="531343"/>
                  </a:lnTo>
                  <a:lnTo>
                    <a:pt x="554406" y="524244"/>
                  </a:lnTo>
                  <a:lnTo>
                    <a:pt x="608456" y="512800"/>
                  </a:lnTo>
                  <a:lnTo>
                    <a:pt x="659031" y="497331"/>
                  </a:lnTo>
                  <a:lnTo>
                    <a:pt x="705607" y="478156"/>
                  </a:lnTo>
                  <a:lnTo>
                    <a:pt x="747664" y="455592"/>
                  </a:lnTo>
                  <a:lnTo>
                    <a:pt x="784681" y="429958"/>
                  </a:lnTo>
                  <a:lnTo>
                    <a:pt x="816137" y="401573"/>
                  </a:lnTo>
                  <a:lnTo>
                    <a:pt x="841509" y="370756"/>
                  </a:lnTo>
                  <a:lnTo>
                    <a:pt x="871922" y="303095"/>
                  </a:lnTo>
                  <a:lnTo>
                    <a:pt x="875918" y="266890"/>
                  </a:lnTo>
                  <a:close/>
                </a:path>
              </a:pathLst>
            </a:custGeom>
            <a:ln w="13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78104" y="3603828"/>
            <a:ext cx="508634" cy="3276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latin typeface="Times New Roman"/>
                <a:cs typeface="Times New Roman"/>
              </a:rPr>
              <a:t>CORBA</a:t>
            </a:r>
            <a:endParaRPr sz="10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80"/>
              </a:spcBef>
            </a:pPr>
            <a:r>
              <a:rPr sz="850" b="1" spc="-10" dirty="0">
                <a:latin typeface="Times New Roman"/>
                <a:cs typeface="Times New Roman"/>
              </a:rPr>
              <a:t>object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54672" y="3499023"/>
            <a:ext cx="889635" cy="547370"/>
            <a:chOff x="7554672" y="3499023"/>
            <a:chExt cx="889635" cy="547370"/>
          </a:xfrm>
        </p:grpSpPr>
        <p:sp>
          <p:nvSpPr>
            <p:cNvPr id="15" name="object 15"/>
            <p:cNvSpPr/>
            <p:nvPr/>
          </p:nvSpPr>
          <p:spPr>
            <a:xfrm>
              <a:off x="7561326" y="3505676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437959" y="533780"/>
                  </a:moveTo>
                  <a:lnTo>
                    <a:pt x="378519" y="531343"/>
                  </a:lnTo>
                  <a:lnTo>
                    <a:pt x="321512" y="524244"/>
                  </a:lnTo>
                  <a:lnTo>
                    <a:pt x="267462" y="512800"/>
                  </a:lnTo>
                  <a:lnTo>
                    <a:pt x="216887" y="497331"/>
                  </a:lnTo>
                  <a:lnTo>
                    <a:pt x="170311" y="478156"/>
                  </a:lnTo>
                  <a:lnTo>
                    <a:pt x="128254" y="455592"/>
                  </a:lnTo>
                  <a:lnTo>
                    <a:pt x="91237" y="429958"/>
                  </a:lnTo>
                  <a:lnTo>
                    <a:pt x="59781" y="401573"/>
                  </a:lnTo>
                  <a:lnTo>
                    <a:pt x="34409" y="370756"/>
                  </a:lnTo>
                  <a:lnTo>
                    <a:pt x="3996" y="303095"/>
                  </a:lnTo>
                  <a:lnTo>
                    <a:pt x="0" y="266890"/>
                  </a:lnTo>
                  <a:lnTo>
                    <a:pt x="3996" y="230685"/>
                  </a:lnTo>
                  <a:lnTo>
                    <a:pt x="34409" y="163024"/>
                  </a:lnTo>
                  <a:lnTo>
                    <a:pt x="59781" y="132206"/>
                  </a:lnTo>
                  <a:lnTo>
                    <a:pt x="91237" y="103822"/>
                  </a:lnTo>
                  <a:lnTo>
                    <a:pt x="128254" y="78188"/>
                  </a:lnTo>
                  <a:lnTo>
                    <a:pt x="170311" y="55624"/>
                  </a:lnTo>
                  <a:lnTo>
                    <a:pt x="216887" y="36448"/>
                  </a:lnTo>
                  <a:lnTo>
                    <a:pt x="267462" y="20980"/>
                  </a:lnTo>
                  <a:lnTo>
                    <a:pt x="321512" y="9536"/>
                  </a:lnTo>
                  <a:lnTo>
                    <a:pt x="378519" y="2437"/>
                  </a:lnTo>
                  <a:lnTo>
                    <a:pt x="437959" y="0"/>
                  </a:lnTo>
                  <a:lnTo>
                    <a:pt x="497399" y="2437"/>
                  </a:lnTo>
                  <a:lnTo>
                    <a:pt x="554406" y="9536"/>
                  </a:lnTo>
                  <a:lnTo>
                    <a:pt x="608456" y="20980"/>
                  </a:lnTo>
                  <a:lnTo>
                    <a:pt x="659031" y="36448"/>
                  </a:lnTo>
                  <a:lnTo>
                    <a:pt x="705607" y="55624"/>
                  </a:lnTo>
                  <a:lnTo>
                    <a:pt x="747664" y="78188"/>
                  </a:lnTo>
                  <a:lnTo>
                    <a:pt x="784681" y="103822"/>
                  </a:lnTo>
                  <a:lnTo>
                    <a:pt x="816137" y="132206"/>
                  </a:lnTo>
                  <a:lnTo>
                    <a:pt x="841509" y="163024"/>
                  </a:lnTo>
                  <a:lnTo>
                    <a:pt x="871922" y="230685"/>
                  </a:lnTo>
                  <a:lnTo>
                    <a:pt x="875918" y="266890"/>
                  </a:lnTo>
                  <a:lnTo>
                    <a:pt x="871922" y="303095"/>
                  </a:lnTo>
                  <a:lnTo>
                    <a:pt x="841509" y="370756"/>
                  </a:lnTo>
                  <a:lnTo>
                    <a:pt x="816137" y="401573"/>
                  </a:lnTo>
                  <a:lnTo>
                    <a:pt x="784681" y="429958"/>
                  </a:lnTo>
                  <a:lnTo>
                    <a:pt x="747664" y="455592"/>
                  </a:lnTo>
                  <a:lnTo>
                    <a:pt x="705607" y="478156"/>
                  </a:lnTo>
                  <a:lnTo>
                    <a:pt x="659031" y="497331"/>
                  </a:lnTo>
                  <a:lnTo>
                    <a:pt x="608456" y="512800"/>
                  </a:lnTo>
                  <a:lnTo>
                    <a:pt x="554406" y="524244"/>
                  </a:lnTo>
                  <a:lnTo>
                    <a:pt x="497399" y="531343"/>
                  </a:lnTo>
                  <a:lnTo>
                    <a:pt x="437959" y="533780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1326" y="3505676"/>
              <a:ext cx="876300" cy="534035"/>
            </a:xfrm>
            <a:custGeom>
              <a:avLst/>
              <a:gdLst/>
              <a:ahLst/>
              <a:cxnLst/>
              <a:rect l="l" t="t" r="r" b="b"/>
              <a:pathLst>
                <a:path w="876300" h="534035">
                  <a:moveTo>
                    <a:pt x="875918" y="266890"/>
                  </a:moveTo>
                  <a:lnTo>
                    <a:pt x="860278" y="195957"/>
                  </a:lnTo>
                  <a:lnTo>
                    <a:pt x="816137" y="132206"/>
                  </a:lnTo>
                  <a:lnTo>
                    <a:pt x="784681" y="103822"/>
                  </a:lnTo>
                  <a:lnTo>
                    <a:pt x="747664" y="78188"/>
                  </a:lnTo>
                  <a:lnTo>
                    <a:pt x="705607" y="55624"/>
                  </a:lnTo>
                  <a:lnTo>
                    <a:pt x="659031" y="36448"/>
                  </a:lnTo>
                  <a:lnTo>
                    <a:pt x="608456" y="20980"/>
                  </a:lnTo>
                  <a:lnTo>
                    <a:pt x="554406" y="9536"/>
                  </a:lnTo>
                  <a:lnTo>
                    <a:pt x="497399" y="2437"/>
                  </a:lnTo>
                  <a:lnTo>
                    <a:pt x="437959" y="0"/>
                  </a:lnTo>
                  <a:lnTo>
                    <a:pt x="378519" y="2437"/>
                  </a:lnTo>
                  <a:lnTo>
                    <a:pt x="321512" y="9536"/>
                  </a:lnTo>
                  <a:lnTo>
                    <a:pt x="267462" y="20980"/>
                  </a:lnTo>
                  <a:lnTo>
                    <a:pt x="216887" y="36448"/>
                  </a:lnTo>
                  <a:lnTo>
                    <a:pt x="170311" y="55624"/>
                  </a:lnTo>
                  <a:lnTo>
                    <a:pt x="128254" y="78188"/>
                  </a:lnTo>
                  <a:lnTo>
                    <a:pt x="91237" y="103822"/>
                  </a:lnTo>
                  <a:lnTo>
                    <a:pt x="59781" y="132206"/>
                  </a:lnTo>
                  <a:lnTo>
                    <a:pt x="34409" y="163024"/>
                  </a:lnTo>
                  <a:lnTo>
                    <a:pt x="3996" y="230685"/>
                  </a:lnTo>
                  <a:lnTo>
                    <a:pt x="0" y="266890"/>
                  </a:lnTo>
                  <a:lnTo>
                    <a:pt x="3996" y="303095"/>
                  </a:lnTo>
                  <a:lnTo>
                    <a:pt x="34409" y="370756"/>
                  </a:lnTo>
                  <a:lnTo>
                    <a:pt x="59781" y="401573"/>
                  </a:lnTo>
                  <a:lnTo>
                    <a:pt x="91237" y="429958"/>
                  </a:lnTo>
                  <a:lnTo>
                    <a:pt x="128254" y="455592"/>
                  </a:lnTo>
                  <a:lnTo>
                    <a:pt x="170311" y="478156"/>
                  </a:lnTo>
                  <a:lnTo>
                    <a:pt x="216887" y="497331"/>
                  </a:lnTo>
                  <a:lnTo>
                    <a:pt x="267462" y="512800"/>
                  </a:lnTo>
                  <a:lnTo>
                    <a:pt x="321512" y="524244"/>
                  </a:lnTo>
                  <a:lnTo>
                    <a:pt x="378519" y="531343"/>
                  </a:lnTo>
                  <a:lnTo>
                    <a:pt x="437959" y="533780"/>
                  </a:lnTo>
                  <a:lnTo>
                    <a:pt x="497399" y="531343"/>
                  </a:lnTo>
                  <a:lnTo>
                    <a:pt x="554406" y="524244"/>
                  </a:lnTo>
                  <a:lnTo>
                    <a:pt x="608456" y="512800"/>
                  </a:lnTo>
                  <a:lnTo>
                    <a:pt x="659031" y="497331"/>
                  </a:lnTo>
                  <a:lnTo>
                    <a:pt x="705607" y="478156"/>
                  </a:lnTo>
                  <a:lnTo>
                    <a:pt x="747664" y="455592"/>
                  </a:lnTo>
                  <a:lnTo>
                    <a:pt x="784681" y="429958"/>
                  </a:lnTo>
                  <a:lnTo>
                    <a:pt x="816137" y="401573"/>
                  </a:lnTo>
                  <a:lnTo>
                    <a:pt x="841509" y="370756"/>
                  </a:lnTo>
                  <a:lnTo>
                    <a:pt x="871922" y="303095"/>
                  </a:lnTo>
                  <a:lnTo>
                    <a:pt x="875918" y="266890"/>
                  </a:lnTo>
                  <a:close/>
                </a:path>
              </a:pathLst>
            </a:custGeom>
            <a:ln w="13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47485" y="3603828"/>
            <a:ext cx="511175" cy="3276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latin typeface="Times New Roman"/>
                <a:cs typeface="Times New Roman"/>
              </a:rPr>
              <a:t>CORBA</a:t>
            </a:r>
            <a:endParaRPr sz="10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  <a:spcBef>
                <a:spcPts val="80"/>
              </a:spcBef>
            </a:pPr>
            <a:r>
              <a:rPr sz="850" b="1" spc="-10" dirty="0">
                <a:latin typeface="Times New Roman"/>
                <a:cs typeface="Times New Roman"/>
              </a:rPr>
              <a:t>object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341304" y="4033866"/>
          <a:ext cx="5551166" cy="1476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2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66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7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FFF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FFF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7660">
                        <a:lnSpc>
                          <a:spcPts val="2085"/>
                        </a:lnSpc>
                      </a:pPr>
                      <a:r>
                        <a:rPr sz="2250" b="1" spc="-25" dirty="0">
                          <a:latin typeface="Times New Roman"/>
                          <a:cs typeface="Times New Roman"/>
                        </a:rPr>
                        <a:t>...</a:t>
                      </a:r>
                      <a:endParaRPr sz="2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FFF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0730">
                        <a:lnSpc>
                          <a:spcPts val="1195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45" dirty="0">
                          <a:latin typeface="Times New Roman"/>
                          <a:cs typeface="Times New Roman"/>
                        </a:rPr>
                        <a:t>Internet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Object</a:t>
            </a:r>
            <a:r>
              <a:rPr spc="75" dirty="0"/>
              <a:t> Servers,</a:t>
            </a:r>
            <a:r>
              <a:rPr spc="85" dirty="0"/>
              <a:t> </a:t>
            </a:r>
            <a:r>
              <a:rPr spc="125" dirty="0"/>
              <a:t>Clients</a:t>
            </a:r>
            <a:r>
              <a:rPr spc="75" dirty="0"/>
              <a:t> </a:t>
            </a:r>
            <a:r>
              <a:rPr spc="105" dirty="0"/>
              <a:t>and</a:t>
            </a:r>
            <a:r>
              <a:rPr spc="80" dirty="0"/>
              <a:t> </a:t>
            </a:r>
            <a:r>
              <a:rPr spc="70" dirty="0"/>
              <a:t>Reference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670415" cy="382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 algn="just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As</a:t>
            </a:r>
            <a:r>
              <a:rPr sz="1650" spc="2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RMI,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190" dirty="0">
                <a:latin typeface="Cambria"/>
                <a:cs typeface="Cambria"/>
              </a:rPr>
              <a:t>CORBA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exported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by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server,</a:t>
            </a:r>
            <a:r>
              <a:rPr sz="1650" spc="229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similar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RMI.</a:t>
            </a:r>
            <a:endParaRPr sz="1650">
              <a:latin typeface="Cambria"/>
              <a:cs typeface="Cambria"/>
            </a:endParaRPr>
          </a:p>
          <a:p>
            <a:pPr marL="295910" marR="5080" indent="-283845" algn="just">
              <a:lnSpc>
                <a:spcPct val="1497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4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client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retrieves</a:t>
            </a:r>
            <a:r>
              <a:rPr sz="1650" spc="4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reference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47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4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455" dirty="0">
                <a:latin typeface="Cambria"/>
                <a:cs typeface="Cambria"/>
              </a:rPr>
              <a:t> </a:t>
            </a:r>
            <a:r>
              <a:rPr sz="1650" spc="40" dirty="0">
                <a:latin typeface="Cambria"/>
                <a:cs typeface="Cambria"/>
              </a:rPr>
              <a:t>directory </a:t>
            </a:r>
            <a:r>
              <a:rPr sz="1650" spc="80" dirty="0">
                <a:latin typeface="Cambria"/>
                <a:cs typeface="Cambria"/>
              </a:rPr>
              <a:t>service,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described,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invokes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methods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 marL="295910" marR="5080" indent="-283845" algn="just">
              <a:lnSpc>
                <a:spcPct val="1501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As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370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40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RMI,</a:t>
            </a:r>
            <a:r>
              <a:rPr sz="1650" spc="3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3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3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distributed</a:t>
            </a:r>
            <a:r>
              <a:rPr sz="1650" spc="40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3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located</a:t>
            </a:r>
            <a:r>
              <a:rPr sz="1650" spc="37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40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3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reference.</a:t>
            </a:r>
            <a:r>
              <a:rPr sz="1650" spc="395" dirty="0">
                <a:latin typeface="Cambria"/>
                <a:cs typeface="Cambria"/>
              </a:rPr>
              <a:t>  </a:t>
            </a:r>
            <a:r>
              <a:rPr sz="1650" spc="110" dirty="0">
                <a:latin typeface="Cambria"/>
                <a:cs typeface="Cambria"/>
              </a:rPr>
              <a:t>Since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3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3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language-</a:t>
            </a:r>
            <a:r>
              <a:rPr sz="1650" spc="95" dirty="0">
                <a:latin typeface="Cambria"/>
                <a:cs typeface="Cambria"/>
              </a:rPr>
              <a:t>independent,</a:t>
            </a:r>
            <a:r>
              <a:rPr sz="1650" spc="3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32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32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34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reference</a:t>
            </a:r>
            <a:r>
              <a:rPr sz="1650" spc="3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32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3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abstract</a:t>
            </a:r>
            <a:r>
              <a:rPr sz="1650" spc="32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entity</a:t>
            </a:r>
            <a:r>
              <a:rPr sz="1650" spc="3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mapped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85" dirty="0">
                <a:latin typeface="Cambria"/>
                <a:cs typeface="Cambria"/>
              </a:rPr>
              <a:t> 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110" dirty="0">
                <a:latin typeface="Cambria"/>
                <a:cs typeface="Cambria"/>
              </a:rPr>
              <a:t>language-</a:t>
            </a:r>
            <a:r>
              <a:rPr sz="1650" spc="75" dirty="0">
                <a:latin typeface="Cambria"/>
                <a:cs typeface="Cambria"/>
              </a:rPr>
              <a:t>specific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85" dirty="0">
                <a:latin typeface="Cambria"/>
                <a:cs typeface="Cambria"/>
              </a:rPr>
              <a:t>  </a:t>
            </a:r>
            <a:r>
              <a:rPr sz="1650" spc="60" dirty="0">
                <a:latin typeface="Cambria"/>
                <a:cs typeface="Cambria"/>
              </a:rPr>
              <a:t>reference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75" dirty="0">
                <a:latin typeface="Cambria"/>
                <a:cs typeface="Cambria"/>
              </a:rPr>
              <a:t>by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95" dirty="0">
                <a:latin typeface="Cambria"/>
                <a:cs typeface="Cambria"/>
              </a:rPr>
              <a:t>  </a:t>
            </a:r>
            <a:r>
              <a:rPr sz="1650" spc="190" dirty="0">
                <a:latin typeface="Cambria"/>
                <a:cs typeface="Cambria"/>
              </a:rPr>
              <a:t>ORB,</a:t>
            </a:r>
            <a:r>
              <a:rPr sz="1650" spc="85" dirty="0">
                <a:latin typeface="Cambria"/>
                <a:cs typeface="Cambria"/>
              </a:rPr>
              <a:t> 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85" dirty="0">
                <a:latin typeface="Cambria"/>
                <a:cs typeface="Cambria"/>
              </a:rPr>
              <a:t> 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90" dirty="0">
                <a:latin typeface="Cambria"/>
                <a:cs typeface="Cambria"/>
              </a:rPr>
              <a:t>  </a:t>
            </a:r>
            <a:r>
              <a:rPr sz="1650" spc="75" dirty="0">
                <a:latin typeface="Cambria"/>
                <a:cs typeface="Cambria"/>
              </a:rPr>
              <a:t>representation</a:t>
            </a:r>
            <a:r>
              <a:rPr sz="1650" spc="100" dirty="0">
                <a:latin typeface="Cambria"/>
                <a:cs typeface="Cambria"/>
              </a:rPr>
              <a:t>  </a:t>
            </a:r>
            <a:r>
              <a:rPr sz="1650" spc="110" dirty="0">
                <a:latin typeface="Cambria"/>
                <a:cs typeface="Cambria"/>
              </a:rPr>
              <a:t>chosen</a:t>
            </a:r>
            <a:r>
              <a:rPr sz="1650" spc="85" dirty="0">
                <a:latin typeface="Cambria"/>
                <a:cs typeface="Cambria"/>
              </a:rPr>
              <a:t>  </a:t>
            </a:r>
            <a:r>
              <a:rPr sz="1650" spc="75" dirty="0">
                <a:latin typeface="Cambria"/>
                <a:cs typeface="Cambria"/>
              </a:rPr>
              <a:t>by</a:t>
            </a:r>
            <a:r>
              <a:rPr sz="1650" spc="240" dirty="0">
                <a:latin typeface="Cambria"/>
                <a:cs typeface="Cambria"/>
              </a:rPr>
              <a:t>   </a:t>
            </a:r>
            <a:r>
              <a:rPr sz="1650" spc="70" dirty="0">
                <a:latin typeface="Cambria"/>
                <a:cs typeface="Cambria"/>
              </a:rPr>
              <a:t>the </a:t>
            </a:r>
            <a:r>
              <a:rPr sz="1650" spc="55" dirty="0">
                <a:latin typeface="Cambria"/>
                <a:cs typeface="Cambria"/>
              </a:rPr>
              <a:t>developer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70" dirty="0">
                <a:latin typeface="Cambria"/>
                <a:cs typeface="Cambria"/>
              </a:rPr>
              <a:t>ORB.</a:t>
            </a:r>
            <a:endParaRPr sz="1650">
              <a:latin typeface="Cambria"/>
              <a:cs typeface="Cambria"/>
            </a:endParaRPr>
          </a:p>
          <a:p>
            <a:pPr marL="295910" marR="5080" indent="-283845" algn="just">
              <a:lnSpc>
                <a:spcPct val="1503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For</a:t>
            </a:r>
            <a:r>
              <a:rPr sz="1650" spc="110" dirty="0">
                <a:latin typeface="Cambria"/>
                <a:cs typeface="Cambria"/>
              </a:rPr>
              <a:t>  </a:t>
            </a:r>
            <a:r>
              <a:rPr sz="1650" spc="65" dirty="0">
                <a:latin typeface="Cambria"/>
                <a:cs typeface="Cambria"/>
              </a:rPr>
              <a:t>interoperability,</a:t>
            </a:r>
            <a:r>
              <a:rPr sz="1650" spc="110" dirty="0">
                <a:latin typeface="Cambria"/>
                <a:cs typeface="Cambria"/>
              </a:rPr>
              <a:t>  </a:t>
            </a:r>
            <a:r>
              <a:rPr sz="1650" spc="229" dirty="0">
                <a:latin typeface="Cambria"/>
                <a:cs typeface="Cambria"/>
              </a:rPr>
              <a:t>OMG</a:t>
            </a:r>
            <a:r>
              <a:rPr sz="1650" spc="105" dirty="0">
                <a:latin typeface="Cambria"/>
                <a:cs typeface="Cambria"/>
              </a:rPr>
              <a:t>  </a:t>
            </a:r>
            <a:r>
              <a:rPr sz="1650" spc="75" dirty="0">
                <a:latin typeface="Cambria"/>
                <a:cs typeface="Cambria"/>
              </a:rPr>
              <a:t>specifies</a:t>
            </a:r>
            <a:r>
              <a:rPr sz="1650" spc="114" dirty="0">
                <a:latin typeface="Cambria"/>
                <a:cs typeface="Cambria"/>
              </a:rPr>
              <a:t> 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05" dirty="0">
                <a:latin typeface="Cambria"/>
                <a:cs typeface="Cambria"/>
              </a:rPr>
              <a:t>  </a:t>
            </a:r>
            <a:r>
              <a:rPr sz="1650" spc="55" dirty="0">
                <a:latin typeface="Cambria"/>
                <a:cs typeface="Cambria"/>
              </a:rPr>
              <a:t>protocol</a:t>
            </a:r>
            <a:r>
              <a:rPr sz="1650" spc="105" dirty="0">
                <a:latin typeface="Cambria"/>
                <a:cs typeface="Cambria"/>
              </a:rPr>
              <a:t> 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10" dirty="0">
                <a:latin typeface="Cambria"/>
                <a:cs typeface="Cambria"/>
              </a:rPr>
              <a:t> 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05" dirty="0">
                <a:latin typeface="Cambria"/>
                <a:cs typeface="Cambria"/>
              </a:rPr>
              <a:t>  abstract  </a:t>
            </a:r>
            <a:r>
              <a:rPr sz="1650" spc="190" dirty="0">
                <a:latin typeface="Cambria"/>
                <a:cs typeface="Cambria"/>
              </a:rPr>
              <a:t>CORBA</a:t>
            </a:r>
            <a:r>
              <a:rPr sz="1650" spc="114" dirty="0">
                <a:latin typeface="Cambria"/>
                <a:cs typeface="Cambria"/>
              </a:rPr>
              <a:t>  </a:t>
            </a:r>
            <a:r>
              <a:rPr sz="1650" spc="70" dirty="0">
                <a:latin typeface="Cambria"/>
                <a:cs typeface="Cambria"/>
              </a:rPr>
              <a:t>object</a:t>
            </a:r>
            <a:r>
              <a:rPr sz="1650" spc="110" dirty="0">
                <a:latin typeface="Cambria"/>
                <a:cs typeface="Cambria"/>
              </a:rPr>
              <a:t>  </a:t>
            </a:r>
            <a:r>
              <a:rPr sz="1650" spc="50" dirty="0">
                <a:latin typeface="Cambria"/>
                <a:cs typeface="Cambria"/>
              </a:rPr>
              <a:t>reference </a:t>
            </a:r>
            <a:r>
              <a:rPr sz="1650" spc="95" dirty="0">
                <a:latin typeface="Cambria"/>
                <a:cs typeface="Cambria"/>
              </a:rPr>
              <a:t>object,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known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Interoperable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Reference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(IOR)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protocol.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55"/>
            <a:ext cx="10058400" cy="5445760"/>
            <a:chOff x="0" y="1057655"/>
            <a:chExt cx="10058400" cy="5445760"/>
          </a:xfrm>
        </p:grpSpPr>
        <p:sp>
          <p:nvSpPr>
            <p:cNvPr id="3" name="object 3"/>
            <p:cNvSpPr/>
            <p:nvPr/>
          </p:nvSpPr>
          <p:spPr>
            <a:xfrm>
              <a:off x="2598419" y="1962911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962911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0" y="1962911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4639" y="1057655"/>
              <a:ext cx="4140708" cy="5407151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629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90"/>
              </a:spcBef>
            </a:pPr>
            <a:r>
              <a:rPr sz="2650" spc="155" dirty="0"/>
              <a:t>CORBA</a:t>
            </a:r>
            <a:endParaRPr sz="265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Interoperable</a:t>
            </a:r>
            <a:r>
              <a:rPr spc="145" dirty="0"/>
              <a:t> </a:t>
            </a:r>
            <a:r>
              <a:rPr spc="105" dirty="0"/>
              <a:t>Object</a:t>
            </a:r>
            <a:r>
              <a:rPr spc="155" dirty="0"/>
              <a:t> </a:t>
            </a:r>
            <a:r>
              <a:rPr spc="80" dirty="0"/>
              <a:t>Reference</a:t>
            </a:r>
            <a:r>
              <a:rPr spc="160" dirty="0"/>
              <a:t> </a:t>
            </a:r>
            <a:r>
              <a:rPr spc="-10" dirty="0"/>
              <a:t>(IOR)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230995" cy="328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ORB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compatible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IOR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protocol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will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allow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reference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registered </a:t>
            </a:r>
            <a:r>
              <a:rPr sz="1650" spc="70" dirty="0">
                <a:latin typeface="Cambria"/>
                <a:cs typeface="Cambria"/>
              </a:rPr>
              <a:t>with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retrieved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any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IOR-</a:t>
            </a:r>
            <a:r>
              <a:rPr sz="1650" spc="95" dirty="0">
                <a:latin typeface="Cambria"/>
                <a:cs typeface="Cambria"/>
              </a:rPr>
              <a:t>compliant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service.</a:t>
            </a:r>
            <a:endParaRPr sz="1650">
              <a:latin typeface="Cambria"/>
              <a:cs typeface="Cambria"/>
            </a:endParaRPr>
          </a:p>
          <a:p>
            <a:pPr marL="295910" marR="276225" indent="-283845">
              <a:lnSpc>
                <a:spcPct val="1497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references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represented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this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protocol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are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called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Interoperable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Object </a:t>
            </a:r>
            <a:r>
              <a:rPr sz="1650" spc="85" dirty="0">
                <a:latin typeface="Cambria"/>
                <a:cs typeface="Cambria"/>
              </a:rPr>
              <a:t>References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(IORs).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  <a:tab pos="1166495" algn="l"/>
                <a:tab pos="6447790" algn="l"/>
              </a:tabLst>
            </a:pP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IOR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string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that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contains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encoding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40" dirty="0">
                <a:latin typeface="Cambria"/>
                <a:cs typeface="Cambria"/>
              </a:rPr>
              <a:t>following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0" dirty="0">
                <a:latin typeface="Cambria"/>
                <a:cs typeface="Cambria"/>
              </a:rPr>
              <a:t>information:</a:t>
            </a:r>
            <a:endParaRPr sz="1650">
              <a:latin typeface="Cambria"/>
              <a:cs typeface="Cambria"/>
            </a:endParaRPr>
          </a:p>
          <a:p>
            <a:pPr marL="1049655" lvl="1" indent="-283210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type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host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where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can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found.</a:t>
            </a:r>
            <a:endParaRPr sz="1650">
              <a:latin typeface="Cambria"/>
              <a:cs typeface="Cambria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port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number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that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key,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80" dirty="0">
                <a:latin typeface="Cambria"/>
                <a:cs typeface="Cambria"/>
              </a:rPr>
              <a:t>string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bytes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identifying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 marL="1426210" lvl="2" indent="-28321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14262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key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used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locate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Interoperable</a:t>
            </a:r>
            <a:r>
              <a:rPr spc="145" dirty="0"/>
              <a:t> </a:t>
            </a:r>
            <a:r>
              <a:rPr spc="105" dirty="0"/>
              <a:t>Object</a:t>
            </a:r>
            <a:r>
              <a:rPr spc="155" dirty="0"/>
              <a:t> </a:t>
            </a:r>
            <a:r>
              <a:rPr spc="80" dirty="0"/>
              <a:t>Reference</a:t>
            </a:r>
            <a:r>
              <a:rPr spc="160" dirty="0"/>
              <a:t> </a:t>
            </a:r>
            <a:r>
              <a:rPr spc="-10" dirty="0"/>
              <a:t>(IOR)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48" y="2527789"/>
            <a:ext cx="9608185" cy="218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following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example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string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representation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IOR </a:t>
            </a:r>
            <a:r>
              <a:rPr sz="1650" spc="-20" dirty="0">
                <a:latin typeface="Cambria"/>
                <a:cs typeface="Cambria"/>
              </a:rPr>
              <a:t>[5]: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01499"/>
              </a:lnSpc>
              <a:buFont typeface="Wingdings"/>
              <a:buChar char=""/>
              <a:tabLst>
                <a:tab pos="295910" algn="l"/>
              </a:tabLst>
            </a:pPr>
            <a:r>
              <a:rPr sz="1300" i="1" spc="110" dirty="0">
                <a:latin typeface="Cambria"/>
                <a:cs typeface="Cambria"/>
              </a:rPr>
              <a:t>IOR:000000000000000d49444c3a677269643a312e300000000000000001000000000000004c000100000000001 </a:t>
            </a:r>
            <a:r>
              <a:rPr sz="1300" i="1" spc="105" dirty="0">
                <a:latin typeface="Cambria"/>
                <a:cs typeface="Cambria"/>
              </a:rPr>
              <a:t>5756c472612e6475626c696e2e696f6e612e696500000963000000283a5c756c7472612e6475626c696e2e696f6e6</a:t>
            </a:r>
            <a:endParaRPr sz="1300">
              <a:latin typeface="Cambria"/>
              <a:cs typeface="Cambria"/>
            </a:endParaRPr>
          </a:p>
          <a:p>
            <a:pPr marL="295910">
              <a:lnSpc>
                <a:spcPct val="100000"/>
              </a:lnSpc>
              <a:spcBef>
                <a:spcPts val="25"/>
              </a:spcBef>
            </a:pPr>
            <a:r>
              <a:rPr sz="1300" i="1" spc="110" dirty="0">
                <a:latin typeface="Cambria"/>
                <a:cs typeface="Cambria"/>
              </a:rPr>
              <a:t>12e69653a677269643a303a3a49523a67726964003a</a:t>
            </a:r>
            <a:endParaRPr sz="1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300">
              <a:latin typeface="Cambria"/>
              <a:cs typeface="Cambria"/>
            </a:endParaRPr>
          </a:p>
          <a:p>
            <a:pPr marL="295910" marR="161290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representation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consists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character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prefix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“IOR:”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followed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60" dirty="0">
                <a:latin typeface="Cambria"/>
                <a:cs typeface="Cambria"/>
              </a:rPr>
              <a:t> 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series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of </a:t>
            </a:r>
            <a:r>
              <a:rPr sz="1650" spc="105" dirty="0">
                <a:latin typeface="Cambria"/>
                <a:cs typeface="Cambria"/>
              </a:rPr>
              <a:t>hexadecimal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numeric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characters,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each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character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representing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4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bits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binary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data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the </a:t>
            </a:r>
            <a:r>
              <a:rPr sz="1650" spc="130" dirty="0">
                <a:latin typeface="Cambria"/>
                <a:cs typeface="Cambria"/>
              </a:rPr>
              <a:t>IOR.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4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0" dirty="0"/>
              <a:t> </a:t>
            </a:r>
            <a:r>
              <a:rPr spc="105" dirty="0"/>
              <a:t>Naming</a:t>
            </a:r>
            <a:r>
              <a:rPr spc="85" dirty="0"/>
              <a:t> </a:t>
            </a:r>
            <a:r>
              <a:rPr spc="90" dirty="0"/>
              <a:t>Service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9588500" cy="3869054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specifies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generic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service.</a:t>
            </a:r>
            <a:endParaRPr sz="1650">
              <a:latin typeface="Cambria"/>
              <a:cs typeface="Cambria"/>
            </a:endParaRPr>
          </a:p>
          <a:p>
            <a:pPr marL="295910" marR="440055" indent="-283845">
              <a:lnSpc>
                <a:spcPct val="1503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objects,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and,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5" dirty="0">
                <a:latin typeface="Cambria"/>
                <a:cs typeface="Cambria"/>
              </a:rPr>
              <a:t>such,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platform </a:t>
            </a:r>
            <a:r>
              <a:rPr sz="1650" spc="95" dirty="0">
                <a:latin typeface="Cambria"/>
                <a:cs typeface="Cambria"/>
              </a:rPr>
              <a:t>independent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programming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language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independent.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503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permits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70" dirty="0">
                <a:latin typeface="Cambria"/>
                <a:cs typeface="Cambria"/>
              </a:rPr>
              <a:t>ORB-</a:t>
            </a:r>
            <a:r>
              <a:rPr sz="1650" spc="114" dirty="0">
                <a:latin typeface="Cambria"/>
                <a:cs typeface="Cambria"/>
              </a:rPr>
              <a:t>based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clients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obtain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references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wish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to </a:t>
            </a:r>
            <a:r>
              <a:rPr sz="1650" spc="130" dirty="0">
                <a:latin typeface="Cambria"/>
                <a:cs typeface="Cambria"/>
              </a:rPr>
              <a:t>use.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It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allows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names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associated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references.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111760" indent="-283845">
              <a:lnSpc>
                <a:spcPct val="1497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Clients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may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query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service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60" dirty="0">
                <a:latin typeface="Cambria"/>
                <a:cs typeface="Cambria"/>
              </a:rPr>
              <a:t> 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predetermined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obtain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associated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reference.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3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0" dirty="0"/>
              <a:t> </a:t>
            </a:r>
            <a:r>
              <a:rPr spc="105" dirty="0"/>
              <a:t>Naming</a:t>
            </a:r>
            <a:r>
              <a:rPr spc="85" dirty="0"/>
              <a:t> </a:t>
            </a:r>
            <a:r>
              <a:rPr spc="90" dirty="0"/>
              <a:t>Service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573260" cy="309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0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export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object,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contacts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Naming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bind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 </a:t>
            </a:r>
            <a:r>
              <a:rPr sz="1650" spc="90" dirty="0">
                <a:latin typeface="Cambria"/>
                <a:cs typeface="Cambria"/>
              </a:rPr>
              <a:t>symbolic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name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maintains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database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names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associated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them.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497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obtain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reference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object,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requests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Naming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look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up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associated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name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(This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known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resolving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name.)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0" dirty="0"/>
              <a:t> </a:t>
            </a:r>
            <a:r>
              <a:rPr spc="105" dirty="0"/>
              <a:t>Naming</a:t>
            </a:r>
            <a:r>
              <a:rPr spc="85" dirty="0"/>
              <a:t> </a:t>
            </a:r>
            <a:r>
              <a:rPr spc="9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25" y="2163347"/>
            <a:ext cx="4751070" cy="1129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4640" marR="5080" indent="-282575" algn="just">
              <a:lnSpc>
                <a:spcPct val="1509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00" spc="80" dirty="0">
                <a:latin typeface="Cambria"/>
                <a:cs typeface="Cambria"/>
              </a:rPr>
              <a:t>The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API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37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the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Naming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Service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is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specified 	</a:t>
            </a:r>
            <a:r>
              <a:rPr sz="1600" spc="100" dirty="0">
                <a:latin typeface="Cambria"/>
                <a:cs typeface="Cambria"/>
              </a:rPr>
              <a:t>in</a:t>
            </a:r>
            <a:r>
              <a:rPr sz="1600" spc="105" dirty="0">
                <a:latin typeface="Cambria"/>
                <a:cs typeface="Cambria"/>
              </a:rPr>
              <a:t>  </a:t>
            </a:r>
            <a:r>
              <a:rPr sz="1600" spc="85" dirty="0">
                <a:latin typeface="Cambria"/>
                <a:cs typeface="Cambria"/>
              </a:rPr>
              <a:t>interfaces</a:t>
            </a:r>
            <a:r>
              <a:rPr sz="1600" spc="114" dirty="0">
                <a:latin typeface="Cambria"/>
                <a:cs typeface="Cambria"/>
              </a:rPr>
              <a:t>  </a:t>
            </a:r>
            <a:r>
              <a:rPr sz="1600" spc="75" dirty="0">
                <a:latin typeface="Cambria"/>
                <a:cs typeface="Cambria"/>
              </a:rPr>
              <a:t>defined</a:t>
            </a:r>
            <a:r>
              <a:rPr sz="1600" spc="105" dirty="0">
                <a:latin typeface="Cambria"/>
                <a:cs typeface="Cambria"/>
              </a:rPr>
              <a:t>  </a:t>
            </a:r>
            <a:r>
              <a:rPr sz="1600" spc="100" dirty="0">
                <a:latin typeface="Cambria"/>
                <a:cs typeface="Cambria"/>
              </a:rPr>
              <a:t>in</a:t>
            </a:r>
            <a:r>
              <a:rPr sz="1600" spc="105" dirty="0">
                <a:latin typeface="Cambria"/>
                <a:cs typeface="Cambria"/>
              </a:rPr>
              <a:t>  </a:t>
            </a:r>
            <a:r>
              <a:rPr sz="1600" spc="130" dirty="0">
                <a:latin typeface="Cambria"/>
                <a:cs typeface="Cambria"/>
              </a:rPr>
              <a:t>IDL,</a:t>
            </a:r>
            <a:r>
              <a:rPr sz="1600" spc="114" dirty="0">
                <a:latin typeface="Cambria"/>
                <a:cs typeface="Cambria"/>
              </a:rPr>
              <a:t>  </a:t>
            </a:r>
            <a:r>
              <a:rPr sz="1600" spc="135" dirty="0">
                <a:latin typeface="Cambria"/>
                <a:cs typeface="Cambria"/>
              </a:rPr>
              <a:t>and</a:t>
            </a:r>
            <a:r>
              <a:rPr sz="1600" spc="105" dirty="0">
                <a:latin typeface="Cambria"/>
                <a:cs typeface="Cambria"/>
              </a:rPr>
              <a:t>  </a:t>
            </a:r>
            <a:r>
              <a:rPr sz="1600" spc="100" dirty="0">
                <a:latin typeface="Cambria"/>
                <a:cs typeface="Cambria"/>
              </a:rPr>
              <a:t>includes 	</a:t>
            </a:r>
            <a:r>
              <a:rPr sz="1600" spc="105" dirty="0">
                <a:latin typeface="Cambria"/>
                <a:cs typeface="Cambria"/>
              </a:rPr>
              <a:t>methods</a:t>
            </a:r>
            <a:r>
              <a:rPr sz="1600" spc="400" dirty="0">
                <a:latin typeface="Cambria"/>
                <a:cs typeface="Cambria"/>
              </a:rPr>
              <a:t>  </a:t>
            </a:r>
            <a:r>
              <a:rPr sz="1600" spc="105" dirty="0">
                <a:latin typeface="Cambria"/>
                <a:cs typeface="Cambria"/>
              </a:rPr>
              <a:t>that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allow</a:t>
            </a:r>
            <a:r>
              <a:rPr sz="1600" spc="39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servers</a:t>
            </a:r>
            <a:r>
              <a:rPr sz="1600" spc="40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405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bind</a:t>
            </a:r>
            <a:r>
              <a:rPr sz="1600" spc="409" dirty="0">
                <a:latin typeface="Cambria"/>
                <a:cs typeface="Cambria"/>
              </a:rPr>
              <a:t> </a:t>
            </a:r>
            <a:r>
              <a:rPr sz="1600" spc="125" dirty="0">
                <a:latin typeface="Cambria"/>
                <a:cs typeface="Cambria"/>
              </a:rPr>
              <a:t>names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525" y="3266697"/>
            <a:ext cx="4749165" cy="2988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5080">
              <a:lnSpc>
                <a:spcPct val="150600"/>
              </a:lnSpc>
              <a:spcBef>
                <a:spcPts val="95"/>
              </a:spcBef>
              <a:tabLst>
                <a:tab pos="671830" algn="l"/>
                <a:tab pos="1551940" algn="l"/>
                <a:tab pos="2113280" algn="l"/>
                <a:tab pos="2952750" algn="l"/>
                <a:tab pos="3326129" algn="l"/>
                <a:tab pos="4200525" algn="l"/>
              </a:tabLst>
            </a:pPr>
            <a:r>
              <a:rPr sz="1600" spc="30" dirty="0">
                <a:latin typeface="Cambria"/>
                <a:cs typeface="Cambria"/>
              </a:rPr>
              <a:t>to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75" dirty="0">
                <a:latin typeface="Cambria"/>
                <a:cs typeface="Cambria"/>
              </a:rPr>
              <a:t>objects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10" dirty="0">
                <a:latin typeface="Cambria"/>
                <a:cs typeface="Cambria"/>
              </a:rPr>
              <a:t>and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80" dirty="0">
                <a:latin typeface="Cambria"/>
                <a:cs typeface="Cambria"/>
              </a:rPr>
              <a:t>clients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30" dirty="0">
                <a:latin typeface="Cambria"/>
                <a:cs typeface="Cambria"/>
              </a:rPr>
              <a:t>to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40" dirty="0">
                <a:latin typeface="Cambria"/>
                <a:cs typeface="Cambria"/>
              </a:rPr>
              <a:t>resolve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75" dirty="0">
                <a:latin typeface="Cambria"/>
                <a:cs typeface="Cambria"/>
              </a:rPr>
              <a:t>those </a:t>
            </a:r>
            <a:r>
              <a:rPr sz="1600" spc="135" dirty="0">
                <a:latin typeface="Cambria"/>
                <a:cs typeface="Cambria"/>
              </a:rPr>
              <a:t>names.</a:t>
            </a:r>
            <a:endParaRPr sz="1600">
              <a:latin typeface="Cambria"/>
              <a:cs typeface="Cambria"/>
            </a:endParaRPr>
          </a:p>
          <a:p>
            <a:pPr marL="294640" marR="393700" indent="-282575">
              <a:lnSpc>
                <a:spcPct val="1509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00" dirty="0">
                <a:latin typeface="Cambria"/>
                <a:cs typeface="Cambria"/>
              </a:rPr>
              <a:t>To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be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as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general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as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possible,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the</a:t>
            </a:r>
            <a:r>
              <a:rPr sz="1600" spc="170" dirty="0">
                <a:latin typeface="Cambria"/>
                <a:cs typeface="Cambria"/>
              </a:rPr>
              <a:t> CORBA 	</a:t>
            </a:r>
            <a:r>
              <a:rPr sz="1600" spc="75" dirty="0">
                <a:latin typeface="Cambria"/>
                <a:cs typeface="Cambria"/>
              </a:rPr>
              <a:t>object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120" dirty="0">
                <a:latin typeface="Cambria"/>
                <a:cs typeface="Cambria"/>
              </a:rPr>
              <a:t>naming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125" dirty="0">
                <a:latin typeface="Cambria"/>
                <a:cs typeface="Cambria"/>
              </a:rPr>
              <a:t>scheme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is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necessary 	</a:t>
            </a:r>
            <a:r>
              <a:rPr sz="1600" spc="95" dirty="0">
                <a:latin typeface="Cambria"/>
                <a:cs typeface="Cambria"/>
              </a:rPr>
              <a:t>complex.</a:t>
            </a:r>
            <a:endParaRPr sz="1600">
              <a:latin typeface="Cambria"/>
              <a:cs typeface="Cambria"/>
            </a:endParaRPr>
          </a:p>
          <a:p>
            <a:pPr marL="294640" marR="173990" indent="-282575">
              <a:lnSpc>
                <a:spcPct val="1509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00" spc="120" dirty="0">
                <a:latin typeface="Cambria"/>
                <a:cs typeface="Cambria"/>
              </a:rPr>
              <a:t>Since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the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30" dirty="0">
                <a:latin typeface="Cambria"/>
                <a:cs typeface="Cambria"/>
              </a:rPr>
              <a:t>name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space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is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universal,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a 	</a:t>
            </a:r>
            <a:r>
              <a:rPr sz="1600" spc="110" dirty="0">
                <a:latin typeface="Cambria"/>
                <a:cs typeface="Cambria"/>
              </a:rPr>
              <a:t>standard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120" dirty="0">
                <a:latin typeface="Cambria"/>
                <a:cs typeface="Cambria"/>
              </a:rPr>
              <a:t>naming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hierarchy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is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defined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in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a 	</a:t>
            </a:r>
            <a:r>
              <a:rPr sz="1600" spc="120" dirty="0">
                <a:latin typeface="Cambria"/>
                <a:cs typeface="Cambria"/>
              </a:rPr>
              <a:t>manner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similar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to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the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120" dirty="0">
                <a:latin typeface="Cambria"/>
                <a:cs typeface="Cambria"/>
              </a:rPr>
              <a:t>naming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hierarchy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in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016" y="6351518"/>
            <a:ext cx="14554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140" dirty="0">
                <a:latin typeface="Cambria"/>
                <a:cs typeface="Cambria"/>
              </a:rPr>
              <a:t>a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file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directory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0337" y="2356389"/>
            <a:ext cx="1407160" cy="467359"/>
          </a:xfrm>
          <a:prstGeom prst="rect">
            <a:avLst/>
          </a:prstGeom>
          <a:solidFill>
            <a:srgbClr val="FFDFDF"/>
          </a:solidFill>
          <a:ln w="10144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785"/>
              </a:spcBef>
            </a:pPr>
            <a:r>
              <a:rPr sz="1550" b="1" spc="-235" dirty="0">
                <a:latin typeface="Times New Roman"/>
                <a:cs typeface="Times New Roman"/>
              </a:rPr>
              <a:t>naming</a:t>
            </a:r>
            <a:r>
              <a:rPr sz="1550" b="1" spc="-60" dirty="0">
                <a:latin typeface="Times New Roman"/>
                <a:cs typeface="Times New Roman"/>
              </a:rPr>
              <a:t> </a:t>
            </a:r>
            <a:r>
              <a:rPr sz="1550" b="1" spc="-55" dirty="0">
                <a:latin typeface="Times New Roman"/>
                <a:cs typeface="Times New Roman"/>
              </a:rPr>
              <a:t>context</a:t>
            </a:r>
            <a:r>
              <a:rPr sz="1575" b="1" spc="-82" baseline="-18518" dirty="0">
                <a:latin typeface="Times New Roman"/>
                <a:cs typeface="Times New Roman"/>
              </a:rPr>
              <a:t>1</a:t>
            </a:r>
            <a:endParaRPr sz="1575" baseline="-18518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60025" y="3413537"/>
            <a:ext cx="1417320" cy="477520"/>
            <a:chOff x="6560025" y="3413537"/>
            <a:chExt cx="1417320" cy="477520"/>
          </a:xfrm>
        </p:grpSpPr>
        <p:sp>
          <p:nvSpPr>
            <p:cNvPr id="8" name="object 8"/>
            <p:cNvSpPr/>
            <p:nvPr/>
          </p:nvSpPr>
          <p:spPr>
            <a:xfrm>
              <a:off x="6565105" y="3418617"/>
              <a:ext cx="1407160" cy="467359"/>
            </a:xfrm>
            <a:custGeom>
              <a:avLst/>
              <a:gdLst/>
              <a:ahLst/>
              <a:cxnLst/>
              <a:rect l="l" t="t" r="r" b="b"/>
              <a:pathLst>
                <a:path w="1407159" h="467360">
                  <a:moveTo>
                    <a:pt x="1406747" y="467201"/>
                  </a:moveTo>
                  <a:lnTo>
                    <a:pt x="0" y="467201"/>
                  </a:lnTo>
                  <a:lnTo>
                    <a:pt x="95" y="0"/>
                  </a:lnTo>
                  <a:lnTo>
                    <a:pt x="1406842" y="0"/>
                  </a:lnTo>
                  <a:lnTo>
                    <a:pt x="1406747" y="467201"/>
                  </a:lnTo>
                  <a:close/>
                </a:path>
              </a:pathLst>
            </a:custGeom>
            <a:solidFill>
              <a:srgbClr val="FFD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65105" y="3418617"/>
              <a:ext cx="1407160" cy="467359"/>
            </a:xfrm>
            <a:custGeom>
              <a:avLst/>
              <a:gdLst/>
              <a:ahLst/>
              <a:cxnLst/>
              <a:rect l="l" t="t" r="r" b="b"/>
              <a:pathLst>
                <a:path w="1407159" h="467360">
                  <a:moveTo>
                    <a:pt x="1406842" y="0"/>
                  </a:moveTo>
                  <a:lnTo>
                    <a:pt x="95" y="0"/>
                  </a:lnTo>
                  <a:lnTo>
                    <a:pt x="0" y="467201"/>
                  </a:lnTo>
                  <a:lnTo>
                    <a:pt x="1406747" y="467201"/>
                  </a:lnTo>
                  <a:lnTo>
                    <a:pt x="1406842" y="0"/>
                  </a:lnTo>
                  <a:close/>
                </a:path>
              </a:pathLst>
            </a:custGeom>
            <a:ln w="10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07925" y="3608562"/>
            <a:ext cx="7683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-7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94347" y="3418617"/>
            <a:ext cx="1407160" cy="467359"/>
          </a:xfrm>
          <a:prstGeom prst="rect">
            <a:avLst/>
          </a:prstGeom>
          <a:solidFill>
            <a:srgbClr val="FFDFBF"/>
          </a:solidFill>
          <a:ln w="10144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05"/>
              </a:spcBef>
            </a:pPr>
            <a:r>
              <a:rPr sz="1550" b="1" spc="-235" dirty="0">
                <a:latin typeface="Times New Roman"/>
                <a:cs typeface="Times New Roman"/>
              </a:rPr>
              <a:t>naming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b="1" spc="-70" dirty="0">
                <a:latin typeface="Times New Roman"/>
                <a:cs typeface="Times New Roman"/>
              </a:rPr>
              <a:t>context2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50849" y="4480845"/>
            <a:ext cx="1407160" cy="467359"/>
          </a:xfrm>
          <a:prstGeom prst="rect">
            <a:avLst/>
          </a:prstGeom>
          <a:solidFill>
            <a:srgbClr val="FFFFDF"/>
          </a:solidFill>
          <a:ln w="10144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785"/>
              </a:spcBef>
            </a:pPr>
            <a:r>
              <a:rPr sz="1550" b="1" spc="-240" dirty="0">
                <a:latin typeface="Times New Roman"/>
                <a:cs typeface="Times New Roman"/>
              </a:rPr>
              <a:t>naming</a:t>
            </a:r>
            <a:r>
              <a:rPr sz="1550" b="1" spc="-40" dirty="0">
                <a:latin typeface="Times New Roman"/>
                <a:cs typeface="Times New Roman"/>
              </a:rPr>
              <a:t> </a:t>
            </a:r>
            <a:r>
              <a:rPr sz="1550" b="1" spc="-55" dirty="0">
                <a:latin typeface="Times New Roman"/>
                <a:cs typeface="Times New Roman"/>
              </a:rPr>
              <a:t>context</a:t>
            </a:r>
            <a:r>
              <a:rPr sz="1575" b="1" spc="-82" baseline="-18518" dirty="0">
                <a:latin typeface="Times New Roman"/>
                <a:cs typeface="Times New Roman"/>
              </a:rPr>
              <a:t>1</a:t>
            </a:r>
            <a:endParaRPr sz="1575" baseline="-1851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89555" y="4480845"/>
            <a:ext cx="1407160" cy="467359"/>
          </a:xfrm>
          <a:prstGeom prst="rect">
            <a:avLst/>
          </a:prstGeom>
          <a:solidFill>
            <a:srgbClr val="FFFFDF"/>
          </a:solidFill>
          <a:ln w="10144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785"/>
              </a:spcBef>
            </a:pPr>
            <a:r>
              <a:rPr sz="1550" b="1" spc="-235" dirty="0">
                <a:latin typeface="Times New Roman"/>
                <a:cs typeface="Times New Roman"/>
              </a:rPr>
              <a:t>naming</a:t>
            </a:r>
            <a:r>
              <a:rPr sz="1550" b="1" spc="-60" dirty="0">
                <a:latin typeface="Times New Roman"/>
                <a:cs typeface="Times New Roman"/>
              </a:rPr>
              <a:t> context</a:t>
            </a:r>
            <a:r>
              <a:rPr sz="1575" b="1" spc="-89" baseline="-18518" dirty="0">
                <a:latin typeface="Times New Roman"/>
                <a:cs typeface="Times New Roman"/>
              </a:rPr>
              <a:t>1</a:t>
            </a:r>
            <a:endParaRPr sz="1575" baseline="-18518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93569" y="5493130"/>
            <a:ext cx="1136015" cy="793750"/>
            <a:chOff x="5193569" y="5493130"/>
            <a:chExt cx="1136015" cy="793750"/>
          </a:xfrm>
        </p:grpSpPr>
        <p:sp>
          <p:nvSpPr>
            <p:cNvPr id="15" name="object 15"/>
            <p:cNvSpPr/>
            <p:nvPr/>
          </p:nvSpPr>
          <p:spPr>
            <a:xfrm>
              <a:off x="5198649" y="5498210"/>
              <a:ext cx="1125855" cy="783590"/>
            </a:xfrm>
            <a:custGeom>
              <a:avLst/>
              <a:gdLst/>
              <a:ahLst/>
              <a:cxnLst/>
              <a:rect l="l" t="t" r="r" b="b"/>
              <a:pathLst>
                <a:path w="1125854" h="783589">
                  <a:moveTo>
                    <a:pt x="562737" y="783526"/>
                  </a:moveTo>
                  <a:lnTo>
                    <a:pt x="505198" y="781503"/>
                  </a:lnTo>
                  <a:lnTo>
                    <a:pt x="449323" y="775565"/>
                  </a:lnTo>
                  <a:lnTo>
                    <a:pt x="395392" y="765909"/>
                  </a:lnTo>
                  <a:lnTo>
                    <a:pt x="343690" y="752732"/>
                  </a:lnTo>
                  <a:lnTo>
                    <a:pt x="294498" y="736232"/>
                  </a:lnTo>
                  <a:lnTo>
                    <a:pt x="248101" y="716605"/>
                  </a:lnTo>
                  <a:lnTo>
                    <a:pt x="204780" y="694049"/>
                  </a:lnTo>
                  <a:lnTo>
                    <a:pt x="164818" y="668762"/>
                  </a:lnTo>
                  <a:lnTo>
                    <a:pt x="128498" y="640939"/>
                  </a:lnTo>
                  <a:lnTo>
                    <a:pt x="96104" y="610778"/>
                  </a:lnTo>
                  <a:lnTo>
                    <a:pt x="67917" y="578477"/>
                  </a:lnTo>
                  <a:lnTo>
                    <a:pt x="44221" y="544233"/>
                  </a:lnTo>
                  <a:lnTo>
                    <a:pt x="25298" y="508242"/>
                  </a:lnTo>
                  <a:lnTo>
                    <a:pt x="11432" y="470702"/>
                  </a:lnTo>
                  <a:lnTo>
                    <a:pt x="2905" y="431810"/>
                  </a:lnTo>
                  <a:lnTo>
                    <a:pt x="0" y="391763"/>
                  </a:lnTo>
                  <a:lnTo>
                    <a:pt x="2921" y="351716"/>
                  </a:lnTo>
                  <a:lnTo>
                    <a:pt x="11463" y="312824"/>
                  </a:lnTo>
                  <a:lnTo>
                    <a:pt x="25342" y="275284"/>
                  </a:lnTo>
                  <a:lnTo>
                    <a:pt x="44274" y="239293"/>
                  </a:lnTo>
                  <a:lnTo>
                    <a:pt x="67978" y="205048"/>
                  </a:lnTo>
                  <a:lnTo>
                    <a:pt x="96171" y="172747"/>
                  </a:lnTo>
                  <a:lnTo>
                    <a:pt x="128568" y="142587"/>
                  </a:lnTo>
                  <a:lnTo>
                    <a:pt x="164889" y="114764"/>
                  </a:lnTo>
                  <a:lnTo>
                    <a:pt x="204850" y="89476"/>
                  </a:lnTo>
                  <a:lnTo>
                    <a:pt x="248168" y="66920"/>
                  </a:lnTo>
                  <a:lnTo>
                    <a:pt x="294560" y="47294"/>
                  </a:lnTo>
                  <a:lnTo>
                    <a:pt x="343743" y="30794"/>
                  </a:lnTo>
                  <a:lnTo>
                    <a:pt x="395436" y="17617"/>
                  </a:lnTo>
                  <a:lnTo>
                    <a:pt x="449354" y="7961"/>
                  </a:lnTo>
                  <a:lnTo>
                    <a:pt x="505215" y="2023"/>
                  </a:lnTo>
                  <a:lnTo>
                    <a:pt x="562737" y="0"/>
                  </a:lnTo>
                  <a:lnTo>
                    <a:pt x="620275" y="2023"/>
                  </a:lnTo>
                  <a:lnTo>
                    <a:pt x="676150" y="7961"/>
                  </a:lnTo>
                  <a:lnTo>
                    <a:pt x="730081" y="17617"/>
                  </a:lnTo>
                  <a:lnTo>
                    <a:pt x="781783" y="30794"/>
                  </a:lnTo>
                  <a:lnTo>
                    <a:pt x="830975" y="47294"/>
                  </a:lnTo>
                  <a:lnTo>
                    <a:pt x="877372" y="66920"/>
                  </a:lnTo>
                  <a:lnTo>
                    <a:pt x="920694" y="89476"/>
                  </a:lnTo>
                  <a:lnTo>
                    <a:pt x="960655" y="114764"/>
                  </a:lnTo>
                  <a:lnTo>
                    <a:pt x="996975" y="142587"/>
                  </a:lnTo>
                  <a:lnTo>
                    <a:pt x="1029369" y="172747"/>
                  </a:lnTo>
                  <a:lnTo>
                    <a:pt x="1057556" y="205048"/>
                  </a:lnTo>
                  <a:lnTo>
                    <a:pt x="1081252" y="239293"/>
                  </a:lnTo>
                  <a:lnTo>
                    <a:pt x="1100175" y="275284"/>
                  </a:lnTo>
                  <a:lnTo>
                    <a:pt x="1114041" y="312824"/>
                  </a:lnTo>
                  <a:lnTo>
                    <a:pt x="1122568" y="351716"/>
                  </a:lnTo>
                  <a:lnTo>
                    <a:pt x="1125474" y="391763"/>
                  </a:lnTo>
                  <a:lnTo>
                    <a:pt x="1122552" y="431810"/>
                  </a:lnTo>
                  <a:lnTo>
                    <a:pt x="1114010" y="470702"/>
                  </a:lnTo>
                  <a:lnTo>
                    <a:pt x="1100131" y="508242"/>
                  </a:lnTo>
                  <a:lnTo>
                    <a:pt x="1081199" y="544233"/>
                  </a:lnTo>
                  <a:lnTo>
                    <a:pt x="1057495" y="578477"/>
                  </a:lnTo>
                  <a:lnTo>
                    <a:pt x="1029302" y="610778"/>
                  </a:lnTo>
                  <a:lnTo>
                    <a:pt x="996905" y="640939"/>
                  </a:lnTo>
                  <a:lnTo>
                    <a:pt x="960584" y="668762"/>
                  </a:lnTo>
                  <a:lnTo>
                    <a:pt x="920623" y="694049"/>
                  </a:lnTo>
                  <a:lnTo>
                    <a:pt x="877305" y="716605"/>
                  </a:lnTo>
                  <a:lnTo>
                    <a:pt x="830913" y="736232"/>
                  </a:lnTo>
                  <a:lnTo>
                    <a:pt x="781730" y="752732"/>
                  </a:lnTo>
                  <a:lnTo>
                    <a:pt x="730037" y="765909"/>
                  </a:lnTo>
                  <a:lnTo>
                    <a:pt x="676119" y="775565"/>
                  </a:lnTo>
                  <a:lnTo>
                    <a:pt x="620258" y="781503"/>
                  </a:lnTo>
                  <a:lnTo>
                    <a:pt x="562737" y="783526"/>
                  </a:lnTo>
                  <a:close/>
                </a:path>
              </a:pathLst>
            </a:custGeom>
            <a:solidFill>
              <a:srgbClr val="D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8649" y="5498210"/>
              <a:ext cx="1125855" cy="783590"/>
            </a:xfrm>
            <a:custGeom>
              <a:avLst/>
              <a:gdLst/>
              <a:ahLst/>
              <a:cxnLst/>
              <a:rect l="l" t="t" r="r" b="b"/>
              <a:pathLst>
                <a:path w="1125854" h="783589">
                  <a:moveTo>
                    <a:pt x="1125474" y="391763"/>
                  </a:moveTo>
                  <a:lnTo>
                    <a:pt x="1122568" y="351716"/>
                  </a:lnTo>
                  <a:lnTo>
                    <a:pt x="1114041" y="312824"/>
                  </a:lnTo>
                  <a:lnTo>
                    <a:pt x="1100175" y="275284"/>
                  </a:lnTo>
                  <a:lnTo>
                    <a:pt x="1081252" y="239293"/>
                  </a:lnTo>
                  <a:lnTo>
                    <a:pt x="1057556" y="205048"/>
                  </a:lnTo>
                  <a:lnTo>
                    <a:pt x="1029369" y="172747"/>
                  </a:lnTo>
                  <a:lnTo>
                    <a:pt x="996975" y="142587"/>
                  </a:lnTo>
                  <a:lnTo>
                    <a:pt x="960655" y="114764"/>
                  </a:lnTo>
                  <a:lnTo>
                    <a:pt x="920694" y="89476"/>
                  </a:lnTo>
                  <a:lnTo>
                    <a:pt x="877372" y="66920"/>
                  </a:lnTo>
                  <a:lnTo>
                    <a:pt x="830975" y="47294"/>
                  </a:lnTo>
                  <a:lnTo>
                    <a:pt x="781783" y="30794"/>
                  </a:lnTo>
                  <a:lnTo>
                    <a:pt x="730081" y="17617"/>
                  </a:lnTo>
                  <a:lnTo>
                    <a:pt x="676150" y="7961"/>
                  </a:lnTo>
                  <a:lnTo>
                    <a:pt x="620275" y="2023"/>
                  </a:lnTo>
                  <a:lnTo>
                    <a:pt x="562737" y="0"/>
                  </a:lnTo>
                  <a:lnTo>
                    <a:pt x="505215" y="2023"/>
                  </a:lnTo>
                  <a:lnTo>
                    <a:pt x="449354" y="7961"/>
                  </a:lnTo>
                  <a:lnTo>
                    <a:pt x="395436" y="17617"/>
                  </a:lnTo>
                  <a:lnTo>
                    <a:pt x="343743" y="30794"/>
                  </a:lnTo>
                  <a:lnTo>
                    <a:pt x="294560" y="47294"/>
                  </a:lnTo>
                  <a:lnTo>
                    <a:pt x="248168" y="66920"/>
                  </a:lnTo>
                  <a:lnTo>
                    <a:pt x="204850" y="89476"/>
                  </a:lnTo>
                  <a:lnTo>
                    <a:pt x="164889" y="114764"/>
                  </a:lnTo>
                  <a:lnTo>
                    <a:pt x="128568" y="142587"/>
                  </a:lnTo>
                  <a:lnTo>
                    <a:pt x="96171" y="172747"/>
                  </a:lnTo>
                  <a:lnTo>
                    <a:pt x="67978" y="205048"/>
                  </a:lnTo>
                  <a:lnTo>
                    <a:pt x="44274" y="239293"/>
                  </a:lnTo>
                  <a:lnTo>
                    <a:pt x="25342" y="275284"/>
                  </a:lnTo>
                  <a:lnTo>
                    <a:pt x="11463" y="312824"/>
                  </a:lnTo>
                  <a:lnTo>
                    <a:pt x="2921" y="351716"/>
                  </a:lnTo>
                  <a:lnTo>
                    <a:pt x="0" y="391763"/>
                  </a:lnTo>
                  <a:lnTo>
                    <a:pt x="2905" y="431810"/>
                  </a:lnTo>
                  <a:lnTo>
                    <a:pt x="11432" y="470702"/>
                  </a:lnTo>
                  <a:lnTo>
                    <a:pt x="25298" y="508242"/>
                  </a:lnTo>
                  <a:lnTo>
                    <a:pt x="44221" y="544233"/>
                  </a:lnTo>
                  <a:lnTo>
                    <a:pt x="67917" y="578477"/>
                  </a:lnTo>
                  <a:lnTo>
                    <a:pt x="96104" y="610778"/>
                  </a:lnTo>
                  <a:lnTo>
                    <a:pt x="128498" y="640939"/>
                  </a:lnTo>
                  <a:lnTo>
                    <a:pt x="164818" y="668762"/>
                  </a:lnTo>
                  <a:lnTo>
                    <a:pt x="204780" y="694049"/>
                  </a:lnTo>
                  <a:lnTo>
                    <a:pt x="248101" y="716605"/>
                  </a:lnTo>
                  <a:lnTo>
                    <a:pt x="294498" y="736232"/>
                  </a:lnTo>
                  <a:lnTo>
                    <a:pt x="343690" y="752732"/>
                  </a:lnTo>
                  <a:lnTo>
                    <a:pt x="395392" y="765909"/>
                  </a:lnTo>
                  <a:lnTo>
                    <a:pt x="449323" y="775565"/>
                  </a:lnTo>
                  <a:lnTo>
                    <a:pt x="505198" y="781503"/>
                  </a:lnTo>
                  <a:lnTo>
                    <a:pt x="562737" y="783526"/>
                  </a:lnTo>
                  <a:lnTo>
                    <a:pt x="620258" y="781503"/>
                  </a:lnTo>
                  <a:lnTo>
                    <a:pt x="676119" y="775565"/>
                  </a:lnTo>
                  <a:lnTo>
                    <a:pt x="730037" y="765909"/>
                  </a:lnTo>
                  <a:lnTo>
                    <a:pt x="781730" y="752732"/>
                  </a:lnTo>
                  <a:lnTo>
                    <a:pt x="830913" y="736232"/>
                  </a:lnTo>
                  <a:lnTo>
                    <a:pt x="877305" y="716605"/>
                  </a:lnTo>
                  <a:lnTo>
                    <a:pt x="920623" y="694049"/>
                  </a:lnTo>
                  <a:lnTo>
                    <a:pt x="960584" y="668762"/>
                  </a:lnTo>
                  <a:lnTo>
                    <a:pt x="996905" y="640939"/>
                  </a:lnTo>
                  <a:lnTo>
                    <a:pt x="1029302" y="610778"/>
                  </a:lnTo>
                  <a:lnTo>
                    <a:pt x="1057495" y="578477"/>
                  </a:lnTo>
                  <a:lnTo>
                    <a:pt x="1081199" y="544233"/>
                  </a:lnTo>
                  <a:lnTo>
                    <a:pt x="1100131" y="508242"/>
                  </a:lnTo>
                  <a:lnTo>
                    <a:pt x="1114010" y="470702"/>
                  </a:lnTo>
                  <a:lnTo>
                    <a:pt x="1122552" y="431810"/>
                  </a:lnTo>
                  <a:lnTo>
                    <a:pt x="1125474" y="391763"/>
                  </a:lnTo>
                  <a:close/>
                </a:path>
              </a:pathLst>
            </a:custGeom>
            <a:ln w="10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27506" y="5638968"/>
            <a:ext cx="469265" cy="501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indent="15240">
              <a:lnSpc>
                <a:spcPct val="101899"/>
              </a:lnSpc>
              <a:spcBef>
                <a:spcPts val="55"/>
              </a:spcBef>
            </a:pPr>
            <a:r>
              <a:rPr sz="1550" b="1" spc="-190" dirty="0">
                <a:latin typeface="Times New Roman"/>
                <a:cs typeface="Times New Roman"/>
              </a:rPr>
              <a:t>object</a:t>
            </a:r>
            <a:r>
              <a:rPr sz="1550" b="1" spc="500" dirty="0">
                <a:latin typeface="Times New Roman"/>
                <a:cs typeface="Times New Roman"/>
              </a:rPr>
              <a:t> </a:t>
            </a:r>
            <a:r>
              <a:rPr sz="1550" b="1" spc="-225" dirty="0">
                <a:latin typeface="Times New Roman"/>
                <a:cs typeface="Times New Roman"/>
              </a:rPr>
              <a:t>name</a:t>
            </a:r>
            <a:r>
              <a:rPr sz="1575" b="1" spc="-337" baseline="-18518" dirty="0">
                <a:latin typeface="Times New Roman"/>
                <a:cs typeface="Times New Roman"/>
              </a:rPr>
              <a:t>1</a:t>
            </a:r>
            <a:endParaRPr sz="1575" baseline="-1851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68527" y="2830734"/>
            <a:ext cx="1929764" cy="581025"/>
          </a:xfrm>
          <a:custGeom>
            <a:avLst/>
            <a:gdLst/>
            <a:ahLst/>
            <a:cxnLst/>
            <a:rect l="l" t="t" r="r" b="b"/>
            <a:pathLst>
              <a:path w="1929765" h="581025">
                <a:moveTo>
                  <a:pt x="0" y="580739"/>
                </a:moveTo>
                <a:lnTo>
                  <a:pt x="1095184" y="0"/>
                </a:lnTo>
              </a:path>
              <a:path w="1929765" h="581025">
                <a:moveTo>
                  <a:pt x="1095184" y="0"/>
                </a:moveTo>
                <a:lnTo>
                  <a:pt x="1929193" y="580739"/>
                </a:lnTo>
              </a:path>
            </a:pathLst>
          </a:custGeom>
          <a:ln w="10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53783" y="3506893"/>
            <a:ext cx="976630" cy="703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70"/>
              </a:lnSpc>
              <a:spcBef>
                <a:spcPts val="90"/>
              </a:spcBef>
            </a:pPr>
            <a:r>
              <a:rPr sz="1550" b="1" spc="-240" dirty="0">
                <a:latin typeface="Times New Roman"/>
                <a:cs typeface="Times New Roman"/>
              </a:rPr>
              <a:t>naming</a:t>
            </a:r>
            <a:r>
              <a:rPr sz="1550" b="1" spc="-40" dirty="0">
                <a:latin typeface="Times New Roman"/>
                <a:cs typeface="Times New Roman"/>
              </a:rPr>
              <a:t> </a:t>
            </a:r>
            <a:r>
              <a:rPr sz="1550" b="1" spc="-175" dirty="0">
                <a:latin typeface="Times New Roman"/>
                <a:cs typeface="Times New Roman"/>
              </a:rPr>
              <a:t>context</a:t>
            </a:r>
            <a:endParaRPr sz="1550">
              <a:latin typeface="Times New Roman"/>
              <a:cs typeface="Times New Roman"/>
            </a:endParaRPr>
          </a:p>
          <a:p>
            <a:pPr marL="324485">
              <a:lnSpc>
                <a:spcPts val="3570"/>
              </a:lnSpc>
            </a:pPr>
            <a:r>
              <a:rPr sz="3050" b="1" spc="-25" dirty="0">
                <a:latin typeface="Times New Roman"/>
                <a:cs typeface="Times New Roman"/>
              </a:rPr>
              <a:t>...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46849" y="4950166"/>
            <a:ext cx="601345" cy="815340"/>
            <a:chOff x="5846849" y="4950166"/>
            <a:chExt cx="601345" cy="815340"/>
          </a:xfrm>
        </p:grpSpPr>
        <p:sp>
          <p:nvSpPr>
            <p:cNvPr id="21" name="object 21"/>
            <p:cNvSpPr/>
            <p:nvPr/>
          </p:nvSpPr>
          <p:spPr>
            <a:xfrm>
              <a:off x="5851874" y="4955190"/>
              <a:ext cx="502920" cy="581025"/>
            </a:xfrm>
            <a:custGeom>
              <a:avLst/>
              <a:gdLst/>
              <a:ahLst/>
              <a:cxnLst/>
              <a:rect l="l" t="t" r="r" b="b"/>
              <a:pathLst>
                <a:path w="502920" h="581025">
                  <a:moveTo>
                    <a:pt x="0" y="580739"/>
                  </a:moveTo>
                  <a:lnTo>
                    <a:pt x="502348" y="0"/>
                  </a:lnTo>
                </a:path>
              </a:pathLst>
            </a:custGeom>
            <a:ln w="10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26123" y="5522976"/>
              <a:ext cx="121920" cy="242570"/>
            </a:xfrm>
            <a:custGeom>
              <a:avLst/>
              <a:gdLst/>
              <a:ahLst/>
              <a:cxnLst/>
              <a:rect l="l" t="t" r="r" b="b"/>
              <a:pathLst>
                <a:path w="121920" h="242570">
                  <a:moveTo>
                    <a:pt x="121920" y="242316"/>
                  </a:moveTo>
                  <a:lnTo>
                    <a:pt x="0" y="242316"/>
                  </a:lnTo>
                  <a:lnTo>
                    <a:pt x="0" y="0"/>
                  </a:lnTo>
                  <a:lnTo>
                    <a:pt x="121920" y="0"/>
                  </a:lnTo>
                  <a:lnTo>
                    <a:pt x="121920" y="2423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539928" y="5493130"/>
            <a:ext cx="1136015" cy="793750"/>
            <a:chOff x="6539928" y="5493130"/>
            <a:chExt cx="1136015" cy="793750"/>
          </a:xfrm>
        </p:grpSpPr>
        <p:sp>
          <p:nvSpPr>
            <p:cNvPr id="24" name="object 24"/>
            <p:cNvSpPr/>
            <p:nvPr/>
          </p:nvSpPr>
          <p:spPr>
            <a:xfrm>
              <a:off x="6545008" y="5498210"/>
              <a:ext cx="1125855" cy="783590"/>
            </a:xfrm>
            <a:custGeom>
              <a:avLst/>
              <a:gdLst/>
              <a:ahLst/>
              <a:cxnLst/>
              <a:rect l="l" t="t" r="r" b="b"/>
              <a:pathLst>
                <a:path w="1125854" h="783589">
                  <a:moveTo>
                    <a:pt x="562737" y="783526"/>
                  </a:moveTo>
                  <a:lnTo>
                    <a:pt x="505198" y="781503"/>
                  </a:lnTo>
                  <a:lnTo>
                    <a:pt x="449323" y="775565"/>
                  </a:lnTo>
                  <a:lnTo>
                    <a:pt x="395392" y="765909"/>
                  </a:lnTo>
                  <a:lnTo>
                    <a:pt x="343690" y="752732"/>
                  </a:lnTo>
                  <a:lnTo>
                    <a:pt x="294498" y="736232"/>
                  </a:lnTo>
                  <a:lnTo>
                    <a:pt x="248101" y="716605"/>
                  </a:lnTo>
                  <a:lnTo>
                    <a:pt x="204780" y="694049"/>
                  </a:lnTo>
                  <a:lnTo>
                    <a:pt x="164818" y="668762"/>
                  </a:lnTo>
                  <a:lnTo>
                    <a:pt x="128498" y="640939"/>
                  </a:lnTo>
                  <a:lnTo>
                    <a:pt x="96104" y="610778"/>
                  </a:lnTo>
                  <a:lnTo>
                    <a:pt x="67917" y="578477"/>
                  </a:lnTo>
                  <a:lnTo>
                    <a:pt x="44221" y="544233"/>
                  </a:lnTo>
                  <a:lnTo>
                    <a:pt x="25298" y="508242"/>
                  </a:lnTo>
                  <a:lnTo>
                    <a:pt x="11432" y="470702"/>
                  </a:lnTo>
                  <a:lnTo>
                    <a:pt x="2905" y="431810"/>
                  </a:lnTo>
                  <a:lnTo>
                    <a:pt x="0" y="391763"/>
                  </a:lnTo>
                  <a:lnTo>
                    <a:pt x="2921" y="351716"/>
                  </a:lnTo>
                  <a:lnTo>
                    <a:pt x="11463" y="312824"/>
                  </a:lnTo>
                  <a:lnTo>
                    <a:pt x="25342" y="275284"/>
                  </a:lnTo>
                  <a:lnTo>
                    <a:pt x="44274" y="239293"/>
                  </a:lnTo>
                  <a:lnTo>
                    <a:pt x="67978" y="205048"/>
                  </a:lnTo>
                  <a:lnTo>
                    <a:pt x="96171" y="172747"/>
                  </a:lnTo>
                  <a:lnTo>
                    <a:pt x="128568" y="142587"/>
                  </a:lnTo>
                  <a:lnTo>
                    <a:pt x="164889" y="114764"/>
                  </a:lnTo>
                  <a:lnTo>
                    <a:pt x="204850" y="89476"/>
                  </a:lnTo>
                  <a:lnTo>
                    <a:pt x="248168" y="66920"/>
                  </a:lnTo>
                  <a:lnTo>
                    <a:pt x="294560" y="47294"/>
                  </a:lnTo>
                  <a:lnTo>
                    <a:pt x="343743" y="30794"/>
                  </a:lnTo>
                  <a:lnTo>
                    <a:pt x="395436" y="17617"/>
                  </a:lnTo>
                  <a:lnTo>
                    <a:pt x="449354" y="7961"/>
                  </a:lnTo>
                  <a:lnTo>
                    <a:pt x="505215" y="2023"/>
                  </a:lnTo>
                  <a:lnTo>
                    <a:pt x="562737" y="0"/>
                  </a:lnTo>
                  <a:lnTo>
                    <a:pt x="620275" y="2023"/>
                  </a:lnTo>
                  <a:lnTo>
                    <a:pt x="676150" y="7961"/>
                  </a:lnTo>
                  <a:lnTo>
                    <a:pt x="730081" y="17617"/>
                  </a:lnTo>
                  <a:lnTo>
                    <a:pt x="781783" y="30794"/>
                  </a:lnTo>
                  <a:lnTo>
                    <a:pt x="830975" y="47294"/>
                  </a:lnTo>
                  <a:lnTo>
                    <a:pt x="877372" y="66920"/>
                  </a:lnTo>
                  <a:lnTo>
                    <a:pt x="920694" y="89476"/>
                  </a:lnTo>
                  <a:lnTo>
                    <a:pt x="960655" y="114764"/>
                  </a:lnTo>
                  <a:lnTo>
                    <a:pt x="996975" y="142587"/>
                  </a:lnTo>
                  <a:lnTo>
                    <a:pt x="1029369" y="172747"/>
                  </a:lnTo>
                  <a:lnTo>
                    <a:pt x="1057556" y="205048"/>
                  </a:lnTo>
                  <a:lnTo>
                    <a:pt x="1081252" y="239293"/>
                  </a:lnTo>
                  <a:lnTo>
                    <a:pt x="1100175" y="275284"/>
                  </a:lnTo>
                  <a:lnTo>
                    <a:pt x="1114041" y="312824"/>
                  </a:lnTo>
                  <a:lnTo>
                    <a:pt x="1122568" y="351716"/>
                  </a:lnTo>
                  <a:lnTo>
                    <a:pt x="1125474" y="391763"/>
                  </a:lnTo>
                  <a:lnTo>
                    <a:pt x="1122552" y="431810"/>
                  </a:lnTo>
                  <a:lnTo>
                    <a:pt x="1114010" y="470702"/>
                  </a:lnTo>
                  <a:lnTo>
                    <a:pt x="1100131" y="508242"/>
                  </a:lnTo>
                  <a:lnTo>
                    <a:pt x="1081199" y="544233"/>
                  </a:lnTo>
                  <a:lnTo>
                    <a:pt x="1057495" y="578477"/>
                  </a:lnTo>
                  <a:lnTo>
                    <a:pt x="1029302" y="610778"/>
                  </a:lnTo>
                  <a:lnTo>
                    <a:pt x="996905" y="640939"/>
                  </a:lnTo>
                  <a:lnTo>
                    <a:pt x="960584" y="668762"/>
                  </a:lnTo>
                  <a:lnTo>
                    <a:pt x="920623" y="694049"/>
                  </a:lnTo>
                  <a:lnTo>
                    <a:pt x="877305" y="716605"/>
                  </a:lnTo>
                  <a:lnTo>
                    <a:pt x="830913" y="736232"/>
                  </a:lnTo>
                  <a:lnTo>
                    <a:pt x="781730" y="752732"/>
                  </a:lnTo>
                  <a:lnTo>
                    <a:pt x="730037" y="765909"/>
                  </a:lnTo>
                  <a:lnTo>
                    <a:pt x="676119" y="775565"/>
                  </a:lnTo>
                  <a:lnTo>
                    <a:pt x="620258" y="781503"/>
                  </a:lnTo>
                  <a:lnTo>
                    <a:pt x="562737" y="783526"/>
                  </a:lnTo>
                  <a:close/>
                </a:path>
              </a:pathLst>
            </a:custGeom>
            <a:solidFill>
              <a:srgbClr val="D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45008" y="5498210"/>
              <a:ext cx="1125855" cy="783590"/>
            </a:xfrm>
            <a:custGeom>
              <a:avLst/>
              <a:gdLst/>
              <a:ahLst/>
              <a:cxnLst/>
              <a:rect l="l" t="t" r="r" b="b"/>
              <a:pathLst>
                <a:path w="1125854" h="783589">
                  <a:moveTo>
                    <a:pt x="1125474" y="391763"/>
                  </a:moveTo>
                  <a:lnTo>
                    <a:pt x="1122568" y="351716"/>
                  </a:lnTo>
                  <a:lnTo>
                    <a:pt x="1114041" y="312824"/>
                  </a:lnTo>
                  <a:lnTo>
                    <a:pt x="1100175" y="275284"/>
                  </a:lnTo>
                  <a:lnTo>
                    <a:pt x="1081252" y="239293"/>
                  </a:lnTo>
                  <a:lnTo>
                    <a:pt x="1057556" y="205048"/>
                  </a:lnTo>
                  <a:lnTo>
                    <a:pt x="1029369" y="172747"/>
                  </a:lnTo>
                  <a:lnTo>
                    <a:pt x="996975" y="142587"/>
                  </a:lnTo>
                  <a:lnTo>
                    <a:pt x="960655" y="114764"/>
                  </a:lnTo>
                  <a:lnTo>
                    <a:pt x="920694" y="89476"/>
                  </a:lnTo>
                  <a:lnTo>
                    <a:pt x="877372" y="66920"/>
                  </a:lnTo>
                  <a:lnTo>
                    <a:pt x="830975" y="47294"/>
                  </a:lnTo>
                  <a:lnTo>
                    <a:pt x="781783" y="30794"/>
                  </a:lnTo>
                  <a:lnTo>
                    <a:pt x="730081" y="17617"/>
                  </a:lnTo>
                  <a:lnTo>
                    <a:pt x="676150" y="7961"/>
                  </a:lnTo>
                  <a:lnTo>
                    <a:pt x="620275" y="2023"/>
                  </a:lnTo>
                  <a:lnTo>
                    <a:pt x="562737" y="0"/>
                  </a:lnTo>
                  <a:lnTo>
                    <a:pt x="505215" y="2023"/>
                  </a:lnTo>
                  <a:lnTo>
                    <a:pt x="449354" y="7961"/>
                  </a:lnTo>
                  <a:lnTo>
                    <a:pt x="395436" y="17617"/>
                  </a:lnTo>
                  <a:lnTo>
                    <a:pt x="343743" y="30794"/>
                  </a:lnTo>
                  <a:lnTo>
                    <a:pt x="294560" y="47294"/>
                  </a:lnTo>
                  <a:lnTo>
                    <a:pt x="248168" y="66920"/>
                  </a:lnTo>
                  <a:lnTo>
                    <a:pt x="204850" y="89476"/>
                  </a:lnTo>
                  <a:lnTo>
                    <a:pt x="164889" y="114764"/>
                  </a:lnTo>
                  <a:lnTo>
                    <a:pt x="128568" y="142587"/>
                  </a:lnTo>
                  <a:lnTo>
                    <a:pt x="96171" y="172747"/>
                  </a:lnTo>
                  <a:lnTo>
                    <a:pt x="67978" y="205048"/>
                  </a:lnTo>
                  <a:lnTo>
                    <a:pt x="44274" y="239293"/>
                  </a:lnTo>
                  <a:lnTo>
                    <a:pt x="25342" y="275284"/>
                  </a:lnTo>
                  <a:lnTo>
                    <a:pt x="11463" y="312824"/>
                  </a:lnTo>
                  <a:lnTo>
                    <a:pt x="2921" y="351716"/>
                  </a:lnTo>
                  <a:lnTo>
                    <a:pt x="0" y="391763"/>
                  </a:lnTo>
                  <a:lnTo>
                    <a:pt x="2905" y="431810"/>
                  </a:lnTo>
                  <a:lnTo>
                    <a:pt x="11432" y="470702"/>
                  </a:lnTo>
                  <a:lnTo>
                    <a:pt x="25298" y="508242"/>
                  </a:lnTo>
                  <a:lnTo>
                    <a:pt x="44221" y="544233"/>
                  </a:lnTo>
                  <a:lnTo>
                    <a:pt x="67917" y="578477"/>
                  </a:lnTo>
                  <a:lnTo>
                    <a:pt x="96104" y="610778"/>
                  </a:lnTo>
                  <a:lnTo>
                    <a:pt x="128498" y="640939"/>
                  </a:lnTo>
                  <a:lnTo>
                    <a:pt x="164818" y="668762"/>
                  </a:lnTo>
                  <a:lnTo>
                    <a:pt x="204780" y="694049"/>
                  </a:lnTo>
                  <a:lnTo>
                    <a:pt x="248101" y="716605"/>
                  </a:lnTo>
                  <a:lnTo>
                    <a:pt x="294498" y="736232"/>
                  </a:lnTo>
                  <a:lnTo>
                    <a:pt x="343690" y="752732"/>
                  </a:lnTo>
                  <a:lnTo>
                    <a:pt x="395392" y="765909"/>
                  </a:lnTo>
                  <a:lnTo>
                    <a:pt x="449323" y="775565"/>
                  </a:lnTo>
                  <a:lnTo>
                    <a:pt x="505198" y="781503"/>
                  </a:lnTo>
                  <a:lnTo>
                    <a:pt x="562737" y="783526"/>
                  </a:lnTo>
                  <a:lnTo>
                    <a:pt x="620258" y="781503"/>
                  </a:lnTo>
                  <a:lnTo>
                    <a:pt x="676119" y="775565"/>
                  </a:lnTo>
                  <a:lnTo>
                    <a:pt x="730037" y="765909"/>
                  </a:lnTo>
                  <a:lnTo>
                    <a:pt x="781730" y="752732"/>
                  </a:lnTo>
                  <a:lnTo>
                    <a:pt x="830913" y="736232"/>
                  </a:lnTo>
                  <a:lnTo>
                    <a:pt x="877305" y="716605"/>
                  </a:lnTo>
                  <a:lnTo>
                    <a:pt x="920623" y="694049"/>
                  </a:lnTo>
                  <a:lnTo>
                    <a:pt x="960584" y="668762"/>
                  </a:lnTo>
                  <a:lnTo>
                    <a:pt x="996905" y="640939"/>
                  </a:lnTo>
                  <a:lnTo>
                    <a:pt x="1029302" y="610778"/>
                  </a:lnTo>
                  <a:lnTo>
                    <a:pt x="1057495" y="578477"/>
                  </a:lnTo>
                  <a:lnTo>
                    <a:pt x="1081199" y="544233"/>
                  </a:lnTo>
                  <a:lnTo>
                    <a:pt x="1100131" y="508242"/>
                  </a:lnTo>
                  <a:lnTo>
                    <a:pt x="1114010" y="470702"/>
                  </a:lnTo>
                  <a:lnTo>
                    <a:pt x="1122552" y="431810"/>
                  </a:lnTo>
                  <a:lnTo>
                    <a:pt x="1125474" y="391763"/>
                  </a:lnTo>
                  <a:close/>
                </a:path>
              </a:pathLst>
            </a:custGeom>
            <a:ln w="10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868620" y="5638968"/>
            <a:ext cx="474980" cy="501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indent="19685">
              <a:lnSpc>
                <a:spcPct val="101899"/>
              </a:lnSpc>
              <a:spcBef>
                <a:spcPts val="55"/>
              </a:spcBef>
            </a:pPr>
            <a:r>
              <a:rPr sz="1550" b="1" spc="-190" dirty="0">
                <a:latin typeface="Times New Roman"/>
                <a:cs typeface="Times New Roman"/>
              </a:rPr>
              <a:t>object</a:t>
            </a:r>
            <a:r>
              <a:rPr sz="1550" b="1" spc="500" dirty="0">
                <a:latin typeface="Times New Roman"/>
                <a:cs typeface="Times New Roman"/>
              </a:rPr>
              <a:t> </a:t>
            </a:r>
            <a:r>
              <a:rPr sz="1550" b="1" spc="-220" dirty="0">
                <a:latin typeface="Times New Roman"/>
                <a:cs typeface="Times New Roman"/>
              </a:rPr>
              <a:t>name</a:t>
            </a:r>
            <a:r>
              <a:rPr sz="1575" b="1" spc="-330" baseline="-18518" dirty="0">
                <a:latin typeface="Times New Roman"/>
                <a:cs typeface="Times New Roman"/>
              </a:rPr>
              <a:t>n</a:t>
            </a:r>
            <a:endParaRPr sz="1575" baseline="-1851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54222" y="4119562"/>
            <a:ext cx="332105" cy="354330"/>
          </a:xfrm>
          <a:custGeom>
            <a:avLst/>
            <a:gdLst/>
            <a:ahLst/>
            <a:cxnLst/>
            <a:rect l="l" t="t" r="r" b="b"/>
            <a:pathLst>
              <a:path w="332104" h="354329">
                <a:moveTo>
                  <a:pt x="0" y="354139"/>
                </a:moveTo>
                <a:lnTo>
                  <a:pt x="331565" y="0"/>
                </a:lnTo>
              </a:path>
            </a:pathLst>
          </a:custGeom>
          <a:ln w="10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61363" y="4119562"/>
            <a:ext cx="332105" cy="354330"/>
          </a:xfrm>
          <a:custGeom>
            <a:avLst/>
            <a:gdLst/>
            <a:ahLst/>
            <a:cxnLst/>
            <a:rect l="l" t="t" r="r" b="b"/>
            <a:pathLst>
              <a:path w="332104" h="354329">
                <a:moveTo>
                  <a:pt x="0" y="0"/>
                </a:moveTo>
                <a:lnTo>
                  <a:pt x="331565" y="354139"/>
                </a:lnTo>
              </a:path>
            </a:pathLst>
          </a:custGeom>
          <a:ln w="10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1949" y="3248477"/>
            <a:ext cx="23749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b="1" spc="-195" dirty="0">
                <a:latin typeface="Times New Roman"/>
                <a:cs typeface="Times New Roman"/>
              </a:rPr>
              <a:t>...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13369" y="5510969"/>
            <a:ext cx="14160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spc="-75" dirty="0">
                <a:latin typeface="Times New Roman"/>
                <a:cs typeface="Times New Roman"/>
              </a:rPr>
              <a:t>...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707600" y="4955190"/>
            <a:ext cx="400685" cy="535940"/>
          </a:xfrm>
          <a:custGeom>
            <a:avLst/>
            <a:gdLst/>
            <a:ahLst/>
            <a:cxnLst/>
            <a:rect l="l" t="t" r="r" b="b"/>
            <a:pathLst>
              <a:path w="400684" h="535939">
                <a:moveTo>
                  <a:pt x="0" y="0"/>
                </a:moveTo>
                <a:lnTo>
                  <a:pt x="400144" y="535876"/>
                </a:lnTo>
              </a:path>
            </a:pathLst>
          </a:custGeom>
          <a:ln w="10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236979" y="4309197"/>
            <a:ext cx="237490" cy="495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b="1" spc="-195" dirty="0">
                <a:latin typeface="Times New Roman"/>
                <a:cs typeface="Times New Roman"/>
              </a:rPr>
              <a:t>...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0" dirty="0"/>
              <a:t> </a:t>
            </a:r>
            <a:r>
              <a:rPr spc="105" dirty="0"/>
              <a:t>Naming</a:t>
            </a:r>
            <a:r>
              <a:rPr spc="85" dirty="0"/>
              <a:t> </a:t>
            </a:r>
            <a:r>
              <a:rPr spc="155" dirty="0"/>
              <a:t>Context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622155" cy="385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context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correspond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folder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hierarchy,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while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names </a:t>
            </a:r>
            <a:r>
              <a:rPr sz="1650" spc="85" dirty="0">
                <a:latin typeface="Cambria"/>
                <a:cs typeface="Cambria"/>
              </a:rPr>
              <a:t>corresponds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2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file.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401955" indent="-283845">
              <a:lnSpc>
                <a:spcPct val="1497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full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60" dirty="0">
                <a:latin typeface="Cambria"/>
                <a:cs typeface="Cambria"/>
              </a:rPr>
              <a:t> 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object,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including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all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associated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contexts,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known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 </a:t>
            </a:r>
            <a:r>
              <a:rPr sz="1650" spc="120" dirty="0">
                <a:latin typeface="Cambria"/>
                <a:cs typeface="Cambria"/>
              </a:rPr>
              <a:t>compound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name.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330835" indent="-283845">
              <a:lnSpc>
                <a:spcPct val="1503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first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component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compound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gives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context,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which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second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component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accessed.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This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process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continues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until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last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component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compound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has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been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reached.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0" dirty="0"/>
              <a:t> </a:t>
            </a:r>
            <a:r>
              <a:rPr spc="105" dirty="0"/>
              <a:t>Naming</a:t>
            </a:r>
            <a:r>
              <a:rPr spc="85" dirty="0"/>
              <a:t> </a:t>
            </a:r>
            <a:r>
              <a:rPr spc="155" dirty="0"/>
              <a:t>Context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9670415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Naming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contexts</a:t>
            </a:r>
            <a:r>
              <a:rPr sz="1650" spc="409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and</a:t>
            </a:r>
            <a:r>
              <a:rPr sz="1650" spc="42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name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bindings</a:t>
            </a:r>
            <a:r>
              <a:rPr sz="1650" spc="42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are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created</a:t>
            </a:r>
            <a:r>
              <a:rPr sz="1650" spc="40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409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methods</a:t>
            </a:r>
            <a:r>
              <a:rPr sz="1650" spc="3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provided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4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40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Naming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Name: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syntax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follows:</a:t>
            </a:r>
            <a:endParaRPr sz="1650">
              <a:latin typeface="Cambria"/>
              <a:cs typeface="Cambria"/>
            </a:endParaRPr>
          </a:p>
          <a:p>
            <a:pPr marL="455930">
              <a:lnSpc>
                <a:spcPct val="100000"/>
              </a:lnSpc>
              <a:spcBef>
                <a:spcPts val="1070"/>
              </a:spcBef>
            </a:pPr>
            <a:r>
              <a:rPr sz="1650" spc="114" dirty="0">
                <a:latin typeface="Cambria"/>
                <a:cs typeface="Cambria"/>
              </a:rPr>
              <a:t>&lt;naming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context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&gt;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…&lt;naming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context&gt;&lt;object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name&gt;</a:t>
            </a:r>
            <a:endParaRPr sz="1650">
              <a:latin typeface="Cambria"/>
              <a:cs typeface="Cambria"/>
            </a:endParaRPr>
          </a:p>
          <a:p>
            <a:pPr marL="455930">
              <a:lnSpc>
                <a:spcPct val="100000"/>
              </a:lnSpc>
              <a:spcBef>
                <a:spcPts val="1080"/>
              </a:spcBef>
            </a:pPr>
            <a:r>
              <a:rPr sz="1650" spc="65" dirty="0">
                <a:latin typeface="Cambria"/>
                <a:cs typeface="Cambria"/>
              </a:rPr>
              <a:t>where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sequence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contexts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leads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name.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18" y="1098274"/>
            <a:ext cx="573278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0" dirty="0"/>
              <a:t>Example</a:t>
            </a:r>
            <a:r>
              <a:rPr spc="100" dirty="0"/>
              <a:t> </a:t>
            </a:r>
            <a:r>
              <a:rPr spc="105" dirty="0"/>
              <a:t>of</a:t>
            </a:r>
            <a:r>
              <a:rPr spc="100" dirty="0"/>
              <a:t> </a:t>
            </a:r>
            <a:r>
              <a:rPr spc="140" dirty="0"/>
              <a:t>a</a:t>
            </a:r>
            <a:r>
              <a:rPr spc="100" dirty="0"/>
              <a:t> </a:t>
            </a:r>
            <a:r>
              <a:rPr spc="114" dirty="0"/>
              <a:t>naming</a:t>
            </a:r>
            <a:r>
              <a:rPr spc="100" dirty="0"/>
              <a:t> </a:t>
            </a:r>
            <a:r>
              <a:rPr spc="50" dirty="0"/>
              <a:t>hierarchy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62885"/>
            <a:ext cx="5047615" cy="3806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170815" indent="-283845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As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shown,</a:t>
            </a:r>
            <a:r>
              <a:rPr sz="1650" spc="160" dirty="0">
                <a:latin typeface="Cambria"/>
                <a:cs typeface="Cambria"/>
              </a:rPr>
              <a:t> an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representing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men’s </a:t>
            </a:r>
            <a:r>
              <a:rPr sz="1650" spc="85" dirty="0">
                <a:latin typeface="Cambria"/>
                <a:cs typeface="Cambria"/>
              </a:rPr>
              <a:t>clothing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department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named </a:t>
            </a:r>
            <a:r>
              <a:rPr sz="1650" spc="100" dirty="0">
                <a:latin typeface="Cambria"/>
                <a:cs typeface="Cambria"/>
              </a:rPr>
              <a:t>store.clothing.men,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where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store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clothing </a:t>
            </a:r>
            <a:r>
              <a:rPr sz="1650" spc="80" dirty="0">
                <a:latin typeface="Cambria"/>
                <a:cs typeface="Cambria"/>
              </a:rPr>
              <a:t>are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contexts,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men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object </a:t>
            </a:r>
            <a:r>
              <a:rPr sz="1650" spc="140" dirty="0">
                <a:latin typeface="Cambria"/>
                <a:cs typeface="Cambria"/>
              </a:rPr>
              <a:t>name.</a:t>
            </a: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500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b="1" spc="60" dirty="0">
                <a:latin typeface="Cambria"/>
                <a:cs typeface="Cambria"/>
              </a:rPr>
              <a:t>Interoperable</a:t>
            </a:r>
            <a:r>
              <a:rPr sz="1650" b="1" spc="204" dirty="0">
                <a:latin typeface="Cambria"/>
                <a:cs typeface="Cambria"/>
              </a:rPr>
              <a:t> </a:t>
            </a:r>
            <a:r>
              <a:rPr sz="1650" b="1" spc="105" dirty="0">
                <a:latin typeface="Cambria"/>
                <a:cs typeface="Cambria"/>
              </a:rPr>
              <a:t>Naming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Service</a:t>
            </a:r>
            <a:r>
              <a:rPr sz="1650" b="1" spc="225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(INS)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 </a:t>
            </a:r>
            <a:r>
              <a:rPr sz="1650" spc="140" dirty="0">
                <a:latin typeface="Cambria"/>
                <a:cs typeface="Cambria"/>
              </a:rPr>
              <a:t>URL-</a:t>
            </a:r>
            <a:r>
              <a:rPr sz="1650" spc="114" dirty="0">
                <a:latin typeface="Cambria"/>
                <a:cs typeface="Cambria"/>
              </a:rPr>
              <a:t>based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system</a:t>
            </a:r>
            <a:r>
              <a:rPr sz="1650" spc="114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based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Service,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it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allows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applications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share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common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initial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context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and </a:t>
            </a:r>
            <a:r>
              <a:rPr sz="1650" spc="55" dirty="0">
                <a:latin typeface="Cambria"/>
                <a:cs typeface="Cambria"/>
              </a:rPr>
              <a:t>provide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URL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access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7392" y="3314985"/>
            <a:ext cx="2077720" cy="2682875"/>
            <a:chOff x="5807392" y="3314985"/>
            <a:chExt cx="2077720" cy="2682875"/>
          </a:xfrm>
        </p:grpSpPr>
        <p:sp>
          <p:nvSpPr>
            <p:cNvPr id="5" name="object 5"/>
            <p:cNvSpPr/>
            <p:nvPr/>
          </p:nvSpPr>
          <p:spPr>
            <a:xfrm>
              <a:off x="5959792" y="3484340"/>
              <a:ext cx="947419" cy="2188210"/>
            </a:xfrm>
            <a:custGeom>
              <a:avLst/>
              <a:gdLst/>
              <a:ahLst/>
              <a:cxnLst/>
              <a:rect l="l" t="t" r="r" b="b"/>
              <a:pathLst>
                <a:path w="947420" h="2188210">
                  <a:moveTo>
                    <a:pt x="0" y="2188083"/>
                  </a:moveTo>
                  <a:lnTo>
                    <a:pt x="946975" y="0"/>
                  </a:lnTo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94087" y="3321653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98297" y="325469"/>
                  </a:moveTo>
                  <a:lnTo>
                    <a:pt x="40242" y="294065"/>
                  </a:lnTo>
                  <a:lnTo>
                    <a:pt x="18964" y="258830"/>
                  </a:lnTo>
                  <a:lnTo>
                    <a:pt x="5010" y="214144"/>
                  </a:lnTo>
                  <a:lnTo>
                    <a:pt x="0" y="162686"/>
                  </a:lnTo>
                  <a:lnTo>
                    <a:pt x="5056" y="111276"/>
                  </a:lnTo>
                  <a:lnTo>
                    <a:pt x="19033" y="66618"/>
                  </a:lnTo>
                  <a:lnTo>
                    <a:pt x="40311" y="31397"/>
                  </a:lnTo>
                  <a:lnTo>
                    <a:pt x="67272" y="8296"/>
                  </a:lnTo>
                  <a:lnTo>
                    <a:pt x="98297" y="0"/>
                  </a:lnTo>
                  <a:lnTo>
                    <a:pt x="129369" y="8297"/>
                  </a:lnTo>
                  <a:lnTo>
                    <a:pt x="156353" y="31403"/>
                  </a:lnTo>
                  <a:lnTo>
                    <a:pt x="177631" y="66639"/>
                  </a:lnTo>
                  <a:lnTo>
                    <a:pt x="191585" y="111325"/>
                  </a:lnTo>
                  <a:lnTo>
                    <a:pt x="196595" y="162782"/>
                  </a:lnTo>
                  <a:lnTo>
                    <a:pt x="191539" y="214192"/>
                  </a:lnTo>
                  <a:lnTo>
                    <a:pt x="177562" y="258850"/>
                  </a:lnTo>
                  <a:lnTo>
                    <a:pt x="156284" y="294071"/>
                  </a:lnTo>
                  <a:lnTo>
                    <a:pt x="129323" y="317172"/>
                  </a:lnTo>
                  <a:lnTo>
                    <a:pt x="98297" y="3254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4087" y="3321653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196595" y="162782"/>
                  </a:moveTo>
                  <a:lnTo>
                    <a:pt x="191585" y="111325"/>
                  </a:lnTo>
                  <a:lnTo>
                    <a:pt x="177631" y="66639"/>
                  </a:lnTo>
                  <a:lnTo>
                    <a:pt x="156353" y="31403"/>
                  </a:lnTo>
                  <a:lnTo>
                    <a:pt x="98297" y="0"/>
                  </a:lnTo>
                  <a:lnTo>
                    <a:pt x="67272" y="8296"/>
                  </a:lnTo>
                  <a:lnTo>
                    <a:pt x="40311" y="31397"/>
                  </a:lnTo>
                  <a:lnTo>
                    <a:pt x="19033" y="66618"/>
                  </a:lnTo>
                  <a:lnTo>
                    <a:pt x="5056" y="111276"/>
                  </a:lnTo>
                  <a:lnTo>
                    <a:pt x="0" y="162686"/>
                  </a:lnTo>
                  <a:lnTo>
                    <a:pt x="5010" y="214144"/>
                  </a:lnTo>
                  <a:lnTo>
                    <a:pt x="18964" y="258830"/>
                  </a:lnTo>
                  <a:lnTo>
                    <a:pt x="40242" y="294065"/>
                  </a:lnTo>
                  <a:lnTo>
                    <a:pt x="67226" y="317171"/>
                  </a:lnTo>
                  <a:lnTo>
                    <a:pt x="98297" y="325469"/>
                  </a:lnTo>
                  <a:lnTo>
                    <a:pt x="129323" y="317172"/>
                  </a:lnTo>
                  <a:lnTo>
                    <a:pt x="156284" y="294071"/>
                  </a:lnTo>
                  <a:lnTo>
                    <a:pt x="177562" y="258850"/>
                  </a:lnTo>
                  <a:lnTo>
                    <a:pt x="191539" y="214192"/>
                  </a:lnTo>
                  <a:lnTo>
                    <a:pt x="196595" y="162782"/>
                  </a:lnTo>
                  <a:close/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56984" y="4406645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98297" y="325469"/>
                  </a:moveTo>
                  <a:lnTo>
                    <a:pt x="40242" y="294065"/>
                  </a:lnTo>
                  <a:lnTo>
                    <a:pt x="18964" y="258830"/>
                  </a:lnTo>
                  <a:lnTo>
                    <a:pt x="5010" y="214144"/>
                  </a:lnTo>
                  <a:lnTo>
                    <a:pt x="0" y="162686"/>
                  </a:lnTo>
                  <a:lnTo>
                    <a:pt x="5056" y="111276"/>
                  </a:lnTo>
                  <a:lnTo>
                    <a:pt x="19033" y="66618"/>
                  </a:lnTo>
                  <a:lnTo>
                    <a:pt x="40311" y="31397"/>
                  </a:lnTo>
                  <a:lnTo>
                    <a:pt x="67272" y="8296"/>
                  </a:lnTo>
                  <a:lnTo>
                    <a:pt x="98297" y="0"/>
                  </a:lnTo>
                  <a:lnTo>
                    <a:pt x="129369" y="8297"/>
                  </a:lnTo>
                  <a:lnTo>
                    <a:pt x="156353" y="31403"/>
                  </a:lnTo>
                  <a:lnTo>
                    <a:pt x="177631" y="66639"/>
                  </a:lnTo>
                  <a:lnTo>
                    <a:pt x="191585" y="111325"/>
                  </a:lnTo>
                  <a:lnTo>
                    <a:pt x="196595" y="162782"/>
                  </a:lnTo>
                  <a:lnTo>
                    <a:pt x="191539" y="214192"/>
                  </a:lnTo>
                  <a:lnTo>
                    <a:pt x="177562" y="258850"/>
                  </a:lnTo>
                  <a:lnTo>
                    <a:pt x="156284" y="294071"/>
                  </a:lnTo>
                  <a:lnTo>
                    <a:pt x="129323" y="317172"/>
                  </a:lnTo>
                  <a:lnTo>
                    <a:pt x="98297" y="3254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56984" y="4406645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196595" y="162782"/>
                  </a:moveTo>
                  <a:lnTo>
                    <a:pt x="191585" y="111325"/>
                  </a:lnTo>
                  <a:lnTo>
                    <a:pt x="177631" y="66639"/>
                  </a:lnTo>
                  <a:lnTo>
                    <a:pt x="156353" y="31403"/>
                  </a:lnTo>
                  <a:lnTo>
                    <a:pt x="98297" y="0"/>
                  </a:lnTo>
                  <a:lnTo>
                    <a:pt x="67272" y="8296"/>
                  </a:lnTo>
                  <a:lnTo>
                    <a:pt x="40311" y="31397"/>
                  </a:lnTo>
                  <a:lnTo>
                    <a:pt x="19033" y="66618"/>
                  </a:lnTo>
                  <a:lnTo>
                    <a:pt x="5056" y="111276"/>
                  </a:lnTo>
                  <a:lnTo>
                    <a:pt x="0" y="162686"/>
                  </a:lnTo>
                  <a:lnTo>
                    <a:pt x="5010" y="214144"/>
                  </a:lnTo>
                  <a:lnTo>
                    <a:pt x="18964" y="258830"/>
                  </a:lnTo>
                  <a:lnTo>
                    <a:pt x="40242" y="294065"/>
                  </a:lnTo>
                  <a:lnTo>
                    <a:pt x="67226" y="317171"/>
                  </a:lnTo>
                  <a:lnTo>
                    <a:pt x="98297" y="325469"/>
                  </a:lnTo>
                  <a:lnTo>
                    <a:pt x="129323" y="317172"/>
                  </a:lnTo>
                  <a:lnTo>
                    <a:pt x="156284" y="294071"/>
                  </a:lnTo>
                  <a:lnTo>
                    <a:pt x="177562" y="258850"/>
                  </a:lnTo>
                  <a:lnTo>
                    <a:pt x="191539" y="214192"/>
                  </a:lnTo>
                  <a:lnTo>
                    <a:pt x="196595" y="162782"/>
                  </a:lnTo>
                  <a:close/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4059" y="5665183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98297" y="325469"/>
                  </a:moveTo>
                  <a:lnTo>
                    <a:pt x="40242" y="294065"/>
                  </a:lnTo>
                  <a:lnTo>
                    <a:pt x="18964" y="258830"/>
                  </a:lnTo>
                  <a:lnTo>
                    <a:pt x="5010" y="214144"/>
                  </a:lnTo>
                  <a:lnTo>
                    <a:pt x="0" y="162686"/>
                  </a:lnTo>
                  <a:lnTo>
                    <a:pt x="5056" y="111276"/>
                  </a:lnTo>
                  <a:lnTo>
                    <a:pt x="19033" y="66618"/>
                  </a:lnTo>
                  <a:lnTo>
                    <a:pt x="40311" y="31397"/>
                  </a:lnTo>
                  <a:lnTo>
                    <a:pt x="67272" y="8296"/>
                  </a:lnTo>
                  <a:lnTo>
                    <a:pt x="98297" y="0"/>
                  </a:lnTo>
                  <a:lnTo>
                    <a:pt x="129369" y="8297"/>
                  </a:lnTo>
                  <a:lnTo>
                    <a:pt x="156353" y="31403"/>
                  </a:lnTo>
                  <a:lnTo>
                    <a:pt x="177631" y="66639"/>
                  </a:lnTo>
                  <a:lnTo>
                    <a:pt x="191585" y="111325"/>
                  </a:lnTo>
                  <a:lnTo>
                    <a:pt x="196595" y="162782"/>
                  </a:lnTo>
                  <a:lnTo>
                    <a:pt x="191539" y="214192"/>
                  </a:lnTo>
                  <a:lnTo>
                    <a:pt x="177562" y="258850"/>
                  </a:lnTo>
                  <a:lnTo>
                    <a:pt x="156284" y="294071"/>
                  </a:lnTo>
                  <a:lnTo>
                    <a:pt x="129323" y="317172"/>
                  </a:lnTo>
                  <a:lnTo>
                    <a:pt x="98297" y="325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4059" y="5665183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196595" y="162782"/>
                  </a:moveTo>
                  <a:lnTo>
                    <a:pt x="191585" y="111325"/>
                  </a:lnTo>
                  <a:lnTo>
                    <a:pt x="177631" y="66639"/>
                  </a:lnTo>
                  <a:lnTo>
                    <a:pt x="156353" y="31403"/>
                  </a:lnTo>
                  <a:lnTo>
                    <a:pt x="98297" y="0"/>
                  </a:lnTo>
                  <a:lnTo>
                    <a:pt x="67272" y="8296"/>
                  </a:lnTo>
                  <a:lnTo>
                    <a:pt x="40311" y="31397"/>
                  </a:lnTo>
                  <a:lnTo>
                    <a:pt x="19033" y="66618"/>
                  </a:lnTo>
                  <a:lnTo>
                    <a:pt x="5056" y="111276"/>
                  </a:lnTo>
                  <a:lnTo>
                    <a:pt x="0" y="162686"/>
                  </a:lnTo>
                  <a:lnTo>
                    <a:pt x="5010" y="214144"/>
                  </a:lnTo>
                  <a:lnTo>
                    <a:pt x="18964" y="258830"/>
                  </a:lnTo>
                  <a:lnTo>
                    <a:pt x="40242" y="294065"/>
                  </a:lnTo>
                  <a:lnTo>
                    <a:pt x="67226" y="317171"/>
                  </a:lnTo>
                  <a:lnTo>
                    <a:pt x="98297" y="325469"/>
                  </a:lnTo>
                  <a:lnTo>
                    <a:pt x="129323" y="317172"/>
                  </a:lnTo>
                  <a:lnTo>
                    <a:pt x="156284" y="294071"/>
                  </a:lnTo>
                  <a:lnTo>
                    <a:pt x="177562" y="258850"/>
                  </a:lnTo>
                  <a:lnTo>
                    <a:pt x="191539" y="214192"/>
                  </a:lnTo>
                  <a:lnTo>
                    <a:pt x="196595" y="162782"/>
                  </a:lnTo>
                  <a:close/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81436" y="4406645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98297" y="325469"/>
                  </a:moveTo>
                  <a:lnTo>
                    <a:pt x="40242" y="294065"/>
                  </a:lnTo>
                  <a:lnTo>
                    <a:pt x="18964" y="258830"/>
                  </a:lnTo>
                  <a:lnTo>
                    <a:pt x="5010" y="214144"/>
                  </a:lnTo>
                  <a:lnTo>
                    <a:pt x="0" y="162686"/>
                  </a:lnTo>
                  <a:lnTo>
                    <a:pt x="5056" y="111276"/>
                  </a:lnTo>
                  <a:lnTo>
                    <a:pt x="19033" y="66618"/>
                  </a:lnTo>
                  <a:lnTo>
                    <a:pt x="40311" y="31397"/>
                  </a:lnTo>
                  <a:lnTo>
                    <a:pt x="67272" y="8296"/>
                  </a:lnTo>
                  <a:lnTo>
                    <a:pt x="98297" y="0"/>
                  </a:lnTo>
                  <a:lnTo>
                    <a:pt x="129369" y="8297"/>
                  </a:lnTo>
                  <a:lnTo>
                    <a:pt x="156353" y="31403"/>
                  </a:lnTo>
                  <a:lnTo>
                    <a:pt x="177631" y="66639"/>
                  </a:lnTo>
                  <a:lnTo>
                    <a:pt x="191585" y="111325"/>
                  </a:lnTo>
                  <a:lnTo>
                    <a:pt x="196595" y="162782"/>
                  </a:lnTo>
                  <a:lnTo>
                    <a:pt x="191539" y="214192"/>
                  </a:lnTo>
                  <a:lnTo>
                    <a:pt x="177562" y="258850"/>
                  </a:lnTo>
                  <a:lnTo>
                    <a:pt x="156284" y="294071"/>
                  </a:lnTo>
                  <a:lnTo>
                    <a:pt x="129323" y="317172"/>
                  </a:lnTo>
                  <a:lnTo>
                    <a:pt x="98297" y="3254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81436" y="4406645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196595" y="162782"/>
                  </a:moveTo>
                  <a:lnTo>
                    <a:pt x="191585" y="111325"/>
                  </a:lnTo>
                  <a:lnTo>
                    <a:pt x="177631" y="66639"/>
                  </a:lnTo>
                  <a:lnTo>
                    <a:pt x="156353" y="31403"/>
                  </a:lnTo>
                  <a:lnTo>
                    <a:pt x="98297" y="0"/>
                  </a:lnTo>
                  <a:lnTo>
                    <a:pt x="67272" y="8296"/>
                  </a:lnTo>
                  <a:lnTo>
                    <a:pt x="40311" y="31397"/>
                  </a:lnTo>
                  <a:lnTo>
                    <a:pt x="19033" y="66618"/>
                  </a:lnTo>
                  <a:lnTo>
                    <a:pt x="5056" y="111276"/>
                  </a:lnTo>
                  <a:lnTo>
                    <a:pt x="0" y="162686"/>
                  </a:lnTo>
                  <a:lnTo>
                    <a:pt x="5010" y="214144"/>
                  </a:lnTo>
                  <a:lnTo>
                    <a:pt x="18964" y="258830"/>
                  </a:lnTo>
                  <a:lnTo>
                    <a:pt x="40242" y="294065"/>
                  </a:lnTo>
                  <a:lnTo>
                    <a:pt x="67226" y="317171"/>
                  </a:lnTo>
                  <a:lnTo>
                    <a:pt x="98297" y="325469"/>
                  </a:lnTo>
                  <a:lnTo>
                    <a:pt x="129323" y="317172"/>
                  </a:lnTo>
                  <a:lnTo>
                    <a:pt x="156284" y="294071"/>
                  </a:lnTo>
                  <a:lnTo>
                    <a:pt x="177562" y="258850"/>
                  </a:lnTo>
                  <a:lnTo>
                    <a:pt x="191539" y="214192"/>
                  </a:lnTo>
                  <a:lnTo>
                    <a:pt x="196595" y="162782"/>
                  </a:lnTo>
                  <a:close/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94090" y="2802219"/>
            <a:ext cx="39878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340" dirty="0">
                <a:latin typeface="Times New Roman"/>
                <a:cs typeface="Times New Roman"/>
              </a:rPr>
              <a:t>store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3348" y="4256069"/>
            <a:ext cx="622935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390" dirty="0">
                <a:latin typeface="Times New Roman"/>
                <a:cs typeface="Times New Roman"/>
              </a:rPr>
              <a:t>clothing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49758" y="3477672"/>
            <a:ext cx="1435100" cy="2519680"/>
            <a:chOff x="6449758" y="3477672"/>
            <a:chExt cx="1435100" cy="2519680"/>
          </a:xfrm>
        </p:grpSpPr>
        <p:sp>
          <p:nvSpPr>
            <p:cNvPr id="17" name="object 17"/>
            <p:cNvSpPr/>
            <p:nvPr/>
          </p:nvSpPr>
          <p:spPr>
            <a:xfrm>
              <a:off x="6913244" y="5665184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196595" y="162782"/>
                  </a:moveTo>
                  <a:lnTo>
                    <a:pt x="191585" y="111325"/>
                  </a:lnTo>
                  <a:lnTo>
                    <a:pt x="177631" y="66639"/>
                  </a:lnTo>
                  <a:lnTo>
                    <a:pt x="156353" y="31403"/>
                  </a:lnTo>
                  <a:lnTo>
                    <a:pt x="98297" y="0"/>
                  </a:lnTo>
                  <a:lnTo>
                    <a:pt x="67272" y="8296"/>
                  </a:lnTo>
                  <a:lnTo>
                    <a:pt x="40311" y="31397"/>
                  </a:lnTo>
                  <a:lnTo>
                    <a:pt x="19033" y="66618"/>
                  </a:lnTo>
                  <a:lnTo>
                    <a:pt x="5056" y="111276"/>
                  </a:lnTo>
                  <a:lnTo>
                    <a:pt x="0" y="162686"/>
                  </a:lnTo>
                  <a:lnTo>
                    <a:pt x="5010" y="214144"/>
                  </a:lnTo>
                  <a:lnTo>
                    <a:pt x="18964" y="258830"/>
                  </a:lnTo>
                  <a:lnTo>
                    <a:pt x="40242" y="294065"/>
                  </a:lnTo>
                  <a:lnTo>
                    <a:pt x="67226" y="317171"/>
                  </a:lnTo>
                  <a:lnTo>
                    <a:pt x="98297" y="325469"/>
                  </a:lnTo>
                  <a:lnTo>
                    <a:pt x="129323" y="317172"/>
                  </a:lnTo>
                  <a:lnTo>
                    <a:pt x="156284" y="294071"/>
                  </a:lnTo>
                  <a:lnTo>
                    <a:pt x="177562" y="258850"/>
                  </a:lnTo>
                  <a:lnTo>
                    <a:pt x="191539" y="214192"/>
                  </a:lnTo>
                  <a:lnTo>
                    <a:pt x="196595" y="162782"/>
                  </a:lnTo>
                  <a:close/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56426" y="3484340"/>
              <a:ext cx="1324610" cy="2170430"/>
            </a:xfrm>
            <a:custGeom>
              <a:avLst/>
              <a:gdLst/>
              <a:ahLst/>
              <a:cxnLst/>
              <a:rect l="l" t="t" r="r" b="b"/>
              <a:pathLst>
                <a:path w="1324609" h="2170429">
                  <a:moveTo>
                    <a:pt x="0" y="1084992"/>
                  </a:moveTo>
                  <a:lnTo>
                    <a:pt x="556259" y="2169985"/>
                  </a:lnTo>
                </a:path>
                <a:path w="1324609" h="2170429">
                  <a:moveTo>
                    <a:pt x="450341" y="0"/>
                  </a:moveTo>
                  <a:lnTo>
                    <a:pt x="1275873" y="929544"/>
                  </a:lnTo>
                </a:path>
                <a:path w="1324609" h="2170429">
                  <a:moveTo>
                    <a:pt x="1324451" y="1258633"/>
                  </a:moveTo>
                  <a:lnTo>
                    <a:pt x="1324451" y="2169985"/>
                  </a:lnTo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81436" y="5665184"/>
              <a:ext cx="196850" cy="325755"/>
            </a:xfrm>
            <a:custGeom>
              <a:avLst/>
              <a:gdLst/>
              <a:ahLst/>
              <a:cxnLst/>
              <a:rect l="l" t="t" r="r" b="b"/>
              <a:pathLst>
                <a:path w="196850" h="325754">
                  <a:moveTo>
                    <a:pt x="196595" y="162782"/>
                  </a:moveTo>
                  <a:lnTo>
                    <a:pt x="191585" y="111325"/>
                  </a:lnTo>
                  <a:lnTo>
                    <a:pt x="177631" y="66639"/>
                  </a:lnTo>
                  <a:lnTo>
                    <a:pt x="156353" y="31403"/>
                  </a:lnTo>
                  <a:lnTo>
                    <a:pt x="98297" y="0"/>
                  </a:lnTo>
                  <a:lnTo>
                    <a:pt x="67272" y="8296"/>
                  </a:lnTo>
                  <a:lnTo>
                    <a:pt x="40311" y="31397"/>
                  </a:lnTo>
                  <a:lnTo>
                    <a:pt x="19033" y="66618"/>
                  </a:lnTo>
                  <a:lnTo>
                    <a:pt x="5056" y="111276"/>
                  </a:lnTo>
                  <a:lnTo>
                    <a:pt x="0" y="162686"/>
                  </a:lnTo>
                  <a:lnTo>
                    <a:pt x="5010" y="214144"/>
                  </a:lnTo>
                  <a:lnTo>
                    <a:pt x="18964" y="258830"/>
                  </a:lnTo>
                  <a:lnTo>
                    <a:pt x="40242" y="294065"/>
                  </a:lnTo>
                  <a:lnTo>
                    <a:pt x="67226" y="317171"/>
                  </a:lnTo>
                  <a:lnTo>
                    <a:pt x="98297" y="325469"/>
                  </a:lnTo>
                  <a:lnTo>
                    <a:pt x="129323" y="317172"/>
                  </a:lnTo>
                  <a:lnTo>
                    <a:pt x="156284" y="294071"/>
                  </a:lnTo>
                  <a:lnTo>
                    <a:pt x="177562" y="258850"/>
                  </a:lnTo>
                  <a:lnTo>
                    <a:pt x="191539" y="214192"/>
                  </a:lnTo>
                  <a:lnTo>
                    <a:pt x="196595" y="162782"/>
                  </a:lnTo>
                  <a:close/>
                </a:path>
              </a:pathLst>
            </a:custGeom>
            <a:ln w="1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76360" y="6057441"/>
            <a:ext cx="2684145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13155" algn="l"/>
                <a:tab pos="1979930" algn="l"/>
              </a:tabLst>
            </a:pPr>
            <a:r>
              <a:rPr sz="2350" spc="-530" dirty="0">
                <a:latin typeface="Times New Roman"/>
                <a:cs typeface="Times New Roman"/>
              </a:rPr>
              <a:t>women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50" dirty="0">
                <a:latin typeface="Times New Roman"/>
                <a:cs typeface="Times New Roman"/>
              </a:rPr>
              <a:t>men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385" dirty="0">
                <a:latin typeface="Times New Roman"/>
                <a:cs typeface="Times New Roman"/>
              </a:rPr>
              <a:t>television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91606" y="5214624"/>
            <a:ext cx="302260" cy="746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484" dirty="0">
                <a:latin typeface="Times New Roman"/>
                <a:cs typeface="Times New Roman"/>
              </a:rPr>
              <a:t>...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93655" y="3955892"/>
            <a:ext cx="1487170" cy="746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96975" algn="l"/>
              </a:tabLst>
            </a:pPr>
            <a:r>
              <a:rPr sz="2350" spc="-445" dirty="0">
                <a:latin typeface="Times New Roman"/>
                <a:cs typeface="Times New Roman"/>
              </a:rPr>
              <a:t>Appliances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4700" spc="-484" dirty="0">
                <a:latin typeface="Times New Roman"/>
                <a:cs typeface="Times New Roman"/>
              </a:rPr>
              <a:t>...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99446" y="3484340"/>
            <a:ext cx="2192020" cy="879475"/>
          </a:xfrm>
          <a:custGeom>
            <a:avLst/>
            <a:gdLst/>
            <a:ahLst/>
            <a:cxnLst/>
            <a:rect l="l" t="t" r="r" b="b"/>
            <a:pathLst>
              <a:path w="2192020" h="879475">
                <a:moveTo>
                  <a:pt x="0" y="0"/>
                </a:moveTo>
                <a:lnTo>
                  <a:pt x="2191892" y="878871"/>
                </a:lnTo>
              </a:path>
            </a:pathLst>
          </a:custGeom>
          <a:ln w="13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683996" y="1976165"/>
            <a:ext cx="3704590" cy="704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sz="14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https://aws.amazon.com/api-</a:t>
            </a:r>
            <a:r>
              <a:rPr sz="14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gateway</a:t>
            </a:r>
            <a:r>
              <a:rPr sz="1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https://aws.amazon.com/api-</a:t>
            </a:r>
            <a:r>
              <a:rPr sz="14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gateway/pricing/</a:t>
            </a:r>
            <a:r>
              <a:rPr sz="1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https://aws.amazon.com/api-</a:t>
            </a:r>
            <a:r>
              <a:rPr sz="1450" spc="-10" dirty="0">
                <a:latin typeface="Calibri"/>
                <a:cs typeface="Calibri"/>
              </a:rPr>
              <a:t>gateway/features/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18" y="990129"/>
            <a:ext cx="429260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5" dirty="0"/>
              <a:t> </a:t>
            </a:r>
            <a:r>
              <a:rPr spc="105" dirty="0"/>
              <a:t>Object</a:t>
            </a:r>
            <a:r>
              <a:rPr spc="85" dirty="0"/>
              <a:t> 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9457690" cy="312547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specify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commonly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needed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applications,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some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are: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Service: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Concurrency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Service: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05" dirty="0">
                <a:latin typeface="Cambria"/>
                <a:cs typeface="Cambria"/>
              </a:rPr>
              <a:t>Event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event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synchronization;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75" dirty="0">
                <a:latin typeface="Cambria"/>
                <a:cs typeface="Cambria"/>
              </a:rPr>
              <a:t>Logging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event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logging;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25" dirty="0">
                <a:latin typeface="Cambria"/>
                <a:cs typeface="Cambria"/>
              </a:rPr>
              <a:t>Scheduling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event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scheduling;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05" dirty="0">
                <a:latin typeface="Cambria"/>
                <a:cs typeface="Cambria"/>
              </a:rPr>
              <a:t>Security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security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management;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85" dirty="0">
                <a:latin typeface="Cambria"/>
                <a:cs typeface="Cambria"/>
              </a:rPr>
              <a:t>Trading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locating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65" dirty="0">
                <a:latin typeface="Cambria"/>
                <a:cs typeface="Cambria"/>
              </a:rPr>
              <a:t>service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type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(instead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name);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18" y="990129"/>
            <a:ext cx="429260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5" dirty="0"/>
              <a:t> </a:t>
            </a:r>
            <a:r>
              <a:rPr spc="105" dirty="0"/>
              <a:t>Object</a:t>
            </a:r>
            <a:r>
              <a:rPr spc="85" dirty="0"/>
              <a:t> 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9457690" cy="370077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specify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commonly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needed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applications,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some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are: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70" dirty="0">
                <a:latin typeface="Cambria"/>
                <a:cs typeface="Cambria"/>
              </a:rPr>
              <a:t>Time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service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time-</a:t>
            </a:r>
            <a:r>
              <a:rPr sz="1650" spc="70" dirty="0">
                <a:latin typeface="Cambria"/>
                <a:cs typeface="Cambria"/>
              </a:rPr>
              <a:t>related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events;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65" dirty="0">
                <a:latin typeface="Cambria"/>
                <a:cs typeface="Cambria"/>
              </a:rPr>
              <a:t>Notification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events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notification;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Transaction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Service: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transactional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processing.</a:t>
            </a:r>
            <a:endParaRPr sz="1650">
              <a:latin typeface="Cambria"/>
              <a:cs typeface="Cambria"/>
            </a:endParaRPr>
          </a:p>
          <a:p>
            <a:pPr marL="295910" marR="147955" indent="-283845">
              <a:lnSpc>
                <a:spcPct val="1503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70" dirty="0">
                <a:latin typeface="Cambria"/>
                <a:cs typeface="Cambria"/>
              </a:rPr>
              <a:t>Each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service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defined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standard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IDL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that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implemented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developer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 </a:t>
            </a:r>
            <a:r>
              <a:rPr sz="1650" spc="65" dirty="0">
                <a:latin typeface="Cambria"/>
                <a:cs typeface="Cambria"/>
              </a:rPr>
              <a:t>service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object,</a:t>
            </a:r>
            <a:r>
              <a:rPr sz="1650" spc="140" dirty="0">
                <a:latin typeface="Cambria"/>
                <a:cs typeface="Cambria"/>
              </a:rPr>
              <a:t> 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whose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methods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invoked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client.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650">
              <a:latin typeface="Cambria"/>
              <a:cs typeface="Cambria"/>
            </a:endParaRPr>
          </a:p>
          <a:p>
            <a:pPr marR="918210" algn="ctr">
              <a:lnSpc>
                <a:spcPct val="100000"/>
              </a:lnSpc>
            </a:pPr>
            <a:r>
              <a:rPr sz="14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A</a:t>
            </a:r>
            <a:r>
              <a:rPr sz="1450" b="1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4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First</a:t>
            </a:r>
            <a:r>
              <a:rPr sz="1450" b="1" u="sng" spc="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4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CORBA</a:t>
            </a:r>
            <a:r>
              <a:rPr sz="1450" b="1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45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Application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450">
              <a:latin typeface="Arial"/>
              <a:cs typeface="Arial"/>
            </a:endParaRPr>
          </a:p>
          <a:p>
            <a:pPr marR="978535" algn="ctr">
              <a:lnSpc>
                <a:spcPct val="100000"/>
              </a:lnSpc>
            </a:pPr>
            <a:r>
              <a:rPr sz="1950" b="1" spc="-10" dirty="0">
                <a:solidFill>
                  <a:srgbClr val="FF0000"/>
                </a:solidFill>
                <a:latin typeface="Calibri"/>
                <a:cs typeface="Calibri"/>
              </a:rPr>
              <a:t>https://docs.oracle.com/cd/F49540_01/DOC/java.815/a64683/corba3.htm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1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Object</a:t>
            </a:r>
            <a:r>
              <a:rPr spc="85" dirty="0"/>
              <a:t> </a:t>
            </a:r>
            <a:r>
              <a:rPr spc="40" dirty="0"/>
              <a:t>Adapters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203181"/>
            <a:ext cx="9481185" cy="301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66040" indent="-28384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basic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architecture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implementation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interfaces </a:t>
            </a:r>
            <a:r>
              <a:rPr sz="1650" spc="70" dirty="0">
                <a:latin typeface="Cambria"/>
                <a:cs typeface="Cambria"/>
              </a:rPr>
              <a:t>with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skeleton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interact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stub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side.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As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architecture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evolved,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software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component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addition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skeleton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was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needed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side: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adapter.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794385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adapter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simplifies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responsibilities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ORB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assisting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ORB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in delivering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request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implementation.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306705" marR="2059305" indent="-283845">
              <a:lnSpc>
                <a:spcPts val="1960"/>
              </a:lnSpc>
              <a:buFont typeface="Wingdings"/>
              <a:buChar char=""/>
              <a:tabLst>
                <a:tab pos="306705" algn="l"/>
                <a:tab pos="5728335" algn="l"/>
              </a:tabLst>
            </a:pPr>
            <a:r>
              <a:rPr sz="1650" spc="110" dirty="0">
                <a:latin typeface="Cambria"/>
                <a:cs typeface="Cambria"/>
              </a:rPr>
              <a:t>When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ORB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receives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client’s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request,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it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locates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adapter </a:t>
            </a:r>
            <a:r>
              <a:rPr sz="1650" spc="100" dirty="0">
                <a:latin typeface="Cambria"/>
                <a:cs typeface="Cambria"/>
              </a:rPr>
              <a:t>associated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forwards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request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adapter.</a:t>
            </a:r>
            <a:endParaRPr sz="165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89203" y="4082524"/>
          <a:ext cx="1899920" cy="224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39494">
                <a:tc>
                  <a:txBody>
                    <a:bodyPr/>
                    <a:lstStyle/>
                    <a:p>
                      <a:pPr marL="147955" marR="69215" indent="-73660">
                        <a:lnSpc>
                          <a:spcPct val="103600"/>
                        </a:lnSpc>
                        <a:spcBef>
                          <a:spcPts val="1595"/>
                        </a:spcBef>
                      </a:pPr>
                      <a:r>
                        <a:rPr sz="1950" b="1" spc="-55" dirty="0"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sz="195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75" dirty="0"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950" b="1" spc="-65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adapter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60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ORB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49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Object</a:t>
            </a:r>
            <a:r>
              <a:rPr spc="85" dirty="0"/>
              <a:t> </a:t>
            </a:r>
            <a:r>
              <a:rPr spc="40" dirty="0"/>
              <a:t>Adapters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2442453"/>
            <a:ext cx="9079230" cy="157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adapter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interacts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implementation’s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skeleton,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performs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data </a:t>
            </a:r>
            <a:r>
              <a:rPr sz="1650" spc="105" dirty="0">
                <a:latin typeface="Cambria"/>
                <a:cs typeface="Cambria"/>
              </a:rPr>
              <a:t>marshalling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and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invoke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appropriate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method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0" dirty="0">
                <a:latin typeface="Cambria"/>
                <a:cs typeface="Cambria"/>
              </a:rPr>
              <a:t>There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are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different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types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adapters.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b="1" spc="60" dirty="0">
                <a:latin typeface="Cambria"/>
                <a:cs typeface="Cambria"/>
              </a:rPr>
              <a:t>Portable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b="1" spc="105" dirty="0">
                <a:latin typeface="Cambria"/>
                <a:cs typeface="Cambria"/>
              </a:rPr>
              <a:t>Object</a:t>
            </a:r>
            <a:r>
              <a:rPr sz="1650" b="1" spc="195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Adapter,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or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b="1" spc="130" dirty="0">
                <a:latin typeface="Cambria"/>
                <a:cs typeface="Cambria"/>
              </a:rPr>
              <a:t>POA</a:t>
            </a:r>
            <a:r>
              <a:rPr sz="1650" spc="130" dirty="0">
                <a:latin typeface="Cambria"/>
                <a:cs typeface="Cambria"/>
              </a:rPr>
              <a:t>,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95" dirty="0">
                <a:latin typeface="Cambria"/>
                <a:cs typeface="Cambria"/>
              </a:rPr>
              <a:t>particular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type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adapter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925" y="4003058"/>
            <a:ext cx="44507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110" dirty="0">
                <a:latin typeface="Cambria"/>
                <a:cs typeface="Cambria"/>
              </a:rPr>
              <a:t>that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defined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specification.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" y="4527299"/>
            <a:ext cx="7179945" cy="5372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278765" marR="5080" indent="-266700">
              <a:lnSpc>
                <a:spcPct val="103000"/>
              </a:lnSpc>
              <a:spcBef>
                <a:spcPts val="45"/>
              </a:spcBef>
              <a:buFont typeface="Wingdings"/>
              <a:buChar char=""/>
              <a:tabLst>
                <a:tab pos="278765" algn="l"/>
                <a:tab pos="295275" algn="l"/>
              </a:tabLst>
            </a:pPr>
            <a:r>
              <a:rPr sz="1650" dirty="0">
                <a:latin typeface="Cambria"/>
                <a:cs typeface="Cambria"/>
              </a:rPr>
              <a:t>	</a:t>
            </a:r>
            <a:r>
              <a:rPr sz="1650" spc="125" dirty="0">
                <a:latin typeface="Cambria"/>
                <a:cs typeface="Cambria"/>
              </a:rPr>
              <a:t>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adapter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that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0" dirty="0">
                <a:latin typeface="Cambria"/>
                <a:cs typeface="Cambria"/>
              </a:rPr>
              <a:t> 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POA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allows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implementation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25" dirty="0">
                <a:latin typeface="Cambria"/>
                <a:cs typeface="Cambria"/>
              </a:rPr>
              <a:t>to </a:t>
            </a:r>
            <a:r>
              <a:rPr sz="1650" spc="100" dirty="0">
                <a:latin typeface="Cambria"/>
                <a:cs typeface="Cambria"/>
              </a:rPr>
              <a:t>function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with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different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85" dirty="0">
                <a:latin typeface="Cambria"/>
                <a:cs typeface="Cambria"/>
              </a:rPr>
              <a:t>ORBs, </a:t>
            </a:r>
            <a:r>
              <a:rPr sz="1650" spc="114" dirty="0">
                <a:latin typeface="Cambria"/>
                <a:cs typeface="Cambria"/>
              </a:rPr>
              <a:t>hence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word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portable.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24609" y="4053744"/>
            <a:ext cx="2036445" cy="1103630"/>
          </a:xfrm>
          <a:custGeom>
            <a:avLst/>
            <a:gdLst/>
            <a:ahLst/>
            <a:cxnLst/>
            <a:rect l="l" t="t" r="r" b="b"/>
            <a:pathLst>
              <a:path w="2036445" h="1103629">
                <a:moveTo>
                  <a:pt x="2036350" y="0"/>
                </a:moveTo>
                <a:lnTo>
                  <a:pt x="0" y="0"/>
                </a:lnTo>
                <a:lnTo>
                  <a:pt x="0" y="1103471"/>
                </a:lnTo>
                <a:lnTo>
                  <a:pt x="2036350" y="1103471"/>
                </a:lnTo>
                <a:lnTo>
                  <a:pt x="2036350" y="0"/>
                </a:lnTo>
                <a:close/>
              </a:path>
            </a:pathLst>
          </a:custGeom>
          <a:ln w="17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24609" y="4053744"/>
            <a:ext cx="2036445" cy="1103630"/>
          </a:xfrm>
          <a:prstGeom prst="rect">
            <a:avLst/>
          </a:prstGeom>
          <a:solidFill>
            <a:srgbClr val="FFDFDF"/>
          </a:solidFill>
        </p:spPr>
        <p:txBody>
          <a:bodyPr vert="horz" wrap="square" lIns="0" tIns="217804" rIns="0" bIns="0" rtlCol="0">
            <a:spAutoFit/>
          </a:bodyPr>
          <a:lstStyle/>
          <a:p>
            <a:pPr marL="160020" marR="76200" indent="-81280">
              <a:lnSpc>
                <a:spcPct val="102899"/>
              </a:lnSpc>
              <a:spcBef>
                <a:spcPts val="1714"/>
              </a:spcBef>
            </a:pPr>
            <a:r>
              <a:rPr sz="2100" b="1" spc="-65" dirty="0">
                <a:latin typeface="Times New Roman"/>
                <a:cs typeface="Times New Roman"/>
              </a:rPr>
              <a:t>distributed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80" dirty="0">
                <a:latin typeface="Times New Roman"/>
                <a:cs typeface="Times New Roman"/>
              </a:rPr>
              <a:t>object </a:t>
            </a:r>
            <a:r>
              <a:rPr sz="2100" b="1" spc="-10" dirty="0">
                <a:latin typeface="Times New Roman"/>
                <a:cs typeface="Times New Roman"/>
              </a:rPr>
              <a:t>implementation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24609" y="5176646"/>
            <a:ext cx="2036445" cy="638810"/>
          </a:xfrm>
          <a:custGeom>
            <a:avLst/>
            <a:gdLst/>
            <a:ahLst/>
            <a:cxnLst/>
            <a:rect l="l" t="t" r="r" b="b"/>
            <a:pathLst>
              <a:path w="2036445" h="638810">
                <a:moveTo>
                  <a:pt x="2036350" y="0"/>
                </a:moveTo>
                <a:lnTo>
                  <a:pt x="0" y="0"/>
                </a:lnTo>
                <a:lnTo>
                  <a:pt x="0" y="638746"/>
                </a:lnTo>
                <a:lnTo>
                  <a:pt x="2036350" y="638746"/>
                </a:lnTo>
                <a:lnTo>
                  <a:pt x="2036350" y="0"/>
                </a:lnTo>
                <a:close/>
              </a:path>
            </a:pathLst>
          </a:custGeom>
          <a:ln w="17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33463" y="5175784"/>
            <a:ext cx="2018664" cy="640715"/>
          </a:xfrm>
          <a:prstGeom prst="rect">
            <a:avLst/>
          </a:prstGeom>
          <a:solidFill>
            <a:srgbClr val="FFDFBF"/>
          </a:solidFill>
        </p:spPr>
        <p:txBody>
          <a:bodyPr vert="horz" wrap="square" lIns="0" tIns="159385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255"/>
              </a:spcBef>
            </a:pPr>
            <a:r>
              <a:rPr sz="2100" b="1" spc="-75" dirty="0">
                <a:latin typeface="Times New Roman"/>
                <a:cs typeface="Times New Roman"/>
              </a:rPr>
              <a:t>object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adapter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15755" y="5825971"/>
            <a:ext cx="2054225" cy="637540"/>
            <a:chOff x="7915755" y="5825971"/>
            <a:chExt cx="2054225" cy="637540"/>
          </a:xfrm>
        </p:grpSpPr>
        <p:sp>
          <p:nvSpPr>
            <p:cNvPr id="11" name="object 11"/>
            <p:cNvSpPr/>
            <p:nvPr/>
          </p:nvSpPr>
          <p:spPr>
            <a:xfrm>
              <a:off x="7924609" y="5834824"/>
              <a:ext cx="2036445" cy="619760"/>
            </a:xfrm>
            <a:custGeom>
              <a:avLst/>
              <a:gdLst/>
              <a:ahLst/>
              <a:cxnLst/>
              <a:rect l="l" t="t" r="r" b="b"/>
              <a:pathLst>
                <a:path w="2036445" h="619760">
                  <a:moveTo>
                    <a:pt x="2036350" y="619505"/>
                  </a:moveTo>
                  <a:lnTo>
                    <a:pt x="0" y="619505"/>
                  </a:lnTo>
                  <a:lnTo>
                    <a:pt x="0" y="0"/>
                  </a:lnTo>
                  <a:lnTo>
                    <a:pt x="2036350" y="0"/>
                  </a:lnTo>
                  <a:lnTo>
                    <a:pt x="2036350" y="619505"/>
                  </a:lnTo>
                  <a:close/>
                </a:path>
              </a:pathLst>
            </a:custGeom>
            <a:solidFill>
              <a:srgbClr val="FFF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24609" y="5834824"/>
              <a:ext cx="2036445" cy="619760"/>
            </a:xfrm>
            <a:custGeom>
              <a:avLst/>
              <a:gdLst/>
              <a:ahLst/>
              <a:cxnLst/>
              <a:rect l="l" t="t" r="r" b="b"/>
              <a:pathLst>
                <a:path w="2036445" h="619760">
                  <a:moveTo>
                    <a:pt x="2036350" y="0"/>
                  </a:moveTo>
                  <a:lnTo>
                    <a:pt x="0" y="0"/>
                  </a:lnTo>
                  <a:lnTo>
                    <a:pt x="0" y="619505"/>
                  </a:lnTo>
                  <a:lnTo>
                    <a:pt x="2036350" y="619505"/>
                  </a:lnTo>
                  <a:lnTo>
                    <a:pt x="2036350" y="0"/>
                  </a:lnTo>
                  <a:close/>
                </a:path>
              </a:pathLst>
            </a:custGeom>
            <a:ln w="17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99676" y="5970875"/>
            <a:ext cx="56261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-90" dirty="0">
                <a:latin typeface="Times New Roman"/>
                <a:cs typeface="Times New Roman"/>
              </a:rPr>
              <a:t>ORB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Portable</a:t>
            </a:r>
            <a:r>
              <a:rPr spc="140" dirty="0"/>
              <a:t> </a:t>
            </a:r>
            <a:r>
              <a:rPr spc="105" dirty="0"/>
              <a:t>Object</a:t>
            </a:r>
            <a:r>
              <a:rPr spc="155" dirty="0"/>
              <a:t> </a:t>
            </a:r>
            <a:r>
              <a:rPr spc="40" dirty="0"/>
              <a:t>Adapters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2078205"/>
            <a:ext cx="9629140" cy="2100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Portable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Adapter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(POA)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CORBA: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Examples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&amp;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Exercises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buFont typeface="Wingdings"/>
              <a:buChar char=""/>
              <a:tabLst>
                <a:tab pos="34290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1.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What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Portable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Adapter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(POA)?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Portable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Adapter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(POA)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component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manages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implementations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request dispatching.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allows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developers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control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activation,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request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handling,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lifespan.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Portable</a:t>
            </a:r>
            <a:r>
              <a:rPr spc="140" dirty="0"/>
              <a:t> </a:t>
            </a:r>
            <a:r>
              <a:rPr spc="105" dirty="0"/>
              <a:t>Object</a:t>
            </a:r>
            <a:r>
              <a:rPr spc="155" dirty="0"/>
              <a:t> </a:t>
            </a:r>
            <a:r>
              <a:rPr spc="40" dirty="0"/>
              <a:t>Adapters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>
                <a:solidFill>
                  <a:srgbClr val="0033CC"/>
                </a:solidFill>
              </a:rPr>
              <a:t>POA</a:t>
            </a:r>
            <a:r>
              <a:rPr spc="-15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Features</a:t>
            </a:r>
            <a:r>
              <a:rPr spc="-20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&amp;</a:t>
            </a:r>
            <a:r>
              <a:rPr spc="-50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Lifecycle</a:t>
            </a: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33CC"/>
              </a:buClr>
              <a:buFont typeface="Wingdings"/>
              <a:buChar char=""/>
            </a:pPr>
            <a:endParaRPr spc="-10" dirty="0">
              <a:solidFill>
                <a:srgbClr val="0033CC"/>
              </a:solidFill>
            </a:endParaRPr>
          </a:p>
          <a:p>
            <a:pPr marL="342900" indent="-330200">
              <a:lnSpc>
                <a:spcPct val="100000"/>
              </a:lnSpc>
              <a:buFont typeface="Wingdings"/>
              <a:buChar char=""/>
              <a:tabLst>
                <a:tab pos="342900" algn="l"/>
              </a:tabLst>
            </a:pPr>
            <a:r>
              <a:rPr dirty="0">
                <a:solidFill>
                  <a:srgbClr val="0033CC"/>
                </a:solidFill>
              </a:rPr>
              <a:t>Key</a:t>
            </a:r>
            <a:r>
              <a:rPr spc="-60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Features</a:t>
            </a:r>
            <a:r>
              <a:rPr spc="-45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of</a:t>
            </a:r>
            <a:r>
              <a:rPr spc="-35" dirty="0">
                <a:solidFill>
                  <a:srgbClr val="0033CC"/>
                </a:solidFill>
              </a:rPr>
              <a:t> </a:t>
            </a:r>
            <a:r>
              <a:rPr spc="-20" dirty="0">
                <a:solidFill>
                  <a:srgbClr val="0033CC"/>
                </a:solidFill>
              </a:rPr>
              <a:t>POA:</a:t>
            </a: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33CC"/>
              </a:buClr>
              <a:buFont typeface="Wingdings"/>
              <a:buChar char=""/>
            </a:pPr>
            <a:endParaRPr spc="-20" dirty="0">
              <a:solidFill>
                <a:srgbClr val="0033CC"/>
              </a:solidFill>
            </a:endParaRPr>
          </a:p>
          <a:p>
            <a:pPr marL="1049655" lvl="1" indent="-283210">
              <a:lnSpc>
                <a:spcPct val="100000"/>
              </a:lnSpc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Persistent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transient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(controls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lifecycle).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Multi-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threading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request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processing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policies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(handles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multiple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requests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efficiently).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Activation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Policies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(implicit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vs.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explicit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activation).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-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Servant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Managers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(allows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lazy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creation).</a:t>
            </a:r>
            <a:endParaRPr sz="16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buFont typeface="Wingdings"/>
              <a:buChar char=""/>
              <a:tabLst>
                <a:tab pos="342900" algn="l"/>
              </a:tabLst>
            </a:pPr>
            <a:r>
              <a:rPr dirty="0">
                <a:solidFill>
                  <a:srgbClr val="0033CC"/>
                </a:solidFill>
              </a:rPr>
              <a:t>POA</a:t>
            </a:r>
            <a:r>
              <a:rPr spc="-5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Lifecycle</a:t>
            </a:r>
            <a:r>
              <a:rPr spc="-15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in</a:t>
            </a:r>
            <a:r>
              <a:rPr spc="-20" dirty="0">
                <a:solidFill>
                  <a:srgbClr val="0033CC"/>
                </a:solidFill>
              </a:rPr>
              <a:t> </a:t>
            </a:r>
            <a:r>
              <a:rPr spc="-10" dirty="0">
                <a:solidFill>
                  <a:srgbClr val="0033CC"/>
                </a:solidFill>
              </a:rPr>
              <a:t>CORBA:</a:t>
            </a: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33CC"/>
              </a:buClr>
              <a:buFont typeface="Wingdings"/>
              <a:buChar char=""/>
            </a:pPr>
            <a:endParaRPr spc="-10" dirty="0">
              <a:solidFill>
                <a:srgbClr val="0033CC"/>
              </a:solidFill>
            </a:endParaRPr>
          </a:p>
          <a:p>
            <a:pPr marL="1049655" lvl="1" indent="-28321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1.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Create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POA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(from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ORB).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2.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Create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servant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(implementation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object).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3.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Activate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servant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(bind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an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object</a:t>
            </a:r>
            <a:r>
              <a:rPr sz="1650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reference).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4.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Process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requests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(handle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calls).</a:t>
            </a:r>
            <a:endParaRPr sz="1650">
              <a:latin typeface="Calibri"/>
              <a:cs typeface="Calibri"/>
            </a:endParaRPr>
          </a:p>
          <a:p>
            <a:pPr marL="1049655" lvl="1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5.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Deactivate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servant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(cleanup).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Portable</a:t>
            </a:r>
            <a:r>
              <a:rPr spc="140" dirty="0"/>
              <a:t> </a:t>
            </a:r>
            <a:r>
              <a:rPr spc="105" dirty="0"/>
              <a:t>Object</a:t>
            </a:r>
            <a:r>
              <a:rPr spc="155" dirty="0"/>
              <a:t> </a:t>
            </a:r>
            <a:r>
              <a:rPr spc="40" dirty="0"/>
              <a:t>Adapters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77" y="2078205"/>
            <a:ext cx="7266940" cy="3420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Example: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Implementing</a:t>
            </a:r>
            <a:r>
              <a:rPr sz="165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POA in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Let's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implement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simple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CORBA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server-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client</a:t>
            </a:r>
            <a:r>
              <a:rPr sz="1650" spc="-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application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using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POA.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342900" indent="-330200">
              <a:lnSpc>
                <a:spcPct val="100000"/>
              </a:lnSpc>
              <a:buFont typeface="Wingdings"/>
              <a:buChar char=""/>
              <a:tabLst>
                <a:tab pos="34290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Step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1: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Define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IDL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(Interface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Definition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Language)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module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Banking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{</a:t>
            </a:r>
            <a:endParaRPr sz="1650">
              <a:latin typeface="Calibri"/>
              <a:cs typeface="Calibri"/>
            </a:endParaRPr>
          </a:p>
          <a:p>
            <a:pPr marL="484505" indent="-4718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48450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interface</a:t>
            </a:r>
            <a:r>
              <a:rPr sz="165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Account</a:t>
            </a:r>
            <a:r>
              <a:rPr sz="1650" spc="-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50" dirty="0">
                <a:solidFill>
                  <a:srgbClr val="0033CC"/>
                </a:solidFill>
                <a:latin typeface="Calibri"/>
                <a:cs typeface="Calibri"/>
              </a:rPr>
              <a:t>{</a:t>
            </a:r>
            <a:endParaRPr sz="1650">
              <a:latin typeface="Calibri"/>
              <a:cs typeface="Calibri"/>
            </a:endParaRPr>
          </a:p>
          <a:p>
            <a:pPr marL="673735" indent="-661035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673735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float</a:t>
            </a:r>
            <a:r>
              <a:rPr sz="1650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getBalance();</a:t>
            </a:r>
            <a:endParaRPr sz="1650">
              <a:latin typeface="Calibri"/>
              <a:cs typeface="Calibri"/>
            </a:endParaRPr>
          </a:p>
          <a:p>
            <a:pPr marL="484505" indent="-4718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484505" algn="l"/>
              </a:tabLst>
            </a:pP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};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};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0033CC"/>
              </a:buClr>
              <a:buFont typeface="Wingdings"/>
              <a:buChar char=""/>
            </a:pP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This</a:t>
            </a:r>
            <a:r>
              <a:rPr sz="1650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defines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`Banking::Account`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interface</a:t>
            </a:r>
            <a:r>
              <a:rPr sz="1650" spc="-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165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provides</a:t>
            </a:r>
            <a:r>
              <a:rPr sz="1650" spc="-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033CC"/>
                </a:solidFill>
                <a:latin typeface="Calibri"/>
                <a:cs typeface="Calibri"/>
              </a:rPr>
              <a:t>`getBalance()`</a:t>
            </a:r>
            <a:r>
              <a:rPr sz="165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33CC"/>
                </a:solidFill>
                <a:latin typeface="Calibri"/>
                <a:cs typeface="Calibri"/>
              </a:rPr>
              <a:t>method.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60" dirty="0"/>
              <a:t>Java</a:t>
            </a:r>
            <a:r>
              <a:rPr spc="70" dirty="0"/>
              <a:t> </a:t>
            </a:r>
            <a:r>
              <a:rPr spc="135" dirty="0"/>
              <a:t>IDL</a:t>
            </a:r>
            <a:r>
              <a:rPr spc="130" dirty="0"/>
              <a:t> </a:t>
            </a:r>
            <a:r>
              <a:rPr dirty="0"/>
              <a:t>–</a:t>
            </a:r>
            <a:r>
              <a:rPr spc="100" dirty="0"/>
              <a:t> </a:t>
            </a:r>
            <a:r>
              <a:rPr spc="204" dirty="0"/>
              <a:t>Java’s</a:t>
            </a:r>
            <a:r>
              <a:rPr spc="70" dirty="0"/>
              <a:t> </a:t>
            </a:r>
            <a:r>
              <a:rPr spc="225" dirty="0"/>
              <a:t>CORBA</a:t>
            </a:r>
            <a:r>
              <a:rPr spc="70" dirty="0"/>
              <a:t> </a:t>
            </a:r>
            <a:r>
              <a:rPr spc="110" dirty="0"/>
              <a:t>Facility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9508490" cy="404939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IDL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part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2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Platform,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Standard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Edition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(J2SE).</a:t>
            </a:r>
            <a:endParaRPr sz="1650">
              <a:latin typeface="Cambria"/>
              <a:cs typeface="Cambria"/>
            </a:endParaRPr>
          </a:p>
          <a:p>
            <a:pPr marL="295910" marR="440055" indent="-283845">
              <a:lnSpc>
                <a:spcPct val="1503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IDL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facility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includes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Request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Broker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(ORB),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IDL-</a:t>
            </a:r>
            <a:r>
              <a:rPr sz="1650" spc="60" dirty="0">
                <a:latin typeface="Cambria"/>
                <a:cs typeface="Cambria"/>
              </a:rPr>
              <a:t>to-</a:t>
            </a:r>
            <a:r>
              <a:rPr sz="1650" spc="180" dirty="0">
                <a:latin typeface="Cambria"/>
                <a:cs typeface="Cambria"/>
              </a:rPr>
              <a:t>Java </a:t>
            </a:r>
            <a:r>
              <a:rPr sz="1650" spc="85" dirty="0">
                <a:latin typeface="Cambria"/>
                <a:cs typeface="Cambria"/>
              </a:rPr>
              <a:t>compiler,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subset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standard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services.</a:t>
            </a:r>
            <a:endParaRPr sz="1650">
              <a:latin typeface="Cambria"/>
              <a:cs typeface="Cambria"/>
            </a:endParaRPr>
          </a:p>
          <a:p>
            <a:pPr marL="295910" marR="212725" indent="-28384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295910" algn="l"/>
                <a:tab pos="3250565" algn="l"/>
              </a:tabLst>
            </a:pP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addition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IDL,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number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80" dirty="0">
                <a:latin typeface="Cambria"/>
                <a:cs typeface="Cambria"/>
              </a:rPr>
              <a:t>CORBA-</a:t>
            </a:r>
            <a:r>
              <a:rPr sz="1650" spc="95" dirty="0">
                <a:latin typeface="Cambria"/>
                <a:cs typeface="Cambria"/>
              </a:rPr>
              <a:t>compliant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facilities, </a:t>
            </a:r>
            <a:r>
              <a:rPr sz="1650" spc="105" dirty="0">
                <a:latin typeface="Cambria"/>
                <a:cs typeface="Cambria"/>
              </a:rPr>
              <a:t>including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RMI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over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IIOP,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allows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application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written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RMI </a:t>
            </a:r>
            <a:r>
              <a:rPr sz="1650" spc="110" dirty="0">
                <a:latin typeface="Cambria"/>
                <a:cs typeface="Cambria"/>
              </a:rPr>
              <a:t>syntax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semantics.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u="sng" spc="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Key</a:t>
            </a:r>
            <a:r>
              <a:rPr sz="1650" u="sng" spc="1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1650" u="sng" spc="2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Java</a:t>
            </a:r>
            <a:r>
              <a:rPr sz="1650" u="sng" spc="1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1650" u="sng" spc="1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IDL</a:t>
            </a:r>
            <a:r>
              <a:rPr sz="1650" u="sng" spc="1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1650" u="sng" spc="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Packages</a:t>
            </a:r>
            <a:endParaRPr sz="1650">
              <a:latin typeface="Cambria"/>
              <a:cs typeface="Cambria"/>
            </a:endParaRPr>
          </a:p>
          <a:p>
            <a:pPr marL="295910" marR="11430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package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org.omg.CORBA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contains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interfaces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classes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mapping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of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229" dirty="0">
                <a:latin typeface="Cambria"/>
                <a:cs typeface="Cambria"/>
              </a:rPr>
              <a:t>OMG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APIs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programming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language</a:t>
            </a: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package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org.omg.CosNaming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contains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interfaces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classes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which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 </a:t>
            </a:r>
            <a:r>
              <a:rPr sz="1650" spc="65" dirty="0">
                <a:latin typeface="Cambria"/>
                <a:cs typeface="Cambria"/>
              </a:rPr>
              <a:t>service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IDL</a:t>
            </a:r>
            <a:endParaRPr sz="1650">
              <a:latin typeface="Cambria"/>
              <a:cs typeface="Cambria"/>
            </a:endParaRPr>
          </a:p>
          <a:p>
            <a:pPr marL="295910" marR="10795" indent="-283845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50" dirty="0">
                <a:latin typeface="Cambria"/>
                <a:cs typeface="Cambria"/>
              </a:rPr>
              <a:t>org.omg.CORBA.ORB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contains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interfaces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classes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APIs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Object Request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Broker.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4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60" dirty="0"/>
              <a:t>Java</a:t>
            </a:r>
            <a:r>
              <a:rPr spc="60" dirty="0"/>
              <a:t> </a:t>
            </a:r>
            <a:r>
              <a:rPr spc="135" dirty="0"/>
              <a:t>IDL</a:t>
            </a:r>
            <a:r>
              <a:rPr spc="125" dirty="0"/>
              <a:t> </a:t>
            </a:r>
            <a:r>
              <a:rPr spc="40" dirty="0"/>
              <a:t>Tools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8802370" cy="271716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IDL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95" dirty="0">
                <a:latin typeface="Cambria"/>
                <a:cs typeface="Cambria"/>
              </a:rPr>
              <a:t>set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tools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needed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developing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application: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b="1" spc="55" dirty="0">
                <a:latin typeface="Cambria"/>
                <a:cs typeface="Cambria"/>
              </a:rPr>
              <a:t>idlj</a:t>
            </a:r>
            <a:r>
              <a:rPr sz="1650" b="1" spc="15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IDL-</a:t>
            </a:r>
            <a:r>
              <a:rPr sz="1650" spc="65" dirty="0">
                <a:latin typeface="Cambria"/>
                <a:cs typeface="Cambria"/>
              </a:rPr>
              <a:t>to-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compiler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(called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idl2java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1.2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before)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b="1" dirty="0">
                <a:latin typeface="Cambria"/>
                <a:cs typeface="Cambria"/>
              </a:rPr>
              <a:t>orbd</a:t>
            </a:r>
            <a:r>
              <a:rPr sz="1650" b="1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process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other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services</a:t>
            </a:r>
            <a:endParaRPr sz="1650">
              <a:latin typeface="Cambria"/>
              <a:cs typeface="Cambria"/>
            </a:endParaRPr>
          </a:p>
          <a:p>
            <a:pPr marL="672465" marR="5080" lvl="1" indent="-283845">
              <a:lnSpc>
                <a:spcPct val="149700"/>
              </a:lnSpc>
              <a:spcBef>
                <a:spcPts val="100"/>
              </a:spcBef>
              <a:buFont typeface="Wingdings"/>
              <a:buChar char=""/>
              <a:tabLst>
                <a:tab pos="672465" algn="l"/>
                <a:tab pos="3811904" algn="l"/>
              </a:tabLst>
            </a:pPr>
            <a:r>
              <a:rPr sz="1650" b="1" spc="65" dirty="0">
                <a:latin typeface="Cambria"/>
                <a:cs typeface="Cambria"/>
              </a:rPr>
              <a:t>servertool</a:t>
            </a:r>
            <a:r>
              <a:rPr sz="1650" b="1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command-</a:t>
            </a:r>
            <a:r>
              <a:rPr sz="1650" spc="65" dirty="0">
                <a:latin typeface="Cambria"/>
                <a:cs typeface="Cambria"/>
              </a:rPr>
              <a:t>line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application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programmers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to </a:t>
            </a:r>
            <a:r>
              <a:rPr sz="1650" spc="75" dirty="0">
                <a:latin typeface="Cambria"/>
                <a:cs typeface="Cambria"/>
              </a:rPr>
              <a:t>register/unregister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object,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startup/shutdown</a:t>
            </a:r>
            <a:r>
              <a:rPr sz="1650" spc="160" dirty="0">
                <a:latin typeface="Cambria"/>
                <a:cs typeface="Cambria"/>
              </a:rPr>
              <a:t> 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server.</a:t>
            </a:r>
            <a:endParaRPr sz="1650">
              <a:latin typeface="Cambria"/>
              <a:cs typeface="Cambria"/>
            </a:endParaRPr>
          </a:p>
          <a:p>
            <a:pPr marL="672465" marR="436880" lvl="1" indent="-283845">
              <a:lnSpc>
                <a:spcPct val="149700"/>
              </a:lnSpc>
              <a:spcBef>
                <a:spcPts val="9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b="1" spc="90" dirty="0">
                <a:latin typeface="Cambria"/>
                <a:cs typeface="Cambria"/>
              </a:rPr>
              <a:t>tnameserv</a:t>
            </a:r>
            <a:r>
              <a:rPr sz="1650" b="1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olderTransient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IDL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whose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use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40" dirty="0">
                <a:latin typeface="Cambria"/>
                <a:cs typeface="Cambria"/>
              </a:rPr>
              <a:t>now </a:t>
            </a:r>
            <a:r>
              <a:rPr sz="1650" spc="90" dirty="0">
                <a:latin typeface="Cambria"/>
                <a:cs typeface="Cambria"/>
              </a:rPr>
              <a:t>discouraged.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10" dirty="0"/>
              <a:t>A</a:t>
            </a:r>
            <a:r>
              <a:rPr spc="100" dirty="0"/>
              <a:t> </a:t>
            </a:r>
            <a:r>
              <a:rPr spc="260" dirty="0"/>
              <a:t>Java</a:t>
            </a:r>
            <a:r>
              <a:rPr spc="105" dirty="0"/>
              <a:t> </a:t>
            </a:r>
            <a:r>
              <a:rPr spc="135" dirty="0"/>
              <a:t>IDL</a:t>
            </a:r>
            <a:r>
              <a:rPr spc="100" dirty="0"/>
              <a:t> </a:t>
            </a:r>
            <a:r>
              <a:rPr spc="70" dirty="0"/>
              <a:t>Application</a:t>
            </a:r>
            <a:r>
              <a:rPr spc="75" dirty="0"/>
              <a:t> </a:t>
            </a:r>
            <a:r>
              <a:rPr spc="6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013" y="2264180"/>
            <a:ext cx="9238615" cy="2882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110" dirty="0">
                <a:latin typeface="Cambria"/>
                <a:cs typeface="Cambria"/>
              </a:rPr>
              <a:t>Compiling</a:t>
            </a:r>
            <a:r>
              <a:rPr sz="1650" b="1" spc="165" dirty="0">
                <a:latin typeface="Cambria"/>
                <a:cs typeface="Cambria"/>
              </a:rPr>
              <a:t> </a:t>
            </a:r>
            <a:r>
              <a:rPr sz="1650" b="1" spc="120" dirty="0">
                <a:latin typeface="Cambria"/>
                <a:cs typeface="Cambria"/>
              </a:rPr>
              <a:t>the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b="1" spc="120" dirty="0">
                <a:latin typeface="Cambria"/>
                <a:cs typeface="Cambria"/>
              </a:rPr>
              <a:t>IDL</a:t>
            </a:r>
            <a:r>
              <a:rPr sz="1650" b="1" spc="175" dirty="0">
                <a:latin typeface="Cambria"/>
                <a:cs typeface="Cambria"/>
              </a:rPr>
              <a:t> </a:t>
            </a:r>
            <a:r>
              <a:rPr sz="1650" b="1" spc="70" dirty="0">
                <a:latin typeface="Cambria"/>
                <a:cs typeface="Cambria"/>
              </a:rPr>
              <a:t>file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b="1" spc="55" dirty="0">
                <a:latin typeface="Cambria"/>
                <a:cs typeface="Cambria"/>
              </a:rPr>
              <a:t>(using</a:t>
            </a:r>
            <a:r>
              <a:rPr sz="1650" b="1" spc="165" dirty="0">
                <a:latin typeface="Cambria"/>
                <a:cs typeface="Cambria"/>
              </a:rPr>
              <a:t> </a:t>
            </a:r>
            <a:r>
              <a:rPr sz="1650" b="1" spc="95" dirty="0">
                <a:latin typeface="Cambria"/>
                <a:cs typeface="Cambria"/>
              </a:rPr>
              <a:t>Java)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IDL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should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placed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dedicated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application.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compiled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compiler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idlj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command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40" dirty="0">
                <a:latin typeface="Cambria"/>
                <a:cs typeface="Cambria"/>
              </a:rPr>
              <a:t>follows:</a:t>
            </a:r>
            <a:endParaRPr sz="1650">
              <a:latin typeface="Cambria"/>
              <a:cs typeface="Cambria"/>
            </a:endParaRPr>
          </a:p>
          <a:p>
            <a:pPr marL="1510665">
              <a:lnSpc>
                <a:spcPct val="100000"/>
              </a:lnSpc>
              <a:spcBef>
                <a:spcPts val="95"/>
              </a:spcBef>
            </a:pPr>
            <a:r>
              <a:rPr sz="1650" b="1" i="1" spc="120" dirty="0">
                <a:latin typeface="Cambria"/>
                <a:cs typeface="Cambria"/>
              </a:rPr>
              <a:t>idlj</a:t>
            </a:r>
            <a:r>
              <a:rPr sz="1650" b="1" i="1" spc="195" dirty="0">
                <a:latin typeface="Cambria"/>
                <a:cs typeface="Cambria"/>
              </a:rPr>
              <a:t> </a:t>
            </a:r>
            <a:r>
              <a:rPr sz="1650" b="1" i="1" spc="-70" dirty="0">
                <a:latin typeface="Cambria"/>
                <a:cs typeface="Cambria"/>
              </a:rPr>
              <a:t>-</a:t>
            </a:r>
            <a:r>
              <a:rPr sz="1650" b="1" i="1" spc="150" dirty="0">
                <a:latin typeface="Cambria"/>
                <a:cs typeface="Cambria"/>
              </a:rPr>
              <a:t>fall</a:t>
            </a:r>
            <a:r>
              <a:rPr sz="1650" b="1" i="1" spc="210" dirty="0">
                <a:latin typeface="Cambria"/>
                <a:cs typeface="Cambria"/>
              </a:rPr>
              <a:t> </a:t>
            </a:r>
            <a:r>
              <a:rPr sz="1650" b="1" i="1" spc="125" dirty="0">
                <a:latin typeface="Cambria"/>
                <a:cs typeface="Cambria"/>
              </a:rPr>
              <a:t>Hello.idl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–fall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command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option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necessary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compiler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generate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all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files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needed.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170180" indent="-283845">
              <a:lnSpc>
                <a:spcPts val="196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general,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files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found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subdirectory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&lt;some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name&gt;App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when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an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&lt;some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name&gt;.idl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compiled.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10" dirty="0"/>
              <a:t>A</a:t>
            </a:r>
            <a:r>
              <a:rPr spc="100" dirty="0"/>
              <a:t> </a:t>
            </a:r>
            <a:r>
              <a:rPr spc="260" dirty="0"/>
              <a:t>Java</a:t>
            </a:r>
            <a:r>
              <a:rPr spc="105" dirty="0"/>
              <a:t> </a:t>
            </a:r>
            <a:r>
              <a:rPr spc="135" dirty="0"/>
              <a:t>IDL</a:t>
            </a:r>
            <a:r>
              <a:rPr spc="100" dirty="0"/>
              <a:t> </a:t>
            </a:r>
            <a:r>
              <a:rPr spc="70" dirty="0"/>
              <a:t>Application</a:t>
            </a:r>
            <a:r>
              <a:rPr spc="75" dirty="0"/>
              <a:t> </a:t>
            </a:r>
            <a:r>
              <a:rPr spc="60" dirty="0"/>
              <a:t>example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5204" y="3118076"/>
            <a:ext cx="3766820" cy="8159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65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Hello.idl</a:t>
            </a:r>
            <a:endParaRPr sz="1650">
              <a:latin typeface="Cambria"/>
              <a:cs typeface="Cambria"/>
            </a:endParaRPr>
          </a:p>
          <a:p>
            <a:pPr marL="1108075" lvl="1" indent="-341630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1108075" algn="l"/>
              </a:tabLst>
            </a:pPr>
            <a:r>
              <a:rPr sz="1300" b="1" i="1" spc="114" dirty="0">
                <a:latin typeface="Cambria"/>
                <a:cs typeface="Cambria"/>
              </a:rPr>
              <a:t>module</a:t>
            </a:r>
            <a:r>
              <a:rPr sz="1300" b="1" i="1" spc="160" dirty="0">
                <a:latin typeface="Cambria"/>
                <a:cs typeface="Cambria"/>
              </a:rPr>
              <a:t> </a:t>
            </a:r>
            <a:r>
              <a:rPr sz="1300" b="1" i="1" spc="105" dirty="0">
                <a:latin typeface="Cambria"/>
                <a:cs typeface="Cambria"/>
              </a:rPr>
              <a:t>HelloApp</a:t>
            </a:r>
            <a:endParaRPr sz="1300">
              <a:latin typeface="Cambria"/>
              <a:cs typeface="Cambria"/>
            </a:endParaRPr>
          </a:p>
          <a:p>
            <a:pPr marL="1108075" lvl="1" indent="-34163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1108075" algn="l"/>
              </a:tabLst>
            </a:pPr>
            <a:r>
              <a:rPr sz="1300" b="1" i="1" spc="-5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544" y="3908557"/>
            <a:ext cx="2647315" cy="12954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71805" indent="-459105">
              <a:lnSpc>
                <a:spcPct val="100000"/>
              </a:lnSpc>
              <a:spcBef>
                <a:spcPts val="204"/>
              </a:spcBef>
              <a:buAutoNum type="arabicPeriod" startAt="3"/>
              <a:tabLst>
                <a:tab pos="471805" algn="l"/>
              </a:tabLst>
            </a:pPr>
            <a:r>
              <a:rPr sz="1300" b="1" i="1" spc="110" dirty="0">
                <a:latin typeface="Cambria"/>
                <a:cs typeface="Cambria"/>
              </a:rPr>
              <a:t>interface</a:t>
            </a:r>
            <a:r>
              <a:rPr sz="1300" b="1" i="1" spc="175" dirty="0">
                <a:latin typeface="Cambria"/>
                <a:cs typeface="Cambria"/>
              </a:rPr>
              <a:t> </a:t>
            </a:r>
            <a:r>
              <a:rPr sz="1300" b="1" i="1" spc="90" dirty="0">
                <a:latin typeface="Cambria"/>
                <a:cs typeface="Cambria"/>
              </a:rPr>
              <a:t>Hello</a:t>
            </a:r>
            <a:endParaRPr sz="1300">
              <a:latin typeface="Cambria"/>
              <a:cs typeface="Cambria"/>
            </a:endParaRPr>
          </a:p>
          <a:p>
            <a:pPr marL="471805" indent="-459105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471805" algn="l"/>
              </a:tabLst>
            </a:pPr>
            <a:r>
              <a:rPr sz="1300" b="1" i="1" spc="-5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471805" indent="-459105">
              <a:lnSpc>
                <a:spcPct val="100000"/>
              </a:lnSpc>
              <a:spcBef>
                <a:spcPts val="110"/>
              </a:spcBef>
              <a:buAutoNum type="arabicPeriod" startAt="3"/>
              <a:tabLst>
                <a:tab pos="471805" algn="l"/>
              </a:tabLst>
            </a:pPr>
            <a:r>
              <a:rPr sz="1300" b="1" i="1" spc="100" dirty="0">
                <a:latin typeface="Cambria"/>
                <a:cs typeface="Cambria"/>
              </a:rPr>
              <a:t>string</a:t>
            </a:r>
            <a:r>
              <a:rPr sz="1300" b="1" i="1" spc="170" dirty="0">
                <a:latin typeface="Cambria"/>
                <a:cs typeface="Cambria"/>
              </a:rPr>
              <a:t> </a:t>
            </a:r>
            <a:r>
              <a:rPr sz="1300" b="1" i="1" spc="50" dirty="0">
                <a:latin typeface="Cambria"/>
                <a:cs typeface="Cambria"/>
              </a:rPr>
              <a:t>sayHello();</a:t>
            </a:r>
            <a:endParaRPr sz="1300">
              <a:latin typeface="Cambria"/>
              <a:cs typeface="Cambria"/>
            </a:endParaRPr>
          </a:p>
          <a:p>
            <a:pPr marL="471805" indent="-459105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471805" algn="l"/>
              </a:tabLst>
            </a:pPr>
            <a:r>
              <a:rPr sz="1300" b="1" i="1" spc="114" dirty="0">
                <a:latin typeface="Cambria"/>
                <a:cs typeface="Cambria"/>
              </a:rPr>
              <a:t>oneway</a:t>
            </a:r>
            <a:r>
              <a:rPr sz="1300" b="1" i="1" spc="160" dirty="0">
                <a:latin typeface="Cambria"/>
                <a:cs typeface="Cambria"/>
              </a:rPr>
              <a:t> </a:t>
            </a:r>
            <a:r>
              <a:rPr sz="1300" b="1" i="1" spc="100" dirty="0">
                <a:latin typeface="Cambria"/>
                <a:cs typeface="Cambria"/>
              </a:rPr>
              <a:t>void</a:t>
            </a:r>
            <a:r>
              <a:rPr sz="1300" b="1" i="1" spc="185" dirty="0">
                <a:latin typeface="Cambria"/>
                <a:cs typeface="Cambria"/>
              </a:rPr>
              <a:t> </a:t>
            </a:r>
            <a:r>
              <a:rPr sz="1300" b="1" i="1" spc="55" dirty="0">
                <a:latin typeface="Cambria"/>
                <a:cs typeface="Cambria"/>
              </a:rPr>
              <a:t>shutdown();</a:t>
            </a:r>
            <a:endParaRPr sz="1300">
              <a:latin typeface="Cambria"/>
              <a:cs typeface="Cambria"/>
            </a:endParaRPr>
          </a:p>
          <a:p>
            <a:pPr marL="471805" indent="-459105">
              <a:lnSpc>
                <a:spcPct val="100000"/>
              </a:lnSpc>
              <a:spcBef>
                <a:spcPts val="110"/>
              </a:spcBef>
              <a:buAutoNum type="arabicPeriod" startAt="3"/>
              <a:tabLst>
                <a:tab pos="471805" algn="l"/>
              </a:tabLst>
            </a:pPr>
            <a:r>
              <a:rPr sz="1300" b="1" i="1" spc="-25" dirty="0">
                <a:latin typeface="Cambria"/>
                <a:cs typeface="Cambria"/>
              </a:rPr>
              <a:t>};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145" dirty="0">
                <a:latin typeface="Cambria"/>
                <a:cs typeface="Cambria"/>
              </a:rPr>
              <a:t>08.</a:t>
            </a:r>
            <a:r>
              <a:rPr sz="1300" b="1" i="1" spc="170" dirty="0">
                <a:latin typeface="Cambria"/>
                <a:cs typeface="Cambria"/>
              </a:rPr>
              <a:t> </a:t>
            </a:r>
            <a:r>
              <a:rPr sz="1300" b="1" i="1" spc="-25" dirty="0">
                <a:latin typeface="Cambria"/>
                <a:cs typeface="Cambria"/>
              </a:rPr>
              <a:t>};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013" y="2262639"/>
            <a:ext cx="96640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If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compilation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successful,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following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files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found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80" dirty="0">
                <a:latin typeface="Cambria"/>
                <a:cs typeface="Cambria"/>
              </a:rPr>
              <a:t>HelloApp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subdirectory: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378" y="2788421"/>
            <a:ext cx="2637155" cy="1588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i="1" spc="114" dirty="0">
                <a:latin typeface="Cambria"/>
                <a:cs typeface="Cambria"/>
              </a:rPr>
              <a:t>HelloOperations.java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i="1" spc="114" dirty="0">
                <a:latin typeface="Cambria"/>
                <a:cs typeface="Cambria"/>
              </a:rPr>
              <a:t>Hello.java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i="1" spc="114" dirty="0">
                <a:latin typeface="Cambria"/>
                <a:cs typeface="Cambria"/>
              </a:rPr>
              <a:t>HelloHelper.java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i="1" spc="114" dirty="0">
                <a:latin typeface="Cambria"/>
                <a:cs typeface="Cambria"/>
              </a:rPr>
              <a:t>HelloHolder.java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i="1" spc="135" dirty="0">
                <a:latin typeface="Cambria"/>
                <a:cs typeface="Cambria"/>
              </a:rPr>
              <a:t>_HelloStub.java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i="1" spc="114" dirty="0">
                <a:latin typeface="Cambria"/>
                <a:cs typeface="Cambria"/>
              </a:rPr>
              <a:t>HelloPOA.java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013" y="4620235"/>
            <a:ext cx="39916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These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files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require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no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modifications</a:t>
            </a:r>
            <a:r>
              <a:rPr sz="1450" spc="70" dirty="0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479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The</a:t>
            </a:r>
            <a:r>
              <a:rPr spc="135" dirty="0"/>
              <a:t> </a:t>
            </a:r>
            <a:r>
              <a:rPr spc="50" dirty="0"/>
              <a:t>*Operations.java</a:t>
            </a:r>
            <a:r>
              <a:rPr spc="100" dirty="0"/>
              <a:t> </a:t>
            </a:r>
            <a:r>
              <a:rPr spc="-20" dirty="0"/>
              <a:t>file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203181"/>
            <a:ext cx="9375775" cy="1315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0" dirty="0">
                <a:latin typeface="Cambria"/>
                <a:cs typeface="Cambria"/>
              </a:rPr>
              <a:t>There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HelloOperations.java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found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HelloApp/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after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you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compiled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35" dirty="0">
                <a:latin typeface="Cambria"/>
                <a:cs typeface="Cambria"/>
              </a:rPr>
              <a:t>idlj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It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known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operations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general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It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interface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that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equivalent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IDL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(Hello.idl)</a:t>
            </a: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You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should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look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at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make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sure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that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method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signatures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correspond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what </a:t>
            </a:r>
            <a:r>
              <a:rPr sz="1650" spc="95" dirty="0">
                <a:latin typeface="Cambria"/>
                <a:cs typeface="Cambria"/>
              </a:rPr>
              <a:t>you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expect.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7465" y="3675403"/>
            <a:ext cx="4512945" cy="25774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250"/>
              </a:spcBef>
            </a:pPr>
            <a:r>
              <a:rPr sz="1150" b="1" spc="65" dirty="0">
                <a:latin typeface="Cambria"/>
                <a:cs typeface="Cambria"/>
              </a:rPr>
              <a:t>HelloApp/Hello.java:</a:t>
            </a:r>
            <a:r>
              <a:rPr sz="1150" b="1" spc="170" dirty="0">
                <a:latin typeface="Cambria"/>
                <a:cs typeface="Cambria"/>
              </a:rPr>
              <a:t> </a:t>
            </a:r>
            <a:r>
              <a:rPr sz="1150" b="1" spc="60" dirty="0">
                <a:latin typeface="Cambria"/>
                <a:cs typeface="Cambria"/>
              </a:rPr>
              <a:t>The</a:t>
            </a:r>
            <a:r>
              <a:rPr sz="1150" b="1" spc="204" dirty="0">
                <a:latin typeface="Cambria"/>
                <a:cs typeface="Cambria"/>
              </a:rPr>
              <a:t> </a:t>
            </a:r>
            <a:r>
              <a:rPr sz="1150" b="1" spc="55" dirty="0">
                <a:latin typeface="Cambria"/>
                <a:cs typeface="Cambria"/>
              </a:rPr>
              <a:t>signature</a:t>
            </a:r>
            <a:r>
              <a:rPr sz="1150" b="1" spc="220" dirty="0">
                <a:latin typeface="Cambria"/>
                <a:cs typeface="Cambria"/>
              </a:rPr>
              <a:t> </a:t>
            </a:r>
            <a:r>
              <a:rPr sz="1150" b="1" spc="60" dirty="0">
                <a:latin typeface="Cambria"/>
                <a:cs typeface="Cambria"/>
              </a:rPr>
              <a:t>interface</a:t>
            </a:r>
            <a:r>
              <a:rPr sz="1150" b="1" spc="21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file</a:t>
            </a:r>
            <a:r>
              <a:rPr sz="1150" b="1" spc="195" dirty="0">
                <a:latin typeface="Cambria"/>
                <a:cs typeface="Cambria"/>
              </a:rPr>
              <a:t> </a:t>
            </a:r>
            <a:r>
              <a:rPr sz="1150" b="1" spc="60" dirty="0">
                <a:latin typeface="Cambria"/>
                <a:cs typeface="Cambria"/>
              </a:rPr>
              <a:t>combines </a:t>
            </a:r>
            <a:r>
              <a:rPr sz="1150" b="1" spc="80" dirty="0">
                <a:latin typeface="Cambria"/>
                <a:cs typeface="Cambria"/>
              </a:rPr>
              <a:t>the</a:t>
            </a:r>
            <a:r>
              <a:rPr sz="1150" b="1" spc="155" dirty="0">
                <a:latin typeface="Cambria"/>
                <a:cs typeface="Cambria"/>
              </a:rPr>
              <a:t> </a:t>
            </a:r>
            <a:r>
              <a:rPr sz="1150" b="1" spc="70" dirty="0">
                <a:latin typeface="Cambria"/>
                <a:cs typeface="Cambria"/>
              </a:rPr>
              <a:t>characteristics</a:t>
            </a:r>
            <a:r>
              <a:rPr sz="1150" b="1" spc="160" dirty="0">
                <a:latin typeface="Cambria"/>
                <a:cs typeface="Cambria"/>
              </a:rPr>
              <a:t> </a:t>
            </a:r>
            <a:r>
              <a:rPr sz="1150" b="1" spc="55" dirty="0">
                <a:latin typeface="Cambria"/>
                <a:cs typeface="Cambria"/>
              </a:rPr>
              <a:t>of</a:t>
            </a:r>
            <a:r>
              <a:rPr sz="1150" b="1" spc="150" dirty="0">
                <a:latin typeface="Cambria"/>
                <a:cs typeface="Cambria"/>
              </a:rPr>
              <a:t> </a:t>
            </a:r>
            <a:r>
              <a:rPr sz="1150" b="1" spc="80" dirty="0">
                <a:latin typeface="Cambria"/>
                <a:cs typeface="Cambria"/>
              </a:rPr>
              <a:t>the</a:t>
            </a:r>
            <a:r>
              <a:rPr sz="1150" b="1" spc="145" dirty="0">
                <a:latin typeface="Cambria"/>
                <a:cs typeface="Cambria"/>
              </a:rPr>
              <a:t> </a:t>
            </a:r>
            <a:r>
              <a:rPr sz="1150" b="1" spc="130" dirty="0">
                <a:latin typeface="Cambria"/>
                <a:cs typeface="Cambria"/>
              </a:rPr>
              <a:t>Java</a:t>
            </a:r>
            <a:r>
              <a:rPr sz="1150" b="1" spc="150" dirty="0">
                <a:latin typeface="Cambria"/>
                <a:cs typeface="Cambria"/>
              </a:rPr>
              <a:t> </a:t>
            </a:r>
            <a:r>
              <a:rPr sz="1150" b="1" spc="55" dirty="0">
                <a:latin typeface="Cambria"/>
                <a:cs typeface="Cambria"/>
              </a:rPr>
              <a:t>operations</a:t>
            </a:r>
            <a:r>
              <a:rPr sz="1150" b="1" spc="160" dirty="0">
                <a:latin typeface="Cambria"/>
                <a:cs typeface="Cambria"/>
              </a:rPr>
              <a:t> </a:t>
            </a:r>
            <a:r>
              <a:rPr sz="1150" b="1" spc="50" dirty="0">
                <a:latin typeface="Cambria"/>
                <a:cs typeface="Cambria"/>
              </a:rPr>
              <a:t>interface </a:t>
            </a:r>
            <a:r>
              <a:rPr sz="1150" b="1" spc="40" dirty="0">
                <a:latin typeface="Cambria"/>
                <a:cs typeface="Cambria"/>
              </a:rPr>
              <a:t>(HelloOperations.java)</a:t>
            </a:r>
            <a:r>
              <a:rPr sz="1150" b="1" spc="160" dirty="0">
                <a:latin typeface="Cambria"/>
                <a:cs typeface="Cambria"/>
              </a:rPr>
              <a:t> </a:t>
            </a:r>
            <a:r>
              <a:rPr sz="1150" b="1" spc="60" dirty="0">
                <a:latin typeface="Cambria"/>
                <a:cs typeface="Cambria"/>
              </a:rPr>
              <a:t>with</a:t>
            </a:r>
            <a:r>
              <a:rPr sz="1150" b="1" spc="190" dirty="0">
                <a:latin typeface="Cambria"/>
                <a:cs typeface="Cambria"/>
              </a:rPr>
              <a:t> </a:t>
            </a:r>
            <a:r>
              <a:rPr sz="1150" b="1" spc="80" dirty="0">
                <a:latin typeface="Cambria"/>
                <a:cs typeface="Cambria"/>
              </a:rPr>
              <a:t>the</a:t>
            </a:r>
            <a:r>
              <a:rPr sz="1150" b="1" spc="195" dirty="0">
                <a:latin typeface="Cambria"/>
                <a:cs typeface="Cambria"/>
              </a:rPr>
              <a:t> </a:t>
            </a:r>
            <a:r>
              <a:rPr sz="1150" b="1" spc="70" dirty="0">
                <a:latin typeface="Cambria"/>
                <a:cs typeface="Cambria"/>
              </a:rPr>
              <a:t>characteristics</a:t>
            </a:r>
            <a:r>
              <a:rPr sz="1150" b="1" spc="200" dirty="0">
                <a:latin typeface="Cambria"/>
                <a:cs typeface="Cambria"/>
              </a:rPr>
              <a:t> </a:t>
            </a:r>
            <a:r>
              <a:rPr sz="1150" b="1" spc="55" dirty="0">
                <a:latin typeface="Cambria"/>
                <a:cs typeface="Cambria"/>
              </a:rPr>
              <a:t>of</a:t>
            </a:r>
            <a:r>
              <a:rPr sz="1150" b="1" spc="190" dirty="0">
                <a:latin typeface="Cambria"/>
                <a:cs typeface="Cambria"/>
              </a:rPr>
              <a:t> </a:t>
            </a:r>
            <a:r>
              <a:rPr sz="1150" b="1" spc="55" dirty="0">
                <a:latin typeface="Cambria"/>
                <a:cs typeface="Cambria"/>
              </a:rPr>
              <a:t>the </a:t>
            </a:r>
            <a:r>
              <a:rPr sz="1150" b="1" spc="114" dirty="0">
                <a:latin typeface="Cambria"/>
                <a:cs typeface="Cambria"/>
              </a:rPr>
              <a:t>CORBA</a:t>
            </a:r>
            <a:r>
              <a:rPr sz="1150" b="1" spc="155" dirty="0">
                <a:latin typeface="Cambria"/>
                <a:cs typeface="Cambria"/>
              </a:rPr>
              <a:t> </a:t>
            </a:r>
            <a:r>
              <a:rPr sz="1150" b="1" spc="70" dirty="0">
                <a:latin typeface="Cambria"/>
                <a:cs typeface="Cambria"/>
              </a:rPr>
              <a:t>classes</a:t>
            </a:r>
            <a:r>
              <a:rPr sz="1150" b="1" spc="130" dirty="0">
                <a:latin typeface="Cambria"/>
                <a:cs typeface="Cambria"/>
              </a:rPr>
              <a:t> </a:t>
            </a:r>
            <a:r>
              <a:rPr sz="1150" b="1" spc="80" dirty="0">
                <a:latin typeface="Cambria"/>
                <a:cs typeface="Cambria"/>
              </a:rPr>
              <a:t>that</a:t>
            </a:r>
            <a:r>
              <a:rPr sz="1150" b="1" spc="170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it</a:t>
            </a:r>
            <a:r>
              <a:rPr sz="1150" b="1" spc="145" dirty="0">
                <a:latin typeface="Cambria"/>
                <a:cs typeface="Cambria"/>
              </a:rPr>
              <a:t> </a:t>
            </a:r>
            <a:r>
              <a:rPr sz="1150" b="1" spc="65" dirty="0">
                <a:latin typeface="Cambria"/>
                <a:cs typeface="Cambria"/>
              </a:rPr>
              <a:t>extends.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315"/>
              </a:lnSpc>
              <a:spcBef>
                <a:spcPts val="1090"/>
              </a:spcBef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01.</a:t>
            </a:r>
            <a:r>
              <a:rPr sz="1150" b="1" i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105" dirty="0">
                <a:solidFill>
                  <a:srgbClr val="FF0000"/>
                </a:solidFill>
                <a:latin typeface="Cambria"/>
                <a:cs typeface="Cambria"/>
              </a:rPr>
              <a:t>package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HelloApp;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250"/>
              </a:lnSpc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03.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25" dirty="0">
                <a:solidFill>
                  <a:srgbClr val="FF0000"/>
                </a:solidFill>
                <a:latin typeface="Cambria"/>
                <a:cs typeface="Cambria"/>
              </a:rPr>
              <a:t>/**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4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1150" b="1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65" dirty="0">
                <a:solidFill>
                  <a:srgbClr val="FF0000"/>
                </a:solidFill>
                <a:latin typeface="Cambria"/>
                <a:cs typeface="Cambria"/>
              </a:rPr>
              <a:t>HelloApp/Hello.java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4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1150" b="1" i="1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95" dirty="0">
                <a:solidFill>
                  <a:srgbClr val="FF0000"/>
                </a:solidFill>
                <a:latin typeface="Cambria"/>
                <a:cs typeface="Cambria"/>
              </a:rPr>
              <a:t>Generated</a:t>
            </a:r>
            <a:r>
              <a:rPr sz="1150" b="1" i="1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0"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9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150" b="1" i="1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IDL-to-</a:t>
            </a:r>
            <a:r>
              <a:rPr sz="1150" b="1" i="1" spc="155" dirty="0">
                <a:solidFill>
                  <a:srgbClr val="FF0000"/>
                </a:solidFill>
                <a:latin typeface="Cambria"/>
                <a:cs typeface="Cambria"/>
              </a:rPr>
              <a:t>Java</a:t>
            </a:r>
            <a:r>
              <a:rPr sz="1150" b="1" i="1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compiler</a:t>
            </a:r>
            <a:r>
              <a:rPr sz="1150" b="1" i="1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10" dirty="0">
                <a:solidFill>
                  <a:srgbClr val="FF0000"/>
                </a:solidFill>
                <a:latin typeface="Cambria"/>
                <a:cs typeface="Cambria"/>
              </a:rPr>
              <a:t>(portable),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4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version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60" dirty="0">
                <a:solidFill>
                  <a:srgbClr val="FF0000"/>
                </a:solidFill>
                <a:latin typeface="Cambria"/>
                <a:cs typeface="Cambria"/>
              </a:rPr>
              <a:t>"3.1"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0" dirty="0">
                <a:solidFill>
                  <a:srgbClr val="FF0000"/>
                </a:solidFill>
                <a:latin typeface="Cambria"/>
                <a:cs typeface="Cambria"/>
              </a:rPr>
              <a:t>from</a:t>
            </a:r>
            <a:r>
              <a:rPr sz="1150" b="1" i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Hello.idl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4"/>
              <a:tabLst>
                <a:tab pos="308610" algn="l"/>
              </a:tabLst>
            </a:pPr>
            <a:r>
              <a:rPr sz="1150" b="1" i="1" spc="-25" dirty="0">
                <a:solidFill>
                  <a:srgbClr val="FF0000"/>
                </a:solidFill>
                <a:latin typeface="Cambria"/>
                <a:cs typeface="Cambria"/>
              </a:rPr>
              <a:t>*/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250"/>
              </a:lnSpc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09.</a:t>
            </a:r>
            <a:r>
              <a:rPr sz="1150" b="1" i="1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public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interface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Hello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100" dirty="0">
                <a:solidFill>
                  <a:srgbClr val="FF0000"/>
                </a:solidFill>
                <a:latin typeface="Cambria"/>
                <a:cs typeface="Cambria"/>
              </a:rPr>
              <a:t>extends</a:t>
            </a:r>
            <a:r>
              <a:rPr sz="1150" b="1" i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HelloOperations,</a:t>
            </a:r>
            <a:endParaRPr sz="1150">
              <a:latin typeface="Cambria"/>
              <a:cs typeface="Cambria"/>
            </a:endParaRPr>
          </a:p>
          <a:p>
            <a:pPr marL="410209" indent="-397510">
              <a:lnSpc>
                <a:spcPts val="1250"/>
              </a:lnSpc>
              <a:buAutoNum type="arabicPeriod" startAt="10"/>
              <a:tabLst>
                <a:tab pos="410209" algn="l"/>
              </a:tabLst>
            </a:pPr>
            <a:r>
              <a:rPr sz="1150" b="1" i="1" spc="80" dirty="0">
                <a:solidFill>
                  <a:srgbClr val="FF0000"/>
                </a:solidFill>
                <a:latin typeface="Cambria"/>
                <a:cs typeface="Cambria"/>
              </a:rPr>
              <a:t>org.omg.CORBA.Object,</a:t>
            </a:r>
            <a:endParaRPr sz="1150">
              <a:latin typeface="Cambria"/>
              <a:cs typeface="Cambria"/>
            </a:endParaRPr>
          </a:p>
          <a:p>
            <a:pPr marL="410209" indent="-397510">
              <a:lnSpc>
                <a:spcPts val="1240"/>
              </a:lnSpc>
              <a:buAutoNum type="arabicPeriod" startAt="10"/>
              <a:tabLst>
                <a:tab pos="410209" algn="l"/>
              </a:tabLst>
            </a:pPr>
            <a:r>
              <a:rPr sz="1150" b="1" i="1" spc="80" dirty="0">
                <a:solidFill>
                  <a:srgbClr val="FF0000"/>
                </a:solidFill>
                <a:latin typeface="Cambria"/>
                <a:cs typeface="Cambria"/>
              </a:rPr>
              <a:t>org.omg.CORBA.portable.IDLEntity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240"/>
              </a:lnSpc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12.</a:t>
            </a:r>
            <a:r>
              <a:rPr sz="1150" b="1" i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{</a:t>
            </a:r>
            <a:r>
              <a:rPr sz="1150" b="1" i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235" dirty="0">
                <a:solidFill>
                  <a:srgbClr val="FF0000"/>
                </a:solidFill>
                <a:latin typeface="Cambria"/>
                <a:cs typeface="Cambria"/>
              </a:rPr>
              <a:t>…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315"/>
              </a:lnSpc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13. </a:t>
            </a: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}</a:t>
            </a: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100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sz="1150" b="1" i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interface</a:t>
            </a:r>
            <a:r>
              <a:rPr sz="1150" b="1" i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Hello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79" y="3686048"/>
            <a:ext cx="4840605" cy="51815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250"/>
              </a:spcBef>
            </a:pPr>
            <a:r>
              <a:rPr sz="1150" b="1" spc="60" dirty="0">
                <a:latin typeface="Cambria"/>
                <a:cs typeface="Cambria"/>
              </a:rPr>
              <a:t>HelloApp/HelloOperations.java</a:t>
            </a:r>
            <a:r>
              <a:rPr sz="1150" b="1" spc="145" dirty="0">
                <a:latin typeface="Cambria"/>
                <a:cs typeface="Cambria"/>
              </a:rPr>
              <a:t> </a:t>
            </a:r>
            <a:r>
              <a:rPr sz="1150" b="1" spc="65" dirty="0">
                <a:latin typeface="Cambria"/>
                <a:cs typeface="Cambria"/>
              </a:rPr>
              <a:t>:</a:t>
            </a:r>
            <a:r>
              <a:rPr sz="1150" b="1" spc="170" dirty="0">
                <a:latin typeface="Cambria"/>
                <a:cs typeface="Cambria"/>
              </a:rPr>
              <a:t> </a:t>
            </a:r>
            <a:r>
              <a:rPr sz="1150" b="1" spc="60" dirty="0">
                <a:latin typeface="Cambria"/>
                <a:cs typeface="Cambria"/>
              </a:rPr>
              <a:t>The</a:t>
            </a:r>
            <a:r>
              <a:rPr sz="1150" b="1" spc="175" dirty="0">
                <a:latin typeface="Cambria"/>
                <a:cs typeface="Cambria"/>
              </a:rPr>
              <a:t> </a:t>
            </a:r>
            <a:r>
              <a:rPr sz="1150" b="1" spc="50" dirty="0">
                <a:latin typeface="Cambria"/>
                <a:cs typeface="Cambria"/>
              </a:rPr>
              <a:t>file</a:t>
            </a:r>
            <a:r>
              <a:rPr sz="1150" b="1" spc="160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contains</a:t>
            </a:r>
            <a:r>
              <a:rPr sz="1150" b="1" spc="150" dirty="0">
                <a:latin typeface="Cambria"/>
                <a:cs typeface="Cambria"/>
              </a:rPr>
              <a:t> </a:t>
            </a:r>
            <a:r>
              <a:rPr sz="1150" b="1" spc="80" dirty="0">
                <a:latin typeface="Cambria"/>
                <a:cs typeface="Cambria"/>
              </a:rPr>
              <a:t>the</a:t>
            </a:r>
            <a:r>
              <a:rPr sz="1150" b="1" spc="180" dirty="0">
                <a:latin typeface="Cambria"/>
                <a:cs typeface="Cambria"/>
              </a:rPr>
              <a:t> </a:t>
            </a:r>
            <a:r>
              <a:rPr sz="1150" b="1" spc="65" dirty="0">
                <a:latin typeface="Cambria"/>
                <a:cs typeface="Cambria"/>
              </a:rPr>
              <a:t>methods </a:t>
            </a:r>
            <a:r>
              <a:rPr sz="1150" b="1" spc="60" dirty="0">
                <a:latin typeface="Cambria"/>
                <a:cs typeface="Cambria"/>
              </a:rPr>
              <a:t>specified</a:t>
            </a:r>
            <a:r>
              <a:rPr sz="1150" b="1" spc="155" dirty="0">
                <a:latin typeface="Cambria"/>
                <a:cs typeface="Cambria"/>
              </a:rPr>
              <a:t> </a:t>
            </a:r>
            <a:r>
              <a:rPr sz="1150" b="1" spc="60" dirty="0">
                <a:latin typeface="Cambria"/>
                <a:cs typeface="Cambria"/>
              </a:rPr>
              <a:t>in</a:t>
            </a:r>
            <a:r>
              <a:rPr sz="1150" b="1" spc="145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the</a:t>
            </a:r>
            <a:r>
              <a:rPr sz="1150" b="1" spc="155" dirty="0">
                <a:latin typeface="Cambria"/>
                <a:cs typeface="Cambria"/>
              </a:rPr>
              <a:t> </a:t>
            </a:r>
            <a:r>
              <a:rPr sz="1150" b="1" spc="45" dirty="0">
                <a:latin typeface="Cambria"/>
                <a:cs typeface="Cambria"/>
              </a:rPr>
              <a:t>original</a:t>
            </a:r>
            <a:r>
              <a:rPr sz="1150" b="1" spc="130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IDL</a:t>
            </a:r>
            <a:r>
              <a:rPr sz="1150" b="1" spc="155" dirty="0">
                <a:latin typeface="Cambria"/>
                <a:cs typeface="Cambria"/>
              </a:rPr>
              <a:t> </a:t>
            </a:r>
            <a:r>
              <a:rPr sz="1150" b="1" spc="50" dirty="0">
                <a:latin typeface="Cambria"/>
                <a:cs typeface="Cambria"/>
              </a:rPr>
              <a:t>file:</a:t>
            </a:r>
            <a:r>
              <a:rPr sz="1150" b="1" spc="155" dirty="0">
                <a:latin typeface="Cambria"/>
                <a:cs typeface="Cambria"/>
              </a:rPr>
              <a:t> </a:t>
            </a:r>
            <a:r>
              <a:rPr sz="1150" b="1" spc="65" dirty="0">
                <a:latin typeface="Cambria"/>
                <a:cs typeface="Cambria"/>
              </a:rPr>
              <a:t>in</a:t>
            </a:r>
            <a:r>
              <a:rPr sz="1150" b="1" spc="130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this</a:t>
            </a:r>
            <a:r>
              <a:rPr sz="1150" b="1" spc="145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case</a:t>
            </a:r>
            <a:r>
              <a:rPr sz="1150" b="1" spc="145" dirty="0">
                <a:latin typeface="Cambria"/>
                <a:cs typeface="Cambria"/>
              </a:rPr>
              <a:t> </a:t>
            </a:r>
            <a:r>
              <a:rPr sz="1150" b="1" spc="75" dirty="0">
                <a:latin typeface="Cambria"/>
                <a:cs typeface="Cambria"/>
              </a:rPr>
              <a:t>the</a:t>
            </a:r>
            <a:r>
              <a:rPr sz="1150" b="1" spc="160" dirty="0">
                <a:latin typeface="Cambria"/>
                <a:cs typeface="Cambria"/>
              </a:rPr>
              <a:t> </a:t>
            </a:r>
            <a:r>
              <a:rPr sz="1150" b="1" spc="65" dirty="0">
                <a:latin typeface="Cambria"/>
                <a:cs typeface="Cambria"/>
              </a:rPr>
              <a:t>methods </a:t>
            </a:r>
            <a:r>
              <a:rPr sz="1150" b="1" i="1" spc="65" dirty="0">
                <a:latin typeface="Cambria"/>
                <a:cs typeface="Cambria"/>
              </a:rPr>
              <a:t>sayHello(</a:t>
            </a:r>
            <a:r>
              <a:rPr sz="1150" b="1" i="1" spc="125" dirty="0">
                <a:latin typeface="Cambria"/>
                <a:cs typeface="Cambria"/>
              </a:rPr>
              <a:t> </a:t>
            </a:r>
            <a:r>
              <a:rPr sz="1150" b="1" i="1" spc="-25" dirty="0">
                <a:latin typeface="Cambria"/>
                <a:cs typeface="Cambria"/>
              </a:rPr>
              <a:t>)</a:t>
            </a:r>
            <a:r>
              <a:rPr sz="1150" b="1" i="1" spc="105" dirty="0">
                <a:latin typeface="Cambria"/>
                <a:cs typeface="Cambria"/>
              </a:rPr>
              <a:t> </a:t>
            </a:r>
            <a:r>
              <a:rPr sz="1150" b="1" spc="55" dirty="0">
                <a:latin typeface="Cambria"/>
                <a:cs typeface="Cambria"/>
              </a:rPr>
              <a:t>and</a:t>
            </a:r>
            <a:r>
              <a:rPr sz="1150" b="1" spc="100" dirty="0">
                <a:latin typeface="Cambria"/>
                <a:cs typeface="Cambria"/>
              </a:rPr>
              <a:t> </a:t>
            </a:r>
            <a:r>
              <a:rPr sz="1150" b="1" i="1" spc="55" dirty="0">
                <a:latin typeface="Cambria"/>
                <a:cs typeface="Cambria"/>
              </a:rPr>
              <a:t>shutdown</a:t>
            </a:r>
            <a:r>
              <a:rPr sz="1150" b="1" spc="55" dirty="0">
                <a:latin typeface="Cambria"/>
                <a:cs typeface="Cambria"/>
              </a:rPr>
              <a:t>().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584" y="4320037"/>
            <a:ext cx="4221480" cy="194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15"/>
              </a:lnSpc>
              <a:spcBef>
                <a:spcPts val="100"/>
              </a:spcBef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01.</a:t>
            </a:r>
            <a:r>
              <a:rPr sz="1150" b="1" i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105" dirty="0">
                <a:solidFill>
                  <a:srgbClr val="FF0000"/>
                </a:solidFill>
                <a:latin typeface="Cambria"/>
                <a:cs typeface="Cambria"/>
              </a:rPr>
              <a:t>package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HelloApp;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250"/>
              </a:lnSpc>
            </a:pPr>
            <a:r>
              <a:rPr sz="1150" b="1" i="1" spc="114" dirty="0">
                <a:solidFill>
                  <a:srgbClr val="FF0000"/>
                </a:solidFill>
                <a:latin typeface="Cambria"/>
                <a:cs typeface="Cambria"/>
              </a:rPr>
              <a:t>04.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25" dirty="0">
                <a:solidFill>
                  <a:srgbClr val="FF0000"/>
                </a:solidFill>
                <a:latin typeface="Cambria"/>
                <a:cs typeface="Cambria"/>
              </a:rPr>
              <a:t>/**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5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1150" b="1" i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0" dirty="0">
                <a:solidFill>
                  <a:srgbClr val="FF0000"/>
                </a:solidFill>
                <a:latin typeface="Cambria"/>
                <a:cs typeface="Cambria"/>
              </a:rPr>
              <a:t>HelloApp/HelloOperations.java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5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1150" b="1" i="1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95" dirty="0">
                <a:solidFill>
                  <a:srgbClr val="FF0000"/>
                </a:solidFill>
                <a:latin typeface="Cambria"/>
                <a:cs typeface="Cambria"/>
              </a:rPr>
              <a:t>Generated</a:t>
            </a:r>
            <a:r>
              <a:rPr sz="1150" b="1" i="1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0"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9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150" b="1" i="1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IDL-to-</a:t>
            </a:r>
            <a:r>
              <a:rPr sz="1150" b="1" i="1" spc="155" dirty="0">
                <a:solidFill>
                  <a:srgbClr val="FF0000"/>
                </a:solidFill>
                <a:latin typeface="Cambria"/>
                <a:cs typeface="Cambria"/>
              </a:rPr>
              <a:t>Java</a:t>
            </a:r>
            <a:r>
              <a:rPr sz="1150" b="1" i="1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compiler</a:t>
            </a:r>
            <a:r>
              <a:rPr sz="1150" b="1" i="1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10" dirty="0">
                <a:solidFill>
                  <a:srgbClr val="FF0000"/>
                </a:solidFill>
                <a:latin typeface="Cambria"/>
                <a:cs typeface="Cambria"/>
              </a:rPr>
              <a:t>(portable),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5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1150" b="1" i="1" spc="1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150" b="1" i="1" spc="70" dirty="0">
                <a:solidFill>
                  <a:srgbClr val="FF0000"/>
                </a:solidFill>
                <a:latin typeface="Cambria"/>
                <a:cs typeface="Cambria"/>
              </a:rPr>
              <a:t>version</a:t>
            </a:r>
            <a:r>
              <a:rPr sz="1150" b="1" i="1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60" dirty="0">
                <a:solidFill>
                  <a:srgbClr val="FF0000"/>
                </a:solidFill>
                <a:latin typeface="Cambria"/>
                <a:cs typeface="Cambria"/>
              </a:rPr>
              <a:t>"3.1"</a:t>
            </a:r>
            <a:r>
              <a:rPr sz="1150" b="1" i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0" dirty="0">
                <a:solidFill>
                  <a:srgbClr val="FF0000"/>
                </a:solidFill>
                <a:latin typeface="Cambria"/>
                <a:cs typeface="Cambria"/>
              </a:rPr>
              <a:t>from</a:t>
            </a:r>
            <a:r>
              <a:rPr sz="1150" b="1" i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Hello.idl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5"/>
              <a:tabLst>
                <a:tab pos="308610" algn="l"/>
              </a:tabLst>
            </a:pPr>
            <a:r>
              <a:rPr sz="1150" b="1" i="1" spc="-25" dirty="0">
                <a:solidFill>
                  <a:srgbClr val="FF0000"/>
                </a:solidFill>
                <a:latin typeface="Cambria"/>
                <a:cs typeface="Cambria"/>
              </a:rPr>
              <a:t>*/</a:t>
            </a:r>
            <a:endParaRPr sz="1150">
              <a:latin typeface="Cambria"/>
              <a:cs typeface="Cambria"/>
            </a:endParaRPr>
          </a:p>
          <a:p>
            <a:pPr marL="12700">
              <a:lnSpc>
                <a:spcPts val="1250"/>
              </a:lnSpc>
            </a:pPr>
            <a:r>
              <a:rPr sz="1150" b="1" i="1" spc="90" dirty="0">
                <a:solidFill>
                  <a:srgbClr val="FF0000"/>
                </a:solidFill>
                <a:latin typeface="Cambria"/>
                <a:cs typeface="Cambria"/>
              </a:rPr>
              <a:t>09.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10"/>
              <a:tabLst>
                <a:tab pos="308610" algn="l"/>
              </a:tabLst>
            </a:pP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public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interface</a:t>
            </a:r>
            <a:r>
              <a:rPr sz="1150" b="1" i="1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HelloOperations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250"/>
              </a:lnSpc>
              <a:buAutoNum type="arabicPeriod" startAt="10"/>
              <a:tabLst>
                <a:tab pos="308610" algn="l"/>
              </a:tabLst>
            </a:pPr>
            <a:r>
              <a:rPr sz="1150" b="1" i="1" spc="-50" dirty="0">
                <a:solidFill>
                  <a:srgbClr val="FF0000"/>
                </a:solidFill>
                <a:latin typeface="Cambria"/>
                <a:cs typeface="Cambria"/>
              </a:rPr>
              <a:t>{</a:t>
            </a:r>
            <a:endParaRPr sz="1150">
              <a:latin typeface="Cambria"/>
              <a:cs typeface="Cambria"/>
            </a:endParaRPr>
          </a:p>
          <a:p>
            <a:pPr marL="410209" indent="-397510">
              <a:lnSpc>
                <a:spcPts val="1240"/>
              </a:lnSpc>
              <a:buAutoNum type="arabicPeriod" startAt="10"/>
              <a:tabLst>
                <a:tab pos="410209" algn="l"/>
              </a:tabLst>
            </a:pPr>
            <a:r>
              <a:rPr sz="1150" b="1" i="1" spc="95" dirty="0">
                <a:solidFill>
                  <a:srgbClr val="FF0000"/>
                </a:solidFill>
                <a:latin typeface="Cambria"/>
                <a:cs typeface="Cambria"/>
              </a:rPr>
              <a:t>String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95" dirty="0">
                <a:solidFill>
                  <a:srgbClr val="FF0000"/>
                </a:solidFill>
                <a:latin typeface="Cambria"/>
                <a:cs typeface="Cambria"/>
              </a:rPr>
              <a:t>sayHello</a:t>
            </a:r>
            <a:r>
              <a:rPr sz="115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25" dirty="0">
                <a:solidFill>
                  <a:srgbClr val="FF0000"/>
                </a:solidFill>
                <a:latin typeface="Cambria"/>
                <a:cs typeface="Cambria"/>
              </a:rPr>
              <a:t>();</a:t>
            </a:r>
            <a:endParaRPr sz="1150">
              <a:latin typeface="Cambria"/>
              <a:cs typeface="Cambria"/>
            </a:endParaRPr>
          </a:p>
          <a:p>
            <a:pPr marL="410209" indent="-397510">
              <a:lnSpc>
                <a:spcPts val="1240"/>
              </a:lnSpc>
              <a:buAutoNum type="arabicPeriod" startAt="10"/>
              <a:tabLst>
                <a:tab pos="410209" algn="l"/>
              </a:tabLst>
            </a:pPr>
            <a:r>
              <a:rPr sz="1150" b="1" i="1" spc="80" dirty="0">
                <a:solidFill>
                  <a:srgbClr val="FF0000"/>
                </a:solidFill>
                <a:latin typeface="Cambria"/>
                <a:cs typeface="Cambria"/>
              </a:rPr>
              <a:t>void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100" dirty="0">
                <a:solidFill>
                  <a:srgbClr val="FF0000"/>
                </a:solidFill>
                <a:latin typeface="Cambria"/>
                <a:cs typeface="Cambria"/>
              </a:rPr>
              <a:t>shutdown</a:t>
            </a:r>
            <a:r>
              <a:rPr sz="1150" b="1" i="1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25" dirty="0">
                <a:solidFill>
                  <a:srgbClr val="FF0000"/>
                </a:solidFill>
                <a:latin typeface="Cambria"/>
                <a:cs typeface="Cambria"/>
              </a:rPr>
              <a:t>();</a:t>
            </a:r>
            <a:endParaRPr sz="1150">
              <a:latin typeface="Cambria"/>
              <a:cs typeface="Cambria"/>
            </a:endParaRPr>
          </a:p>
          <a:p>
            <a:pPr marL="308610" indent="-295910">
              <a:lnSpc>
                <a:spcPts val="1315"/>
              </a:lnSpc>
              <a:buAutoNum type="arabicPeriod" startAt="10"/>
              <a:tabLst>
                <a:tab pos="308610" algn="l"/>
              </a:tabLst>
            </a:pPr>
            <a:r>
              <a:rPr sz="1150" b="1" i="1" dirty="0">
                <a:solidFill>
                  <a:srgbClr val="FF0000"/>
                </a:solidFill>
                <a:latin typeface="Cambria"/>
                <a:cs typeface="Cambria"/>
              </a:rPr>
              <a:t>}</a:t>
            </a:r>
            <a:r>
              <a:rPr sz="1150" b="1" i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-100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sz="1150" b="1" i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85" dirty="0">
                <a:solidFill>
                  <a:srgbClr val="FF0000"/>
                </a:solidFill>
                <a:latin typeface="Cambria"/>
                <a:cs typeface="Cambria"/>
              </a:rPr>
              <a:t>interface</a:t>
            </a:r>
            <a:r>
              <a:rPr sz="1150" b="1" i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50" b="1" i="1" spc="75" dirty="0">
                <a:solidFill>
                  <a:srgbClr val="FF0000"/>
                </a:solidFill>
                <a:latin typeface="Cambria"/>
                <a:cs typeface="Cambria"/>
              </a:rPr>
              <a:t>HelloOperations</a:t>
            </a:r>
            <a:endParaRPr sz="1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18" y="1116544"/>
            <a:ext cx="45161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The</a:t>
            </a:r>
            <a:r>
              <a:rPr spc="135" dirty="0"/>
              <a:t> </a:t>
            </a:r>
            <a:r>
              <a:rPr spc="50" dirty="0"/>
              <a:t>*Operations.java</a:t>
            </a:r>
            <a:r>
              <a:rPr spc="100" dirty="0"/>
              <a:t> </a:t>
            </a:r>
            <a:r>
              <a:rPr spc="-20" dirty="0"/>
              <a:t>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152" y="1881653"/>
            <a:ext cx="9657715" cy="4383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80" dirty="0">
                <a:latin typeface="Cambria"/>
                <a:cs typeface="Cambria"/>
              </a:rPr>
              <a:t>HelloHelper.java,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b="1" spc="120" dirty="0">
                <a:latin typeface="Cambria"/>
                <a:cs typeface="Cambria"/>
              </a:rPr>
              <a:t>the</a:t>
            </a:r>
            <a:r>
              <a:rPr sz="1650" b="1" spc="229" dirty="0">
                <a:latin typeface="Cambria"/>
                <a:cs typeface="Cambria"/>
              </a:rPr>
              <a:t> </a:t>
            </a:r>
            <a:r>
              <a:rPr sz="1650" b="1" spc="65" dirty="0">
                <a:latin typeface="Cambria"/>
                <a:cs typeface="Cambria"/>
              </a:rPr>
              <a:t>Helper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class:</a:t>
            </a:r>
            <a:endParaRPr sz="1650">
              <a:latin typeface="Cambria"/>
              <a:cs typeface="Cambria"/>
            </a:endParaRPr>
          </a:p>
          <a:p>
            <a:pPr marL="672465" marR="19685" lvl="1" indent="-283845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class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HelloHelper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auxiliary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functionality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needed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support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85" dirty="0">
                <a:latin typeface="Cambria"/>
                <a:cs typeface="Cambria"/>
              </a:rPr>
              <a:t>CORBA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context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language.</a:t>
            </a:r>
            <a:endParaRPr sz="1650">
              <a:latin typeface="Cambria"/>
              <a:cs typeface="Cambria"/>
            </a:endParaRPr>
          </a:p>
          <a:p>
            <a:pPr marL="672465" marR="198120" lvl="1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particular,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method,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narrow,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allows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reference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cast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its </a:t>
            </a:r>
            <a:r>
              <a:rPr sz="1650" spc="80" dirty="0">
                <a:latin typeface="Cambria"/>
                <a:cs typeface="Cambria"/>
              </a:rPr>
              <a:t>corresponding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type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Java,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that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may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operated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syntax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80" dirty="0">
                <a:latin typeface="Cambria"/>
                <a:cs typeface="Cambria"/>
              </a:rPr>
              <a:t>HelloHolder.java,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b="1" spc="120" dirty="0">
                <a:latin typeface="Cambria"/>
                <a:cs typeface="Cambria"/>
              </a:rPr>
              <a:t>the</a:t>
            </a:r>
            <a:r>
              <a:rPr sz="1650" b="1" spc="204" dirty="0">
                <a:latin typeface="Cambria"/>
                <a:cs typeface="Cambria"/>
              </a:rPr>
              <a:t> </a:t>
            </a:r>
            <a:r>
              <a:rPr sz="1650" b="1" spc="70" dirty="0">
                <a:latin typeface="Cambria"/>
                <a:cs typeface="Cambria"/>
              </a:rPr>
              <a:t>Holder</a:t>
            </a:r>
            <a:r>
              <a:rPr sz="1650" b="1" spc="204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class:</a:t>
            </a:r>
            <a:endParaRPr sz="1650">
              <a:latin typeface="Cambria"/>
              <a:cs typeface="Cambria"/>
            </a:endParaRPr>
          </a:p>
          <a:p>
            <a:pPr marL="672465" marR="915669" lvl="1" indent="-283845">
              <a:lnSpc>
                <a:spcPct val="100000"/>
              </a:lnSpc>
              <a:spcBef>
                <a:spcPts val="7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class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called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HelloHolder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holds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(contains)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reference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that </a:t>
            </a:r>
            <a:r>
              <a:rPr sz="1650" spc="95" dirty="0">
                <a:latin typeface="Cambria"/>
                <a:cs typeface="Cambria"/>
              </a:rPr>
              <a:t>implements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Hello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interface.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class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used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handle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out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inout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parameter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IDL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syntax</a:t>
            </a:r>
            <a:endParaRPr sz="1650">
              <a:latin typeface="Cambria"/>
              <a:cs typeface="Cambria"/>
            </a:endParaRPr>
          </a:p>
          <a:p>
            <a:pPr marL="672465" marR="5080">
              <a:lnSpc>
                <a:spcPct val="100000"/>
              </a:lnSpc>
            </a:pPr>
            <a:r>
              <a:rPr sz="1650" dirty="0">
                <a:latin typeface="Cambria"/>
                <a:cs typeface="Cambria"/>
              </a:rPr>
              <a:t>(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IDL,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parameter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may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declared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out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if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output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argument,</a:t>
            </a:r>
            <a:r>
              <a:rPr sz="1650" spc="140" dirty="0">
                <a:latin typeface="Cambria"/>
                <a:cs typeface="Cambria"/>
              </a:rPr>
              <a:t> and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inout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if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parameter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contains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input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value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well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carries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output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value.)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1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90" dirty="0">
                <a:latin typeface="Cambria"/>
                <a:cs typeface="Cambria"/>
              </a:rPr>
              <a:t>_HelloStub.java:</a:t>
            </a:r>
            <a:endParaRPr sz="1650">
              <a:latin typeface="Cambria"/>
              <a:cs typeface="Cambria"/>
            </a:endParaRPr>
          </a:p>
          <a:p>
            <a:pPr marL="672465" marR="328295" lvl="1" indent="-283845">
              <a:lnSpc>
                <a:spcPct val="100000"/>
              </a:lnSpc>
              <a:spcBef>
                <a:spcPts val="6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class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HelloStub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stub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file,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client-</a:t>
            </a:r>
            <a:r>
              <a:rPr sz="1650" spc="80" dirty="0">
                <a:latin typeface="Cambria"/>
                <a:cs typeface="Cambria"/>
              </a:rPr>
              <a:t>side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proxy,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interfaces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with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object.</a:t>
            </a:r>
            <a:endParaRPr sz="1650">
              <a:latin typeface="Cambria"/>
              <a:cs typeface="Cambria"/>
            </a:endParaRPr>
          </a:p>
          <a:p>
            <a:pPr marL="672465" marR="972185" lvl="1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dirty="0">
                <a:latin typeface="Cambria"/>
                <a:cs typeface="Cambria"/>
              </a:rPr>
              <a:t>It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extends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org.omg.CORBA.portable.ObjectImpl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implements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Hello.java interface.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886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The</a:t>
            </a:r>
            <a:r>
              <a:rPr spc="135" dirty="0"/>
              <a:t> </a:t>
            </a:r>
            <a:r>
              <a:rPr spc="50" dirty="0"/>
              <a:t>*Operations.java</a:t>
            </a:r>
            <a:r>
              <a:rPr spc="100" dirty="0"/>
              <a:t> </a:t>
            </a:r>
            <a:r>
              <a:rPr spc="-20" dirty="0"/>
              <a:t>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9670415" cy="348234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95" dirty="0">
                <a:latin typeface="Cambria"/>
                <a:cs typeface="Cambria"/>
              </a:rPr>
              <a:t>HelloPOA.java,</a:t>
            </a:r>
            <a:r>
              <a:rPr sz="1650" b="1" spc="185" dirty="0">
                <a:latin typeface="Cambria"/>
                <a:cs typeface="Cambria"/>
              </a:rPr>
              <a:t> </a:t>
            </a:r>
            <a:r>
              <a:rPr sz="1650" b="1" spc="114" dirty="0">
                <a:latin typeface="Cambria"/>
                <a:cs typeface="Cambria"/>
              </a:rPr>
              <a:t>the</a:t>
            </a:r>
            <a:r>
              <a:rPr sz="1650" b="1" spc="220" dirty="0">
                <a:latin typeface="Cambria"/>
                <a:cs typeface="Cambria"/>
              </a:rPr>
              <a:t> </a:t>
            </a:r>
            <a:r>
              <a:rPr sz="1650" b="1" spc="50" dirty="0">
                <a:latin typeface="Cambria"/>
                <a:cs typeface="Cambria"/>
              </a:rPr>
              <a:t>server</a:t>
            </a:r>
            <a:r>
              <a:rPr sz="1650" b="1" spc="195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skeleton:</a:t>
            </a:r>
            <a:endParaRPr sz="1650">
              <a:latin typeface="Cambria"/>
              <a:cs typeface="Cambria"/>
            </a:endParaRPr>
          </a:p>
          <a:p>
            <a:pPr marL="672465" marR="5080" lvl="1" indent="-283845">
              <a:lnSpc>
                <a:spcPct val="150300"/>
              </a:lnSpc>
              <a:spcBef>
                <a:spcPts val="75"/>
              </a:spcBef>
              <a:buFont typeface="Wingdings"/>
              <a:buChar char=""/>
              <a:tabLst>
                <a:tab pos="672465" algn="l"/>
                <a:tab pos="585660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Java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class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HelloImplPOA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2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skeleton,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the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55" dirty="0">
                <a:latin typeface="Cambria"/>
                <a:cs typeface="Cambria"/>
              </a:rPr>
              <a:t>server-</a:t>
            </a:r>
            <a:r>
              <a:rPr sz="1650" spc="80" dirty="0">
                <a:latin typeface="Cambria"/>
                <a:cs typeface="Cambria"/>
              </a:rPr>
              <a:t>side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proxy,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combined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the </a:t>
            </a:r>
            <a:r>
              <a:rPr sz="1650" spc="75" dirty="0">
                <a:latin typeface="Cambria"/>
                <a:cs typeface="Cambria"/>
              </a:rPr>
              <a:t>portable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adapter.</a:t>
            </a:r>
            <a:endParaRPr sz="1650">
              <a:latin typeface="Cambria"/>
              <a:cs typeface="Cambria"/>
            </a:endParaRPr>
          </a:p>
          <a:p>
            <a:pPr marL="672465" marR="5080" lvl="1" indent="-283845">
              <a:lnSpc>
                <a:spcPct val="1497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  <a:tab pos="1046480" algn="l"/>
                <a:tab pos="2064385" algn="l"/>
                <a:tab pos="5579110" algn="l"/>
                <a:tab pos="6193155" algn="l"/>
                <a:tab pos="7610475" algn="l"/>
                <a:tab pos="8159115" algn="l"/>
              </a:tabLst>
            </a:pPr>
            <a:r>
              <a:rPr sz="1650" spc="-25" dirty="0">
                <a:latin typeface="Cambria"/>
                <a:cs typeface="Cambria"/>
              </a:rPr>
              <a:t>It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5" dirty="0">
                <a:latin typeface="Cambria"/>
                <a:cs typeface="Cambria"/>
              </a:rPr>
              <a:t>extends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0" dirty="0">
                <a:latin typeface="Cambria"/>
                <a:cs typeface="Cambria"/>
              </a:rPr>
              <a:t>org.omg.PortableServer.Servant,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14" dirty="0">
                <a:latin typeface="Cambria"/>
                <a:cs typeface="Cambria"/>
              </a:rPr>
              <a:t>and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5" dirty="0">
                <a:latin typeface="Cambria"/>
                <a:cs typeface="Cambria"/>
              </a:rPr>
              <a:t>implements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65" dirty="0">
                <a:latin typeface="Cambria"/>
                <a:cs typeface="Cambria"/>
              </a:rPr>
              <a:t>the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5" dirty="0">
                <a:latin typeface="Cambria"/>
                <a:cs typeface="Cambria"/>
              </a:rPr>
              <a:t>InvokeHandler interface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HelloOperations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interface.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75" dirty="0">
                <a:latin typeface="Cambria"/>
                <a:cs typeface="Cambria"/>
              </a:rPr>
              <a:t>Server</a:t>
            </a:r>
            <a:r>
              <a:rPr sz="1650" b="1" spc="185" dirty="0">
                <a:latin typeface="Cambria"/>
                <a:cs typeface="Cambria"/>
              </a:rPr>
              <a:t> </a:t>
            </a:r>
            <a:r>
              <a:rPr sz="1650" b="1" spc="110" dirty="0">
                <a:latin typeface="Cambria"/>
                <a:cs typeface="Cambria"/>
              </a:rPr>
              <a:t>Side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classes:</a:t>
            </a:r>
            <a:endParaRPr sz="1650">
              <a:latin typeface="Cambria"/>
              <a:cs typeface="Cambria"/>
            </a:endParaRPr>
          </a:p>
          <a:p>
            <a:pPr marL="671830" lvl="1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204" dirty="0">
                <a:latin typeface="Cambria"/>
                <a:cs typeface="Cambria"/>
              </a:rPr>
              <a:t>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side,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two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classes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need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provided: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servant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server.</a:t>
            </a:r>
            <a:endParaRPr sz="1650">
              <a:latin typeface="Cambria"/>
              <a:cs typeface="Cambria"/>
            </a:endParaRPr>
          </a:p>
          <a:p>
            <a:pPr marL="672465" marR="6985" lvl="1" indent="-283845">
              <a:lnSpc>
                <a:spcPct val="149700"/>
              </a:lnSpc>
              <a:spcBef>
                <a:spcPts val="9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49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servant,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HelloImpl,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49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75" dirty="0">
                <a:latin typeface="Cambria"/>
                <a:cs typeface="Cambria"/>
              </a:rPr>
              <a:t>  </a:t>
            </a:r>
            <a:r>
              <a:rPr sz="1650" spc="85" dirty="0">
                <a:latin typeface="Cambria"/>
                <a:cs typeface="Cambria"/>
              </a:rPr>
              <a:t>implementation</a:t>
            </a:r>
            <a:r>
              <a:rPr sz="1650" spc="75" dirty="0">
                <a:latin typeface="Cambria"/>
                <a:cs typeface="Cambria"/>
              </a:rPr>
              <a:t> 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49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49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Hello</a:t>
            </a:r>
            <a:r>
              <a:rPr sz="1650" spc="459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IDL</a:t>
            </a:r>
            <a:r>
              <a:rPr sz="1650" spc="49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interface;</a:t>
            </a:r>
            <a:r>
              <a:rPr sz="1650" spc="48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each</a:t>
            </a:r>
            <a:r>
              <a:rPr sz="1650" spc="49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Hello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instantiation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this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class.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49" y="1063210"/>
            <a:ext cx="29362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The</a:t>
            </a:r>
            <a:r>
              <a:rPr spc="95" dirty="0"/>
              <a:t> </a:t>
            </a:r>
            <a:r>
              <a:rPr spc="60" dirty="0"/>
              <a:t>Application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276" y="1931966"/>
            <a:ext cx="4604385" cy="4505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35"/>
              </a:spcBef>
            </a:pPr>
            <a:r>
              <a:rPr sz="1450" b="1" spc="110" dirty="0">
                <a:latin typeface="Cambria"/>
                <a:cs typeface="Cambria"/>
              </a:rPr>
              <a:t>The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spc="105" dirty="0">
                <a:latin typeface="Cambria"/>
                <a:cs typeface="Cambria"/>
              </a:rPr>
              <a:t>Servant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dirty="0">
                <a:latin typeface="Cambria"/>
                <a:cs typeface="Cambria"/>
              </a:rPr>
              <a:t>-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spc="85" dirty="0">
                <a:latin typeface="Cambria"/>
                <a:cs typeface="Cambria"/>
              </a:rPr>
              <a:t>HelloApp/HelloImpl.java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92100"/>
              </a:lnSpc>
              <a:spcBef>
                <a:spcPts val="65"/>
              </a:spcBef>
            </a:pPr>
            <a:r>
              <a:rPr sz="1450" spc="175" dirty="0">
                <a:latin typeface="Cambria"/>
                <a:cs typeface="Cambria"/>
              </a:rPr>
              <a:t>//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The</a:t>
            </a:r>
            <a:r>
              <a:rPr sz="1450" spc="204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servant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-</a:t>
            </a:r>
            <a:r>
              <a:rPr sz="1450" spc="105" dirty="0">
                <a:latin typeface="Cambria"/>
                <a:cs typeface="Cambria"/>
              </a:rPr>
              <a:t>-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object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implementation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-</a:t>
            </a:r>
            <a:r>
              <a:rPr sz="1450" spc="105" dirty="0">
                <a:latin typeface="Cambria"/>
                <a:cs typeface="Cambria"/>
              </a:rPr>
              <a:t>-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the </a:t>
            </a:r>
            <a:r>
              <a:rPr sz="1450" spc="80" dirty="0">
                <a:latin typeface="Cambria"/>
                <a:cs typeface="Cambria"/>
              </a:rPr>
              <a:t>Hello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example.</a:t>
            </a:r>
            <a:r>
              <a:rPr sz="1450" spc="160" dirty="0">
                <a:latin typeface="Cambria"/>
                <a:cs typeface="Cambria"/>
              </a:rPr>
              <a:t>  </a:t>
            </a:r>
            <a:r>
              <a:rPr sz="1450" spc="70" dirty="0">
                <a:latin typeface="Cambria"/>
                <a:cs typeface="Cambria"/>
              </a:rPr>
              <a:t>Note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that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this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is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30" dirty="0">
                <a:latin typeface="Cambria"/>
                <a:cs typeface="Cambria"/>
              </a:rPr>
              <a:t>subclass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-25" dirty="0">
                <a:latin typeface="Cambria"/>
                <a:cs typeface="Cambria"/>
              </a:rPr>
              <a:t>of </a:t>
            </a:r>
            <a:r>
              <a:rPr sz="1450" spc="110" dirty="0">
                <a:latin typeface="Cambria"/>
                <a:cs typeface="Cambria"/>
              </a:rPr>
              <a:t>HelloPOA,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whose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source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file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is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generated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from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the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610"/>
              </a:lnSpc>
            </a:pPr>
            <a:r>
              <a:rPr sz="1450" spc="175" dirty="0">
                <a:latin typeface="Cambria"/>
                <a:cs typeface="Cambria"/>
              </a:rPr>
              <a:t>//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compilation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Hello.idl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25" dirty="0">
                <a:latin typeface="Cambria"/>
                <a:cs typeface="Cambria"/>
              </a:rPr>
              <a:t>using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j2idl.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495"/>
              </a:lnSpc>
              <a:spcBef>
                <a:spcPts val="1290"/>
              </a:spcBef>
            </a:pPr>
            <a:r>
              <a:rPr sz="1300" i="1" dirty="0">
                <a:latin typeface="Cambria"/>
                <a:cs typeface="Cambria"/>
              </a:rPr>
              <a:t>import</a:t>
            </a:r>
            <a:r>
              <a:rPr sz="1300" i="1" spc="375" dirty="0">
                <a:latin typeface="Cambria"/>
                <a:cs typeface="Cambria"/>
              </a:rPr>
              <a:t> </a:t>
            </a:r>
            <a:r>
              <a:rPr sz="1300" i="1" spc="75" dirty="0">
                <a:solidFill>
                  <a:srgbClr val="FF0000"/>
                </a:solidFill>
                <a:latin typeface="Cambria"/>
                <a:cs typeface="Cambria"/>
              </a:rPr>
              <a:t>Hello</a:t>
            </a:r>
            <a:r>
              <a:rPr sz="1300" i="1" spc="75" dirty="0">
                <a:latin typeface="Cambria"/>
                <a:cs typeface="Cambria"/>
              </a:rPr>
              <a:t>App.*;</a:t>
            </a:r>
            <a:endParaRPr sz="1300">
              <a:latin typeface="Cambria"/>
              <a:cs typeface="Cambria"/>
            </a:endParaRPr>
          </a:p>
          <a:p>
            <a:pPr marL="12700" marR="2253615">
              <a:lnSpc>
                <a:spcPts val="1430"/>
              </a:lnSpc>
              <a:spcBef>
                <a:spcPts val="90"/>
              </a:spcBef>
            </a:pPr>
            <a:r>
              <a:rPr sz="1300" i="1" dirty="0">
                <a:latin typeface="Cambria"/>
                <a:cs typeface="Cambria"/>
              </a:rPr>
              <a:t>import</a:t>
            </a:r>
            <a:r>
              <a:rPr sz="1300" i="1" spc="380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org.omg.CosNaming.*; </a:t>
            </a:r>
            <a:r>
              <a:rPr sz="1300" i="1" dirty="0">
                <a:latin typeface="Cambria"/>
                <a:cs typeface="Cambria"/>
              </a:rPr>
              <a:t>import</a:t>
            </a:r>
            <a:r>
              <a:rPr sz="1300" i="1" spc="270" dirty="0">
                <a:latin typeface="Cambria"/>
                <a:cs typeface="Cambria"/>
              </a:rPr>
              <a:t> </a:t>
            </a:r>
            <a:r>
              <a:rPr sz="1300" i="1" spc="65" dirty="0">
                <a:latin typeface="Cambria"/>
                <a:cs typeface="Cambria"/>
              </a:rPr>
              <a:t>java.util.Properties;</a:t>
            </a:r>
            <a:r>
              <a:rPr sz="1300" i="1" spc="275" dirty="0">
                <a:latin typeface="Cambria"/>
                <a:cs typeface="Cambria"/>
              </a:rPr>
              <a:t> </a:t>
            </a:r>
            <a:r>
              <a:rPr sz="1300" i="1" spc="325" dirty="0">
                <a:latin typeface="Cambria"/>
                <a:cs typeface="Cambria"/>
              </a:rPr>
              <a:t>…</a:t>
            </a:r>
            <a:endParaRPr sz="1300">
              <a:latin typeface="Cambria"/>
              <a:cs typeface="Cambria"/>
            </a:endParaRPr>
          </a:p>
          <a:p>
            <a:pPr marL="767080" marR="1770380" indent="-754380">
              <a:lnSpc>
                <a:spcPts val="1420"/>
              </a:lnSpc>
              <a:spcBef>
                <a:spcPts val="5"/>
              </a:spcBef>
            </a:pPr>
            <a:r>
              <a:rPr sz="1300" i="1" spc="120" dirty="0">
                <a:latin typeface="Cambria"/>
                <a:cs typeface="Cambria"/>
              </a:rPr>
              <a:t>class</a:t>
            </a:r>
            <a:r>
              <a:rPr sz="1300" i="1" spc="130" dirty="0">
                <a:latin typeface="Cambria"/>
                <a:cs typeface="Cambria"/>
              </a:rPr>
              <a:t> </a:t>
            </a:r>
            <a:r>
              <a:rPr sz="1300" i="1" spc="55" dirty="0">
                <a:solidFill>
                  <a:srgbClr val="FF0000"/>
                </a:solidFill>
                <a:latin typeface="Cambria"/>
                <a:cs typeface="Cambria"/>
              </a:rPr>
              <a:t>Hello</a:t>
            </a:r>
            <a:r>
              <a:rPr sz="1300" i="1" spc="55" dirty="0">
                <a:latin typeface="Cambria"/>
                <a:cs typeface="Cambria"/>
              </a:rPr>
              <a:t>Impl</a:t>
            </a:r>
            <a:r>
              <a:rPr sz="1300" i="1" spc="185" dirty="0">
                <a:latin typeface="Cambria"/>
                <a:cs typeface="Cambria"/>
              </a:rPr>
              <a:t> </a:t>
            </a:r>
            <a:r>
              <a:rPr sz="1300" i="1" spc="105" dirty="0">
                <a:latin typeface="Cambria"/>
                <a:cs typeface="Cambria"/>
              </a:rPr>
              <a:t>extends</a:t>
            </a:r>
            <a:r>
              <a:rPr sz="1300" i="1" spc="180" dirty="0">
                <a:latin typeface="Cambria"/>
                <a:cs typeface="Cambria"/>
              </a:rPr>
              <a:t> </a:t>
            </a:r>
            <a:r>
              <a:rPr sz="1300" i="1" spc="95" dirty="0">
                <a:latin typeface="Cambria"/>
                <a:cs typeface="Cambria"/>
              </a:rPr>
              <a:t>HelloPOA</a:t>
            </a:r>
            <a:r>
              <a:rPr sz="1300" i="1" spc="105" dirty="0">
                <a:latin typeface="Cambria"/>
                <a:cs typeface="Cambria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{ </a:t>
            </a:r>
            <a:r>
              <a:rPr sz="1300" i="1" spc="55" dirty="0">
                <a:latin typeface="Cambria"/>
                <a:cs typeface="Cambria"/>
              </a:rPr>
              <a:t>private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170" dirty="0">
                <a:latin typeface="Cambria"/>
                <a:cs typeface="Cambria"/>
              </a:rPr>
              <a:t>ORB</a:t>
            </a:r>
            <a:r>
              <a:rPr sz="1300" i="1" spc="100" dirty="0">
                <a:latin typeface="Cambria"/>
                <a:cs typeface="Cambria"/>
              </a:rPr>
              <a:t> </a:t>
            </a:r>
            <a:r>
              <a:rPr sz="1300" i="1" spc="30" dirty="0">
                <a:latin typeface="Cambria"/>
                <a:cs typeface="Cambria"/>
              </a:rPr>
              <a:t>orb;</a:t>
            </a:r>
            <a:endParaRPr sz="1300">
              <a:latin typeface="Cambria"/>
              <a:cs typeface="Cambria"/>
            </a:endParaRPr>
          </a:p>
          <a:p>
            <a:pPr marL="767080">
              <a:lnSpc>
                <a:spcPts val="1335"/>
              </a:lnSpc>
            </a:pPr>
            <a:r>
              <a:rPr sz="1300" i="1" spc="65" dirty="0">
                <a:latin typeface="Cambria"/>
                <a:cs typeface="Cambria"/>
              </a:rPr>
              <a:t>public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void</a:t>
            </a:r>
            <a:r>
              <a:rPr sz="1300" i="1" spc="135" dirty="0">
                <a:latin typeface="Cambria"/>
                <a:cs typeface="Cambria"/>
              </a:rPr>
              <a:t> </a:t>
            </a:r>
            <a:r>
              <a:rPr sz="1300" i="1" spc="114" dirty="0">
                <a:latin typeface="Cambria"/>
                <a:cs typeface="Cambria"/>
              </a:rPr>
              <a:t>setORB(ORB</a:t>
            </a:r>
            <a:r>
              <a:rPr sz="1300" i="1" spc="15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orb_val)</a:t>
            </a:r>
            <a:r>
              <a:rPr sz="1300" i="1" spc="160" dirty="0">
                <a:latin typeface="Cambria"/>
                <a:cs typeface="Cambria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966469">
              <a:lnSpc>
                <a:spcPts val="1430"/>
              </a:lnSpc>
            </a:pPr>
            <a:r>
              <a:rPr sz="1300" i="1" spc="50" dirty="0">
                <a:latin typeface="Cambria"/>
                <a:cs typeface="Cambria"/>
              </a:rPr>
              <a:t>orb</a:t>
            </a:r>
            <a:r>
              <a:rPr sz="1300" i="1" spc="105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= </a:t>
            </a:r>
            <a:r>
              <a:rPr sz="1300" i="1" spc="60" dirty="0">
                <a:latin typeface="Cambria"/>
                <a:cs typeface="Cambria"/>
              </a:rPr>
              <a:t>orb_val;</a:t>
            </a:r>
            <a:endParaRPr sz="1300">
              <a:latin typeface="Cambria"/>
              <a:cs typeface="Cambria"/>
            </a:endParaRPr>
          </a:p>
          <a:p>
            <a:pPr marL="866140">
              <a:lnSpc>
                <a:spcPts val="1435"/>
              </a:lnSpc>
            </a:pPr>
            <a:r>
              <a:rPr sz="1300" i="1" spc="-50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435"/>
              </a:lnSpc>
            </a:pPr>
            <a:r>
              <a:rPr sz="1300" b="1" i="1" spc="-80" dirty="0">
                <a:solidFill>
                  <a:srgbClr val="FF0000"/>
                </a:solidFill>
                <a:latin typeface="Cambria"/>
                <a:cs typeface="Cambria"/>
              </a:rPr>
              <a:t>//</a:t>
            </a:r>
            <a:r>
              <a:rPr sz="1300" b="1" i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114" dirty="0">
                <a:solidFill>
                  <a:srgbClr val="FF0000"/>
                </a:solidFill>
                <a:latin typeface="Cambria"/>
                <a:cs typeface="Cambria"/>
              </a:rPr>
              <a:t>implement</a:t>
            </a:r>
            <a:r>
              <a:rPr sz="1300" b="1" i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55" dirty="0">
                <a:solidFill>
                  <a:srgbClr val="FF0000"/>
                </a:solidFill>
                <a:latin typeface="Cambria"/>
                <a:cs typeface="Cambria"/>
              </a:rPr>
              <a:t>sayHello()</a:t>
            </a:r>
            <a:r>
              <a:rPr sz="1300" b="1" i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110" dirty="0">
                <a:solidFill>
                  <a:srgbClr val="FF0000"/>
                </a:solidFill>
                <a:latin typeface="Cambria"/>
                <a:cs typeface="Cambria"/>
              </a:rPr>
              <a:t>method</a:t>
            </a:r>
            <a:endParaRPr sz="1300">
              <a:latin typeface="Cambria"/>
              <a:cs typeface="Cambria"/>
            </a:endParaRPr>
          </a:p>
          <a:p>
            <a:pPr marL="1521460" marR="661035">
              <a:lnSpc>
                <a:spcPts val="1430"/>
              </a:lnSpc>
              <a:spcBef>
                <a:spcPts val="90"/>
              </a:spcBef>
            </a:pPr>
            <a:r>
              <a:rPr sz="1300" b="1" i="1" spc="110" dirty="0">
                <a:solidFill>
                  <a:srgbClr val="FF0000"/>
                </a:solidFill>
                <a:latin typeface="Cambria"/>
                <a:cs typeface="Cambria"/>
              </a:rPr>
              <a:t>public</a:t>
            </a:r>
            <a:r>
              <a:rPr sz="1300" b="1" i="1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120" dirty="0">
                <a:solidFill>
                  <a:srgbClr val="FF0000"/>
                </a:solidFill>
                <a:latin typeface="Cambria"/>
                <a:cs typeface="Cambria"/>
              </a:rPr>
              <a:t>String</a:t>
            </a:r>
            <a:r>
              <a:rPr sz="1300" b="1" i="1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55" dirty="0">
                <a:solidFill>
                  <a:srgbClr val="FF0000"/>
                </a:solidFill>
                <a:latin typeface="Cambria"/>
                <a:cs typeface="Cambria"/>
              </a:rPr>
              <a:t>sayHello()</a:t>
            </a:r>
            <a:r>
              <a:rPr sz="1300" b="1" i="1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-50" dirty="0">
                <a:solidFill>
                  <a:srgbClr val="FF0000"/>
                </a:solidFill>
                <a:latin typeface="Cambria"/>
                <a:cs typeface="Cambria"/>
              </a:rPr>
              <a:t>{ </a:t>
            </a:r>
            <a:r>
              <a:rPr sz="1300" b="1" i="1" spc="95" dirty="0">
                <a:solidFill>
                  <a:srgbClr val="FF0000"/>
                </a:solidFill>
                <a:latin typeface="Cambria"/>
                <a:cs typeface="Cambria"/>
              </a:rPr>
              <a:t>return</a:t>
            </a:r>
            <a:r>
              <a:rPr sz="130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95" dirty="0">
                <a:solidFill>
                  <a:srgbClr val="FF0000"/>
                </a:solidFill>
                <a:latin typeface="Cambria"/>
                <a:cs typeface="Cambria"/>
              </a:rPr>
              <a:t>"\nHello</a:t>
            </a:r>
            <a:r>
              <a:rPr sz="1300" b="1" i="1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110" dirty="0">
                <a:solidFill>
                  <a:srgbClr val="FF0000"/>
                </a:solidFill>
                <a:latin typeface="Cambria"/>
                <a:cs typeface="Cambria"/>
              </a:rPr>
              <a:t>world</a:t>
            </a:r>
            <a:r>
              <a:rPr sz="1300" b="1" i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300" b="1" i="1" spc="40" dirty="0">
                <a:solidFill>
                  <a:srgbClr val="FF0000"/>
                </a:solidFill>
                <a:latin typeface="Cambria"/>
                <a:cs typeface="Cambria"/>
              </a:rPr>
              <a:t>!!\n";</a:t>
            </a:r>
            <a:endParaRPr sz="1300">
              <a:latin typeface="Cambria"/>
              <a:cs typeface="Cambria"/>
            </a:endParaRPr>
          </a:p>
          <a:p>
            <a:pPr marL="1521460">
              <a:lnSpc>
                <a:spcPts val="1400"/>
              </a:lnSpc>
            </a:pPr>
            <a:r>
              <a:rPr sz="1300" b="1" i="1" spc="-50" dirty="0">
                <a:solidFill>
                  <a:srgbClr val="FF0000"/>
                </a:solidFill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490"/>
              </a:lnSpc>
              <a:spcBef>
                <a:spcPts val="1275"/>
              </a:spcBef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05" dirty="0">
                <a:latin typeface="Cambria"/>
                <a:cs typeface="Cambria"/>
              </a:rPr>
              <a:t> </a:t>
            </a:r>
            <a:r>
              <a:rPr sz="1300" i="1" spc="70" dirty="0">
                <a:latin typeface="Cambria"/>
                <a:cs typeface="Cambria"/>
              </a:rPr>
              <a:t>implement</a:t>
            </a:r>
            <a:r>
              <a:rPr sz="1300" i="1" spc="150" dirty="0">
                <a:latin typeface="Cambria"/>
                <a:cs typeface="Cambria"/>
              </a:rPr>
              <a:t> </a:t>
            </a:r>
            <a:r>
              <a:rPr sz="1300" i="1" spc="65" dirty="0">
                <a:latin typeface="Cambria"/>
                <a:cs typeface="Cambria"/>
              </a:rPr>
              <a:t>shutdown()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70" dirty="0">
                <a:latin typeface="Cambria"/>
                <a:cs typeface="Cambria"/>
              </a:rPr>
              <a:t>method</a:t>
            </a:r>
            <a:endParaRPr sz="1300">
              <a:latin typeface="Cambria"/>
              <a:cs typeface="Cambria"/>
            </a:endParaRPr>
          </a:p>
          <a:p>
            <a:pPr marL="1521460" marR="1151890">
              <a:lnSpc>
                <a:spcPts val="1430"/>
              </a:lnSpc>
              <a:spcBef>
                <a:spcPts val="85"/>
              </a:spcBef>
            </a:pPr>
            <a:r>
              <a:rPr sz="1300" i="1" spc="65" dirty="0">
                <a:latin typeface="Cambria"/>
                <a:cs typeface="Cambria"/>
              </a:rPr>
              <a:t>public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void</a:t>
            </a:r>
            <a:r>
              <a:rPr sz="1300" i="1" spc="130" dirty="0">
                <a:latin typeface="Cambria"/>
                <a:cs typeface="Cambria"/>
              </a:rPr>
              <a:t> </a:t>
            </a:r>
            <a:r>
              <a:rPr sz="1300" i="1" spc="65" dirty="0">
                <a:latin typeface="Cambria"/>
                <a:cs typeface="Cambria"/>
              </a:rPr>
              <a:t>shutdown()</a:t>
            </a:r>
            <a:r>
              <a:rPr sz="1300" i="1" spc="175" dirty="0">
                <a:latin typeface="Cambria"/>
                <a:cs typeface="Cambria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{ </a:t>
            </a:r>
            <a:r>
              <a:rPr sz="1300" i="1" spc="65" dirty="0">
                <a:latin typeface="Cambria"/>
                <a:cs typeface="Cambria"/>
              </a:rPr>
              <a:t>orb.shutdown(false);</a:t>
            </a:r>
            <a:endParaRPr sz="1300">
              <a:latin typeface="Cambria"/>
              <a:cs typeface="Cambria"/>
            </a:endParaRPr>
          </a:p>
          <a:p>
            <a:pPr marL="1521460">
              <a:lnSpc>
                <a:spcPts val="1335"/>
              </a:lnSpc>
            </a:pPr>
            <a:r>
              <a:rPr sz="1300" i="1" spc="-50" dirty="0">
                <a:latin typeface="Cambria"/>
                <a:cs typeface="Cambria"/>
              </a:rPr>
              <a:t>}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495"/>
              </a:lnSpc>
            </a:pPr>
            <a:r>
              <a:rPr sz="1300" i="1" dirty="0">
                <a:latin typeface="Cambria"/>
                <a:cs typeface="Cambria"/>
              </a:rPr>
              <a:t>}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150" dirty="0">
                <a:latin typeface="Cambria"/>
                <a:cs typeface="Cambria"/>
              </a:rPr>
              <a:t>//end</a:t>
            </a:r>
            <a:r>
              <a:rPr sz="1300" i="1" spc="100" dirty="0">
                <a:latin typeface="Cambria"/>
                <a:cs typeface="Cambria"/>
              </a:rPr>
              <a:t> </a:t>
            </a:r>
            <a:r>
              <a:rPr sz="1300" i="1" spc="110" dirty="0">
                <a:latin typeface="Cambria"/>
                <a:cs typeface="Cambria"/>
              </a:rPr>
              <a:t>class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3446" y="2256585"/>
            <a:ext cx="4563745" cy="35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10" dirty="0">
                <a:latin typeface="Cambria"/>
                <a:cs typeface="Cambria"/>
              </a:rPr>
              <a:t>The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spc="105" dirty="0">
                <a:latin typeface="Cambria"/>
                <a:cs typeface="Cambria"/>
              </a:rPr>
              <a:t>Servant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dirty="0">
                <a:latin typeface="Cambria"/>
                <a:cs typeface="Cambria"/>
              </a:rPr>
              <a:t>-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spc="80" dirty="0">
                <a:latin typeface="Cambria"/>
                <a:cs typeface="Cambria"/>
              </a:rPr>
              <a:t>HelloApp/HelloServer.java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490"/>
              </a:lnSpc>
              <a:spcBef>
                <a:spcPts val="1290"/>
              </a:spcBef>
            </a:pPr>
            <a:r>
              <a:rPr sz="1300" i="1" spc="65" dirty="0">
                <a:latin typeface="Cambria"/>
                <a:cs typeface="Cambria"/>
              </a:rPr>
              <a:t>public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120" dirty="0">
                <a:latin typeface="Cambria"/>
                <a:cs typeface="Cambria"/>
              </a:rPr>
              <a:t>class</a:t>
            </a:r>
            <a:r>
              <a:rPr sz="1300" i="1" spc="15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HelloServer</a:t>
            </a:r>
            <a:r>
              <a:rPr sz="1300" i="1" spc="120" dirty="0">
                <a:latin typeface="Cambria"/>
                <a:cs typeface="Cambria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{</a:t>
            </a:r>
            <a:endParaRPr sz="1300">
              <a:latin typeface="Cambria"/>
              <a:cs typeface="Cambria"/>
            </a:endParaRPr>
          </a:p>
          <a:p>
            <a:pPr marL="161925" marR="1470025" indent="-50800">
              <a:lnSpc>
                <a:spcPts val="1430"/>
              </a:lnSpc>
              <a:spcBef>
                <a:spcPts val="85"/>
              </a:spcBef>
            </a:pPr>
            <a:r>
              <a:rPr sz="1300" i="1" spc="65" dirty="0">
                <a:latin typeface="Cambria"/>
                <a:cs typeface="Cambria"/>
              </a:rPr>
              <a:t>public</a:t>
            </a:r>
            <a:r>
              <a:rPr sz="1300" i="1" spc="145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static</a:t>
            </a:r>
            <a:r>
              <a:rPr sz="1300" i="1" spc="17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void</a:t>
            </a:r>
            <a:r>
              <a:rPr sz="1300" i="1" spc="145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main(String</a:t>
            </a:r>
            <a:r>
              <a:rPr sz="1300" i="1" spc="190" dirty="0">
                <a:latin typeface="Cambria"/>
                <a:cs typeface="Cambria"/>
              </a:rPr>
              <a:t> </a:t>
            </a:r>
            <a:r>
              <a:rPr sz="1300" i="1" dirty="0">
                <a:latin typeface="Cambria"/>
                <a:cs typeface="Cambria"/>
              </a:rPr>
              <a:t>args[])</a:t>
            </a:r>
            <a:r>
              <a:rPr sz="1300" i="1" spc="135" dirty="0">
                <a:latin typeface="Cambria"/>
                <a:cs typeface="Cambria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{ </a:t>
            </a:r>
            <a:r>
              <a:rPr sz="1300" i="1" spc="-20" dirty="0">
                <a:latin typeface="Cambria"/>
                <a:cs typeface="Cambria"/>
              </a:rPr>
              <a:t>try{</a:t>
            </a:r>
            <a:endParaRPr sz="1300">
              <a:latin typeface="Cambria"/>
              <a:cs typeface="Cambria"/>
            </a:endParaRPr>
          </a:p>
          <a:p>
            <a:pPr marL="161925">
              <a:lnSpc>
                <a:spcPts val="1335"/>
              </a:lnSpc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create</a:t>
            </a:r>
            <a:r>
              <a:rPr sz="1300" i="1" spc="160" dirty="0">
                <a:latin typeface="Cambria"/>
                <a:cs typeface="Cambria"/>
              </a:rPr>
              <a:t> </a:t>
            </a:r>
            <a:r>
              <a:rPr sz="1300" i="1" spc="120" dirty="0">
                <a:latin typeface="Cambria"/>
                <a:cs typeface="Cambria"/>
              </a:rPr>
              <a:t>and</a:t>
            </a:r>
            <a:r>
              <a:rPr sz="1300" i="1" spc="145" dirty="0">
                <a:latin typeface="Cambria"/>
                <a:cs typeface="Cambria"/>
              </a:rPr>
              <a:t> </a:t>
            </a:r>
            <a:r>
              <a:rPr sz="1300" i="1" spc="45" dirty="0">
                <a:latin typeface="Cambria"/>
                <a:cs typeface="Cambria"/>
              </a:rPr>
              <a:t>initialize</a:t>
            </a:r>
            <a:r>
              <a:rPr sz="1300" i="1" spc="175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the</a:t>
            </a:r>
            <a:r>
              <a:rPr sz="1300" i="1" spc="175" dirty="0">
                <a:latin typeface="Cambria"/>
                <a:cs typeface="Cambria"/>
              </a:rPr>
              <a:t> </a:t>
            </a:r>
            <a:r>
              <a:rPr sz="1300" i="1" spc="145" dirty="0">
                <a:latin typeface="Cambria"/>
                <a:cs typeface="Cambria"/>
              </a:rPr>
              <a:t>ORB</a:t>
            </a:r>
            <a:endParaRPr sz="1300">
              <a:latin typeface="Cambria"/>
              <a:cs typeface="Cambria"/>
            </a:endParaRPr>
          </a:p>
          <a:p>
            <a:pPr marL="161925">
              <a:lnSpc>
                <a:spcPts val="1430"/>
              </a:lnSpc>
            </a:pPr>
            <a:r>
              <a:rPr sz="1300" i="1" spc="170" dirty="0">
                <a:latin typeface="Cambria"/>
                <a:cs typeface="Cambria"/>
              </a:rPr>
              <a:t>ORB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orb</a:t>
            </a:r>
            <a:r>
              <a:rPr sz="1300" i="1" spc="125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=</a:t>
            </a:r>
            <a:r>
              <a:rPr sz="1300" i="1" spc="12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ORB.init(args,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-10" dirty="0">
                <a:latin typeface="Cambria"/>
                <a:cs typeface="Cambria"/>
              </a:rPr>
              <a:t>null);</a:t>
            </a:r>
            <a:endParaRPr sz="1300">
              <a:latin typeface="Cambria"/>
              <a:cs typeface="Cambria"/>
            </a:endParaRPr>
          </a:p>
          <a:p>
            <a:pPr marL="161925" marR="5080">
              <a:lnSpc>
                <a:spcPts val="1420"/>
              </a:lnSpc>
              <a:spcBef>
                <a:spcPts val="100"/>
              </a:spcBef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45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get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reference</a:t>
            </a:r>
            <a:r>
              <a:rPr sz="1300" i="1" spc="105" dirty="0">
                <a:latin typeface="Cambria"/>
                <a:cs typeface="Cambria"/>
              </a:rPr>
              <a:t> </a:t>
            </a:r>
            <a:r>
              <a:rPr sz="1300" i="1" dirty="0">
                <a:latin typeface="Cambria"/>
                <a:cs typeface="Cambria"/>
              </a:rPr>
              <a:t>to</a:t>
            </a:r>
            <a:r>
              <a:rPr sz="1300" i="1" spc="190" dirty="0">
                <a:latin typeface="Cambria"/>
                <a:cs typeface="Cambria"/>
              </a:rPr>
              <a:t> </a:t>
            </a:r>
            <a:r>
              <a:rPr sz="1300" i="1" dirty="0">
                <a:latin typeface="Cambria"/>
                <a:cs typeface="Cambria"/>
              </a:rPr>
              <a:t>rootpoa</a:t>
            </a:r>
            <a:r>
              <a:rPr sz="1300" i="1" spc="180" dirty="0">
                <a:latin typeface="Cambria"/>
                <a:cs typeface="Cambria"/>
              </a:rPr>
              <a:t> </a:t>
            </a:r>
            <a:r>
              <a:rPr sz="1300" i="1" spc="215" dirty="0">
                <a:latin typeface="Cambria"/>
                <a:cs typeface="Cambria"/>
              </a:rPr>
              <a:t>&amp;</a:t>
            </a:r>
            <a:r>
              <a:rPr sz="1300" i="1" spc="155" dirty="0">
                <a:latin typeface="Cambria"/>
                <a:cs typeface="Cambria"/>
              </a:rPr>
              <a:t> </a:t>
            </a:r>
            <a:r>
              <a:rPr sz="1300" i="1" spc="60" dirty="0">
                <a:latin typeface="Cambria"/>
                <a:cs typeface="Cambria"/>
              </a:rPr>
              <a:t>activate</a:t>
            </a:r>
            <a:r>
              <a:rPr sz="1300" i="1" spc="190" dirty="0">
                <a:latin typeface="Cambria"/>
                <a:cs typeface="Cambria"/>
              </a:rPr>
              <a:t> </a:t>
            </a:r>
            <a:r>
              <a:rPr sz="1300" i="1" spc="60" dirty="0">
                <a:latin typeface="Cambria"/>
                <a:cs typeface="Cambria"/>
              </a:rPr>
              <a:t>the</a:t>
            </a:r>
            <a:r>
              <a:rPr sz="1300" i="1" spc="190" dirty="0">
                <a:latin typeface="Cambria"/>
                <a:cs typeface="Cambria"/>
              </a:rPr>
              <a:t> </a:t>
            </a:r>
            <a:r>
              <a:rPr sz="1300" i="1" spc="85" dirty="0">
                <a:latin typeface="Cambria"/>
                <a:cs typeface="Cambria"/>
              </a:rPr>
              <a:t>POAManager </a:t>
            </a:r>
            <a:r>
              <a:rPr sz="1300" i="1" spc="135" dirty="0">
                <a:latin typeface="Cambria"/>
                <a:cs typeface="Cambria"/>
              </a:rPr>
              <a:t>POA</a:t>
            </a:r>
            <a:r>
              <a:rPr sz="1300" i="1" spc="250" dirty="0">
                <a:latin typeface="Cambria"/>
                <a:cs typeface="Cambria"/>
              </a:rPr>
              <a:t> </a:t>
            </a:r>
            <a:r>
              <a:rPr sz="1300" i="1" dirty="0">
                <a:latin typeface="Cambria"/>
                <a:cs typeface="Cambria"/>
              </a:rPr>
              <a:t>rootpoa</a:t>
            </a:r>
            <a:r>
              <a:rPr sz="1300" i="1" spc="31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=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335"/>
              </a:lnSpc>
            </a:pPr>
            <a:r>
              <a:rPr sz="1300" i="1" spc="50" dirty="0">
                <a:latin typeface="Cambria"/>
                <a:cs typeface="Cambria"/>
              </a:rPr>
              <a:t>(POA)orb.resolve_initial_references("RootPOA");</a:t>
            </a:r>
            <a:endParaRPr sz="1300">
              <a:latin typeface="Cambria"/>
              <a:cs typeface="Cambria"/>
            </a:endParaRPr>
          </a:p>
          <a:p>
            <a:pPr marL="161925">
              <a:lnSpc>
                <a:spcPts val="1430"/>
              </a:lnSpc>
            </a:pPr>
            <a:r>
              <a:rPr sz="1300" i="1" spc="45" dirty="0">
                <a:latin typeface="Cambria"/>
                <a:cs typeface="Cambria"/>
              </a:rPr>
              <a:t>rootpoa.the_POAManager().activate();</a:t>
            </a:r>
            <a:endParaRPr sz="1300">
              <a:latin typeface="Cambria"/>
              <a:cs typeface="Cambria"/>
            </a:endParaRPr>
          </a:p>
          <a:p>
            <a:pPr marL="161925" marR="707390">
              <a:lnSpc>
                <a:spcPct val="91200"/>
              </a:lnSpc>
              <a:spcBef>
                <a:spcPts val="70"/>
              </a:spcBef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create</a:t>
            </a:r>
            <a:r>
              <a:rPr sz="1300" i="1" spc="155" dirty="0">
                <a:latin typeface="Cambria"/>
                <a:cs typeface="Cambria"/>
              </a:rPr>
              <a:t> </a:t>
            </a:r>
            <a:r>
              <a:rPr sz="1300" i="1" spc="85" dirty="0">
                <a:latin typeface="Cambria"/>
                <a:cs typeface="Cambria"/>
              </a:rPr>
              <a:t>servant</a:t>
            </a:r>
            <a:r>
              <a:rPr sz="1300" i="1" spc="130" dirty="0">
                <a:latin typeface="Cambria"/>
                <a:cs typeface="Cambria"/>
              </a:rPr>
              <a:t> </a:t>
            </a:r>
            <a:r>
              <a:rPr sz="1300" i="1" spc="120" dirty="0">
                <a:latin typeface="Cambria"/>
                <a:cs typeface="Cambria"/>
              </a:rPr>
              <a:t>and</a:t>
            </a:r>
            <a:r>
              <a:rPr sz="1300" i="1" spc="150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register</a:t>
            </a:r>
            <a:r>
              <a:rPr sz="1300" i="1" spc="155" dirty="0">
                <a:latin typeface="Cambria"/>
                <a:cs typeface="Cambria"/>
              </a:rPr>
              <a:t> </a:t>
            </a:r>
            <a:r>
              <a:rPr sz="1300" i="1" dirty="0">
                <a:latin typeface="Cambria"/>
                <a:cs typeface="Cambria"/>
              </a:rPr>
              <a:t>it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70" dirty="0">
                <a:latin typeface="Cambria"/>
                <a:cs typeface="Cambria"/>
              </a:rPr>
              <a:t>with</a:t>
            </a:r>
            <a:r>
              <a:rPr sz="1300" i="1" spc="185" dirty="0">
                <a:latin typeface="Cambria"/>
                <a:cs typeface="Cambria"/>
              </a:rPr>
              <a:t> </a:t>
            </a:r>
            <a:r>
              <a:rPr sz="1300" i="1" spc="60" dirty="0">
                <a:latin typeface="Cambria"/>
                <a:cs typeface="Cambria"/>
              </a:rPr>
              <a:t>the</a:t>
            </a:r>
            <a:r>
              <a:rPr sz="1300" i="1" spc="145" dirty="0">
                <a:latin typeface="Cambria"/>
                <a:cs typeface="Cambria"/>
              </a:rPr>
              <a:t> ORB </a:t>
            </a:r>
            <a:r>
              <a:rPr sz="1300" i="1" spc="55" dirty="0">
                <a:latin typeface="Cambria"/>
                <a:cs typeface="Cambria"/>
              </a:rPr>
              <a:t>HelloImpl</a:t>
            </a:r>
            <a:r>
              <a:rPr sz="1300" i="1" spc="18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helloImpl</a:t>
            </a:r>
            <a:r>
              <a:rPr sz="1300" i="1" spc="185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=</a:t>
            </a:r>
            <a:r>
              <a:rPr sz="1300" i="1" spc="130" dirty="0">
                <a:latin typeface="Cambria"/>
                <a:cs typeface="Cambria"/>
              </a:rPr>
              <a:t> </a:t>
            </a:r>
            <a:r>
              <a:rPr sz="1300" i="1" spc="135" dirty="0">
                <a:latin typeface="Cambria"/>
                <a:cs typeface="Cambria"/>
              </a:rPr>
              <a:t>new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-10" dirty="0">
                <a:latin typeface="Cambria"/>
                <a:cs typeface="Cambria"/>
              </a:rPr>
              <a:t>HelloImpl(); </a:t>
            </a:r>
            <a:r>
              <a:rPr sz="1300" i="1" spc="50" dirty="0">
                <a:latin typeface="Cambria"/>
                <a:cs typeface="Cambria"/>
              </a:rPr>
              <a:t>helloImpl.setORB(orb);</a:t>
            </a:r>
            <a:endParaRPr sz="1300">
              <a:latin typeface="Cambria"/>
              <a:cs typeface="Cambria"/>
            </a:endParaRPr>
          </a:p>
          <a:p>
            <a:pPr marL="161925" marR="1235075">
              <a:lnSpc>
                <a:spcPts val="1430"/>
              </a:lnSpc>
              <a:spcBef>
                <a:spcPts val="25"/>
              </a:spcBef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get</a:t>
            </a:r>
            <a:r>
              <a:rPr sz="1300" i="1" spc="13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object</a:t>
            </a:r>
            <a:r>
              <a:rPr sz="1300" i="1" spc="12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reference</a:t>
            </a:r>
            <a:r>
              <a:rPr sz="1300" i="1" spc="90" dirty="0">
                <a:latin typeface="Cambria"/>
                <a:cs typeface="Cambria"/>
              </a:rPr>
              <a:t> </a:t>
            </a:r>
            <a:r>
              <a:rPr sz="1300" i="1" spc="60" dirty="0">
                <a:latin typeface="Cambria"/>
                <a:cs typeface="Cambria"/>
              </a:rPr>
              <a:t>from</a:t>
            </a:r>
            <a:r>
              <a:rPr sz="1300" i="1" spc="85" dirty="0">
                <a:latin typeface="Cambria"/>
                <a:cs typeface="Cambria"/>
              </a:rPr>
              <a:t> </a:t>
            </a:r>
            <a:r>
              <a:rPr sz="1300" i="1" spc="60" dirty="0">
                <a:latin typeface="Cambria"/>
                <a:cs typeface="Cambria"/>
              </a:rPr>
              <a:t>the</a:t>
            </a:r>
            <a:r>
              <a:rPr sz="1300" i="1" spc="14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servant </a:t>
            </a:r>
            <a:r>
              <a:rPr sz="1300" i="1" spc="100" dirty="0">
                <a:latin typeface="Cambria"/>
                <a:cs typeface="Cambria"/>
              </a:rPr>
              <a:t>org.omg.CORBA.Object</a:t>
            </a:r>
            <a:r>
              <a:rPr sz="1300" i="1" spc="150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ref</a:t>
            </a:r>
            <a:r>
              <a:rPr sz="1300" i="1" spc="13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=</a:t>
            </a:r>
            <a:endParaRPr sz="1300">
              <a:latin typeface="Cambria"/>
              <a:cs typeface="Cambria"/>
            </a:endParaRPr>
          </a:p>
          <a:p>
            <a:pPr marL="311150">
              <a:lnSpc>
                <a:spcPts val="1335"/>
              </a:lnSpc>
            </a:pPr>
            <a:r>
              <a:rPr sz="1300" i="1" spc="50" dirty="0">
                <a:latin typeface="Cambria"/>
                <a:cs typeface="Cambria"/>
              </a:rPr>
              <a:t>rootpoa.servant_to_reference(helloImpl);</a:t>
            </a:r>
            <a:endParaRPr sz="1300">
              <a:latin typeface="Cambria"/>
              <a:cs typeface="Cambria"/>
            </a:endParaRPr>
          </a:p>
          <a:p>
            <a:pPr marL="161925" marR="566420">
              <a:lnSpc>
                <a:spcPts val="1420"/>
              </a:lnSpc>
              <a:spcBef>
                <a:spcPts val="95"/>
              </a:spcBef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120" dirty="0">
                <a:latin typeface="Cambria"/>
                <a:cs typeface="Cambria"/>
              </a:rPr>
              <a:t>and</a:t>
            </a:r>
            <a:r>
              <a:rPr sz="1300" i="1" spc="140" dirty="0">
                <a:latin typeface="Cambria"/>
                <a:cs typeface="Cambria"/>
              </a:rPr>
              <a:t> </a:t>
            </a:r>
            <a:r>
              <a:rPr sz="1300" i="1" spc="90" dirty="0">
                <a:latin typeface="Cambria"/>
                <a:cs typeface="Cambria"/>
              </a:rPr>
              <a:t>cast</a:t>
            </a:r>
            <a:r>
              <a:rPr sz="1300" i="1" spc="140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the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reference </a:t>
            </a:r>
            <a:r>
              <a:rPr sz="1300" i="1" dirty="0">
                <a:latin typeface="Cambria"/>
                <a:cs typeface="Cambria"/>
              </a:rPr>
              <a:t>to</a:t>
            </a:r>
            <a:r>
              <a:rPr sz="1300" i="1" spc="155" dirty="0">
                <a:latin typeface="Cambria"/>
                <a:cs typeface="Cambria"/>
              </a:rPr>
              <a:t> </a:t>
            </a:r>
            <a:r>
              <a:rPr sz="1300" i="1" spc="130" dirty="0">
                <a:latin typeface="Cambria"/>
                <a:cs typeface="Cambria"/>
              </a:rPr>
              <a:t>a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180" dirty="0">
                <a:latin typeface="Cambria"/>
                <a:cs typeface="Cambria"/>
              </a:rPr>
              <a:t>CORBA</a:t>
            </a:r>
            <a:r>
              <a:rPr sz="1300" i="1" spc="100" dirty="0">
                <a:latin typeface="Cambria"/>
                <a:cs typeface="Cambria"/>
              </a:rPr>
              <a:t> </a:t>
            </a:r>
            <a:r>
              <a:rPr sz="1300" i="1" spc="65" dirty="0">
                <a:latin typeface="Cambria"/>
                <a:cs typeface="Cambria"/>
              </a:rPr>
              <a:t>reference </a:t>
            </a:r>
            <a:r>
              <a:rPr sz="1300" i="1" spc="70" dirty="0">
                <a:latin typeface="Cambria"/>
                <a:cs typeface="Cambria"/>
              </a:rPr>
              <a:t>Hello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70" dirty="0">
                <a:latin typeface="Cambria"/>
                <a:cs typeface="Cambria"/>
              </a:rPr>
              <a:t>href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=</a:t>
            </a:r>
            <a:r>
              <a:rPr sz="1300" i="1" spc="114" dirty="0">
                <a:latin typeface="Cambria"/>
                <a:cs typeface="Cambria"/>
              </a:rPr>
              <a:t> </a:t>
            </a:r>
            <a:r>
              <a:rPr sz="1300" i="1" spc="45" dirty="0">
                <a:latin typeface="Cambria"/>
                <a:cs typeface="Cambria"/>
              </a:rPr>
              <a:t>HelloHelper.narrow(ref);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68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The</a:t>
            </a:r>
            <a:r>
              <a:rPr spc="95" dirty="0"/>
              <a:t> </a:t>
            </a:r>
            <a:r>
              <a:rPr spc="60" dirty="0"/>
              <a:t>Application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041" y="2265720"/>
            <a:ext cx="7136765" cy="367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100" dirty="0">
                <a:latin typeface="Cambria"/>
                <a:cs typeface="Cambria"/>
              </a:rPr>
              <a:t>The</a:t>
            </a:r>
            <a:r>
              <a:rPr sz="1650" b="1" spc="195" dirty="0">
                <a:latin typeface="Cambria"/>
                <a:cs typeface="Cambria"/>
              </a:rPr>
              <a:t> </a:t>
            </a:r>
            <a:r>
              <a:rPr sz="1650" b="1" spc="105" dirty="0">
                <a:latin typeface="Cambria"/>
                <a:cs typeface="Cambria"/>
              </a:rPr>
              <a:t>Servant</a:t>
            </a:r>
            <a:r>
              <a:rPr sz="1650" b="1" spc="215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-</a:t>
            </a:r>
            <a:r>
              <a:rPr sz="1650" b="1" spc="204" dirty="0">
                <a:latin typeface="Cambria"/>
                <a:cs typeface="Cambria"/>
              </a:rPr>
              <a:t> </a:t>
            </a:r>
            <a:r>
              <a:rPr sz="1650" b="1" spc="70" dirty="0">
                <a:latin typeface="Cambria"/>
                <a:cs typeface="Cambria"/>
              </a:rPr>
              <a:t>HelloApp/HelloServer.java</a:t>
            </a:r>
            <a:endParaRPr sz="1650">
              <a:latin typeface="Cambria"/>
              <a:cs typeface="Cambria"/>
            </a:endParaRPr>
          </a:p>
          <a:p>
            <a:pPr marL="181610" marR="2799715" indent="-169545">
              <a:lnSpc>
                <a:spcPts val="1789"/>
              </a:lnSpc>
              <a:spcBef>
                <a:spcPts val="35"/>
              </a:spcBef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14" dirty="0">
                <a:latin typeface="Cambria"/>
                <a:cs typeface="Cambria"/>
              </a:rPr>
              <a:t> </a:t>
            </a:r>
            <a:r>
              <a:rPr sz="1450" i="1" spc="155" dirty="0">
                <a:latin typeface="Cambria"/>
                <a:cs typeface="Cambria"/>
              </a:rPr>
              <a:t>and</a:t>
            </a:r>
            <a:r>
              <a:rPr sz="1450" i="1" spc="140" dirty="0">
                <a:latin typeface="Cambria"/>
                <a:cs typeface="Cambria"/>
              </a:rPr>
              <a:t> </a:t>
            </a:r>
            <a:r>
              <a:rPr sz="1450" i="1" spc="114" dirty="0">
                <a:latin typeface="Cambria"/>
                <a:cs typeface="Cambria"/>
              </a:rPr>
              <a:t>cast</a:t>
            </a:r>
            <a:r>
              <a:rPr sz="1450" i="1" spc="165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the</a:t>
            </a:r>
            <a:r>
              <a:rPr sz="1450" i="1" spc="165" dirty="0">
                <a:latin typeface="Cambria"/>
                <a:cs typeface="Cambria"/>
              </a:rPr>
              <a:t> </a:t>
            </a:r>
            <a:r>
              <a:rPr sz="1450" i="1" spc="95" dirty="0">
                <a:latin typeface="Cambria"/>
                <a:cs typeface="Cambria"/>
              </a:rPr>
              <a:t>reference</a:t>
            </a:r>
            <a:r>
              <a:rPr sz="1450" i="1" spc="105" dirty="0">
                <a:latin typeface="Cambria"/>
                <a:cs typeface="Cambria"/>
              </a:rPr>
              <a:t> </a:t>
            </a:r>
            <a:r>
              <a:rPr sz="1450" i="1" dirty="0">
                <a:latin typeface="Cambria"/>
                <a:cs typeface="Cambria"/>
              </a:rPr>
              <a:t>to</a:t>
            </a:r>
            <a:r>
              <a:rPr sz="1450" i="1" spc="165" dirty="0">
                <a:latin typeface="Cambria"/>
                <a:cs typeface="Cambria"/>
              </a:rPr>
              <a:t> </a:t>
            </a:r>
            <a:r>
              <a:rPr sz="1450" i="1" spc="160" dirty="0">
                <a:latin typeface="Cambria"/>
                <a:cs typeface="Cambria"/>
              </a:rPr>
              <a:t>a</a:t>
            </a:r>
            <a:r>
              <a:rPr sz="1450" i="1" spc="135" dirty="0">
                <a:latin typeface="Cambria"/>
                <a:cs typeface="Cambria"/>
              </a:rPr>
              <a:t> </a:t>
            </a:r>
            <a:r>
              <a:rPr sz="1450" i="1" spc="210" dirty="0">
                <a:latin typeface="Cambria"/>
                <a:cs typeface="Cambria"/>
              </a:rPr>
              <a:t>CORBA</a:t>
            </a:r>
            <a:r>
              <a:rPr sz="1450" i="1" spc="135" dirty="0">
                <a:latin typeface="Cambria"/>
                <a:cs typeface="Cambria"/>
              </a:rPr>
              <a:t> </a:t>
            </a:r>
            <a:r>
              <a:rPr sz="1450" i="1" spc="85" dirty="0">
                <a:latin typeface="Cambria"/>
                <a:cs typeface="Cambria"/>
              </a:rPr>
              <a:t>reference </a:t>
            </a:r>
            <a:r>
              <a:rPr sz="1450" i="1" spc="90" dirty="0">
                <a:latin typeface="Cambria"/>
                <a:cs typeface="Cambria"/>
              </a:rPr>
              <a:t>Hello</a:t>
            </a:r>
            <a:r>
              <a:rPr sz="1450" i="1" spc="114" dirty="0">
                <a:latin typeface="Cambria"/>
                <a:cs typeface="Cambria"/>
              </a:rPr>
              <a:t> </a:t>
            </a:r>
            <a:r>
              <a:rPr sz="1450" i="1" spc="85" dirty="0">
                <a:latin typeface="Cambria"/>
                <a:cs typeface="Cambria"/>
              </a:rPr>
              <a:t>href</a:t>
            </a:r>
            <a:r>
              <a:rPr sz="1450" i="1" spc="150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=</a:t>
            </a:r>
            <a:r>
              <a:rPr sz="1450" i="1" spc="120" dirty="0">
                <a:latin typeface="Cambria"/>
                <a:cs typeface="Cambria"/>
              </a:rPr>
              <a:t> </a:t>
            </a:r>
            <a:r>
              <a:rPr sz="1450" i="1" spc="65" dirty="0">
                <a:latin typeface="Cambria"/>
                <a:cs typeface="Cambria"/>
              </a:rPr>
              <a:t>HelloHelper.narrow(ref);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705"/>
              </a:lnSpc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40" dirty="0">
                <a:latin typeface="Cambria"/>
                <a:cs typeface="Cambria"/>
              </a:rPr>
              <a:t> </a:t>
            </a:r>
            <a:r>
              <a:rPr sz="1450" i="1" spc="65" dirty="0">
                <a:latin typeface="Cambria"/>
                <a:cs typeface="Cambria"/>
              </a:rPr>
              <a:t>get</a:t>
            </a:r>
            <a:r>
              <a:rPr sz="1450" i="1" spc="155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the</a:t>
            </a:r>
            <a:r>
              <a:rPr sz="1450" i="1" spc="195" dirty="0">
                <a:latin typeface="Cambria"/>
                <a:cs typeface="Cambria"/>
              </a:rPr>
              <a:t> </a:t>
            </a:r>
            <a:r>
              <a:rPr sz="1450" i="1" dirty="0">
                <a:latin typeface="Cambria"/>
                <a:cs typeface="Cambria"/>
              </a:rPr>
              <a:t>root</a:t>
            </a:r>
            <a:r>
              <a:rPr sz="1450" i="1" spc="155" dirty="0">
                <a:latin typeface="Cambria"/>
                <a:cs typeface="Cambria"/>
              </a:rPr>
              <a:t> </a:t>
            </a:r>
            <a:r>
              <a:rPr sz="1450" i="1" spc="100" dirty="0">
                <a:latin typeface="Cambria"/>
                <a:cs typeface="Cambria"/>
              </a:rPr>
              <a:t>naming</a:t>
            </a:r>
            <a:r>
              <a:rPr sz="1450" i="1" spc="210" dirty="0">
                <a:latin typeface="Cambria"/>
                <a:cs typeface="Cambria"/>
              </a:rPr>
              <a:t> </a:t>
            </a:r>
            <a:r>
              <a:rPr sz="1450" i="1" spc="65" dirty="0">
                <a:latin typeface="Cambria"/>
                <a:cs typeface="Cambria"/>
              </a:rPr>
              <a:t>context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14" dirty="0">
                <a:latin typeface="Cambria"/>
                <a:cs typeface="Cambria"/>
              </a:rPr>
              <a:t> </a:t>
            </a:r>
            <a:r>
              <a:rPr sz="1450" i="1" spc="110" dirty="0">
                <a:latin typeface="Cambria"/>
                <a:cs typeface="Cambria"/>
              </a:rPr>
              <a:t>NameService</a:t>
            </a:r>
            <a:r>
              <a:rPr sz="1450" i="1" spc="165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invokes</a:t>
            </a:r>
            <a:r>
              <a:rPr sz="1450" i="1" spc="150" dirty="0">
                <a:latin typeface="Cambria"/>
                <a:cs typeface="Cambria"/>
              </a:rPr>
              <a:t> </a:t>
            </a:r>
            <a:r>
              <a:rPr sz="1450" i="1" spc="85" dirty="0">
                <a:latin typeface="Cambria"/>
                <a:cs typeface="Cambria"/>
              </a:rPr>
              <a:t>the</a:t>
            </a:r>
            <a:r>
              <a:rPr sz="1450" i="1" spc="165" dirty="0">
                <a:latin typeface="Cambria"/>
                <a:cs typeface="Cambria"/>
              </a:rPr>
              <a:t> </a:t>
            </a:r>
            <a:r>
              <a:rPr sz="1450" i="1" spc="90" dirty="0">
                <a:latin typeface="Cambria"/>
                <a:cs typeface="Cambria"/>
              </a:rPr>
              <a:t>transient</a:t>
            </a:r>
            <a:r>
              <a:rPr sz="1450" i="1" spc="185" dirty="0">
                <a:latin typeface="Cambria"/>
                <a:cs typeface="Cambria"/>
              </a:rPr>
              <a:t> </a:t>
            </a:r>
            <a:r>
              <a:rPr sz="1450" i="1" spc="135" dirty="0">
                <a:latin typeface="Cambria"/>
                <a:cs typeface="Cambria"/>
              </a:rPr>
              <a:t>name</a:t>
            </a:r>
            <a:r>
              <a:rPr sz="1450" i="1" spc="150" dirty="0">
                <a:latin typeface="Cambria"/>
                <a:cs typeface="Cambria"/>
              </a:rPr>
              <a:t> </a:t>
            </a:r>
            <a:r>
              <a:rPr sz="1450" i="1" spc="95" dirty="0">
                <a:latin typeface="Cambria"/>
                <a:cs typeface="Cambria"/>
              </a:rPr>
              <a:t>service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043555" algn="l"/>
              </a:tabLst>
            </a:pPr>
            <a:r>
              <a:rPr sz="1450" i="1" spc="120" dirty="0">
                <a:latin typeface="Cambria"/>
                <a:cs typeface="Cambria"/>
              </a:rPr>
              <a:t>org.omg.CORBA.Object</a:t>
            </a:r>
            <a:r>
              <a:rPr sz="1450" i="1" spc="190" dirty="0">
                <a:latin typeface="Cambria"/>
                <a:cs typeface="Cambria"/>
              </a:rPr>
              <a:t> </a:t>
            </a:r>
            <a:r>
              <a:rPr sz="1450" i="1" spc="95" dirty="0">
                <a:latin typeface="Cambria"/>
                <a:cs typeface="Cambria"/>
              </a:rPr>
              <a:t>objRef</a:t>
            </a:r>
            <a:r>
              <a:rPr sz="1450" i="1" spc="210" dirty="0">
                <a:latin typeface="Cambria"/>
                <a:cs typeface="Cambria"/>
              </a:rPr>
              <a:t> </a:t>
            </a:r>
            <a:r>
              <a:rPr sz="1450" i="1" spc="75" dirty="0">
                <a:latin typeface="Cambria"/>
                <a:cs typeface="Cambria"/>
              </a:rPr>
              <a:t>=</a:t>
            </a:r>
            <a:r>
              <a:rPr sz="1450" i="1" dirty="0">
                <a:latin typeface="Cambria"/>
                <a:cs typeface="Cambria"/>
              </a:rPr>
              <a:t>	</a:t>
            </a:r>
            <a:r>
              <a:rPr sz="1450" i="1" spc="75" dirty="0">
                <a:latin typeface="Cambria"/>
                <a:cs typeface="Cambria"/>
              </a:rPr>
              <a:t>orb.resolve_initial_references("NameService");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10" dirty="0">
                <a:latin typeface="Cambria"/>
                <a:cs typeface="Cambria"/>
              </a:rPr>
              <a:t> </a:t>
            </a:r>
            <a:r>
              <a:rPr sz="1450" i="1" spc="175" dirty="0">
                <a:latin typeface="Cambria"/>
                <a:cs typeface="Cambria"/>
              </a:rPr>
              <a:t>Use</a:t>
            </a:r>
            <a:r>
              <a:rPr sz="1450" i="1" spc="145" dirty="0">
                <a:latin typeface="Cambria"/>
                <a:cs typeface="Cambria"/>
              </a:rPr>
              <a:t> </a:t>
            </a:r>
            <a:r>
              <a:rPr sz="1450" i="1" spc="105" dirty="0">
                <a:latin typeface="Cambria"/>
                <a:cs typeface="Cambria"/>
              </a:rPr>
              <a:t>NamingContextExt,</a:t>
            </a:r>
            <a:r>
              <a:rPr sz="1450" i="1" spc="195" dirty="0">
                <a:latin typeface="Cambria"/>
                <a:cs typeface="Cambria"/>
              </a:rPr>
              <a:t> </a:t>
            </a:r>
            <a:r>
              <a:rPr sz="1450" i="1" spc="114" dirty="0">
                <a:latin typeface="Cambria"/>
                <a:cs typeface="Cambria"/>
              </a:rPr>
              <a:t>which</a:t>
            </a:r>
            <a:r>
              <a:rPr sz="1450" i="1" spc="190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is</a:t>
            </a:r>
            <a:r>
              <a:rPr sz="1450" i="1" spc="145" dirty="0">
                <a:latin typeface="Cambria"/>
                <a:cs typeface="Cambria"/>
              </a:rPr>
              <a:t> </a:t>
            </a:r>
            <a:r>
              <a:rPr sz="1450" i="1" spc="65" dirty="0">
                <a:latin typeface="Cambria"/>
                <a:cs typeface="Cambria"/>
              </a:rPr>
              <a:t>part</a:t>
            </a:r>
            <a:r>
              <a:rPr sz="1450" i="1" spc="145" dirty="0">
                <a:latin typeface="Cambria"/>
                <a:cs typeface="Cambria"/>
              </a:rPr>
              <a:t> </a:t>
            </a:r>
            <a:r>
              <a:rPr sz="1450" i="1" spc="65" dirty="0">
                <a:latin typeface="Cambria"/>
                <a:cs typeface="Cambria"/>
              </a:rPr>
              <a:t>of</a:t>
            </a:r>
            <a:r>
              <a:rPr sz="1450" i="1" spc="125" dirty="0">
                <a:latin typeface="Cambria"/>
                <a:cs typeface="Cambria"/>
              </a:rPr>
              <a:t> </a:t>
            </a:r>
            <a:r>
              <a:rPr sz="1450" i="1" spc="60" dirty="0">
                <a:latin typeface="Cambria"/>
                <a:cs typeface="Cambria"/>
              </a:rPr>
              <a:t>the</a:t>
            </a:r>
            <a:endParaRPr sz="1450">
              <a:latin typeface="Cambria"/>
              <a:cs typeface="Cambria"/>
            </a:endParaRPr>
          </a:p>
          <a:p>
            <a:pPr marL="12700" marR="942340">
              <a:lnSpc>
                <a:spcPts val="1789"/>
              </a:lnSpc>
              <a:spcBef>
                <a:spcPts val="55"/>
              </a:spcBef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30" dirty="0">
                <a:latin typeface="Cambria"/>
                <a:cs typeface="Cambria"/>
              </a:rPr>
              <a:t> </a:t>
            </a:r>
            <a:r>
              <a:rPr sz="1450" i="1" spc="75" dirty="0">
                <a:latin typeface="Cambria"/>
                <a:cs typeface="Cambria"/>
              </a:rPr>
              <a:t>Interoperable</a:t>
            </a:r>
            <a:r>
              <a:rPr sz="1450" i="1" spc="200" dirty="0">
                <a:latin typeface="Cambria"/>
                <a:cs typeface="Cambria"/>
              </a:rPr>
              <a:t> </a:t>
            </a:r>
            <a:r>
              <a:rPr sz="1450" i="1" spc="90" dirty="0">
                <a:latin typeface="Cambria"/>
                <a:cs typeface="Cambria"/>
              </a:rPr>
              <a:t>Naming</a:t>
            </a:r>
            <a:r>
              <a:rPr sz="1450" i="1" spc="215" dirty="0">
                <a:latin typeface="Cambria"/>
                <a:cs typeface="Cambria"/>
              </a:rPr>
              <a:t> </a:t>
            </a:r>
            <a:r>
              <a:rPr sz="1450" i="1" spc="105" dirty="0">
                <a:latin typeface="Cambria"/>
                <a:cs typeface="Cambria"/>
              </a:rPr>
              <a:t>Service</a:t>
            </a:r>
            <a:r>
              <a:rPr sz="1450" i="1" spc="150" dirty="0">
                <a:latin typeface="Cambria"/>
                <a:cs typeface="Cambria"/>
              </a:rPr>
              <a:t> </a:t>
            </a:r>
            <a:r>
              <a:rPr sz="1450" i="1" dirty="0">
                <a:latin typeface="Cambria"/>
                <a:cs typeface="Cambria"/>
              </a:rPr>
              <a:t>(INS)</a:t>
            </a:r>
            <a:r>
              <a:rPr sz="1450" i="1" spc="180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specification. </a:t>
            </a:r>
            <a:r>
              <a:rPr sz="1450" i="1" spc="100" dirty="0">
                <a:latin typeface="Cambria"/>
                <a:cs typeface="Cambria"/>
              </a:rPr>
              <a:t>NamingContextExt</a:t>
            </a:r>
            <a:r>
              <a:rPr sz="1450" i="1" spc="190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ncRef</a:t>
            </a:r>
            <a:r>
              <a:rPr sz="1450" i="1" spc="145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=</a:t>
            </a:r>
            <a:r>
              <a:rPr sz="1450" i="1" spc="110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NamingContextExtHelper.narrow(objRef);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705"/>
              </a:lnSpc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25" dirty="0">
                <a:latin typeface="Cambria"/>
                <a:cs typeface="Cambria"/>
              </a:rPr>
              <a:t> </a:t>
            </a:r>
            <a:r>
              <a:rPr sz="1450" i="1" spc="114" dirty="0">
                <a:latin typeface="Cambria"/>
                <a:cs typeface="Cambria"/>
              </a:rPr>
              <a:t>bind</a:t>
            </a:r>
            <a:r>
              <a:rPr sz="1450" i="1" spc="140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the</a:t>
            </a:r>
            <a:r>
              <a:rPr sz="1450" i="1" spc="170" dirty="0">
                <a:latin typeface="Cambria"/>
                <a:cs typeface="Cambria"/>
              </a:rPr>
              <a:t> </a:t>
            </a:r>
            <a:r>
              <a:rPr sz="1450" i="1" spc="95" dirty="0">
                <a:latin typeface="Cambria"/>
                <a:cs typeface="Cambria"/>
              </a:rPr>
              <a:t>Object</a:t>
            </a:r>
            <a:r>
              <a:rPr sz="1450" i="1" spc="140" dirty="0">
                <a:latin typeface="Cambria"/>
                <a:cs typeface="Cambria"/>
              </a:rPr>
              <a:t> </a:t>
            </a:r>
            <a:r>
              <a:rPr sz="1450" i="1" spc="114" dirty="0">
                <a:latin typeface="Cambria"/>
                <a:cs typeface="Cambria"/>
              </a:rPr>
              <a:t>Reference</a:t>
            </a:r>
            <a:r>
              <a:rPr sz="1450" i="1" spc="95" dirty="0">
                <a:latin typeface="Cambria"/>
                <a:cs typeface="Cambria"/>
              </a:rPr>
              <a:t> </a:t>
            </a:r>
            <a:r>
              <a:rPr sz="1450" i="1" spc="75" dirty="0">
                <a:latin typeface="Cambria"/>
                <a:cs typeface="Cambria"/>
              </a:rPr>
              <a:t>in</a:t>
            </a:r>
            <a:r>
              <a:rPr sz="1450" i="1" spc="155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Naming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50" i="1" spc="70" dirty="0">
                <a:latin typeface="Cambria"/>
                <a:cs typeface="Cambria"/>
              </a:rPr>
              <a:t>String</a:t>
            </a:r>
            <a:r>
              <a:rPr sz="1450" i="1" spc="185" dirty="0">
                <a:latin typeface="Cambria"/>
                <a:cs typeface="Cambria"/>
              </a:rPr>
              <a:t> </a:t>
            </a:r>
            <a:r>
              <a:rPr sz="1450" i="1" spc="135" dirty="0">
                <a:latin typeface="Cambria"/>
                <a:cs typeface="Cambria"/>
              </a:rPr>
              <a:t>name</a:t>
            </a:r>
            <a:r>
              <a:rPr sz="1450" i="1" spc="165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=</a:t>
            </a:r>
            <a:r>
              <a:rPr sz="1450" i="1" spc="120" dirty="0">
                <a:latin typeface="Cambria"/>
                <a:cs typeface="Cambria"/>
              </a:rPr>
              <a:t> </a:t>
            </a:r>
            <a:r>
              <a:rPr sz="1450" i="1" spc="50" dirty="0">
                <a:latin typeface="Cambria"/>
                <a:cs typeface="Cambria"/>
              </a:rPr>
              <a:t>"Hello";</a:t>
            </a:r>
            <a:endParaRPr sz="1450">
              <a:latin typeface="Cambria"/>
              <a:cs typeface="Cambria"/>
            </a:endParaRPr>
          </a:p>
          <a:p>
            <a:pPr marL="12700" marR="2686050">
              <a:lnSpc>
                <a:spcPts val="1789"/>
              </a:lnSpc>
              <a:spcBef>
                <a:spcPts val="55"/>
              </a:spcBef>
            </a:pPr>
            <a:r>
              <a:rPr sz="1450" i="1" spc="114" dirty="0">
                <a:latin typeface="Cambria"/>
                <a:cs typeface="Cambria"/>
              </a:rPr>
              <a:t>NameComponent</a:t>
            </a:r>
            <a:r>
              <a:rPr sz="1450" i="1" spc="210" dirty="0">
                <a:latin typeface="Cambria"/>
                <a:cs typeface="Cambria"/>
              </a:rPr>
              <a:t> </a:t>
            </a:r>
            <a:r>
              <a:rPr sz="1450" i="1" dirty="0">
                <a:latin typeface="Cambria"/>
                <a:cs typeface="Cambria"/>
              </a:rPr>
              <a:t>path[]</a:t>
            </a:r>
            <a:r>
              <a:rPr sz="1450" i="1" spc="215" dirty="0">
                <a:latin typeface="Cambria"/>
                <a:cs typeface="Cambria"/>
              </a:rPr>
              <a:t> </a:t>
            </a:r>
            <a:r>
              <a:rPr sz="1450" i="1" spc="125" dirty="0">
                <a:latin typeface="Cambria"/>
                <a:cs typeface="Cambria"/>
              </a:rPr>
              <a:t>=</a:t>
            </a:r>
            <a:r>
              <a:rPr sz="1450" i="1" spc="160" dirty="0">
                <a:latin typeface="Cambria"/>
                <a:cs typeface="Cambria"/>
              </a:rPr>
              <a:t> </a:t>
            </a:r>
            <a:r>
              <a:rPr sz="1450" i="1" spc="100" dirty="0">
                <a:latin typeface="Cambria"/>
                <a:cs typeface="Cambria"/>
              </a:rPr>
              <a:t>ncRef.to_name(</a:t>
            </a:r>
            <a:r>
              <a:rPr sz="1450" i="1" spc="195" dirty="0">
                <a:latin typeface="Cambria"/>
                <a:cs typeface="Cambria"/>
              </a:rPr>
              <a:t> </a:t>
            </a:r>
            <a:r>
              <a:rPr sz="1450" i="1" spc="135" dirty="0">
                <a:latin typeface="Cambria"/>
                <a:cs typeface="Cambria"/>
              </a:rPr>
              <a:t>name</a:t>
            </a:r>
            <a:r>
              <a:rPr sz="1450" i="1" spc="195" dirty="0">
                <a:latin typeface="Cambria"/>
                <a:cs typeface="Cambria"/>
              </a:rPr>
              <a:t> </a:t>
            </a:r>
            <a:r>
              <a:rPr sz="1450" i="1" spc="-25" dirty="0">
                <a:latin typeface="Cambria"/>
                <a:cs typeface="Cambria"/>
              </a:rPr>
              <a:t>); </a:t>
            </a:r>
            <a:r>
              <a:rPr sz="1450" i="1" spc="100" dirty="0">
                <a:latin typeface="Cambria"/>
                <a:cs typeface="Cambria"/>
              </a:rPr>
              <a:t>ncRef.rebind(path,</a:t>
            </a:r>
            <a:r>
              <a:rPr sz="1450" i="1" spc="160" dirty="0">
                <a:latin typeface="Cambria"/>
                <a:cs typeface="Cambria"/>
              </a:rPr>
              <a:t> </a:t>
            </a:r>
            <a:r>
              <a:rPr sz="1450" i="1" spc="40" dirty="0">
                <a:latin typeface="Cambria"/>
                <a:cs typeface="Cambria"/>
              </a:rPr>
              <a:t>href);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ts val="1705"/>
              </a:lnSpc>
            </a:pPr>
            <a:r>
              <a:rPr sz="1450" i="1" spc="105" dirty="0">
                <a:latin typeface="Cambria"/>
                <a:cs typeface="Cambria"/>
              </a:rPr>
              <a:t>System.out.println</a:t>
            </a:r>
            <a:r>
              <a:rPr sz="1450" i="1" spc="185" dirty="0">
                <a:latin typeface="Cambria"/>
                <a:cs typeface="Cambria"/>
              </a:rPr>
              <a:t> </a:t>
            </a:r>
            <a:r>
              <a:rPr sz="1450" i="1" spc="75" dirty="0">
                <a:latin typeface="Cambria"/>
                <a:cs typeface="Cambria"/>
              </a:rPr>
              <a:t>("HelloServer</a:t>
            </a:r>
            <a:r>
              <a:rPr sz="1450" i="1" spc="105" dirty="0">
                <a:latin typeface="Cambria"/>
                <a:cs typeface="Cambria"/>
              </a:rPr>
              <a:t> </a:t>
            </a:r>
            <a:r>
              <a:rPr sz="1450" i="1" spc="135" dirty="0">
                <a:latin typeface="Cambria"/>
                <a:cs typeface="Cambria"/>
              </a:rPr>
              <a:t>ready </a:t>
            </a:r>
            <a:r>
              <a:rPr sz="1450" i="1" spc="155" dirty="0">
                <a:latin typeface="Cambria"/>
                <a:cs typeface="Cambria"/>
              </a:rPr>
              <a:t>and</a:t>
            </a:r>
            <a:r>
              <a:rPr sz="1450" i="1" spc="140" dirty="0">
                <a:latin typeface="Cambria"/>
                <a:cs typeface="Cambria"/>
              </a:rPr>
              <a:t> </a:t>
            </a:r>
            <a:r>
              <a:rPr sz="1450" i="1" spc="85" dirty="0">
                <a:latin typeface="Cambria"/>
                <a:cs typeface="Cambria"/>
              </a:rPr>
              <a:t>waiting</a:t>
            </a:r>
            <a:r>
              <a:rPr sz="1450" i="1" spc="185" dirty="0">
                <a:latin typeface="Cambria"/>
                <a:cs typeface="Cambria"/>
              </a:rPr>
              <a:t> </a:t>
            </a:r>
            <a:r>
              <a:rPr sz="1450" i="1" spc="55" dirty="0">
                <a:latin typeface="Cambria"/>
                <a:cs typeface="Cambria"/>
              </a:rPr>
              <a:t>...");</a:t>
            </a:r>
            <a:endParaRPr sz="1450">
              <a:latin typeface="Cambria"/>
              <a:cs typeface="Cambria"/>
            </a:endParaRPr>
          </a:p>
          <a:p>
            <a:pPr marL="125095" marR="3963670" indent="-113030">
              <a:lnSpc>
                <a:spcPct val="102099"/>
              </a:lnSpc>
              <a:spcBef>
                <a:spcPts val="10"/>
              </a:spcBef>
            </a:pPr>
            <a:r>
              <a:rPr sz="1450" i="1" spc="210" dirty="0">
                <a:latin typeface="Cambria"/>
                <a:cs typeface="Cambria"/>
              </a:rPr>
              <a:t>//</a:t>
            </a:r>
            <a:r>
              <a:rPr sz="1450" i="1" spc="125" dirty="0">
                <a:latin typeface="Cambria"/>
                <a:cs typeface="Cambria"/>
              </a:rPr>
              <a:t> </a:t>
            </a:r>
            <a:r>
              <a:rPr sz="1450" i="1" spc="90" dirty="0">
                <a:latin typeface="Cambria"/>
                <a:cs typeface="Cambria"/>
              </a:rPr>
              <a:t>wait</a:t>
            </a:r>
            <a:r>
              <a:rPr sz="1450" i="1" spc="155" dirty="0">
                <a:latin typeface="Cambria"/>
                <a:cs typeface="Cambria"/>
              </a:rPr>
              <a:t> </a:t>
            </a:r>
            <a:r>
              <a:rPr sz="1450" i="1" spc="60" dirty="0">
                <a:latin typeface="Cambria"/>
                <a:cs typeface="Cambria"/>
              </a:rPr>
              <a:t>for</a:t>
            </a:r>
            <a:r>
              <a:rPr sz="1450" i="1" spc="110" dirty="0">
                <a:latin typeface="Cambria"/>
                <a:cs typeface="Cambria"/>
              </a:rPr>
              <a:t> </a:t>
            </a:r>
            <a:r>
              <a:rPr sz="1450" i="1" spc="90" dirty="0">
                <a:latin typeface="Cambria"/>
                <a:cs typeface="Cambria"/>
              </a:rPr>
              <a:t>invocations</a:t>
            </a:r>
            <a:r>
              <a:rPr sz="1450" i="1" spc="155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from</a:t>
            </a:r>
            <a:r>
              <a:rPr sz="1450" i="1" spc="114" dirty="0">
                <a:latin typeface="Cambria"/>
                <a:cs typeface="Cambria"/>
              </a:rPr>
              <a:t> </a:t>
            </a:r>
            <a:r>
              <a:rPr sz="1450" i="1" spc="80" dirty="0">
                <a:latin typeface="Cambria"/>
                <a:cs typeface="Cambria"/>
              </a:rPr>
              <a:t>clients </a:t>
            </a:r>
            <a:r>
              <a:rPr sz="1450" i="1" spc="-10" dirty="0">
                <a:latin typeface="Cambria"/>
                <a:cs typeface="Cambria"/>
              </a:rPr>
              <a:t>orb.run();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912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The</a:t>
            </a:r>
            <a:r>
              <a:rPr spc="105" dirty="0"/>
              <a:t> Object</a:t>
            </a:r>
            <a:r>
              <a:rPr spc="80" dirty="0"/>
              <a:t> </a:t>
            </a:r>
            <a:r>
              <a:rPr spc="135" dirty="0"/>
              <a:t>Client</a:t>
            </a:r>
            <a:r>
              <a:rPr spc="80" dirty="0"/>
              <a:t> </a:t>
            </a:r>
            <a:r>
              <a:rPr spc="60" dirty="0"/>
              <a:t>Application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257" y="2221207"/>
            <a:ext cx="4905375" cy="40995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8920" marR="6350" indent="-236220" algn="just">
              <a:lnSpc>
                <a:spcPct val="153800"/>
              </a:lnSpc>
              <a:spcBef>
                <a:spcPts val="90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spc="105" dirty="0">
                <a:latin typeface="Cambria"/>
                <a:cs typeface="Cambria"/>
              </a:rPr>
              <a:t>A</a:t>
            </a:r>
            <a:r>
              <a:rPr sz="1450" spc="95" dirty="0">
                <a:latin typeface="Cambria"/>
                <a:cs typeface="Cambria"/>
              </a:rPr>
              <a:t>  </a:t>
            </a:r>
            <a:r>
              <a:rPr sz="1450" spc="80" dirty="0">
                <a:latin typeface="Cambria"/>
                <a:cs typeface="Cambria"/>
              </a:rPr>
              <a:t>client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90" dirty="0">
                <a:latin typeface="Cambria"/>
                <a:cs typeface="Cambria"/>
              </a:rPr>
              <a:t>program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145" dirty="0">
                <a:latin typeface="Cambria"/>
                <a:cs typeface="Cambria"/>
              </a:rPr>
              <a:t>can</a:t>
            </a:r>
            <a:r>
              <a:rPr sz="1450" spc="90" dirty="0">
                <a:latin typeface="Cambria"/>
                <a:cs typeface="Cambria"/>
              </a:rPr>
              <a:t>  be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95" dirty="0">
                <a:latin typeface="Cambria"/>
                <a:cs typeface="Cambria"/>
              </a:rPr>
              <a:t>  </a:t>
            </a:r>
            <a:r>
              <a:rPr sz="1450" spc="185" dirty="0">
                <a:latin typeface="Cambria"/>
                <a:cs typeface="Cambria"/>
              </a:rPr>
              <a:t>Java</a:t>
            </a:r>
            <a:r>
              <a:rPr sz="1450" spc="100" dirty="0">
                <a:latin typeface="Cambria"/>
                <a:cs typeface="Cambria"/>
              </a:rPr>
              <a:t>  application,  </a:t>
            </a:r>
            <a:r>
              <a:rPr sz="1450" spc="70" dirty="0">
                <a:latin typeface="Cambria"/>
                <a:cs typeface="Cambria"/>
              </a:rPr>
              <a:t>an </a:t>
            </a:r>
            <a:r>
              <a:rPr sz="1450" spc="100" dirty="0">
                <a:latin typeface="Cambria"/>
                <a:cs typeface="Cambria"/>
              </a:rPr>
              <a:t>applet,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spc="50" dirty="0">
                <a:latin typeface="Cambria"/>
                <a:cs typeface="Cambria"/>
              </a:rPr>
              <a:t>or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servlet.</a:t>
            </a:r>
            <a:endParaRPr sz="1450">
              <a:latin typeface="Cambria"/>
              <a:cs typeface="Cambria"/>
            </a:endParaRPr>
          </a:p>
          <a:p>
            <a:pPr marL="248920" marR="5080" indent="-236220" algn="just">
              <a:lnSpc>
                <a:spcPct val="153600"/>
              </a:lnSpc>
              <a:spcBef>
                <a:spcPts val="5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spc="85" dirty="0">
                <a:latin typeface="Cambria"/>
                <a:cs typeface="Cambria"/>
              </a:rPr>
              <a:t>The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85" dirty="0">
                <a:latin typeface="Cambria"/>
                <a:cs typeface="Cambria"/>
              </a:rPr>
              <a:t>client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85" dirty="0">
                <a:latin typeface="Cambria"/>
                <a:cs typeface="Cambria"/>
              </a:rPr>
              <a:t>code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90" dirty="0">
                <a:latin typeface="Cambria"/>
                <a:cs typeface="Cambria"/>
              </a:rPr>
              <a:t>is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85" dirty="0">
                <a:latin typeface="Cambria"/>
                <a:cs typeface="Cambria"/>
              </a:rPr>
              <a:t>responsible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55" dirty="0">
                <a:latin typeface="Cambria"/>
                <a:cs typeface="Cambria"/>
              </a:rPr>
              <a:t>  </a:t>
            </a:r>
            <a:r>
              <a:rPr sz="1450" spc="90" dirty="0">
                <a:latin typeface="Cambria"/>
                <a:cs typeface="Cambria"/>
              </a:rPr>
              <a:t>creating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105" dirty="0">
                <a:latin typeface="Cambria"/>
                <a:cs typeface="Cambria"/>
              </a:rPr>
              <a:t>and </a:t>
            </a:r>
            <a:r>
              <a:rPr sz="1450" spc="75" dirty="0">
                <a:latin typeface="Cambria"/>
                <a:cs typeface="Cambria"/>
              </a:rPr>
              <a:t>initializing</a:t>
            </a:r>
            <a:r>
              <a:rPr sz="1450" spc="39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395" dirty="0">
                <a:latin typeface="Cambria"/>
                <a:cs typeface="Cambria"/>
              </a:rPr>
              <a:t> </a:t>
            </a:r>
            <a:r>
              <a:rPr sz="1450" spc="195" dirty="0">
                <a:latin typeface="Cambria"/>
                <a:cs typeface="Cambria"/>
              </a:rPr>
              <a:t>ORB,</a:t>
            </a:r>
            <a:r>
              <a:rPr sz="1450" spc="43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looking</a:t>
            </a:r>
            <a:r>
              <a:rPr sz="1450" spc="430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up</a:t>
            </a:r>
            <a:r>
              <a:rPr sz="1450" spc="42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the</a:t>
            </a:r>
            <a:r>
              <a:rPr sz="1450" spc="43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object</a:t>
            </a:r>
            <a:r>
              <a:rPr sz="1450" spc="409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using the</a:t>
            </a:r>
            <a:r>
              <a:rPr sz="1450" spc="170" dirty="0">
                <a:latin typeface="Cambria"/>
                <a:cs typeface="Cambria"/>
              </a:rPr>
              <a:t>  </a:t>
            </a:r>
            <a:r>
              <a:rPr sz="1450" spc="75" dirty="0">
                <a:latin typeface="Cambria"/>
                <a:cs typeface="Cambria"/>
              </a:rPr>
              <a:t>Interoperable</a:t>
            </a:r>
            <a:r>
              <a:rPr sz="1450" spc="175" dirty="0">
                <a:latin typeface="Cambria"/>
                <a:cs typeface="Cambria"/>
              </a:rPr>
              <a:t>  </a:t>
            </a:r>
            <a:r>
              <a:rPr sz="1450" spc="120" dirty="0">
                <a:latin typeface="Cambria"/>
                <a:cs typeface="Cambria"/>
              </a:rPr>
              <a:t>Naming</a:t>
            </a:r>
            <a:r>
              <a:rPr sz="1450" spc="170" dirty="0">
                <a:latin typeface="Cambria"/>
                <a:cs typeface="Cambria"/>
              </a:rPr>
              <a:t>  </a:t>
            </a:r>
            <a:r>
              <a:rPr sz="1450" spc="95" dirty="0">
                <a:latin typeface="Cambria"/>
                <a:cs typeface="Cambria"/>
              </a:rPr>
              <a:t>Service,</a:t>
            </a:r>
            <a:r>
              <a:rPr sz="1450" spc="175" dirty="0">
                <a:latin typeface="Cambria"/>
                <a:cs typeface="Cambria"/>
              </a:rPr>
              <a:t>  </a:t>
            </a:r>
            <a:r>
              <a:rPr sz="1450" spc="90" dirty="0">
                <a:latin typeface="Cambria"/>
                <a:cs typeface="Cambria"/>
              </a:rPr>
              <a:t>invoking</a:t>
            </a:r>
            <a:r>
              <a:rPr sz="1450" spc="180" dirty="0">
                <a:latin typeface="Cambria"/>
                <a:cs typeface="Cambria"/>
              </a:rPr>
              <a:t>  </a:t>
            </a:r>
            <a:r>
              <a:rPr sz="1450" spc="70" dirty="0">
                <a:latin typeface="Cambria"/>
                <a:cs typeface="Cambria"/>
              </a:rPr>
              <a:t>the </a:t>
            </a:r>
            <a:r>
              <a:rPr sz="1450" spc="80" dirty="0">
                <a:latin typeface="Cambria"/>
                <a:cs typeface="Cambria"/>
              </a:rPr>
              <a:t>narrow</a:t>
            </a:r>
            <a:r>
              <a:rPr sz="1450" spc="90" dirty="0">
                <a:latin typeface="Cambria"/>
                <a:cs typeface="Cambria"/>
              </a:rPr>
              <a:t>  </a:t>
            </a:r>
            <a:r>
              <a:rPr sz="1450" spc="105" dirty="0">
                <a:latin typeface="Cambria"/>
                <a:cs typeface="Cambria"/>
              </a:rPr>
              <a:t>method 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10" dirty="0">
                <a:latin typeface="Cambria"/>
                <a:cs typeface="Cambria"/>
              </a:rPr>
              <a:t>  </a:t>
            </a:r>
            <a:r>
              <a:rPr sz="1450" spc="100" dirty="0">
                <a:latin typeface="Cambria"/>
                <a:cs typeface="Cambria"/>
              </a:rPr>
              <a:t>the  </a:t>
            </a:r>
            <a:r>
              <a:rPr sz="1450" spc="80" dirty="0">
                <a:latin typeface="Cambria"/>
                <a:cs typeface="Cambria"/>
              </a:rPr>
              <a:t>Helper</a:t>
            </a:r>
            <a:r>
              <a:rPr sz="1450" spc="110" dirty="0">
                <a:latin typeface="Cambria"/>
                <a:cs typeface="Cambria"/>
              </a:rPr>
              <a:t>  </a:t>
            </a:r>
            <a:r>
              <a:rPr sz="1450" spc="75" dirty="0">
                <a:latin typeface="Cambria"/>
                <a:cs typeface="Cambria"/>
              </a:rPr>
              <a:t>object</a:t>
            </a:r>
            <a:r>
              <a:rPr sz="1450" spc="110" dirty="0">
                <a:latin typeface="Cambria"/>
                <a:cs typeface="Cambria"/>
              </a:rPr>
              <a:t> 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105" dirty="0">
                <a:latin typeface="Cambria"/>
                <a:cs typeface="Cambria"/>
              </a:rPr>
              <a:t>  </a:t>
            </a:r>
            <a:r>
              <a:rPr sz="1450" spc="120" dirty="0">
                <a:latin typeface="Cambria"/>
                <a:cs typeface="Cambria"/>
              </a:rPr>
              <a:t>cast</a:t>
            </a:r>
            <a:r>
              <a:rPr sz="1450" spc="110" dirty="0">
                <a:latin typeface="Cambria"/>
                <a:cs typeface="Cambria"/>
              </a:rPr>
              <a:t>  </a:t>
            </a:r>
            <a:r>
              <a:rPr sz="1450" spc="40" dirty="0">
                <a:latin typeface="Cambria"/>
                <a:cs typeface="Cambria"/>
              </a:rPr>
              <a:t>the </a:t>
            </a:r>
            <a:r>
              <a:rPr sz="1450" spc="80" dirty="0">
                <a:latin typeface="Cambria"/>
                <a:cs typeface="Cambria"/>
              </a:rPr>
              <a:t>object</a:t>
            </a:r>
            <a:r>
              <a:rPr sz="1450" spc="90" dirty="0">
                <a:latin typeface="Cambria"/>
                <a:cs typeface="Cambria"/>
              </a:rPr>
              <a:t>  </a:t>
            </a:r>
            <a:r>
              <a:rPr sz="1450" spc="70" dirty="0">
                <a:latin typeface="Cambria"/>
                <a:cs typeface="Cambria"/>
              </a:rPr>
              <a:t>reference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55" dirty="0">
                <a:latin typeface="Cambria"/>
                <a:cs typeface="Cambria"/>
              </a:rPr>
              <a:t>to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90" dirty="0">
                <a:latin typeface="Cambria"/>
                <a:cs typeface="Cambria"/>
              </a:rPr>
              <a:t>  </a:t>
            </a:r>
            <a:r>
              <a:rPr sz="1450" spc="70" dirty="0">
                <a:latin typeface="Cambria"/>
                <a:cs typeface="Cambria"/>
              </a:rPr>
              <a:t>reference</a:t>
            </a:r>
            <a:r>
              <a:rPr sz="1450" spc="490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95" dirty="0">
                <a:latin typeface="Cambria"/>
                <a:cs typeface="Cambria"/>
              </a:rPr>
              <a:t> 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75" dirty="0">
                <a:latin typeface="Cambria"/>
                <a:cs typeface="Cambria"/>
              </a:rPr>
              <a:t>Hello</a:t>
            </a:r>
            <a:r>
              <a:rPr sz="1450" spc="100" dirty="0">
                <a:latin typeface="Cambria"/>
                <a:cs typeface="Cambria"/>
              </a:rPr>
              <a:t>  </a:t>
            </a:r>
            <a:r>
              <a:rPr sz="1450" spc="50" dirty="0">
                <a:latin typeface="Cambria"/>
                <a:cs typeface="Cambria"/>
              </a:rPr>
              <a:t>object </a:t>
            </a:r>
            <a:r>
              <a:rPr sz="1450" spc="100" dirty="0">
                <a:latin typeface="Cambria"/>
                <a:cs typeface="Cambria"/>
              </a:rPr>
              <a:t>implementation,</a:t>
            </a:r>
            <a:r>
              <a:rPr sz="1450" spc="254" dirty="0">
                <a:latin typeface="Cambria"/>
                <a:cs typeface="Cambria"/>
              </a:rPr>
              <a:t> 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260" dirty="0">
                <a:latin typeface="Cambria"/>
                <a:cs typeface="Cambria"/>
              </a:rPr>
              <a:t>  </a:t>
            </a:r>
            <a:r>
              <a:rPr sz="1450" spc="90" dirty="0">
                <a:latin typeface="Cambria"/>
                <a:cs typeface="Cambria"/>
              </a:rPr>
              <a:t>invoking</a:t>
            </a:r>
            <a:r>
              <a:rPr sz="1450" spc="245" dirty="0">
                <a:latin typeface="Cambria"/>
                <a:cs typeface="Cambria"/>
              </a:rPr>
              <a:t>  </a:t>
            </a:r>
            <a:r>
              <a:rPr sz="1450" spc="75" dirty="0">
                <a:latin typeface="Cambria"/>
                <a:cs typeface="Cambria"/>
              </a:rPr>
              <a:t>remote</a:t>
            </a:r>
            <a:r>
              <a:rPr sz="1450" spc="260" dirty="0">
                <a:latin typeface="Cambria"/>
                <a:cs typeface="Cambria"/>
              </a:rPr>
              <a:t>  </a:t>
            </a:r>
            <a:r>
              <a:rPr sz="1450" spc="100" dirty="0">
                <a:latin typeface="Cambria"/>
                <a:cs typeface="Cambria"/>
              </a:rPr>
              <a:t>methods </a:t>
            </a:r>
            <a:r>
              <a:rPr sz="1450" spc="120" dirty="0">
                <a:latin typeface="Cambria"/>
                <a:cs typeface="Cambria"/>
              </a:rPr>
              <a:t>using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reference.</a:t>
            </a:r>
            <a:endParaRPr sz="1450">
              <a:latin typeface="Cambria"/>
              <a:cs typeface="Cambria"/>
            </a:endParaRPr>
          </a:p>
          <a:p>
            <a:pPr marL="248920" marR="6350" indent="-236220" algn="just">
              <a:lnSpc>
                <a:spcPct val="153400"/>
              </a:lnSpc>
              <a:spcBef>
                <a:spcPts val="5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spc="85" dirty="0">
                <a:latin typeface="Cambria"/>
                <a:cs typeface="Cambria"/>
              </a:rPr>
              <a:t>The</a:t>
            </a:r>
            <a:r>
              <a:rPr sz="1450" spc="23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object’s</a:t>
            </a:r>
            <a:r>
              <a:rPr sz="1450" spc="22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sayHello</a:t>
            </a:r>
            <a:r>
              <a:rPr sz="1450" spc="220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method</a:t>
            </a:r>
            <a:r>
              <a:rPr sz="1450" spc="22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is</a:t>
            </a:r>
            <a:r>
              <a:rPr sz="1450" spc="204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invoked</a:t>
            </a:r>
            <a:r>
              <a:rPr sz="1450" spc="22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220" dirty="0">
                <a:latin typeface="Cambria"/>
                <a:cs typeface="Cambria"/>
              </a:rPr>
              <a:t> </a:t>
            </a:r>
            <a:r>
              <a:rPr sz="1450" spc="50" dirty="0">
                <a:latin typeface="Cambria"/>
                <a:cs typeface="Cambria"/>
              </a:rPr>
              <a:t>receive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60" dirty="0">
                <a:latin typeface="Cambria"/>
                <a:cs typeface="Cambria"/>
              </a:rPr>
              <a:t>  </a:t>
            </a:r>
            <a:r>
              <a:rPr sz="1450" spc="100" dirty="0">
                <a:latin typeface="Cambria"/>
                <a:cs typeface="Cambria"/>
              </a:rPr>
              <a:t>string,</a:t>
            </a:r>
            <a:r>
              <a:rPr sz="1450" spc="160" dirty="0">
                <a:latin typeface="Cambria"/>
                <a:cs typeface="Cambria"/>
              </a:rPr>
              <a:t>  </a:t>
            </a:r>
            <a:r>
              <a:rPr sz="1450" spc="135" dirty="0">
                <a:latin typeface="Cambria"/>
                <a:cs typeface="Cambria"/>
              </a:rPr>
              <a:t>and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95" dirty="0">
                <a:latin typeface="Cambria"/>
                <a:cs typeface="Cambria"/>
              </a:rPr>
              <a:t>the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75" dirty="0">
                <a:latin typeface="Cambria"/>
                <a:cs typeface="Cambria"/>
              </a:rPr>
              <a:t>object’s</a:t>
            </a:r>
            <a:r>
              <a:rPr sz="1450" spc="155" dirty="0">
                <a:latin typeface="Cambria"/>
                <a:cs typeface="Cambria"/>
              </a:rPr>
              <a:t>  </a:t>
            </a:r>
            <a:r>
              <a:rPr sz="1450" spc="114" dirty="0">
                <a:latin typeface="Cambria"/>
                <a:cs typeface="Cambria"/>
              </a:rPr>
              <a:t>shutdown</a:t>
            </a:r>
            <a:r>
              <a:rPr sz="1450" spc="155" dirty="0">
                <a:latin typeface="Cambria"/>
                <a:cs typeface="Cambria"/>
              </a:rPr>
              <a:t>  </a:t>
            </a:r>
            <a:r>
              <a:rPr sz="1450" spc="105" dirty="0">
                <a:latin typeface="Cambria"/>
                <a:cs typeface="Cambria"/>
              </a:rPr>
              <a:t>method</a:t>
            </a:r>
            <a:r>
              <a:rPr sz="1450" spc="165" dirty="0">
                <a:latin typeface="Cambria"/>
                <a:cs typeface="Cambria"/>
              </a:rPr>
              <a:t>  </a:t>
            </a:r>
            <a:r>
              <a:rPr sz="1450" spc="30" dirty="0">
                <a:latin typeface="Cambria"/>
                <a:cs typeface="Cambria"/>
              </a:rPr>
              <a:t>is </a:t>
            </a:r>
            <a:r>
              <a:rPr sz="1450" spc="85" dirty="0">
                <a:latin typeface="Cambria"/>
                <a:cs typeface="Cambria"/>
              </a:rPr>
              <a:t>invoked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deactivate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service.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9293" y="2256585"/>
            <a:ext cx="3982720" cy="3651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10" dirty="0">
                <a:latin typeface="Cambria"/>
                <a:cs typeface="Cambria"/>
              </a:rPr>
              <a:t>The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spc="105" dirty="0">
                <a:latin typeface="Cambria"/>
                <a:cs typeface="Cambria"/>
              </a:rPr>
              <a:t>Servant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dirty="0">
                <a:latin typeface="Cambria"/>
                <a:cs typeface="Cambria"/>
              </a:rPr>
              <a:t>-</a:t>
            </a:r>
            <a:r>
              <a:rPr sz="1450" b="1" spc="215" dirty="0">
                <a:latin typeface="Cambria"/>
                <a:cs typeface="Cambria"/>
              </a:rPr>
              <a:t> </a:t>
            </a:r>
            <a:r>
              <a:rPr sz="1450" b="1" spc="90" dirty="0">
                <a:latin typeface="Cambria"/>
                <a:cs typeface="Cambria"/>
              </a:rPr>
              <a:t>HelloApp/HelloClient.java</a:t>
            </a:r>
            <a:endParaRPr sz="1450">
              <a:latin typeface="Cambria"/>
              <a:cs typeface="Cambria"/>
            </a:endParaRPr>
          </a:p>
          <a:p>
            <a:pPr marL="12700" marR="998219">
              <a:lnSpc>
                <a:spcPct val="101499"/>
              </a:lnSpc>
              <a:spcBef>
                <a:spcPts val="1425"/>
              </a:spcBef>
            </a:pPr>
            <a:r>
              <a:rPr sz="1300" i="1" spc="185" dirty="0">
                <a:latin typeface="Cambria"/>
                <a:cs typeface="Cambria"/>
              </a:rPr>
              <a:t>//</a:t>
            </a:r>
            <a:r>
              <a:rPr sz="1300" i="1" spc="170" dirty="0">
                <a:latin typeface="Cambria"/>
                <a:cs typeface="Cambria"/>
              </a:rPr>
              <a:t> </a:t>
            </a:r>
            <a:r>
              <a:rPr sz="1300" i="1" spc="160" dirty="0">
                <a:latin typeface="Cambria"/>
                <a:cs typeface="Cambria"/>
              </a:rPr>
              <a:t>A</a:t>
            </a:r>
            <a:r>
              <a:rPr sz="1300" i="1" spc="170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sample</a:t>
            </a:r>
            <a:r>
              <a:rPr sz="1300" i="1" spc="215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object</a:t>
            </a:r>
            <a:r>
              <a:rPr sz="1300" i="1" spc="204" dirty="0">
                <a:latin typeface="Cambria"/>
                <a:cs typeface="Cambria"/>
              </a:rPr>
              <a:t> </a:t>
            </a:r>
            <a:r>
              <a:rPr sz="1300" i="1" dirty="0">
                <a:latin typeface="Cambria"/>
                <a:cs typeface="Cambria"/>
              </a:rPr>
              <a:t>client</a:t>
            </a:r>
            <a:r>
              <a:rPr sz="1300" i="1" spc="175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application. </a:t>
            </a:r>
            <a:r>
              <a:rPr sz="1300" i="1" dirty="0">
                <a:latin typeface="Cambria"/>
                <a:cs typeface="Cambria"/>
              </a:rPr>
              <a:t>import</a:t>
            </a:r>
            <a:r>
              <a:rPr sz="1300" i="1" spc="380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HelloApp.*;</a:t>
            </a:r>
            <a:endParaRPr sz="1300">
              <a:latin typeface="Cambria"/>
              <a:cs typeface="Cambria"/>
            </a:endParaRPr>
          </a:p>
          <a:p>
            <a:pPr marL="12700" marR="1409065">
              <a:lnSpc>
                <a:spcPct val="101499"/>
              </a:lnSpc>
            </a:pPr>
            <a:r>
              <a:rPr sz="1300" i="1" dirty="0">
                <a:latin typeface="Cambria"/>
                <a:cs typeface="Cambria"/>
              </a:rPr>
              <a:t>import</a:t>
            </a:r>
            <a:r>
              <a:rPr sz="1300" i="1" spc="275" dirty="0">
                <a:latin typeface="Cambria"/>
                <a:cs typeface="Cambria"/>
              </a:rPr>
              <a:t> </a:t>
            </a:r>
            <a:r>
              <a:rPr sz="1300" i="1" spc="85" dirty="0">
                <a:latin typeface="Cambria"/>
                <a:cs typeface="Cambria"/>
              </a:rPr>
              <a:t>org.omg.CosNaming.*;</a:t>
            </a:r>
            <a:r>
              <a:rPr sz="1300" i="1" spc="265" dirty="0">
                <a:latin typeface="Cambria"/>
                <a:cs typeface="Cambria"/>
              </a:rPr>
              <a:t> </a:t>
            </a:r>
            <a:r>
              <a:rPr sz="1300" i="1" spc="325" dirty="0">
                <a:latin typeface="Cambria"/>
                <a:cs typeface="Cambria"/>
              </a:rPr>
              <a:t>… </a:t>
            </a:r>
            <a:r>
              <a:rPr sz="1300" i="1" spc="65" dirty="0">
                <a:latin typeface="Cambria"/>
                <a:cs typeface="Cambria"/>
              </a:rPr>
              <a:t>public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120" dirty="0">
                <a:latin typeface="Cambria"/>
                <a:cs typeface="Cambria"/>
              </a:rPr>
              <a:t>class</a:t>
            </a:r>
            <a:r>
              <a:rPr sz="1300" i="1" spc="14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HelloClient{</a:t>
            </a:r>
            <a:endParaRPr sz="1300">
              <a:latin typeface="Cambria"/>
              <a:cs typeface="Cambria"/>
            </a:endParaRPr>
          </a:p>
          <a:p>
            <a:pPr marL="111760">
              <a:lnSpc>
                <a:spcPct val="100000"/>
              </a:lnSpc>
              <a:spcBef>
                <a:spcPts val="25"/>
              </a:spcBef>
            </a:pPr>
            <a:r>
              <a:rPr sz="1300" i="1" spc="55" dirty="0">
                <a:latin typeface="Cambria"/>
                <a:cs typeface="Cambria"/>
              </a:rPr>
              <a:t>static</a:t>
            </a:r>
            <a:r>
              <a:rPr sz="1300" i="1" spc="175" dirty="0">
                <a:latin typeface="Cambria"/>
                <a:cs typeface="Cambria"/>
              </a:rPr>
              <a:t> </a:t>
            </a:r>
            <a:r>
              <a:rPr sz="1300" i="1" spc="70" dirty="0">
                <a:latin typeface="Cambria"/>
                <a:cs typeface="Cambria"/>
              </a:rPr>
              <a:t>Hello</a:t>
            </a:r>
            <a:r>
              <a:rPr sz="1300" i="1" spc="120" dirty="0">
                <a:latin typeface="Cambria"/>
                <a:cs typeface="Cambria"/>
              </a:rPr>
              <a:t> </a:t>
            </a:r>
            <a:r>
              <a:rPr sz="1300" i="1" spc="40" dirty="0">
                <a:latin typeface="Cambria"/>
                <a:cs typeface="Cambria"/>
              </a:rPr>
              <a:t>helloImpl;</a:t>
            </a:r>
            <a:endParaRPr sz="1300">
              <a:latin typeface="Cambria"/>
              <a:cs typeface="Cambria"/>
            </a:endParaRPr>
          </a:p>
          <a:p>
            <a:pPr marL="260985" marR="939165" indent="-149860">
              <a:lnSpc>
                <a:spcPct val="101499"/>
              </a:lnSpc>
            </a:pPr>
            <a:r>
              <a:rPr sz="1300" i="1" spc="65" dirty="0">
                <a:latin typeface="Cambria"/>
                <a:cs typeface="Cambria"/>
              </a:rPr>
              <a:t>public</a:t>
            </a:r>
            <a:r>
              <a:rPr sz="1300" i="1" spc="135" dirty="0">
                <a:latin typeface="Cambria"/>
                <a:cs typeface="Cambria"/>
              </a:rPr>
              <a:t> </a:t>
            </a:r>
            <a:r>
              <a:rPr sz="1300" i="1" spc="55" dirty="0">
                <a:latin typeface="Cambria"/>
                <a:cs typeface="Cambria"/>
              </a:rPr>
              <a:t>static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void</a:t>
            </a:r>
            <a:r>
              <a:rPr sz="1300" i="1" spc="14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main(String</a:t>
            </a:r>
            <a:r>
              <a:rPr sz="1300" i="1" spc="180" dirty="0">
                <a:latin typeface="Cambria"/>
                <a:cs typeface="Cambria"/>
              </a:rPr>
              <a:t> </a:t>
            </a:r>
            <a:r>
              <a:rPr sz="1300" i="1" spc="-10" dirty="0">
                <a:latin typeface="Cambria"/>
                <a:cs typeface="Cambria"/>
              </a:rPr>
              <a:t>args[]){ </a:t>
            </a:r>
            <a:r>
              <a:rPr sz="1300" i="1" spc="-20" dirty="0">
                <a:latin typeface="Cambria"/>
                <a:cs typeface="Cambria"/>
              </a:rPr>
              <a:t>try{</a:t>
            </a:r>
            <a:endParaRPr sz="1300">
              <a:latin typeface="Cambria"/>
              <a:cs typeface="Cambria"/>
            </a:endParaRPr>
          </a:p>
          <a:p>
            <a:pPr marL="311150" marR="1118235">
              <a:lnSpc>
                <a:spcPct val="101499"/>
              </a:lnSpc>
            </a:pPr>
            <a:r>
              <a:rPr sz="1300" i="1" spc="170" dirty="0">
                <a:latin typeface="Cambria"/>
                <a:cs typeface="Cambria"/>
              </a:rPr>
              <a:t>ORB</a:t>
            </a:r>
            <a:r>
              <a:rPr sz="1300" i="1" spc="11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orb</a:t>
            </a:r>
            <a:r>
              <a:rPr sz="1300" i="1" spc="125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=</a:t>
            </a:r>
            <a:r>
              <a:rPr sz="1300" i="1" spc="125" dirty="0">
                <a:latin typeface="Cambria"/>
                <a:cs typeface="Cambria"/>
              </a:rPr>
              <a:t> </a:t>
            </a:r>
            <a:r>
              <a:rPr sz="1300" i="1" spc="75" dirty="0">
                <a:latin typeface="Cambria"/>
                <a:cs typeface="Cambria"/>
              </a:rPr>
              <a:t>ORB.init(args,</a:t>
            </a:r>
            <a:r>
              <a:rPr sz="1300" i="1" spc="165" dirty="0">
                <a:latin typeface="Cambria"/>
                <a:cs typeface="Cambria"/>
              </a:rPr>
              <a:t> </a:t>
            </a:r>
            <a:r>
              <a:rPr sz="1300" i="1" spc="-10" dirty="0">
                <a:latin typeface="Cambria"/>
                <a:cs typeface="Cambria"/>
              </a:rPr>
              <a:t>null); </a:t>
            </a:r>
            <a:r>
              <a:rPr sz="1300" i="1" spc="100" dirty="0">
                <a:latin typeface="Cambria"/>
                <a:cs typeface="Cambria"/>
              </a:rPr>
              <a:t>org.omg.CORBA.Object</a:t>
            </a:r>
            <a:r>
              <a:rPr sz="1300" i="1" spc="145" dirty="0">
                <a:latin typeface="Cambria"/>
                <a:cs typeface="Cambria"/>
              </a:rPr>
              <a:t> </a:t>
            </a:r>
            <a:r>
              <a:rPr sz="1300" i="1" spc="80" dirty="0">
                <a:latin typeface="Cambria"/>
                <a:cs typeface="Cambria"/>
              </a:rPr>
              <a:t>objRef</a:t>
            </a:r>
            <a:r>
              <a:rPr sz="1300" i="1" spc="160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=</a:t>
            </a:r>
            <a:endParaRPr sz="1300">
              <a:latin typeface="Cambria"/>
              <a:cs typeface="Cambria"/>
            </a:endParaRPr>
          </a:p>
          <a:p>
            <a:pPr marL="161925" marR="349250" indent="-149860">
              <a:lnSpc>
                <a:spcPct val="101600"/>
              </a:lnSpc>
            </a:pPr>
            <a:r>
              <a:rPr sz="1300" i="1" spc="55" dirty="0">
                <a:latin typeface="Cambria"/>
                <a:cs typeface="Cambria"/>
              </a:rPr>
              <a:t>orb.resolve_initial_references("NameService"); </a:t>
            </a:r>
            <a:r>
              <a:rPr sz="1300" i="1" spc="80" dirty="0">
                <a:latin typeface="Cambria"/>
                <a:cs typeface="Cambria"/>
              </a:rPr>
              <a:t>NamingContextExt</a:t>
            </a:r>
            <a:r>
              <a:rPr sz="1300" i="1" spc="170" dirty="0">
                <a:latin typeface="Cambria"/>
                <a:cs typeface="Cambria"/>
              </a:rPr>
              <a:t> </a:t>
            </a:r>
            <a:r>
              <a:rPr sz="1300" i="1" spc="100" dirty="0">
                <a:latin typeface="Cambria"/>
                <a:cs typeface="Cambria"/>
              </a:rPr>
              <a:t>ncRef</a:t>
            </a:r>
            <a:r>
              <a:rPr sz="1300" i="1" spc="105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=</a:t>
            </a:r>
            <a:endParaRPr sz="1300">
              <a:latin typeface="Cambria"/>
              <a:cs typeface="Cambria"/>
            </a:endParaRPr>
          </a:p>
          <a:p>
            <a:pPr marL="161925" marR="95885" indent="149225">
              <a:lnSpc>
                <a:spcPct val="101499"/>
              </a:lnSpc>
            </a:pPr>
            <a:r>
              <a:rPr sz="1300" i="1" spc="60" dirty="0">
                <a:latin typeface="Cambria"/>
                <a:cs typeface="Cambria"/>
              </a:rPr>
              <a:t>NamingContextExtHelper.narrow(objRef); </a:t>
            </a:r>
            <a:r>
              <a:rPr sz="1300" i="1" spc="50" dirty="0">
                <a:latin typeface="Cambria"/>
                <a:cs typeface="Cambria"/>
              </a:rPr>
              <a:t>helloImpl</a:t>
            </a:r>
            <a:r>
              <a:rPr sz="1300" i="1" spc="195" dirty="0">
                <a:latin typeface="Cambria"/>
                <a:cs typeface="Cambria"/>
              </a:rPr>
              <a:t> </a:t>
            </a:r>
            <a:r>
              <a:rPr sz="1300" i="1" spc="50" dirty="0">
                <a:latin typeface="Cambria"/>
                <a:cs typeface="Cambria"/>
              </a:rPr>
              <a:t>= </a:t>
            </a:r>
            <a:r>
              <a:rPr sz="1300" i="1" spc="55" dirty="0">
                <a:latin typeface="Cambria"/>
                <a:cs typeface="Cambria"/>
              </a:rPr>
              <a:t>HelloHelper.narrow(ncRef.resolve_str(“Hello”)); </a:t>
            </a:r>
            <a:r>
              <a:rPr sz="1300" i="1" spc="50" dirty="0">
                <a:latin typeface="Cambria"/>
                <a:cs typeface="Cambria"/>
              </a:rPr>
              <a:t>System.out.println(helloImpl.sayHello()); </a:t>
            </a:r>
            <a:r>
              <a:rPr sz="1300" i="1" spc="55" dirty="0">
                <a:latin typeface="Cambria"/>
                <a:cs typeface="Cambria"/>
              </a:rPr>
              <a:t>helloImpl.shutdown();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7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spc="105" dirty="0"/>
              <a:t>Compiling</a:t>
            </a:r>
            <a:r>
              <a:rPr spc="95" dirty="0"/>
              <a:t> and</a:t>
            </a:r>
            <a:r>
              <a:rPr spc="100" dirty="0"/>
              <a:t> </a:t>
            </a:r>
            <a:r>
              <a:rPr spc="125" dirty="0"/>
              <a:t>Running</a:t>
            </a:r>
            <a:r>
              <a:rPr spc="95" dirty="0"/>
              <a:t> </a:t>
            </a:r>
            <a:r>
              <a:rPr spc="140" dirty="0"/>
              <a:t>a</a:t>
            </a:r>
            <a:r>
              <a:rPr spc="100" dirty="0"/>
              <a:t> </a:t>
            </a:r>
            <a:r>
              <a:rPr spc="260" dirty="0"/>
              <a:t>Java</a:t>
            </a:r>
            <a:r>
              <a:rPr spc="100" dirty="0"/>
              <a:t> </a:t>
            </a:r>
            <a:r>
              <a:rPr spc="110" dirty="0"/>
              <a:t>IDL </a:t>
            </a:r>
            <a:r>
              <a:rPr spc="55" dirty="0"/>
              <a:t>application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203181"/>
            <a:ext cx="9657715" cy="390397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8620" marR="3195320" indent="-376555">
              <a:lnSpc>
                <a:spcPct val="104299"/>
              </a:lnSpc>
              <a:spcBef>
                <a:spcPts val="20"/>
              </a:spcBef>
              <a:buAutoNum type="arabicPeriod"/>
              <a:tabLst>
                <a:tab pos="388620" algn="l"/>
              </a:tabLst>
            </a:pPr>
            <a:r>
              <a:rPr sz="1650" spc="110" dirty="0">
                <a:latin typeface="Cambria"/>
                <a:cs typeface="Cambria"/>
              </a:rPr>
              <a:t>Create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compile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Hello.idl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machine: </a:t>
            </a:r>
            <a:r>
              <a:rPr sz="1650" spc="55" dirty="0">
                <a:latin typeface="Cambria"/>
                <a:cs typeface="Cambria"/>
              </a:rPr>
              <a:t>idlj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65" dirty="0">
                <a:latin typeface="Cambria"/>
                <a:cs typeface="Cambria"/>
              </a:rPr>
              <a:t>fall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Hello.idl</a:t>
            </a:r>
            <a:endParaRPr sz="1650">
              <a:latin typeface="Cambria"/>
              <a:cs typeface="Cambria"/>
            </a:endParaRPr>
          </a:p>
          <a:p>
            <a:pPr marL="388620" marR="5080" indent="-376555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388620" algn="l"/>
              </a:tabLst>
            </a:pPr>
            <a:r>
              <a:rPr sz="1650" spc="120" dirty="0">
                <a:latin typeface="Cambria"/>
                <a:cs typeface="Cambria"/>
              </a:rPr>
              <a:t>Copy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containing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Hello.idl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(including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subdirectory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generated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idlj)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machine.</a:t>
            </a:r>
            <a:endParaRPr sz="1650">
              <a:latin typeface="Cambria"/>
              <a:cs typeface="Cambria"/>
            </a:endParaRPr>
          </a:p>
          <a:p>
            <a:pPr marL="388620" indent="-37592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388620" algn="l"/>
                <a:tab pos="7871459" algn="l"/>
              </a:tabLst>
            </a:pP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HelloApp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machine: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create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HelloClient.java.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05" dirty="0">
                <a:latin typeface="Cambria"/>
                <a:cs typeface="Cambria"/>
              </a:rPr>
              <a:t>Compile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the</a:t>
            </a:r>
            <a:endParaRPr sz="1650">
              <a:latin typeface="Cambria"/>
              <a:cs typeface="Cambria"/>
            </a:endParaRPr>
          </a:p>
          <a:p>
            <a:pPr marL="756285" marR="711200" indent="-367665">
              <a:lnSpc>
                <a:spcPct val="100000"/>
              </a:lnSpc>
            </a:pPr>
            <a:r>
              <a:rPr sz="1650" spc="100" dirty="0">
                <a:latin typeface="Cambria"/>
                <a:cs typeface="Cambria"/>
              </a:rPr>
              <a:t>*.java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files,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including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stubs</a:t>
            </a:r>
            <a:r>
              <a:rPr sz="1650" spc="140" dirty="0">
                <a:latin typeface="Cambria"/>
                <a:cs typeface="Cambria"/>
              </a:rPr>
              <a:t> and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skeletons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(which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are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HelloApp): </a:t>
            </a:r>
            <a:r>
              <a:rPr sz="1650" spc="100" dirty="0">
                <a:latin typeface="Cambria"/>
                <a:cs typeface="Cambria"/>
              </a:rPr>
              <a:t>javac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*.java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HelloApp/*.java</a:t>
            </a:r>
            <a:endParaRPr sz="1650">
              <a:latin typeface="Cambria"/>
              <a:cs typeface="Cambria"/>
            </a:endParaRPr>
          </a:p>
          <a:p>
            <a:pPr marL="388620" indent="-375920">
              <a:lnSpc>
                <a:spcPct val="100000"/>
              </a:lnSpc>
              <a:spcBef>
                <a:spcPts val="85"/>
              </a:spcBef>
              <a:buAutoNum type="arabicPeriod" startAt="4"/>
              <a:tabLst>
                <a:tab pos="388620" algn="l"/>
              </a:tabLst>
            </a:pP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HelloApp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directory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machine:</a:t>
            </a:r>
            <a:endParaRPr sz="1650">
              <a:latin typeface="Cambria"/>
              <a:cs typeface="Cambria"/>
            </a:endParaRPr>
          </a:p>
          <a:p>
            <a:pPr marL="834390" lvl="1" indent="-44577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834390" algn="l"/>
              </a:tabLst>
            </a:pPr>
            <a:r>
              <a:rPr sz="1650" spc="105" dirty="0">
                <a:latin typeface="Cambria"/>
                <a:cs typeface="Cambria"/>
              </a:rPr>
              <a:t>Create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HelloServer.java.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Compile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.java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files:</a:t>
            </a:r>
            <a:endParaRPr sz="1650">
              <a:latin typeface="Cambria"/>
              <a:cs typeface="Cambria"/>
            </a:endParaRPr>
          </a:p>
          <a:p>
            <a:pPr marL="1510030" lvl="1" indent="-112141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1510030" algn="l"/>
              </a:tabLst>
            </a:pPr>
            <a:r>
              <a:rPr sz="1650" spc="100" dirty="0">
                <a:latin typeface="Cambria"/>
                <a:cs typeface="Cambria"/>
              </a:rPr>
              <a:t>javac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*.java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HelloApp/*.java</a:t>
            </a:r>
            <a:endParaRPr sz="1650">
              <a:latin typeface="Cambria"/>
              <a:cs typeface="Cambria"/>
            </a:endParaRPr>
          </a:p>
          <a:p>
            <a:pPr marL="388620" marR="707390" indent="-376555">
              <a:lnSpc>
                <a:spcPct val="100000"/>
              </a:lnSpc>
              <a:spcBef>
                <a:spcPts val="85"/>
              </a:spcBef>
              <a:buAutoNum type="arabicPeriod" startAt="4"/>
              <a:tabLst>
                <a:tab pos="388620" algn="l"/>
              </a:tabLst>
            </a:pPr>
            <a:r>
              <a:rPr sz="1650" spc="204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machine: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Start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04" dirty="0">
                <a:latin typeface="Cambria"/>
                <a:cs typeface="Cambria"/>
              </a:rPr>
              <a:t>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Request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Broker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Daemon,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orbd,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which </a:t>
            </a:r>
            <a:r>
              <a:rPr sz="1650" spc="110" dirty="0">
                <a:latin typeface="Cambria"/>
                <a:cs typeface="Cambria"/>
              </a:rPr>
              <a:t>includes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Service.</a:t>
            </a:r>
            <a:endParaRPr sz="1650">
              <a:latin typeface="Cambria"/>
              <a:cs typeface="Cambria"/>
            </a:endParaRPr>
          </a:p>
          <a:p>
            <a:pPr marL="756285" marR="106680">
              <a:lnSpc>
                <a:spcPct val="104200"/>
              </a:lnSpc>
              <a:tabLst>
                <a:tab pos="2848610" algn="l"/>
              </a:tabLst>
            </a:pP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this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Unix: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5" dirty="0">
                <a:latin typeface="Cambria"/>
                <a:cs typeface="Cambria"/>
              </a:rPr>
              <a:t>orbd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90" dirty="0">
                <a:latin typeface="Cambria"/>
                <a:cs typeface="Cambria"/>
              </a:rPr>
              <a:t>ORBInitialPort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1050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05" dirty="0">
                <a:latin typeface="Cambria"/>
                <a:cs typeface="Cambria"/>
              </a:rPr>
              <a:t>ORBInitialHost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servermachinename&amp;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this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Windows:</a:t>
            </a:r>
            <a:endParaRPr sz="1650">
              <a:latin typeface="Cambria"/>
              <a:cs typeface="Cambria"/>
            </a:endParaRPr>
          </a:p>
          <a:p>
            <a:pPr marL="756285">
              <a:lnSpc>
                <a:spcPct val="100000"/>
              </a:lnSpc>
              <a:spcBef>
                <a:spcPts val="85"/>
              </a:spcBef>
            </a:pPr>
            <a:r>
              <a:rPr sz="1650" spc="90" dirty="0">
                <a:latin typeface="Cambria"/>
                <a:cs typeface="Cambria"/>
              </a:rPr>
              <a:t>start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orbd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90" dirty="0">
                <a:latin typeface="Cambria"/>
                <a:cs typeface="Cambria"/>
              </a:rPr>
              <a:t>ORBInitialPort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1050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05" dirty="0">
                <a:latin typeface="Cambria"/>
                <a:cs typeface="Cambria"/>
              </a:rPr>
              <a:t>ORBInitialHost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servermachinename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124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spc="105" dirty="0"/>
              <a:t>Compiling</a:t>
            </a:r>
            <a:r>
              <a:rPr spc="95" dirty="0"/>
              <a:t> and</a:t>
            </a:r>
            <a:r>
              <a:rPr spc="100" dirty="0"/>
              <a:t> </a:t>
            </a:r>
            <a:r>
              <a:rPr spc="125" dirty="0"/>
              <a:t>Running</a:t>
            </a:r>
            <a:r>
              <a:rPr spc="95" dirty="0"/>
              <a:t> </a:t>
            </a:r>
            <a:r>
              <a:rPr spc="140" dirty="0"/>
              <a:t>a</a:t>
            </a:r>
            <a:r>
              <a:rPr spc="100" dirty="0"/>
              <a:t> </a:t>
            </a:r>
            <a:r>
              <a:rPr spc="260" dirty="0"/>
              <a:t>Java</a:t>
            </a:r>
            <a:r>
              <a:rPr spc="100" dirty="0"/>
              <a:t> </a:t>
            </a:r>
            <a:r>
              <a:rPr spc="110" dirty="0"/>
              <a:t>IDL </a:t>
            </a:r>
            <a:r>
              <a:rPr spc="55" dirty="0"/>
              <a:t>application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490" y="2152205"/>
            <a:ext cx="9670415" cy="38798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88620" indent="-375920">
              <a:lnSpc>
                <a:spcPct val="100000"/>
              </a:lnSpc>
              <a:spcBef>
                <a:spcPts val="1165"/>
              </a:spcBef>
              <a:buAutoNum type="arabicPeriod" startAt="5"/>
              <a:tabLst>
                <a:tab pos="388620" algn="l"/>
              </a:tabLst>
            </a:pPr>
            <a:r>
              <a:rPr sz="1650" spc="204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machine,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start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Hello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server,</a:t>
            </a:r>
            <a:r>
              <a:rPr sz="1650" spc="145" dirty="0">
                <a:latin typeface="Cambria"/>
                <a:cs typeface="Cambria"/>
              </a:rPr>
              <a:t> as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40" dirty="0">
                <a:latin typeface="Cambria"/>
                <a:cs typeface="Cambria"/>
              </a:rPr>
              <a:t>follows:</a:t>
            </a:r>
            <a:endParaRPr sz="1650">
              <a:latin typeface="Cambria"/>
              <a:cs typeface="Cambria"/>
            </a:endParaRPr>
          </a:p>
          <a:p>
            <a:pPr marL="756285">
              <a:lnSpc>
                <a:spcPct val="100000"/>
              </a:lnSpc>
              <a:spcBef>
                <a:spcPts val="1070"/>
              </a:spcBef>
            </a:pPr>
            <a:r>
              <a:rPr sz="1650" spc="95" dirty="0">
                <a:latin typeface="Cambria"/>
                <a:cs typeface="Cambria"/>
              </a:rPr>
              <a:t>java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HelloServer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–ORBInitialHost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&lt;nameserver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host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name&gt;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90" dirty="0">
                <a:latin typeface="Cambria"/>
                <a:cs typeface="Cambria"/>
              </a:rPr>
              <a:t>ORBInitialPort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1050</a:t>
            </a:r>
            <a:endParaRPr sz="1650">
              <a:latin typeface="Cambria"/>
              <a:cs typeface="Cambria"/>
            </a:endParaRPr>
          </a:p>
          <a:p>
            <a:pPr marL="388620" marR="5080" indent="-376555">
              <a:lnSpc>
                <a:spcPts val="3060"/>
              </a:lnSpc>
              <a:spcBef>
                <a:spcPts val="270"/>
              </a:spcBef>
              <a:buAutoNum type="arabicPeriod" startAt="6"/>
              <a:tabLst>
                <a:tab pos="756285" algn="l"/>
              </a:tabLst>
            </a:pPr>
            <a:r>
              <a:rPr sz="1650" spc="204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machine,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run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Hello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application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client.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From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240" dirty="0">
                <a:latin typeface="Cambria"/>
                <a:cs typeface="Cambria"/>
              </a:rPr>
              <a:t>DOS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prompt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shell,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type: 	</a:t>
            </a:r>
            <a:r>
              <a:rPr sz="1650" spc="95" dirty="0">
                <a:latin typeface="Cambria"/>
                <a:cs typeface="Cambria"/>
              </a:rPr>
              <a:t>java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HelloClient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105" dirty="0">
                <a:latin typeface="Cambria"/>
                <a:cs typeface="Cambria"/>
              </a:rPr>
              <a:t>ORBInitialHost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nameserverhost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90" dirty="0">
                <a:latin typeface="Cambria"/>
                <a:cs typeface="Cambria"/>
              </a:rPr>
              <a:t>ORBInitialPort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1050</a:t>
            </a:r>
            <a:endParaRPr sz="1650">
              <a:latin typeface="Cambria"/>
              <a:cs typeface="Cambria"/>
            </a:endParaRPr>
          </a:p>
          <a:p>
            <a:pPr marL="756285">
              <a:lnSpc>
                <a:spcPct val="100000"/>
              </a:lnSpc>
              <a:spcBef>
                <a:spcPts val="785"/>
              </a:spcBef>
            </a:pPr>
            <a:r>
              <a:rPr sz="1650" spc="80" dirty="0">
                <a:latin typeface="Cambria"/>
                <a:cs typeface="Cambria"/>
              </a:rPr>
              <a:t>all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one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line.</a:t>
            </a:r>
            <a:endParaRPr sz="1650">
              <a:latin typeface="Cambria"/>
              <a:cs typeface="Cambria"/>
            </a:endParaRPr>
          </a:p>
          <a:p>
            <a:pPr marL="756285" marR="39370">
              <a:lnSpc>
                <a:spcPct val="149700"/>
              </a:lnSpc>
              <a:spcBef>
                <a:spcPts val="95"/>
              </a:spcBef>
            </a:pPr>
            <a:r>
              <a:rPr sz="1650" spc="55" dirty="0">
                <a:latin typeface="Cambria"/>
                <a:cs typeface="Cambria"/>
              </a:rPr>
              <a:t>Note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that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nameserverhost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host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which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IDL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running.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In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this </a:t>
            </a:r>
            <a:r>
              <a:rPr sz="1650" spc="135" dirty="0">
                <a:latin typeface="Cambria"/>
                <a:cs typeface="Cambria"/>
              </a:rPr>
              <a:t>case,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machine.</a:t>
            </a:r>
            <a:endParaRPr sz="1650">
              <a:latin typeface="Cambria"/>
              <a:cs typeface="Cambria"/>
            </a:endParaRPr>
          </a:p>
          <a:p>
            <a:pPr marL="388620" marR="15240" indent="-376555">
              <a:lnSpc>
                <a:spcPct val="150300"/>
              </a:lnSpc>
              <a:spcBef>
                <a:spcPts val="75"/>
              </a:spcBef>
              <a:buAutoNum type="arabicPeriod" startAt="7"/>
              <a:tabLst>
                <a:tab pos="388620" algn="l"/>
              </a:tabLst>
            </a:pPr>
            <a:r>
              <a:rPr sz="1650" spc="60" dirty="0">
                <a:latin typeface="Cambria"/>
                <a:cs typeface="Cambria"/>
              </a:rPr>
              <a:t>Kill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stop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orbd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when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finished.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The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name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will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continue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wait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invocations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until </a:t>
            </a:r>
            <a:r>
              <a:rPr sz="1650" dirty="0">
                <a:latin typeface="Cambria"/>
                <a:cs typeface="Cambria"/>
              </a:rPr>
              <a:t>it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explicitly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stopped.</a:t>
            </a:r>
            <a:endParaRPr sz="1650">
              <a:latin typeface="Cambria"/>
              <a:cs typeface="Cambria"/>
            </a:endParaRPr>
          </a:p>
          <a:p>
            <a:pPr marL="388620" indent="-375920">
              <a:lnSpc>
                <a:spcPct val="100000"/>
              </a:lnSpc>
              <a:spcBef>
                <a:spcPts val="1065"/>
              </a:spcBef>
              <a:buAutoNum type="arabicPeriod" startAt="7"/>
              <a:tabLst>
                <a:tab pos="388620" algn="l"/>
              </a:tabLst>
            </a:pPr>
            <a:r>
              <a:rPr sz="1650" spc="114" dirty="0">
                <a:latin typeface="Cambria"/>
                <a:cs typeface="Cambria"/>
              </a:rPr>
              <a:t>Stop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server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810" y="2200203"/>
            <a:ext cx="9679305" cy="3547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b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(Remote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Invocation)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API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provides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mechanism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create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distributed</a:t>
            </a:r>
            <a:r>
              <a:rPr sz="16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in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java.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allows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invoke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methods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running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another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JVM.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provides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communication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between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 applications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two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i="1" dirty="0">
                <a:solidFill>
                  <a:srgbClr val="333333"/>
                </a:solidFill>
                <a:latin typeface="Calibri"/>
                <a:cs typeface="Calibri"/>
              </a:rPr>
              <a:t>stub</a:t>
            </a:r>
            <a:r>
              <a:rPr sz="1650" i="1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i="1" spc="-10" dirty="0">
                <a:solidFill>
                  <a:srgbClr val="333333"/>
                </a:solidFill>
                <a:latin typeface="Calibri"/>
                <a:cs typeface="Calibri"/>
              </a:rPr>
              <a:t>skeleton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Understanding</a:t>
            </a:r>
            <a:r>
              <a:rPr sz="1650" spc="-3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stub and</a:t>
            </a:r>
            <a:r>
              <a:rPr sz="1650" spc="-2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skeleton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uses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stub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skeleton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communication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object.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b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whose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6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invoked</a:t>
            </a:r>
            <a:r>
              <a:rPr sz="165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another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JVM.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Let's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understand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stub and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skeleton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objects: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810" y="2200203"/>
            <a:ext cx="7753984" cy="3044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spc="-20" dirty="0">
                <a:solidFill>
                  <a:srgbClr val="600A4B"/>
                </a:solidFill>
                <a:latin typeface="Calibri"/>
                <a:cs typeface="Calibri"/>
              </a:rPr>
              <a:t>Stub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stub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object,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acts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gateway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side.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outgoing</a:t>
            </a:r>
            <a:r>
              <a:rPr sz="165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requests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routed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it.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resides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side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represents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object.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caller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invokes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stub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object,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does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65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tasks: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initiates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connection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with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remote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Virtual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Machine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(JVM),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writes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transmits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(marshals)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parameters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remote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Virtual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Machine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(JVM),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waits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for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result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reads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(unmarshals)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return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value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or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exception,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and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finally,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returns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value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caller.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810" y="2201641"/>
            <a:ext cx="6883400" cy="2792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spc="-10" dirty="0">
                <a:solidFill>
                  <a:srgbClr val="008000"/>
                </a:solidFill>
                <a:latin typeface="Calibri"/>
                <a:cs typeface="Calibri"/>
              </a:rPr>
              <a:t>Skeleton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skeleton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object,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acts as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gateway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side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object.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incoming</a:t>
            </a:r>
            <a:r>
              <a:rPr sz="165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requests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routed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it.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skeleton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receives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incoming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request,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does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following</a:t>
            </a:r>
            <a:r>
              <a:rPr sz="165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tasks: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reads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parameter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for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remote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method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invokes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method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on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actual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remote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object,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and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writes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transmits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(marshals)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result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caller.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5876" y="4134611"/>
            <a:ext cx="3732275" cy="23393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332" rIns="0" bIns="0" rtlCol="0">
            <a:spAutoFit/>
          </a:bodyPr>
          <a:lstStyle/>
          <a:p>
            <a:pPr marL="43434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34340" algn="l"/>
              </a:tabLst>
            </a:pPr>
            <a:r>
              <a:rPr dirty="0">
                <a:solidFill>
                  <a:srgbClr val="600A38"/>
                </a:solidFill>
              </a:rPr>
              <a:t>Java</a:t>
            </a:r>
            <a:r>
              <a:rPr spc="-45" dirty="0">
                <a:solidFill>
                  <a:srgbClr val="600A38"/>
                </a:solidFill>
              </a:rPr>
              <a:t> </a:t>
            </a:r>
            <a:r>
              <a:rPr dirty="0">
                <a:solidFill>
                  <a:srgbClr val="600A38"/>
                </a:solidFill>
              </a:rPr>
              <a:t>RMI</a:t>
            </a:r>
            <a:r>
              <a:rPr spc="-50" dirty="0">
                <a:solidFill>
                  <a:srgbClr val="600A38"/>
                </a:solidFill>
              </a:rPr>
              <a:t> </a:t>
            </a:r>
            <a:r>
              <a:rPr spc="-10" dirty="0">
                <a:solidFill>
                  <a:srgbClr val="600A38"/>
                </a:solidFill>
              </a:rPr>
              <a:t>Example</a:t>
            </a:r>
          </a:p>
          <a:p>
            <a:pPr marL="43434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434340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given</a:t>
            </a:r>
            <a:r>
              <a:rPr spc="-4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6</a:t>
            </a:r>
            <a:r>
              <a:rPr spc="-30" dirty="0"/>
              <a:t> </a:t>
            </a:r>
            <a:r>
              <a:rPr dirty="0"/>
              <a:t>steps</a:t>
            </a:r>
            <a:r>
              <a:rPr spc="-1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write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RMI</a:t>
            </a:r>
            <a:r>
              <a:rPr spc="-35" dirty="0"/>
              <a:t> </a:t>
            </a:r>
            <a:r>
              <a:rPr spc="-10" dirty="0"/>
              <a:t>program.</a:t>
            </a:r>
          </a:p>
          <a:p>
            <a:pPr marL="529590" indent="-378460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529590" algn="l"/>
              </a:tabLst>
            </a:pPr>
            <a:r>
              <a:rPr dirty="0">
                <a:solidFill>
                  <a:srgbClr val="000000"/>
                </a:solidFill>
              </a:rPr>
              <a:t>Create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remote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interface</a:t>
            </a:r>
          </a:p>
          <a:p>
            <a:pPr marL="529590" indent="-378460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529590" algn="l"/>
              </a:tabLst>
            </a:pPr>
            <a:r>
              <a:rPr dirty="0">
                <a:solidFill>
                  <a:srgbClr val="000000"/>
                </a:solidFill>
              </a:rPr>
              <a:t>Provide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0" dirty="0">
                <a:solidFill>
                  <a:srgbClr val="000000"/>
                </a:solidFill>
              </a:rPr>
              <a:t> implementation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remote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interface</a:t>
            </a:r>
          </a:p>
          <a:p>
            <a:pPr marL="529590" indent="-378460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529590" algn="l"/>
              </a:tabLst>
            </a:pPr>
            <a:r>
              <a:rPr dirty="0">
                <a:solidFill>
                  <a:srgbClr val="000000"/>
                </a:solidFill>
              </a:rPr>
              <a:t>Compile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implementation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class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create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stub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skeleton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objects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using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rmic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tool</a:t>
            </a:r>
          </a:p>
          <a:p>
            <a:pPr marL="529590" indent="-378460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529590" algn="l"/>
              </a:tabLst>
            </a:pPr>
            <a:r>
              <a:rPr dirty="0">
                <a:solidFill>
                  <a:srgbClr val="000000"/>
                </a:solidFill>
              </a:rPr>
              <a:t>Start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registry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rmiregistry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tool</a:t>
            </a:r>
          </a:p>
          <a:p>
            <a:pPr marL="529590" indent="-378460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529590" algn="l"/>
              </a:tabLst>
            </a:pPr>
            <a:r>
              <a:rPr dirty="0">
                <a:solidFill>
                  <a:srgbClr val="000000"/>
                </a:solidFill>
              </a:rPr>
              <a:t>Create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start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remote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application</a:t>
            </a:r>
          </a:p>
          <a:p>
            <a:pPr marL="529590" indent="-378460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529590" algn="l"/>
              </a:tabLst>
            </a:pPr>
            <a:r>
              <a:rPr dirty="0">
                <a:solidFill>
                  <a:srgbClr val="000000"/>
                </a:solidFill>
              </a:rPr>
              <a:t>Create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start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client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application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810" y="2201641"/>
            <a:ext cx="4507865" cy="3798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600A38"/>
                </a:solidFill>
                <a:latin typeface="Calibri"/>
                <a:cs typeface="Calibri"/>
              </a:rPr>
              <a:t>RMI</a:t>
            </a:r>
            <a:r>
              <a:rPr sz="1650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00A38"/>
                </a:solidFill>
                <a:latin typeface="Calibri"/>
                <a:cs typeface="Calibri"/>
              </a:rPr>
              <a:t>Example</a:t>
            </a:r>
            <a:endParaRPr sz="165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65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example,</a:t>
            </a:r>
            <a:r>
              <a:rPr sz="165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65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165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followed</a:t>
            </a:r>
            <a:r>
              <a:rPr sz="165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65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6</a:t>
            </a:r>
            <a:r>
              <a:rPr sz="165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steps</a:t>
            </a:r>
            <a:r>
              <a:rPr sz="165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create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run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application.</a:t>
            </a:r>
            <a:endParaRPr sz="1650">
              <a:latin typeface="Calibri"/>
              <a:cs typeface="Calibri"/>
            </a:endParaRPr>
          </a:p>
          <a:p>
            <a:pPr marL="12700" marR="8890">
              <a:lnSpc>
                <a:spcPct val="100000"/>
              </a:lnSpc>
              <a:spcBef>
                <a:spcPts val="1980"/>
              </a:spcBef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2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application</a:t>
            </a:r>
            <a:r>
              <a:rPr sz="1650" spc="2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need</a:t>
            </a:r>
            <a:r>
              <a:rPr sz="165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only</a:t>
            </a:r>
            <a:r>
              <a:rPr sz="165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two</a:t>
            </a:r>
            <a:r>
              <a:rPr sz="165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files,</a:t>
            </a:r>
            <a:r>
              <a:rPr sz="165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interface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application.</a:t>
            </a:r>
            <a:endParaRPr sz="165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  <a:spcBef>
                <a:spcPts val="1980"/>
              </a:spcBef>
              <a:tabLst>
                <a:tab pos="321310" algn="l"/>
                <a:tab pos="755015" algn="l"/>
                <a:tab pos="1188085" algn="l"/>
                <a:tab pos="2329815" algn="l"/>
                <a:tab pos="2879090" algn="l"/>
                <a:tab pos="3495040" algn="l"/>
                <a:tab pos="3961765" algn="l"/>
              </a:tabLst>
            </a:pP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application,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both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server interacts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interface.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980"/>
              </a:spcBef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application invokes</a:t>
            </a:r>
            <a:r>
              <a:rPr sz="16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methods</a:t>
            </a:r>
            <a:r>
              <a:rPr sz="16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6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proxy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object,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sends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request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JVM.</a:t>
            </a:r>
            <a:endParaRPr sz="1650">
              <a:latin typeface="Calibri"/>
              <a:cs typeface="Calibri"/>
            </a:endParaRPr>
          </a:p>
          <a:p>
            <a:pPr marL="12700" marR="6350">
              <a:lnSpc>
                <a:spcPct val="100000"/>
              </a:lnSpc>
              <a:spcBef>
                <a:spcPts val="1980"/>
              </a:spcBef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return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value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sent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proxy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and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application.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7567" y="2966491"/>
            <a:ext cx="4185458" cy="26799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810" y="2200203"/>
            <a:ext cx="9680575" cy="3295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sz="1650" spc="-25" dirty="0">
                <a:solidFill>
                  <a:srgbClr val="600A4B"/>
                </a:solidFill>
                <a:latin typeface="Calibri"/>
                <a:cs typeface="Calibri"/>
              </a:rPr>
              <a:t>1)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	create</a:t>
            </a:r>
            <a:r>
              <a:rPr sz="1650" spc="-55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the</a:t>
            </a:r>
            <a:r>
              <a:rPr sz="1650" spc="-75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remote</a:t>
            </a:r>
            <a:r>
              <a:rPr sz="1650" spc="-5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interface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980"/>
              </a:spcBef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65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creating</a:t>
            </a:r>
            <a:r>
              <a:rPr sz="165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interface,</a:t>
            </a:r>
            <a:r>
              <a:rPr sz="165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extend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interface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1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declare</a:t>
            </a:r>
            <a:r>
              <a:rPr sz="165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RemoteException</a:t>
            </a:r>
            <a:r>
              <a:rPr sz="165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sz="165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1650" spc="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methods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interface.</a:t>
            </a:r>
            <a:endParaRPr sz="1650">
              <a:latin typeface="Calibri"/>
              <a:cs typeface="Calibri"/>
            </a:endParaRPr>
          </a:p>
          <a:p>
            <a:pPr marL="12700" marR="3190240">
              <a:lnSpc>
                <a:spcPct val="200000"/>
              </a:lnSpc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Here,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creating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interface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extends</a:t>
            </a:r>
            <a:r>
              <a:rPr sz="165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interface.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There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only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named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add()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declares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RemoteException.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import</a:t>
            </a:r>
            <a:r>
              <a:rPr sz="1650"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java.rmi.*;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650" b="1" spc="-6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interface</a:t>
            </a:r>
            <a:r>
              <a:rPr sz="1650"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Adder</a:t>
            </a:r>
            <a:r>
              <a:rPr sz="1650" spc="-75" dirty="0"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extends</a:t>
            </a:r>
            <a:r>
              <a:rPr sz="1650" b="1" spc="-3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Remote{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650" b="1" spc="-3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650" b="1" spc="-2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add(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650" b="1" spc="-5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x,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650" b="1" spc="-4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y)</a:t>
            </a:r>
            <a:r>
              <a:rPr sz="1650" b="1" spc="-10" dirty="0">
                <a:solidFill>
                  <a:srgbClr val="006699"/>
                </a:solidFill>
                <a:latin typeface="Calibri"/>
                <a:cs typeface="Calibri"/>
              </a:rPr>
              <a:t>throws</a:t>
            </a:r>
            <a:r>
              <a:rPr sz="1650" b="1" spc="-3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RemoteException;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spc="-50" dirty="0">
                <a:latin typeface="Calibri"/>
                <a:cs typeface="Calibri"/>
              </a:rPr>
              <a:t>}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810" y="2200203"/>
            <a:ext cx="630682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2)</a:t>
            </a:r>
            <a:r>
              <a:rPr sz="1650" spc="5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Provide</a:t>
            </a:r>
            <a:r>
              <a:rPr sz="1650" spc="-2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the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implementation</a:t>
            </a:r>
            <a:r>
              <a:rPr sz="1650" spc="-35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of</a:t>
            </a:r>
            <a:r>
              <a:rPr sz="1650" spc="-15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the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remote</a:t>
            </a:r>
            <a:r>
              <a:rPr sz="1650" spc="-2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interface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Now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provide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 implementation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interface.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providing</a:t>
            </a:r>
            <a:r>
              <a:rPr sz="165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implementation</a:t>
            </a:r>
            <a:r>
              <a:rPr sz="165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interface,</a:t>
            </a:r>
            <a:r>
              <a:rPr sz="165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need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10129" y="3960338"/>
            <a:ext cx="32835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97865" algn="l"/>
                <a:tab pos="941705" algn="l"/>
                <a:tab pos="2066925" algn="l"/>
                <a:tab pos="2557145" algn="l"/>
              </a:tabLst>
            </a:pP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define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constructor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declares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810" y="3457457"/>
            <a:ext cx="6885305" cy="3044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Either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extend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UnicastRemoteObject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class,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or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exportObject()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method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UnicastRemoteObject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class</a:t>
            </a:r>
            <a:endParaRPr sz="1650">
              <a:latin typeface="Calibri"/>
              <a:cs typeface="Calibri"/>
            </a:endParaRPr>
          </a:p>
          <a:p>
            <a:pPr marL="295910" marR="608965" indent="-283845">
              <a:lnSpc>
                <a:spcPct val="100000"/>
              </a:lnSpc>
              <a:buFont typeface="Arial MT"/>
              <a:buChar char="•"/>
              <a:tabLst>
                <a:tab pos="295910" algn="l"/>
                <a:tab pos="602615" algn="l"/>
                <a:tab pos="1172845" algn="l"/>
                <a:tab pos="1626870" algn="l"/>
                <a:tab pos="2357120" algn="l"/>
                <a:tab pos="2783840" algn="l"/>
                <a:tab pos="4785995" algn="l"/>
                <a:tab pos="5385435" algn="l"/>
                <a:tab pos="5842000" algn="l"/>
              </a:tabLst>
            </a:pP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case,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extend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UnicastRemoteObject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class,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must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RemoteException.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import</a:t>
            </a:r>
            <a:r>
              <a:rPr sz="1650"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java.rmi.*;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import</a:t>
            </a:r>
            <a:r>
              <a:rPr sz="1650"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java.rmi.server.*;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650" b="1" spc="-4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class</a:t>
            </a:r>
            <a:r>
              <a:rPr sz="1650" b="1" spc="-2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AdderRemote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extends</a:t>
            </a:r>
            <a:r>
              <a:rPr sz="1650" b="1" spc="-1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UnicastRemoteObject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implements</a:t>
            </a:r>
            <a:r>
              <a:rPr sz="1650" b="1" spc="-4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Adder{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spc="-10" dirty="0">
                <a:latin typeface="Calibri"/>
                <a:cs typeface="Calibri"/>
              </a:rPr>
              <a:t>AdderRemote()</a:t>
            </a:r>
            <a:r>
              <a:rPr sz="1650" b="1" spc="-10" dirty="0">
                <a:solidFill>
                  <a:srgbClr val="006699"/>
                </a:solidFill>
                <a:latin typeface="Calibri"/>
                <a:cs typeface="Calibri"/>
              </a:rPr>
              <a:t>throws</a:t>
            </a:r>
            <a:r>
              <a:rPr sz="1650" b="1" spc="-2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RemoteException{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b="1" spc="-10" dirty="0">
                <a:solidFill>
                  <a:srgbClr val="006699"/>
                </a:solidFill>
                <a:latin typeface="Calibri"/>
                <a:cs typeface="Calibri"/>
              </a:rPr>
              <a:t>super</a:t>
            </a:r>
            <a:r>
              <a:rPr sz="1650" spc="-10" dirty="0">
                <a:latin typeface="Calibri"/>
                <a:cs typeface="Calibri"/>
              </a:rPr>
              <a:t>();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spc="-50" dirty="0">
                <a:latin typeface="Calibri"/>
                <a:cs typeface="Calibri"/>
              </a:rPr>
              <a:t>}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650"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650" b="1" spc="-4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add(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650" b="1" spc="-7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x,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650" b="1" spc="-4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y){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return</a:t>
            </a:r>
            <a:r>
              <a:rPr sz="1650" b="1" spc="-3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x+y;}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spc="-50" dirty="0">
                <a:latin typeface="Calibri"/>
                <a:cs typeface="Calibri"/>
              </a:rPr>
              <a:t>}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810" y="2200203"/>
            <a:ext cx="6943090" cy="1283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3)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create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stub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skeleton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objects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rmic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tool.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Next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step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create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stub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skeleton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objects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compiler.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rmic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tool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invokes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compiler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creates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stub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skeleton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objects.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810" y="3708949"/>
            <a:ext cx="990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latin typeface="Arial MT"/>
                <a:cs typeface="Arial MT"/>
              </a:rPr>
              <a:t>•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015" y="3732276"/>
            <a:ext cx="1628139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1650" dirty="0">
                <a:latin typeface="Calibri"/>
                <a:cs typeface="Calibri"/>
              </a:rPr>
              <a:t>rmic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AdderRemote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2810" y="4211830"/>
            <a:ext cx="9681845" cy="1535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4)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Start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registry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service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by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rmiregistry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tool</a:t>
            </a:r>
            <a:endParaRPr sz="16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Now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start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registry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service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by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rmiregistry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tool.</a:t>
            </a:r>
            <a:endParaRPr sz="1650">
              <a:latin typeface="Calibri"/>
              <a:cs typeface="Calibri"/>
            </a:endParaRPr>
          </a:p>
          <a:p>
            <a:pPr marL="295910" marR="5080" indent="-283845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latin typeface="Calibri"/>
                <a:cs typeface="Calibri"/>
              </a:rPr>
              <a:t>If</a:t>
            </a:r>
            <a:r>
              <a:rPr sz="1650" spc="1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you</a:t>
            </a:r>
            <a:r>
              <a:rPr sz="1650" spc="1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don't</a:t>
            </a:r>
            <a:r>
              <a:rPr sz="1650" spc="1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specify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port</a:t>
            </a:r>
            <a:r>
              <a:rPr sz="1650" spc="1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number,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it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uses</a:t>
            </a:r>
            <a:r>
              <a:rPr sz="1650" spc="1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1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default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port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number.</a:t>
            </a:r>
            <a:r>
              <a:rPr sz="1650" spc="1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1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this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example,</a:t>
            </a:r>
            <a:r>
              <a:rPr sz="1650" spc="1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we</a:t>
            </a:r>
            <a:r>
              <a:rPr sz="1650" spc="1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are</a:t>
            </a:r>
            <a:r>
              <a:rPr sz="1650" spc="1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1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2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port </a:t>
            </a:r>
            <a:r>
              <a:rPr sz="1650" dirty="0">
                <a:latin typeface="Calibri"/>
                <a:cs typeface="Calibri"/>
              </a:rPr>
              <a:t>number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5000.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810" y="5972069"/>
            <a:ext cx="990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latin typeface="Arial MT"/>
                <a:cs typeface="Arial MT"/>
              </a:rPr>
              <a:t>•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015" y="5995415"/>
            <a:ext cx="1405255" cy="2578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sz="1650" dirty="0">
                <a:latin typeface="Calibri"/>
                <a:cs typeface="Calibri"/>
              </a:rPr>
              <a:t>rmiregistry</a:t>
            </a:r>
            <a:r>
              <a:rPr sz="1650" spc="-8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5000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810" y="2201641"/>
            <a:ext cx="2698115" cy="2792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6985" indent="-28384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008000"/>
                </a:solidFill>
                <a:latin typeface="Calibri"/>
                <a:cs typeface="Calibri"/>
              </a:rPr>
              <a:t>5)</a:t>
            </a:r>
            <a:r>
              <a:rPr sz="1650" spc="35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8000"/>
                </a:solidFill>
                <a:latin typeface="Calibri"/>
                <a:cs typeface="Calibri"/>
              </a:rPr>
              <a:t>Create</a:t>
            </a:r>
            <a:r>
              <a:rPr sz="1650" spc="36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650" spc="360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08000"/>
                </a:solidFill>
                <a:latin typeface="Calibri"/>
                <a:cs typeface="Calibri"/>
              </a:rPr>
              <a:t>run</a:t>
            </a:r>
            <a:r>
              <a:rPr sz="1650" spc="365" dirty="0">
                <a:solidFill>
                  <a:srgbClr val="008000"/>
                </a:solidFill>
                <a:latin typeface="Calibri"/>
                <a:cs typeface="Calibri"/>
              </a:rPr>
              <a:t>  </a:t>
            </a:r>
            <a:r>
              <a:rPr sz="1650" spc="-25" dirty="0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sz="1650" dirty="0">
                <a:solidFill>
                  <a:srgbClr val="008000"/>
                </a:solidFill>
                <a:latin typeface="Calibri"/>
                <a:cs typeface="Calibri"/>
              </a:rPr>
              <a:t>server</a:t>
            </a:r>
            <a:r>
              <a:rPr sz="165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008000"/>
                </a:solidFill>
                <a:latin typeface="Calibri"/>
                <a:cs typeface="Calibri"/>
              </a:rPr>
              <a:t>application</a:t>
            </a:r>
            <a:endParaRPr sz="1650">
              <a:latin typeface="Calibri"/>
              <a:cs typeface="Calibri"/>
            </a:endParaRPr>
          </a:p>
          <a:p>
            <a:pPr marL="295910" marR="5080" indent="-283845" algn="just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Now</a:t>
            </a:r>
            <a:r>
              <a:rPr sz="165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rmi</a:t>
            </a:r>
            <a:r>
              <a:rPr sz="1650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services</a:t>
            </a:r>
            <a:r>
              <a:rPr sz="165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need</a:t>
            </a:r>
            <a:r>
              <a:rPr sz="1650" spc="4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1650" spc="39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hosted</a:t>
            </a:r>
            <a:r>
              <a:rPr sz="1650" spc="4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spc="39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50" spc="405" dirty="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server process.</a:t>
            </a:r>
            <a:endParaRPr sz="1650">
              <a:latin typeface="Calibri"/>
              <a:cs typeface="Calibri"/>
            </a:endParaRPr>
          </a:p>
          <a:p>
            <a:pPr marL="295910" marR="6350" indent="-283845" algn="just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Naming</a:t>
            </a:r>
            <a:r>
              <a:rPr sz="165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class</a:t>
            </a:r>
            <a:r>
              <a:rPr sz="165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provides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methods</a:t>
            </a:r>
            <a:r>
              <a:rPr sz="1650" spc="4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43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get</a:t>
            </a:r>
            <a:r>
              <a:rPr sz="1650" spc="43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50" spc="4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store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object.</a:t>
            </a:r>
            <a:endParaRPr sz="1650">
              <a:latin typeface="Calibri"/>
              <a:cs typeface="Calibri"/>
            </a:endParaRPr>
          </a:p>
          <a:p>
            <a:pPr marL="295910" marR="6350" indent="-283845" algn="just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3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Naming</a:t>
            </a:r>
            <a:r>
              <a:rPr sz="1650" spc="3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class</a:t>
            </a:r>
            <a:r>
              <a:rPr sz="1650" spc="3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provides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5</a:t>
            </a:r>
            <a:r>
              <a:rPr sz="16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methods.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997" y="2210350"/>
            <a:ext cx="7056402" cy="39022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332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05"/>
              </a:spcBef>
            </a:pP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example,</a:t>
            </a:r>
            <a:r>
              <a:rPr spc="-6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dirty="0"/>
              <a:t>binding</a:t>
            </a:r>
            <a:r>
              <a:rPr spc="-8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remote</a:t>
            </a:r>
            <a:r>
              <a:rPr spc="-25" dirty="0"/>
              <a:t> </a:t>
            </a:r>
            <a:r>
              <a:rPr dirty="0"/>
              <a:t>object</a:t>
            </a:r>
            <a:r>
              <a:rPr spc="-25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name</a:t>
            </a:r>
            <a:r>
              <a:rPr spc="-20" dirty="0"/>
              <a:t> </a:t>
            </a:r>
            <a:r>
              <a:rPr spc="-10" dirty="0"/>
              <a:t>sonoo.</a:t>
            </a:r>
          </a:p>
          <a:p>
            <a:pPr marL="151130">
              <a:lnSpc>
                <a:spcPct val="100000"/>
              </a:lnSpc>
              <a:spcBef>
                <a:spcPts val="1980"/>
              </a:spcBef>
            </a:pP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import</a:t>
            </a:r>
            <a:r>
              <a:rPr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</a:rPr>
              <a:t>java.rmi.*;</a:t>
            </a:r>
          </a:p>
          <a:p>
            <a:pPr marL="151130">
              <a:lnSpc>
                <a:spcPct val="100000"/>
              </a:lnSpc>
            </a:pP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import</a:t>
            </a:r>
            <a:r>
              <a:rPr b="1" spc="-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</a:rPr>
              <a:t>java.rmi.registry.*;</a:t>
            </a:r>
          </a:p>
          <a:p>
            <a:pPr marL="151130">
              <a:lnSpc>
                <a:spcPct val="100000"/>
              </a:lnSpc>
            </a:pP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b="1" spc="-3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class</a:t>
            </a:r>
            <a:r>
              <a:rPr b="1" spc="-2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</a:rPr>
              <a:t>MyServer{</a:t>
            </a:r>
          </a:p>
          <a:p>
            <a:pPr marL="151130">
              <a:lnSpc>
                <a:spcPct val="100000"/>
              </a:lnSpc>
            </a:pP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b="1" spc="-5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static</a:t>
            </a:r>
            <a:r>
              <a:rPr b="1" spc="-5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void</a:t>
            </a:r>
            <a:r>
              <a:rPr b="1" spc="-3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main(String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args[]){</a:t>
            </a:r>
          </a:p>
          <a:p>
            <a:pPr marL="151130">
              <a:lnSpc>
                <a:spcPct val="100000"/>
              </a:lnSpc>
            </a:pPr>
            <a:r>
              <a:rPr b="1" spc="-20" dirty="0">
                <a:solidFill>
                  <a:srgbClr val="006699"/>
                </a:solidFill>
                <a:latin typeface="Calibri"/>
                <a:cs typeface="Calibri"/>
              </a:rPr>
              <a:t>try</a:t>
            </a:r>
            <a:r>
              <a:rPr spc="-20" dirty="0">
                <a:solidFill>
                  <a:srgbClr val="000000"/>
                </a:solidFill>
              </a:rPr>
              <a:t>{</a:t>
            </a:r>
          </a:p>
          <a:p>
            <a:pPr marL="151130" marR="1576705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Adder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stub=</a:t>
            </a:r>
            <a:r>
              <a:rPr b="1" dirty="0">
                <a:solidFill>
                  <a:srgbClr val="006699"/>
                </a:solidFill>
                <a:latin typeface="Calibri"/>
                <a:cs typeface="Calibri"/>
              </a:rPr>
              <a:t>new</a:t>
            </a:r>
            <a:r>
              <a:rPr b="1" spc="-4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0000"/>
                </a:solidFill>
              </a:rPr>
              <a:t>AdderRemote(); Naming.rebind(</a:t>
            </a:r>
            <a:r>
              <a:rPr spc="-10" dirty="0">
                <a:solidFill>
                  <a:srgbClr val="0000FF"/>
                </a:solidFill>
              </a:rPr>
              <a:t>"rmi://localhost:5000/sonoo"</a:t>
            </a:r>
            <a:r>
              <a:rPr spc="-10" dirty="0">
                <a:solidFill>
                  <a:srgbClr val="000000"/>
                </a:solidFill>
              </a:rPr>
              <a:t>,stub);</a:t>
            </a:r>
          </a:p>
          <a:p>
            <a:pPr marL="151130">
              <a:lnSpc>
                <a:spcPct val="100000"/>
              </a:lnSpc>
            </a:pPr>
            <a:r>
              <a:rPr spc="-10" dirty="0">
                <a:solidFill>
                  <a:srgbClr val="000000"/>
                </a:solidFill>
              </a:rPr>
              <a:t>}</a:t>
            </a:r>
            <a:r>
              <a:rPr b="1" spc="-10" dirty="0">
                <a:solidFill>
                  <a:srgbClr val="006699"/>
                </a:solidFill>
                <a:latin typeface="Calibri"/>
                <a:cs typeface="Calibri"/>
              </a:rPr>
              <a:t>catch</a:t>
            </a:r>
            <a:r>
              <a:rPr spc="-10" dirty="0">
                <a:solidFill>
                  <a:srgbClr val="000000"/>
                </a:solidFill>
              </a:rPr>
              <a:t>(Exception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e){System.out.println(e);}</a:t>
            </a:r>
          </a:p>
          <a:p>
            <a:pPr marL="151130">
              <a:lnSpc>
                <a:spcPct val="100000"/>
              </a:lnSpc>
            </a:pPr>
            <a:r>
              <a:rPr spc="-50" dirty="0">
                <a:solidFill>
                  <a:srgbClr val="000000"/>
                </a:solidFill>
              </a:rPr>
              <a:t>}</a:t>
            </a:r>
          </a:p>
          <a:p>
            <a:pPr marL="151130">
              <a:lnSpc>
                <a:spcPct val="100000"/>
              </a:lnSpc>
            </a:pPr>
            <a:r>
              <a:rPr spc="-50" dirty="0">
                <a:solidFill>
                  <a:srgbClr val="00000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810" y="2200203"/>
            <a:ext cx="4360545" cy="3547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6)</a:t>
            </a:r>
            <a:r>
              <a:rPr sz="1650" spc="-5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Create</a:t>
            </a:r>
            <a:r>
              <a:rPr sz="1650" spc="-3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and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run</a:t>
            </a:r>
            <a:r>
              <a:rPr sz="1650" spc="-2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600A4B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00A4B"/>
                </a:solidFill>
                <a:latin typeface="Calibri"/>
                <a:cs typeface="Calibri"/>
              </a:rPr>
              <a:t>client</a:t>
            </a:r>
            <a:r>
              <a:rPr sz="1650" spc="-10" dirty="0">
                <a:solidFill>
                  <a:srgbClr val="600A4B"/>
                </a:solidFill>
                <a:latin typeface="Calibri"/>
                <a:cs typeface="Calibri"/>
              </a:rPr>
              <a:t> application</a:t>
            </a:r>
            <a:endParaRPr sz="1650">
              <a:latin typeface="Calibri"/>
              <a:cs typeface="Calibri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sz="165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65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65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getting</a:t>
            </a:r>
            <a:r>
              <a:rPr sz="165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stub</a:t>
            </a:r>
            <a:r>
              <a:rPr sz="165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by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lookup()</a:t>
            </a:r>
            <a:r>
              <a:rPr sz="165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65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50" spc="2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20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Naming</a:t>
            </a:r>
            <a:r>
              <a:rPr sz="1650" spc="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class</a:t>
            </a:r>
            <a:r>
              <a:rPr sz="1650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and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invoking</a:t>
            </a:r>
            <a:r>
              <a:rPr sz="165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method</a:t>
            </a:r>
            <a:r>
              <a:rPr sz="16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1650"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object.</a:t>
            </a:r>
            <a:endParaRPr sz="1650">
              <a:latin typeface="Calibri"/>
              <a:cs typeface="Calibri"/>
            </a:endParaRPr>
          </a:p>
          <a:p>
            <a:pPr marL="295910" marR="5715" indent="-283845" algn="just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165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example,</a:t>
            </a:r>
            <a:r>
              <a:rPr sz="165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sz="165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65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running</a:t>
            </a:r>
            <a:r>
              <a:rPr sz="165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sz="165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and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client</a:t>
            </a:r>
            <a:r>
              <a:rPr sz="165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applications,</a:t>
            </a:r>
            <a:r>
              <a:rPr sz="165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165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same</a:t>
            </a:r>
            <a:r>
              <a:rPr sz="165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machine</a:t>
            </a:r>
            <a:r>
              <a:rPr sz="165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sz="1650" spc="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we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16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z="16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localhost.</a:t>
            </a:r>
            <a:endParaRPr sz="1650">
              <a:latin typeface="Calibri"/>
              <a:cs typeface="Calibri"/>
            </a:endParaRPr>
          </a:p>
          <a:p>
            <a:pPr marL="295910" marR="5715" indent="-283845" algn="just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295910" algn="l"/>
              </a:tabLst>
            </a:pP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165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sz="165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want</a:t>
            </a:r>
            <a:r>
              <a:rPr sz="1650" spc="1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access</a:t>
            </a:r>
            <a:r>
              <a:rPr sz="165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remote</a:t>
            </a:r>
            <a:r>
              <a:rPr sz="165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333333"/>
                </a:solidFill>
                <a:latin typeface="Calibri"/>
                <a:cs typeface="Calibri"/>
              </a:rPr>
              <a:t>from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another</a:t>
            </a:r>
            <a:r>
              <a:rPr sz="165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machine,</a:t>
            </a:r>
            <a:r>
              <a:rPr sz="165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change</a:t>
            </a:r>
            <a:r>
              <a:rPr sz="1650" spc="2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localhost</a:t>
            </a:r>
            <a:r>
              <a:rPr sz="165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165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host</a:t>
            </a:r>
            <a:r>
              <a:rPr sz="165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name</a:t>
            </a:r>
            <a:r>
              <a:rPr sz="165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(or</a:t>
            </a:r>
            <a:r>
              <a:rPr sz="165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IP</a:t>
            </a:r>
            <a:r>
              <a:rPr sz="165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address)</a:t>
            </a:r>
            <a:r>
              <a:rPr sz="1650" spc="2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1650" spc="2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5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remote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z="165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6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33333"/>
                </a:solidFill>
                <a:latin typeface="Calibri"/>
                <a:cs typeface="Calibri"/>
              </a:rPr>
              <a:t>located.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1978" y="2718322"/>
            <a:ext cx="3851910" cy="2288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import</a:t>
            </a:r>
            <a:r>
              <a:rPr sz="1450" b="1" spc="10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java.rmi.*;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450" b="1" spc="6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class</a:t>
            </a:r>
            <a:r>
              <a:rPr sz="1450" b="1" spc="8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MyClient{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450" b="1" spc="5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static</a:t>
            </a:r>
            <a:r>
              <a:rPr sz="1450" b="1" spc="7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void</a:t>
            </a:r>
            <a:r>
              <a:rPr sz="1450" b="1" spc="6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main(String</a:t>
            </a:r>
            <a:r>
              <a:rPr sz="1450" spc="8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args[]){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b="1" spc="-20" dirty="0">
                <a:solidFill>
                  <a:srgbClr val="006699"/>
                </a:solidFill>
                <a:latin typeface="Calibri"/>
                <a:cs typeface="Calibri"/>
              </a:rPr>
              <a:t>try</a:t>
            </a:r>
            <a:r>
              <a:rPr sz="1450" spc="-20" dirty="0">
                <a:latin typeface="Calibri"/>
                <a:cs typeface="Calibri"/>
              </a:rPr>
              <a:t>{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  <a:tabLst>
                <a:tab pos="619125" algn="l"/>
              </a:tabLst>
            </a:pPr>
            <a:r>
              <a:rPr sz="1450" spc="-10" dirty="0">
                <a:latin typeface="Calibri"/>
                <a:cs typeface="Calibri"/>
              </a:rPr>
              <a:t>Adder</a:t>
            </a:r>
            <a:r>
              <a:rPr sz="1450" dirty="0">
                <a:latin typeface="Calibri"/>
                <a:cs typeface="Calibri"/>
              </a:rPr>
              <a:t>	</a:t>
            </a:r>
            <a:r>
              <a:rPr sz="1450" spc="-10" dirty="0">
                <a:latin typeface="Calibri"/>
                <a:cs typeface="Calibri"/>
              </a:rPr>
              <a:t>stub=(Adder)Naming.lookup(</a:t>
            </a:r>
            <a:r>
              <a:rPr sz="1450" spc="-10" dirty="0">
                <a:solidFill>
                  <a:srgbClr val="0000FF"/>
                </a:solidFill>
                <a:latin typeface="Calibri"/>
                <a:cs typeface="Calibri"/>
              </a:rPr>
              <a:t>"rmi://localh ost:5000/sonoo"</a:t>
            </a:r>
            <a:r>
              <a:rPr sz="1450" spc="-10" dirty="0">
                <a:latin typeface="Calibri"/>
                <a:cs typeface="Calibri"/>
              </a:rPr>
              <a:t>); System.out.println(stub.add(</a:t>
            </a:r>
            <a:r>
              <a:rPr sz="1450" spc="-10" dirty="0">
                <a:solidFill>
                  <a:srgbClr val="BF0000"/>
                </a:solidFill>
                <a:latin typeface="Calibri"/>
                <a:cs typeface="Calibri"/>
              </a:rPr>
              <a:t>34</a:t>
            </a:r>
            <a:r>
              <a:rPr sz="1450" spc="-10" dirty="0">
                <a:latin typeface="Calibri"/>
                <a:cs typeface="Calibri"/>
              </a:rPr>
              <a:t>,</a:t>
            </a:r>
            <a:r>
              <a:rPr sz="1450" spc="-10" dirty="0">
                <a:solidFill>
                  <a:srgbClr val="BF0000"/>
                </a:solidFill>
                <a:latin typeface="Calibri"/>
                <a:cs typeface="Calibri"/>
              </a:rPr>
              <a:t>4</a:t>
            </a:r>
            <a:r>
              <a:rPr sz="1450" spc="-10" dirty="0">
                <a:latin typeface="Calibri"/>
                <a:cs typeface="Calibri"/>
              </a:rPr>
              <a:t>));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50" dirty="0">
                <a:latin typeface="Calibri"/>
                <a:cs typeface="Calibri"/>
              </a:rPr>
              <a:t>}</a:t>
            </a:r>
            <a:r>
              <a:rPr sz="1450" b="1" dirty="0">
                <a:solidFill>
                  <a:srgbClr val="006699"/>
                </a:solidFill>
                <a:latin typeface="Calibri"/>
                <a:cs typeface="Calibri"/>
              </a:rPr>
              <a:t>catch</a:t>
            </a:r>
            <a:r>
              <a:rPr sz="1450" dirty="0">
                <a:latin typeface="Calibri"/>
                <a:cs typeface="Calibri"/>
              </a:rPr>
              <a:t>(Exception</a:t>
            </a:r>
            <a:r>
              <a:rPr sz="1450" spc="8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e){}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50" spc="-50" dirty="0">
                <a:latin typeface="Calibri"/>
                <a:cs typeface="Calibri"/>
              </a:rPr>
              <a:t>}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spc="-50" dirty="0">
                <a:latin typeface="Calibri"/>
                <a:cs typeface="Calibri"/>
              </a:rPr>
              <a:t>}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810" y="2201641"/>
            <a:ext cx="4959985" cy="430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libri"/>
                <a:cs typeface="Calibri"/>
              </a:rPr>
              <a:t>For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running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006699"/>
                </a:solidFill>
                <a:latin typeface="Calibri"/>
                <a:cs typeface="Calibri"/>
              </a:rPr>
              <a:t>this</a:t>
            </a:r>
            <a:r>
              <a:rPr sz="1650" b="1" spc="-2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example,</a:t>
            </a:r>
            <a:endParaRPr sz="1650">
              <a:latin typeface="Calibri"/>
              <a:cs typeface="Calibri"/>
            </a:endParaRPr>
          </a:p>
          <a:p>
            <a:pPr marL="106680" marR="2684780" indent="-94615">
              <a:lnSpc>
                <a:spcPct val="100000"/>
              </a:lnSpc>
              <a:spcBef>
                <a:spcPts val="1980"/>
              </a:spcBef>
              <a:buClr>
                <a:srgbClr val="BF0000"/>
              </a:buClr>
              <a:buSzPct val="96969"/>
              <a:buAutoNum type="arabicParenR"/>
              <a:tabLst>
                <a:tab pos="106680" algn="l"/>
                <a:tab pos="229870" algn="l"/>
              </a:tabLst>
            </a:pPr>
            <a:r>
              <a:rPr sz="1650" dirty="0">
                <a:latin typeface="Calibri"/>
                <a:cs typeface="Calibri"/>
              </a:rPr>
              <a:t>	compile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all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java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files </a:t>
            </a:r>
            <a:r>
              <a:rPr sz="1650" dirty="0">
                <a:latin typeface="Calibri"/>
                <a:cs typeface="Calibri"/>
              </a:rPr>
              <a:t>javac</a:t>
            </a:r>
            <a:r>
              <a:rPr sz="1650" spc="-8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*.java</a:t>
            </a:r>
            <a:endParaRPr sz="1650">
              <a:latin typeface="Calibri"/>
              <a:cs typeface="Calibri"/>
            </a:endParaRPr>
          </a:p>
          <a:p>
            <a:pPr marL="59690" marR="1038860" indent="-56515">
              <a:lnSpc>
                <a:spcPct val="100000"/>
              </a:lnSpc>
              <a:spcBef>
                <a:spcPts val="1980"/>
              </a:spcBef>
              <a:buClr>
                <a:srgbClr val="BF0000"/>
              </a:buClr>
              <a:buSzPct val="96969"/>
              <a:buAutoNum type="arabicParenR"/>
              <a:tabLst>
                <a:tab pos="59690" algn="l"/>
                <a:tab pos="180975" algn="l"/>
              </a:tabLst>
            </a:pPr>
            <a:r>
              <a:rPr sz="1650" dirty="0">
                <a:latin typeface="Calibri"/>
                <a:cs typeface="Calibri"/>
              </a:rPr>
              <a:t>	create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stub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skeleton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object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by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rmic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tool </a:t>
            </a:r>
            <a:r>
              <a:rPr sz="1650" dirty="0">
                <a:latin typeface="Calibri"/>
                <a:cs typeface="Calibri"/>
              </a:rPr>
              <a:t>rmic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AdderRemote</a:t>
            </a:r>
            <a:endParaRPr sz="1650">
              <a:latin typeface="Calibri"/>
              <a:cs typeface="Calibri"/>
            </a:endParaRPr>
          </a:p>
          <a:p>
            <a:pPr marL="59690" marR="1184910" indent="-56515">
              <a:lnSpc>
                <a:spcPct val="100000"/>
              </a:lnSpc>
              <a:spcBef>
                <a:spcPts val="1980"/>
              </a:spcBef>
              <a:buClr>
                <a:srgbClr val="BF0000"/>
              </a:buClr>
              <a:buSzPct val="96969"/>
              <a:buAutoNum type="arabicParenR"/>
              <a:tabLst>
                <a:tab pos="59690" algn="l"/>
                <a:tab pos="180975" algn="l"/>
              </a:tabLst>
            </a:pPr>
            <a:r>
              <a:rPr sz="1650" dirty="0">
                <a:latin typeface="Calibri"/>
                <a:cs typeface="Calibri"/>
              </a:rPr>
              <a:t>	start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rmi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registry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one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command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prompt </a:t>
            </a:r>
            <a:r>
              <a:rPr sz="1650" dirty="0">
                <a:latin typeface="Calibri"/>
                <a:cs typeface="Calibri"/>
              </a:rPr>
              <a:t>rmiregistry</a:t>
            </a:r>
            <a:r>
              <a:rPr sz="1650" spc="-80" dirty="0"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BF0000"/>
                </a:solidFill>
                <a:latin typeface="Calibri"/>
                <a:cs typeface="Calibri"/>
              </a:rPr>
              <a:t>5000</a:t>
            </a:r>
            <a:endParaRPr sz="1650">
              <a:latin typeface="Calibri"/>
              <a:cs typeface="Calibri"/>
            </a:endParaRPr>
          </a:p>
          <a:p>
            <a:pPr marL="59690" marR="942975" indent="-56515">
              <a:lnSpc>
                <a:spcPct val="100000"/>
              </a:lnSpc>
              <a:spcBef>
                <a:spcPts val="1980"/>
              </a:spcBef>
              <a:buClr>
                <a:srgbClr val="BF0000"/>
              </a:buClr>
              <a:buSzPct val="96969"/>
              <a:buAutoNum type="arabicParenR"/>
              <a:tabLst>
                <a:tab pos="59690" algn="l"/>
                <a:tab pos="180975" algn="l"/>
              </a:tabLst>
            </a:pPr>
            <a:r>
              <a:rPr sz="1650" dirty="0">
                <a:latin typeface="Calibri"/>
                <a:cs typeface="Calibri"/>
              </a:rPr>
              <a:t>	start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server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another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command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prompt </a:t>
            </a:r>
            <a:r>
              <a:rPr sz="1650" dirty="0">
                <a:latin typeface="Calibri"/>
                <a:cs typeface="Calibri"/>
              </a:rPr>
              <a:t>java</a:t>
            </a:r>
            <a:r>
              <a:rPr sz="1650" spc="-9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MyServer</a:t>
            </a:r>
            <a:endParaRPr sz="1650">
              <a:latin typeface="Calibri"/>
              <a:cs typeface="Calibri"/>
            </a:endParaRPr>
          </a:p>
          <a:p>
            <a:pPr marL="59690" marR="5080" indent="-56515">
              <a:lnSpc>
                <a:spcPct val="200000"/>
              </a:lnSpc>
              <a:buClr>
                <a:srgbClr val="BF0000"/>
              </a:buClr>
              <a:buSzPct val="96969"/>
              <a:buAutoNum type="arabicParenR"/>
              <a:tabLst>
                <a:tab pos="59690" algn="l"/>
                <a:tab pos="180975" algn="l"/>
              </a:tabLst>
            </a:pPr>
            <a:r>
              <a:rPr sz="1650" dirty="0">
                <a:latin typeface="Calibri"/>
                <a:cs typeface="Calibri"/>
              </a:rPr>
              <a:t>	start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client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application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another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command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prompt </a:t>
            </a:r>
            <a:r>
              <a:rPr sz="1650" dirty="0">
                <a:latin typeface="Calibri"/>
                <a:cs typeface="Calibri"/>
              </a:rPr>
              <a:t>java</a:t>
            </a:r>
            <a:r>
              <a:rPr sz="1650" spc="-9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MyClient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2772" y="2272283"/>
            <a:ext cx="4796039" cy="26930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10511"/>
            <a:ext cx="10058400" cy="4692650"/>
            <a:chOff x="0" y="1810511"/>
            <a:chExt cx="10058400" cy="4692650"/>
          </a:xfrm>
        </p:grpSpPr>
        <p:sp>
          <p:nvSpPr>
            <p:cNvPr id="3" name="object 3"/>
            <p:cNvSpPr/>
            <p:nvPr/>
          </p:nvSpPr>
          <p:spPr>
            <a:xfrm>
              <a:off x="2598419" y="1962911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962911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0" y="1962911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2079" y="1810511"/>
              <a:ext cx="4846319" cy="466343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4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0" spc="95" dirty="0">
                <a:solidFill>
                  <a:srgbClr val="600A38"/>
                </a:solidFill>
                <a:latin typeface="Cambria"/>
                <a:cs typeface="Cambria"/>
              </a:rPr>
              <a:t>RMI</a:t>
            </a:r>
            <a:r>
              <a:rPr sz="2650" b="0" spc="3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(Remote</a:t>
            </a:r>
            <a:r>
              <a:rPr sz="2650" b="0" spc="45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600A38"/>
                </a:solidFill>
                <a:latin typeface="Cambria"/>
                <a:cs typeface="Cambria"/>
              </a:rPr>
              <a:t>Method</a:t>
            </a:r>
            <a:r>
              <a:rPr sz="2650" b="0" spc="70" dirty="0">
                <a:solidFill>
                  <a:srgbClr val="600A38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600A38"/>
                </a:solidFill>
                <a:latin typeface="Cambria"/>
                <a:cs typeface="Cambria"/>
              </a:rPr>
              <a:t>Invocation)</a:t>
            </a:r>
            <a:endParaRPr sz="265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687" y="2226563"/>
            <a:ext cx="4859880" cy="269305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46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25"/>
              </a:spcBef>
            </a:pPr>
            <a:r>
              <a:rPr spc="13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35" y="2323588"/>
            <a:ext cx="9671050" cy="38144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9255" indent="-376555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389255" algn="l"/>
              </a:tabLst>
            </a:pPr>
            <a:r>
              <a:rPr sz="1300" spc="75" dirty="0">
                <a:latin typeface="Cambria"/>
                <a:cs typeface="Cambria"/>
              </a:rPr>
              <a:t>The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key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topics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introduced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with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are: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765810" algn="l"/>
              </a:tabLst>
            </a:pPr>
            <a:r>
              <a:rPr sz="1300" spc="80" dirty="0">
                <a:latin typeface="Cambria"/>
                <a:cs typeface="Cambria"/>
              </a:rPr>
              <a:t>The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basic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architecture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its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emphasis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on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object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interoperability</a:t>
            </a:r>
            <a:r>
              <a:rPr sz="1300" spc="11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platform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independence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765810" algn="l"/>
              </a:tabLst>
            </a:pPr>
            <a:r>
              <a:rPr sz="1300" spc="95" dirty="0">
                <a:latin typeface="Cambria"/>
                <a:cs typeface="Cambria"/>
              </a:rPr>
              <a:t>Object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Request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Broker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(ORB)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and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its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functionalities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765810" algn="l"/>
              </a:tabLst>
            </a:pPr>
            <a:r>
              <a:rPr sz="1300" spc="80" dirty="0">
                <a:latin typeface="Cambria"/>
                <a:cs typeface="Cambria"/>
              </a:rPr>
              <a:t>The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Inter-</a:t>
            </a:r>
            <a:r>
              <a:rPr sz="1300" spc="170" dirty="0">
                <a:latin typeface="Cambria"/>
                <a:cs typeface="Cambria"/>
              </a:rPr>
              <a:t>ORB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Protocol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(IIOP)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and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its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significance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765810" algn="l"/>
              </a:tabLst>
            </a:pPr>
            <a:r>
              <a:rPr sz="1300" spc="165" dirty="0">
                <a:latin typeface="Cambria"/>
                <a:cs typeface="Cambria"/>
              </a:rPr>
              <a:t>CORBA </a:t>
            </a:r>
            <a:r>
              <a:rPr sz="1300" spc="70" dirty="0">
                <a:latin typeface="Cambria"/>
                <a:cs typeface="Cambria"/>
              </a:rPr>
              <a:t>object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reference</a:t>
            </a:r>
            <a:r>
              <a:rPr sz="1300" spc="175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and</a:t>
            </a:r>
            <a:r>
              <a:rPr sz="1300" spc="10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the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Interoperable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Object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Reference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(IOR)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protocol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765810" algn="l"/>
              </a:tabLst>
            </a:pPr>
            <a:r>
              <a:rPr sz="1300" spc="165" dirty="0">
                <a:latin typeface="Cambria"/>
                <a:cs typeface="Cambria"/>
              </a:rPr>
              <a:t>CORBA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Naming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Service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the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Interoperable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Naming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Service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(INS)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765810" algn="l"/>
              </a:tabLst>
            </a:pPr>
            <a:r>
              <a:rPr sz="1300" spc="110" dirty="0">
                <a:latin typeface="Cambria"/>
                <a:cs typeface="Cambria"/>
              </a:rPr>
              <a:t>Standard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object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services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how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they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are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provided.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765810" algn="l"/>
              </a:tabLst>
            </a:pPr>
            <a:r>
              <a:rPr sz="1300" spc="95" dirty="0">
                <a:latin typeface="Cambria"/>
                <a:cs typeface="Cambria"/>
              </a:rPr>
              <a:t>Object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adapters,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portable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object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Adapters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(POA)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and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their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significance.</a:t>
            </a:r>
            <a:endParaRPr sz="1300">
              <a:latin typeface="Cambria"/>
              <a:cs typeface="Cambria"/>
            </a:endParaRPr>
          </a:p>
          <a:p>
            <a:pPr marL="389255" indent="-37655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389255" algn="l"/>
              </a:tabLst>
            </a:pPr>
            <a:r>
              <a:rPr sz="1300" spc="75" dirty="0">
                <a:latin typeface="Cambria"/>
                <a:cs typeface="Cambria"/>
              </a:rPr>
              <a:t>The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key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topics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introduced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with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65" dirty="0">
                <a:latin typeface="Cambria"/>
                <a:cs typeface="Cambria"/>
              </a:rPr>
              <a:t>Java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IDL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are: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765810" algn="l"/>
              </a:tabLst>
            </a:pPr>
            <a:r>
              <a:rPr sz="1300" spc="50" dirty="0">
                <a:latin typeface="Cambria"/>
                <a:cs typeface="Cambria"/>
              </a:rPr>
              <a:t>It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is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part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the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65" dirty="0">
                <a:latin typeface="Cambria"/>
                <a:cs typeface="Cambria"/>
              </a:rPr>
              <a:t>Java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TM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2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Platform,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Standard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Edition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(J2SE)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765810" algn="l"/>
              </a:tabLst>
            </a:pPr>
            <a:r>
              <a:rPr sz="1300" spc="165" dirty="0">
                <a:latin typeface="Cambria"/>
                <a:cs typeface="Cambria"/>
              </a:rPr>
              <a:t>Java</a:t>
            </a:r>
            <a:r>
              <a:rPr sz="1300" spc="155" dirty="0">
                <a:latin typeface="Cambria"/>
                <a:cs typeface="Cambria"/>
              </a:rPr>
              <a:t>  </a:t>
            </a:r>
            <a:r>
              <a:rPr sz="1300" spc="100" dirty="0">
                <a:latin typeface="Cambria"/>
                <a:cs typeface="Cambria"/>
              </a:rPr>
              <a:t>packages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are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provided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which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contain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interfaces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classes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for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support</a:t>
            </a:r>
            <a:endParaRPr sz="1300">
              <a:latin typeface="Cambria"/>
              <a:cs typeface="Cambria"/>
            </a:endParaRPr>
          </a:p>
          <a:p>
            <a:pPr marL="765810" marR="5080" lvl="1" indent="-377190">
              <a:lnSpc>
                <a:spcPct val="101499"/>
              </a:lnSpc>
              <a:spcBef>
                <a:spcPts val="85"/>
              </a:spcBef>
              <a:buAutoNum type="arabicPeriod"/>
              <a:tabLst>
                <a:tab pos="767080" algn="l"/>
              </a:tabLst>
            </a:pPr>
            <a:r>
              <a:rPr sz="1300" spc="60" dirty="0">
                <a:latin typeface="Cambria"/>
                <a:cs typeface="Cambria"/>
              </a:rPr>
              <a:t>Tools</a:t>
            </a:r>
            <a:r>
              <a:rPr sz="1300" spc="33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provided</a:t>
            </a:r>
            <a:r>
              <a:rPr sz="1300" spc="31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for</a:t>
            </a:r>
            <a:r>
              <a:rPr sz="1300" spc="31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developing</a:t>
            </a:r>
            <a:r>
              <a:rPr sz="1300" spc="300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a</a:t>
            </a:r>
            <a:r>
              <a:rPr sz="1300" spc="325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32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application</a:t>
            </a:r>
            <a:r>
              <a:rPr sz="1300" spc="315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include</a:t>
            </a:r>
            <a:r>
              <a:rPr sz="1300" spc="34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idlj</a:t>
            </a:r>
            <a:r>
              <a:rPr sz="1300" spc="31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(the</a:t>
            </a:r>
            <a:r>
              <a:rPr sz="1300" spc="345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IDL</a:t>
            </a:r>
            <a:r>
              <a:rPr sz="1300" spc="325" dirty="0">
                <a:latin typeface="Cambria"/>
                <a:cs typeface="Cambria"/>
              </a:rPr>
              <a:t> </a:t>
            </a:r>
            <a:r>
              <a:rPr sz="1300" spc="45" dirty="0">
                <a:latin typeface="Cambria"/>
                <a:cs typeface="Cambria"/>
              </a:rPr>
              <a:t>compiler)</a:t>
            </a:r>
            <a:r>
              <a:rPr sz="1300" spc="33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315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orbd</a:t>
            </a:r>
            <a:r>
              <a:rPr sz="1300" spc="32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(the</a:t>
            </a:r>
            <a:r>
              <a:rPr sz="1300" spc="360" dirty="0">
                <a:latin typeface="Cambria"/>
                <a:cs typeface="Cambria"/>
              </a:rPr>
              <a:t> </a:t>
            </a:r>
            <a:r>
              <a:rPr sz="1300" spc="165" dirty="0">
                <a:latin typeface="Cambria"/>
                <a:cs typeface="Cambria"/>
              </a:rPr>
              <a:t>ORB</a:t>
            </a:r>
            <a:r>
              <a:rPr sz="1300" spc="33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and 	</a:t>
            </a:r>
            <a:r>
              <a:rPr sz="1300" spc="110" dirty="0">
                <a:latin typeface="Cambria"/>
                <a:cs typeface="Cambria"/>
              </a:rPr>
              <a:t>name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server)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765810" algn="l"/>
              </a:tabLst>
            </a:pPr>
            <a:r>
              <a:rPr sz="1300" spc="114" dirty="0">
                <a:latin typeface="Cambria"/>
                <a:cs typeface="Cambria"/>
              </a:rPr>
              <a:t>An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example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application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Hello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765810" algn="l"/>
              </a:tabLst>
            </a:pPr>
            <a:r>
              <a:rPr sz="1300" spc="110" dirty="0">
                <a:latin typeface="Cambria"/>
                <a:cs typeface="Cambria"/>
              </a:rPr>
              <a:t>Steps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for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compiling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and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running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130" dirty="0">
                <a:latin typeface="Cambria"/>
                <a:cs typeface="Cambria"/>
              </a:rPr>
              <a:t>an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application.</a:t>
            </a:r>
            <a:endParaRPr sz="1300">
              <a:latin typeface="Cambria"/>
              <a:cs typeface="Cambria"/>
            </a:endParaRPr>
          </a:p>
          <a:p>
            <a:pPr marL="765810" lvl="1" indent="-37719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765810" algn="l"/>
              </a:tabLst>
            </a:pPr>
            <a:r>
              <a:rPr sz="1300" spc="95" dirty="0">
                <a:latin typeface="Cambria"/>
                <a:cs typeface="Cambria"/>
              </a:rPr>
              <a:t>Client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callback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is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achievable.</a:t>
            </a:r>
            <a:endParaRPr sz="1300">
              <a:latin typeface="Cambria"/>
              <a:cs typeface="Cambria"/>
            </a:endParaRPr>
          </a:p>
          <a:p>
            <a:pPr marL="388620" marR="8890" indent="-376555">
              <a:lnSpc>
                <a:spcPct val="101600"/>
              </a:lnSpc>
              <a:spcBef>
                <a:spcPts val="80"/>
              </a:spcBef>
              <a:buAutoNum type="arabicPeriod"/>
              <a:tabLst>
                <a:tab pos="388620" algn="l"/>
              </a:tabLst>
            </a:pP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toolkits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165" dirty="0">
                <a:latin typeface="Cambria"/>
                <a:cs typeface="Cambria"/>
              </a:rPr>
              <a:t>Java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RMI</a:t>
            </a:r>
            <a:r>
              <a:rPr sz="1300" spc="26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are</a:t>
            </a:r>
            <a:r>
              <a:rPr sz="1300" spc="254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comparable</a:t>
            </a:r>
            <a:r>
              <a:rPr sz="1300" spc="254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and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alternative</a:t>
            </a:r>
            <a:r>
              <a:rPr sz="1300" spc="254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technologies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that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provide</a:t>
            </a:r>
            <a:r>
              <a:rPr sz="1300" spc="254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distributed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objects.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An </a:t>
            </a:r>
            <a:r>
              <a:rPr sz="1300" spc="75" dirty="0">
                <a:latin typeface="Cambria"/>
                <a:cs typeface="Cambria"/>
              </a:rPr>
              <a:t>application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may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be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implemented</a:t>
            </a:r>
            <a:r>
              <a:rPr sz="1300" spc="11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using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either</a:t>
            </a:r>
            <a:r>
              <a:rPr sz="1300" spc="110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technology.</a:t>
            </a:r>
            <a:r>
              <a:rPr sz="1300" spc="145" dirty="0">
                <a:latin typeface="Cambria"/>
                <a:cs typeface="Cambria"/>
              </a:rPr>
              <a:t>  </a:t>
            </a:r>
            <a:r>
              <a:rPr sz="1300" spc="70" dirty="0">
                <a:latin typeface="Cambria"/>
                <a:cs typeface="Cambria"/>
              </a:rPr>
              <a:t>However,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there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are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tradeoffs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between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the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two.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6442</Words>
  <Application>Microsoft Office PowerPoint</Application>
  <PresentationFormat>Custom</PresentationFormat>
  <Paragraphs>731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CORBA</vt:lpstr>
      <vt:lpstr>CORBA</vt:lpstr>
      <vt:lpstr>CORBA Architecture and Workflow</vt:lpstr>
      <vt:lpstr>CORBA vs RMI</vt:lpstr>
      <vt:lpstr>CORBA vs RMI</vt:lpstr>
      <vt:lpstr>CORBA vs RMI</vt:lpstr>
      <vt:lpstr>CORBA Object Interface</vt:lpstr>
      <vt:lpstr>CORBA Object Interface</vt:lpstr>
      <vt:lpstr>CORBA Addressing and Bindings Explained with an Industry Use Case</vt:lpstr>
      <vt:lpstr>CORBA Addressing and Bindings Explained with an Industry Use Case</vt:lpstr>
      <vt:lpstr>CORBA Addressing and Bindings Explained with an Industry Use Case</vt:lpstr>
      <vt:lpstr>CORBA Addressing and Bindings Explained with an Industry Use Case</vt:lpstr>
      <vt:lpstr>CORBA Addressing and Bindings Explained with an Industry Use Case</vt:lpstr>
      <vt:lpstr>CORBA Addressing and Bindings Explained with an Industry Use Case</vt:lpstr>
      <vt:lpstr>CORBA Addressing and Bindings Explained with an Industry Use Case</vt:lpstr>
      <vt:lpstr>CORBA Addressing and Bindings Explained with an Industry Use Case</vt:lpstr>
      <vt:lpstr>Cross-language CORBA application</vt:lpstr>
      <vt:lpstr>Inter-ORB Protocols</vt:lpstr>
      <vt:lpstr>PowerPoint Presentation</vt:lpstr>
      <vt:lpstr>Inter-ORB Protocols</vt:lpstr>
      <vt:lpstr>Object Bus</vt:lpstr>
      <vt:lpstr>Object Bus</vt:lpstr>
      <vt:lpstr>Object Servers, Clients and Reference</vt:lpstr>
      <vt:lpstr>CORBA</vt:lpstr>
      <vt:lpstr>Interoperable Object Reference (IOR)</vt:lpstr>
      <vt:lpstr>Interoperable Object Reference (IOR)</vt:lpstr>
      <vt:lpstr>CORBA Naming Service</vt:lpstr>
      <vt:lpstr>CORBA Naming Service</vt:lpstr>
      <vt:lpstr>CORBA Naming Service</vt:lpstr>
      <vt:lpstr>CORBA Naming Context</vt:lpstr>
      <vt:lpstr>CORBA Naming Context</vt:lpstr>
      <vt:lpstr>Example of a naming hierarchy</vt:lpstr>
      <vt:lpstr>CORBA Object Services</vt:lpstr>
      <vt:lpstr>CORBA Object Services</vt:lpstr>
      <vt:lpstr>Object Adapters</vt:lpstr>
      <vt:lpstr>Object Adapters</vt:lpstr>
      <vt:lpstr>Portable Object Adapters</vt:lpstr>
      <vt:lpstr>Portable Object Adapters</vt:lpstr>
      <vt:lpstr>Portable Object Adapters</vt:lpstr>
      <vt:lpstr>Java IDL – Java’s CORBA Facility</vt:lpstr>
      <vt:lpstr>Java IDL Tools</vt:lpstr>
      <vt:lpstr>A Java IDL Application example</vt:lpstr>
      <vt:lpstr>A Java IDL Application example</vt:lpstr>
      <vt:lpstr>The *Operations.java file</vt:lpstr>
      <vt:lpstr>The *Operations.java file</vt:lpstr>
      <vt:lpstr>The *Operations.java file</vt:lpstr>
      <vt:lpstr>The Application</vt:lpstr>
      <vt:lpstr>The Application</vt:lpstr>
      <vt:lpstr>The Object Client Application</vt:lpstr>
      <vt:lpstr>Compiling and Running a Java IDL application</vt:lpstr>
      <vt:lpstr>Compiling and Running a Java IDL application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RMI (Remote Method Invocation)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CS2_MWT CORBA.ppt  -  Compatibility Mode</dc:title>
  <dc:creator>Ranganath Krishnan</dc:creator>
  <cp:lastModifiedBy>Abid AK</cp:lastModifiedBy>
  <cp:revision>1</cp:revision>
  <dcterms:created xsi:type="dcterms:W3CDTF">2025-04-11T09:52:57Z</dcterms:created>
  <dcterms:modified xsi:type="dcterms:W3CDTF">2025-04-11T09:54:13Z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2025-03-29T00:00:00Z</vt:filetime>
  </property>
  <property fmtid="{D5CDD505-2E9C-101B-9397-08002B2CF9AE}" pid="3" name="LastSaved">
    <vt:filetime>2025-04-11T00:00:00Z</vt:filetime>
  </property>
  <property fmtid="{D5CDD505-2E9C-101B-9397-08002B2CF9AE}" pid="4" name="Producer">
    <vt:lpwstr>Microsoft: Print To PDF</vt:lpwstr>
  </property>
</Properties>
</file>