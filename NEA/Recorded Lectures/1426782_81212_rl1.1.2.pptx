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2"/>
  </p:notesMasterIdLst>
  <p:handoutMasterIdLst>
    <p:handoutMasterId r:id="rId13"/>
  </p:handoutMasterIdLst>
  <p:sldIdLst>
    <p:sldId id="269" r:id="rId2"/>
    <p:sldId id="295" r:id="rId3"/>
    <p:sldId id="296" r:id="rId4"/>
    <p:sldId id="297" r:id="rId5"/>
    <p:sldId id="298" r:id="rId6"/>
    <p:sldId id="299" r:id="rId7"/>
    <p:sldId id="300" r:id="rId8"/>
    <p:sldId id="310" r:id="rId9"/>
    <p:sldId id="315" r:id="rId10"/>
    <p:sldId id="316" r:id="rId11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7EACE31B-895A-412D-B809-CB2476E08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BE4FD2-B32D-473A-B252-3C7324EA6812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EE85F2B-B5D9-480E-B0CE-E692635C55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72050" cy="3729038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25B48C5-BE8C-4848-91D2-732EBA66B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0DC7281-5D1E-4F2B-BEFB-E7268FA3A8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8E55A6-6545-4D84-9CB5-A5EB5624940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F271F26-2183-401F-A017-C5E9A3AEF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72050" cy="3729038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42F3D69-7AAA-4EF2-9A69-06DDF2A4E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ADAE28A3-A03F-423A-A250-5BFB5D11A0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79C5E0-F961-4774-9234-BEF0A354B752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BA5446-A317-4F32-83EF-ED1E280E9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72050" cy="3729038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F1BC1F4-4AF0-40A3-B22A-2BD51D013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D2B54D-D235-4FDA-A4BC-DA55A0289DFA}" type="datetime1">
              <a:rPr lang="en-US" altLang="en-US" smtClean="0"/>
              <a:t>4/7/2025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EEEG627  NEA - Class1 -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FB8918-A69B-4523-8AA9-950C4492CEC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59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A3CABC-FD68-40FF-A060-A2E2DFFB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DBC307-00A7-4D02-9F9E-9A683A5F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3DADE42-D1B3-4E03-9BF3-26A38716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A922CE-CB10-459F-A17B-569AF14DB8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18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H/w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Control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11932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Attributes of a Distributed System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Arbitrary No. of system and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appln</a:t>
            </a: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process (logical resources)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Modular Physical Architecture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Communication by message passing using shared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commn</a:t>
            </a: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. systems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System wide control</a:t>
            </a:r>
          </a:p>
          <a:p>
            <a:pPr lvl="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</a:pPr>
            <a:endParaRPr 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06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Schroeder’s Definition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 list of symptoms of a distributed system</a:t>
            </a:r>
          </a:p>
          <a:p>
            <a:pPr marL="694281" lvl="2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Multiple processing elements (PEs)</a:t>
            </a:r>
          </a:p>
          <a:p>
            <a:pPr marL="694281" lvl="2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Interconnection hardware</a:t>
            </a:r>
          </a:p>
          <a:p>
            <a:pPr marL="694281" lvl="2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PEs fail independently</a:t>
            </a:r>
          </a:p>
          <a:p>
            <a:pPr marL="694281" lvl="2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Shared states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13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Enslow’s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 Definition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Distributed system =  distributed hardware + distributed control + 				    distributed data</a:t>
            </a:r>
          </a:p>
          <a:p>
            <a:pPr lvl="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</a:pPr>
            <a:endParaRPr 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90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 single CPU with one control unit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 single CPU – multiple ALUs – single control unit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Separate Specialized functional units, such as one CPU with one  floating pt. co-processor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Multi-processors with multiple CPUs but only one single I/O system and on global memory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 Multiple computers with multiple CPUs, multiple I/O systems and local memories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52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Control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 Single Fixed Control pt. – Physically the system may or may not have multiple CPUs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Single Dynamic Control point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 fixed master - slave structure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Dynamic master – slave structure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Multiple Homogeneous control points – copies of the same controller are used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Multiple Heterogeneous control points – different controllers are used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68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Centralized Data bases with a single copy of both files and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dir</a:t>
            </a:r>
            <a:endParaRPr lang="en-IN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Distributed files with a single centralized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dir</a:t>
            </a: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and no local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dir</a:t>
            </a:r>
            <a:endParaRPr lang="en-IN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Replicated database with a copy of files and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dir</a:t>
            </a: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at each site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chemeClr val="tx1"/>
                </a:solidFill>
                <a:latin typeface="Gill Sans MT" panose="020B0502020104020203"/>
                <a:ea typeface="+mn-ea"/>
                <a:cs typeface="+mn-cs"/>
              </a:rPr>
              <a:t>Partitioned data base with a master that keeps a complete duplicate copy of all files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Partitioned database with a master that keeps only a  complete </a:t>
            </a:r>
            <a:r>
              <a:rPr lang="en-IN" sz="2400" kern="1200" dirty="0" err="1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dir</a:t>
            </a:r>
            <a:endParaRPr lang="en-IN" sz="2400" kern="1200" dirty="0">
              <a:solidFill>
                <a:srgbClr val="FF0000"/>
              </a:solidFill>
              <a:latin typeface="Gill Sans MT" panose="020B0502020104020203"/>
              <a:ea typeface="+mn-ea"/>
              <a:cs typeface="+mn-cs"/>
            </a:endParaRP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Partitioned database with no master file/</a:t>
            </a:r>
            <a:r>
              <a:rPr lang="en-IN" sz="2400" kern="1200" dirty="0" err="1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dir</a:t>
            </a:r>
            <a:r>
              <a:rPr lang="en-IN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 </a:t>
            </a:r>
            <a:endParaRPr lang="en-US" sz="2400" kern="1200" dirty="0">
              <a:solidFill>
                <a:srgbClr val="FF0000"/>
              </a:solidFill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6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95C2A1B-0491-47B4-B7D9-D190CEF0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95600"/>
            <a:ext cx="457200" cy="2286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DBBAA17-7A70-4771-B8D4-4A03B7224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895600"/>
            <a:ext cx="457200" cy="2286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102A3F8-87EC-41A7-8184-245CEA094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895600"/>
            <a:ext cx="457200" cy="2286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6616B687-08E7-40DC-A01D-10BF69918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895600"/>
            <a:ext cx="457200" cy="2286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A4A8EB51-651B-4DD0-B6AA-79BA4D23A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95600"/>
            <a:ext cx="457200" cy="2286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9A9560CA-A187-4D49-8C4B-9C65CC259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895600"/>
            <a:ext cx="457200" cy="2286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83DAB70E-9BEA-4BC1-98D1-8ED200440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810000"/>
            <a:ext cx="2743200" cy="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1B307FF0-02FD-4098-B5D0-EDDD76A11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267200"/>
            <a:ext cx="2743200" cy="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3F1AF4D0-989E-403F-9804-3455965CF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352800"/>
            <a:ext cx="2743200" cy="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1">
            <a:extLst>
              <a:ext uri="{FF2B5EF4-FFF2-40B4-BE49-F238E27FC236}">
                <a16:creationId xmlns:a16="http://schemas.microsoft.com/office/drawing/2014/main" id="{C13378B3-26CF-4679-903D-1376DEA49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724400"/>
            <a:ext cx="2743200" cy="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2">
            <a:extLst>
              <a:ext uri="{FF2B5EF4-FFF2-40B4-BE49-F238E27FC236}">
                <a16:creationId xmlns:a16="http://schemas.microsoft.com/office/drawing/2014/main" id="{52E24537-C441-4D40-B44C-4529200654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5240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900FF323-0CE5-43E0-9910-75FBFA2BB3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9812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A3FD8A58-0537-4BF4-B6FB-EE0983D911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4384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194C9533-7738-4710-B77E-2A76A35BB6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8956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6D9A285F-5ED7-4D55-84F5-6514C69D1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667000"/>
            <a:ext cx="0" cy="22860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E58C2A02-03E5-4A29-B4F8-5E48510F4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438400"/>
            <a:ext cx="0" cy="22860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CAC23AFE-5A93-47C1-BFFB-71EDE1EBC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209800"/>
            <a:ext cx="0" cy="22860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938BD7F9-5445-4FD8-B1DF-7A6A3B4C4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981200"/>
            <a:ext cx="0" cy="22860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8B04EC13-BA8F-48EB-8B5C-D30307AB7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752600"/>
            <a:ext cx="0" cy="22860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20E491C8-BE77-4FA5-ACBD-73EEE5ABC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524000"/>
            <a:ext cx="0" cy="22860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D4BDA8AC-2851-4AC1-9980-302F23C93C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8100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1" name="Line 23">
            <a:extLst>
              <a:ext uri="{FF2B5EF4-FFF2-40B4-BE49-F238E27FC236}">
                <a16:creationId xmlns:a16="http://schemas.microsoft.com/office/drawing/2014/main" id="{247D58A1-E38B-49BA-B535-15CE0425B0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3528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2" name="Line 24">
            <a:extLst>
              <a:ext uri="{FF2B5EF4-FFF2-40B4-BE49-F238E27FC236}">
                <a16:creationId xmlns:a16="http://schemas.microsoft.com/office/drawing/2014/main" id="{5CEFF431-3B19-4F9D-BA83-5FC8CE4F6C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1524000"/>
            <a:ext cx="2743200" cy="13716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3" name="Line 25">
            <a:extLst>
              <a:ext uri="{FF2B5EF4-FFF2-40B4-BE49-F238E27FC236}">
                <a16:creationId xmlns:a16="http://schemas.microsoft.com/office/drawing/2014/main" id="{D1859947-4827-4857-842F-A14A9DD53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524000"/>
            <a:ext cx="2743200" cy="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4" name="Line 26">
            <a:extLst>
              <a:ext uri="{FF2B5EF4-FFF2-40B4-BE49-F238E27FC236}">
                <a16:creationId xmlns:a16="http://schemas.microsoft.com/office/drawing/2014/main" id="{F6A63284-FF95-4A71-B0A7-7CB7EEDFD2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1524000"/>
            <a:ext cx="2667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5" name="Line 27">
            <a:extLst>
              <a:ext uri="{FF2B5EF4-FFF2-40B4-BE49-F238E27FC236}">
                <a16:creationId xmlns:a16="http://schemas.microsoft.com/office/drawing/2014/main" id="{B990C9A9-5A73-4E77-9F13-0C754EE984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1524000"/>
            <a:ext cx="2667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6" name="Line 28">
            <a:extLst>
              <a:ext uri="{FF2B5EF4-FFF2-40B4-BE49-F238E27FC236}">
                <a16:creationId xmlns:a16="http://schemas.microsoft.com/office/drawing/2014/main" id="{D487882B-6455-4D48-8BD3-FE27DBF86A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1524000"/>
            <a:ext cx="2667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7" name="Line 29">
            <a:extLst>
              <a:ext uri="{FF2B5EF4-FFF2-40B4-BE49-F238E27FC236}">
                <a16:creationId xmlns:a16="http://schemas.microsoft.com/office/drawing/2014/main" id="{E4558680-F118-430F-9F84-B58F560028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524000"/>
            <a:ext cx="2667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8" name="Line 30">
            <a:extLst>
              <a:ext uri="{FF2B5EF4-FFF2-40B4-BE49-F238E27FC236}">
                <a16:creationId xmlns:a16="http://schemas.microsoft.com/office/drawing/2014/main" id="{1147524C-3F69-4EAE-8FCE-7326393F72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1524000"/>
            <a:ext cx="2667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9" name="Line 31">
            <a:extLst>
              <a:ext uri="{FF2B5EF4-FFF2-40B4-BE49-F238E27FC236}">
                <a16:creationId xmlns:a16="http://schemas.microsoft.com/office/drawing/2014/main" id="{7B2D934D-ECB2-4E9E-960A-43945BF98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752600"/>
            <a:ext cx="2743200" cy="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0" name="Line 32">
            <a:extLst>
              <a:ext uri="{FF2B5EF4-FFF2-40B4-BE49-F238E27FC236}">
                <a16:creationId xmlns:a16="http://schemas.microsoft.com/office/drawing/2014/main" id="{6842C3F4-7208-492C-AC58-40A463702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981200"/>
            <a:ext cx="2743200" cy="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1" name="Line 33">
            <a:extLst>
              <a:ext uri="{FF2B5EF4-FFF2-40B4-BE49-F238E27FC236}">
                <a16:creationId xmlns:a16="http://schemas.microsoft.com/office/drawing/2014/main" id="{7B349E14-B1C7-4A48-94B4-9B8519186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209800"/>
            <a:ext cx="2743200" cy="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2" name="Line 34">
            <a:extLst>
              <a:ext uri="{FF2B5EF4-FFF2-40B4-BE49-F238E27FC236}">
                <a16:creationId xmlns:a16="http://schemas.microsoft.com/office/drawing/2014/main" id="{EBF2E59A-E209-498C-8312-5CB10081E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2743200" cy="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3" name="Line 35">
            <a:extLst>
              <a:ext uri="{FF2B5EF4-FFF2-40B4-BE49-F238E27FC236}">
                <a16:creationId xmlns:a16="http://schemas.microsoft.com/office/drawing/2014/main" id="{12B2F81A-8B48-4227-9697-775C15612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667000"/>
            <a:ext cx="2743200" cy="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4" name="Line 36">
            <a:extLst>
              <a:ext uri="{FF2B5EF4-FFF2-40B4-BE49-F238E27FC236}">
                <a16:creationId xmlns:a16="http://schemas.microsoft.com/office/drawing/2014/main" id="{7DFD897C-54A3-4EC6-9CE6-3965ACFAE9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895600"/>
            <a:ext cx="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5" name="Line 37">
            <a:extLst>
              <a:ext uri="{FF2B5EF4-FFF2-40B4-BE49-F238E27FC236}">
                <a16:creationId xmlns:a16="http://schemas.microsoft.com/office/drawing/2014/main" id="{C9C71F38-CB8B-43BB-B107-856563F3E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638800"/>
            <a:ext cx="2667000" cy="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6" name="Line 38">
            <a:extLst>
              <a:ext uri="{FF2B5EF4-FFF2-40B4-BE49-F238E27FC236}">
                <a16:creationId xmlns:a16="http://schemas.microsoft.com/office/drawing/2014/main" id="{2C603B1D-FDC4-4DC7-87FA-564A03BEC3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4267200"/>
            <a:ext cx="2743200" cy="1371600"/>
          </a:xfrm>
          <a:prstGeom prst="line">
            <a:avLst/>
          </a:prstGeom>
          <a:noFill/>
          <a:ln w="25400">
            <a:solidFill>
              <a:srgbClr val="33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7" name="AutoShape 39">
            <a:extLst>
              <a:ext uri="{FF2B5EF4-FFF2-40B4-BE49-F238E27FC236}">
                <a16:creationId xmlns:a16="http://schemas.microsoft.com/office/drawing/2014/main" id="{9B602B94-3683-4FE3-86B4-15FD82192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600200"/>
            <a:ext cx="1066800" cy="304800"/>
          </a:xfrm>
          <a:prstGeom prst="leftArrow">
            <a:avLst>
              <a:gd name="adj1" fmla="val 50000"/>
              <a:gd name="adj2" fmla="val 87500"/>
            </a:avLst>
          </a:prstGeom>
          <a:solidFill>
            <a:srgbClr val="CC0000"/>
          </a:solidFill>
          <a:ln w="25400">
            <a:solidFill>
              <a:srgbClr val="FF0000"/>
            </a:solidFill>
            <a:miter lim="800000"/>
            <a:headEnd/>
            <a:tailEnd type="none" w="lg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68" name="Text Box 40">
            <a:extLst>
              <a:ext uri="{FF2B5EF4-FFF2-40B4-BE49-F238E27FC236}">
                <a16:creationId xmlns:a16="http://schemas.microsoft.com/office/drawing/2014/main" id="{DDB8999E-D25F-463D-93DC-D777DC3FC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49225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omic Sans MS" panose="030F0702030302020204" pitchFamily="66" charset="0"/>
              </a:rPr>
              <a:t>Fully Distributed</a:t>
            </a:r>
          </a:p>
        </p:txBody>
      </p:sp>
      <p:sp>
        <p:nvSpPr>
          <p:cNvPr id="22569" name="Line 41">
            <a:extLst>
              <a:ext uri="{FF2B5EF4-FFF2-40B4-BE49-F238E27FC236}">
                <a16:creationId xmlns:a16="http://schemas.microsoft.com/office/drawing/2014/main" id="{31439E6E-BE22-4540-A612-6F4D1E6AB1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524000"/>
            <a:ext cx="17526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70" name="Text Box 42">
            <a:extLst>
              <a:ext uri="{FF2B5EF4-FFF2-40B4-BE49-F238E27FC236}">
                <a16:creationId xmlns:a16="http://schemas.microsoft.com/office/drawing/2014/main" id="{4A7FE25C-80EC-481C-AC30-656B6031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562600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>
                <a:latin typeface="Monotype Corsiva" panose="03010101010201010101" pitchFamily="66" charset="0"/>
              </a:rPr>
              <a:t>Enslow’s Model</a:t>
            </a:r>
          </a:p>
        </p:txBody>
      </p:sp>
      <p:sp>
        <p:nvSpPr>
          <p:cNvPr id="22571" name="Text Box 43">
            <a:extLst>
              <a:ext uri="{FF2B5EF4-FFF2-40B4-BE49-F238E27FC236}">
                <a16:creationId xmlns:a16="http://schemas.microsoft.com/office/drawing/2014/main" id="{42E4EC8B-D71E-4908-BBE7-D034A124F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6388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Comic Sans MS" panose="030F0702030302020204" pitchFamily="66" charset="0"/>
              </a:rPr>
              <a:t>Control</a:t>
            </a:r>
          </a:p>
        </p:txBody>
      </p:sp>
      <p:sp>
        <p:nvSpPr>
          <p:cNvPr id="22572" name="Text Box 44">
            <a:extLst>
              <a:ext uri="{FF2B5EF4-FFF2-40B4-BE49-F238E27FC236}">
                <a16:creationId xmlns:a16="http://schemas.microsoft.com/office/drawing/2014/main" id="{EE0D4E24-4DF6-4929-BC13-DE86C56A582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692943" y="4350543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Comic Sans MS" panose="030F0702030302020204" pitchFamily="66" charset="0"/>
              </a:rPr>
              <a:t>Processors</a:t>
            </a:r>
          </a:p>
        </p:txBody>
      </p:sp>
      <p:sp>
        <p:nvSpPr>
          <p:cNvPr id="22573" name="Text Box 45">
            <a:extLst>
              <a:ext uri="{FF2B5EF4-FFF2-40B4-BE49-F238E27FC236}">
                <a16:creationId xmlns:a16="http://schemas.microsoft.com/office/drawing/2014/main" id="{5C733CDC-D152-48B7-80C9-8E3920466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648200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Comic Sans MS" panose="030F0702030302020204" pitchFamily="66" charset="0"/>
              </a:rPr>
              <a:t>Data</a:t>
            </a:r>
          </a:p>
        </p:txBody>
      </p:sp>
      <p:grpSp>
        <p:nvGrpSpPr>
          <p:cNvPr id="2" name="Group 70">
            <a:extLst>
              <a:ext uri="{FF2B5EF4-FFF2-40B4-BE49-F238E27FC236}">
                <a16:creationId xmlns:a16="http://schemas.microsoft.com/office/drawing/2014/main" id="{8F0923D5-B311-4738-84EF-54BAAB6A3EC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524000"/>
            <a:ext cx="1828800" cy="1371600"/>
            <a:chOff x="5105400" y="1524000"/>
            <a:chExt cx="1828800" cy="1371600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EB2C797-0005-48A7-8BE1-3AA4C3753735}"/>
                </a:ext>
              </a:extLst>
            </p:cNvPr>
            <p:cNvCxnSpPr/>
            <p:nvPr/>
          </p:nvCxnSpPr>
          <p:spPr>
            <a:xfrm rot="10800000" flipV="1">
              <a:off x="6019800" y="2438400"/>
              <a:ext cx="91440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78" name="Group 69">
              <a:extLst>
                <a:ext uri="{FF2B5EF4-FFF2-40B4-BE49-F238E27FC236}">
                  <a16:creationId xmlns:a16="http://schemas.microsoft.com/office/drawing/2014/main" id="{BE915C3D-FA37-4FBE-85A4-64950237FC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400" y="1524000"/>
              <a:ext cx="1828800" cy="1371600"/>
              <a:chOff x="5105400" y="1524000"/>
              <a:chExt cx="1828800" cy="137160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1C243E2-1F46-428F-80EE-5B855E8A45C5}"/>
                  </a:ext>
                </a:extLst>
              </p:cNvPr>
              <p:cNvSpPr/>
              <p:nvPr/>
            </p:nvSpPr>
            <p:spPr>
              <a:xfrm>
                <a:off x="5105400" y="1981200"/>
                <a:ext cx="914400" cy="914400"/>
              </a:xfrm>
              <a:prstGeom prst="rect">
                <a:avLst/>
              </a:prstGeom>
              <a:solidFill>
                <a:schemeClr val="accent1">
                  <a:alpha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2A3E7FD-F07B-47F2-83F9-D256A5630174}"/>
                  </a:ext>
                </a:extLst>
              </p:cNvPr>
              <p:cNvCxnSpPr>
                <a:endCxn id="22553" idx="1"/>
              </p:cNvCxnSpPr>
              <p:nvPr/>
            </p:nvCxnSpPr>
            <p:spPr>
              <a:xfrm flipV="1">
                <a:off x="6019800" y="1524000"/>
                <a:ext cx="91440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DA12BF7-2243-4CDE-BCF2-A4D6113F11AA}"/>
                  </a:ext>
                </a:extLst>
              </p:cNvPr>
              <p:cNvCxnSpPr>
                <a:stCxn id="22549" idx="0"/>
              </p:cNvCxnSpPr>
              <p:nvPr/>
            </p:nvCxnSpPr>
            <p:spPr>
              <a:xfrm rot="5400000">
                <a:off x="6477000" y="1981200"/>
                <a:ext cx="9144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01DED04-4A81-47A1-A5F2-E181084B4C93}"/>
                  </a:ext>
                </a:extLst>
              </p:cNvPr>
              <p:cNvCxnSpPr>
                <a:endCxn id="22569" idx="1"/>
              </p:cNvCxnSpPr>
              <p:nvPr/>
            </p:nvCxnSpPr>
            <p:spPr>
              <a:xfrm flipV="1">
                <a:off x="5105400" y="1524000"/>
                <a:ext cx="83820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2A562C2-565A-449B-9E91-7AE6F443F66A}"/>
                  </a:ext>
                </a:extLst>
              </p:cNvPr>
              <p:cNvCxnSpPr>
                <a:stCxn id="22569" idx="1"/>
                <a:endCxn id="22553" idx="1"/>
              </p:cNvCxnSpPr>
              <p:nvPr/>
            </p:nvCxnSpPr>
            <p:spPr>
              <a:xfrm rot="16200000" flipH="1">
                <a:off x="6438900" y="1028700"/>
                <a:ext cx="0" cy="9906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8" name="Down Arrow 67">
            <a:extLst>
              <a:ext uri="{FF2B5EF4-FFF2-40B4-BE49-F238E27FC236}">
                <a16:creationId xmlns:a16="http://schemas.microsoft.com/office/drawing/2014/main" id="{913F1C58-7788-44F1-A3DF-4B580C6CE38D}"/>
              </a:ext>
            </a:extLst>
          </p:cNvPr>
          <p:cNvSpPr/>
          <p:nvPr/>
        </p:nvSpPr>
        <p:spPr>
          <a:xfrm>
            <a:off x="5943600" y="762000"/>
            <a:ext cx="304800" cy="990600"/>
          </a:xfrm>
          <a:prstGeom prst="downArrow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Text Box 40">
            <a:extLst>
              <a:ext uri="{FF2B5EF4-FFF2-40B4-BE49-F238E27FC236}">
                <a16:creationId xmlns:a16="http://schemas.microsoft.com/office/drawing/2014/main" id="{6A47A759-F606-41EE-A559-D1D9BAA74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04800"/>
            <a:ext cx="152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omic Sans MS" panose="030F0702030302020204" pitchFamily="66" charset="0"/>
              </a:rPr>
              <a:t>Allowed area for 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>
            <a:extLst>
              <a:ext uri="{FF2B5EF4-FFF2-40B4-BE49-F238E27FC236}">
                <a16:creationId xmlns:a16="http://schemas.microsoft.com/office/drawing/2014/main" id="{7A20D862-8486-4489-BCF5-376A7A78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5738"/>
            <a:ext cx="8305800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>
              <a:solidFill>
                <a:schemeClr val="bg2"/>
              </a:solidFill>
            </a:endParaRPr>
          </a:p>
          <a:p>
            <a:pPr algn="ctr">
              <a:spcBef>
                <a:spcPct val="20000"/>
              </a:spcBef>
            </a:pPr>
            <a:r>
              <a:rPr lang="en-US" altLang="en-US" sz="2400" b="1">
                <a:solidFill>
                  <a:srgbClr val="FF0000"/>
                </a:solidFill>
              </a:rPr>
              <a:t>Multi-processor Architectures</a:t>
            </a:r>
            <a:r>
              <a:rPr lang="en-US" altLang="en-US">
                <a:solidFill>
                  <a:srgbClr val="FF0000"/>
                </a:solidFill>
              </a:rPr>
              <a:t>	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F1AF8ED6-3D8C-4DAD-9845-EC3B830C928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676400"/>
            <a:ext cx="2590800" cy="2133600"/>
            <a:chOff x="240" y="1056"/>
            <a:chExt cx="1632" cy="1344"/>
          </a:xfrm>
        </p:grpSpPr>
        <p:sp>
          <p:nvSpPr>
            <p:cNvPr id="23599" name="Rectangle 4">
              <a:extLst>
                <a:ext uri="{FF2B5EF4-FFF2-40B4-BE49-F238E27FC236}">
                  <a16:creationId xmlns:a16="http://schemas.microsoft.com/office/drawing/2014/main" id="{B39B30D9-F9B6-4AED-98A1-60555334E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584"/>
              <a:ext cx="1632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Interconnection Ntk</a:t>
              </a:r>
            </a:p>
          </p:txBody>
        </p:sp>
        <p:sp>
          <p:nvSpPr>
            <p:cNvPr id="23600" name="Rectangle 5">
              <a:extLst>
                <a:ext uri="{FF2B5EF4-FFF2-40B4-BE49-F238E27FC236}">
                  <a16:creationId xmlns:a16="http://schemas.microsoft.com/office/drawing/2014/main" id="{3626AFC2-A040-4B87-9AB9-A12982340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056"/>
              <a:ext cx="384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M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23601" name="Rectangle 6">
              <a:extLst>
                <a:ext uri="{FF2B5EF4-FFF2-40B4-BE49-F238E27FC236}">
                  <a16:creationId xmlns:a16="http://schemas.microsoft.com/office/drawing/2014/main" id="{FEDD4BB0-D71B-4D7A-A0C6-D89BDC051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056"/>
              <a:ext cx="384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M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  <p:sp>
          <p:nvSpPr>
            <p:cNvPr id="23602" name="Rectangle 7">
              <a:extLst>
                <a:ext uri="{FF2B5EF4-FFF2-40B4-BE49-F238E27FC236}">
                  <a16:creationId xmlns:a16="http://schemas.microsoft.com/office/drawing/2014/main" id="{58FE05E9-6B53-4A2C-903B-1BCD2666F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056"/>
              <a:ext cx="384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M</a:t>
              </a:r>
              <a:r>
                <a:rPr lang="en-US" altLang="en-US" baseline="-25000"/>
                <a:t>k</a:t>
              </a:r>
              <a:endParaRPr lang="en-US" altLang="en-US"/>
            </a:p>
          </p:txBody>
        </p:sp>
        <p:sp>
          <p:nvSpPr>
            <p:cNvPr id="23603" name="Line 8">
              <a:extLst>
                <a:ext uri="{FF2B5EF4-FFF2-40B4-BE49-F238E27FC236}">
                  <a16:creationId xmlns:a16="http://schemas.microsoft.com/office/drawing/2014/main" id="{834CDC50-E128-4B69-AA71-79D1F724F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344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Line 9">
              <a:extLst>
                <a:ext uri="{FF2B5EF4-FFF2-40B4-BE49-F238E27FC236}">
                  <a16:creationId xmlns:a16="http://schemas.microsoft.com/office/drawing/2014/main" id="{81058AF3-0057-464A-A894-D2AEC3C73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344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Line 10">
              <a:extLst>
                <a:ext uri="{FF2B5EF4-FFF2-40B4-BE49-F238E27FC236}">
                  <a16:creationId xmlns:a16="http://schemas.microsoft.com/office/drawing/2014/main" id="{14A6913C-B4B8-4D64-81DA-3953264B4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344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Rectangle 11">
              <a:extLst>
                <a:ext uri="{FF2B5EF4-FFF2-40B4-BE49-F238E27FC236}">
                  <a16:creationId xmlns:a16="http://schemas.microsoft.com/office/drawing/2014/main" id="{6FFB5534-0ACE-4EC1-9C61-C7C66817F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112"/>
              <a:ext cx="384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P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23607" name="Rectangle 12">
              <a:extLst>
                <a:ext uri="{FF2B5EF4-FFF2-40B4-BE49-F238E27FC236}">
                  <a16:creationId xmlns:a16="http://schemas.microsoft.com/office/drawing/2014/main" id="{412E78F5-A5BD-498F-9562-9A7BB6E9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112"/>
              <a:ext cx="384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P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  <p:sp>
          <p:nvSpPr>
            <p:cNvPr id="23608" name="Rectangle 13">
              <a:extLst>
                <a:ext uri="{FF2B5EF4-FFF2-40B4-BE49-F238E27FC236}">
                  <a16:creationId xmlns:a16="http://schemas.microsoft.com/office/drawing/2014/main" id="{E8FF1413-5485-4850-8743-2A0DD98AB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112"/>
              <a:ext cx="384" cy="288"/>
            </a:xfrm>
            <a:prstGeom prst="rect">
              <a:avLst/>
            </a:prstGeom>
            <a:solidFill>
              <a:schemeClr val="accent1">
                <a:alpha val="25882"/>
              </a:scheme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P</a:t>
              </a:r>
              <a:r>
                <a:rPr lang="en-US" altLang="en-US" baseline="-25000"/>
                <a:t>n</a:t>
              </a:r>
              <a:endParaRPr lang="en-US" altLang="en-US"/>
            </a:p>
          </p:txBody>
        </p:sp>
        <p:sp>
          <p:nvSpPr>
            <p:cNvPr id="23609" name="Line 14">
              <a:extLst>
                <a:ext uri="{FF2B5EF4-FFF2-40B4-BE49-F238E27FC236}">
                  <a16:creationId xmlns:a16="http://schemas.microsoft.com/office/drawing/2014/main" id="{D1174BBB-5260-42ED-BD72-13A8311FD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87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Line 15">
              <a:extLst>
                <a:ext uri="{FF2B5EF4-FFF2-40B4-BE49-F238E27FC236}">
                  <a16:creationId xmlns:a16="http://schemas.microsoft.com/office/drawing/2014/main" id="{A62AD855-1158-4340-85B4-0F368AC51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Line 16">
              <a:extLst>
                <a:ext uri="{FF2B5EF4-FFF2-40B4-BE49-F238E27FC236}">
                  <a16:creationId xmlns:a16="http://schemas.microsoft.com/office/drawing/2014/main" id="{9F708D66-4C6C-40F2-9F16-1B1F2FC6D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7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Text Box 17">
              <a:extLst>
                <a:ext uri="{FF2B5EF4-FFF2-40B4-BE49-F238E27FC236}">
                  <a16:creationId xmlns:a16="http://schemas.microsoft.com/office/drawing/2014/main" id="{C0EA47C2-E825-49EC-B87E-537897C6B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1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….</a:t>
              </a:r>
            </a:p>
          </p:txBody>
        </p:sp>
        <p:sp>
          <p:nvSpPr>
            <p:cNvPr id="23613" name="Text Box 18">
              <a:extLst>
                <a:ext uri="{FF2B5EF4-FFF2-40B4-BE49-F238E27FC236}">
                  <a16:creationId xmlns:a16="http://schemas.microsoft.com/office/drawing/2014/main" id="{2364C2D5-97D9-4A8E-A1C8-8AFD7A577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05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….</a:t>
              </a:r>
            </a:p>
          </p:txBody>
        </p:sp>
      </p:grpSp>
      <p:sp>
        <p:nvSpPr>
          <p:cNvPr id="71699" name="Text Box 19">
            <a:extLst>
              <a:ext uri="{FF2B5EF4-FFF2-40B4-BE49-F238E27FC236}">
                <a16:creationId xmlns:a16="http://schemas.microsoft.com/office/drawing/2014/main" id="{6248AD47-B037-4A8F-9DDE-4273CC73A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62400"/>
            <a:ext cx="373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Shared memory Architecture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68741527-4C6E-440F-B2FE-69E82D915625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600200"/>
            <a:ext cx="2514600" cy="2057400"/>
            <a:chOff x="2016" y="1008"/>
            <a:chExt cx="1584" cy="1296"/>
          </a:xfrm>
        </p:grpSpPr>
        <p:sp>
          <p:nvSpPr>
            <p:cNvPr id="23585" name="Rectangle 21">
              <a:extLst>
                <a:ext uri="{FF2B5EF4-FFF2-40B4-BE49-F238E27FC236}">
                  <a16:creationId xmlns:a16="http://schemas.microsoft.com/office/drawing/2014/main" id="{CB49574E-9F2E-4055-B253-BB213143D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08"/>
              <a:ext cx="1584" cy="288"/>
            </a:xfrm>
            <a:prstGeom prst="rect">
              <a:avLst/>
            </a:prstGeom>
            <a:solidFill>
              <a:srgbClr val="FFFF99">
                <a:alpha val="27058"/>
              </a:srgbClr>
            </a:solidFill>
            <a:ln w="25400">
              <a:solidFill>
                <a:srgbClr val="CC0066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Interconnection Ntk</a:t>
              </a:r>
            </a:p>
          </p:txBody>
        </p:sp>
        <p:sp>
          <p:nvSpPr>
            <p:cNvPr id="23586" name="Oval 22">
              <a:extLst>
                <a:ext uri="{FF2B5EF4-FFF2-40B4-BE49-F238E27FC236}">
                  <a16:creationId xmlns:a16="http://schemas.microsoft.com/office/drawing/2014/main" id="{88560DAB-5D4C-46C8-AD78-F3F2024C3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36"/>
              <a:ext cx="288" cy="288"/>
            </a:xfrm>
            <a:prstGeom prst="ellipse">
              <a:avLst/>
            </a:prstGeom>
            <a:solidFill>
              <a:srgbClr val="FFFF99">
                <a:alpha val="32941"/>
              </a:srgbClr>
            </a:solidFill>
            <a:ln w="25400">
              <a:solidFill>
                <a:srgbClr val="CC0066"/>
              </a:solidFill>
              <a:round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P</a:t>
              </a:r>
              <a:r>
                <a:rPr lang="en-US" altLang="en-US" baseline="-25000">
                  <a:solidFill>
                    <a:srgbClr val="CC0066"/>
                  </a:solidFill>
                </a:rPr>
                <a:t>1</a:t>
              </a:r>
            </a:p>
          </p:txBody>
        </p:sp>
        <p:sp>
          <p:nvSpPr>
            <p:cNvPr id="23587" name="Oval 23">
              <a:extLst>
                <a:ext uri="{FF2B5EF4-FFF2-40B4-BE49-F238E27FC236}">
                  <a16:creationId xmlns:a16="http://schemas.microsoft.com/office/drawing/2014/main" id="{AEDB4F76-6F90-4B3D-94F7-70BACF9CC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536"/>
              <a:ext cx="288" cy="288"/>
            </a:xfrm>
            <a:prstGeom prst="ellipse">
              <a:avLst/>
            </a:prstGeom>
            <a:solidFill>
              <a:srgbClr val="FFFF99">
                <a:alpha val="32941"/>
              </a:srgbClr>
            </a:solidFill>
            <a:ln w="25400">
              <a:solidFill>
                <a:srgbClr val="CC0066"/>
              </a:solidFill>
              <a:round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P</a:t>
              </a:r>
              <a:r>
                <a:rPr lang="en-US" altLang="en-US" baseline="-25000">
                  <a:solidFill>
                    <a:srgbClr val="CC0066"/>
                  </a:solidFill>
                </a:rPr>
                <a:t>2</a:t>
              </a:r>
            </a:p>
          </p:txBody>
        </p:sp>
        <p:sp>
          <p:nvSpPr>
            <p:cNvPr id="23588" name="Oval 24">
              <a:extLst>
                <a:ext uri="{FF2B5EF4-FFF2-40B4-BE49-F238E27FC236}">
                  <a16:creationId xmlns:a16="http://schemas.microsoft.com/office/drawing/2014/main" id="{9901D784-E0DD-4505-A02D-ECB61B4AB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536"/>
              <a:ext cx="288" cy="288"/>
            </a:xfrm>
            <a:prstGeom prst="ellipse">
              <a:avLst/>
            </a:prstGeom>
            <a:solidFill>
              <a:srgbClr val="FFFF99">
                <a:alpha val="32941"/>
              </a:srgbClr>
            </a:solidFill>
            <a:ln w="25400">
              <a:solidFill>
                <a:srgbClr val="CC0066"/>
              </a:solidFill>
              <a:round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P</a:t>
              </a:r>
              <a:r>
                <a:rPr lang="en-US" altLang="en-US" baseline="-25000">
                  <a:solidFill>
                    <a:srgbClr val="CC0066"/>
                  </a:solidFill>
                </a:rPr>
                <a:t>n</a:t>
              </a:r>
            </a:p>
          </p:txBody>
        </p:sp>
        <p:sp>
          <p:nvSpPr>
            <p:cNvPr id="23589" name="Line 25">
              <a:extLst>
                <a:ext uri="{FF2B5EF4-FFF2-40B4-BE49-F238E27FC236}">
                  <a16:creationId xmlns:a16="http://schemas.microsoft.com/office/drawing/2014/main" id="{BD05461B-20CF-4E9E-B157-573ACECAF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296"/>
              <a:ext cx="0" cy="240"/>
            </a:xfrm>
            <a:prstGeom prst="line">
              <a:avLst/>
            </a:prstGeom>
            <a:noFill/>
            <a:ln w="25400">
              <a:solidFill>
                <a:srgbClr val="CC0066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26">
              <a:extLst>
                <a:ext uri="{FF2B5EF4-FFF2-40B4-BE49-F238E27FC236}">
                  <a16:creationId xmlns:a16="http://schemas.microsoft.com/office/drawing/2014/main" id="{4BE4698B-120B-4292-B150-5C61EDB80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296"/>
              <a:ext cx="0" cy="240"/>
            </a:xfrm>
            <a:prstGeom prst="line">
              <a:avLst/>
            </a:prstGeom>
            <a:noFill/>
            <a:ln w="25400">
              <a:solidFill>
                <a:srgbClr val="CC0066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27">
              <a:extLst>
                <a:ext uri="{FF2B5EF4-FFF2-40B4-BE49-F238E27FC236}">
                  <a16:creationId xmlns:a16="http://schemas.microsoft.com/office/drawing/2014/main" id="{F2B80361-927D-4B28-A3EB-4D3757425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96"/>
              <a:ext cx="0" cy="240"/>
            </a:xfrm>
            <a:prstGeom prst="line">
              <a:avLst/>
            </a:prstGeom>
            <a:noFill/>
            <a:ln w="25400">
              <a:solidFill>
                <a:srgbClr val="CC0066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Line 28">
              <a:extLst>
                <a:ext uri="{FF2B5EF4-FFF2-40B4-BE49-F238E27FC236}">
                  <a16:creationId xmlns:a16="http://schemas.microsoft.com/office/drawing/2014/main" id="{A8017C82-2CA2-4BBF-BD0B-201A0EFFE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24"/>
              <a:ext cx="0" cy="240"/>
            </a:xfrm>
            <a:prstGeom prst="line">
              <a:avLst/>
            </a:prstGeom>
            <a:noFill/>
            <a:ln w="25400">
              <a:solidFill>
                <a:srgbClr val="CC0066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Line 29">
              <a:extLst>
                <a:ext uri="{FF2B5EF4-FFF2-40B4-BE49-F238E27FC236}">
                  <a16:creationId xmlns:a16="http://schemas.microsoft.com/office/drawing/2014/main" id="{593F00A9-585C-4543-BFEC-0385E0020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824"/>
              <a:ext cx="0" cy="240"/>
            </a:xfrm>
            <a:prstGeom prst="line">
              <a:avLst/>
            </a:prstGeom>
            <a:noFill/>
            <a:ln w="25400">
              <a:solidFill>
                <a:srgbClr val="CC0066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Line 30">
              <a:extLst>
                <a:ext uri="{FF2B5EF4-FFF2-40B4-BE49-F238E27FC236}">
                  <a16:creationId xmlns:a16="http://schemas.microsoft.com/office/drawing/2014/main" id="{8ED7E0B8-C89C-4FA4-B0E0-9FE75E2AA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25400">
              <a:solidFill>
                <a:srgbClr val="CC0066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Rectangle 31">
              <a:extLst>
                <a:ext uri="{FF2B5EF4-FFF2-40B4-BE49-F238E27FC236}">
                  <a16:creationId xmlns:a16="http://schemas.microsoft.com/office/drawing/2014/main" id="{61AA2881-D03C-4766-988C-05D158B4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064"/>
              <a:ext cx="288" cy="240"/>
            </a:xfrm>
            <a:prstGeom prst="rect">
              <a:avLst/>
            </a:prstGeom>
            <a:solidFill>
              <a:srgbClr val="FFFF99">
                <a:alpha val="34117"/>
              </a:srgbClr>
            </a:solidFill>
            <a:ln w="25400">
              <a:solidFill>
                <a:srgbClr val="CC0066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M</a:t>
              </a:r>
              <a:r>
                <a:rPr lang="en-US" altLang="en-US" baseline="-25000">
                  <a:solidFill>
                    <a:srgbClr val="CC0066"/>
                  </a:solidFill>
                </a:rPr>
                <a:t>1</a:t>
              </a:r>
              <a:endParaRPr lang="en-US" altLang="en-US">
                <a:solidFill>
                  <a:srgbClr val="CC0066"/>
                </a:solidFill>
              </a:endParaRPr>
            </a:p>
          </p:txBody>
        </p:sp>
        <p:sp>
          <p:nvSpPr>
            <p:cNvPr id="23596" name="Rectangle 32">
              <a:extLst>
                <a:ext uri="{FF2B5EF4-FFF2-40B4-BE49-F238E27FC236}">
                  <a16:creationId xmlns:a16="http://schemas.microsoft.com/office/drawing/2014/main" id="{4A78D107-D02B-4FE9-9902-3E8C9454B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064"/>
              <a:ext cx="288" cy="240"/>
            </a:xfrm>
            <a:prstGeom prst="rect">
              <a:avLst/>
            </a:prstGeom>
            <a:solidFill>
              <a:srgbClr val="FFFF99">
                <a:alpha val="34117"/>
              </a:srgbClr>
            </a:solidFill>
            <a:ln w="25400">
              <a:solidFill>
                <a:srgbClr val="CC0066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M</a:t>
              </a:r>
              <a:r>
                <a:rPr lang="en-US" altLang="en-US" baseline="-25000">
                  <a:solidFill>
                    <a:srgbClr val="CC0066"/>
                  </a:solidFill>
                </a:rPr>
                <a:t>2</a:t>
              </a:r>
              <a:endParaRPr lang="en-US" altLang="en-US">
                <a:solidFill>
                  <a:srgbClr val="CC0066"/>
                </a:solidFill>
              </a:endParaRPr>
            </a:p>
          </p:txBody>
        </p:sp>
        <p:sp>
          <p:nvSpPr>
            <p:cNvPr id="23597" name="Rectangle 33">
              <a:extLst>
                <a:ext uri="{FF2B5EF4-FFF2-40B4-BE49-F238E27FC236}">
                  <a16:creationId xmlns:a16="http://schemas.microsoft.com/office/drawing/2014/main" id="{F5C9432B-A2A5-4405-925C-DC6012462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064"/>
              <a:ext cx="288" cy="240"/>
            </a:xfrm>
            <a:prstGeom prst="rect">
              <a:avLst/>
            </a:prstGeom>
            <a:solidFill>
              <a:srgbClr val="FFFF99">
                <a:alpha val="34117"/>
              </a:srgbClr>
            </a:solidFill>
            <a:ln w="25400">
              <a:solidFill>
                <a:srgbClr val="CC0066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CC0066"/>
                  </a:solidFill>
                </a:rPr>
                <a:t>M</a:t>
              </a:r>
              <a:r>
                <a:rPr lang="en-US" altLang="en-US" baseline="-25000">
                  <a:solidFill>
                    <a:srgbClr val="CC0066"/>
                  </a:solidFill>
                </a:rPr>
                <a:t>n</a:t>
              </a:r>
              <a:endParaRPr lang="en-US" altLang="en-US">
                <a:solidFill>
                  <a:srgbClr val="CC0066"/>
                </a:solidFill>
              </a:endParaRPr>
            </a:p>
          </p:txBody>
        </p:sp>
        <p:sp>
          <p:nvSpPr>
            <p:cNvPr id="23598" name="Text Box 34">
              <a:extLst>
                <a:ext uri="{FF2B5EF4-FFF2-40B4-BE49-F238E27FC236}">
                  <a16:creationId xmlns:a16="http://schemas.microsoft.com/office/drawing/2014/main" id="{86B145B5-23A2-447F-A622-0A02457E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72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66"/>
                  </a:solidFill>
                </a:rPr>
                <a:t>…….</a:t>
              </a:r>
            </a:p>
          </p:txBody>
        </p:sp>
      </p:grpSp>
      <p:sp>
        <p:nvSpPr>
          <p:cNvPr id="71715" name="Text Box 35">
            <a:extLst>
              <a:ext uri="{FF2B5EF4-FFF2-40B4-BE49-F238E27FC236}">
                <a16:creationId xmlns:a16="http://schemas.microsoft.com/office/drawing/2014/main" id="{9990278F-C98A-4634-BCB3-3205EFC5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962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CC0066"/>
                </a:solidFill>
              </a:rPr>
              <a:t>UMA</a:t>
            </a:r>
          </a:p>
        </p:txBody>
      </p:sp>
      <p:grpSp>
        <p:nvGrpSpPr>
          <p:cNvPr id="4" name="Group 36">
            <a:extLst>
              <a:ext uri="{FF2B5EF4-FFF2-40B4-BE49-F238E27FC236}">
                <a16:creationId xmlns:a16="http://schemas.microsoft.com/office/drawing/2014/main" id="{8252E18D-F222-4CDF-8AA9-E6146B326AA7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752600"/>
            <a:ext cx="2743200" cy="3048000"/>
            <a:chOff x="3936" y="1104"/>
            <a:chExt cx="1728" cy="1920"/>
          </a:xfrm>
        </p:grpSpPr>
        <p:sp>
          <p:nvSpPr>
            <p:cNvPr id="23564" name="Rectangle 37">
              <a:extLst>
                <a:ext uri="{FF2B5EF4-FFF2-40B4-BE49-F238E27FC236}">
                  <a16:creationId xmlns:a16="http://schemas.microsoft.com/office/drawing/2014/main" id="{B43A0D9D-94D3-4C8D-94BD-8741902CA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32"/>
              <a:ext cx="1728" cy="288"/>
            </a:xfrm>
            <a:prstGeom prst="rect">
              <a:avLst/>
            </a:prstGeom>
            <a:solidFill>
              <a:srgbClr val="C0C0C0">
                <a:alpha val="3411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Interconnection </a:t>
              </a:r>
              <a:r>
                <a:rPr lang="en-US" altLang="en-US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Ntk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65" name="Rectangle 38">
              <a:extLst>
                <a:ext uri="{FF2B5EF4-FFF2-40B4-BE49-F238E27FC236}">
                  <a16:creationId xmlns:a16="http://schemas.microsoft.com/office/drawing/2014/main" id="{DFD2212C-55A1-437E-AA4F-22FF36C0C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104"/>
              <a:ext cx="288" cy="240"/>
            </a:xfrm>
            <a:prstGeom prst="rect">
              <a:avLst/>
            </a:prstGeom>
            <a:solidFill>
              <a:srgbClr val="C0C0C0">
                <a:alpha val="4509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66" name="Line 39">
              <a:extLst>
                <a:ext uri="{FF2B5EF4-FFF2-40B4-BE49-F238E27FC236}">
                  <a16:creationId xmlns:a16="http://schemas.microsoft.com/office/drawing/2014/main" id="{33FF55F1-E327-4852-8115-9D11210E9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34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67" name="Rectangle 40">
              <a:extLst>
                <a:ext uri="{FF2B5EF4-FFF2-40B4-BE49-F238E27FC236}">
                  <a16:creationId xmlns:a16="http://schemas.microsoft.com/office/drawing/2014/main" id="{610BE51F-C033-42A2-B607-F428F44FE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104"/>
              <a:ext cx="288" cy="240"/>
            </a:xfrm>
            <a:prstGeom prst="rect">
              <a:avLst/>
            </a:prstGeom>
            <a:solidFill>
              <a:srgbClr val="C0C0C0">
                <a:alpha val="4509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68" name="Line 41">
              <a:extLst>
                <a:ext uri="{FF2B5EF4-FFF2-40B4-BE49-F238E27FC236}">
                  <a16:creationId xmlns:a16="http://schemas.microsoft.com/office/drawing/2014/main" id="{E54A8230-68D6-42F4-A213-AF1705A38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34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69" name="Rectangle 42">
              <a:extLst>
                <a:ext uri="{FF2B5EF4-FFF2-40B4-BE49-F238E27FC236}">
                  <a16:creationId xmlns:a16="http://schemas.microsoft.com/office/drawing/2014/main" id="{2B5C9690-9946-4C5C-8042-CE49EE31E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104"/>
              <a:ext cx="288" cy="240"/>
            </a:xfrm>
            <a:prstGeom prst="rect">
              <a:avLst/>
            </a:prstGeom>
            <a:solidFill>
              <a:srgbClr val="C0C0C0">
                <a:alpha val="4509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0" name="Line 43">
              <a:extLst>
                <a:ext uri="{FF2B5EF4-FFF2-40B4-BE49-F238E27FC236}">
                  <a16:creationId xmlns:a16="http://schemas.microsoft.com/office/drawing/2014/main" id="{F8965824-20FB-4E58-B961-DE5F6E0B2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34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1" name="Text Box 44">
              <a:extLst>
                <a:ext uri="{FF2B5EF4-FFF2-40B4-BE49-F238E27FC236}">
                  <a16:creationId xmlns:a16="http://schemas.microsoft.com/office/drawing/2014/main" id="{69CDECAA-8621-4DBB-A68A-00C12F7CB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152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…….</a:t>
              </a:r>
            </a:p>
          </p:txBody>
        </p:sp>
        <p:sp>
          <p:nvSpPr>
            <p:cNvPr id="23572" name="Line 45">
              <a:extLst>
                <a:ext uri="{FF2B5EF4-FFF2-40B4-BE49-F238E27FC236}">
                  <a16:creationId xmlns:a16="http://schemas.microsoft.com/office/drawing/2014/main" id="{3CAB8CC0-34D2-47E4-9CB1-11EB211C1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92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3" name="Line 46">
              <a:extLst>
                <a:ext uri="{FF2B5EF4-FFF2-40B4-BE49-F238E27FC236}">
                  <a16:creationId xmlns:a16="http://schemas.microsoft.com/office/drawing/2014/main" id="{AFC59742-FECA-47F0-9025-F650B164D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92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4" name="Line 47">
              <a:extLst>
                <a:ext uri="{FF2B5EF4-FFF2-40B4-BE49-F238E27FC236}">
                  <a16:creationId xmlns:a16="http://schemas.microsoft.com/office/drawing/2014/main" id="{E5B46CAA-A413-44BA-AADA-249295CCB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920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5" name="Text Box 48">
              <a:extLst>
                <a:ext uri="{FF2B5EF4-FFF2-40B4-BE49-F238E27FC236}">
                  <a16:creationId xmlns:a16="http://schemas.microsoft.com/office/drawing/2014/main" id="{C205AF3F-C5D8-4CC8-8033-0B61590CF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36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…….</a:t>
              </a:r>
            </a:p>
          </p:txBody>
        </p:sp>
        <p:sp>
          <p:nvSpPr>
            <p:cNvPr id="23576" name="Oval 49">
              <a:extLst>
                <a:ext uri="{FF2B5EF4-FFF2-40B4-BE49-F238E27FC236}">
                  <a16:creationId xmlns:a16="http://schemas.microsoft.com/office/drawing/2014/main" id="{6D17336E-5A58-4005-8A74-B3785D50F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208"/>
              <a:ext cx="288" cy="288"/>
            </a:xfrm>
            <a:prstGeom prst="ellipse">
              <a:avLst/>
            </a:prstGeom>
            <a:solidFill>
              <a:srgbClr val="C0C0C0">
                <a:alpha val="45882"/>
              </a:srgbClr>
            </a:solidFill>
            <a:ln w="25400">
              <a:solidFill>
                <a:schemeClr val="tx1"/>
              </a:solidFill>
              <a:round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7" name="Oval 50">
              <a:extLst>
                <a:ext uri="{FF2B5EF4-FFF2-40B4-BE49-F238E27FC236}">
                  <a16:creationId xmlns:a16="http://schemas.microsoft.com/office/drawing/2014/main" id="{BF67FDC8-1DC6-4E18-87B6-DB0A172A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208"/>
              <a:ext cx="288" cy="288"/>
            </a:xfrm>
            <a:prstGeom prst="ellipse">
              <a:avLst/>
            </a:prstGeom>
            <a:solidFill>
              <a:srgbClr val="C0C0C0">
                <a:alpha val="45882"/>
              </a:srgbClr>
            </a:solidFill>
            <a:ln w="25400">
              <a:solidFill>
                <a:schemeClr val="tx1"/>
              </a:solidFill>
              <a:round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8" name="Oval 51">
              <a:extLst>
                <a:ext uri="{FF2B5EF4-FFF2-40B4-BE49-F238E27FC236}">
                  <a16:creationId xmlns:a16="http://schemas.microsoft.com/office/drawing/2014/main" id="{F7B021A6-1B44-4C33-8D52-0B91179E2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2208"/>
              <a:ext cx="288" cy="288"/>
            </a:xfrm>
            <a:prstGeom prst="ellipse">
              <a:avLst/>
            </a:prstGeom>
            <a:solidFill>
              <a:srgbClr val="C0C0C0">
                <a:alpha val="45882"/>
              </a:srgbClr>
            </a:solidFill>
            <a:ln w="25400">
              <a:solidFill>
                <a:schemeClr val="tx1"/>
              </a:solidFill>
              <a:round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</a:t>
              </a:r>
              <a:r>
                <a:rPr lang="en-US" altLang="en-US" baseline="-25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</a:t>
              </a:r>
              <a:endParaRPr lang="en-US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79" name="Line 52">
              <a:extLst>
                <a:ext uri="{FF2B5EF4-FFF2-40B4-BE49-F238E27FC236}">
                  <a16:creationId xmlns:a16="http://schemas.microsoft.com/office/drawing/2014/main" id="{0FC3B650-82D8-475D-AEA8-85DD3C65A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49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80" name="Line 53">
              <a:extLst>
                <a:ext uri="{FF2B5EF4-FFF2-40B4-BE49-F238E27FC236}">
                  <a16:creationId xmlns:a16="http://schemas.microsoft.com/office/drawing/2014/main" id="{88E29D8B-63FF-4469-A47D-D83E86AD1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9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81" name="Line 54">
              <a:extLst>
                <a:ext uri="{FF2B5EF4-FFF2-40B4-BE49-F238E27FC236}">
                  <a16:creationId xmlns:a16="http://schemas.microsoft.com/office/drawing/2014/main" id="{04ED09D7-EB58-473D-BE7C-9C00BC67A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249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82" name="Rectangle 55">
              <a:extLst>
                <a:ext uri="{FF2B5EF4-FFF2-40B4-BE49-F238E27FC236}">
                  <a16:creationId xmlns:a16="http://schemas.microsoft.com/office/drawing/2014/main" id="{85E7D365-BE55-4DC8-8B9E-92F45B577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84"/>
              <a:ext cx="288" cy="240"/>
            </a:xfrm>
            <a:prstGeom prst="rect">
              <a:avLst/>
            </a:prstGeom>
            <a:solidFill>
              <a:srgbClr val="C0C0C0">
                <a:alpha val="4509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83" name="Rectangle 56">
              <a:extLst>
                <a:ext uri="{FF2B5EF4-FFF2-40B4-BE49-F238E27FC236}">
                  <a16:creationId xmlns:a16="http://schemas.microsoft.com/office/drawing/2014/main" id="{BD14EDF0-AD22-42C3-9B45-5E7062C5B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784"/>
              <a:ext cx="288" cy="240"/>
            </a:xfrm>
            <a:prstGeom prst="rect">
              <a:avLst/>
            </a:prstGeom>
            <a:solidFill>
              <a:srgbClr val="C0C0C0">
                <a:alpha val="4509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</a:t>
              </a:r>
              <a:r>
                <a:rPr lang="en-US" altLang="en-US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</a:t>
              </a:r>
              <a:endPara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584" name="Rectangle 57">
              <a:extLst>
                <a:ext uri="{FF2B5EF4-FFF2-40B4-BE49-F238E27FC236}">
                  <a16:creationId xmlns:a16="http://schemas.microsoft.com/office/drawing/2014/main" id="{8DEA35E0-A6DC-4B91-9C91-D5311E9B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2784"/>
              <a:ext cx="288" cy="240"/>
            </a:xfrm>
            <a:prstGeom prst="rect">
              <a:avLst/>
            </a:prstGeom>
            <a:solidFill>
              <a:srgbClr val="C0C0C0">
                <a:alpha val="45097"/>
              </a:srgbClr>
            </a:solidFill>
            <a:ln w="25400">
              <a:solidFill>
                <a:schemeClr val="tx1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</a:t>
              </a:r>
              <a:r>
                <a:rPr lang="en-US" altLang="en-US" baseline="-25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</a:t>
              </a:r>
              <a:endParaRPr lang="en-US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71738" name="Text Box 58">
            <a:extLst>
              <a:ext uri="{FF2B5EF4-FFF2-40B4-BE49-F238E27FC236}">
                <a16:creationId xmlns:a16="http://schemas.microsoft.com/office/drawing/2014/main" id="{72EFCCAE-2B16-4DD6-B618-2F4755D43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953000"/>
            <a:ext cx="1295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NUMA</a:t>
            </a:r>
          </a:p>
        </p:txBody>
      </p:sp>
      <p:grpSp>
        <p:nvGrpSpPr>
          <p:cNvPr id="5" name="Group 59">
            <a:extLst>
              <a:ext uri="{FF2B5EF4-FFF2-40B4-BE49-F238E27FC236}">
                <a16:creationId xmlns:a16="http://schemas.microsoft.com/office/drawing/2014/main" id="{1887F65B-E07E-4200-A1EF-F1D48349F33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891088"/>
            <a:ext cx="5638800" cy="1738312"/>
            <a:chOff x="1968" y="3081"/>
            <a:chExt cx="3552" cy="1095"/>
          </a:xfrm>
        </p:grpSpPr>
        <p:sp>
          <p:nvSpPr>
            <p:cNvPr id="23562" name="AutoShape 60">
              <a:extLst>
                <a:ext uri="{FF2B5EF4-FFF2-40B4-BE49-F238E27FC236}">
                  <a16:creationId xmlns:a16="http://schemas.microsoft.com/office/drawing/2014/main" id="{E68688CB-1240-46BC-8FFB-8BB5264AE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456"/>
              <a:ext cx="2832" cy="720"/>
            </a:xfrm>
            <a:prstGeom prst="curvedUpArrow">
              <a:avLst>
                <a:gd name="adj1" fmla="val 60912"/>
                <a:gd name="adj2" fmla="val 139579"/>
                <a:gd name="adj3" fmla="val 31111"/>
              </a:avLst>
            </a:prstGeom>
            <a:solidFill>
              <a:srgbClr val="FFCC99">
                <a:alpha val="30980"/>
              </a:srgbClr>
            </a:solidFill>
            <a:ln w="25400">
              <a:solidFill>
                <a:srgbClr val="FF0000"/>
              </a:solidFill>
              <a:miter lim="800000"/>
              <a:headEnd/>
              <a:tailEnd type="none" w="lg" len="med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3" name="Text Box 61">
              <a:extLst>
                <a:ext uri="{FF2B5EF4-FFF2-40B4-BE49-F238E27FC236}">
                  <a16:creationId xmlns:a16="http://schemas.microsoft.com/office/drawing/2014/main" id="{98769EF4-5A11-4C70-8C1D-90025EC20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81"/>
              <a:ext cx="23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rgbClr val="FF0000"/>
                  </a:solidFill>
                </a:rPr>
                <a:t>Distributed memory Arch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9" grpId="0"/>
      <p:bldP spid="71715" grpId="0"/>
      <p:bldP spid="717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>
            <a:extLst>
              <a:ext uri="{FF2B5EF4-FFF2-40B4-BE49-F238E27FC236}">
                <a16:creationId xmlns:a16="http://schemas.microsoft.com/office/drawing/2014/main" id="{7494773E-698A-4965-A1CC-C040B80063E2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838200"/>
            <a:ext cx="1295400" cy="1371600"/>
            <a:chOff x="912" y="528"/>
            <a:chExt cx="816" cy="864"/>
          </a:xfrm>
        </p:grpSpPr>
        <p:sp>
          <p:nvSpPr>
            <p:cNvPr id="24600" name="Oval 4">
              <a:extLst>
                <a:ext uri="{FF2B5EF4-FFF2-40B4-BE49-F238E27FC236}">
                  <a16:creationId xmlns:a16="http://schemas.microsoft.com/office/drawing/2014/main" id="{08D0B802-610E-45BB-935D-5ABD95D35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768"/>
              <a:ext cx="336" cy="336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P11</a:t>
              </a:r>
            </a:p>
          </p:txBody>
        </p:sp>
        <p:sp>
          <p:nvSpPr>
            <p:cNvPr id="24601" name="Oval 8">
              <a:extLst>
                <a:ext uri="{FF2B5EF4-FFF2-40B4-BE49-F238E27FC236}">
                  <a16:creationId xmlns:a16="http://schemas.microsoft.com/office/drawing/2014/main" id="{A4AAEB5A-3858-41F7-9769-2E1DB0B7F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528"/>
              <a:ext cx="336" cy="336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P12</a:t>
              </a:r>
            </a:p>
          </p:txBody>
        </p:sp>
        <p:sp>
          <p:nvSpPr>
            <p:cNvPr id="24602" name="Oval 9">
              <a:extLst>
                <a:ext uri="{FF2B5EF4-FFF2-40B4-BE49-F238E27FC236}">
                  <a16:creationId xmlns:a16="http://schemas.microsoft.com/office/drawing/2014/main" id="{FCDB8634-A692-4F5D-8409-08F9C0ED4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056"/>
              <a:ext cx="336" cy="336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P13</a:t>
              </a:r>
            </a:p>
          </p:txBody>
        </p:sp>
      </p:grpSp>
      <p:sp>
        <p:nvSpPr>
          <p:cNvPr id="76815" name="Rectangle 15">
            <a:extLst>
              <a:ext uri="{FF2B5EF4-FFF2-40B4-BE49-F238E27FC236}">
                <a16:creationId xmlns:a16="http://schemas.microsoft.com/office/drawing/2014/main" id="{3C70600C-B16C-4A3A-9B32-CACEBD201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762000"/>
            <a:ext cx="2362200" cy="16002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F4537924-32F3-4E83-8DA1-94FDCA686D4D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914400"/>
            <a:ext cx="2133600" cy="1295400"/>
            <a:chOff x="3504" y="576"/>
            <a:chExt cx="1344" cy="816"/>
          </a:xfrm>
        </p:grpSpPr>
        <p:sp>
          <p:nvSpPr>
            <p:cNvPr id="24596" name="Oval 10">
              <a:extLst>
                <a:ext uri="{FF2B5EF4-FFF2-40B4-BE49-F238E27FC236}">
                  <a16:creationId xmlns:a16="http://schemas.microsoft.com/office/drawing/2014/main" id="{C10C0166-84F2-40AF-98F6-28C09A7A8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576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P22</a:t>
              </a:r>
            </a:p>
          </p:txBody>
        </p:sp>
        <p:sp>
          <p:nvSpPr>
            <p:cNvPr id="24597" name="Oval 12">
              <a:extLst>
                <a:ext uri="{FF2B5EF4-FFF2-40B4-BE49-F238E27FC236}">
                  <a16:creationId xmlns:a16="http://schemas.microsoft.com/office/drawing/2014/main" id="{B09A9293-71CD-4258-AFAC-04F281003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576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P21</a:t>
              </a:r>
            </a:p>
          </p:txBody>
        </p:sp>
        <p:sp>
          <p:nvSpPr>
            <p:cNvPr id="24598" name="Oval 13">
              <a:extLst>
                <a:ext uri="{FF2B5EF4-FFF2-40B4-BE49-F238E27FC236}">
                  <a16:creationId xmlns:a16="http://schemas.microsoft.com/office/drawing/2014/main" id="{74C02105-0A3D-4BC8-AFFE-2D20AD870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576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P23</a:t>
              </a:r>
            </a:p>
          </p:txBody>
        </p:sp>
        <p:sp>
          <p:nvSpPr>
            <p:cNvPr id="24599" name="Oval 14">
              <a:extLst>
                <a:ext uri="{FF2B5EF4-FFF2-40B4-BE49-F238E27FC236}">
                  <a16:creationId xmlns:a16="http://schemas.microsoft.com/office/drawing/2014/main" id="{F4B112CF-4A60-4E96-AFBB-A97DBB7C5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056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P24</a:t>
              </a:r>
            </a:p>
          </p:txBody>
        </p:sp>
      </p:grpSp>
      <p:sp>
        <p:nvSpPr>
          <p:cNvPr id="76816" name="Rectangle 16">
            <a:extLst>
              <a:ext uri="{FF2B5EF4-FFF2-40B4-BE49-F238E27FC236}">
                <a16:creationId xmlns:a16="http://schemas.microsoft.com/office/drawing/2014/main" id="{FC27CBEC-93F2-4A63-977E-FAE0CFC8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838200"/>
            <a:ext cx="2362200" cy="1447800"/>
          </a:xfrm>
          <a:prstGeom prst="rect">
            <a:avLst/>
          </a:prstGeom>
          <a:solidFill>
            <a:srgbClr val="FF0000">
              <a:alpha val="10196"/>
            </a:srgb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17" name="Rectangle 17">
            <a:extLst>
              <a:ext uri="{FF2B5EF4-FFF2-40B4-BE49-F238E27FC236}">
                <a16:creationId xmlns:a16="http://schemas.microsoft.com/office/drawing/2014/main" id="{181CAF05-54C6-463B-99FA-183133F2D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0"/>
            <a:ext cx="2514600" cy="1447800"/>
          </a:xfrm>
          <a:prstGeom prst="rect">
            <a:avLst/>
          </a:prstGeom>
          <a:solidFill>
            <a:srgbClr val="CCFFCC">
              <a:alpha val="10196"/>
            </a:srgb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" name="Group 45">
            <a:extLst>
              <a:ext uri="{FF2B5EF4-FFF2-40B4-BE49-F238E27FC236}">
                <a16:creationId xmlns:a16="http://schemas.microsoft.com/office/drawing/2014/main" id="{ADDAA83E-6B8D-4103-975B-31AFFF148B8F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4724400"/>
            <a:ext cx="1447800" cy="609600"/>
            <a:chOff x="2400" y="2976"/>
            <a:chExt cx="912" cy="384"/>
          </a:xfrm>
        </p:grpSpPr>
        <p:sp>
          <p:nvSpPr>
            <p:cNvPr id="24594" name="Oval 19">
              <a:extLst>
                <a:ext uri="{FF2B5EF4-FFF2-40B4-BE49-F238E27FC236}">
                  <a16:creationId xmlns:a16="http://schemas.microsoft.com/office/drawing/2014/main" id="{89CC007B-CF8F-498A-8935-C586A26D8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024"/>
              <a:ext cx="336" cy="33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P31</a:t>
              </a:r>
            </a:p>
          </p:txBody>
        </p:sp>
        <p:sp>
          <p:nvSpPr>
            <p:cNvPr id="24595" name="Oval 20">
              <a:extLst>
                <a:ext uri="{FF2B5EF4-FFF2-40B4-BE49-F238E27FC236}">
                  <a16:creationId xmlns:a16="http://schemas.microsoft.com/office/drawing/2014/main" id="{59252C4F-FE9E-4164-9961-5E5BCAE4C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976"/>
              <a:ext cx="336" cy="33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P32</a:t>
              </a:r>
            </a:p>
          </p:txBody>
        </p:sp>
      </p:grpSp>
      <p:grpSp>
        <p:nvGrpSpPr>
          <p:cNvPr id="5" name="Group 30">
            <a:extLst>
              <a:ext uri="{FF2B5EF4-FFF2-40B4-BE49-F238E27FC236}">
                <a16:creationId xmlns:a16="http://schemas.microsoft.com/office/drawing/2014/main" id="{3BF30F26-EFCA-4C8E-89CD-413AEAB016B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286000"/>
            <a:ext cx="7239000" cy="2286000"/>
            <a:chOff x="576" y="1440"/>
            <a:chExt cx="4560" cy="1440"/>
          </a:xfrm>
        </p:grpSpPr>
        <p:sp>
          <p:nvSpPr>
            <p:cNvPr id="24590" name="AutoShape 22">
              <a:extLst>
                <a:ext uri="{FF2B5EF4-FFF2-40B4-BE49-F238E27FC236}">
                  <a16:creationId xmlns:a16="http://schemas.microsoft.com/office/drawing/2014/main" id="{16F8B22F-9A38-404A-A43B-A3FA39483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24"/>
              <a:ext cx="4560" cy="240"/>
            </a:xfrm>
            <a:prstGeom prst="flowChartPunchedTape">
              <a:avLst/>
            </a:prstGeom>
            <a:solidFill>
              <a:srgbClr val="CC99FF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591" name="Line 27">
              <a:extLst>
                <a:ext uri="{FF2B5EF4-FFF2-40B4-BE49-F238E27FC236}">
                  <a16:creationId xmlns:a16="http://schemas.microsoft.com/office/drawing/2014/main" id="{EA62BEF5-84C6-4984-BD36-8EA14ECE5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Line 28">
              <a:extLst>
                <a:ext uri="{FF2B5EF4-FFF2-40B4-BE49-F238E27FC236}">
                  <a16:creationId xmlns:a16="http://schemas.microsoft.com/office/drawing/2014/main" id="{B528E569-8194-4FCF-973B-A812351DA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4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Line 29">
              <a:extLst>
                <a:ext uri="{FF2B5EF4-FFF2-40B4-BE49-F238E27FC236}">
                  <a16:creationId xmlns:a16="http://schemas.microsoft.com/office/drawing/2014/main" id="{9C7D5ED0-B7E6-4AF1-893B-815C45FBB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064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41">
            <a:extLst>
              <a:ext uri="{FF2B5EF4-FFF2-40B4-BE49-F238E27FC236}">
                <a16:creationId xmlns:a16="http://schemas.microsoft.com/office/drawing/2014/main" id="{6397E721-D4AB-4E83-93D7-2EBB759FAAC6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286000"/>
            <a:ext cx="3429000" cy="2286000"/>
            <a:chOff x="1776" y="1440"/>
            <a:chExt cx="2160" cy="1440"/>
          </a:xfrm>
        </p:grpSpPr>
        <p:sp>
          <p:nvSpPr>
            <p:cNvPr id="24586" name="Cloud">
              <a:extLst>
                <a:ext uri="{FF2B5EF4-FFF2-40B4-BE49-F238E27FC236}">
                  <a16:creationId xmlns:a16="http://schemas.microsoft.com/office/drawing/2014/main" id="{39E049D2-2151-426F-916F-6E349F1222CA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2016" y="1581"/>
              <a:ext cx="1728" cy="1158"/>
            </a:xfrm>
            <a:custGeom>
              <a:avLst/>
              <a:gdLst>
                <a:gd name="T0" fmla="*/ 0 w 21600"/>
                <a:gd name="T1" fmla="*/ 31 h 21600"/>
                <a:gd name="T2" fmla="*/ 69 w 21600"/>
                <a:gd name="T3" fmla="*/ 62 h 21600"/>
                <a:gd name="T4" fmla="*/ 138 w 21600"/>
                <a:gd name="T5" fmla="*/ 31 h 21600"/>
                <a:gd name="T6" fmla="*/ 69 w 21600"/>
                <a:gd name="T7" fmla="*/ 4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5 w 21600"/>
                <a:gd name="T13" fmla="*/ 3264 h 21600"/>
                <a:gd name="T14" fmla="*/ 17088 w 21600"/>
                <a:gd name="T15" fmla="*/ 173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  <a:p>
              <a:pPr algn="ctr" eaLnBrk="1" hangingPunct="1"/>
              <a:r>
                <a:rPr lang="en-US" altLang="en-US"/>
                <a:t>Network</a:t>
              </a:r>
            </a:p>
          </p:txBody>
        </p:sp>
        <p:sp>
          <p:nvSpPr>
            <p:cNvPr id="24587" name="Line 37">
              <a:extLst>
                <a:ext uri="{FF2B5EF4-FFF2-40B4-BE49-F238E27FC236}">
                  <a16:creationId xmlns:a16="http://schemas.microsoft.com/office/drawing/2014/main" id="{229F393D-E76C-49E2-BD7C-BEDCA8B14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488"/>
              <a:ext cx="57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Line 38">
              <a:extLst>
                <a:ext uri="{FF2B5EF4-FFF2-40B4-BE49-F238E27FC236}">
                  <a16:creationId xmlns:a16="http://schemas.microsoft.com/office/drawing/2014/main" id="{C01D8651-BFA4-41FB-B81E-157E8BFA2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440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Line 39">
              <a:extLst>
                <a:ext uri="{FF2B5EF4-FFF2-40B4-BE49-F238E27FC236}">
                  <a16:creationId xmlns:a16="http://schemas.microsoft.com/office/drawing/2014/main" id="{E9854664-78FE-4B8D-B6A5-26D5FCD94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3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5" grpId="0" animBg="1"/>
      <p:bldP spid="76816" grpId="0" animBg="1"/>
      <p:bldP spid="76817" grpId="0" animBg="1"/>
    </p:bld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Words>338</Words>
  <Application>Microsoft Office PowerPoint</Application>
  <PresentationFormat>On-screen Show (4:3)</PresentationFormat>
  <Paragraphs>92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Comic Sans MS</vt:lpstr>
      <vt:lpstr>Gill Sans MT</vt:lpstr>
      <vt:lpstr>Monotype Corsiva</vt:lpstr>
      <vt:lpstr>Times New Roman</vt:lpstr>
      <vt:lpstr>8_Blank</vt:lpstr>
      <vt:lpstr>System</vt:lpstr>
      <vt:lpstr>Attributes of a Distributed System</vt:lpstr>
      <vt:lpstr>Schroeder’s Definition</vt:lpstr>
      <vt:lpstr>Enslow’s Definition</vt:lpstr>
      <vt:lpstr>Hardware</vt:lpstr>
      <vt:lpstr>Control</vt:lpstr>
      <vt:lpstr>Data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30</cp:revision>
  <dcterms:modified xsi:type="dcterms:W3CDTF">2025-04-07T11:22:12Z</dcterms:modified>
</cp:coreProperties>
</file>