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8" r:id="rId1"/>
  </p:sldMasterIdLst>
  <p:notesMasterIdLst>
    <p:notesMasterId r:id="rId8"/>
  </p:notesMasterIdLst>
  <p:handoutMasterIdLst>
    <p:handoutMasterId r:id="rId9"/>
  </p:handoutMasterIdLst>
  <p:sldIdLst>
    <p:sldId id="293" r:id="rId2"/>
    <p:sldId id="298" r:id="rId3"/>
    <p:sldId id="287" r:id="rId4"/>
    <p:sldId id="288" r:id="rId5"/>
    <p:sldId id="299" r:id="rId6"/>
    <p:sldId id="297" r:id="rId7"/>
  </p:sldIdLst>
  <p:sldSz cx="9144000" cy="6858000" type="screen4x3"/>
  <p:notesSz cx="6805613" cy="99441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F77E56C-7D47-4C29-AAEB-9FD71A0A3F1F}">
  <a:tblStyle styleId="{8F77E56C-7D47-4C29-AAEB-9FD71A0A3F1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</a:tblStyle>
  <a:tblStyle styleId="{1562F7F7-E2AF-42E1-A3D0-5D2B67903BC4}" styleName="Table_1"/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7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97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E9B4E-3786-43E4-ADC0-DE2945E09898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9563C-2CF4-4AF1-9C09-67033D314C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318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54939" y="0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6125"/>
            <a:ext cx="4972049" cy="37290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0562" y="4723448"/>
            <a:ext cx="5444489" cy="447484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54939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>
            <a:spLocks noGrp="1"/>
          </p:cNvSpPr>
          <p:nvPr>
            <p:ph type="title"/>
          </p:nvPr>
        </p:nvSpPr>
        <p:spPr>
          <a:xfrm>
            <a:off x="121505" y="260796"/>
            <a:ext cx="6526336" cy="5966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lvl="5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lvl="6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lvl="7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lvl="8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bg>
      <p:bgPr>
        <a:blipFill rotWithShape="1"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2514603" y="3810003"/>
            <a:ext cx="6019799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l" rtl="0">
              <a:lnSpc>
                <a:spcPct val="90909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3042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/>
          <p:nvPr/>
        </p:nvSpPr>
        <p:spPr>
          <a:xfrm>
            <a:off x="8246615" y="37254"/>
            <a:ext cx="670613" cy="124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Shape 162"/>
          <p:cNvSpPr txBox="1">
            <a:spLocks noGrp="1"/>
          </p:cNvSpPr>
          <p:nvPr>
            <p:ph type="body" idx="1"/>
          </p:nvPr>
        </p:nvSpPr>
        <p:spPr>
          <a:xfrm>
            <a:off x="159604" y="1152465"/>
            <a:ext cx="8833823" cy="501020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197272" marR="0" lvl="1" indent="-7027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▪"/>
              <a:defRPr/>
            </a:lvl2pPr>
            <a:lvl3pPr marL="465681" marR="0" lvl="2" indent="-15326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–"/>
              <a:defRPr/>
            </a:lvl3pPr>
            <a:lvl4pPr marL="625773" marR="0" lvl="3" indent="-46653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▫"/>
              <a:defRPr/>
            </a:lvl4pPr>
            <a:lvl5pPr marL="763733" marR="0" lvl="4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5pPr>
            <a:lvl6pPr marL="763733" marR="0" lvl="5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6pPr>
            <a:lvl7pPr marL="763733" marR="0" lvl="6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7pPr>
            <a:lvl8pPr marL="763733" marR="0" lvl="7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8pPr>
            <a:lvl9pPr marL="763733" marR="0" lvl="8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9pPr>
          </a:lstStyle>
          <a:p>
            <a:endParaRPr dirty="0"/>
          </a:p>
        </p:txBody>
      </p:sp>
      <p:sp>
        <p:nvSpPr>
          <p:cNvPr id="163" name="Shape 163"/>
          <p:cNvSpPr txBox="1">
            <a:spLocks noGrp="1"/>
          </p:cNvSpPr>
          <p:nvPr>
            <p:ph type="title"/>
          </p:nvPr>
        </p:nvSpPr>
        <p:spPr>
          <a:xfrm>
            <a:off x="159604" y="151603"/>
            <a:ext cx="6526336" cy="5966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1" y="6785609"/>
            <a:ext cx="9144000" cy="72389"/>
            <a:chOff x="1998227" y="6500996"/>
            <a:chExt cx="7153215" cy="46648"/>
          </a:xfrm>
        </p:grpSpPr>
        <p:sp>
          <p:nvSpPr>
            <p:cNvPr id="170" name="Shape 170"/>
            <p:cNvSpPr/>
            <p:nvPr/>
          </p:nvSpPr>
          <p:spPr>
            <a:xfrm>
              <a:off x="4408551" y="6500996"/>
              <a:ext cx="2376028" cy="4664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Shape 171"/>
            <p:cNvSpPr/>
            <p:nvPr/>
          </p:nvSpPr>
          <p:spPr>
            <a:xfrm>
              <a:off x="1998227" y="6500996"/>
              <a:ext cx="2410322" cy="4664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Shape 172"/>
            <p:cNvSpPr/>
            <p:nvPr/>
          </p:nvSpPr>
          <p:spPr>
            <a:xfrm>
              <a:off x="6775414" y="6500996"/>
              <a:ext cx="2376028" cy="466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" name="Shape 18" descr="BITS_university_logo_whitevert.png"/>
          <p:cNvPicPr preferRelativeResize="0"/>
          <p:nvPr userDrawn="1"/>
        </p:nvPicPr>
        <p:blipFill rotWithShape="1">
          <a:blip r:embed="rId4">
            <a:alphaModFix/>
          </a:blip>
          <a:srcRect t="2" b="28592"/>
          <a:stretch/>
        </p:blipFill>
        <p:spPr>
          <a:xfrm>
            <a:off x="8138322" y="23045"/>
            <a:ext cx="939004" cy="90367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Shape 184"/>
          <p:cNvSpPr txBox="1"/>
          <p:nvPr userDrawn="1"/>
        </p:nvSpPr>
        <p:spPr>
          <a:xfrm>
            <a:off x="8095553" y="841751"/>
            <a:ext cx="1024542" cy="26429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12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Marker">
            <a:extLst>
              <a:ext uri="{FF2B5EF4-FFF2-40B4-BE49-F238E27FC236}">
                <a16:creationId xmlns:a16="http://schemas.microsoft.com/office/drawing/2014/main" id="{CEC6C158-C6DB-4FC4-A332-066EFFF23E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9751" y="1793790"/>
            <a:ext cx="914400" cy="914400"/>
          </a:xfrm>
          <a:prstGeom prst="rect">
            <a:avLst/>
          </a:prstGeom>
        </p:spPr>
      </p:pic>
      <p:pic>
        <p:nvPicPr>
          <p:cNvPr id="6" name="Graphic 5" descr="Marker">
            <a:extLst>
              <a:ext uri="{FF2B5EF4-FFF2-40B4-BE49-F238E27FC236}">
                <a16:creationId xmlns:a16="http://schemas.microsoft.com/office/drawing/2014/main" id="{4C4B778C-1850-48A7-854A-5F5D7DE044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6414" y="4450493"/>
            <a:ext cx="914400" cy="914400"/>
          </a:xfrm>
          <a:prstGeom prst="rect">
            <a:avLst/>
          </a:prstGeom>
        </p:spPr>
      </p:pic>
      <p:pic>
        <p:nvPicPr>
          <p:cNvPr id="7" name="Graphic 6" descr="Marker">
            <a:extLst>
              <a:ext uri="{FF2B5EF4-FFF2-40B4-BE49-F238E27FC236}">
                <a16:creationId xmlns:a16="http://schemas.microsoft.com/office/drawing/2014/main" id="{785FF94C-B9C4-4E18-B8E9-F85180E277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0566" y="1336590"/>
            <a:ext cx="914400" cy="914400"/>
          </a:xfrm>
          <a:prstGeom prst="rect">
            <a:avLst/>
          </a:prstGeom>
        </p:spPr>
      </p:pic>
      <p:pic>
        <p:nvPicPr>
          <p:cNvPr id="8" name="Graphic 7" descr="Marker">
            <a:extLst>
              <a:ext uri="{FF2B5EF4-FFF2-40B4-BE49-F238E27FC236}">
                <a16:creationId xmlns:a16="http://schemas.microsoft.com/office/drawing/2014/main" id="{68BE0428-C671-443F-BA0D-7A7940AD1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64231" y="4075671"/>
            <a:ext cx="914400" cy="914400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023DECE5-7261-4EAE-8FDF-EBC39157B0B6}"/>
              </a:ext>
            </a:extLst>
          </p:cNvPr>
          <p:cNvSpPr txBox="1">
            <a:spLocks/>
          </p:cNvSpPr>
          <p:nvPr/>
        </p:nvSpPr>
        <p:spPr>
          <a:xfrm>
            <a:off x="282143" y="237490"/>
            <a:ext cx="6526336" cy="82659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Habitat Monitoring</a:t>
            </a:r>
          </a:p>
        </p:txBody>
      </p:sp>
      <p:pic>
        <p:nvPicPr>
          <p:cNvPr id="10" name="Graphic 9" descr="Rabbit">
            <a:extLst>
              <a:ext uri="{FF2B5EF4-FFF2-40B4-BE49-F238E27FC236}">
                <a16:creationId xmlns:a16="http://schemas.microsoft.com/office/drawing/2014/main" id="{63707A44-09A0-4146-A609-1BD0D2F554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06414" y="3388190"/>
            <a:ext cx="914400" cy="914400"/>
          </a:xfrm>
          <a:prstGeom prst="rect">
            <a:avLst/>
          </a:prstGeom>
        </p:spPr>
      </p:pic>
      <p:pic>
        <p:nvPicPr>
          <p:cNvPr id="12" name="Graphic 11" descr="Marker">
            <a:extLst>
              <a:ext uri="{FF2B5EF4-FFF2-40B4-BE49-F238E27FC236}">
                <a16:creationId xmlns:a16="http://schemas.microsoft.com/office/drawing/2014/main" id="{AE6508CB-E17B-47A5-92C8-7A9511ED32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02292" y="4438133"/>
            <a:ext cx="914400" cy="914400"/>
          </a:xfrm>
          <a:prstGeom prst="rect">
            <a:avLst/>
          </a:prstGeom>
        </p:spPr>
      </p:pic>
      <p:pic>
        <p:nvPicPr>
          <p:cNvPr id="13" name="Graphic 12" descr="Map compass">
            <a:extLst>
              <a:ext uri="{FF2B5EF4-FFF2-40B4-BE49-F238E27FC236}">
                <a16:creationId xmlns:a16="http://schemas.microsoft.com/office/drawing/2014/main" id="{1DACD325-7BEB-4AEA-BFF9-F86590AB60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05016" y="3710395"/>
            <a:ext cx="914400" cy="914400"/>
          </a:xfrm>
          <a:prstGeom prst="rect">
            <a:avLst/>
          </a:prstGeom>
        </p:spPr>
      </p:pic>
      <p:pic>
        <p:nvPicPr>
          <p:cNvPr id="15" name="Graphic 14" descr="Watch">
            <a:extLst>
              <a:ext uri="{FF2B5EF4-FFF2-40B4-BE49-F238E27FC236}">
                <a16:creationId xmlns:a16="http://schemas.microsoft.com/office/drawing/2014/main" id="{7368698B-EBC8-4D2F-914C-5005E30F393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05016" y="474087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728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Localization??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E40798-B41E-48C6-A643-BD71433B88BD}"/>
              </a:ext>
            </a:extLst>
          </p:cNvPr>
          <p:cNvSpPr txBox="1"/>
          <p:nvPr/>
        </p:nvSpPr>
        <p:spPr>
          <a:xfrm>
            <a:off x="304801" y="2434150"/>
            <a:ext cx="7883610" cy="178751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All nodes in the network have an idea about their absolute/relative position</a:t>
            </a:r>
          </a:p>
        </p:txBody>
      </p:sp>
    </p:spTree>
    <p:extLst>
      <p:ext uri="{BB962C8B-B14F-4D97-AF65-F5344CB8AC3E}">
        <p14:creationId xmlns:p14="http://schemas.microsoft.com/office/powerpoint/2010/main" val="2336022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Localization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5AA88E-A27D-4FF5-8340-7DEA020CB2FB}"/>
              </a:ext>
            </a:extLst>
          </p:cNvPr>
          <p:cNvSpPr txBox="1"/>
          <p:nvPr/>
        </p:nvSpPr>
        <p:spPr>
          <a:xfrm>
            <a:off x="247137" y="934586"/>
            <a:ext cx="8155458" cy="548268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Dynamic environment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Hundreds of sensors are placed randomly – over a large area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Initial location of the nodes may been unknown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Estimation of a nodes position used </a:t>
            </a:r>
          </a:p>
          <a:p>
            <a:pPr marL="914400" indent="-4032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Measurement without position is useless</a:t>
            </a:r>
          </a:p>
          <a:p>
            <a:pPr marL="914400" indent="-4032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Allows energy efficient geographic routing</a:t>
            </a:r>
          </a:p>
          <a:p>
            <a:pPr marL="914400" indent="-4032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Self-organization and  Self- healing is easier</a:t>
            </a:r>
          </a:p>
          <a:p>
            <a:pPr marL="914400" indent="-4032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Obstacles can be found and by-passed</a:t>
            </a:r>
          </a:p>
          <a:p>
            <a:pPr marL="914400" indent="-4032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Tracking – Measurement itself</a:t>
            </a:r>
          </a:p>
        </p:txBody>
      </p:sp>
    </p:spTree>
    <p:extLst>
      <p:ext uri="{BB962C8B-B14F-4D97-AF65-F5344CB8AC3E}">
        <p14:creationId xmlns:p14="http://schemas.microsoft.com/office/powerpoint/2010/main" val="719883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" dur="5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0" dur="500" fill="hold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4" dur="500" fill="hold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8" dur="500" fill="hold"/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Position Estimation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5AA88E-A27D-4FF5-8340-7DEA020CB2FB}"/>
              </a:ext>
            </a:extLst>
          </p:cNvPr>
          <p:cNvSpPr txBox="1"/>
          <p:nvPr/>
        </p:nvSpPr>
        <p:spPr>
          <a:xfrm>
            <a:off x="230660" y="2000429"/>
            <a:ext cx="8155458" cy="406262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Not possible to equip every node with GPS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Anchors, beacons, landmark nodes</a:t>
            </a:r>
          </a:p>
          <a:p>
            <a:pPr marL="914400" indent="-4524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Triangulation</a:t>
            </a:r>
          </a:p>
          <a:p>
            <a:pPr marL="914400" indent="-4524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Tri-</a:t>
            </a:r>
            <a:r>
              <a:rPr lang="en-IN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Lateration</a:t>
            </a:r>
            <a:endParaRPr lang="en-I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indent="-4524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Multi-</a:t>
            </a:r>
            <a:r>
              <a:rPr lang="en-IN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Lateration</a:t>
            </a:r>
            <a:endParaRPr lang="en-I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537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18A9338-7B34-4F26-975A-12B0DA666AC2}"/>
              </a:ext>
            </a:extLst>
          </p:cNvPr>
          <p:cNvSpPr/>
          <p:nvPr/>
        </p:nvSpPr>
        <p:spPr>
          <a:xfrm>
            <a:off x="2362200" y="960437"/>
            <a:ext cx="4191000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onstantia"/>
              </a:rPr>
              <a:t>Method to estimate distances based on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AA5424-906B-49ED-A6A6-E5E8F527E5A2}"/>
              </a:ext>
            </a:extLst>
          </p:cNvPr>
          <p:cNvSpPr/>
          <p:nvPr/>
        </p:nvSpPr>
        <p:spPr>
          <a:xfrm>
            <a:off x="3200400" y="2941637"/>
            <a:ext cx="2667000" cy="838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onstantia"/>
              </a:rPr>
              <a:t>Signal Attenuation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8B2301-C44B-4E8B-835A-9D5B8E654B75}"/>
              </a:ext>
            </a:extLst>
          </p:cNvPr>
          <p:cNvSpPr/>
          <p:nvPr/>
        </p:nvSpPr>
        <p:spPr>
          <a:xfrm>
            <a:off x="762000" y="2941637"/>
            <a:ext cx="2286000" cy="838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onstantia"/>
              </a:rPr>
              <a:t>Time Period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04396F-20AD-4028-83F7-970D5294F7CB}"/>
              </a:ext>
            </a:extLst>
          </p:cNvPr>
          <p:cNvSpPr/>
          <p:nvPr/>
        </p:nvSpPr>
        <p:spPr>
          <a:xfrm>
            <a:off x="6019800" y="2941637"/>
            <a:ext cx="2286000" cy="838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onstantia"/>
              </a:rPr>
              <a:t>Neighborhood Information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C375C4-B8EC-4E9B-9A22-728B01C16F07}"/>
              </a:ext>
            </a:extLst>
          </p:cNvPr>
          <p:cNvCxnSpPr/>
          <p:nvPr/>
        </p:nvCxnSpPr>
        <p:spPr>
          <a:xfrm>
            <a:off x="1371600" y="2408237"/>
            <a:ext cx="60198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1E00CE5-8752-4CC6-BF69-B7343B0FC1A3}"/>
              </a:ext>
            </a:extLst>
          </p:cNvPr>
          <p:cNvCxnSpPr/>
          <p:nvPr/>
        </p:nvCxnSpPr>
        <p:spPr>
          <a:xfrm rot="5400000">
            <a:off x="4153694" y="2142331"/>
            <a:ext cx="533400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A0A9FD9-C52A-4B82-AA53-77F2DEE8B33B}"/>
              </a:ext>
            </a:extLst>
          </p:cNvPr>
          <p:cNvCxnSpPr/>
          <p:nvPr/>
        </p:nvCxnSpPr>
        <p:spPr>
          <a:xfrm rot="5400000">
            <a:off x="4153694" y="2674143"/>
            <a:ext cx="533400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113E3D6-54C4-4391-8D8D-3A1BA6F9D93D}"/>
              </a:ext>
            </a:extLst>
          </p:cNvPr>
          <p:cNvCxnSpPr/>
          <p:nvPr/>
        </p:nvCxnSpPr>
        <p:spPr>
          <a:xfrm rot="5400000">
            <a:off x="7123907" y="2674143"/>
            <a:ext cx="533400" cy="1587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4FC2506-0E49-4E35-ACA2-E1FFDE9DECE8}"/>
              </a:ext>
            </a:extLst>
          </p:cNvPr>
          <p:cNvCxnSpPr/>
          <p:nvPr/>
        </p:nvCxnSpPr>
        <p:spPr>
          <a:xfrm rot="5400000">
            <a:off x="1104107" y="2674143"/>
            <a:ext cx="533400" cy="1587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128ECBA-1E7F-4889-A726-531F29C4F164}"/>
              </a:ext>
            </a:extLst>
          </p:cNvPr>
          <p:cNvSpPr txBox="1"/>
          <p:nvPr/>
        </p:nvSpPr>
        <p:spPr>
          <a:xfrm>
            <a:off x="914400" y="4008437"/>
            <a:ext cx="2133600" cy="7848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225425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/>
              </a:rPr>
              <a:t>ToA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tantia"/>
            </a:endParaRPr>
          </a:p>
          <a:p>
            <a:pPr marL="0" marR="0" lvl="0" indent="225425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/>
              </a:rPr>
              <a:t>TDoA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tanti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F4ADB2-CABC-4FE4-9F0A-9415F0E4C86D}"/>
              </a:ext>
            </a:extLst>
          </p:cNvPr>
          <p:cNvSpPr txBox="1"/>
          <p:nvPr/>
        </p:nvSpPr>
        <p:spPr>
          <a:xfrm>
            <a:off x="3505200" y="4008437"/>
            <a:ext cx="2133600" cy="784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225425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B9CA1A">
                    <a:lumMod val="75000"/>
                  </a:srgbClr>
                </a:solidFill>
                <a:effectLst/>
                <a:uLnTx/>
                <a:uFillTx/>
                <a:latin typeface="Constantia"/>
              </a:rPr>
              <a:t> RSS</a:t>
            </a:r>
          </a:p>
          <a:p>
            <a:pPr marL="0" marR="0" lvl="0" indent="225425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B9CA1A">
                    <a:lumMod val="75000"/>
                  </a:srgbClr>
                </a:solidFill>
                <a:effectLst/>
                <a:uLnTx/>
                <a:uFillTx/>
                <a:latin typeface="Constantia"/>
              </a:rPr>
              <a:t>MTP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B9CA1A">
                  <a:lumMod val="75000"/>
                </a:srgbClr>
              </a:solidFill>
              <a:effectLst/>
              <a:uLnTx/>
              <a:uFillTx/>
              <a:latin typeface="Constanti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27980D-8341-453C-86AE-421D8C17049A}"/>
              </a:ext>
            </a:extLst>
          </p:cNvPr>
          <p:cNvSpPr txBox="1"/>
          <p:nvPr/>
        </p:nvSpPr>
        <p:spPr>
          <a:xfrm>
            <a:off x="6324600" y="4008437"/>
            <a:ext cx="2133600" cy="7848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225425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tantia"/>
              </a:rPr>
              <a:t>Connectivity</a:t>
            </a:r>
          </a:p>
          <a:p>
            <a:pPr marL="0" marR="0" lvl="0" indent="225425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tantia"/>
              </a:rPr>
              <a:t>Hop Count</a:t>
            </a:r>
          </a:p>
        </p:txBody>
      </p:sp>
    </p:spTree>
    <p:extLst>
      <p:ext uri="{BB962C8B-B14F-4D97-AF65-F5344CB8AC3E}">
        <p14:creationId xmlns:p14="http://schemas.microsoft.com/office/powerpoint/2010/main" val="1699114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2" grpId="0"/>
      <p:bldP spid="13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CD843F6-AFFC-4B68-8071-A849F77682FB}"/>
              </a:ext>
            </a:extLst>
          </p:cNvPr>
          <p:cNvSpPr txBox="1">
            <a:spLocks/>
          </p:cNvSpPr>
          <p:nvPr/>
        </p:nvSpPr>
        <p:spPr>
          <a:xfrm>
            <a:off x="500446" y="400840"/>
            <a:ext cx="6526336" cy="82659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Localization– Modes of Operation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0BF0B3-7131-487A-B408-F13DB2C4BA07}"/>
              </a:ext>
            </a:extLst>
          </p:cNvPr>
          <p:cNvSpPr txBox="1"/>
          <p:nvPr/>
        </p:nvSpPr>
        <p:spPr>
          <a:xfrm>
            <a:off x="352165" y="2110620"/>
            <a:ext cx="8155458" cy="212362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Initialization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Calibri" panose="020F0502020204030204" pitchFamily="34" charset="0"/>
                <a:cs typeface="Calibri" panose="020F0502020204030204" pitchFamily="34" charset="0"/>
              </a:rPr>
              <a:t>Post – Deployment Operation </a:t>
            </a:r>
            <a:r>
              <a:rPr lang="en-IN" sz="2800">
                <a:latin typeface="Calibri" panose="020F0502020204030204" pitchFamily="34" charset="0"/>
                <a:cs typeface="Calibri" panose="020F0502020204030204" pitchFamily="34" charset="0"/>
              </a:rPr>
              <a:t>- Mobile</a:t>
            </a:r>
            <a:endParaRPr lang="en-I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395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8_Blank">
  <a:themeElements>
    <a:clrScheme name="Bits">
      <a:dk1>
        <a:srgbClr val="000000"/>
      </a:dk1>
      <a:lt1>
        <a:srgbClr val="FFFFFF"/>
      </a:lt1>
      <a:dk2>
        <a:srgbClr val="002960"/>
      </a:dk2>
      <a:lt2>
        <a:srgbClr val="FFFFFF"/>
      </a:lt2>
      <a:accent1>
        <a:srgbClr val="FCB017"/>
      </a:accent1>
      <a:accent2>
        <a:srgbClr val="76C2E5"/>
      </a:accent2>
      <a:accent3>
        <a:srgbClr val="FF0000"/>
      </a:accent3>
      <a:accent4>
        <a:srgbClr val="002960"/>
      </a:accent4>
      <a:accent5>
        <a:srgbClr val="FF6600"/>
      </a:accent5>
      <a:accent6>
        <a:srgbClr val="808080"/>
      </a:accent6>
      <a:hlink>
        <a:srgbClr val="FF0000"/>
      </a:hlink>
      <a:folHlink>
        <a:srgbClr val="00296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lIns="91425" tIns="91425" rIns="91425" bIns="91425" anchor="b" anchorCtr="0"/>
      <a:lstStyle>
        <a:defPPr>
          <a:defRPr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781</TotalTime>
  <Words>124</Words>
  <Application>Microsoft Office PowerPoint</Application>
  <PresentationFormat>On-screen Show (4:3)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Constantia</vt:lpstr>
      <vt:lpstr>8_Blank</vt:lpstr>
      <vt:lpstr>PowerPoint Presentation</vt:lpstr>
      <vt:lpstr>Localization??</vt:lpstr>
      <vt:lpstr>Localization</vt:lpstr>
      <vt:lpstr>Position Estimation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WILP Transformation  Work Stream  Update in WSLM 14: MAY 27, 2015</dc:title>
  <dc:creator>Clarance Suman Vissakodeti</dc:creator>
  <cp:lastModifiedBy>Abid AK</cp:lastModifiedBy>
  <cp:revision>54</cp:revision>
  <dcterms:modified xsi:type="dcterms:W3CDTF">2025-04-17T12:04:55Z</dcterms:modified>
</cp:coreProperties>
</file>