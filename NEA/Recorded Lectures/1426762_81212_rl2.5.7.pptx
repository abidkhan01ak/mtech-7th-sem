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5"/>
  </p:notesMasterIdLst>
  <p:handoutMasterIdLst>
    <p:handoutMasterId r:id="rId16"/>
  </p:handoutMasterIdLst>
  <p:sldIdLst>
    <p:sldId id="298" r:id="rId2"/>
    <p:sldId id="600" r:id="rId3"/>
    <p:sldId id="602" r:id="rId4"/>
    <p:sldId id="603" r:id="rId5"/>
    <p:sldId id="604" r:id="rId6"/>
    <p:sldId id="609" r:id="rId7"/>
    <p:sldId id="610" r:id="rId8"/>
    <p:sldId id="611" r:id="rId9"/>
    <p:sldId id="612" r:id="rId10"/>
    <p:sldId id="605" r:id="rId11"/>
    <p:sldId id="606" r:id="rId12"/>
    <p:sldId id="607" r:id="rId13"/>
    <p:sldId id="608" r:id="rId14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 If M is inside triangle ΔABC, when M is shifted in any direction, the new position must be nearer to ( further from) at least one anchor A, B or C.  If M is outside triangle ΔABC, when M is shifted, there must exist a direction in which the position of M is further</a:t>
            </a:r>
            <a:r>
              <a:rPr lang="en-IN" baseline="0" dirty="0"/>
              <a:t> </a:t>
            </a:r>
            <a:r>
              <a:rPr lang="en-IN" dirty="0"/>
              <a:t>from or closer to all three anchors A, B and C</a:t>
            </a:r>
            <a:r>
              <a:rPr lang="en-IN"/>
              <a:t>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 If M is inside triangle ΔABC, when M is shifted in any direction, the new position must be nearer to ( further from) at least one anchor A, B or C.  If M is outside triangle ΔABC, when M is shifted, there must exist a direction in which the position of M is further</a:t>
            </a:r>
            <a:r>
              <a:rPr lang="en-IN" baseline="0" dirty="0"/>
              <a:t> </a:t>
            </a:r>
            <a:r>
              <a:rPr lang="en-IN" dirty="0"/>
              <a:t>from or closer to all three anchors A, B and C</a:t>
            </a:r>
            <a:r>
              <a:rPr lang="en-IN"/>
              <a:t>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4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 If M is inside triangle ΔABC, when M is shifted in any direction, the new position must be nearer to ( further from) at least one anchor A, B or C.  If M is outside triangle ΔABC, when M is shifted, there must exist a direction in which the position of M is further</a:t>
            </a:r>
            <a:r>
              <a:rPr lang="en-IN" baseline="0" dirty="0"/>
              <a:t> </a:t>
            </a:r>
            <a:r>
              <a:rPr lang="en-IN" dirty="0"/>
              <a:t>from or closer to all three anchors A, B and C</a:t>
            </a:r>
            <a:r>
              <a:rPr lang="en-IN"/>
              <a:t>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04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 If M is inside triangle ΔABC, when M is shifted in any direction, the new position must be nearer to ( further from) at least one anchor A, B or C.  If M is outside triangle ΔABC, when M is shifted, there must exist a direction in which the position of M is further</a:t>
            </a:r>
            <a:r>
              <a:rPr lang="en-IN" baseline="0" dirty="0"/>
              <a:t> </a:t>
            </a:r>
            <a:r>
              <a:rPr lang="en-IN" dirty="0"/>
              <a:t>from or closer to all three anchors A, B and C</a:t>
            </a:r>
            <a:r>
              <a:rPr lang="en-IN"/>
              <a:t>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71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 If M is inside triangle ΔABC, when M is shifted in any direction, the new position must be nearer to ( further from) at least one anchor A, B or C.  If M is outside triangle ΔABC, when M is shifted, there must exist a direction in which the position of M is further</a:t>
            </a:r>
            <a:r>
              <a:rPr lang="en-IN" baseline="0" dirty="0"/>
              <a:t> </a:t>
            </a:r>
            <a:r>
              <a:rPr lang="en-IN" dirty="0"/>
              <a:t>from or closer to all three anchors A, B and C</a:t>
            </a:r>
            <a:r>
              <a:rPr lang="en-IN"/>
              <a:t>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54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If no </a:t>
            </a:r>
            <a:r>
              <a:rPr lang="en-IN" dirty="0" err="1"/>
              <a:t>neighbor</a:t>
            </a:r>
            <a:r>
              <a:rPr lang="en-IN" dirty="0"/>
              <a:t> of M is further from/closer to all three anchors A, B and C simultaneously, M assumes that it is inside triangle ΔABC. Otherwise, M assumes it resides outside this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86406-93A6-491D-8B4C-AD7B2635D33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9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B38B14-21B8-4CDD-8624-E204845F45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9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213339" cy="857437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APIT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414476" y="1404723"/>
            <a:ext cx="7883610" cy="43728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Approximate Point in Triangulation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APIT employs area based approach to perform location estimation by isolating the environment into triangular regions between beaconing nodes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213339" cy="857437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Assumptions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414476" y="1953881"/>
            <a:ext cx="7883610" cy="35110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Heterogeneous networks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Few nodes with high power 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&amp; GPS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Beacon signal degrade monotonically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8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1360952" y="890685"/>
            <a:ext cx="3733800" cy="2362200"/>
            <a:chOff x="5410200" y="3276600"/>
            <a:chExt cx="2057400" cy="1828800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410200" y="3276600"/>
              <a:ext cx="2057400" cy="68580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5676705" y="3695895"/>
              <a:ext cx="1143000" cy="1676011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6362506" y="4000306"/>
              <a:ext cx="1828800" cy="381389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23"/>
          <p:cNvGrpSpPr>
            <a:grpSpLocks/>
          </p:cNvGrpSpPr>
          <p:nvPr/>
        </p:nvGrpSpPr>
        <p:grpSpPr bwMode="auto">
          <a:xfrm rot="10800000">
            <a:off x="2390059" y="903598"/>
            <a:ext cx="3886200" cy="2895600"/>
            <a:chOff x="5410200" y="3276600"/>
            <a:chExt cx="2057400" cy="1828800"/>
          </a:xfrm>
        </p:grpSpPr>
        <p:cxnSp>
          <p:nvCxnSpPr>
            <p:cNvPr id="25" name="Straight Connector 24"/>
            <p:cNvCxnSpPr/>
            <p:nvPr/>
          </p:nvCxnSpPr>
          <p:spPr>
            <a:xfrm flipV="1">
              <a:off x="5410200" y="3276600"/>
              <a:ext cx="2057400" cy="68580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5682923" y="3695560"/>
              <a:ext cx="1143000" cy="167668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6373765" y="4000641"/>
              <a:ext cx="1828800" cy="38072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27"/>
          <p:cNvGrpSpPr>
            <a:grpSpLocks/>
          </p:cNvGrpSpPr>
          <p:nvPr/>
        </p:nvGrpSpPr>
        <p:grpSpPr bwMode="auto">
          <a:xfrm rot="10800000">
            <a:off x="3771957" y="1309785"/>
            <a:ext cx="3886200" cy="2438400"/>
            <a:chOff x="5410200" y="3276600"/>
            <a:chExt cx="2057400" cy="1828800"/>
          </a:xfrm>
        </p:grpSpPr>
        <p:cxnSp>
          <p:nvCxnSpPr>
            <p:cNvPr id="29" name="Straight Connector 28"/>
            <p:cNvCxnSpPr/>
            <p:nvPr/>
          </p:nvCxnSpPr>
          <p:spPr>
            <a:xfrm flipV="1">
              <a:off x="5410200" y="3276600"/>
              <a:ext cx="2057400" cy="68580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5682923" y="3695560"/>
              <a:ext cx="1143000" cy="167668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6368723" y="4000641"/>
              <a:ext cx="1828800" cy="38072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1"/>
          <p:cNvGrpSpPr>
            <a:grpSpLocks/>
          </p:cNvGrpSpPr>
          <p:nvPr/>
        </p:nvGrpSpPr>
        <p:grpSpPr bwMode="auto">
          <a:xfrm rot="10800000">
            <a:off x="1089780" y="990600"/>
            <a:ext cx="6705600" cy="3429000"/>
            <a:chOff x="5410200" y="3276600"/>
            <a:chExt cx="2057400" cy="1828800"/>
          </a:xfrm>
        </p:grpSpPr>
        <p:cxnSp>
          <p:nvCxnSpPr>
            <p:cNvPr id="33" name="Straight Connector 32"/>
            <p:cNvCxnSpPr/>
            <p:nvPr/>
          </p:nvCxnSpPr>
          <p:spPr>
            <a:xfrm flipV="1">
              <a:off x="5410200" y="3276600"/>
              <a:ext cx="2057400" cy="68580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16200000" flipH="1">
              <a:off x="5680363" y="3695646"/>
              <a:ext cx="1143000" cy="1676508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6365676" y="4000554"/>
              <a:ext cx="1828800" cy="380892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4554933" y="1985961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238499" y="5800725"/>
            <a:ext cx="2362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APIT</a:t>
            </a:r>
          </a:p>
        </p:txBody>
      </p:sp>
      <p:grpSp>
        <p:nvGrpSpPr>
          <p:cNvPr id="28" name="Group 22"/>
          <p:cNvGrpSpPr>
            <a:grpSpLocks/>
          </p:cNvGrpSpPr>
          <p:nvPr/>
        </p:nvGrpSpPr>
        <p:grpSpPr bwMode="auto">
          <a:xfrm>
            <a:off x="3733799" y="842785"/>
            <a:ext cx="3733800" cy="2362200"/>
            <a:chOff x="5410200" y="3276600"/>
            <a:chExt cx="2057400" cy="1828800"/>
          </a:xfrm>
        </p:grpSpPr>
        <p:cxnSp>
          <p:nvCxnSpPr>
            <p:cNvPr id="32" name="Straight Connector 31"/>
            <p:cNvCxnSpPr/>
            <p:nvPr/>
          </p:nvCxnSpPr>
          <p:spPr>
            <a:xfrm flipV="1">
              <a:off x="5410200" y="3276600"/>
              <a:ext cx="2057400" cy="68580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76705" y="3695895"/>
              <a:ext cx="1143000" cy="1676011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6362506" y="4000306"/>
              <a:ext cx="1828800" cy="381389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731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213339" cy="857437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Phases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00445" y="1426404"/>
            <a:ext cx="7883610" cy="43728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Beacon Exchange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PIT Testing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APIT Aggregation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COG calculation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1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600200" y="31242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16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17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3018" name="TextBox 10"/>
          <p:cNvSpPr txBox="1">
            <a:spLocks noChangeArrowheads="1"/>
          </p:cNvSpPr>
          <p:nvPr/>
        </p:nvSpPr>
        <p:spPr bwMode="auto">
          <a:xfrm>
            <a:off x="1752600" y="327660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3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24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25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500563" y="28956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7" name="TextBox 19"/>
          <p:cNvSpPr txBox="1">
            <a:spLocks noChangeArrowheads="1"/>
          </p:cNvSpPr>
          <p:nvPr/>
        </p:nvSpPr>
        <p:spPr bwMode="auto">
          <a:xfrm>
            <a:off x="4652963" y="304800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44" y="5562600"/>
            <a:ext cx="65563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PIT</a:t>
            </a:r>
          </a:p>
        </p:txBody>
      </p:sp>
    </p:spTree>
    <p:extLst>
      <p:ext uri="{BB962C8B-B14F-4D97-AF65-F5344CB8AC3E}">
        <p14:creationId xmlns:p14="http://schemas.microsoft.com/office/powerpoint/2010/main" val="3185457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62050" y="3461521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16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17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3018" name="TextBox 10"/>
          <p:cNvSpPr txBox="1">
            <a:spLocks noChangeArrowheads="1"/>
          </p:cNvSpPr>
          <p:nvPr/>
        </p:nvSpPr>
        <p:spPr bwMode="auto">
          <a:xfrm>
            <a:off x="1143000" y="3744912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3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24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25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500563" y="28956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7" name="TextBox 19"/>
          <p:cNvSpPr txBox="1">
            <a:spLocks noChangeArrowheads="1"/>
          </p:cNvSpPr>
          <p:nvPr/>
        </p:nvSpPr>
        <p:spPr bwMode="auto">
          <a:xfrm>
            <a:off x="4652963" y="304800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44" y="5562600"/>
            <a:ext cx="65563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PIT</a:t>
            </a:r>
          </a:p>
        </p:txBody>
      </p:sp>
    </p:spTree>
    <p:extLst>
      <p:ext uri="{BB962C8B-B14F-4D97-AF65-F5344CB8AC3E}">
        <p14:creationId xmlns:p14="http://schemas.microsoft.com/office/powerpoint/2010/main" val="2364392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995612" y="3461521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16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17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3018" name="TextBox 10"/>
          <p:cNvSpPr txBox="1">
            <a:spLocks noChangeArrowheads="1"/>
          </p:cNvSpPr>
          <p:nvPr/>
        </p:nvSpPr>
        <p:spPr bwMode="auto">
          <a:xfrm>
            <a:off x="2976562" y="3744912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3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24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25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500563" y="28956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7" name="TextBox 19"/>
          <p:cNvSpPr txBox="1">
            <a:spLocks noChangeArrowheads="1"/>
          </p:cNvSpPr>
          <p:nvPr/>
        </p:nvSpPr>
        <p:spPr bwMode="auto">
          <a:xfrm>
            <a:off x="4652963" y="304800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44" y="5562600"/>
            <a:ext cx="65563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PIT</a:t>
            </a:r>
          </a:p>
        </p:txBody>
      </p:sp>
    </p:spTree>
    <p:extLst>
      <p:ext uri="{BB962C8B-B14F-4D97-AF65-F5344CB8AC3E}">
        <p14:creationId xmlns:p14="http://schemas.microsoft.com/office/powerpoint/2010/main" val="247847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71612" y="22860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16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17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3018" name="TextBox 10"/>
          <p:cNvSpPr txBox="1">
            <a:spLocks noChangeArrowheads="1"/>
          </p:cNvSpPr>
          <p:nvPr/>
        </p:nvSpPr>
        <p:spPr bwMode="auto">
          <a:xfrm>
            <a:off x="1452562" y="2569391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3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24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25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500563" y="28956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7" name="TextBox 19"/>
          <p:cNvSpPr txBox="1">
            <a:spLocks noChangeArrowheads="1"/>
          </p:cNvSpPr>
          <p:nvPr/>
        </p:nvSpPr>
        <p:spPr bwMode="auto">
          <a:xfrm>
            <a:off x="4652963" y="304800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44" y="5562600"/>
            <a:ext cx="65563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PIT</a:t>
            </a:r>
          </a:p>
        </p:txBody>
      </p:sp>
    </p:spTree>
    <p:extLst>
      <p:ext uri="{BB962C8B-B14F-4D97-AF65-F5344CB8AC3E}">
        <p14:creationId xmlns:p14="http://schemas.microsoft.com/office/powerpoint/2010/main" val="183253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71612" y="22860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16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17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3018" name="TextBox 10"/>
          <p:cNvSpPr txBox="1">
            <a:spLocks noChangeArrowheads="1"/>
          </p:cNvSpPr>
          <p:nvPr/>
        </p:nvSpPr>
        <p:spPr bwMode="auto">
          <a:xfrm>
            <a:off x="1452562" y="2569391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3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3024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3025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733800" y="1763712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27" name="TextBox 19"/>
          <p:cNvSpPr txBox="1">
            <a:spLocks noChangeArrowheads="1"/>
          </p:cNvSpPr>
          <p:nvPr/>
        </p:nvSpPr>
        <p:spPr bwMode="auto">
          <a:xfrm>
            <a:off x="3886200" y="1916112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44" y="5562600"/>
            <a:ext cx="65563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PIT</a:t>
            </a:r>
          </a:p>
        </p:txBody>
      </p:sp>
    </p:spTree>
    <p:extLst>
      <p:ext uri="{BB962C8B-B14F-4D97-AF65-F5344CB8AC3E}">
        <p14:creationId xmlns:p14="http://schemas.microsoft.com/office/powerpoint/2010/main" val="1115638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40778" y="4876800"/>
            <a:ext cx="7924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dirty="0">
                <a:solidFill>
                  <a:srgbClr val="CC0000"/>
                </a:solidFill>
                <a:latin typeface="+mj-lt"/>
              </a:rPr>
              <a:t>Departure Test</a:t>
            </a:r>
          </a:p>
        </p:txBody>
      </p:sp>
      <p:sp>
        <p:nvSpPr>
          <p:cNvPr id="4" name="Oval 3"/>
          <p:cNvSpPr/>
          <p:nvPr/>
        </p:nvSpPr>
        <p:spPr>
          <a:xfrm>
            <a:off x="1066800" y="2590800"/>
            <a:ext cx="6096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A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>
            <a:stCxn id="4" idx="6"/>
          </p:cNvCxnSpPr>
          <p:nvPr/>
        </p:nvCxnSpPr>
        <p:spPr>
          <a:xfrm flipV="1">
            <a:off x="1676400" y="1981200"/>
            <a:ext cx="4267200" cy="876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76400" y="2857500"/>
            <a:ext cx="4267200" cy="495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038600" y="25908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24400" y="22860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89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600200" y="31242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63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5064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5065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5066" name="TextBox 10"/>
          <p:cNvSpPr txBox="1">
            <a:spLocks noChangeArrowheads="1"/>
          </p:cNvSpPr>
          <p:nvPr/>
        </p:nvSpPr>
        <p:spPr bwMode="auto">
          <a:xfrm>
            <a:off x="1752600" y="327660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71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5072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5073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419600" y="25908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75" name="TextBox 19"/>
          <p:cNvSpPr txBox="1">
            <a:spLocks noChangeArrowheads="1"/>
          </p:cNvSpPr>
          <p:nvPr/>
        </p:nvSpPr>
        <p:spPr bwMode="auto">
          <a:xfrm>
            <a:off x="4495800" y="274320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7432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2057400" y="31242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295400" y="32004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676400" y="35052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43400" y="22860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4800600" y="26670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038600" y="27432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4419600" y="30480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140200" y="5562600"/>
            <a:ext cx="8636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APIT</a:t>
            </a:r>
          </a:p>
        </p:txBody>
      </p:sp>
    </p:spTree>
    <p:extLst>
      <p:ext uri="{BB962C8B-B14F-4D97-AF65-F5344CB8AC3E}">
        <p14:creationId xmlns:p14="http://schemas.microsoft.com/office/powerpoint/2010/main" val="299616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38200" y="1828800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295400" y="1752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862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2000" y="39624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342141" y="3090363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87" name="TextBox 7"/>
          <p:cNvSpPr txBox="1">
            <a:spLocks noChangeArrowheads="1"/>
          </p:cNvSpPr>
          <p:nvPr/>
        </p:nvSpPr>
        <p:spPr bwMode="auto">
          <a:xfrm>
            <a:off x="1600200" y="1676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6088" name="TextBox 8"/>
          <p:cNvSpPr txBox="1">
            <a:spLocks noChangeArrowheads="1"/>
          </p:cNvSpPr>
          <p:nvPr/>
        </p:nvSpPr>
        <p:spPr bwMode="auto">
          <a:xfrm>
            <a:off x="685800" y="4191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6089" name="TextBox 9"/>
          <p:cNvSpPr txBox="1">
            <a:spLocks noChangeArrowheads="1"/>
          </p:cNvSpPr>
          <p:nvPr/>
        </p:nvSpPr>
        <p:spPr bwMode="auto">
          <a:xfrm>
            <a:off x="3810000" y="41910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46090" name="TextBox 10"/>
          <p:cNvSpPr txBox="1">
            <a:spLocks noChangeArrowheads="1"/>
          </p:cNvSpPr>
          <p:nvPr/>
        </p:nvSpPr>
        <p:spPr bwMode="auto">
          <a:xfrm>
            <a:off x="1066800" y="2900706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5211763" y="1839913"/>
            <a:ext cx="3124200" cy="2209800"/>
          </a:xfrm>
          <a:prstGeom prst="triangle">
            <a:avLst>
              <a:gd name="adj" fmla="val 16229"/>
            </a:avLst>
          </a:prstGeom>
          <a:noFill/>
          <a:ln>
            <a:solidFill>
              <a:srgbClr val="000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8963" y="17637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2597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563" y="3973513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95" name="TextBox 15"/>
          <p:cNvSpPr txBox="1">
            <a:spLocks noChangeArrowheads="1"/>
          </p:cNvSpPr>
          <p:nvPr/>
        </p:nvSpPr>
        <p:spPr bwMode="auto">
          <a:xfrm>
            <a:off x="5973763" y="16875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46096" name="TextBox 16"/>
          <p:cNvSpPr txBox="1">
            <a:spLocks noChangeArrowheads="1"/>
          </p:cNvSpPr>
          <p:nvPr/>
        </p:nvSpPr>
        <p:spPr bwMode="auto">
          <a:xfrm>
            <a:off x="5059363" y="4202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46097" name="TextBox 17"/>
          <p:cNvSpPr txBox="1">
            <a:spLocks noChangeArrowheads="1"/>
          </p:cNvSpPr>
          <p:nvPr/>
        </p:nvSpPr>
        <p:spPr bwMode="auto">
          <a:xfrm>
            <a:off x="8183563" y="42021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419600" y="2590800"/>
            <a:ext cx="228600" cy="22860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99" name="TextBox 19"/>
          <p:cNvSpPr txBox="1">
            <a:spLocks noChangeArrowheads="1"/>
          </p:cNvSpPr>
          <p:nvPr/>
        </p:nvSpPr>
        <p:spPr bwMode="auto">
          <a:xfrm>
            <a:off x="4495800" y="274320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M</a:t>
            </a:r>
          </a:p>
        </p:txBody>
      </p:sp>
      <p:sp>
        <p:nvSpPr>
          <p:cNvPr id="21" name="Oval 20"/>
          <p:cNvSpPr/>
          <p:nvPr/>
        </p:nvSpPr>
        <p:spPr>
          <a:xfrm>
            <a:off x="1333738" y="2744378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677971" y="3108375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3745" y="2548379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328190" y="3460251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43400" y="22860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5257800" y="20574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038600" y="27432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4419600" y="3048000"/>
            <a:ext cx="152400" cy="152400"/>
          </a:xfrm>
          <a:prstGeom prst="ellipse">
            <a:avLst/>
          </a:prstGeom>
          <a:solidFill>
            <a:srgbClr val="0000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216400" y="5410200"/>
            <a:ext cx="8636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APIT</a:t>
            </a:r>
          </a:p>
        </p:txBody>
      </p:sp>
    </p:spTree>
    <p:extLst>
      <p:ext uri="{BB962C8B-B14F-4D97-AF65-F5344CB8AC3E}">
        <p14:creationId xmlns:p14="http://schemas.microsoft.com/office/powerpoint/2010/main" val="774747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24000" y="1397000"/>
          <a:ext cx="6400800" cy="36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524000" y="1397000"/>
          <a:ext cx="6400800" cy="36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524000" y="1396204"/>
          <a:ext cx="6400800" cy="36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`1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24000" y="1396204"/>
          <a:ext cx="6400800" cy="36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6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524000" y="1396998"/>
          <a:ext cx="6400800" cy="36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6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3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0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66"/>
                          </a:solidFill>
                        </a:rPr>
                        <a:t>-1</a:t>
                      </a:r>
                      <a:endParaRPr lang="en-IN" sz="18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9" name="Group 41"/>
          <p:cNvGrpSpPr>
            <a:grpSpLocks/>
          </p:cNvGrpSpPr>
          <p:nvPr/>
        </p:nvGrpSpPr>
        <p:grpSpPr bwMode="auto">
          <a:xfrm>
            <a:off x="1667556" y="1561985"/>
            <a:ext cx="4114800" cy="2802633"/>
            <a:chOff x="1524000" y="1676400"/>
            <a:chExt cx="4114800" cy="2802633"/>
          </a:xfrm>
        </p:grpSpPr>
        <p:cxnSp>
          <p:nvCxnSpPr>
            <p:cNvPr id="30" name="Straight Connector 29"/>
            <p:cNvCxnSpPr/>
            <p:nvPr/>
          </p:nvCxnSpPr>
          <p:spPr>
            <a:xfrm flipV="1">
              <a:off x="1524000" y="1676400"/>
              <a:ext cx="4114800" cy="2006402"/>
            </a:xfrm>
            <a:prstGeom prst="line">
              <a:avLst/>
            </a:prstGeom>
            <a:ln w="28575">
              <a:solidFill>
                <a:srgbClr val="CC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4866622" y="1676400"/>
              <a:ext cx="685090" cy="2802633"/>
            </a:xfrm>
            <a:prstGeom prst="line">
              <a:avLst/>
            </a:prstGeom>
            <a:ln w="28575">
              <a:solidFill>
                <a:srgbClr val="CC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524000" y="3719431"/>
              <a:ext cx="3342622" cy="759602"/>
            </a:xfrm>
            <a:prstGeom prst="line">
              <a:avLst/>
            </a:prstGeom>
            <a:ln w="28575">
              <a:solidFill>
                <a:srgbClr val="CC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45"/>
          <p:cNvGrpSpPr>
            <a:grpSpLocks/>
          </p:cNvGrpSpPr>
          <p:nvPr/>
        </p:nvGrpSpPr>
        <p:grpSpPr bwMode="auto">
          <a:xfrm>
            <a:off x="2743200" y="1905000"/>
            <a:ext cx="2057400" cy="3201988"/>
            <a:chOff x="2743200" y="1905000"/>
            <a:chExt cx="2057400" cy="3201194"/>
          </a:xfrm>
        </p:grpSpPr>
        <p:cxnSp>
          <p:nvCxnSpPr>
            <p:cNvPr id="34" name="Straight Connector 33"/>
            <p:cNvCxnSpPr/>
            <p:nvPr/>
          </p:nvCxnSpPr>
          <p:spPr>
            <a:xfrm rot="5400000">
              <a:off x="1220391" y="3505597"/>
              <a:ext cx="3199606" cy="1588"/>
            </a:xfrm>
            <a:prstGeom prst="line">
              <a:avLst/>
            </a:prstGeom>
            <a:ln w="38100">
              <a:solidFill>
                <a:srgbClr val="000066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2210187" y="2514213"/>
              <a:ext cx="3123425" cy="1905000"/>
            </a:xfrm>
            <a:prstGeom prst="line">
              <a:avLst/>
            </a:prstGeom>
            <a:ln w="38100">
              <a:solidFill>
                <a:srgbClr val="000066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743200" y="5028425"/>
              <a:ext cx="2057400" cy="1588"/>
            </a:xfrm>
            <a:prstGeom prst="line">
              <a:avLst/>
            </a:prstGeom>
            <a:ln w="38100">
              <a:solidFill>
                <a:srgbClr val="000066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7" name="Group 49"/>
          <p:cNvGrpSpPr>
            <a:grpSpLocks/>
          </p:cNvGrpSpPr>
          <p:nvPr/>
        </p:nvGrpSpPr>
        <p:grpSpPr bwMode="auto">
          <a:xfrm>
            <a:off x="6019800" y="3200400"/>
            <a:ext cx="2057400" cy="1752600"/>
            <a:chOff x="2743200" y="1905000"/>
            <a:chExt cx="2057400" cy="3201194"/>
          </a:xfrm>
        </p:grpSpPr>
        <p:cxnSp>
          <p:nvCxnSpPr>
            <p:cNvPr id="38" name="Straight Connector 37"/>
            <p:cNvCxnSpPr/>
            <p:nvPr/>
          </p:nvCxnSpPr>
          <p:spPr>
            <a:xfrm rot="5400000">
              <a:off x="1219597" y="3504803"/>
              <a:ext cx="3201194" cy="1588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2210448" y="2513952"/>
              <a:ext cx="3122905" cy="190500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2743200" y="5027905"/>
              <a:ext cx="2057400" cy="289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2" name="Freeform 55"/>
          <p:cNvSpPr/>
          <p:nvPr/>
        </p:nvSpPr>
        <p:spPr>
          <a:xfrm>
            <a:off x="2511425" y="2798763"/>
            <a:ext cx="2032000" cy="1812925"/>
          </a:xfrm>
          <a:custGeom>
            <a:avLst/>
            <a:gdLst>
              <a:gd name="connsiteX0" fmla="*/ 1392774 w 2031947"/>
              <a:gd name="connsiteY0" fmla="*/ 226396 h 1813248"/>
              <a:gd name="connsiteX1" fmla="*/ 232189 w 2031947"/>
              <a:gd name="connsiteY1" fmla="*/ 243980 h 1813248"/>
              <a:gd name="connsiteX2" fmla="*/ 267358 w 2031947"/>
              <a:gd name="connsiteY2" fmla="*/ 1140796 h 1813248"/>
              <a:gd name="connsiteX3" fmla="*/ 284943 w 2031947"/>
              <a:gd name="connsiteY3" fmla="*/ 1228719 h 1813248"/>
              <a:gd name="connsiteX4" fmla="*/ 337697 w 2031947"/>
              <a:gd name="connsiteY4" fmla="*/ 1439734 h 1813248"/>
              <a:gd name="connsiteX5" fmla="*/ 355281 w 2031947"/>
              <a:gd name="connsiteY5" fmla="*/ 1580411 h 1813248"/>
              <a:gd name="connsiteX6" fmla="*/ 443204 w 2031947"/>
              <a:gd name="connsiteY6" fmla="*/ 1685919 h 1813248"/>
              <a:gd name="connsiteX7" fmla="*/ 513543 w 2031947"/>
              <a:gd name="connsiteY7" fmla="*/ 1703504 h 1813248"/>
              <a:gd name="connsiteX8" fmla="*/ 566297 w 2031947"/>
              <a:gd name="connsiteY8" fmla="*/ 1756257 h 1813248"/>
              <a:gd name="connsiteX9" fmla="*/ 1164174 w 2031947"/>
              <a:gd name="connsiteY9" fmla="*/ 1721088 h 1813248"/>
              <a:gd name="connsiteX10" fmla="*/ 1375189 w 2031947"/>
              <a:gd name="connsiteY10" fmla="*/ 1703504 h 1813248"/>
              <a:gd name="connsiteX11" fmla="*/ 1427943 w 2031947"/>
              <a:gd name="connsiteY11" fmla="*/ 1685919 h 1813248"/>
              <a:gd name="connsiteX12" fmla="*/ 1849974 w 2031947"/>
              <a:gd name="connsiteY12" fmla="*/ 1615580 h 1813248"/>
              <a:gd name="connsiteX13" fmla="*/ 1973066 w 2031947"/>
              <a:gd name="connsiteY13" fmla="*/ 1597996 h 1813248"/>
              <a:gd name="connsiteX14" fmla="*/ 1902727 w 2031947"/>
              <a:gd name="connsiteY14" fmla="*/ 1211134 h 1813248"/>
              <a:gd name="connsiteX15" fmla="*/ 1849974 w 2031947"/>
              <a:gd name="connsiteY15" fmla="*/ 1193550 h 1813248"/>
              <a:gd name="connsiteX16" fmla="*/ 1709297 w 2031947"/>
              <a:gd name="connsiteY16" fmla="*/ 1070457 h 1813248"/>
              <a:gd name="connsiteX17" fmla="*/ 1656543 w 2031947"/>
              <a:gd name="connsiteY17" fmla="*/ 1052873 h 1813248"/>
              <a:gd name="connsiteX18" fmla="*/ 1586204 w 2031947"/>
              <a:gd name="connsiteY18" fmla="*/ 1000119 h 1813248"/>
              <a:gd name="connsiteX19" fmla="*/ 1568620 w 2031947"/>
              <a:gd name="connsiteY19" fmla="*/ 912196 h 1813248"/>
              <a:gd name="connsiteX20" fmla="*/ 1551035 w 2031947"/>
              <a:gd name="connsiteY20" fmla="*/ 789104 h 1813248"/>
              <a:gd name="connsiteX21" fmla="*/ 1533451 w 2031947"/>
              <a:gd name="connsiteY21" fmla="*/ 507750 h 1813248"/>
              <a:gd name="connsiteX22" fmla="*/ 1480697 w 2031947"/>
              <a:gd name="connsiteY22" fmla="*/ 349488 h 1813248"/>
              <a:gd name="connsiteX23" fmla="*/ 1427943 w 2031947"/>
              <a:gd name="connsiteY23" fmla="*/ 261565 h 1813248"/>
              <a:gd name="connsiteX24" fmla="*/ 1375189 w 2031947"/>
              <a:gd name="connsiteY24" fmla="*/ 296734 h 1813248"/>
              <a:gd name="connsiteX25" fmla="*/ 1392774 w 2031947"/>
              <a:gd name="connsiteY25" fmla="*/ 226396 h 181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31947" h="1813248">
                <a:moveTo>
                  <a:pt x="1392774" y="226396"/>
                </a:moveTo>
                <a:cubicBezTo>
                  <a:pt x="1202274" y="217604"/>
                  <a:pt x="532472" y="0"/>
                  <a:pt x="232189" y="243980"/>
                </a:cubicBezTo>
                <a:cubicBezTo>
                  <a:pt x="0" y="432633"/>
                  <a:pt x="251354" y="842056"/>
                  <a:pt x="267358" y="1140796"/>
                </a:cubicBezTo>
                <a:cubicBezTo>
                  <a:pt x="268957" y="1170641"/>
                  <a:pt x="280716" y="1199131"/>
                  <a:pt x="284943" y="1228719"/>
                </a:cubicBezTo>
                <a:cubicBezTo>
                  <a:pt x="312105" y="1418850"/>
                  <a:pt x="270200" y="1338490"/>
                  <a:pt x="337697" y="1439734"/>
                </a:cubicBezTo>
                <a:cubicBezTo>
                  <a:pt x="343558" y="1486626"/>
                  <a:pt x="342847" y="1534819"/>
                  <a:pt x="355281" y="1580411"/>
                </a:cubicBezTo>
                <a:cubicBezTo>
                  <a:pt x="362004" y="1605061"/>
                  <a:pt x="425212" y="1675638"/>
                  <a:pt x="443204" y="1685919"/>
                </a:cubicBezTo>
                <a:cubicBezTo>
                  <a:pt x="464188" y="1697910"/>
                  <a:pt x="490097" y="1697642"/>
                  <a:pt x="513543" y="1703504"/>
                </a:cubicBezTo>
                <a:cubicBezTo>
                  <a:pt x="531128" y="1721088"/>
                  <a:pt x="541477" y="1754706"/>
                  <a:pt x="566297" y="1756257"/>
                </a:cubicBezTo>
                <a:cubicBezTo>
                  <a:pt x="1478167" y="1813248"/>
                  <a:pt x="844091" y="1758745"/>
                  <a:pt x="1164174" y="1721088"/>
                </a:cubicBezTo>
                <a:cubicBezTo>
                  <a:pt x="1234273" y="1712841"/>
                  <a:pt x="1304851" y="1709365"/>
                  <a:pt x="1375189" y="1703504"/>
                </a:cubicBezTo>
                <a:cubicBezTo>
                  <a:pt x="1392774" y="1697642"/>
                  <a:pt x="1410120" y="1691011"/>
                  <a:pt x="1427943" y="1685919"/>
                </a:cubicBezTo>
                <a:cubicBezTo>
                  <a:pt x="1564138" y="1647005"/>
                  <a:pt x="1715441" y="1635511"/>
                  <a:pt x="1849974" y="1615580"/>
                </a:cubicBezTo>
                <a:lnTo>
                  <a:pt x="1973066" y="1597996"/>
                </a:lnTo>
                <a:cubicBezTo>
                  <a:pt x="1964905" y="1442949"/>
                  <a:pt x="2031947" y="1297281"/>
                  <a:pt x="1902727" y="1211134"/>
                </a:cubicBezTo>
                <a:cubicBezTo>
                  <a:pt x="1887305" y="1200852"/>
                  <a:pt x="1867558" y="1199411"/>
                  <a:pt x="1849974" y="1193550"/>
                </a:cubicBezTo>
                <a:cubicBezTo>
                  <a:pt x="1803845" y="1147421"/>
                  <a:pt x="1768417" y="1109870"/>
                  <a:pt x="1709297" y="1070457"/>
                </a:cubicBezTo>
                <a:cubicBezTo>
                  <a:pt x="1693874" y="1060175"/>
                  <a:pt x="1674128" y="1058734"/>
                  <a:pt x="1656543" y="1052873"/>
                </a:cubicBezTo>
                <a:cubicBezTo>
                  <a:pt x="1633097" y="1035288"/>
                  <a:pt x="1601737" y="1024972"/>
                  <a:pt x="1586204" y="1000119"/>
                </a:cubicBezTo>
                <a:cubicBezTo>
                  <a:pt x="1570363" y="974774"/>
                  <a:pt x="1573534" y="941677"/>
                  <a:pt x="1568620" y="912196"/>
                </a:cubicBezTo>
                <a:cubicBezTo>
                  <a:pt x="1561806" y="871313"/>
                  <a:pt x="1556897" y="830135"/>
                  <a:pt x="1551035" y="789104"/>
                </a:cubicBezTo>
                <a:cubicBezTo>
                  <a:pt x="1545174" y="695319"/>
                  <a:pt x="1548297" y="600537"/>
                  <a:pt x="1533451" y="507750"/>
                </a:cubicBezTo>
                <a:cubicBezTo>
                  <a:pt x="1524666" y="452841"/>
                  <a:pt x="1480697" y="349488"/>
                  <a:pt x="1480697" y="349488"/>
                </a:cubicBezTo>
                <a:cubicBezTo>
                  <a:pt x="1452865" y="126836"/>
                  <a:pt x="1492736" y="196772"/>
                  <a:pt x="1427943" y="261565"/>
                </a:cubicBezTo>
                <a:cubicBezTo>
                  <a:pt x="1412999" y="276509"/>
                  <a:pt x="1392774" y="285011"/>
                  <a:pt x="1375189" y="296734"/>
                </a:cubicBezTo>
                <a:cubicBezTo>
                  <a:pt x="1355750" y="238419"/>
                  <a:pt x="1583274" y="235188"/>
                  <a:pt x="1392774" y="226396"/>
                </a:cubicBezTo>
                <a:close/>
              </a:path>
            </a:pathLst>
          </a:custGeom>
          <a:noFill/>
          <a:ln w="635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grpSp>
        <p:nvGrpSpPr>
          <p:cNvPr id="46" name="Group 49"/>
          <p:cNvGrpSpPr>
            <a:grpSpLocks/>
          </p:cNvGrpSpPr>
          <p:nvPr/>
        </p:nvGrpSpPr>
        <p:grpSpPr bwMode="auto">
          <a:xfrm>
            <a:off x="1585009" y="1721980"/>
            <a:ext cx="2057400" cy="1752600"/>
            <a:chOff x="2743200" y="1905000"/>
            <a:chExt cx="2057400" cy="3201194"/>
          </a:xfrm>
        </p:grpSpPr>
        <p:cxnSp>
          <p:nvCxnSpPr>
            <p:cNvPr id="50" name="Straight Connector 49"/>
            <p:cNvCxnSpPr/>
            <p:nvPr/>
          </p:nvCxnSpPr>
          <p:spPr>
            <a:xfrm rot="5400000">
              <a:off x="1219597" y="3504803"/>
              <a:ext cx="3201194" cy="1588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10448" y="2513952"/>
              <a:ext cx="3122905" cy="190500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743200" y="5027905"/>
              <a:ext cx="2057400" cy="2899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252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</TotalTime>
  <Words>907</Words>
  <Application>Microsoft Office PowerPoint</Application>
  <PresentationFormat>On-screen Show (4:3)</PresentationFormat>
  <Paragraphs>442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8_Blank</vt:lpstr>
      <vt:lpstr>APIT</vt:lpstr>
      <vt:lpstr>Assumptions</vt:lpstr>
      <vt:lpstr>PowerPoint Presentation</vt:lpstr>
      <vt:lpstr>Phases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85</cp:revision>
  <dcterms:modified xsi:type="dcterms:W3CDTF">2025-04-17T12:07:55Z</dcterms:modified>
</cp:coreProperties>
</file>