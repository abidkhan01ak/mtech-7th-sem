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  <p:sldMasterId id="2147483670" r:id="rId2"/>
  </p:sldMasterIdLst>
  <p:notesMasterIdLst>
    <p:notesMasterId r:id="rId7"/>
  </p:notesMasterIdLst>
  <p:handoutMasterIdLst>
    <p:handoutMasterId r:id="rId8"/>
  </p:handoutMasterIdLst>
  <p:sldIdLst>
    <p:sldId id="315" r:id="rId3"/>
    <p:sldId id="712" r:id="rId4"/>
    <p:sldId id="713" r:id="rId5"/>
    <p:sldId id="714" r:id="rId6"/>
  </p:sldIdLst>
  <p:sldSz cx="9144000" cy="6858000" type="screen4x3"/>
  <p:notesSz cx="6805613" cy="99441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77E56C-7D47-4C29-AAEB-9FD71A0A3F1F}">
  <a:tblStyle styleId="{8F77E56C-7D47-4C29-AAEB-9FD71A0A3F1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</a:tblStyle>
  <a:tblStyle styleId="{1562F7F7-E2AF-42E1-A3D0-5D2B67903BC4}" styleName="Table_1"/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7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E9B4E-3786-43E4-ADC0-DE2945E09898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9563C-2CF4-4AF1-9C09-67033D314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318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54939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6125"/>
            <a:ext cx="4972049" cy="37290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0562" y="4723448"/>
            <a:ext cx="5444489" cy="447484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54939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121505" y="260796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lvl="5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lvl="6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lvl="7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lvl="8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bg>
      <p:bgPr>
        <a:blipFill rotWithShape="1"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2514603" y="3810003"/>
            <a:ext cx="6019799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90909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3042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B518B-0F0C-4E60-A5AC-5B11B40B389B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11 - EEEG627 - NEA - Prof.K.R.Anupama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0468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05EC8-1E5F-4274-A14A-FDD3845545DC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11 - EEEG627 - NEA - Prof.K.R.Anupama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8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30A2-3963-4BED-AA88-D935DE2A8B8A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11 - EEEG627 - NEA - Prof.K.R.Anupama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628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FC35-31E9-4FB4-8D86-A10C3AFE2DF0}" type="datetime1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11 - EEEG627 - NEA - Prof.K.R.Anupama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400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63C81-7933-422C-B24F-3A91EC551F15}" type="datetime1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11 - EEEG627 - NEA - Prof.K.R.Anupama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27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EFDB8-DEB3-483D-8A47-9B50D6364E35}" type="datetime1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11 - EEEG627 - NEA - Prof.K.R.Anupama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54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1C2C-3706-40AB-A4A0-7664E79DAE94}" type="datetime1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Class 11 - EEEG627 - NEA - Prof.K.R.Anupama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070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D2BF4502-0822-4B62-A0D5-E18FCD1C23A0}" type="datetime1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>
                <a:solidFill>
                  <a:srgbClr val="455F51"/>
                </a:solidFill>
              </a:rPr>
              <a:t>Class 11 - EEEG627 - NEA - Prof.K.R.Anupama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455F51"/>
                </a:solidFill>
              </a:rPr>
              <a:pPr/>
              <a:t>‹#›</a:t>
            </a:fld>
            <a:endParaRPr lang="en-US">
              <a:solidFill>
                <a:srgbClr val="455F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580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D62A4-6C9E-4617-B281-2A51E3AEF3B1}" type="datetime1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11 - EEEG627 - NEA - Prof.K.R.Anupama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145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EF1B5-C23A-42BA-83F7-C665647D1072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11 - EEEG627 - NEA - Prof.K.R.Anupama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7462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3736A-843D-4A04-8E99-95ECEB48B359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11 - EEEG627 - NEA - Prof.K.R.Anupama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09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/>
        </p:nvSpPr>
        <p:spPr>
          <a:xfrm>
            <a:off x="8246615" y="37254"/>
            <a:ext cx="670613" cy="124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159604" y="1152465"/>
            <a:ext cx="8833823" cy="501020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197272" marR="0" lvl="1" indent="-7027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▪"/>
              <a:defRPr/>
            </a:lvl2pPr>
            <a:lvl3pPr marL="465681" marR="0" lvl="2" indent="-15326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–"/>
              <a:defRPr/>
            </a:lvl3pPr>
            <a:lvl4pPr marL="625773" marR="0" lvl="3" indent="-46653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▫"/>
              <a:defRPr/>
            </a:lvl4pPr>
            <a:lvl5pPr marL="763733" marR="0" lvl="4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5pPr>
            <a:lvl6pPr marL="763733" marR="0" lvl="5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6pPr>
            <a:lvl7pPr marL="763733" marR="0" lvl="6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7pPr>
            <a:lvl8pPr marL="763733" marR="0" lvl="7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8pPr>
            <a:lvl9pPr marL="763733" marR="0" lvl="8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9pPr>
          </a:lstStyle>
          <a:p>
            <a:endParaRPr dirty="0"/>
          </a:p>
        </p:txBody>
      </p:sp>
      <p:sp>
        <p:nvSpPr>
          <p:cNvPr id="163" name="Shape 163"/>
          <p:cNvSpPr txBox="1">
            <a:spLocks noGrp="1"/>
          </p:cNvSpPr>
          <p:nvPr>
            <p:ph type="title"/>
          </p:nvPr>
        </p:nvSpPr>
        <p:spPr>
          <a:xfrm>
            <a:off x="159604" y="151603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1" y="6785609"/>
            <a:ext cx="9144000" cy="72389"/>
            <a:chOff x="1998227" y="6500996"/>
            <a:chExt cx="7153215" cy="46648"/>
          </a:xfrm>
        </p:grpSpPr>
        <p:sp>
          <p:nvSpPr>
            <p:cNvPr id="170" name="Shape 170"/>
            <p:cNvSpPr/>
            <p:nvPr/>
          </p:nvSpPr>
          <p:spPr>
            <a:xfrm>
              <a:off x="4408551" y="6500996"/>
              <a:ext cx="2376028" cy="4664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Shape 171"/>
            <p:cNvSpPr/>
            <p:nvPr/>
          </p:nvSpPr>
          <p:spPr>
            <a:xfrm>
              <a:off x="1998227" y="6500996"/>
              <a:ext cx="2410322" cy="4664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Shape 172"/>
            <p:cNvSpPr/>
            <p:nvPr/>
          </p:nvSpPr>
          <p:spPr>
            <a:xfrm>
              <a:off x="6775414" y="6500996"/>
              <a:ext cx="2376028" cy="466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" name="Shape 18" descr="BITS_university_logo_whitevert.png"/>
          <p:cNvPicPr preferRelativeResize="0"/>
          <p:nvPr userDrawn="1"/>
        </p:nvPicPr>
        <p:blipFill rotWithShape="1">
          <a:blip r:embed="rId4">
            <a:alphaModFix/>
          </a:blip>
          <a:srcRect t="2" b="28592"/>
          <a:stretch/>
        </p:blipFill>
        <p:spPr>
          <a:xfrm>
            <a:off x="8138322" y="23045"/>
            <a:ext cx="939004" cy="90367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Shape 184"/>
          <p:cNvSpPr txBox="1"/>
          <p:nvPr userDrawn="1"/>
        </p:nvSpPr>
        <p:spPr>
          <a:xfrm>
            <a:off x="8095553" y="841751"/>
            <a:ext cx="1024542" cy="26429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12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5455584D-9DED-4EA2-8F3A-521A671A7E23}" type="datetime1">
              <a:rPr lang="en-US" smtClean="0">
                <a:latin typeface="Calibri" panose="020F0502020204030204"/>
              </a:rPr>
              <a:t>4/17/2025</a:t>
            </a:fld>
            <a:endParaRPr lang="en-US">
              <a:latin typeface="Calibri" panose="020F0502020204030204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>
                <a:latin typeface="Calibri" panose="020F0502020204030204"/>
              </a:rPr>
              <a:t>Class 11 - EEEG627 - NEA - Prof.K.R.Anupama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lang="en-US" smtClean="0">
                <a:latin typeface="Calibri" panose="020F0502020204030204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latin typeface="Calibri" panose="020F0502020204030204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372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66742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Routing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40798-B41E-48C6-A643-BD71433B88BD}"/>
              </a:ext>
            </a:extLst>
          </p:cNvPr>
          <p:cNvSpPr txBox="1"/>
          <p:nvPr/>
        </p:nvSpPr>
        <p:spPr>
          <a:xfrm>
            <a:off x="421788" y="1502718"/>
            <a:ext cx="7883610" cy="535528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Scalable solution to Minimum Cost Forwarding –Cost field - based approach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Minimum Cost Path to sink from any node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Each message has minimum cost from source to sink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As a message travels from source to intermediate</a:t>
            </a:r>
          </a:p>
          <a:p>
            <a:pPr marL="796925" lvl="1" indent="-334963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Each intermediate node forwards the packet only if </a:t>
            </a:r>
          </a:p>
          <a:p>
            <a:pPr marL="1081088" indent="-392113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Minimum cost &lt; Cost so far +  Cost from IN to sink</a:t>
            </a:r>
          </a:p>
          <a:p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287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981200" y="2408904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sp>
        <p:nvSpPr>
          <p:cNvPr id="3" name="Oval 2"/>
          <p:cNvSpPr/>
          <p:nvPr/>
        </p:nvSpPr>
        <p:spPr>
          <a:xfrm>
            <a:off x="2209800" y="3628104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</a:p>
        </p:txBody>
      </p:sp>
      <p:sp>
        <p:nvSpPr>
          <p:cNvPr id="4" name="Oval 3"/>
          <p:cNvSpPr/>
          <p:nvPr/>
        </p:nvSpPr>
        <p:spPr>
          <a:xfrm>
            <a:off x="2819400" y="1646904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4114800" y="2408904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4953000" y="3247104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</a:t>
            </a:r>
          </a:p>
        </p:txBody>
      </p:sp>
      <p:sp>
        <p:nvSpPr>
          <p:cNvPr id="9" name="Freeform 8"/>
          <p:cNvSpPr/>
          <p:nvPr/>
        </p:nvSpPr>
        <p:spPr>
          <a:xfrm>
            <a:off x="2251075" y="1951704"/>
            <a:ext cx="568325" cy="458788"/>
          </a:xfrm>
          <a:custGeom>
            <a:avLst/>
            <a:gdLst>
              <a:gd name="connsiteX0" fmla="*/ 562707 w 562707"/>
              <a:gd name="connsiteY0" fmla="*/ 0 h 436098"/>
              <a:gd name="connsiteX1" fmla="*/ 365760 w 562707"/>
              <a:gd name="connsiteY1" fmla="*/ 98474 h 436098"/>
              <a:gd name="connsiteX2" fmla="*/ 281354 w 562707"/>
              <a:gd name="connsiteY2" fmla="*/ 154744 h 436098"/>
              <a:gd name="connsiteX3" fmla="*/ 196947 w 562707"/>
              <a:gd name="connsiteY3" fmla="*/ 267286 h 436098"/>
              <a:gd name="connsiteX4" fmla="*/ 154744 w 562707"/>
              <a:gd name="connsiteY4" fmla="*/ 295421 h 436098"/>
              <a:gd name="connsiteX5" fmla="*/ 140677 w 562707"/>
              <a:gd name="connsiteY5" fmla="*/ 337624 h 436098"/>
              <a:gd name="connsiteX6" fmla="*/ 70338 w 562707"/>
              <a:gd name="connsiteY6" fmla="*/ 379828 h 436098"/>
              <a:gd name="connsiteX7" fmla="*/ 42203 w 562707"/>
              <a:gd name="connsiteY7" fmla="*/ 422031 h 436098"/>
              <a:gd name="connsiteX8" fmla="*/ 0 w 562707"/>
              <a:gd name="connsiteY8" fmla="*/ 436098 h 436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2707" h="436098">
                <a:moveTo>
                  <a:pt x="562707" y="0"/>
                </a:moveTo>
                <a:cubicBezTo>
                  <a:pt x="471869" y="30280"/>
                  <a:pt x="505367" y="16352"/>
                  <a:pt x="365760" y="98474"/>
                </a:cubicBezTo>
                <a:cubicBezTo>
                  <a:pt x="336614" y="115619"/>
                  <a:pt x="281354" y="154744"/>
                  <a:pt x="281354" y="154744"/>
                </a:cubicBezTo>
                <a:cubicBezTo>
                  <a:pt x="255634" y="193324"/>
                  <a:pt x="234125" y="237544"/>
                  <a:pt x="196947" y="267286"/>
                </a:cubicBezTo>
                <a:cubicBezTo>
                  <a:pt x="183745" y="277848"/>
                  <a:pt x="168812" y="286043"/>
                  <a:pt x="154744" y="295421"/>
                </a:cubicBezTo>
                <a:cubicBezTo>
                  <a:pt x="150055" y="309489"/>
                  <a:pt x="148306" y="324909"/>
                  <a:pt x="140677" y="337624"/>
                </a:cubicBezTo>
                <a:cubicBezTo>
                  <a:pt x="121367" y="369808"/>
                  <a:pt x="103534" y="368762"/>
                  <a:pt x="70338" y="379828"/>
                </a:cubicBezTo>
                <a:cubicBezTo>
                  <a:pt x="60960" y="393896"/>
                  <a:pt x="55405" y="411469"/>
                  <a:pt x="42203" y="422031"/>
                </a:cubicBezTo>
                <a:cubicBezTo>
                  <a:pt x="30624" y="431294"/>
                  <a:pt x="0" y="436098"/>
                  <a:pt x="0" y="436098"/>
                </a:cubicBezTo>
              </a:path>
            </a:pathLst>
          </a:custGeom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2286000" y="2789904"/>
            <a:ext cx="85725" cy="885825"/>
          </a:xfrm>
          <a:custGeom>
            <a:avLst/>
            <a:gdLst>
              <a:gd name="connsiteX0" fmla="*/ 78640 w 199867"/>
              <a:gd name="connsiteY0" fmla="*/ 0 h 787791"/>
              <a:gd name="connsiteX1" fmla="*/ 50504 w 199867"/>
              <a:gd name="connsiteY1" fmla="*/ 42203 h 787791"/>
              <a:gd name="connsiteX2" fmla="*/ 8301 w 199867"/>
              <a:gd name="connsiteY2" fmla="*/ 70338 h 787791"/>
              <a:gd name="connsiteX3" fmla="*/ 22369 w 199867"/>
              <a:gd name="connsiteY3" fmla="*/ 295421 h 787791"/>
              <a:gd name="connsiteX4" fmla="*/ 50504 w 199867"/>
              <a:gd name="connsiteY4" fmla="*/ 337624 h 787791"/>
              <a:gd name="connsiteX5" fmla="*/ 106775 w 199867"/>
              <a:gd name="connsiteY5" fmla="*/ 351692 h 787791"/>
              <a:gd name="connsiteX6" fmla="*/ 148978 w 199867"/>
              <a:gd name="connsiteY6" fmla="*/ 393895 h 787791"/>
              <a:gd name="connsiteX7" fmla="*/ 163046 w 199867"/>
              <a:gd name="connsiteY7" fmla="*/ 576775 h 787791"/>
              <a:gd name="connsiteX8" fmla="*/ 134911 w 199867"/>
              <a:gd name="connsiteY8" fmla="*/ 604911 h 787791"/>
              <a:gd name="connsiteX9" fmla="*/ 120843 w 199867"/>
              <a:gd name="connsiteY9" fmla="*/ 787791 h 787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9867" h="787791">
                <a:moveTo>
                  <a:pt x="78640" y="0"/>
                </a:moveTo>
                <a:cubicBezTo>
                  <a:pt x="69261" y="14068"/>
                  <a:pt x="62459" y="30248"/>
                  <a:pt x="50504" y="42203"/>
                </a:cubicBezTo>
                <a:cubicBezTo>
                  <a:pt x="38549" y="54158"/>
                  <a:pt x="10168" y="53534"/>
                  <a:pt x="8301" y="70338"/>
                </a:cubicBezTo>
                <a:cubicBezTo>
                  <a:pt x="0" y="145052"/>
                  <a:pt x="10645" y="221167"/>
                  <a:pt x="22369" y="295421"/>
                </a:cubicBezTo>
                <a:cubicBezTo>
                  <a:pt x="25006" y="312121"/>
                  <a:pt x="36436" y="328246"/>
                  <a:pt x="50504" y="337624"/>
                </a:cubicBezTo>
                <a:cubicBezTo>
                  <a:pt x="66591" y="348349"/>
                  <a:pt x="88018" y="347003"/>
                  <a:pt x="106775" y="351692"/>
                </a:cubicBezTo>
                <a:cubicBezTo>
                  <a:pt x="120843" y="365760"/>
                  <a:pt x="136242" y="378612"/>
                  <a:pt x="148978" y="393895"/>
                </a:cubicBezTo>
                <a:cubicBezTo>
                  <a:pt x="199867" y="454961"/>
                  <a:pt x="188242" y="475992"/>
                  <a:pt x="163046" y="576775"/>
                </a:cubicBezTo>
                <a:cubicBezTo>
                  <a:pt x="159829" y="589642"/>
                  <a:pt x="144289" y="595532"/>
                  <a:pt x="134911" y="604911"/>
                </a:cubicBezTo>
                <a:cubicBezTo>
                  <a:pt x="106014" y="691600"/>
                  <a:pt x="120843" y="632285"/>
                  <a:pt x="120843" y="787791"/>
                </a:cubicBezTo>
              </a:path>
            </a:pathLst>
          </a:custGeom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3222625" y="1819942"/>
            <a:ext cx="906463" cy="730250"/>
          </a:xfrm>
          <a:custGeom>
            <a:avLst/>
            <a:gdLst>
              <a:gd name="connsiteX0" fmla="*/ 40614 w 905374"/>
              <a:gd name="connsiteY0" fmla="*/ 68941 h 730122"/>
              <a:gd name="connsiteX1" fmla="*/ 110952 w 905374"/>
              <a:gd name="connsiteY1" fmla="*/ 237753 h 730122"/>
              <a:gd name="connsiteX2" fmla="*/ 209426 w 905374"/>
              <a:gd name="connsiteY2" fmla="*/ 378430 h 730122"/>
              <a:gd name="connsiteX3" fmla="*/ 237561 w 905374"/>
              <a:gd name="connsiteY3" fmla="*/ 420633 h 730122"/>
              <a:gd name="connsiteX4" fmla="*/ 307900 w 905374"/>
              <a:gd name="connsiteY4" fmla="*/ 434701 h 730122"/>
              <a:gd name="connsiteX5" fmla="*/ 406374 w 905374"/>
              <a:gd name="connsiteY5" fmla="*/ 476904 h 730122"/>
              <a:gd name="connsiteX6" fmla="*/ 532983 w 905374"/>
              <a:gd name="connsiteY6" fmla="*/ 490971 h 730122"/>
              <a:gd name="connsiteX7" fmla="*/ 603321 w 905374"/>
              <a:gd name="connsiteY7" fmla="*/ 505039 h 730122"/>
              <a:gd name="connsiteX8" fmla="*/ 687727 w 905374"/>
              <a:gd name="connsiteY8" fmla="*/ 589445 h 730122"/>
              <a:gd name="connsiteX9" fmla="*/ 729931 w 905374"/>
              <a:gd name="connsiteY9" fmla="*/ 603513 h 730122"/>
              <a:gd name="connsiteX10" fmla="*/ 870607 w 905374"/>
              <a:gd name="connsiteY10" fmla="*/ 673851 h 730122"/>
              <a:gd name="connsiteX11" fmla="*/ 898743 w 905374"/>
              <a:gd name="connsiteY11" fmla="*/ 730122 h 73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05374" h="730122">
                <a:moveTo>
                  <a:pt x="40614" y="68941"/>
                </a:moveTo>
                <a:cubicBezTo>
                  <a:pt x="117522" y="184304"/>
                  <a:pt x="0" y="0"/>
                  <a:pt x="110952" y="237753"/>
                </a:cubicBezTo>
                <a:cubicBezTo>
                  <a:pt x="128365" y="275066"/>
                  <a:pt x="182895" y="341287"/>
                  <a:pt x="209426" y="378430"/>
                </a:cubicBezTo>
                <a:cubicBezTo>
                  <a:pt x="219253" y="392188"/>
                  <a:pt x="222881" y="412245"/>
                  <a:pt x="237561" y="420633"/>
                </a:cubicBezTo>
                <a:cubicBezTo>
                  <a:pt x="258321" y="432496"/>
                  <a:pt x="284454" y="430012"/>
                  <a:pt x="307900" y="434701"/>
                </a:cubicBezTo>
                <a:cubicBezTo>
                  <a:pt x="340725" y="448769"/>
                  <a:pt x="371728" y="468243"/>
                  <a:pt x="406374" y="476904"/>
                </a:cubicBezTo>
                <a:cubicBezTo>
                  <a:pt x="447569" y="487203"/>
                  <a:pt x="490947" y="484966"/>
                  <a:pt x="532983" y="490971"/>
                </a:cubicBezTo>
                <a:cubicBezTo>
                  <a:pt x="556653" y="494352"/>
                  <a:pt x="579875" y="500350"/>
                  <a:pt x="603321" y="505039"/>
                </a:cubicBezTo>
                <a:cubicBezTo>
                  <a:pt x="631456" y="533174"/>
                  <a:pt x="649979" y="576862"/>
                  <a:pt x="687727" y="589445"/>
                </a:cubicBezTo>
                <a:cubicBezTo>
                  <a:pt x="701795" y="594134"/>
                  <a:pt x="716668" y="596881"/>
                  <a:pt x="729931" y="603513"/>
                </a:cubicBezTo>
                <a:cubicBezTo>
                  <a:pt x="888996" y="683046"/>
                  <a:pt x="773822" y="641591"/>
                  <a:pt x="870607" y="673851"/>
                </a:cubicBezTo>
                <a:cubicBezTo>
                  <a:pt x="905374" y="708618"/>
                  <a:pt x="898743" y="688724"/>
                  <a:pt x="898743" y="730122"/>
                </a:cubicBezTo>
              </a:path>
            </a:pathLst>
          </a:custGeom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2590800" y="4009104"/>
            <a:ext cx="1219200" cy="533400"/>
          </a:xfrm>
          <a:custGeom>
            <a:avLst/>
            <a:gdLst>
              <a:gd name="connsiteX0" fmla="*/ 15265 w 859326"/>
              <a:gd name="connsiteY0" fmla="*/ 6105 h 557653"/>
              <a:gd name="connsiteX1" fmla="*/ 437295 w 859326"/>
              <a:gd name="connsiteY1" fmla="*/ 174917 h 557653"/>
              <a:gd name="connsiteX2" fmla="*/ 535769 w 859326"/>
              <a:gd name="connsiteY2" fmla="*/ 203053 h 557653"/>
              <a:gd name="connsiteX3" fmla="*/ 577972 w 859326"/>
              <a:gd name="connsiteY3" fmla="*/ 217121 h 557653"/>
              <a:gd name="connsiteX4" fmla="*/ 606108 w 859326"/>
              <a:gd name="connsiteY4" fmla="*/ 245256 h 557653"/>
              <a:gd name="connsiteX5" fmla="*/ 662379 w 859326"/>
              <a:gd name="connsiteY5" fmla="*/ 343730 h 557653"/>
              <a:gd name="connsiteX6" fmla="*/ 676446 w 859326"/>
              <a:gd name="connsiteY6" fmla="*/ 385933 h 557653"/>
              <a:gd name="connsiteX7" fmla="*/ 690514 w 859326"/>
              <a:gd name="connsiteY7" fmla="*/ 484407 h 557653"/>
              <a:gd name="connsiteX8" fmla="*/ 788988 w 859326"/>
              <a:gd name="connsiteY8" fmla="*/ 554745 h 557653"/>
              <a:gd name="connsiteX9" fmla="*/ 859326 w 859326"/>
              <a:gd name="connsiteY9" fmla="*/ 554745 h 557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59326" h="557653">
                <a:moveTo>
                  <a:pt x="15265" y="6105"/>
                </a:moveTo>
                <a:cubicBezTo>
                  <a:pt x="191909" y="64988"/>
                  <a:pt x="0" y="0"/>
                  <a:pt x="437295" y="174917"/>
                </a:cubicBezTo>
                <a:cubicBezTo>
                  <a:pt x="479456" y="191782"/>
                  <a:pt x="489082" y="189714"/>
                  <a:pt x="535769" y="203053"/>
                </a:cubicBezTo>
                <a:cubicBezTo>
                  <a:pt x="550027" y="207127"/>
                  <a:pt x="563904" y="212432"/>
                  <a:pt x="577972" y="217121"/>
                </a:cubicBezTo>
                <a:cubicBezTo>
                  <a:pt x="587351" y="226499"/>
                  <a:pt x="597822" y="234899"/>
                  <a:pt x="606108" y="245256"/>
                </a:cubicBezTo>
                <a:cubicBezTo>
                  <a:pt x="627841" y="272422"/>
                  <a:pt x="649051" y="312631"/>
                  <a:pt x="662379" y="343730"/>
                </a:cubicBezTo>
                <a:cubicBezTo>
                  <a:pt x="668220" y="357360"/>
                  <a:pt x="671757" y="371865"/>
                  <a:pt x="676446" y="385933"/>
                </a:cubicBezTo>
                <a:cubicBezTo>
                  <a:pt x="681135" y="418758"/>
                  <a:pt x="676793" y="454221"/>
                  <a:pt x="690514" y="484407"/>
                </a:cubicBezTo>
                <a:cubicBezTo>
                  <a:pt x="706564" y="519717"/>
                  <a:pt x="749966" y="549867"/>
                  <a:pt x="788988" y="554745"/>
                </a:cubicBezTo>
                <a:cubicBezTo>
                  <a:pt x="812253" y="557653"/>
                  <a:pt x="835880" y="554745"/>
                  <a:pt x="859326" y="554745"/>
                </a:cubicBezTo>
              </a:path>
            </a:pathLst>
          </a:custGeom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810000" y="4313904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</a:p>
        </p:txBody>
      </p:sp>
      <p:sp>
        <p:nvSpPr>
          <p:cNvPr id="15" name="Freeform 14"/>
          <p:cNvSpPr/>
          <p:nvPr/>
        </p:nvSpPr>
        <p:spPr>
          <a:xfrm>
            <a:off x="4502150" y="2789904"/>
            <a:ext cx="449263" cy="650875"/>
          </a:xfrm>
          <a:custGeom>
            <a:avLst/>
            <a:gdLst>
              <a:gd name="connsiteX0" fmla="*/ 0 w 450166"/>
              <a:gd name="connsiteY0" fmla="*/ 0 h 651119"/>
              <a:gd name="connsiteX1" fmla="*/ 196947 w 450166"/>
              <a:gd name="connsiteY1" fmla="*/ 295422 h 651119"/>
              <a:gd name="connsiteX2" fmla="*/ 225083 w 450166"/>
              <a:gd name="connsiteY2" fmla="*/ 323557 h 651119"/>
              <a:gd name="connsiteX3" fmla="*/ 351692 w 450166"/>
              <a:gd name="connsiteY3" fmla="*/ 337625 h 651119"/>
              <a:gd name="connsiteX4" fmla="*/ 393895 w 450166"/>
              <a:gd name="connsiteY4" fmla="*/ 633046 h 651119"/>
              <a:gd name="connsiteX5" fmla="*/ 450166 w 450166"/>
              <a:gd name="connsiteY5" fmla="*/ 633046 h 651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0166" h="651119">
                <a:moveTo>
                  <a:pt x="0" y="0"/>
                </a:moveTo>
                <a:cubicBezTo>
                  <a:pt x="41744" y="125238"/>
                  <a:pt x="42224" y="140705"/>
                  <a:pt x="196947" y="295422"/>
                </a:cubicBezTo>
                <a:cubicBezTo>
                  <a:pt x="206326" y="304800"/>
                  <a:pt x="212287" y="320067"/>
                  <a:pt x="225083" y="323557"/>
                </a:cubicBezTo>
                <a:cubicBezTo>
                  <a:pt x="266050" y="334730"/>
                  <a:pt x="309489" y="332936"/>
                  <a:pt x="351692" y="337625"/>
                </a:cubicBezTo>
                <a:cubicBezTo>
                  <a:pt x="447298" y="481036"/>
                  <a:pt x="275992" y="208599"/>
                  <a:pt x="393895" y="633046"/>
                </a:cubicBezTo>
                <a:cubicBezTo>
                  <a:pt x="398915" y="651119"/>
                  <a:pt x="431409" y="633046"/>
                  <a:pt x="450166" y="633046"/>
                </a:cubicBezTo>
              </a:path>
            </a:pathLst>
          </a:custGeom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05" name="TextBox 18"/>
          <p:cNvSpPr txBox="1">
            <a:spLocks noChangeArrowheads="1"/>
          </p:cNvSpPr>
          <p:nvPr/>
        </p:nvSpPr>
        <p:spPr bwMode="auto">
          <a:xfrm>
            <a:off x="4495800" y="3780504"/>
            <a:ext cx="762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80</a:t>
            </a:r>
          </a:p>
        </p:txBody>
      </p:sp>
      <p:sp>
        <p:nvSpPr>
          <p:cNvPr id="8206" name="TextBox 19"/>
          <p:cNvSpPr txBox="1">
            <a:spLocks noChangeArrowheads="1"/>
          </p:cNvSpPr>
          <p:nvPr/>
        </p:nvSpPr>
        <p:spPr bwMode="auto">
          <a:xfrm>
            <a:off x="4876800" y="2370515"/>
            <a:ext cx="762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130</a:t>
            </a:r>
          </a:p>
        </p:txBody>
      </p:sp>
      <p:sp>
        <p:nvSpPr>
          <p:cNvPr id="8208" name="TextBox 21"/>
          <p:cNvSpPr txBox="1">
            <a:spLocks noChangeArrowheads="1"/>
          </p:cNvSpPr>
          <p:nvPr/>
        </p:nvSpPr>
        <p:spPr bwMode="auto">
          <a:xfrm>
            <a:off x="2296164" y="1401836"/>
            <a:ext cx="762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150</a:t>
            </a:r>
          </a:p>
        </p:txBody>
      </p:sp>
      <p:sp>
        <p:nvSpPr>
          <p:cNvPr id="23" name="Freeform 22"/>
          <p:cNvSpPr/>
          <p:nvPr/>
        </p:nvSpPr>
        <p:spPr>
          <a:xfrm>
            <a:off x="4057650" y="3675729"/>
            <a:ext cx="1006475" cy="661988"/>
          </a:xfrm>
          <a:custGeom>
            <a:avLst/>
            <a:gdLst>
              <a:gd name="connsiteX0" fmla="*/ 1007194 w 1007194"/>
              <a:gd name="connsiteY0" fmla="*/ 0 h 661181"/>
              <a:gd name="connsiteX1" fmla="*/ 472622 w 1007194"/>
              <a:gd name="connsiteY1" fmla="*/ 70338 h 661181"/>
              <a:gd name="connsiteX2" fmla="*/ 388216 w 1007194"/>
              <a:gd name="connsiteY2" fmla="*/ 112541 h 661181"/>
              <a:gd name="connsiteX3" fmla="*/ 233471 w 1007194"/>
              <a:gd name="connsiteY3" fmla="*/ 211015 h 661181"/>
              <a:gd name="connsiteX4" fmla="*/ 163133 w 1007194"/>
              <a:gd name="connsiteY4" fmla="*/ 281353 h 661181"/>
              <a:gd name="connsiteX5" fmla="*/ 92794 w 1007194"/>
              <a:gd name="connsiteY5" fmla="*/ 365760 h 661181"/>
              <a:gd name="connsiteX6" fmla="*/ 78727 w 1007194"/>
              <a:gd name="connsiteY6" fmla="*/ 548640 h 661181"/>
              <a:gd name="connsiteX7" fmla="*/ 8388 w 1007194"/>
              <a:gd name="connsiteY7" fmla="*/ 604910 h 661181"/>
              <a:gd name="connsiteX8" fmla="*/ 8388 w 1007194"/>
              <a:gd name="connsiteY8" fmla="*/ 661181 h 661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7194" h="661181">
                <a:moveTo>
                  <a:pt x="1007194" y="0"/>
                </a:moveTo>
                <a:cubicBezTo>
                  <a:pt x="829003" y="23446"/>
                  <a:pt x="649450" y="38188"/>
                  <a:pt x="472622" y="70338"/>
                </a:cubicBezTo>
                <a:cubicBezTo>
                  <a:pt x="441673" y="75965"/>
                  <a:pt x="415912" y="97628"/>
                  <a:pt x="388216" y="112541"/>
                </a:cubicBezTo>
                <a:cubicBezTo>
                  <a:pt x="335856" y="140735"/>
                  <a:pt x="278763" y="170756"/>
                  <a:pt x="233471" y="211015"/>
                </a:cubicBezTo>
                <a:cubicBezTo>
                  <a:pt x="208689" y="233044"/>
                  <a:pt x="185162" y="256571"/>
                  <a:pt x="163133" y="281353"/>
                </a:cubicBezTo>
                <a:cubicBezTo>
                  <a:pt x="29371" y="431836"/>
                  <a:pt x="184802" y="273752"/>
                  <a:pt x="92794" y="365760"/>
                </a:cubicBezTo>
                <a:cubicBezTo>
                  <a:pt x="88105" y="426720"/>
                  <a:pt x="90718" y="488687"/>
                  <a:pt x="78727" y="548640"/>
                </a:cubicBezTo>
                <a:cubicBezTo>
                  <a:pt x="73529" y="574629"/>
                  <a:pt x="17146" y="587393"/>
                  <a:pt x="8388" y="604910"/>
                </a:cubicBezTo>
                <a:cubicBezTo>
                  <a:pt x="0" y="621687"/>
                  <a:pt x="8388" y="642424"/>
                  <a:pt x="8388" y="661181"/>
                </a:cubicBezTo>
              </a:path>
            </a:pathLst>
          </a:custGeom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10" name="TextBox 23"/>
          <p:cNvSpPr txBox="1">
            <a:spLocks noChangeArrowheads="1"/>
          </p:cNvSpPr>
          <p:nvPr/>
        </p:nvSpPr>
        <p:spPr bwMode="auto">
          <a:xfrm>
            <a:off x="2667000" y="4161504"/>
            <a:ext cx="762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90</a:t>
            </a:r>
          </a:p>
        </p:txBody>
      </p:sp>
      <p:sp>
        <p:nvSpPr>
          <p:cNvPr id="8211" name="TextBox 24"/>
          <p:cNvSpPr txBox="1">
            <a:spLocks noChangeArrowheads="1"/>
          </p:cNvSpPr>
          <p:nvPr/>
        </p:nvSpPr>
        <p:spPr bwMode="auto">
          <a:xfrm>
            <a:off x="1217613" y="2485104"/>
            <a:ext cx="762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05200" y="1418304"/>
            <a:ext cx="609600" cy="3048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180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2408904"/>
            <a:ext cx="990600" cy="3048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180,40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3323304"/>
            <a:ext cx="990600" cy="3048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180,80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34000" y="2866104"/>
            <a:ext cx="1066800" cy="3048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180,110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CC00175-04B4-4990-AA7D-84BCCEB8FE94}"/>
              </a:ext>
            </a:extLst>
          </p:cNvPr>
          <p:cNvSpPr/>
          <p:nvPr/>
        </p:nvSpPr>
        <p:spPr>
          <a:xfrm>
            <a:off x="4953000" y="918449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7868ECC9-454E-4136-911E-EE8B4E76E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764" y="673381"/>
            <a:ext cx="762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200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9D87DD5-0B8B-4684-BA52-9246CF4F9B35}"/>
              </a:ext>
            </a:extLst>
          </p:cNvPr>
          <p:cNvSpPr/>
          <p:nvPr/>
        </p:nvSpPr>
        <p:spPr>
          <a:xfrm>
            <a:off x="1397699" y="901745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33" name="TextBox 21">
            <a:extLst>
              <a:ext uri="{FF2B5EF4-FFF2-40B4-BE49-F238E27FC236}">
                <a16:creationId xmlns:a16="http://schemas.microsoft.com/office/drawing/2014/main" id="{B26E0D5C-0964-4D5B-B626-22CE0CCD5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463" y="656677"/>
            <a:ext cx="762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190</a:t>
            </a:r>
          </a:p>
        </p:txBody>
      </p:sp>
    </p:spTree>
    <p:extLst>
      <p:ext uri="{BB962C8B-B14F-4D97-AF65-F5344CB8AC3E}">
        <p14:creationId xmlns:p14="http://schemas.microsoft.com/office/powerpoint/2010/main" val="742803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66742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Routing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40798-B41E-48C6-A643-BD71433B88BD}"/>
              </a:ext>
            </a:extLst>
          </p:cNvPr>
          <p:cNvSpPr txBox="1"/>
          <p:nvPr/>
        </p:nvSpPr>
        <p:spPr>
          <a:xfrm>
            <a:off x="382459" y="1466863"/>
            <a:ext cx="7883610" cy="492439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No forwarding path states needed-  each node only needs to maintain the minimum cost from this node to the sink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Once the cost field is set up- any sensor can deliver the data to the sink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user has interests in observations from multiple sensors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From the forwarding perspective- each intermediate sensor does not need an ID or an address</a:t>
            </a:r>
            <a:endParaRPr kumimoji="0" lang="en-I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0318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581400" y="4267200"/>
            <a:ext cx="609600" cy="609600"/>
          </a:xfrm>
          <a:prstGeom prst="ellipse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sp>
        <p:nvSpPr>
          <p:cNvPr id="3" name="Oval 2"/>
          <p:cNvSpPr/>
          <p:nvPr/>
        </p:nvSpPr>
        <p:spPr>
          <a:xfrm>
            <a:off x="2590800" y="2667000"/>
            <a:ext cx="609600" cy="609600"/>
          </a:xfrm>
          <a:prstGeom prst="ellipse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sp>
        <p:nvSpPr>
          <p:cNvPr id="4" name="Oval 3"/>
          <p:cNvSpPr/>
          <p:nvPr/>
        </p:nvSpPr>
        <p:spPr>
          <a:xfrm>
            <a:off x="3581400" y="1066800"/>
            <a:ext cx="609600" cy="609600"/>
          </a:xfrm>
          <a:prstGeom prst="ellipse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2800" y="2667000"/>
            <a:ext cx="533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Symbol"/>
              </a:rPr>
              <a:t>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43400" y="1219200"/>
            <a:ext cx="533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Symbol"/>
              </a:rPr>
              <a:t>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43400" y="4414838"/>
            <a:ext cx="53340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Symbol"/>
              </a:rPr>
              <a:t>0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1676400" y="762000"/>
            <a:ext cx="5257800" cy="4876800"/>
          </a:xfrm>
          <a:prstGeom prst="ellipse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72000" y="5105400"/>
            <a:ext cx="1295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ADV -0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2800" y="2743200"/>
            <a:ext cx="6858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Symbol"/>
              </a:rPr>
              <a:t>1.5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91000" y="1447800"/>
            <a:ext cx="6858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7600" y="5562600"/>
            <a:ext cx="958850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Symbol"/>
              </a:rPr>
              <a:t> = 10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676400" y="762000"/>
            <a:ext cx="5257800" cy="4876800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5181600" y="4038600"/>
            <a:ext cx="1295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ADV -1.5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0" y="1447800"/>
            <a:ext cx="7620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Symbol"/>
              </a:rPr>
              <a:t>2.5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2879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7" grpId="0"/>
      <p:bldP spid="8" grpId="0" animBg="1"/>
      <p:bldP spid="8" grpId="1" animBg="1"/>
      <p:bldP spid="9" grpId="0"/>
      <p:bldP spid="9" grpId="1"/>
      <p:bldP spid="10" grpId="0"/>
      <p:bldP spid="12" grpId="0"/>
      <p:bldP spid="12" grpId="1"/>
      <p:bldP spid="14" grpId="0" animBg="1"/>
      <p:bldP spid="14" grpId="1" animBg="1"/>
      <p:bldP spid="15" grpId="0"/>
      <p:bldP spid="15" grpId="1"/>
      <p:bldP spid="16" grpId="0"/>
    </p:bldLst>
  </p:timing>
</p:sld>
</file>

<file path=ppt/theme/theme1.xml><?xml version="1.0" encoding="utf-8"?>
<a:theme xmlns:a="http://schemas.openxmlformats.org/drawingml/2006/main" name="8_Blank">
  <a:themeElements>
    <a:clrScheme name="Bits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FCB017"/>
      </a:accent1>
      <a:accent2>
        <a:srgbClr val="76C2E5"/>
      </a:accent2>
      <a:accent3>
        <a:srgbClr val="FF0000"/>
      </a:accent3>
      <a:accent4>
        <a:srgbClr val="002960"/>
      </a:accent4>
      <a:accent5>
        <a:srgbClr val="FF6600"/>
      </a:accent5>
      <a:accent6>
        <a:srgbClr val="808080"/>
      </a:accent6>
      <a:hlink>
        <a:srgbClr val="FF0000"/>
      </a:hlink>
      <a:folHlink>
        <a:srgbClr val="00296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lIns="91425" tIns="91425" rIns="91425" bIns="91425" anchor="b" anchorCtr="0"/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1180</TotalTime>
  <Words>156</Words>
  <Application>Microsoft Office PowerPoint</Application>
  <PresentationFormat>On-screen Show (4:3)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8_Blank</vt:lpstr>
      <vt:lpstr>Retrospect</vt:lpstr>
      <vt:lpstr>Routing</vt:lpstr>
      <vt:lpstr>PowerPoint Presentation</vt:lpstr>
      <vt:lpstr>Routing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WILP Transformation  Work Stream  Update in WSLM 14: MAY 27, 2015</dc:title>
  <dc:creator>Clarance Suman Vissakodeti</dc:creator>
  <cp:lastModifiedBy>Abid AK</cp:lastModifiedBy>
  <cp:revision>91</cp:revision>
  <dcterms:modified xsi:type="dcterms:W3CDTF">2025-04-17T12:08:15Z</dcterms:modified>
</cp:coreProperties>
</file>