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8" r:id="rId1"/>
  </p:sldMasterIdLst>
  <p:notesMasterIdLst>
    <p:notesMasterId r:id="rId5"/>
  </p:notesMasterIdLst>
  <p:handoutMasterIdLst>
    <p:handoutMasterId r:id="rId6"/>
  </p:handoutMasterIdLst>
  <p:sldIdLst>
    <p:sldId id="288" r:id="rId2"/>
    <p:sldId id="289" r:id="rId3"/>
    <p:sldId id="290" r:id="rId4"/>
  </p:sldIdLst>
  <p:sldSz cx="9144000" cy="6858000" type="screen4x3"/>
  <p:notesSz cx="6805613" cy="99441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F77E56C-7D47-4C29-AAEB-9FD71A0A3F1F}">
  <a:tblStyle styleId="{8F77E56C-7D47-4C29-AAEB-9FD71A0A3F1F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</a:tblStyle>
  <a:tblStyle styleId="{1562F7F7-E2AF-42E1-A3D0-5D2B67903BC4}" styleName="Table_1"/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7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8" d="100"/>
          <a:sy n="78" d="100"/>
        </p:scale>
        <p:origin x="397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BE9B4E-3786-43E4-ADC0-DE2945E09898}" type="datetimeFigureOut">
              <a:rPr lang="en-IN" smtClean="0"/>
              <a:t>07-04-2025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19563C-2CF4-4AF1-9C09-67033D314C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93185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54939" y="0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917575" y="746125"/>
            <a:ext cx="4972049" cy="37290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0562" y="4723448"/>
            <a:ext cx="5444489" cy="447484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9445168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54939" y="9445168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blipFill rotWithShape="1"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0"/>
          <p:cNvSpPr txBox="1">
            <a:spLocks noGrp="1"/>
          </p:cNvSpPr>
          <p:nvPr>
            <p:ph type="title"/>
          </p:nvPr>
        </p:nvSpPr>
        <p:spPr>
          <a:xfrm>
            <a:off x="2514603" y="3810003"/>
            <a:ext cx="6019799" cy="1524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l" rtl="0">
              <a:lnSpc>
                <a:spcPct val="90909"/>
              </a:lnSpc>
              <a:spcBef>
                <a:spcPts val="0"/>
              </a:spcBef>
              <a:defRPr/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23042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9D2B54D-D235-4FDA-A4BC-DA55A0289DFA}" type="datetime1">
              <a:rPr lang="en-US" altLang="en-US" smtClean="0"/>
              <a:t>4/7/2025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en-US"/>
              <a:t>EEEG627  NEA - Class1 - Prof.K.R.Anupama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7FB8918-A69B-4523-8AA9-950C4492CEC7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8559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161"/>
          <p:cNvSpPr/>
          <p:nvPr/>
        </p:nvSpPr>
        <p:spPr>
          <a:xfrm>
            <a:off x="8246615" y="37254"/>
            <a:ext cx="670613" cy="1247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Shape 162"/>
          <p:cNvSpPr txBox="1">
            <a:spLocks noGrp="1"/>
          </p:cNvSpPr>
          <p:nvPr>
            <p:ph type="body" idx="1"/>
          </p:nvPr>
        </p:nvSpPr>
        <p:spPr>
          <a:xfrm>
            <a:off x="159604" y="1152465"/>
            <a:ext cx="8833823" cy="501020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defRPr/>
            </a:lvl1pPr>
            <a:lvl2pPr marL="197272" marR="0" lvl="1" indent="-7027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▪"/>
              <a:defRPr/>
            </a:lvl2pPr>
            <a:lvl3pPr marL="465681" marR="0" lvl="2" indent="-15326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–"/>
              <a:defRPr/>
            </a:lvl3pPr>
            <a:lvl4pPr marL="625773" marR="0" lvl="3" indent="-46653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▫"/>
              <a:defRPr/>
            </a:lvl4pPr>
            <a:lvl5pPr marL="763733" marR="0" lvl="4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5pPr>
            <a:lvl6pPr marL="763733" marR="0" lvl="5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6pPr>
            <a:lvl7pPr marL="763733" marR="0" lvl="6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7pPr>
            <a:lvl8pPr marL="763733" marR="0" lvl="7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8pPr>
            <a:lvl9pPr marL="763733" marR="0" lvl="8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9pPr>
          </a:lstStyle>
          <a:p>
            <a:endParaRPr dirty="0"/>
          </a:p>
        </p:txBody>
      </p:sp>
      <p:sp>
        <p:nvSpPr>
          <p:cNvPr id="163" name="Shape 163"/>
          <p:cNvSpPr txBox="1">
            <a:spLocks noGrp="1"/>
          </p:cNvSpPr>
          <p:nvPr>
            <p:ph type="title"/>
          </p:nvPr>
        </p:nvSpPr>
        <p:spPr>
          <a:xfrm>
            <a:off x="159604" y="151603"/>
            <a:ext cx="6526336" cy="59665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marR="0" lvl="5" indent="-8481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marR="0" lvl="6" indent="-4282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marR="0" lvl="7" indent="-74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marR="0" lvl="8" indent="-8560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1" y="6785609"/>
            <a:ext cx="9144000" cy="72389"/>
            <a:chOff x="1998227" y="6500996"/>
            <a:chExt cx="7153215" cy="46648"/>
          </a:xfrm>
        </p:grpSpPr>
        <p:sp>
          <p:nvSpPr>
            <p:cNvPr id="170" name="Shape 170"/>
            <p:cNvSpPr/>
            <p:nvPr/>
          </p:nvSpPr>
          <p:spPr>
            <a:xfrm>
              <a:off x="4408551" y="6500996"/>
              <a:ext cx="2376028" cy="46648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Shape 171"/>
            <p:cNvSpPr/>
            <p:nvPr/>
          </p:nvSpPr>
          <p:spPr>
            <a:xfrm>
              <a:off x="1998227" y="6500996"/>
              <a:ext cx="2410322" cy="46648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Shape 172"/>
            <p:cNvSpPr/>
            <p:nvPr/>
          </p:nvSpPr>
          <p:spPr>
            <a:xfrm>
              <a:off x="6775414" y="6500996"/>
              <a:ext cx="2376028" cy="466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" name="Shape 18" descr="BITS_university_logo_whitevert.png"/>
          <p:cNvPicPr preferRelativeResize="0"/>
          <p:nvPr userDrawn="1"/>
        </p:nvPicPr>
        <p:blipFill rotWithShape="1">
          <a:blip r:embed="rId4">
            <a:alphaModFix/>
          </a:blip>
          <a:srcRect t="2" b="28592"/>
          <a:stretch/>
        </p:blipFill>
        <p:spPr>
          <a:xfrm>
            <a:off x="8138322" y="23045"/>
            <a:ext cx="939004" cy="903678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Shape 184"/>
          <p:cNvSpPr txBox="1"/>
          <p:nvPr userDrawn="1"/>
        </p:nvSpPr>
        <p:spPr>
          <a:xfrm>
            <a:off x="8095553" y="841751"/>
            <a:ext cx="1024542" cy="264293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SzPct val="25000"/>
              <a:buNone/>
            </a:pPr>
            <a:r>
              <a:rPr lang="en-US" sz="12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BITS</a:t>
            </a:r>
            <a:r>
              <a:rPr lang="en-US" sz="12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Pilani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9" r:id="rId1"/>
    <p:sldLayoutId id="214748367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59603" y="374024"/>
            <a:ext cx="7569812" cy="868622"/>
          </a:xfrm>
        </p:spPr>
        <p:txBody>
          <a:bodyPr/>
          <a:lstStyle/>
          <a:p>
            <a:r>
              <a:rPr lang="en-IN" sz="3600" dirty="0">
                <a:latin typeface="Calibri" panose="020F0502020204030204" pitchFamily="34" charset="0"/>
                <a:cs typeface="Calibri" panose="020F0502020204030204" pitchFamily="34" charset="0"/>
              </a:rPr>
              <a:t>Networks of Embedded Systems (NES)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59603" y="3429000"/>
            <a:ext cx="8833823" cy="2964334"/>
          </a:xfrm>
        </p:spPr>
        <p:txBody>
          <a:bodyPr>
            <a:normAutofit/>
          </a:bodyPr>
          <a:lstStyle/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US" altLang="en-US" sz="2400" kern="1200" dirty="0">
                <a:solidFill>
                  <a:srgbClr val="000099"/>
                </a:solidFill>
                <a:latin typeface="Tahoma" panose="020B0604030504040204" pitchFamily="34" charset="0"/>
                <a:ea typeface="+mn-ea"/>
                <a:cs typeface="+mn-cs"/>
              </a:rPr>
              <a:t>Large scale, ad hoc networks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US" altLang="en-US" sz="2400" kern="1200" dirty="0">
                <a:solidFill>
                  <a:srgbClr val="000099"/>
                </a:solidFill>
                <a:latin typeface="Tahoma" panose="020B0604030504040204" pitchFamily="34" charset="0"/>
                <a:ea typeface="+mn-ea"/>
                <a:cs typeface="+mn-cs"/>
              </a:rPr>
              <a:t>Heterogeneous node functionality: sensors, intelligent cameras, smart appliances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US" altLang="en-US" sz="2400" kern="1200" dirty="0">
                <a:solidFill>
                  <a:srgbClr val="000099"/>
                </a:solidFill>
                <a:latin typeface="Tahoma" panose="020B0604030504040204" pitchFamily="34" charset="0"/>
                <a:ea typeface="+mn-ea"/>
                <a:cs typeface="+mn-cs"/>
              </a:rPr>
              <a:t>Limited resources: CPU, memory, bandwidth, energy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US" altLang="en-US" sz="2400" kern="1200" dirty="0">
                <a:solidFill>
                  <a:srgbClr val="000099"/>
                </a:solidFill>
                <a:latin typeface="Tahoma" panose="020B0604030504040204" pitchFamily="34" charset="0"/>
                <a:ea typeface="+mn-ea"/>
                <a:cs typeface="+mn-cs"/>
              </a:rPr>
              <a:t>Wired/ Wireless Communication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US" altLang="en-US" sz="2400" kern="1200" dirty="0">
                <a:solidFill>
                  <a:srgbClr val="000099"/>
                </a:solidFill>
                <a:latin typeface="Tahoma" panose="020B0604030504040204" pitchFamily="34" charset="0"/>
                <a:ea typeface="+mn-ea"/>
                <a:cs typeface="+mn-cs"/>
              </a:rPr>
              <a:t>Volatile, possibly mobile</a:t>
            </a:r>
            <a:endParaRPr lang="en-US" altLang="en-US" sz="2400" kern="1200" dirty="0">
              <a:solidFill>
                <a:prstClr val="black">
                  <a:lumMod val="65000"/>
                  <a:lumOff val="35000"/>
                </a:prstClr>
              </a:solidFill>
              <a:latin typeface="Gill Sans MT" panose="020B0502020104020203"/>
              <a:ea typeface="+mn-ea"/>
              <a:cs typeface="+mn-c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dirty="0"/>
          </a:p>
        </p:txBody>
      </p:sp>
      <p:pic>
        <p:nvPicPr>
          <p:cNvPr id="4" name="Picture 4" descr="C:\Documents and Settings\Cristian\presentations\cars.jpg">
            <a:extLst>
              <a:ext uri="{FF2B5EF4-FFF2-40B4-BE49-F238E27FC236}">
                <a16:creationId xmlns:a16="http://schemas.microsoft.com/office/drawing/2014/main" id="{7121B7E4-E783-4948-842E-45485B123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1371600"/>
            <a:ext cx="1981200" cy="1036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5" descr="C:\Documents and Settings\Cristian\presentations\zebra.jpg">
            <a:extLst>
              <a:ext uri="{FF2B5EF4-FFF2-40B4-BE49-F238E27FC236}">
                <a16:creationId xmlns:a16="http://schemas.microsoft.com/office/drawing/2014/main" id="{3A76B3F0-EAB4-41D0-9B1C-7418E5144E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0" y="1403350"/>
            <a:ext cx="2514600" cy="1030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 Box 6">
            <a:extLst>
              <a:ext uri="{FF2B5EF4-FFF2-40B4-BE49-F238E27FC236}">
                <a16:creationId xmlns:a16="http://schemas.microsoft.com/office/drawing/2014/main" id="{0A799F66-944D-44D5-83DC-7A96549C60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4200" y="2514600"/>
            <a:ext cx="1576388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en-US" altLang="en-US" sz="2000" b="1">
                <a:solidFill>
                  <a:srgbClr val="D60093"/>
                </a:solidFill>
                <a:latin typeface="Tahoma" panose="020B0604030504040204" pitchFamily="34" charset="0"/>
              </a:rPr>
              <a:t>Wildlife</a:t>
            </a:r>
          </a:p>
          <a:p>
            <a:pPr algn="ctr"/>
            <a:r>
              <a:rPr lang="en-US" altLang="en-US" sz="2000" b="1">
                <a:solidFill>
                  <a:srgbClr val="D60093"/>
                </a:solidFill>
                <a:latin typeface="Tahoma" panose="020B0604030504040204" pitchFamily="34" charset="0"/>
              </a:rPr>
              <a:t>Monitoring</a:t>
            </a:r>
          </a:p>
        </p:txBody>
      </p:sp>
      <p:sp>
        <p:nvSpPr>
          <p:cNvPr id="7" name="Text Box 7">
            <a:extLst>
              <a:ext uri="{FF2B5EF4-FFF2-40B4-BE49-F238E27FC236}">
                <a16:creationId xmlns:a16="http://schemas.microsoft.com/office/drawing/2014/main" id="{F7DC23EE-703D-487A-A74B-ADB59830A5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4600" y="2514600"/>
            <a:ext cx="153035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en-US" altLang="en-US" sz="2000" b="1">
                <a:solidFill>
                  <a:srgbClr val="D60093"/>
                </a:solidFill>
                <a:latin typeface="Tahoma" panose="020B0604030504040204" pitchFamily="34" charset="0"/>
              </a:rPr>
              <a:t>Intelligent</a:t>
            </a:r>
          </a:p>
          <a:p>
            <a:pPr algn="ctr"/>
            <a:r>
              <a:rPr lang="en-US" altLang="en-US" sz="2000" b="1">
                <a:solidFill>
                  <a:srgbClr val="D60093"/>
                </a:solidFill>
                <a:latin typeface="Tahoma" panose="020B0604030504040204" pitchFamily="34" charset="0"/>
              </a:rPr>
              <a:t>Highways</a:t>
            </a:r>
          </a:p>
        </p:txBody>
      </p:sp>
      <p:sp>
        <p:nvSpPr>
          <p:cNvPr id="8" name="Text Box 8">
            <a:extLst>
              <a:ext uri="{FF2B5EF4-FFF2-40B4-BE49-F238E27FC236}">
                <a16:creationId xmlns:a16="http://schemas.microsoft.com/office/drawing/2014/main" id="{DB1AEDFC-5D68-4347-A770-55B9F319EE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9600" y="2514600"/>
            <a:ext cx="1874838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en-US" altLang="en-US" sz="2000" b="1">
                <a:solidFill>
                  <a:srgbClr val="D60093"/>
                </a:solidFill>
                <a:latin typeface="Tahoma" panose="020B0604030504040204" pitchFamily="34" charset="0"/>
              </a:rPr>
              <a:t>Collaborative</a:t>
            </a:r>
          </a:p>
          <a:p>
            <a:pPr algn="ctr"/>
            <a:r>
              <a:rPr lang="en-US" altLang="en-US" sz="2000" b="1">
                <a:solidFill>
                  <a:srgbClr val="D60093"/>
                </a:solidFill>
                <a:latin typeface="Tahoma" panose="020B0604030504040204" pitchFamily="34" charset="0"/>
              </a:rPr>
              <a:t>Robots</a:t>
            </a:r>
          </a:p>
        </p:txBody>
      </p:sp>
      <p:sp>
        <p:nvSpPr>
          <p:cNvPr id="9" name="Text Box 10">
            <a:extLst>
              <a:ext uri="{FF2B5EF4-FFF2-40B4-BE49-F238E27FC236}">
                <a16:creationId xmlns:a16="http://schemas.microsoft.com/office/drawing/2014/main" id="{9CD5E83B-AC8E-4BEF-A50B-352E9AFBCB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321" y="2669977"/>
            <a:ext cx="1677062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en-US" altLang="en-US" sz="2000" b="1" dirty="0">
                <a:solidFill>
                  <a:srgbClr val="D60093"/>
                </a:solidFill>
                <a:latin typeface="Tahoma" panose="020B0604030504040204" pitchFamily="34" charset="0"/>
              </a:rPr>
              <a:t>Automotive</a:t>
            </a:r>
          </a:p>
          <a:p>
            <a:pPr algn="ctr"/>
            <a:r>
              <a:rPr lang="en-US" altLang="en-US" sz="2000" b="1" dirty="0">
                <a:solidFill>
                  <a:srgbClr val="D60093"/>
                </a:solidFill>
                <a:latin typeface="Tahoma" panose="020B0604030504040204" pitchFamily="34" charset="0"/>
              </a:rPr>
              <a:t>Networks</a:t>
            </a:r>
          </a:p>
        </p:txBody>
      </p:sp>
      <p:pic>
        <p:nvPicPr>
          <p:cNvPr id="10" name="Picture 11" descr="C:\Documents and Settings\Cristian\presentations\robots.jpg">
            <a:extLst>
              <a:ext uri="{FF2B5EF4-FFF2-40B4-BE49-F238E27FC236}">
                <a16:creationId xmlns:a16="http://schemas.microsoft.com/office/drawing/2014/main" id="{DCF962B9-B17D-4C8E-BA61-D5D5875976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5800" y="1371600"/>
            <a:ext cx="1752600" cy="1057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http://www.sae.org/dlymagazineimages/10234_12380_ACT.jpg">
            <a:extLst>
              <a:ext uri="{FF2B5EF4-FFF2-40B4-BE49-F238E27FC236}">
                <a16:creationId xmlns:a16="http://schemas.microsoft.com/office/drawing/2014/main" id="{5356A55D-BBD9-4833-891E-5BFFD64EEE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960" y="1403350"/>
            <a:ext cx="1408989" cy="1266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99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59603" y="374024"/>
            <a:ext cx="7569812" cy="868622"/>
          </a:xfrm>
        </p:spPr>
        <p:txBody>
          <a:bodyPr/>
          <a:lstStyle/>
          <a:p>
            <a:r>
              <a:rPr lang="en-IN" sz="4000" dirty="0">
                <a:latin typeface="Calibri" panose="020F0502020204030204" pitchFamily="34" charset="0"/>
                <a:cs typeface="Calibri" panose="020F0502020204030204" pitchFamily="34" charset="0"/>
              </a:rPr>
              <a:t>Networked Embedded Systems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59603" y="1383125"/>
            <a:ext cx="8833823" cy="5010209"/>
          </a:xfrm>
        </p:spPr>
        <p:txBody>
          <a:bodyPr>
            <a:normAutofit/>
          </a:bodyPr>
          <a:lstStyle/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   Deeply Embedded Systems</a:t>
            </a:r>
          </a:p>
          <a:p>
            <a:pPr marL="536575" lvl="0" indent="-536575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Sensor networks</a:t>
            </a:r>
          </a:p>
          <a:p>
            <a:pPr marL="536575" lvl="0" indent="-536575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Distributed control applications</a:t>
            </a:r>
          </a:p>
          <a:p>
            <a:pPr marL="536575" lvl="0" indent="-536575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Industrial Automation – Industry 4.0</a:t>
            </a:r>
          </a:p>
          <a:p>
            <a:pPr marL="536575" lvl="0" indent="-536575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Automotive Electronics + ITS</a:t>
            </a:r>
          </a:p>
          <a:p>
            <a:pPr marL="536575" lvl="0" indent="-536575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Ubiquitous computing environments</a:t>
            </a:r>
          </a:p>
          <a:p>
            <a:pPr marL="536575" lvl="0" indent="-536575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IoT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6099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59603" y="374024"/>
            <a:ext cx="7569812" cy="868622"/>
          </a:xfrm>
        </p:spPr>
        <p:txBody>
          <a:bodyPr/>
          <a:lstStyle/>
          <a:p>
            <a:r>
              <a:rPr lang="en-IN" sz="4000" dirty="0">
                <a:latin typeface="Calibri" panose="020F0502020204030204" pitchFamily="34" charset="0"/>
                <a:cs typeface="Calibri" panose="020F0502020204030204" pitchFamily="34" charset="0"/>
              </a:rPr>
              <a:t>NES - Characteristics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59603" y="1383125"/>
            <a:ext cx="8833823" cy="5010209"/>
          </a:xfrm>
        </p:spPr>
        <p:txBody>
          <a:bodyPr>
            <a:normAutofit/>
          </a:bodyPr>
          <a:lstStyle/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Involve many energy-constrained, resource-limited devices operating in concert 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Largely self-organizing and self-maintaining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Must be robust despite significant noise, loss, and failure</a:t>
            </a: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r>
              <a:rPr lang="en-IN" sz="2400" kern="1200" dirty="0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Real-Time </a:t>
            </a:r>
            <a:r>
              <a:rPr lang="en-IN" sz="2400" kern="1200" dirty="0" err="1">
                <a:solidFill>
                  <a:prstClr val="black">
                    <a:lumMod val="65000"/>
                    <a:lumOff val="35000"/>
                  </a:prstClr>
                </a:solidFill>
                <a:latin typeface="Gill Sans MT" panose="020B0502020104020203"/>
                <a:ea typeface="+mn-ea"/>
                <a:cs typeface="+mn-cs"/>
              </a:rPr>
              <a:t>Applns</a:t>
            </a:r>
            <a:endParaRPr lang="en-IN" sz="2400" kern="1200" dirty="0">
              <a:solidFill>
                <a:prstClr val="black">
                  <a:lumMod val="65000"/>
                  <a:lumOff val="35000"/>
                </a:prstClr>
              </a:solidFill>
              <a:latin typeface="Gill Sans MT" panose="020B0502020104020203"/>
              <a:ea typeface="+mn-ea"/>
              <a:cs typeface="+mn-cs"/>
            </a:endParaRPr>
          </a:p>
          <a:p>
            <a:pPr marL="228600" lvl="0" indent="-228600" defTabSz="685800">
              <a:lnSpc>
                <a:spcPct val="110000"/>
              </a:lnSpc>
              <a:spcBef>
                <a:spcPts val="700"/>
              </a:spcBef>
              <a:buClr>
                <a:srgbClr val="0B082E"/>
              </a:buClr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7828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8_Blank">
  <a:themeElements>
    <a:clrScheme name="Bits">
      <a:dk1>
        <a:srgbClr val="000000"/>
      </a:dk1>
      <a:lt1>
        <a:srgbClr val="FFFFFF"/>
      </a:lt1>
      <a:dk2>
        <a:srgbClr val="002960"/>
      </a:dk2>
      <a:lt2>
        <a:srgbClr val="FFFFFF"/>
      </a:lt2>
      <a:accent1>
        <a:srgbClr val="FCB017"/>
      </a:accent1>
      <a:accent2>
        <a:srgbClr val="76C2E5"/>
      </a:accent2>
      <a:accent3>
        <a:srgbClr val="FF0000"/>
      </a:accent3>
      <a:accent4>
        <a:srgbClr val="002960"/>
      </a:accent4>
      <a:accent5>
        <a:srgbClr val="FF6600"/>
      </a:accent5>
      <a:accent6>
        <a:srgbClr val="808080"/>
      </a:accent6>
      <a:hlink>
        <a:srgbClr val="FF0000"/>
      </a:hlink>
      <a:folHlink>
        <a:srgbClr val="00296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  <a:ln>
          <a:noFill/>
        </a:ln>
      </a:spPr>
      <a:bodyPr lIns="91425" tIns="91425" rIns="91425" bIns="91425" anchor="b" anchorCtr="0"/>
      <a:lstStyle>
        <a:defPPr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305</TotalTime>
  <Words>104</Words>
  <Application>Microsoft Office PowerPoint</Application>
  <PresentationFormat>On-screen Show (4:3)</PresentationFormat>
  <Paragraphs>27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Gill Sans MT</vt:lpstr>
      <vt:lpstr>Tahoma</vt:lpstr>
      <vt:lpstr>8_Blank</vt:lpstr>
      <vt:lpstr>Networks of Embedded Systems (NES)</vt:lpstr>
      <vt:lpstr>Networked Embedded Systems</vt:lpstr>
      <vt:lpstr>NES - Characteristics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WILP Transformation  Work Stream  Update in WSLM 14: MAY 27, 2015</dc:title>
  <dc:creator>Clarance Suman Vissakodeti</dc:creator>
  <cp:lastModifiedBy>Abid AK</cp:lastModifiedBy>
  <cp:revision>27</cp:revision>
  <dcterms:modified xsi:type="dcterms:W3CDTF">2025-04-07T11:22:08Z</dcterms:modified>
</cp:coreProperties>
</file>