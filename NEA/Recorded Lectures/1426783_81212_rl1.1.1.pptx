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69" r:id="rId3"/>
    <p:sldId id="288" r:id="rId4"/>
    <p:sldId id="289" r:id="rId5"/>
    <p:sldId id="290" r:id="rId6"/>
    <p:sldId id="284" r:id="rId7"/>
    <p:sldId id="291" r:id="rId8"/>
    <p:sldId id="292" r:id="rId9"/>
    <p:sldId id="293" r:id="rId10"/>
    <p:sldId id="294" r:id="rId11"/>
  </p:sldIdLst>
  <p:sldSz cx="9144000" cy="6858000" type="screen4x3"/>
  <p:notesSz cx="6805613" cy="99441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F77E56C-7D47-4C29-AAEB-9FD71A0A3F1F}">
  <a:tblStyle styleId="{8F77E56C-7D47-4C29-AAEB-9FD71A0A3F1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</a:tblStyle>
  <a:tblStyle styleId="{1562F7F7-E2AF-42E1-A3D0-5D2B67903BC4}" styleName="Table_1"/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686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97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E9B4E-3786-43E4-ADC0-DE2945E09898}" type="datetimeFigureOut">
              <a:rPr lang="en-IN" smtClean="0"/>
              <a:t>09-07-2019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9563C-2CF4-4AF1-9C09-67033D314C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318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54939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6125"/>
            <a:ext cx="4972049" cy="37290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0562" y="4723448"/>
            <a:ext cx="5444489" cy="447484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54939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6125"/>
            <a:ext cx="4972050" cy="37290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41" name="Shape 241"/>
          <p:cNvSpPr txBox="1">
            <a:spLocks noGrp="1"/>
          </p:cNvSpPr>
          <p:nvPr>
            <p:ph type="body" idx="1"/>
          </p:nvPr>
        </p:nvSpPr>
        <p:spPr>
          <a:xfrm>
            <a:off x="680562" y="4723448"/>
            <a:ext cx="5444489" cy="447484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Shape 242"/>
          <p:cNvSpPr txBox="1">
            <a:spLocks noGrp="1"/>
          </p:cNvSpPr>
          <p:nvPr>
            <p:ph type="sldNum" idx="12"/>
          </p:nvPr>
        </p:nvSpPr>
        <p:spPr>
          <a:xfrm>
            <a:off x="3854939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Shape 189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" y="17"/>
            <a:ext cx="9142380" cy="6882117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Shape 190"/>
          <p:cNvSpPr/>
          <p:nvPr/>
        </p:nvSpPr>
        <p:spPr>
          <a:xfrm>
            <a:off x="0" y="4253985"/>
            <a:ext cx="9144000" cy="262813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lIns="93125" tIns="46550" rIns="93125" bIns="46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Shape 191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764470" y="15"/>
            <a:ext cx="2237873" cy="7067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5" name="Shape 195"/>
          <p:cNvGrpSpPr/>
          <p:nvPr/>
        </p:nvGrpSpPr>
        <p:grpSpPr>
          <a:xfrm>
            <a:off x="6778635" y="691752"/>
            <a:ext cx="2254818" cy="699729"/>
            <a:chOff x="76200" y="2209800"/>
            <a:chExt cx="2209799" cy="685799"/>
          </a:xfrm>
        </p:grpSpPr>
        <p:sp>
          <p:nvSpPr>
            <p:cNvPr id="196" name="Shape 196"/>
            <p:cNvSpPr txBox="1"/>
            <p:nvPr/>
          </p:nvSpPr>
          <p:spPr>
            <a:xfrm>
              <a:off x="76200" y="2209800"/>
              <a:ext cx="2209799" cy="55399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SzPct val="25000"/>
                <a:buNone/>
              </a:pPr>
              <a:r>
                <a:rPr lang="en-US" sz="3000" b="1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BITS</a:t>
              </a:r>
              <a:r>
                <a:rPr lang="en-US" sz="3000" b="0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Pilani</a:t>
              </a:r>
            </a:p>
          </p:txBody>
        </p:sp>
        <p:sp>
          <p:nvSpPr>
            <p:cNvPr id="197" name="Shape 197"/>
            <p:cNvSpPr txBox="1"/>
            <p:nvPr/>
          </p:nvSpPr>
          <p:spPr>
            <a:xfrm>
              <a:off x="228600" y="2664767"/>
              <a:ext cx="1904999" cy="230832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SzPct val="25000"/>
                <a:buNone/>
              </a:pPr>
              <a:r>
                <a:rPr lang="en-US" sz="9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Pilani | Dubai | Goa | Hyderabad</a:t>
              </a:r>
            </a:p>
          </p:txBody>
        </p:sp>
      </p:grpSp>
      <p:sp>
        <p:nvSpPr>
          <p:cNvPr id="198" name="Shape 198"/>
          <p:cNvSpPr txBox="1">
            <a:spLocks noGrp="1"/>
          </p:cNvSpPr>
          <p:nvPr>
            <p:ph type="ctrTitle"/>
          </p:nvPr>
        </p:nvSpPr>
        <p:spPr>
          <a:xfrm>
            <a:off x="320728" y="5237530"/>
            <a:ext cx="6199129" cy="105110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1" y="6814184"/>
            <a:ext cx="9144000" cy="72389"/>
            <a:chOff x="1998227" y="6500996"/>
            <a:chExt cx="7153215" cy="46648"/>
          </a:xfrm>
        </p:grpSpPr>
        <p:sp>
          <p:nvSpPr>
            <p:cNvPr id="14" name="Shape 170"/>
            <p:cNvSpPr/>
            <p:nvPr/>
          </p:nvSpPr>
          <p:spPr>
            <a:xfrm>
              <a:off x="4408551" y="6500996"/>
              <a:ext cx="2376028" cy="4664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Shape 171"/>
            <p:cNvSpPr/>
            <p:nvPr/>
          </p:nvSpPr>
          <p:spPr>
            <a:xfrm>
              <a:off x="1998227" y="6500996"/>
              <a:ext cx="2410322" cy="4664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Shape 172"/>
            <p:cNvSpPr/>
            <p:nvPr/>
          </p:nvSpPr>
          <p:spPr>
            <a:xfrm>
              <a:off x="6775414" y="6500996"/>
              <a:ext cx="2376028" cy="466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Shape 198"/>
          <p:cNvSpPr txBox="1">
            <a:spLocks/>
          </p:cNvSpPr>
          <p:nvPr userDrawn="1"/>
        </p:nvSpPr>
        <p:spPr>
          <a:xfrm>
            <a:off x="320728" y="4374693"/>
            <a:ext cx="6199129" cy="85838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>
            <a:spLocks noGrp="1"/>
          </p:cNvSpPr>
          <p:nvPr>
            <p:ph type="title"/>
          </p:nvPr>
        </p:nvSpPr>
        <p:spPr>
          <a:xfrm>
            <a:off x="121505" y="260796"/>
            <a:ext cx="6526336" cy="5966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lvl="5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lvl="6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lvl="7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lvl="8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bg>
      <p:bgPr>
        <a:blipFill rotWithShape="1"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2514603" y="3810003"/>
            <a:ext cx="6019799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l" rtl="0">
              <a:lnSpc>
                <a:spcPct val="90909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3042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9D2B54D-D235-4FDA-A4BC-DA55A0289DFA}" type="datetime1">
              <a:rPr lang="en-US" altLang="en-US" smtClean="0"/>
              <a:t>7/9/2019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EEEG627  NEA - Class1 - Prof.K.R.Anupama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FB8918-A69B-4523-8AA9-950C4492CEC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559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/>
          <p:nvPr/>
        </p:nvSpPr>
        <p:spPr>
          <a:xfrm>
            <a:off x="8246615" y="37254"/>
            <a:ext cx="670613" cy="124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Shape 162"/>
          <p:cNvSpPr txBox="1">
            <a:spLocks noGrp="1"/>
          </p:cNvSpPr>
          <p:nvPr>
            <p:ph type="body" idx="1"/>
          </p:nvPr>
        </p:nvSpPr>
        <p:spPr>
          <a:xfrm>
            <a:off x="159604" y="1152465"/>
            <a:ext cx="8833823" cy="501020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197272" marR="0" lvl="1" indent="-7027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▪"/>
              <a:defRPr/>
            </a:lvl2pPr>
            <a:lvl3pPr marL="465681" marR="0" lvl="2" indent="-15326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–"/>
              <a:defRPr/>
            </a:lvl3pPr>
            <a:lvl4pPr marL="625773" marR="0" lvl="3" indent="-46653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▫"/>
              <a:defRPr/>
            </a:lvl4pPr>
            <a:lvl5pPr marL="763733" marR="0" lvl="4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5pPr>
            <a:lvl6pPr marL="763733" marR="0" lvl="5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6pPr>
            <a:lvl7pPr marL="763733" marR="0" lvl="6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7pPr>
            <a:lvl8pPr marL="763733" marR="0" lvl="7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8pPr>
            <a:lvl9pPr marL="763733" marR="0" lvl="8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9pPr>
          </a:lstStyle>
          <a:p>
            <a:endParaRPr dirty="0"/>
          </a:p>
        </p:txBody>
      </p:sp>
      <p:sp>
        <p:nvSpPr>
          <p:cNvPr id="163" name="Shape 163"/>
          <p:cNvSpPr txBox="1">
            <a:spLocks noGrp="1"/>
          </p:cNvSpPr>
          <p:nvPr>
            <p:ph type="title"/>
          </p:nvPr>
        </p:nvSpPr>
        <p:spPr>
          <a:xfrm>
            <a:off x="159604" y="151603"/>
            <a:ext cx="6526336" cy="5966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1" y="6785609"/>
            <a:ext cx="9144000" cy="72389"/>
            <a:chOff x="1998227" y="6500996"/>
            <a:chExt cx="7153215" cy="46648"/>
          </a:xfrm>
        </p:grpSpPr>
        <p:sp>
          <p:nvSpPr>
            <p:cNvPr id="170" name="Shape 170"/>
            <p:cNvSpPr/>
            <p:nvPr/>
          </p:nvSpPr>
          <p:spPr>
            <a:xfrm>
              <a:off x="4408551" y="6500996"/>
              <a:ext cx="2376028" cy="4664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Shape 171"/>
            <p:cNvSpPr/>
            <p:nvPr/>
          </p:nvSpPr>
          <p:spPr>
            <a:xfrm>
              <a:off x="1998227" y="6500996"/>
              <a:ext cx="2410322" cy="4664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Shape 172"/>
            <p:cNvSpPr/>
            <p:nvPr/>
          </p:nvSpPr>
          <p:spPr>
            <a:xfrm>
              <a:off x="6775414" y="6500996"/>
              <a:ext cx="2376028" cy="466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" name="Shape 18" descr="BITS_university_logo_whitevert.png"/>
          <p:cNvPicPr preferRelativeResize="0"/>
          <p:nvPr userDrawn="1"/>
        </p:nvPicPr>
        <p:blipFill rotWithShape="1">
          <a:blip r:embed="rId6">
            <a:alphaModFix/>
          </a:blip>
          <a:srcRect t="2" b="28592"/>
          <a:stretch/>
        </p:blipFill>
        <p:spPr>
          <a:xfrm>
            <a:off x="8138322" y="23045"/>
            <a:ext cx="939004" cy="90367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Shape 184"/>
          <p:cNvSpPr txBox="1"/>
          <p:nvPr userDrawn="1"/>
        </p:nvSpPr>
        <p:spPr>
          <a:xfrm>
            <a:off x="8095553" y="841751"/>
            <a:ext cx="1024542" cy="26429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12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1" r:id="rId2"/>
    <p:sldLayoutId id="2147483669" r:id="rId3"/>
    <p:sldLayoutId id="2147483670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 txBox="1">
            <a:spLocks noGrp="1"/>
          </p:cNvSpPr>
          <p:nvPr>
            <p:ph type="ctrTitle"/>
          </p:nvPr>
        </p:nvSpPr>
        <p:spPr>
          <a:xfrm>
            <a:off x="273103" y="4570780"/>
            <a:ext cx="7305708" cy="1434604"/>
          </a:xfrm>
          <a:prstGeom prst="rect">
            <a:avLst/>
          </a:prstGeom>
          <a:noFill/>
          <a:ln>
            <a:noFill/>
          </a:ln>
        </p:spPr>
        <p:txBody>
          <a:bodyPr lIns="91400" tIns="45700" rIns="91400" bIns="45700" anchor="ctr" anchorCtr="0">
            <a:noAutofit/>
          </a:bodyPr>
          <a:lstStyle/>
          <a:p>
            <a:pPr marL="0" marR="0" lvl="0" indent="0" rtl="0">
              <a:lnSpc>
                <a:spcPct val="111111"/>
              </a:lnSpc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-US" sz="44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Network Embedded Applications -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9603" y="374024"/>
            <a:ext cx="7569812" cy="868622"/>
          </a:xfrm>
        </p:spPr>
        <p:txBody>
          <a:bodyPr/>
          <a:lstStyle/>
          <a:p>
            <a:r>
              <a:rPr lang="en-IN" sz="4000" dirty="0">
                <a:latin typeface="Calibri" panose="020F0502020204030204" pitchFamily="34" charset="0"/>
                <a:cs typeface="Calibri" panose="020F0502020204030204" pitchFamily="34" charset="0"/>
              </a:rPr>
              <a:t>Networked Embedded Systems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9603" y="1383125"/>
            <a:ext cx="8833823" cy="5010209"/>
          </a:xfrm>
        </p:spPr>
        <p:txBody>
          <a:bodyPr>
            <a:normAutofit/>
          </a:bodyPr>
          <a:lstStyle/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Collection of </a:t>
            </a:r>
            <a:r>
              <a:rPr lang="en-US" sz="2400" kern="1200" dirty="0">
                <a:solidFill>
                  <a:srgbClr val="FF0000"/>
                </a:solidFill>
                <a:latin typeface="Gill Sans MT" panose="020B0502020104020203"/>
                <a:ea typeface="+mn-ea"/>
                <a:cs typeface="+mn-cs"/>
              </a:rPr>
              <a:t>spatially </a:t>
            </a:r>
            <a:r>
              <a:rPr lang="en-US" sz="2400" kern="1200" dirty="0">
                <a:solidFill>
                  <a:prstClr val="black">
                    <a:lumMod val="95000"/>
                    <a:lumOff val="5000"/>
                  </a:prstClr>
                </a:solidFill>
                <a:latin typeface="Gill Sans MT" panose="020B0502020104020203"/>
                <a:ea typeface="+mn-ea"/>
                <a:cs typeface="+mn-cs"/>
              </a:rPr>
              <a:t>&amp; </a:t>
            </a:r>
            <a:r>
              <a:rPr lang="en-US" sz="2400" kern="1200" dirty="0">
                <a:solidFill>
                  <a:schemeClr val="bg2">
                    <a:lumMod val="75000"/>
                    <a:lumOff val="25000"/>
                  </a:schemeClr>
                </a:solidFill>
                <a:latin typeface="Gill Sans MT" panose="020B0502020104020203"/>
                <a:ea typeface="+mn-ea"/>
                <a:cs typeface="+mn-cs"/>
              </a:rPr>
              <a:t>functionally</a:t>
            </a:r>
            <a:r>
              <a:rPr lang="en-US" sz="2400" kern="1200" dirty="0">
                <a:solidFill>
                  <a:srgbClr val="C65E5E">
                    <a:lumMod val="50000"/>
                  </a:srgbClr>
                </a:solidFill>
                <a:latin typeface="Gill Sans MT" panose="020B0502020104020203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prstClr val="black"/>
                </a:solidFill>
                <a:latin typeface="Gill Sans MT" panose="020B0502020104020203"/>
                <a:ea typeface="+mn-ea"/>
                <a:cs typeface="+mn-cs"/>
              </a:rPr>
              <a:t>embedded nodes connected via wireline/wireless communication infrastructure/protocols interacting with the environment</a:t>
            </a:r>
          </a:p>
          <a:p>
            <a:pPr marL="685800" lvl="1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Gill Sans MT" panose="020B0502020104020203" pitchFamily="34" charset="0"/>
              <a:buChar char="–"/>
            </a:pPr>
            <a:r>
              <a:rPr lang="en-US" sz="2400" kern="1200" dirty="0">
                <a:solidFill>
                  <a:prstClr val="black"/>
                </a:solidFill>
                <a:latin typeface="Gill Sans MT" panose="020B0502020104020203"/>
                <a:ea typeface="+mn-ea"/>
                <a:cs typeface="+mn-cs"/>
              </a:rPr>
              <a:t>Sensors, Actuators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prstClr val="black"/>
                </a:solidFill>
                <a:latin typeface="Gill Sans MT" panose="020B0502020104020203"/>
                <a:ea typeface="+mn-ea"/>
                <a:cs typeface="+mn-cs"/>
              </a:rPr>
              <a:t>Interact with each other 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prstClr val="black"/>
                </a:solidFill>
                <a:latin typeface="Gill Sans MT" panose="020B0502020104020203"/>
                <a:ea typeface="+mn-ea"/>
                <a:cs typeface="+mn-cs"/>
              </a:rPr>
              <a:t>Master node  - overall coordination – working towards a single goal</a:t>
            </a:r>
            <a:endParaRPr lang="en-US" sz="2400" kern="1200" dirty="0">
              <a:solidFill>
                <a:prstClr val="black">
                  <a:lumMod val="65000"/>
                  <a:lumOff val="35000"/>
                </a:prstClr>
              </a:solidFill>
              <a:latin typeface="Gill Sans MT" panose="020B0502020104020203"/>
              <a:ea typeface="+mn-ea"/>
              <a:cs typeface="+mn-c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9321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9603" y="374024"/>
            <a:ext cx="7569812" cy="868622"/>
          </a:xfrm>
        </p:spPr>
        <p:txBody>
          <a:bodyPr/>
          <a:lstStyle/>
          <a:p>
            <a:r>
              <a:rPr lang="en-IN" sz="3600" dirty="0">
                <a:latin typeface="Calibri" panose="020F0502020204030204" pitchFamily="34" charset="0"/>
                <a:cs typeface="Calibri" panose="020F0502020204030204" pitchFamily="34" charset="0"/>
              </a:rPr>
              <a:t>Networks of Embedded Systems (NES)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9603" y="3429000"/>
            <a:ext cx="8833823" cy="2964334"/>
          </a:xfrm>
        </p:spPr>
        <p:txBody>
          <a:bodyPr>
            <a:normAutofit/>
          </a:bodyPr>
          <a:lstStyle/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US" altLang="en-US" sz="2400" kern="1200" dirty="0">
                <a:solidFill>
                  <a:srgbClr val="000099"/>
                </a:solidFill>
                <a:latin typeface="Tahoma" panose="020B0604030504040204" pitchFamily="34" charset="0"/>
                <a:ea typeface="+mn-ea"/>
                <a:cs typeface="+mn-cs"/>
              </a:rPr>
              <a:t>Large scale, ad hoc networks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US" altLang="en-US" sz="2400" kern="1200" dirty="0">
                <a:solidFill>
                  <a:srgbClr val="000099"/>
                </a:solidFill>
                <a:latin typeface="Tahoma" panose="020B0604030504040204" pitchFamily="34" charset="0"/>
                <a:ea typeface="+mn-ea"/>
                <a:cs typeface="+mn-cs"/>
              </a:rPr>
              <a:t>Heterogeneous node functionality: sensors, intelligent cameras, smart appliances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US" altLang="en-US" sz="2400" kern="1200" dirty="0">
                <a:solidFill>
                  <a:srgbClr val="000099"/>
                </a:solidFill>
                <a:latin typeface="Tahoma" panose="020B0604030504040204" pitchFamily="34" charset="0"/>
                <a:ea typeface="+mn-ea"/>
                <a:cs typeface="+mn-cs"/>
              </a:rPr>
              <a:t>Limited resources: CPU, memory, bandwidth, energy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US" altLang="en-US" sz="2400" kern="1200" dirty="0">
                <a:solidFill>
                  <a:srgbClr val="000099"/>
                </a:solidFill>
                <a:latin typeface="Tahoma" panose="020B0604030504040204" pitchFamily="34" charset="0"/>
                <a:ea typeface="+mn-ea"/>
                <a:cs typeface="+mn-cs"/>
              </a:rPr>
              <a:t>Wired/ Wireless Communication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US" altLang="en-US" sz="2400" kern="1200" dirty="0">
                <a:solidFill>
                  <a:srgbClr val="000099"/>
                </a:solidFill>
                <a:latin typeface="Tahoma" panose="020B0604030504040204" pitchFamily="34" charset="0"/>
                <a:ea typeface="+mn-ea"/>
                <a:cs typeface="+mn-cs"/>
              </a:rPr>
              <a:t>Volatile, possibly mobile</a:t>
            </a:r>
            <a:endParaRPr lang="en-US" altLang="en-US" sz="2400" kern="1200" dirty="0">
              <a:solidFill>
                <a:prstClr val="black">
                  <a:lumMod val="65000"/>
                  <a:lumOff val="35000"/>
                </a:prstClr>
              </a:solidFill>
              <a:latin typeface="Gill Sans MT" panose="020B0502020104020203"/>
              <a:ea typeface="+mn-ea"/>
              <a:cs typeface="+mn-c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4" name="Picture 4" descr="C:\Documents and Settings\Cristian\presentations\cars.jpg">
            <a:extLst>
              <a:ext uri="{FF2B5EF4-FFF2-40B4-BE49-F238E27FC236}">
                <a16:creationId xmlns:a16="http://schemas.microsoft.com/office/drawing/2014/main" id="{7121B7E4-E783-4948-842E-45485B123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371600"/>
            <a:ext cx="1981200" cy="1036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5" descr="C:\Documents and Settings\Cristian\presentations\zebra.jpg">
            <a:extLst>
              <a:ext uri="{FF2B5EF4-FFF2-40B4-BE49-F238E27FC236}">
                <a16:creationId xmlns:a16="http://schemas.microsoft.com/office/drawing/2014/main" id="{3A76B3F0-EAB4-41D0-9B1C-7418E5144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403350"/>
            <a:ext cx="2514600" cy="1030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Box 6">
            <a:extLst>
              <a:ext uri="{FF2B5EF4-FFF2-40B4-BE49-F238E27FC236}">
                <a16:creationId xmlns:a16="http://schemas.microsoft.com/office/drawing/2014/main" id="{0A799F66-944D-44D5-83DC-7A96549C6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2514600"/>
            <a:ext cx="15763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 b="1">
                <a:solidFill>
                  <a:srgbClr val="D60093"/>
                </a:solidFill>
                <a:latin typeface="Tahoma" panose="020B0604030504040204" pitchFamily="34" charset="0"/>
              </a:rPr>
              <a:t>Wildlife</a:t>
            </a:r>
          </a:p>
          <a:p>
            <a:pPr algn="ctr"/>
            <a:r>
              <a:rPr lang="en-US" altLang="en-US" sz="2000" b="1">
                <a:solidFill>
                  <a:srgbClr val="D60093"/>
                </a:solidFill>
                <a:latin typeface="Tahoma" panose="020B0604030504040204" pitchFamily="34" charset="0"/>
              </a:rPr>
              <a:t>Monitoring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F7DC23EE-703D-487A-A74B-ADB59830A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2514600"/>
            <a:ext cx="15303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 b="1">
                <a:solidFill>
                  <a:srgbClr val="D60093"/>
                </a:solidFill>
                <a:latin typeface="Tahoma" panose="020B0604030504040204" pitchFamily="34" charset="0"/>
              </a:rPr>
              <a:t>Intelligent</a:t>
            </a:r>
          </a:p>
          <a:p>
            <a:pPr algn="ctr"/>
            <a:r>
              <a:rPr lang="en-US" altLang="en-US" sz="2000" b="1">
                <a:solidFill>
                  <a:srgbClr val="D60093"/>
                </a:solidFill>
                <a:latin typeface="Tahoma" panose="020B0604030504040204" pitchFamily="34" charset="0"/>
              </a:rPr>
              <a:t>Highways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DB1AEDFC-5D68-4347-A770-55B9F319E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2514600"/>
            <a:ext cx="18748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 b="1">
                <a:solidFill>
                  <a:srgbClr val="D60093"/>
                </a:solidFill>
                <a:latin typeface="Tahoma" panose="020B0604030504040204" pitchFamily="34" charset="0"/>
              </a:rPr>
              <a:t>Collaborative</a:t>
            </a:r>
          </a:p>
          <a:p>
            <a:pPr algn="ctr"/>
            <a:r>
              <a:rPr lang="en-US" altLang="en-US" sz="2000" b="1">
                <a:solidFill>
                  <a:srgbClr val="D60093"/>
                </a:solidFill>
                <a:latin typeface="Tahoma" panose="020B0604030504040204" pitchFamily="34" charset="0"/>
              </a:rPr>
              <a:t>Robots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9CD5E83B-AC8E-4BEF-A50B-352E9AFBCB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321" y="2669977"/>
            <a:ext cx="16770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 b="1" dirty="0">
                <a:solidFill>
                  <a:srgbClr val="D60093"/>
                </a:solidFill>
                <a:latin typeface="Tahoma" panose="020B0604030504040204" pitchFamily="34" charset="0"/>
              </a:rPr>
              <a:t>Automotive</a:t>
            </a:r>
          </a:p>
          <a:p>
            <a:pPr algn="ctr"/>
            <a:r>
              <a:rPr lang="en-US" altLang="en-US" sz="2000" b="1" dirty="0">
                <a:solidFill>
                  <a:srgbClr val="D60093"/>
                </a:solidFill>
                <a:latin typeface="Tahoma" panose="020B0604030504040204" pitchFamily="34" charset="0"/>
              </a:rPr>
              <a:t>Networks</a:t>
            </a:r>
          </a:p>
        </p:txBody>
      </p:sp>
      <p:pic>
        <p:nvPicPr>
          <p:cNvPr id="10" name="Picture 11" descr="C:\Documents and Settings\Cristian\presentations\robots.jpg">
            <a:extLst>
              <a:ext uri="{FF2B5EF4-FFF2-40B4-BE49-F238E27FC236}">
                <a16:creationId xmlns:a16="http://schemas.microsoft.com/office/drawing/2014/main" id="{DCF962B9-B17D-4C8E-BA61-D5D587597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371600"/>
            <a:ext cx="175260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http://www.sae.org/dlymagazineimages/10234_12380_ACT.jpg">
            <a:extLst>
              <a:ext uri="{FF2B5EF4-FFF2-40B4-BE49-F238E27FC236}">
                <a16:creationId xmlns:a16="http://schemas.microsoft.com/office/drawing/2014/main" id="{5356A55D-BBD9-4833-891E-5BFFD64EE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960" y="1403350"/>
            <a:ext cx="1408989" cy="1266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99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9603" y="374024"/>
            <a:ext cx="7569812" cy="868622"/>
          </a:xfrm>
        </p:spPr>
        <p:txBody>
          <a:bodyPr/>
          <a:lstStyle/>
          <a:p>
            <a:r>
              <a:rPr lang="en-IN" sz="4000" dirty="0">
                <a:latin typeface="Calibri" panose="020F0502020204030204" pitchFamily="34" charset="0"/>
                <a:cs typeface="Calibri" panose="020F0502020204030204" pitchFamily="34" charset="0"/>
              </a:rPr>
              <a:t>Networked Embedded Systems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9603" y="1383125"/>
            <a:ext cx="8833823" cy="5010209"/>
          </a:xfrm>
        </p:spPr>
        <p:txBody>
          <a:bodyPr>
            <a:normAutofit/>
          </a:bodyPr>
          <a:lstStyle/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   Deeply Embedded Systems</a:t>
            </a:r>
          </a:p>
          <a:p>
            <a:pPr marL="536575" lvl="0" indent="-536575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Sensor networks</a:t>
            </a:r>
          </a:p>
          <a:p>
            <a:pPr marL="536575" lvl="0" indent="-536575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Distributed control applications</a:t>
            </a:r>
          </a:p>
          <a:p>
            <a:pPr marL="536575" lvl="0" indent="-536575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Industrial Automation – Industry 4.0</a:t>
            </a:r>
          </a:p>
          <a:p>
            <a:pPr marL="536575" lvl="0" indent="-536575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Automotive Electronics + ITS</a:t>
            </a:r>
          </a:p>
          <a:p>
            <a:pPr marL="536575" lvl="0" indent="-536575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Ubiquitous computing environments</a:t>
            </a:r>
          </a:p>
          <a:p>
            <a:pPr marL="536575" lvl="0" indent="-536575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IoT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6099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9603" y="374024"/>
            <a:ext cx="7569812" cy="868622"/>
          </a:xfrm>
        </p:spPr>
        <p:txBody>
          <a:bodyPr/>
          <a:lstStyle/>
          <a:p>
            <a:r>
              <a:rPr lang="en-IN" sz="4000" dirty="0">
                <a:latin typeface="Calibri" panose="020F0502020204030204" pitchFamily="34" charset="0"/>
                <a:cs typeface="Calibri" panose="020F0502020204030204" pitchFamily="34" charset="0"/>
              </a:rPr>
              <a:t>NES - Characteristics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9603" y="1383125"/>
            <a:ext cx="8833823" cy="5010209"/>
          </a:xfrm>
        </p:spPr>
        <p:txBody>
          <a:bodyPr>
            <a:normAutofit/>
          </a:bodyPr>
          <a:lstStyle/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Involve many energy-constrained, resource-limited devices operating in concert 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Largely self-organizing and self-maintaining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Must be robust despite significant noise, loss, and failure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Real-Time </a:t>
            </a:r>
            <a:r>
              <a:rPr lang="en-IN" sz="2400" kern="12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Applns</a:t>
            </a:r>
            <a:endParaRPr lang="en-IN" sz="2400" kern="1200" dirty="0">
              <a:solidFill>
                <a:prstClr val="black">
                  <a:lumMod val="65000"/>
                  <a:lumOff val="35000"/>
                </a:prstClr>
              </a:solidFill>
              <a:latin typeface="Gill Sans MT" panose="020B0502020104020203"/>
              <a:ea typeface="+mn-ea"/>
              <a:cs typeface="+mn-cs"/>
            </a:endParaRP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7828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NES</a:t>
            </a:r>
          </a:p>
        </p:txBody>
      </p:sp>
      <p:pic>
        <p:nvPicPr>
          <p:cNvPr id="4" name="Picture 3" descr="A close up of a sign&#10;&#10;Description generated with high confidence">
            <a:extLst>
              <a:ext uri="{FF2B5EF4-FFF2-40B4-BE49-F238E27FC236}">
                <a16:creationId xmlns:a16="http://schemas.microsoft.com/office/drawing/2014/main" id="{CD43DD65-D872-4793-A99C-92D52F284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63" y="2246614"/>
            <a:ext cx="834338" cy="834338"/>
          </a:xfrm>
          <a:prstGeom prst="rect">
            <a:avLst/>
          </a:prstGeom>
        </p:spPr>
      </p:pic>
      <p:pic>
        <p:nvPicPr>
          <p:cNvPr id="5" name="Picture 4" descr="A close up of a sign&#10;&#10;Description generated with high confidence">
            <a:extLst>
              <a:ext uri="{FF2B5EF4-FFF2-40B4-BE49-F238E27FC236}">
                <a16:creationId xmlns:a16="http://schemas.microsoft.com/office/drawing/2014/main" id="{E4D0BC29-8BFA-436F-9690-A6ED7D9D7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836" y="1951275"/>
            <a:ext cx="834338" cy="834338"/>
          </a:xfrm>
          <a:prstGeom prst="rect">
            <a:avLst/>
          </a:prstGeom>
        </p:spPr>
      </p:pic>
      <p:pic>
        <p:nvPicPr>
          <p:cNvPr id="6" name="Picture 5" descr="A close up of a sign&#10;&#10;Description generated with high confidence">
            <a:extLst>
              <a:ext uri="{FF2B5EF4-FFF2-40B4-BE49-F238E27FC236}">
                <a16:creationId xmlns:a16="http://schemas.microsoft.com/office/drawing/2014/main" id="{3EC4F6CD-CC88-4CE2-9569-60D2C20EF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381" y="4329630"/>
            <a:ext cx="834338" cy="834338"/>
          </a:xfrm>
          <a:prstGeom prst="rect">
            <a:avLst/>
          </a:prstGeom>
        </p:spPr>
      </p:pic>
      <p:pic>
        <p:nvPicPr>
          <p:cNvPr id="7" name="Picture 6" descr="A close up of a sign&#10;&#10;Description generated with high confidence">
            <a:extLst>
              <a:ext uri="{FF2B5EF4-FFF2-40B4-BE49-F238E27FC236}">
                <a16:creationId xmlns:a16="http://schemas.microsoft.com/office/drawing/2014/main" id="{AC6E4746-6357-4297-B56A-D244BF64E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5575" y="4066665"/>
            <a:ext cx="834338" cy="834338"/>
          </a:xfrm>
          <a:prstGeom prst="rect">
            <a:avLst/>
          </a:prstGeom>
        </p:spPr>
      </p:pic>
      <p:pic>
        <p:nvPicPr>
          <p:cNvPr id="8" name="Picture 7" descr="A close up of a sign&#10;&#10;Description generated with high confidence">
            <a:extLst>
              <a:ext uri="{FF2B5EF4-FFF2-40B4-BE49-F238E27FC236}">
                <a16:creationId xmlns:a16="http://schemas.microsoft.com/office/drawing/2014/main" id="{9E6F5980-C63F-4B1C-B1A7-39E72E4A7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917" y="4066665"/>
            <a:ext cx="834338" cy="834338"/>
          </a:xfrm>
          <a:prstGeom prst="rect">
            <a:avLst/>
          </a:prstGeom>
        </p:spPr>
      </p:pic>
      <p:pic>
        <p:nvPicPr>
          <p:cNvPr id="9" name="Picture 8" descr="A close up of a sign&#10;&#10;Description generated with high confidence">
            <a:extLst>
              <a:ext uri="{FF2B5EF4-FFF2-40B4-BE49-F238E27FC236}">
                <a16:creationId xmlns:a16="http://schemas.microsoft.com/office/drawing/2014/main" id="{12FD7EC7-B21A-4F44-957D-19383A3A2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680" y="1378167"/>
            <a:ext cx="834338" cy="834338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99DFEC3-7CC7-41D0-BA42-8CC9B36E39D1}"/>
              </a:ext>
            </a:extLst>
          </p:cNvPr>
          <p:cNvSpPr/>
          <p:nvPr/>
        </p:nvSpPr>
        <p:spPr>
          <a:xfrm>
            <a:off x="1252151" y="1565189"/>
            <a:ext cx="1285103" cy="345989"/>
          </a:xfrm>
          <a:custGeom>
            <a:avLst/>
            <a:gdLst>
              <a:gd name="connsiteX0" fmla="*/ 0 w 1285103"/>
              <a:gd name="connsiteY0" fmla="*/ 345989 h 345989"/>
              <a:gd name="connsiteX1" fmla="*/ 1285103 w 1285103"/>
              <a:gd name="connsiteY1" fmla="*/ 0 h 345989"/>
              <a:gd name="connsiteX2" fmla="*/ 1285103 w 1285103"/>
              <a:gd name="connsiteY2" fmla="*/ 0 h 345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5103" h="345989">
                <a:moveTo>
                  <a:pt x="0" y="345989"/>
                </a:moveTo>
                <a:lnTo>
                  <a:pt x="1285103" y="0"/>
                </a:lnTo>
                <a:lnTo>
                  <a:pt x="1285103" y="0"/>
                </a:lnTo>
              </a:path>
            </a:pathLst>
          </a:custGeom>
          <a:noFill/>
          <a:ln w="5715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14B478-832B-439F-AA0A-FC7CFFB95DBF}"/>
              </a:ext>
            </a:extLst>
          </p:cNvPr>
          <p:cNvCxnSpPr/>
          <p:nvPr/>
        </p:nvCxnSpPr>
        <p:spPr>
          <a:xfrm flipH="1">
            <a:off x="1853514" y="2339546"/>
            <a:ext cx="1210962" cy="1458097"/>
          </a:xfrm>
          <a:prstGeom prst="line">
            <a:avLst/>
          </a:prstGeom>
          <a:ln w="762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05CF20C-7733-47B0-BAC5-EFD6BD497568}"/>
              </a:ext>
            </a:extLst>
          </p:cNvPr>
          <p:cNvCxnSpPr/>
          <p:nvPr/>
        </p:nvCxnSpPr>
        <p:spPr>
          <a:xfrm>
            <a:off x="2273643" y="4456670"/>
            <a:ext cx="1210962" cy="205946"/>
          </a:xfrm>
          <a:prstGeom prst="line">
            <a:avLst/>
          </a:prstGeom>
          <a:ln w="762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35040B-9E12-4C41-95BD-449DABEA9823}"/>
              </a:ext>
            </a:extLst>
          </p:cNvPr>
          <p:cNvCxnSpPr/>
          <p:nvPr/>
        </p:nvCxnSpPr>
        <p:spPr>
          <a:xfrm flipV="1">
            <a:off x="4852086" y="4329630"/>
            <a:ext cx="691979" cy="217656"/>
          </a:xfrm>
          <a:prstGeom prst="line">
            <a:avLst/>
          </a:prstGeom>
          <a:ln w="762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75733B-58CA-4974-8251-2B4F5887E571}"/>
              </a:ext>
            </a:extLst>
          </p:cNvPr>
          <p:cNvCxnSpPr/>
          <p:nvPr/>
        </p:nvCxnSpPr>
        <p:spPr>
          <a:xfrm>
            <a:off x="5988908" y="2899719"/>
            <a:ext cx="0" cy="897924"/>
          </a:xfrm>
          <a:prstGeom prst="line">
            <a:avLst/>
          </a:prstGeom>
          <a:ln w="762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Graphic 22" descr="Laptop">
            <a:extLst>
              <a:ext uri="{FF2B5EF4-FFF2-40B4-BE49-F238E27FC236}">
                <a16:creationId xmlns:a16="http://schemas.microsoft.com/office/drawing/2014/main" id="{BEF0786E-4BC7-4B5F-ACBE-97A937181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54097" y="3739978"/>
            <a:ext cx="914400" cy="914400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6F28968-FB5C-4427-ACF0-1C27F06147D1}"/>
              </a:ext>
            </a:extLst>
          </p:cNvPr>
          <p:cNvCxnSpPr/>
          <p:nvPr/>
        </p:nvCxnSpPr>
        <p:spPr>
          <a:xfrm flipV="1">
            <a:off x="6763265" y="3937686"/>
            <a:ext cx="716692" cy="259492"/>
          </a:xfrm>
          <a:prstGeom prst="line">
            <a:avLst/>
          </a:prstGeom>
          <a:ln w="762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680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IoT</a:t>
            </a:r>
          </a:p>
        </p:txBody>
      </p:sp>
      <p:pic>
        <p:nvPicPr>
          <p:cNvPr id="4" name="Picture 3" descr="A close up of a sign&#10;&#10;Description generated with high confidence">
            <a:extLst>
              <a:ext uri="{FF2B5EF4-FFF2-40B4-BE49-F238E27FC236}">
                <a16:creationId xmlns:a16="http://schemas.microsoft.com/office/drawing/2014/main" id="{CD43DD65-D872-4793-A99C-92D52F284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63" y="2246614"/>
            <a:ext cx="834338" cy="834338"/>
          </a:xfrm>
          <a:prstGeom prst="rect">
            <a:avLst/>
          </a:prstGeom>
        </p:spPr>
      </p:pic>
      <p:pic>
        <p:nvPicPr>
          <p:cNvPr id="5" name="Picture 4" descr="A close up of a sign&#10;&#10;Description generated with high confidence">
            <a:extLst>
              <a:ext uri="{FF2B5EF4-FFF2-40B4-BE49-F238E27FC236}">
                <a16:creationId xmlns:a16="http://schemas.microsoft.com/office/drawing/2014/main" id="{E4D0BC29-8BFA-436F-9690-A6ED7D9D7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836" y="1951275"/>
            <a:ext cx="834338" cy="834338"/>
          </a:xfrm>
          <a:prstGeom prst="rect">
            <a:avLst/>
          </a:prstGeom>
        </p:spPr>
      </p:pic>
      <p:pic>
        <p:nvPicPr>
          <p:cNvPr id="6" name="Picture 5" descr="A close up of a sign&#10;&#10;Description generated with high confidence">
            <a:extLst>
              <a:ext uri="{FF2B5EF4-FFF2-40B4-BE49-F238E27FC236}">
                <a16:creationId xmlns:a16="http://schemas.microsoft.com/office/drawing/2014/main" id="{3EC4F6CD-CC88-4CE2-9569-60D2C20EF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381" y="4329630"/>
            <a:ext cx="834338" cy="834338"/>
          </a:xfrm>
          <a:prstGeom prst="rect">
            <a:avLst/>
          </a:prstGeom>
        </p:spPr>
      </p:pic>
      <p:pic>
        <p:nvPicPr>
          <p:cNvPr id="7" name="Picture 6" descr="A close up of a sign&#10;&#10;Description generated with high confidence">
            <a:extLst>
              <a:ext uri="{FF2B5EF4-FFF2-40B4-BE49-F238E27FC236}">
                <a16:creationId xmlns:a16="http://schemas.microsoft.com/office/drawing/2014/main" id="{AC6E4746-6357-4297-B56A-D244BF64E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5575" y="4066665"/>
            <a:ext cx="834338" cy="834338"/>
          </a:xfrm>
          <a:prstGeom prst="rect">
            <a:avLst/>
          </a:prstGeom>
        </p:spPr>
      </p:pic>
      <p:pic>
        <p:nvPicPr>
          <p:cNvPr id="8" name="Picture 7" descr="A close up of a sign&#10;&#10;Description generated with high confidence">
            <a:extLst>
              <a:ext uri="{FF2B5EF4-FFF2-40B4-BE49-F238E27FC236}">
                <a16:creationId xmlns:a16="http://schemas.microsoft.com/office/drawing/2014/main" id="{9E6F5980-C63F-4B1C-B1A7-39E72E4A7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917" y="4066665"/>
            <a:ext cx="834338" cy="834338"/>
          </a:xfrm>
          <a:prstGeom prst="rect">
            <a:avLst/>
          </a:prstGeom>
        </p:spPr>
      </p:pic>
      <p:pic>
        <p:nvPicPr>
          <p:cNvPr id="9" name="Picture 8" descr="A close up of a sign&#10;&#10;Description generated with high confidence">
            <a:extLst>
              <a:ext uri="{FF2B5EF4-FFF2-40B4-BE49-F238E27FC236}">
                <a16:creationId xmlns:a16="http://schemas.microsoft.com/office/drawing/2014/main" id="{12FD7EC7-B21A-4F44-957D-19383A3A2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680" y="1378167"/>
            <a:ext cx="834338" cy="834338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99DFEC3-7CC7-41D0-BA42-8CC9B36E39D1}"/>
              </a:ext>
            </a:extLst>
          </p:cNvPr>
          <p:cNvSpPr/>
          <p:nvPr/>
        </p:nvSpPr>
        <p:spPr>
          <a:xfrm>
            <a:off x="1252151" y="1565189"/>
            <a:ext cx="1285103" cy="345989"/>
          </a:xfrm>
          <a:custGeom>
            <a:avLst/>
            <a:gdLst>
              <a:gd name="connsiteX0" fmla="*/ 0 w 1285103"/>
              <a:gd name="connsiteY0" fmla="*/ 345989 h 345989"/>
              <a:gd name="connsiteX1" fmla="*/ 1285103 w 1285103"/>
              <a:gd name="connsiteY1" fmla="*/ 0 h 345989"/>
              <a:gd name="connsiteX2" fmla="*/ 1285103 w 1285103"/>
              <a:gd name="connsiteY2" fmla="*/ 0 h 345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5103" h="345989">
                <a:moveTo>
                  <a:pt x="0" y="345989"/>
                </a:moveTo>
                <a:lnTo>
                  <a:pt x="1285103" y="0"/>
                </a:lnTo>
                <a:lnTo>
                  <a:pt x="1285103" y="0"/>
                </a:lnTo>
              </a:path>
            </a:pathLst>
          </a:custGeom>
          <a:noFill/>
          <a:ln w="5715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14B478-832B-439F-AA0A-FC7CFFB95DBF}"/>
              </a:ext>
            </a:extLst>
          </p:cNvPr>
          <p:cNvCxnSpPr/>
          <p:nvPr/>
        </p:nvCxnSpPr>
        <p:spPr>
          <a:xfrm flipH="1">
            <a:off x="1853514" y="2339546"/>
            <a:ext cx="1210962" cy="1458097"/>
          </a:xfrm>
          <a:prstGeom prst="line">
            <a:avLst/>
          </a:prstGeom>
          <a:ln w="762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05CF20C-7733-47B0-BAC5-EFD6BD497568}"/>
              </a:ext>
            </a:extLst>
          </p:cNvPr>
          <p:cNvCxnSpPr/>
          <p:nvPr/>
        </p:nvCxnSpPr>
        <p:spPr>
          <a:xfrm>
            <a:off x="2273643" y="4456670"/>
            <a:ext cx="1210962" cy="205946"/>
          </a:xfrm>
          <a:prstGeom prst="line">
            <a:avLst/>
          </a:prstGeom>
          <a:ln w="762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35040B-9E12-4C41-95BD-449DABEA9823}"/>
              </a:ext>
            </a:extLst>
          </p:cNvPr>
          <p:cNvCxnSpPr/>
          <p:nvPr/>
        </p:nvCxnSpPr>
        <p:spPr>
          <a:xfrm flipV="1">
            <a:off x="4852086" y="4329630"/>
            <a:ext cx="691979" cy="217656"/>
          </a:xfrm>
          <a:prstGeom prst="line">
            <a:avLst/>
          </a:prstGeom>
          <a:ln w="762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75733B-58CA-4974-8251-2B4F5887E571}"/>
              </a:ext>
            </a:extLst>
          </p:cNvPr>
          <p:cNvCxnSpPr/>
          <p:nvPr/>
        </p:nvCxnSpPr>
        <p:spPr>
          <a:xfrm>
            <a:off x="5988908" y="2899719"/>
            <a:ext cx="0" cy="897924"/>
          </a:xfrm>
          <a:prstGeom prst="line">
            <a:avLst/>
          </a:prstGeom>
          <a:ln w="762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Graphic 22" descr="Laptop">
            <a:extLst>
              <a:ext uri="{FF2B5EF4-FFF2-40B4-BE49-F238E27FC236}">
                <a16:creationId xmlns:a16="http://schemas.microsoft.com/office/drawing/2014/main" id="{BEF0786E-4BC7-4B5F-ACBE-97A937181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54097" y="3739978"/>
            <a:ext cx="914400" cy="914400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6F28968-FB5C-4427-ACF0-1C27F06147D1}"/>
              </a:ext>
            </a:extLst>
          </p:cNvPr>
          <p:cNvCxnSpPr/>
          <p:nvPr/>
        </p:nvCxnSpPr>
        <p:spPr>
          <a:xfrm flipV="1">
            <a:off x="6763265" y="3937686"/>
            <a:ext cx="716692" cy="259492"/>
          </a:xfrm>
          <a:prstGeom prst="line">
            <a:avLst/>
          </a:prstGeom>
          <a:ln w="762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7993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IoT</a:t>
            </a:r>
          </a:p>
        </p:txBody>
      </p:sp>
      <p:pic>
        <p:nvPicPr>
          <p:cNvPr id="4" name="Picture 3" descr="A close up of a sign&#10;&#10;Description generated with high confidence">
            <a:extLst>
              <a:ext uri="{FF2B5EF4-FFF2-40B4-BE49-F238E27FC236}">
                <a16:creationId xmlns:a16="http://schemas.microsoft.com/office/drawing/2014/main" id="{CD43DD65-D872-4793-A99C-92D52F284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63" y="2246614"/>
            <a:ext cx="834338" cy="834338"/>
          </a:xfrm>
          <a:prstGeom prst="rect">
            <a:avLst/>
          </a:prstGeom>
        </p:spPr>
      </p:pic>
      <p:pic>
        <p:nvPicPr>
          <p:cNvPr id="5" name="Picture 4" descr="A close up of a sign&#10;&#10;Description generated with high confidence">
            <a:extLst>
              <a:ext uri="{FF2B5EF4-FFF2-40B4-BE49-F238E27FC236}">
                <a16:creationId xmlns:a16="http://schemas.microsoft.com/office/drawing/2014/main" id="{E4D0BC29-8BFA-436F-9690-A6ED7D9D7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836" y="1951275"/>
            <a:ext cx="834338" cy="834338"/>
          </a:xfrm>
          <a:prstGeom prst="rect">
            <a:avLst/>
          </a:prstGeom>
        </p:spPr>
      </p:pic>
      <p:pic>
        <p:nvPicPr>
          <p:cNvPr id="6" name="Picture 5" descr="A close up of a sign&#10;&#10;Description generated with high confidence">
            <a:extLst>
              <a:ext uri="{FF2B5EF4-FFF2-40B4-BE49-F238E27FC236}">
                <a16:creationId xmlns:a16="http://schemas.microsoft.com/office/drawing/2014/main" id="{3EC4F6CD-CC88-4CE2-9569-60D2C20EF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381" y="4329630"/>
            <a:ext cx="834338" cy="834338"/>
          </a:xfrm>
          <a:prstGeom prst="rect">
            <a:avLst/>
          </a:prstGeom>
        </p:spPr>
      </p:pic>
      <p:pic>
        <p:nvPicPr>
          <p:cNvPr id="7" name="Picture 6" descr="A close up of a sign&#10;&#10;Description generated with high confidence">
            <a:extLst>
              <a:ext uri="{FF2B5EF4-FFF2-40B4-BE49-F238E27FC236}">
                <a16:creationId xmlns:a16="http://schemas.microsoft.com/office/drawing/2014/main" id="{AC6E4746-6357-4297-B56A-D244BF64E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5575" y="4066665"/>
            <a:ext cx="834338" cy="834338"/>
          </a:xfrm>
          <a:prstGeom prst="rect">
            <a:avLst/>
          </a:prstGeom>
        </p:spPr>
      </p:pic>
      <p:pic>
        <p:nvPicPr>
          <p:cNvPr id="8" name="Picture 7" descr="A close up of a sign&#10;&#10;Description generated with high confidence">
            <a:extLst>
              <a:ext uri="{FF2B5EF4-FFF2-40B4-BE49-F238E27FC236}">
                <a16:creationId xmlns:a16="http://schemas.microsoft.com/office/drawing/2014/main" id="{9E6F5980-C63F-4B1C-B1A7-39E72E4A7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917" y="4066665"/>
            <a:ext cx="834338" cy="834338"/>
          </a:xfrm>
          <a:prstGeom prst="rect">
            <a:avLst/>
          </a:prstGeom>
        </p:spPr>
      </p:pic>
      <p:pic>
        <p:nvPicPr>
          <p:cNvPr id="9" name="Picture 8" descr="A close up of a sign&#10;&#10;Description generated with high confidence">
            <a:extLst>
              <a:ext uri="{FF2B5EF4-FFF2-40B4-BE49-F238E27FC236}">
                <a16:creationId xmlns:a16="http://schemas.microsoft.com/office/drawing/2014/main" id="{12FD7EC7-B21A-4F44-957D-19383A3A2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680" y="1378167"/>
            <a:ext cx="834338" cy="834338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99DFEC3-7CC7-41D0-BA42-8CC9B36E39D1}"/>
              </a:ext>
            </a:extLst>
          </p:cNvPr>
          <p:cNvSpPr/>
          <p:nvPr/>
        </p:nvSpPr>
        <p:spPr>
          <a:xfrm>
            <a:off x="1252151" y="1565189"/>
            <a:ext cx="1285103" cy="345989"/>
          </a:xfrm>
          <a:custGeom>
            <a:avLst/>
            <a:gdLst>
              <a:gd name="connsiteX0" fmla="*/ 0 w 1285103"/>
              <a:gd name="connsiteY0" fmla="*/ 345989 h 345989"/>
              <a:gd name="connsiteX1" fmla="*/ 1285103 w 1285103"/>
              <a:gd name="connsiteY1" fmla="*/ 0 h 345989"/>
              <a:gd name="connsiteX2" fmla="*/ 1285103 w 1285103"/>
              <a:gd name="connsiteY2" fmla="*/ 0 h 345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5103" h="345989">
                <a:moveTo>
                  <a:pt x="0" y="345989"/>
                </a:moveTo>
                <a:lnTo>
                  <a:pt x="1285103" y="0"/>
                </a:lnTo>
                <a:lnTo>
                  <a:pt x="1285103" y="0"/>
                </a:lnTo>
              </a:path>
            </a:pathLst>
          </a:custGeom>
          <a:noFill/>
          <a:ln w="5715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14B478-832B-439F-AA0A-FC7CFFB95DBF}"/>
              </a:ext>
            </a:extLst>
          </p:cNvPr>
          <p:cNvCxnSpPr/>
          <p:nvPr/>
        </p:nvCxnSpPr>
        <p:spPr>
          <a:xfrm flipH="1">
            <a:off x="1853514" y="2339546"/>
            <a:ext cx="1210962" cy="1458097"/>
          </a:xfrm>
          <a:prstGeom prst="line">
            <a:avLst/>
          </a:prstGeom>
          <a:ln w="762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05CF20C-7733-47B0-BAC5-EFD6BD497568}"/>
              </a:ext>
            </a:extLst>
          </p:cNvPr>
          <p:cNvCxnSpPr/>
          <p:nvPr/>
        </p:nvCxnSpPr>
        <p:spPr>
          <a:xfrm>
            <a:off x="2273643" y="4456670"/>
            <a:ext cx="1210962" cy="205946"/>
          </a:xfrm>
          <a:prstGeom prst="line">
            <a:avLst/>
          </a:prstGeom>
          <a:ln w="762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35040B-9E12-4C41-95BD-449DABEA9823}"/>
              </a:ext>
            </a:extLst>
          </p:cNvPr>
          <p:cNvCxnSpPr/>
          <p:nvPr/>
        </p:nvCxnSpPr>
        <p:spPr>
          <a:xfrm flipV="1">
            <a:off x="4852086" y="4329630"/>
            <a:ext cx="691979" cy="217656"/>
          </a:xfrm>
          <a:prstGeom prst="line">
            <a:avLst/>
          </a:prstGeom>
          <a:ln w="762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75733B-58CA-4974-8251-2B4F5887E571}"/>
              </a:ext>
            </a:extLst>
          </p:cNvPr>
          <p:cNvCxnSpPr/>
          <p:nvPr/>
        </p:nvCxnSpPr>
        <p:spPr>
          <a:xfrm>
            <a:off x="5988908" y="2899719"/>
            <a:ext cx="0" cy="897924"/>
          </a:xfrm>
          <a:prstGeom prst="line">
            <a:avLst/>
          </a:prstGeom>
          <a:ln w="762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Graphic 22" descr="Laptop">
            <a:extLst>
              <a:ext uri="{FF2B5EF4-FFF2-40B4-BE49-F238E27FC236}">
                <a16:creationId xmlns:a16="http://schemas.microsoft.com/office/drawing/2014/main" id="{BEF0786E-4BC7-4B5F-ACBE-97A937181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54097" y="3739978"/>
            <a:ext cx="914400" cy="914400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6F28968-FB5C-4427-ACF0-1C27F06147D1}"/>
              </a:ext>
            </a:extLst>
          </p:cNvPr>
          <p:cNvCxnSpPr/>
          <p:nvPr/>
        </p:nvCxnSpPr>
        <p:spPr>
          <a:xfrm flipV="1">
            <a:off x="6763265" y="3937686"/>
            <a:ext cx="716692" cy="259492"/>
          </a:xfrm>
          <a:prstGeom prst="line">
            <a:avLst/>
          </a:prstGeom>
          <a:ln w="762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974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9603" y="374024"/>
            <a:ext cx="7569812" cy="868622"/>
          </a:xfrm>
        </p:spPr>
        <p:txBody>
          <a:bodyPr/>
          <a:lstStyle/>
          <a:p>
            <a:r>
              <a:rPr lang="en-IN" sz="4000" dirty="0">
                <a:latin typeface="Calibri" panose="020F0502020204030204" pitchFamily="34" charset="0"/>
                <a:cs typeface="Calibri" panose="020F0502020204030204" pitchFamily="34" charset="0"/>
              </a:rPr>
              <a:t>In this Course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9603" y="1383125"/>
            <a:ext cx="8833823" cy="5010209"/>
          </a:xfrm>
        </p:spPr>
        <p:txBody>
          <a:bodyPr>
            <a:normAutofit/>
          </a:bodyPr>
          <a:lstStyle/>
          <a:p>
            <a:pPr marL="228600" lvl="0" indent="-228600" defTabSz="685800">
              <a:lnSpc>
                <a:spcPct val="20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Wireless Sensor Networks</a:t>
            </a:r>
          </a:p>
          <a:p>
            <a:pPr marL="228600" lvl="0" indent="-228600" defTabSz="685800">
              <a:lnSpc>
                <a:spcPct val="20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Industrial automation / Home Automation</a:t>
            </a:r>
          </a:p>
          <a:p>
            <a:pPr marL="228600" lvl="0" indent="-228600" defTabSz="685800">
              <a:lnSpc>
                <a:spcPct val="20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 panose="020B0502020104020203"/>
                <a:ea typeface="+mn-ea"/>
                <a:cs typeface="+mn-cs"/>
              </a:rPr>
              <a:t>Automotive Networked Embedded Systems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4897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9603" y="374024"/>
            <a:ext cx="7569812" cy="868622"/>
          </a:xfrm>
        </p:spPr>
        <p:txBody>
          <a:bodyPr/>
          <a:lstStyle/>
          <a:p>
            <a:r>
              <a:rPr lang="en-IN" sz="4000" dirty="0">
                <a:latin typeface="Calibri" panose="020F0502020204030204" pitchFamily="34" charset="0"/>
                <a:cs typeface="Calibri" panose="020F0502020204030204" pitchFamily="34" charset="0"/>
              </a:rPr>
              <a:t>Course Involves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9603" y="1383125"/>
            <a:ext cx="8833823" cy="5010209"/>
          </a:xfrm>
        </p:spPr>
        <p:txBody>
          <a:bodyPr>
            <a:normAutofit/>
          </a:bodyPr>
          <a:lstStyle/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US" sz="28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Monotype Corsiva" pitchFamily="66" charset="0"/>
                <a:ea typeface="+mn-ea"/>
                <a:cs typeface="+mn-cs"/>
              </a:rPr>
              <a:t>Reading Assignments at end of class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US" sz="28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Monotype Corsiva" pitchFamily="66" charset="0"/>
                <a:ea typeface="+mn-ea"/>
                <a:cs typeface="+mn-cs"/>
              </a:rPr>
              <a:t>Goal of covering the area is substantial depth  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US" sz="28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Monotype Corsiva" pitchFamily="66" charset="0"/>
                <a:ea typeface="+mn-ea"/>
                <a:cs typeface="+mn-cs"/>
              </a:rPr>
              <a:t> It will require substantial reading and class participation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US" sz="28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Monotype Corsiva" pitchFamily="66" charset="0"/>
                <a:ea typeface="+mn-ea"/>
                <a:cs typeface="+mn-cs"/>
              </a:rPr>
              <a:t>Sequence of  individual  Network System Design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r>
              <a:rPr lang="en-US" sz="2800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Monotype Corsiva" pitchFamily="66" charset="0"/>
                <a:ea typeface="+mn-ea"/>
                <a:cs typeface="+mn-cs"/>
              </a:rPr>
              <a:t>Project</a:t>
            </a:r>
          </a:p>
          <a:p>
            <a:pPr marL="228600" lvl="0" indent="-228600" defTabSz="685800">
              <a:lnSpc>
                <a:spcPct val="110000"/>
              </a:lnSpc>
              <a:spcBef>
                <a:spcPts val="700"/>
              </a:spcBef>
              <a:buClr>
                <a:srgbClr val="0B082E"/>
              </a:buCl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8845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8_Blank">
  <a:themeElements>
    <a:clrScheme name="Bits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FCB017"/>
      </a:accent1>
      <a:accent2>
        <a:srgbClr val="76C2E5"/>
      </a:accent2>
      <a:accent3>
        <a:srgbClr val="FF0000"/>
      </a:accent3>
      <a:accent4>
        <a:srgbClr val="002960"/>
      </a:accent4>
      <a:accent5>
        <a:srgbClr val="FF6600"/>
      </a:accent5>
      <a:accent6>
        <a:srgbClr val="808080"/>
      </a:accent6>
      <a:hlink>
        <a:srgbClr val="FF0000"/>
      </a:hlink>
      <a:folHlink>
        <a:srgbClr val="00296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lIns="91425" tIns="91425" rIns="91425" bIns="91425" anchor="b" anchorCtr="0"/>
      <a:lstStyle>
        <a:defPPr>
          <a:defRPr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</TotalTime>
  <Words>185</Words>
  <Application>Microsoft Office PowerPoint</Application>
  <PresentationFormat>On-screen Show (4:3)</PresentationFormat>
  <Paragraphs>47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Gill Sans MT</vt:lpstr>
      <vt:lpstr>Monotype Corsiva</vt:lpstr>
      <vt:lpstr>Tahoma</vt:lpstr>
      <vt:lpstr>8_Blank</vt:lpstr>
      <vt:lpstr>Network Embedded Applications - Introduction</vt:lpstr>
      <vt:lpstr>Networked Embedded Systems</vt:lpstr>
      <vt:lpstr>Networks of Embedded Systems (NES)</vt:lpstr>
      <vt:lpstr>Networked Embedded Systems</vt:lpstr>
      <vt:lpstr>NES - Characteristics</vt:lpstr>
      <vt:lpstr>NES</vt:lpstr>
      <vt:lpstr>IoT</vt:lpstr>
      <vt:lpstr>IoT</vt:lpstr>
      <vt:lpstr>In this Course</vt:lpstr>
      <vt:lpstr>Course Involves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WILP Transformation  Work Stream  Update in WSLM 14: MAY 27, 2015</dc:title>
  <dc:creator>Clarance Suman Vissakodeti</dc:creator>
  <cp:lastModifiedBy>Anupama KR</cp:lastModifiedBy>
  <cp:revision>26</cp:revision>
  <dcterms:modified xsi:type="dcterms:W3CDTF">2019-07-09T07:35:39Z</dcterms:modified>
</cp:coreProperties>
</file>