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6"/>
  </p:notesMasterIdLst>
  <p:handoutMasterIdLst>
    <p:handoutMasterId r:id="rId7"/>
  </p:handoutMasterIdLst>
  <p:sldIdLst>
    <p:sldId id="287" r:id="rId2"/>
    <p:sldId id="298" r:id="rId3"/>
    <p:sldId id="299" r:id="rId4"/>
    <p:sldId id="297" r:id="rId5"/>
  </p:sldIdLst>
  <p:sldSz cx="9144000" cy="6858000" type="screen4x3"/>
  <p:notesSz cx="6805613" cy="9944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77E56C-7D47-4C29-AAEB-9FD71A0A3F1F}">
  <a:tblStyle styleId="{8F77E56C-7D47-4C29-AAEB-9FD71A0A3F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1562F7F7-E2AF-42E1-A3D0-5D2B67903BC4}" styleName="Table_1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-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9B4E-3786-43E4-ADC0-DE2945E09898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9563C-2CF4-4AF1-9C09-67033D314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1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6125"/>
            <a:ext cx="4972049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4686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21505" y="260796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lvl="5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lvl="6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lvl="7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lvl="8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3" y="3810003"/>
            <a:ext cx="6019799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90909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042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8246615" y="37254"/>
            <a:ext cx="670613" cy="124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159604" y="1152465"/>
            <a:ext cx="8833823" cy="501020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197272" marR="0" lvl="1" indent="-7027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▪"/>
              <a:defRPr/>
            </a:lvl2pPr>
            <a:lvl3pPr marL="465681" marR="0" lvl="2" indent="-15326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–"/>
              <a:defRPr/>
            </a:lvl3pPr>
            <a:lvl4pPr marL="625773" marR="0" lvl="3" indent="-4665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▫"/>
              <a:defRPr/>
            </a:lvl4pPr>
            <a:lvl5pPr marL="763733" marR="0" lvl="4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5pPr>
            <a:lvl6pPr marL="763733" marR="0" lvl="5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6pPr>
            <a:lvl7pPr marL="763733" marR="0" lvl="6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7pPr>
            <a:lvl8pPr marL="763733" marR="0" lvl="7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8pPr>
            <a:lvl9pPr marL="763733" marR="0" lvl="8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9pPr>
          </a:lstStyle>
          <a:p>
            <a:endParaRPr dirty="0"/>
          </a:p>
        </p:txBody>
      </p:sp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159604" y="151603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" y="6785609"/>
            <a:ext cx="9144000" cy="72389"/>
            <a:chOff x="1998227" y="6500996"/>
            <a:chExt cx="7153215" cy="46648"/>
          </a:xfrm>
        </p:grpSpPr>
        <p:sp>
          <p:nvSpPr>
            <p:cNvPr id="170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Shape 18" descr="BITS_university_logo_whitevert.png"/>
          <p:cNvPicPr preferRelativeResize="0"/>
          <p:nvPr userDrawn="1"/>
        </p:nvPicPr>
        <p:blipFill rotWithShape="1">
          <a:blip r:embed="rId4">
            <a:alphaModFix/>
          </a:blip>
          <a:srcRect t="2" b="28592"/>
          <a:stretch/>
        </p:blipFill>
        <p:spPr>
          <a:xfrm>
            <a:off x="8138322" y="23045"/>
            <a:ext cx="939004" cy="903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4"/>
          <p:cNvSpPr txBox="1"/>
          <p:nvPr userDrawn="1"/>
        </p:nvSpPr>
        <p:spPr>
          <a:xfrm>
            <a:off x="8095553" y="841751"/>
            <a:ext cx="1024542" cy="26429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Deployment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D60E8-FC96-4512-9CF8-26CFFD8BF118}"/>
              </a:ext>
            </a:extLst>
          </p:cNvPr>
          <p:cNvSpPr txBox="1"/>
          <p:nvPr/>
        </p:nvSpPr>
        <p:spPr>
          <a:xfrm>
            <a:off x="500446" y="1227438"/>
            <a:ext cx="7883610" cy="535528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>
              <a:lnSpc>
                <a:spcPct val="200000"/>
              </a:lnSpc>
            </a:pP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Coverage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Connectivity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Topology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883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Deployment - Issues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D60E8-FC96-4512-9CF8-26CFFD8BF118}"/>
              </a:ext>
            </a:extLst>
          </p:cNvPr>
          <p:cNvSpPr txBox="1"/>
          <p:nvPr/>
        </p:nvSpPr>
        <p:spPr>
          <a:xfrm>
            <a:off x="294501" y="2166985"/>
            <a:ext cx="7883610" cy="621705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Structured Vs Random Deployment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Over Deployment Vs Incremental Deployment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Network Topology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Homogeneous Vs Heterogeneous Deployment</a:t>
            </a:r>
          </a:p>
          <a:p>
            <a:pPr>
              <a:lnSpc>
                <a:spcPct val="200000"/>
              </a:lnSpc>
            </a:pP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26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5" y="400839"/>
            <a:ext cx="7168981" cy="1197301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Ideal Deployment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CB534D-BD5F-47BA-B9DF-FC45ACFA3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042" y="1598140"/>
            <a:ext cx="659028" cy="659028"/>
          </a:xfrm>
          <a:prstGeom prst="rect">
            <a:avLst/>
          </a:prstGeom>
        </p:spPr>
      </p:pic>
      <p:pic>
        <p:nvPicPr>
          <p:cNvPr id="7" name="Picture 6" descr="A drawing of a person&#10;&#10;Description generated with high confidence">
            <a:extLst>
              <a:ext uri="{FF2B5EF4-FFF2-40B4-BE49-F238E27FC236}">
                <a16:creationId xmlns:a16="http://schemas.microsoft.com/office/drawing/2014/main" id="{675E4F12-3D50-4E7E-9C90-9047D24D7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6042" y="2605268"/>
            <a:ext cx="737742" cy="1020542"/>
          </a:xfrm>
          <a:prstGeom prst="rect">
            <a:avLst/>
          </a:prstGeom>
        </p:spPr>
      </p:pic>
      <p:pic>
        <p:nvPicPr>
          <p:cNvPr id="8" name="Graphic 7" descr="Laptop">
            <a:extLst>
              <a:ext uri="{FF2B5EF4-FFF2-40B4-BE49-F238E27FC236}">
                <a16:creationId xmlns:a16="http://schemas.microsoft.com/office/drawing/2014/main" id="{B97A219A-7C31-4638-A20F-B743B91F4E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5535" y="1927654"/>
            <a:ext cx="914400" cy="914400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9B2F8C-850B-4600-8396-FED5E6A6F029}"/>
              </a:ext>
            </a:extLst>
          </p:cNvPr>
          <p:cNvSpPr/>
          <p:nvPr/>
        </p:nvSpPr>
        <p:spPr>
          <a:xfrm>
            <a:off x="1229912" y="2790895"/>
            <a:ext cx="4255368" cy="2780218"/>
          </a:xfrm>
          <a:custGeom>
            <a:avLst/>
            <a:gdLst>
              <a:gd name="connsiteX0" fmla="*/ 22239 w 4255368"/>
              <a:gd name="connsiteY0" fmla="*/ 751375 h 2780218"/>
              <a:gd name="connsiteX1" fmla="*/ 310564 w 4255368"/>
              <a:gd name="connsiteY1" fmla="*/ 347721 h 2780218"/>
              <a:gd name="connsiteX2" fmla="*/ 1175537 w 4255368"/>
              <a:gd name="connsiteY2" fmla="*/ 1732 h 2780218"/>
              <a:gd name="connsiteX3" fmla="*/ 1892229 w 4255368"/>
              <a:gd name="connsiteY3" fmla="*/ 496002 h 2780218"/>
              <a:gd name="connsiteX4" fmla="*/ 2608920 w 4255368"/>
              <a:gd name="connsiteY4" fmla="*/ 67635 h 2780218"/>
              <a:gd name="connsiteX5" fmla="*/ 3976402 w 4255368"/>
              <a:gd name="connsiteY5" fmla="*/ 496002 h 2780218"/>
              <a:gd name="connsiteX6" fmla="*/ 4223537 w 4255368"/>
              <a:gd name="connsiteY6" fmla="*/ 1838770 h 2780218"/>
              <a:gd name="connsiteX7" fmla="*/ 3515083 w 4255368"/>
              <a:gd name="connsiteY7" fmla="*/ 2604889 h 2780218"/>
              <a:gd name="connsiteX8" fmla="*/ 2221742 w 4255368"/>
              <a:gd name="connsiteY8" fmla="*/ 1616348 h 2780218"/>
              <a:gd name="connsiteX9" fmla="*/ 1216726 w 4255368"/>
              <a:gd name="connsiteY9" fmla="*/ 2777883 h 2780218"/>
              <a:gd name="connsiteX10" fmla="*/ 104618 w 4255368"/>
              <a:gd name="connsiteY10" fmla="*/ 1879959 h 2780218"/>
              <a:gd name="connsiteX11" fmla="*/ 46953 w 4255368"/>
              <a:gd name="connsiteY11" fmla="*/ 644283 h 2780218"/>
              <a:gd name="connsiteX12" fmla="*/ 46953 w 4255368"/>
              <a:gd name="connsiteY12" fmla="*/ 644283 h 2780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55368" h="2780218">
                <a:moveTo>
                  <a:pt x="22239" y="751375"/>
                </a:moveTo>
                <a:cubicBezTo>
                  <a:pt x="70293" y="612018"/>
                  <a:pt x="118348" y="472661"/>
                  <a:pt x="310564" y="347721"/>
                </a:cubicBezTo>
                <a:cubicBezTo>
                  <a:pt x="502780" y="222781"/>
                  <a:pt x="911926" y="-22982"/>
                  <a:pt x="1175537" y="1732"/>
                </a:cubicBezTo>
                <a:cubicBezTo>
                  <a:pt x="1439148" y="26445"/>
                  <a:pt x="1653332" y="485018"/>
                  <a:pt x="1892229" y="496002"/>
                </a:cubicBezTo>
                <a:cubicBezTo>
                  <a:pt x="2131126" y="506986"/>
                  <a:pt x="2261558" y="67635"/>
                  <a:pt x="2608920" y="67635"/>
                </a:cubicBezTo>
                <a:cubicBezTo>
                  <a:pt x="2956282" y="67635"/>
                  <a:pt x="3707299" y="200813"/>
                  <a:pt x="3976402" y="496002"/>
                </a:cubicBezTo>
                <a:cubicBezTo>
                  <a:pt x="4245505" y="791191"/>
                  <a:pt x="4300424" y="1487289"/>
                  <a:pt x="4223537" y="1838770"/>
                </a:cubicBezTo>
                <a:cubicBezTo>
                  <a:pt x="4146650" y="2190251"/>
                  <a:pt x="3848715" y="2641959"/>
                  <a:pt x="3515083" y="2604889"/>
                </a:cubicBezTo>
                <a:cubicBezTo>
                  <a:pt x="3181451" y="2567819"/>
                  <a:pt x="2604802" y="1587516"/>
                  <a:pt x="2221742" y="1616348"/>
                </a:cubicBezTo>
                <a:cubicBezTo>
                  <a:pt x="1838683" y="1645180"/>
                  <a:pt x="1569580" y="2733948"/>
                  <a:pt x="1216726" y="2777883"/>
                </a:cubicBezTo>
                <a:cubicBezTo>
                  <a:pt x="863872" y="2821818"/>
                  <a:pt x="299580" y="2235559"/>
                  <a:pt x="104618" y="1879959"/>
                </a:cubicBezTo>
                <a:cubicBezTo>
                  <a:pt x="-90344" y="1524359"/>
                  <a:pt x="46953" y="644283"/>
                  <a:pt x="46953" y="644283"/>
                </a:cubicBezTo>
                <a:lnTo>
                  <a:pt x="46953" y="644283"/>
                </a:lnTo>
              </a:path>
            </a:pathLst>
          </a:custGeom>
          <a:solidFill>
            <a:schemeClr val="bg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Deciduous tree">
            <a:extLst>
              <a:ext uri="{FF2B5EF4-FFF2-40B4-BE49-F238E27FC236}">
                <a16:creationId xmlns:a16="http://schemas.microsoft.com/office/drawing/2014/main" id="{E3890448-E664-459B-91FD-68A2DFBD11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50140" y="1876495"/>
            <a:ext cx="914400" cy="914400"/>
          </a:xfrm>
          <a:prstGeom prst="rect">
            <a:avLst/>
          </a:prstGeom>
        </p:spPr>
      </p:pic>
      <p:pic>
        <p:nvPicPr>
          <p:cNvPr id="13" name="Graphic 12" descr="Fir tree">
            <a:extLst>
              <a:ext uri="{FF2B5EF4-FFF2-40B4-BE49-F238E27FC236}">
                <a16:creationId xmlns:a16="http://schemas.microsoft.com/office/drawing/2014/main" id="{A92282C6-1767-42CA-86C3-626C7FBE43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5512" y="3839140"/>
            <a:ext cx="914400" cy="914400"/>
          </a:xfrm>
          <a:prstGeom prst="rect">
            <a:avLst/>
          </a:prstGeom>
        </p:spPr>
      </p:pic>
      <p:pic>
        <p:nvPicPr>
          <p:cNvPr id="14" name="Graphic 13" descr="Fir tree">
            <a:extLst>
              <a:ext uri="{FF2B5EF4-FFF2-40B4-BE49-F238E27FC236}">
                <a16:creationId xmlns:a16="http://schemas.microsoft.com/office/drawing/2014/main" id="{ED27B172-AEB1-4707-AE7B-0514FCE707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64540" y="4840037"/>
            <a:ext cx="914400" cy="914400"/>
          </a:xfrm>
          <a:prstGeom prst="rect">
            <a:avLst/>
          </a:prstGeom>
        </p:spPr>
      </p:pic>
      <p:pic>
        <p:nvPicPr>
          <p:cNvPr id="15" name="Graphic 14" descr="Fir tree">
            <a:extLst>
              <a:ext uri="{FF2B5EF4-FFF2-40B4-BE49-F238E27FC236}">
                <a16:creationId xmlns:a16="http://schemas.microsoft.com/office/drawing/2014/main" id="{2EDCF933-D9E7-4568-BE9D-BDA894F496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81261" y="3925637"/>
            <a:ext cx="914400" cy="914400"/>
          </a:xfrm>
          <a:prstGeom prst="rect">
            <a:avLst/>
          </a:prstGeom>
        </p:spPr>
      </p:pic>
      <p:pic>
        <p:nvPicPr>
          <p:cNvPr id="16" name="Graphic 15" descr="Deciduous tree">
            <a:extLst>
              <a:ext uri="{FF2B5EF4-FFF2-40B4-BE49-F238E27FC236}">
                <a16:creationId xmlns:a16="http://schemas.microsoft.com/office/drawing/2014/main" id="{4C0146C0-FC5B-40DF-9BBE-CFB3A24318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2559" y="2148068"/>
            <a:ext cx="914400" cy="914400"/>
          </a:xfrm>
          <a:prstGeom prst="rect">
            <a:avLst/>
          </a:prstGeom>
        </p:spPr>
      </p:pic>
      <p:pic>
        <p:nvPicPr>
          <p:cNvPr id="17" name="Graphic 16" descr="Fir tree">
            <a:extLst>
              <a:ext uri="{FF2B5EF4-FFF2-40B4-BE49-F238E27FC236}">
                <a16:creationId xmlns:a16="http://schemas.microsoft.com/office/drawing/2014/main" id="{994F8BBF-212C-46E7-BCEF-375A3A1B251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15637" y="1737317"/>
            <a:ext cx="914400" cy="914400"/>
          </a:xfrm>
          <a:prstGeom prst="rect">
            <a:avLst/>
          </a:prstGeom>
        </p:spPr>
      </p:pic>
      <p:pic>
        <p:nvPicPr>
          <p:cNvPr id="18" name="Graphic 17" descr="Deciduous tree">
            <a:extLst>
              <a:ext uri="{FF2B5EF4-FFF2-40B4-BE49-F238E27FC236}">
                <a16:creationId xmlns:a16="http://schemas.microsoft.com/office/drawing/2014/main" id="{05581491-458D-44FA-81E3-A7A0CC3107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33082" y="2651717"/>
            <a:ext cx="914400" cy="9144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F3948BFB-6B65-4C44-84F4-CECB4CF6C560}"/>
              </a:ext>
            </a:extLst>
          </p:cNvPr>
          <p:cNvSpPr/>
          <p:nvPr/>
        </p:nvSpPr>
        <p:spPr>
          <a:xfrm>
            <a:off x="682559" y="4181004"/>
            <a:ext cx="149463" cy="11533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45866C5-7E3B-48A9-B3FD-BA5689FE8270}"/>
              </a:ext>
            </a:extLst>
          </p:cNvPr>
          <p:cNvSpPr/>
          <p:nvPr/>
        </p:nvSpPr>
        <p:spPr>
          <a:xfrm>
            <a:off x="2647287" y="2142138"/>
            <a:ext cx="149463" cy="11533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F70E98E-1B13-4DA6-B137-992CA53C2FEF}"/>
              </a:ext>
            </a:extLst>
          </p:cNvPr>
          <p:cNvSpPr/>
          <p:nvPr/>
        </p:nvSpPr>
        <p:spPr>
          <a:xfrm>
            <a:off x="3565808" y="5210733"/>
            <a:ext cx="149463" cy="11533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2BFF069-D2F9-4BEF-9F83-3588B18D4D01}"/>
              </a:ext>
            </a:extLst>
          </p:cNvPr>
          <p:cNvSpPr/>
          <p:nvPr/>
        </p:nvSpPr>
        <p:spPr>
          <a:xfrm>
            <a:off x="6041281" y="4267509"/>
            <a:ext cx="149463" cy="11533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Graphic 22" descr="Deciduous tree">
            <a:extLst>
              <a:ext uri="{FF2B5EF4-FFF2-40B4-BE49-F238E27FC236}">
                <a16:creationId xmlns:a16="http://schemas.microsoft.com/office/drawing/2014/main" id="{B0F14066-C3D7-458A-986C-60AD97D759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6095" y="5433385"/>
            <a:ext cx="914400" cy="914400"/>
          </a:xfrm>
          <a:prstGeom prst="rect">
            <a:avLst/>
          </a:prstGeom>
        </p:spPr>
      </p:pic>
      <p:pic>
        <p:nvPicPr>
          <p:cNvPr id="24" name="Graphic 23" descr="Deciduous tree">
            <a:extLst>
              <a:ext uri="{FF2B5EF4-FFF2-40B4-BE49-F238E27FC236}">
                <a16:creationId xmlns:a16="http://schemas.microsoft.com/office/drawing/2014/main" id="{0E9C8477-7B23-4251-9776-67E33F39E4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26881" y="5253091"/>
            <a:ext cx="914400" cy="914400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40498E64-99E1-43A3-BBD6-2613AA377756}"/>
              </a:ext>
            </a:extLst>
          </p:cNvPr>
          <p:cNvSpPr/>
          <p:nvPr/>
        </p:nvSpPr>
        <p:spPr>
          <a:xfrm>
            <a:off x="5860034" y="2883542"/>
            <a:ext cx="149463" cy="11533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D8B5DD8-60FF-4D68-896A-405AA220BD1E}"/>
              </a:ext>
            </a:extLst>
          </p:cNvPr>
          <p:cNvSpPr/>
          <p:nvPr/>
        </p:nvSpPr>
        <p:spPr>
          <a:xfrm>
            <a:off x="1498108" y="5721480"/>
            <a:ext cx="149463" cy="11533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DE4DC9C-D1F7-4736-B022-EF8CCC955ABE}"/>
              </a:ext>
            </a:extLst>
          </p:cNvPr>
          <p:cNvSpPr/>
          <p:nvPr/>
        </p:nvSpPr>
        <p:spPr>
          <a:xfrm>
            <a:off x="5501793" y="5513445"/>
            <a:ext cx="149463" cy="1153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06106F2-5F17-48E6-8368-F954A42730AA}"/>
              </a:ext>
            </a:extLst>
          </p:cNvPr>
          <p:cNvSpPr/>
          <p:nvPr/>
        </p:nvSpPr>
        <p:spPr>
          <a:xfrm>
            <a:off x="1090331" y="2414006"/>
            <a:ext cx="149463" cy="1153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E80F418-A348-456E-83BE-36E82EB9D104}"/>
              </a:ext>
            </a:extLst>
          </p:cNvPr>
          <p:cNvSpPr/>
          <p:nvPr/>
        </p:nvSpPr>
        <p:spPr>
          <a:xfrm>
            <a:off x="4282490" y="2113326"/>
            <a:ext cx="149463" cy="1153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0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 animBg="1"/>
      <p:bldP spid="20" grpId="0" animBg="1"/>
      <p:bldP spid="21" grpId="0" animBg="1"/>
      <p:bldP spid="22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5" y="400839"/>
            <a:ext cx="7168981" cy="1197301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Random Deployment</a:t>
            </a:r>
          </a:p>
        </p:txBody>
      </p:sp>
      <p:pic>
        <p:nvPicPr>
          <p:cNvPr id="6" name="Graphic 5" descr="Airplane">
            <a:extLst>
              <a:ext uri="{FF2B5EF4-FFF2-40B4-BE49-F238E27FC236}">
                <a16:creationId xmlns:a16="http://schemas.microsoft.com/office/drawing/2014/main" id="{864F1A4D-E785-4B38-AC46-088F8312C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940010" y="1925594"/>
            <a:ext cx="2236573" cy="22365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98211E-14D2-46F6-B8F9-79D6276D5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432" y="4085968"/>
            <a:ext cx="370239" cy="3295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F476A6-5054-484E-96F9-35F398620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696" y="4160109"/>
            <a:ext cx="370239" cy="3295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D2B63E-BCDC-42D1-BE85-DF85FE1BF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074" y="4567882"/>
            <a:ext cx="370239" cy="3295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158F8A-3666-4CC9-85CE-71C96C3F0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431" y="5300657"/>
            <a:ext cx="370239" cy="3295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E26894-9DFA-432A-8A27-33052B16D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917" y="5135900"/>
            <a:ext cx="370239" cy="32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523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8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lIns="91425" tIns="91425" rIns="91425" bIns="91425" anchor="b" anchorCtr="0"/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593</TotalTime>
  <Words>28</Words>
  <Application>Microsoft Office PowerPoint</Application>
  <PresentationFormat>On-screen Show (4:3)</PresentationFormat>
  <Paragraphs>14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8_Blank</vt:lpstr>
      <vt:lpstr>Deployment Objectives</vt:lpstr>
      <vt:lpstr>Deployment - Issues</vt:lpstr>
      <vt:lpstr>Ideal Deployment</vt:lpstr>
      <vt:lpstr>Random Deployment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WILP Transformation  Work Stream  Update in WSLM 14: MAY 27, 2015</dc:title>
  <dc:creator>Clarance Suman Vissakodeti</dc:creator>
  <cp:lastModifiedBy>Abid AK</cp:lastModifiedBy>
  <cp:revision>41</cp:revision>
  <dcterms:modified xsi:type="dcterms:W3CDTF">2025-04-17T11:58:03Z</dcterms:modified>
</cp:coreProperties>
</file>