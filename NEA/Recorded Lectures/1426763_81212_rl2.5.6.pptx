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8" r:id="rId1"/>
  </p:sldMasterIdLst>
  <p:notesMasterIdLst>
    <p:notesMasterId r:id="rId8"/>
  </p:notesMasterIdLst>
  <p:handoutMasterIdLst>
    <p:handoutMasterId r:id="rId9"/>
  </p:handoutMasterIdLst>
  <p:sldIdLst>
    <p:sldId id="298" r:id="rId2"/>
    <p:sldId id="583" r:id="rId3"/>
    <p:sldId id="597" r:id="rId4"/>
    <p:sldId id="584" r:id="rId5"/>
    <p:sldId id="587" r:id="rId6"/>
    <p:sldId id="599" r:id="rId7"/>
  </p:sldIdLst>
  <p:sldSz cx="9144000" cy="6858000" type="screen4x3"/>
  <p:notesSz cx="6805613" cy="99441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F77E56C-7D47-4C29-AAEB-9FD71A0A3F1F}">
  <a:tblStyle styleId="{8F77E56C-7D47-4C29-AAEB-9FD71A0A3F1F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</a:tblStyle>
  <a:tblStyle styleId="{1562F7F7-E2AF-42E1-A3D0-5D2B67903BC4}" styleName="Table_1"/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171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8" d="100"/>
          <a:sy n="78" d="100"/>
        </p:scale>
        <p:origin x="397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4450" y="0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BE9B4E-3786-43E4-ADC0-DE2945E09898}" type="datetimeFigureOut">
              <a:rPr lang="en-IN" smtClean="0"/>
              <a:t>17-04-2025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45625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4450" y="9445625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19563C-2CF4-4AF1-9C09-67033D314C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931858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49099" cy="49720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defRPr/>
            </a:lvl1pPr>
            <a:lvl2pPr marL="456624" marR="0" lvl="1" indent="-12124" algn="l" rtl="0">
              <a:spcBef>
                <a:spcPts val="0"/>
              </a:spcBef>
              <a:defRPr/>
            </a:lvl2pPr>
            <a:lvl3pPr marL="913237" marR="0" lvl="2" indent="-11537" algn="l" rtl="0">
              <a:spcBef>
                <a:spcPts val="0"/>
              </a:spcBef>
              <a:defRPr/>
            </a:lvl3pPr>
            <a:lvl4pPr marL="1369857" marR="0" lvl="3" indent="-10956" algn="l" rtl="0">
              <a:spcBef>
                <a:spcPts val="0"/>
              </a:spcBef>
              <a:defRPr/>
            </a:lvl4pPr>
            <a:lvl5pPr marL="1826475" marR="0" lvl="4" indent="-10375" algn="l" rtl="0">
              <a:spcBef>
                <a:spcPts val="0"/>
              </a:spcBef>
              <a:defRPr/>
            </a:lvl5pPr>
            <a:lvl6pPr marL="2283095" marR="0" lvl="5" indent="-9794" algn="l" rtl="0">
              <a:spcBef>
                <a:spcPts val="0"/>
              </a:spcBef>
              <a:defRPr/>
            </a:lvl6pPr>
            <a:lvl7pPr marL="2739713" marR="0" lvl="6" indent="-9213" algn="l" rtl="0">
              <a:spcBef>
                <a:spcPts val="0"/>
              </a:spcBef>
              <a:defRPr/>
            </a:lvl7pPr>
            <a:lvl8pPr marL="3196333" marR="0" lvl="7" indent="-8633" algn="l" rtl="0">
              <a:spcBef>
                <a:spcPts val="0"/>
              </a:spcBef>
              <a:defRPr/>
            </a:lvl8pPr>
            <a:lvl9pPr marL="3652951" marR="0" lvl="8" indent="-8051" algn="l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4" name="Shape 4"/>
          <p:cNvSpPr txBox="1">
            <a:spLocks noGrp="1"/>
          </p:cNvSpPr>
          <p:nvPr>
            <p:ph type="dt" idx="10"/>
          </p:nvPr>
        </p:nvSpPr>
        <p:spPr>
          <a:xfrm>
            <a:off x="3854939" y="0"/>
            <a:ext cx="2949099" cy="49720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r" rtl="0">
              <a:spcBef>
                <a:spcPts val="0"/>
              </a:spcBef>
              <a:defRPr/>
            </a:lvl1pPr>
            <a:lvl2pPr marL="456624" marR="0" lvl="1" indent="-12124" algn="l" rtl="0">
              <a:spcBef>
                <a:spcPts val="0"/>
              </a:spcBef>
              <a:defRPr/>
            </a:lvl2pPr>
            <a:lvl3pPr marL="913237" marR="0" lvl="2" indent="-11537" algn="l" rtl="0">
              <a:spcBef>
                <a:spcPts val="0"/>
              </a:spcBef>
              <a:defRPr/>
            </a:lvl3pPr>
            <a:lvl4pPr marL="1369857" marR="0" lvl="3" indent="-10956" algn="l" rtl="0">
              <a:spcBef>
                <a:spcPts val="0"/>
              </a:spcBef>
              <a:defRPr/>
            </a:lvl4pPr>
            <a:lvl5pPr marL="1826475" marR="0" lvl="4" indent="-10375" algn="l" rtl="0">
              <a:spcBef>
                <a:spcPts val="0"/>
              </a:spcBef>
              <a:defRPr/>
            </a:lvl5pPr>
            <a:lvl6pPr marL="2283095" marR="0" lvl="5" indent="-9794" algn="l" rtl="0">
              <a:spcBef>
                <a:spcPts val="0"/>
              </a:spcBef>
              <a:defRPr/>
            </a:lvl6pPr>
            <a:lvl7pPr marL="2739713" marR="0" lvl="6" indent="-9213" algn="l" rtl="0">
              <a:spcBef>
                <a:spcPts val="0"/>
              </a:spcBef>
              <a:defRPr/>
            </a:lvl7pPr>
            <a:lvl8pPr marL="3196333" marR="0" lvl="7" indent="-8633" algn="l" rtl="0">
              <a:spcBef>
                <a:spcPts val="0"/>
              </a:spcBef>
              <a:defRPr/>
            </a:lvl8pPr>
            <a:lvl9pPr marL="3652951" marR="0" lvl="8" indent="-8051" algn="l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5" name="Shape 5"/>
          <p:cNvSpPr>
            <a:spLocks noGrp="1" noRot="1" noChangeAspect="1"/>
          </p:cNvSpPr>
          <p:nvPr>
            <p:ph type="sldImg" idx="3"/>
          </p:nvPr>
        </p:nvSpPr>
        <p:spPr>
          <a:xfrm>
            <a:off x="917575" y="746125"/>
            <a:ext cx="4972049" cy="372903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6" name="Shape 6"/>
          <p:cNvSpPr txBox="1">
            <a:spLocks noGrp="1"/>
          </p:cNvSpPr>
          <p:nvPr>
            <p:ph type="body" idx="1"/>
          </p:nvPr>
        </p:nvSpPr>
        <p:spPr>
          <a:xfrm>
            <a:off x="680562" y="4723448"/>
            <a:ext cx="5444489" cy="447484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defRPr/>
            </a:lvl1pPr>
            <a:lvl2pPr marL="456624" marR="0" lvl="1" indent="-12124" algn="l" rtl="0">
              <a:spcBef>
                <a:spcPts val="0"/>
              </a:spcBef>
              <a:defRPr/>
            </a:lvl2pPr>
            <a:lvl3pPr marL="913237" marR="0" lvl="2" indent="-11537" algn="l" rtl="0">
              <a:spcBef>
                <a:spcPts val="0"/>
              </a:spcBef>
              <a:defRPr/>
            </a:lvl3pPr>
            <a:lvl4pPr marL="1369857" marR="0" lvl="3" indent="-10956" algn="l" rtl="0">
              <a:spcBef>
                <a:spcPts val="0"/>
              </a:spcBef>
              <a:defRPr/>
            </a:lvl4pPr>
            <a:lvl5pPr marL="1826475" marR="0" lvl="4" indent="-10375" algn="l" rtl="0">
              <a:spcBef>
                <a:spcPts val="0"/>
              </a:spcBef>
              <a:defRPr/>
            </a:lvl5pPr>
            <a:lvl6pPr marL="2283095" marR="0" lvl="5" indent="-9794" algn="l" rtl="0">
              <a:spcBef>
                <a:spcPts val="0"/>
              </a:spcBef>
              <a:defRPr/>
            </a:lvl6pPr>
            <a:lvl7pPr marL="2739713" marR="0" lvl="6" indent="-9213" algn="l" rtl="0">
              <a:spcBef>
                <a:spcPts val="0"/>
              </a:spcBef>
              <a:defRPr/>
            </a:lvl7pPr>
            <a:lvl8pPr marL="3196333" marR="0" lvl="7" indent="-8633" algn="l" rtl="0">
              <a:spcBef>
                <a:spcPts val="0"/>
              </a:spcBef>
              <a:defRPr/>
            </a:lvl8pPr>
            <a:lvl9pPr marL="3652951" marR="0" lvl="8" indent="-8051" algn="l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ftr" idx="11"/>
          </p:nvPr>
        </p:nvSpPr>
        <p:spPr>
          <a:xfrm>
            <a:off x="0" y="9445168"/>
            <a:ext cx="2949099" cy="49720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spcBef>
                <a:spcPts val="0"/>
              </a:spcBef>
              <a:defRPr/>
            </a:lvl1pPr>
            <a:lvl2pPr marL="456624" marR="0" lvl="1" indent="-12124" algn="l" rtl="0">
              <a:spcBef>
                <a:spcPts val="0"/>
              </a:spcBef>
              <a:defRPr/>
            </a:lvl2pPr>
            <a:lvl3pPr marL="913237" marR="0" lvl="2" indent="-11537" algn="l" rtl="0">
              <a:spcBef>
                <a:spcPts val="0"/>
              </a:spcBef>
              <a:defRPr/>
            </a:lvl3pPr>
            <a:lvl4pPr marL="1369857" marR="0" lvl="3" indent="-10956" algn="l" rtl="0">
              <a:spcBef>
                <a:spcPts val="0"/>
              </a:spcBef>
              <a:defRPr/>
            </a:lvl4pPr>
            <a:lvl5pPr marL="1826475" marR="0" lvl="4" indent="-10375" algn="l" rtl="0">
              <a:spcBef>
                <a:spcPts val="0"/>
              </a:spcBef>
              <a:defRPr/>
            </a:lvl5pPr>
            <a:lvl6pPr marL="2283095" marR="0" lvl="5" indent="-9794" algn="l" rtl="0">
              <a:spcBef>
                <a:spcPts val="0"/>
              </a:spcBef>
              <a:defRPr/>
            </a:lvl6pPr>
            <a:lvl7pPr marL="2739713" marR="0" lvl="6" indent="-9213" algn="l" rtl="0">
              <a:spcBef>
                <a:spcPts val="0"/>
              </a:spcBef>
              <a:defRPr/>
            </a:lvl7pPr>
            <a:lvl8pPr marL="3196333" marR="0" lvl="7" indent="-8633" algn="l" rtl="0">
              <a:spcBef>
                <a:spcPts val="0"/>
              </a:spcBef>
              <a:defRPr/>
            </a:lvl8pPr>
            <a:lvl9pPr marL="3652951" marR="0" lvl="8" indent="-8051" algn="l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sldNum" idx="12"/>
          </p:nvPr>
        </p:nvSpPr>
        <p:spPr>
          <a:xfrm>
            <a:off x="3854939" y="9445168"/>
            <a:ext cx="2949099" cy="49720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Shape 174"/>
          <p:cNvSpPr txBox="1">
            <a:spLocks noGrp="1"/>
          </p:cNvSpPr>
          <p:nvPr>
            <p:ph type="title"/>
          </p:nvPr>
        </p:nvSpPr>
        <p:spPr>
          <a:xfrm>
            <a:off x="121505" y="260796"/>
            <a:ext cx="6526336" cy="596653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lvl="0" algn="l" rtl="0">
              <a:spcBef>
                <a:spcPts val="0"/>
              </a:spcBef>
              <a:spcAft>
                <a:spcPts val="0"/>
              </a:spcAft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defRPr/>
            </a:lvl5pPr>
            <a:lvl6pPr marL="465681" lvl="5" algn="l" rtl="0">
              <a:spcBef>
                <a:spcPts val="0"/>
              </a:spcBef>
              <a:spcAft>
                <a:spcPts val="0"/>
              </a:spcAft>
              <a:defRPr/>
            </a:lvl6pPr>
            <a:lvl7pPr marL="931383" lvl="6" algn="l" rtl="0">
              <a:spcBef>
                <a:spcPts val="0"/>
              </a:spcBef>
              <a:spcAft>
                <a:spcPts val="0"/>
              </a:spcAft>
              <a:defRPr/>
            </a:lvl7pPr>
            <a:lvl8pPr marL="1397075" lvl="7" algn="l" rtl="0">
              <a:spcBef>
                <a:spcPts val="0"/>
              </a:spcBef>
              <a:spcAft>
                <a:spcPts val="0"/>
              </a:spcAft>
              <a:defRPr/>
            </a:lvl8pPr>
            <a:lvl9pPr marL="1862760" lvl="8" algn="l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Slide">
    <p:bg>
      <p:bgPr>
        <a:blipFill rotWithShape="1"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20"/>
          <p:cNvSpPr txBox="1">
            <a:spLocks noGrp="1"/>
          </p:cNvSpPr>
          <p:nvPr>
            <p:ph type="title"/>
          </p:nvPr>
        </p:nvSpPr>
        <p:spPr>
          <a:xfrm>
            <a:off x="2514603" y="3810003"/>
            <a:ext cx="6019799" cy="1524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lvl="0" algn="l" rtl="0">
              <a:lnSpc>
                <a:spcPct val="90909"/>
              </a:lnSpc>
              <a:spcBef>
                <a:spcPts val="0"/>
              </a:spcBef>
              <a:defRPr/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230420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67A9DB4-A66F-4166-AAFF-7EE268D9CA31}" type="datetime1">
              <a:rPr lang="en-US" altLang="en-US" smtClean="0"/>
              <a:t>4/17/2025</a:t>
            </a:fld>
            <a:endParaRPr lang="en-US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EEEG627 NEA - Class9-  Prof.K.R.Anupama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B38B14-21B8-4CDD-8624-E204845F45C5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219806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9ED2B3A-5264-4A24-A773-B9DD4583FA25}" type="datetime1">
              <a:rPr lang="en-US" altLang="en-US" smtClean="0"/>
              <a:t>4/17/2025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EEEG627 NEA - Class9-  Prof.K.R.Anupama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FB8918-A69B-4523-8AA9-950C4492CEC7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00515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Shape 161"/>
          <p:cNvSpPr/>
          <p:nvPr/>
        </p:nvSpPr>
        <p:spPr>
          <a:xfrm>
            <a:off x="8246615" y="37254"/>
            <a:ext cx="670613" cy="1247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Shape 162"/>
          <p:cNvSpPr txBox="1">
            <a:spLocks noGrp="1"/>
          </p:cNvSpPr>
          <p:nvPr>
            <p:ph type="body" idx="1"/>
          </p:nvPr>
        </p:nvSpPr>
        <p:spPr>
          <a:xfrm>
            <a:off x="159604" y="1152465"/>
            <a:ext cx="8833823" cy="501020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defRPr/>
            </a:lvl1pPr>
            <a:lvl2pPr marL="197272" marR="0" lvl="1" indent="-70271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Char char="▪"/>
              <a:defRPr/>
            </a:lvl2pPr>
            <a:lvl3pPr marL="465681" marR="0" lvl="2" indent="-153261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Char char="–"/>
              <a:defRPr/>
            </a:lvl3pPr>
            <a:lvl4pPr marL="625773" marR="0" lvl="3" indent="-46653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Char char="▫"/>
              <a:defRPr/>
            </a:lvl4pPr>
            <a:lvl5pPr marL="763733" marR="0" lvl="4" indent="-51009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Char char="-"/>
              <a:defRPr/>
            </a:lvl5pPr>
            <a:lvl6pPr marL="763733" marR="0" lvl="5" indent="-51009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Char char="-"/>
              <a:defRPr/>
            </a:lvl6pPr>
            <a:lvl7pPr marL="763733" marR="0" lvl="6" indent="-51009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Char char="-"/>
              <a:defRPr/>
            </a:lvl7pPr>
            <a:lvl8pPr marL="763733" marR="0" lvl="7" indent="-51009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Char char="-"/>
              <a:defRPr/>
            </a:lvl8pPr>
            <a:lvl9pPr marL="763733" marR="0" lvl="8" indent="-51009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Char char="-"/>
              <a:defRPr/>
            </a:lvl9pPr>
          </a:lstStyle>
          <a:p>
            <a:endParaRPr dirty="0"/>
          </a:p>
        </p:txBody>
      </p:sp>
      <p:sp>
        <p:nvSpPr>
          <p:cNvPr id="163" name="Shape 163"/>
          <p:cNvSpPr txBox="1">
            <a:spLocks noGrp="1"/>
          </p:cNvSpPr>
          <p:nvPr>
            <p:ph type="title"/>
          </p:nvPr>
        </p:nvSpPr>
        <p:spPr>
          <a:xfrm>
            <a:off x="159604" y="151603"/>
            <a:ext cx="6526336" cy="596653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defRPr/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defRPr/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defRPr/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defRPr/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defRPr/>
            </a:lvl5pPr>
            <a:lvl6pPr marL="465681" marR="0" lvl="5" indent="-8481" algn="l" rtl="0">
              <a:spcBef>
                <a:spcPts val="0"/>
              </a:spcBef>
              <a:spcAft>
                <a:spcPts val="0"/>
              </a:spcAft>
              <a:defRPr/>
            </a:lvl6pPr>
            <a:lvl7pPr marL="931383" marR="0" lvl="6" indent="-4282" algn="l" rtl="0">
              <a:spcBef>
                <a:spcPts val="0"/>
              </a:spcBef>
              <a:spcAft>
                <a:spcPts val="0"/>
              </a:spcAft>
              <a:defRPr/>
            </a:lvl7pPr>
            <a:lvl8pPr marL="1397075" marR="0" lvl="7" indent="-74" algn="l" rtl="0">
              <a:spcBef>
                <a:spcPts val="0"/>
              </a:spcBef>
              <a:spcAft>
                <a:spcPts val="0"/>
              </a:spcAft>
              <a:defRPr/>
            </a:lvl8pPr>
            <a:lvl9pPr marL="1862760" marR="0" lvl="8" indent="-8560" algn="l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 dirty="0"/>
          </a:p>
        </p:txBody>
      </p:sp>
      <p:grpSp>
        <p:nvGrpSpPr>
          <p:cNvPr id="2" name="Group 1"/>
          <p:cNvGrpSpPr/>
          <p:nvPr userDrawn="1"/>
        </p:nvGrpSpPr>
        <p:grpSpPr>
          <a:xfrm>
            <a:off x="1" y="6785609"/>
            <a:ext cx="9144000" cy="72389"/>
            <a:chOff x="1998227" y="6500996"/>
            <a:chExt cx="7153215" cy="46648"/>
          </a:xfrm>
        </p:grpSpPr>
        <p:sp>
          <p:nvSpPr>
            <p:cNvPr id="170" name="Shape 170"/>
            <p:cNvSpPr/>
            <p:nvPr/>
          </p:nvSpPr>
          <p:spPr>
            <a:xfrm>
              <a:off x="4408551" y="6500996"/>
              <a:ext cx="2376028" cy="46648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lIns="93125" tIns="46550" rIns="93125" bIns="465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Shape 171"/>
            <p:cNvSpPr/>
            <p:nvPr/>
          </p:nvSpPr>
          <p:spPr>
            <a:xfrm>
              <a:off x="1998227" y="6500996"/>
              <a:ext cx="2410322" cy="46648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lIns="93125" tIns="46550" rIns="93125" bIns="465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Shape 172"/>
            <p:cNvSpPr/>
            <p:nvPr/>
          </p:nvSpPr>
          <p:spPr>
            <a:xfrm>
              <a:off x="6775414" y="6500996"/>
              <a:ext cx="2376028" cy="4664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lIns="93125" tIns="46550" rIns="93125" bIns="465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6" name="Shape 18" descr="BITS_university_logo_whitevert.png"/>
          <p:cNvPicPr preferRelativeResize="0"/>
          <p:nvPr userDrawn="1"/>
        </p:nvPicPr>
        <p:blipFill rotWithShape="1">
          <a:blip r:embed="rId6">
            <a:alphaModFix/>
          </a:blip>
          <a:srcRect t="2" b="28592"/>
          <a:stretch/>
        </p:blipFill>
        <p:spPr>
          <a:xfrm>
            <a:off x="8138322" y="23045"/>
            <a:ext cx="939004" cy="903678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Shape 184"/>
          <p:cNvSpPr txBox="1"/>
          <p:nvPr userDrawn="1"/>
        </p:nvSpPr>
        <p:spPr>
          <a:xfrm>
            <a:off x="8095553" y="841751"/>
            <a:ext cx="1024542" cy="264293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en-US" sz="1200" b="1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BITS</a:t>
            </a:r>
            <a:r>
              <a:rPr lang="en-US" sz="12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Pilani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9" r:id="rId2"/>
    <p:sldLayoutId id="2147483670" r:id="rId3"/>
    <p:sldLayoutId id="2147483671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3EA8F3D-5E80-47FC-B604-B77B30D5F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445" y="400839"/>
            <a:ext cx="7213339" cy="857437"/>
          </a:xfrm>
        </p:spPr>
        <p:txBody>
          <a:bodyPr/>
          <a:lstStyle/>
          <a:p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Centroid Localization - Assumptions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1E40798-B41E-48C6-A643-BD71433B88BD}"/>
              </a:ext>
            </a:extLst>
          </p:cNvPr>
          <p:cNvSpPr txBox="1"/>
          <p:nvPr/>
        </p:nvSpPr>
        <p:spPr>
          <a:xfrm>
            <a:off x="359769" y="1461512"/>
            <a:ext cx="7883610" cy="3511059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rtlCol="0" anchor="b" anchorCtr="0">
            <a:spAutoFit/>
          </a:bodyPr>
          <a:lstStyle/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Calibri" panose="020F0502020204030204" pitchFamily="34" charset="0"/>
                <a:cs typeface="Calibri" panose="020F0502020204030204" pitchFamily="34" charset="0"/>
              </a:rPr>
              <a:t>Perfect Spherical Radio Propagation</a:t>
            </a:r>
          </a:p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Calibri" panose="020F0502020204030204" pitchFamily="34" charset="0"/>
                <a:cs typeface="Calibri" panose="020F0502020204030204" pitchFamily="34" charset="0"/>
              </a:rPr>
              <a:t>Identical Tx range for all radios</a:t>
            </a:r>
          </a:p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Calibri" panose="020F0502020204030204" pitchFamily="34" charset="0"/>
                <a:cs typeface="Calibri" panose="020F0502020204030204" pitchFamily="34" charset="0"/>
              </a:rPr>
              <a:t>The neighbouring signal points can be sync so that they do not overlap in time</a:t>
            </a:r>
          </a:p>
        </p:txBody>
      </p:sp>
    </p:spTree>
    <p:extLst>
      <p:ext uri="{BB962C8B-B14F-4D97-AF65-F5344CB8AC3E}">
        <p14:creationId xmlns:p14="http://schemas.microsoft.com/office/powerpoint/2010/main" val="23360229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0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4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0" y="1885950"/>
            <a:ext cx="3429000" cy="308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341847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59604" y="390526"/>
            <a:ext cx="6526336" cy="596653"/>
          </a:xfrm>
        </p:spPr>
        <p:txBody>
          <a:bodyPr/>
          <a:lstStyle/>
          <a:p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Position Estimation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159604" y="1457265"/>
            <a:ext cx="8833823" cy="5010209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S (</a:t>
            </a:r>
            <a:r>
              <a:rPr lang="en-US" sz="3200" dirty="0" err="1">
                <a:solidFill>
                  <a:srgbClr val="FF0000"/>
                </a:solidFill>
              </a:rPr>
              <a:t>x,y</a:t>
            </a:r>
            <a:r>
              <a:rPr lang="en-US" sz="3200" dirty="0">
                <a:solidFill>
                  <a:srgbClr val="FF0000"/>
                </a:solidFill>
              </a:rPr>
              <a:t>) = 1/n </a:t>
            </a:r>
            <a:r>
              <a:rPr lang="en-US" sz="3200" dirty="0">
                <a:solidFill>
                  <a:srgbClr val="FF0000"/>
                </a:solidFill>
                <a:sym typeface="Symbol" panose="05050102010706020507" pitchFamily="18" charset="2"/>
              </a:rPr>
              <a:t></a:t>
            </a:r>
            <a:r>
              <a:rPr lang="en-US" sz="3200" baseline="-25000" dirty="0">
                <a:solidFill>
                  <a:srgbClr val="FF0000"/>
                </a:solidFill>
                <a:sym typeface="Symbol" panose="05050102010706020507" pitchFamily="18" charset="2"/>
              </a:rPr>
              <a:t>n</a:t>
            </a:r>
            <a:r>
              <a:rPr lang="en-US" sz="3200" dirty="0">
                <a:solidFill>
                  <a:srgbClr val="FF0000"/>
                </a:solidFill>
                <a:sym typeface="Symbol" panose="05050102010706020507" pitchFamily="18" charset="2"/>
              </a:rPr>
              <a:t> B(</a:t>
            </a:r>
            <a:r>
              <a:rPr lang="en-US" sz="3200" dirty="0" err="1">
                <a:solidFill>
                  <a:srgbClr val="FF0000"/>
                </a:solidFill>
                <a:sym typeface="Symbol" panose="05050102010706020507" pitchFamily="18" charset="2"/>
              </a:rPr>
              <a:t>x</a:t>
            </a:r>
            <a:r>
              <a:rPr lang="en-US" sz="3200" baseline="-25000" dirty="0" err="1">
                <a:solidFill>
                  <a:srgbClr val="FF0000"/>
                </a:solidFill>
                <a:sym typeface="Symbol" panose="05050102010706020507" pitchFamily="18" charset="2"/>
              </a:rPr>
              <a:t>i</a:t>
            </a:r>
            <a:r>
              <a:rPr lang="en-US" sz="3200" dirty="0" err="1">
                <a:solidFill>
                  <a:srgbClr val="FF0000"/>
                </a:solidFill>
                <a:sym typeface="Symbol" panose="05050102010706020507" pitchFamily="18" charset="2"/>
              </a:rPr>
              <a:t>,y</a:t>
            </a:r>
            <a:r>
              <a:rPr lang="en-US" sz="3200" baseline="-25000" dirty="0" err="1">
                <a:solidFill>
                  <a:srgbClr val="FF0000"/>
                </a:solidFill>
                <a:sym typeface="Symbol" panose="05050102010706020507" pitchFamily="18" charset="2"/>
              </a:rPr>
              <a:t>i</a:t>
            </a:r>
            <a:r>
              <a:rPr lang="en-US" sz="3200" dirty="0">
                <a:solidFill>
                  <a:srgbClr val="FF0000"/>
                </a:solidFill>
                <a:sym typeface="Symbol" panose="05050102010706020507" pitchFamily="18" charset="2"/>
              </a:rPr>
              <a:t>)</a:t>
            </a:r>
            <a:endParaRPr lang="en-US" sz="3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4149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1555750" y="838200"/>
            <a:ext cx="5867400" cy="5181600"/>
            <a:chOff x="1066800" y="228600"/>
            <a:chExt cx="5943600" cy="5943600"/>
          </a:xfrm>
        </p:grpSpPr>
        <p:sp>
          <p:nvSpPr>
            <p:cNvPr id="15" name="Oval 14"/>
            <p:cNvSpPr/>
            <p:nvPr/>
          </p:nvSpPr>
          <p:spPr>
            <a:xfrm>
              <a:off x="2133600" y="1371600"/>
              <a:ext cx="3581400" cy="3505200"/>
            </a:xfrm>
            <a:prstGeom prst="ellipse">
              <a:avLst/>
            </a:prstGeom>
            <a:noFill/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" name="Rectangle 1"/>
            <p:cNvSpPr/>
            <p:nvPr/>
          </p:nvSpPr>
          <p:spPr>
            <a:xfrm>
              <a:off x="2590800" y="1905000"/>
              <a:ext cx="1295400" cy="1219200"/>
            </a:xfrm>
            <a:prstGeom prst="rect">
              <a:avLst/>
            </a:prstGeom>
            <a:noFill/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" name="Rectangle 2"/>
            <p:cNvSpPr/>
            <p:nvPr/>
          </p:nvSpPr>
          <p:spPr>
            <a:xfrm>
              <a:off x="3886200" y="1905000"/>
              <a:ext cx="1295400" cy="1219200"/>
            </a:xfrm>
            <a:prstGeom prst="rect">
              <a:avLst/>
            </a:prstGeom>
            <a:noFill/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4" name="Rectangle 3"/>
            <p:cNvSpPr/>
            <p:nvPr/>
          </p:nvSpPr>
          <p:spPr>
            <a:xfrm>
              <a:off x="3886200" y="3124200"/>
              <a:ext cx="1295400" cy="1219200"/>
            </a:xfrm>
            <a:prstGeom prst="rect">
              <a:avLst/>
            </a:prstGeom>
            <a:noFill/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5" name="Rectangle 4"/>
            <p:cNvSpPr/>
            <p:nvPr/>
          </p:nvSpPr>
          <p:spPr>
            <a:xfrm>
              <a:off x="2590800" y="3124200"/>
              <a:ext cx="1295400" cy="1219200"/>
            </a:xfrm>
            <a:prstGeom prst="rect">
              <a:avLst/>
            </a:prstGeom>
            <a:noFill/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6" name="Oval 5"/>
            <p:cNvSpPr/>
            <p:nvPr/>
          </p:nvSpPr>
          <p:spPr>
            <a:xfrm>
              <a:off x="2514600" y="1828800"/>
              <a:ext cx="152400" cy="152400"/>
            </a:xfrm>
            <a:prstGeom prst="ellipse">
              <a:avLst/>
            </a:prstGeom>
            <a:solidFill>
              <a:srgbClr val="CC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7" name="Oval 6"/>
            <p:cNvSpPr/>
            <p:nvPr/>
          </p:nvSpPr>
          <p:spPr>
            <a:xfrm>
              <a:off x="3810000" y="1828800"/>
              <a:ext cx="152400" cy="152400"/>
            </a:xfrm>
            <a:prstGeom prst="ellipse">
              <a:avLst/>
            </a:prstGeom>
            <a:solidFill>
              <a:srgbClr val="CC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8" name="Oval 7"/>
            <p:cNvSpPr/>
            <p:nvPr/>
          </p:nvSpPr>
          <p:spPr>
            <a:xfrm>
              <a:off x="5105400" y="1828800"/>
              <a:ext cx="152400" cy="152400"/>
            </a:xfrm>
            <a:prstGeom prst="ellipse">
              <a:avLst/>
            </a:prstGeom>
            <a:solidFill>
              <a:srgbClr val="CC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9" name="Oval 8"/>
            <p:cNvSpPr/>
            <p:nvPr/>
          </p:nvSpPr>
          <p:spPr>
            <a:xfrm>
              <a:off x="5105400" y="3048000"/>
              <a:ext cx="152400" cy="152400"/>
            </a:xfrm>
            <a:prstGeom prst="ellipse">
              <a:avLst/>
            </a:prstGeom>
            <a:solidFill>
              <a:srgbClr val="CC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0" name="Oval 9"/>
            <p:cNvSpPr/>
            <p:nvPr/>
          </p:nvSpPr>
          <p:spPr>
            <a:xfrm>
              <a:off x="3810000" y="3048000"/>
              <a:ext cx="152400" cy="152400"/>
            </a:xfrm>
            <a:prstGeom prst="ellipse">
              <a:avLst/>
            </a:prstGeom>
            <a:solidFill>
              <a:srgbClr val="CC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1" name="Oval 10"/>
            <p:cNvSpPr/>
            <p:nvPr/>
          </p:nvSpPr>
          <p:spPr>
            <a:xfrm>
              <a:off x="2514600" y="3048000"/>
              <a:ext cx="152400" cy="152400"/>
            </a:xfrm>
            <a:prstGeom prst="ellipse">
              <a:avLst/>
            </a:prstGeom>
            <a:solidFill>
              <a:srgbClr val="CC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2" name="Oval 11"/>
            <p:cNvSpPr/>
            <p:nvPr/>
          </p:nvSpPr>
          <p:spPr>
            <a:xfrm>
              <a:off x="2514600" y="4191000"/>
              <a:ext cx="152400" cy="152400"/>
            </a:xfrm>
            <a:prstGeom prst="ellipse">
              <a:avLst/>
            </a:prstGeom>
            <a:solidFill>
              <a:srgbClr val="CC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3" name="Oval 12"/>
            <p:cNvSpPr/>
            <p:nvPr/>
          </p:nvSpPr>
          <p:spPr>
            <a:xfrm>
              <a:off x="3810000" y="4267200"/>
              <a:ext cx="152400" cy="152400"/>
            </a:xfrm>
            <a:prstGeom prst="ellipse">
              <a:avLst/>
            </a:prstGeom>
            <a:solidFill>
              <a:srgbClr val="CC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4" name="Oval 13"/>
            <p:cNvSpPr/>
            <p:nvPr/>
          </p:nvSpPr>
          <p:spPr>
            <a:xfrm>
              <a:off x="5105400" y="4267200"/>
              <a:ext cx="152400" cy="152400"/>
            </a:xfrm>
            <a:prstGeom prst="ellipse">
              <a:avLst/>
            </a:prstGeom>
            <a:solidFill>
              <a:srgbClr val="CC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6" name="Oval 15"/>
            <p:cNvSpPr/>
            <p:nvPr/>
          </p:nvSpPr>
          <p:spPr>
            <a:xfrm>
              <a:off x="3352800" y="1371600"/>
              <a:ext cx="3581400" cy="3505200"/>
            </a:xfrm>
            <a:prstGeom prst="ellipse">
              <a:avLst/>
            </a:pr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7" name="Oval 16"/>
            <p:cNvSpPr/>
            <p:nvPr/>
          </p:nvSpPr>
          <p:spPr>
            <a:xfrm>
              <a:off x="1066800" y="1371600"/>
              <a:ext cx="3581400" cy="3505200"/>
            </a:xfrm>
            <a:prstGeom prst="ellipse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9" name="Oval 18"/>
            <p:cNvSpPr/>
            <p:nvPr/>
          </p:nvSpPr>
          <p:spPr>
            <a:xfrm>
              <a:off x="2209800" y="2667000"/>
              <a:ext cx="3581400" cy="3505200"/>
            </a:xfrm>
            <a:prstGeom prst="ellipse">
              <a:avLst/>
            </a:prstGeom>
            <a:noFill/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0" name="Oval 19"/>
            <p:cNvSpPr/>
            <p:nvPr/>
          </p:nvSpPr>
          <p:spPr>
            <a:xfrm>
              <a:off x="3429000" y="2667000"/>
              <a:ext cx="3581400" cy="3505200"/>
            </a:xfrm>
            <a:prstGeom prst="ellipse">
              <a:avLst/>
            </a:pr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1" name="Oval 20"/>
            <p:cNvSpPr/>
            <p:nvPr/>
          </p:nvSpPr>
          <p:spPr>
            <a:xfrm>
              <a:off x="1143000" y="2667000"/>
              <a:ext cx="3581400" cy="3505200"/>
            </a:xfrm>
            <a:prstGeom prst="ellipse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2" name="Oval 21"/>
            <p:cNvSpPr/>
            <p:nvPr/>
          </p:nvSpPr>
          <p:spPr>
            <a:xfrm>
              <a:off x="2133600" y="228600"/>
              <a:ext cx="3581400" cy="3505200"/>
            </a:xfrm>
            <a:prstGeom prst="ellipse">
              <a:avLst/>
            </a:prstGeom>
            <a:noFill/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3" name="Oval 22"/>
            <p:cNvSpPr/>
            <p:nvPr/>
          </p:nvSpPr>
          <p:spPr>
            <a:xfrm>
              <a:off x="3352800" y="228600"/>
              <a:ext cx="3581400" cy="3505200"/>
            </a:xfrm>
            <a:prstGeom prst="ellipse">
              <a:avLst/>
            </a:pr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4" name="Oval 23"/>
            <p:cNvSpPr/>
            <p:nvPr/>
          </p:nvSpPr>
          <p:spPr>
            <a:xfrm>
              <a:off x="1066800" y="228600"/>
              <a:ext cx="3581400" cy="3505200"/>
            </a:xfrm>
            <a:prstGeom prst="ellipse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5337834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590800" y="1524000"/>
            <a:ext cx="3581400" cy="3124200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" name="Oval 2"/>
          <p:cNvSpPr/>
          <p:nvPr/>
        </p:nvSpPr>
        <p:spPr>
          <a:xfrm>
            <a:off x="2514600" y="1447800"/>
            <a:ext cx="152400" cy="152400"/>
          </a:xfrm>
          <a:prstGeom prst="ellipse">
            <a:avLst/>
          </a:prstGeom>
          <a:solidFill>
            <a:srgbClr val="CC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4" name="Oval 3"/>
          <p:cNvSpPr/>
          <p:nvPr/>
        </p:nvSpPr>
        <p:spPr>
          <a:xfrm>
            <a:off x="6096000" y="1447800"/>
            <a:ext cx="152400" cy="152400"/>
          </a:xfrm>
          <a:prstGeom prst="ellipse">
            <a:avLst/>
          </a:prstGeom>
          <a:solidFill>
            <a:srgbClr val="CC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2514600" y="4495800"/>
            <a:ext cx="152400" cy="152400"/>
          </a:xfrm>
          <a:prstGeom prst="ellipse">
            <a:avLst/>
          </a:prstGeom>
          <a:solidFill>
            <a:srgbClr val="CC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6096000" y="4572000"/>
            <a:ext cx="152400" cy="152400"/>
          </a:xfrm>
          <a:prstGeom prst="ellipse">
            <a:avLst/>
          </a:prstGeom>
          <a:solidFill>
            <a:srgbClr val="CC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10" name="Straight Arrow Connector 9"/>
          <p:cNvCxnSpPr>
            <a:stCxn id="3" idx="5"/>
          </p:cNvCxnSpPr>
          <p:nvPr/>
        </p:nvCxnSpPr>
        <p:spPr>
          <a:xfrm rot="16200000" flipH="1">
            <a:off x="2720975" y="1501775"/>
            <a:ext cx="1546225" cy="1698625"/>
          </a:xfrm>
          <a:prstGeom prst="straightConnector1">
            <a:avLst/>
          </a:prstGeom>
          <a:ln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stCxn id="4" idx="3"/>
          </p:cNvCxnSpPr>
          <p:nvPr/>
        </p:nvCxnSpPr>
        <p:spPr>
          <a:xfrm rot="5400000">
            <a:off x="4457700" y="1463675"/>
            <a:ext cx="1546225" cy="1774825"/>
          </a:xfrm>
          <a:prstGeom prst="straightConnector1">
            <a:avLst/>
          </a:prstGeom>
          <a:ln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6" idx="0"/>
          </p:cNvCxnSpPr>
          <p:nvPr/>
        </p:nvCxnSpPr>
        <p:spPr>
          <a:xfrm rot="16200000" flipV="1">
            <a:off x="4572000" y="2971800"/>
            <a:ext cx="1447800" cy="1752600"/>
          </a:xfrm>
          <a:prstGeom prst="straightConnector1">
            <a:avLst/>
          </a:prstGeom>
          <a:ln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stCxn id="5" idx="7"/>
          </p:cNvCxnSpPr>
          <p:nvPr/>
        </p:nvCxnSpPr>
        <p:spPr>
          <a:xfrm rot="5400000" flipH="1" flipV="1">
            <a:off x="2835275" y="2933700"/>
            <a:ext cx="1393825" cy="1774825"/>
          </a:xfrm>
          <a:prstGeom prst="straightConnector1">
            <a:avLst/>
          </a:prstGeom>
          <a:ln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4343400" y="3048000"/>
            <a:ext cx="152400" cy="152400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30" name="Straight Arrow Connector 29"/>
          <p:cNvCxnSpPr>
            <a:stCxn id="3" idx="6"/>
          </p:cNvCxnSpPr>
          <p:nvPr/>
        </p:nvCxnSpPr>
        <p:spPr>
          <a:xfrm>
            <a:off x="2667000" y="1524000"/>
            <a:ext cx="533400" cy="1981200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stCxn id="5" idx="0"/>
          </p:cNvCxnSpPr>
          <p:nvPr/>
        </p:nvCxnSpPr>
        <p:spPr>
          <a:xfrm rot="5400000" flipH="1" flipV="1">
            <a:off x="2400300" y="3695700"/>
            <a:ext cx="990600" cy="609600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stCxn id="4" idx="3"/>
          </p:cNvCxnSpPr>
          <p:nvPr/>
        </p:nvCxnSpPr>
        <p:spPr>
          <a:xfrm rot="5400000">
            <a:off x="3695700" y="1082675"/>
            <a:ext cx="1927225" cy="2917825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6" idx="1"/>
          </p:cNvCxnSpPr>
          <p:nvPr/>
        </p:nvCxnSpPr>
        <p:spPr>
          <a:xfrm rot="16200000" flipV="1">
            <a:off x="4114800" y="2590800"/>
            <a:ext cx="1089025" cy="2917825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3124200" y="3429000"/>
            <a:ext cx="152400" cy="152400"/>
          </a:xfrm>
          <a:prstGeom prst="ellipse">
            <a:avLst/>
          </a:prstGeom>
          <a:solidFill>
            <a:srgbClr val="D60093"/>
          </a:solidFill>
          <a:ln>
            <a:solidFill>
              <a:srgbClr val="D6009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0" name="TextBox 39"/>
          <p:cNvSpPr txBox="1"/>
          <p:nvPr/>
        </p:nvSpPr>
        <p:spPr>
          <a:xfrm>
            <a:off x="2495550" y="5486400"/>
            <a:ext cx="41148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dirty="0">
                <a:latin typeface="+mj-lt"/>
              </a:rPr>
              <a:t>Weighted Centroid</a:t>
            </a:r>
          </a:p>
        </p:txBody>
      </p:sp>
      <p:sp>
        <p:nvSpPr>
          <p:cNvPr id="19" name="Oval 18"/>
          <p:cNvSpPr/>
          <p:nvPr/>
        </p:nvSpPr>
        <p:spPr>
          <a:xfrm>
            <a:off x="2743200" y="3429000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67890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3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59604" y="396999"/>
            <a:ext cx="6526336" cy="596653"/>
          </a:xfrm>
        </p:spPr>
        <p:txBody>
          <a:bodyPr/>
          <a:lstStyle/>
          <a:p>
            <a:r>
              <a:rPr lang="en-US" sz="4400" dirty="0">
                <a:latin typeface="Calibri" panose="020F0502020204030204" pitchFamily="34" charset="0"/>
                <a:cs typeface="Calibri" panose="020F0502020204030204" pitchFamily="34" charset="0"/>
              </a:rPr>
              <a:t>Position Estimation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159604" y="1379111"/>
            <a:ext cx="8833823" cy="5010209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 (</a:t>
            </a:r>
            <a:r>
              <a:rPr lang="en-US" sz="3200" dirty="0" err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x,y</a:t>
            </a:r>
            <a:r>
              <a:rPr lang="en-US" sz="32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 = [</a:t>
            </a:r>
            <a:r>
              <a:rPr lang="en-US" sz="3200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1/</a:t>
            </a:r>
            <a:r>
              <a:rPr lang="en-US" sz="3200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</a:t>
            </a:r>
            <a:r>
              <a:rPr lang="en-US" sz="3200" baseline="-25000" dirty="0" err="1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n</a:t>
            </a:r>
            <a:r>
              <a:rPr lang="en-US" sz="3200" dirty="0" err="1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w</a:t>
            </a:r>
            <a:r>
              <a:rPr lang="en-US" sz="3200" baseline="-25000" dirty="0" err="1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i</a:t>
            </a:r>
            <a:r>
              <a:rPr lang="en-US" sz="32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]*</a:t>
            </a:r>
            <a:r>
              <a:rPr lang="en-US" sz="32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</a:t>
            </a:r>
            <a:r>
              <a:rPr lang="en-US" sz="3200" baseline="-250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n</a:t>
            </a:r>
            <a:r>
              <a:rPr lang="en-US" sz="32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 </a:t>
            </a:r>
            <a:r>
              <a:rPr lang="en-US" sz="3200" dirty="0" err="1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w</a:t>
            </a:r>
            <a:r>
              <a:rPr lang="en-US" sz="3200" baseline="-25000" dirty="0" err="1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i</a:t>
            </a:r>
            <a:r>
              <a:rPr lang="en-US" sz="3200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 </a:t>
            </a:r>
            <a:r>
              <a:rPr lang="en-US" sz="32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B(</a:t>
            </a:r>
            <a:r>
              <a:rPr lang="en-US" sz="3200" dirty="0" err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x</a:t>
            </a:r>
            <a:r>
              <a:rPr lang="en-US" sz="3200" baseline="-25000" dirty="0" err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i</a:t>
            </a:r>
            <a:r>
              <a:rPr lang="en-US" sz="3200" dirty="0" err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,y</a:t>
            </a:r>
            <a:r>
              <a:rPr lang="en-US" sz="3200" baseline="-25000" dirty="0" err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i</a:t>
            </a:r>
            <a:r>
              <a:rPr lang="en-US" sz="32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)</a:t>
            </a:r>
            <a:endParaRPr lang="en-US" sz="3200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024904"/>
      </p:ext>
    </p:extLst>
  </p:cSld>
  <p:clrMapOvr>
    <a:masterClrMapping/>
  </p:clrMapOvr>
</p:sld>
</file>

<file path=ppt/theme/theme1.xml><?xml version="1.0" encoding="utf-8"?>
<a:theme xmlns:a="http://schemas.openxmlformats.org/drawingml/2006/main" name="8_Blank">
  <a:themeElements>
    <a:clrScheme name="Bits">
      <a:dk1>
        <a:srgbClr val="000000"/>
      </a:dk1>
      <a:lt1>
        <a:srgbClr val="FFFFFF"/>
      </a:lt1>
      <a:dk2>
        <a:srgbClr val="002960"/>
      </a:dk2>
      <a:lt2>
        <a:srgbClr val="FFFFFF"/>
      </a:lt2>
      <a:accent1>
        <a:srgbClr val="FCB017"/>
      </a:accent1>
      <a:accent2>
        <a:srgbClr val="76C2E5"/>
      </a:accent2>
      <a:accent3>
        <a:srgbClr val="FF0000"/>
      </a:accent3>
      <a:accent4>
        <a:srgbClr val="002960"/>
      </a:accent4>
      <a:accent5>
        <a:srgbClr val="FF6600"/>
      </a:accent5>
      <a:accent6>
        <a:srgbClr val="808080"/>
      </a:accent6>
      <a:hlink>
        <a:srgbClr val="FF0000"/>
      </a:hlink>
      <a:folHlink>
        <a:srgbClr val="00296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  <a:ln>
          <a:noFill/>
        </a:ln>
      </a:spPr>
      <a:bodyPr lIns="91425" tIns="91425" rIns="91425" bIns="91425" anchor="b" anchorCtr="0"/>
      <a:lstStyle>
        <a:defPPr>
          <a:defRPr dirty="0"/>
        </a:defPPr>
      </a:lstStyle>
    </a:txDef>
  </a:objectDefaults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1139</TotalTime>
  <Words>75</Words>
  <Application>Microsoft Office PowerPoint</Application>
  <PresentationFormat>On-screen Show (4:3)</PresentationFormat>
  <Paragraphs>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Symbol</vt:lpstr>
      <vt:lpstr>8_Blank</vt:lpstr>
      <vt:lpstr>Centroid Localization - Assumptions</vt:lpstr>
      <vt:lpstr>PowerPoint Presentation</vt:lpstr>
      <vt:lpstr>Position Estimation</vt:lpstr>
      <vt:lpstr>PowerPoint Presentation</vt:lpstr>
      <vt:lpstr>PowerPoint Presentation</vt:lpstr>
      <vt:lpstr>Position Estimation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WILP Transformation  Work Stream  Update in WSLM 14: MAY 27, 2015</dc:title>
  <dc:creator>Clarance Suman Vissakodeti</dc:creator>
  <cp:lastModifiedBy>Abid AK</cp:lastModifiedBy>
  <cp:revision>80</cp:revision>
  <dcterms:modified xsi:type="dcterms:W3CDTF">2025-04-17T12:07:30Z</dcterms:modified>
</cp:coreProperties>
</file>