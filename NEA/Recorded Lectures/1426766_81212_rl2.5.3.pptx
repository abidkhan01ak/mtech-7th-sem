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4"/>
  </p:notesMasterIdLst>
  <p:handoutMasterIdLst>
    <p:handoutMasterId r:id="rId5"/>
  </p:handoutMasterIdLst>
  <p:sldIdLst>
    <p:sldId id="293" r:id="rId2"/>
    <p:sldId id="298" r:id="rId3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Time Difference of Arrival (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TDoA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CD7456-1AF5-4998-92FD-A385918A219E}"/>
              </a:ext>
            </a:extLst>
          </p:cNvPr>
          <p:cNvCxnSpPr/>
          <p:nvPr/>
        </p:nvCxnSpPr>
        <p:spPr>
          <a:xfrm>
            <a:off x="1220788" y="5704533"/>
            <a:ext cx="6858000" cy="158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23EF1F-C0AA-4EA4-B178-4F3BEE390047}"/>
              </a:ext>
            </a:extLst>
          </p:cNvPr>
          <p:cNvCxnSpPr/>
          <p:nvPr/>
        </p:nvCxnSpPr>
        <p:spPr>
          <a:xfrm rot="5400000" flipH="1" flipV="1">
            <a:off x="-876299" y="3609032"/>
            <a:ext cx="4191000" cy="31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5">
            <a:extLst>
              <a:ext uri="{FF2B5EF4-FFF2-40B4-BE49-F238E27FC236}">
                <a16:creationId xmlns:a16="http://schemas.microsoft.com/office/drawing/2014/main" id="{2BC151A1-E685-45F4-BFFD-871E78EBE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858520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6C0B2AD1-3CF5-4B6D-9394-422C9163C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19920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833470-2965-492C-A58A-894B7BF1428A}"/>
              </a:ext>
            </a:extLst>
          </p:cNvPr>
          <p:cNvCxnSpPr/>
          <p:nvPr/>
        </p:nvCxnSpPr>
        <p:spPr>
          <a:xfrm>
            <a:off x="1786584" y="5037830"/>
            <a:ext cx="5867400" cy="0"/>
          </a:xfrm>
          <a:prstGeom prst="line">
            <a:avLst/>
          </a:prstGeom>
          <a:ln w="28575"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21A2FF53-8181-4C54-B596-0F26171BC06F}"/>
              </a:ext>
            </a:extLst>
          </p:cNvPr>
          <p:cNvSpPr/>
          <p:nvPr/>
        </p:nvSpPr>
        <p:spPr>
          <a:xfrm>
            <a:off x="2928555" y="4923530"/>
            <a:ext cx="228600" cy="228600"/>
          </a:xfrm>
          <a:prstGeom prst="triangle">
            <a:avLst/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C4C793E3-87B5-457E-AEE3-D162C1603B3F}"/>
              </a:ext>
            </a:extLst>
          </p:cNvPr>
          <p:cNvSpPr/>
          <p:nvPr/>
        </p:nvSpPr>
        <p:spPr>
          <a:xfrm>
            <a:off x="5976555" y="4923530"/>
            <a:ext cx="228600" cy="228600"/>
          </a:xfrm>
          <a:prstGeom prst="triangle">
            <a:avLst/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F2E563BE-714C-42C8-B526-47A102F04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772" y="5175812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1D85BA8B-1D77-45E0-BD8A-3CF5FA60F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429" y="5175812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C00A3CE-460C-45CA-B862-032DF50DE3C6}"/>
              </a:ext>
            </a:extLst>
          </p:cNvPr>
          <p:cNvSpPr/>
          <p:nvPr/>
        </p:nvSpPr>
        <p:spPr>
          <a:xfrm>
            <a:off x="5062155" y="3237215"/>
            <a:ext cx="152400" cy="1524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3A2C19B8-817C-4B81-A2BA-08CC3D96A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355" y="2742156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5A59685-1BF2-485B-A4A0-07C04DAB7A1A}"/>
              </a:ext>
            </a:extLst>
          </p:cNvPr>
          <p:cNvCxnSpPr/>
          <p:nvPr/>
        </p:nvCxnSpPr>
        <p:spPr>
          <a:xfrm rot="5400000" flipH="1" flipV="1">
            <a:off x="3252405" y="3113777"/>
            <a:ext cx="1600200" cy="2019300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FC45BB-2FF4-4565-9F12-22D48C1A9ECB}"/>
              </a:ext>
            </a:extLst>
          </p:cNvPr>
          <p:cNvCxnSpPr/>
          <p:nvPr/>
        </p:nvCxnSpPr>
        <p:spPr>
          <a:xfrm rot="16200000" flipV="1">
            <a:off x="4852605" y="3685277"/>
            <a:ext cx="1524000" cy="952500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21">
            <a:extLst>
              <a:ext uri="{FF2B5EF4-FFF2-40B4-BE49-F238E27FC236}">
                <a16:creationId xmlns:a16="http://schemas.microsoft.com/office/drawing/2014/main" id="{C758758D-57B5-4A05-AE59-3517EDE4F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8155" y="3856727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45A75ADB-B482-46F4-BA6A-CDF4B04A7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555" y="3856727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5B4D265E-5E56-42C0-B4C1-FF17E594D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705" y="6199892"/>
            <a:ext cx="27142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– d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=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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t.c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=  d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3D5C75BC-6578-403D-A17A-AB06A91A2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1972" y="6199891"/>
            <a:ext cx="22397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t  =  t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end 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- </a:t>
            </a:r>
            <a:r>
              <a:rPr kumimoji="0" lang="en-US" sz="2400" b="0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start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99DA76-FD2B-4245-B7C2-FD2052B46CD5}"/>
              </a:ext>
            </a:extLst>
          </p:cNvPr>
          <p:cNvGrpSpPr/>
          <p:nvPr/>
        </p:nvGrpSpPr>
        <p:grpSpPr>
          <a:xfrm>
            <a:off x="1752600" y="1413531"/>
            <a:ext cx="7391400" cy="913070"/>
            <a:chOff x="1752600" y="1413531"/>
            <a:chExt cx="7391400" cy="91307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FCD98F1-630B-4FDE-B943-8FE49854185F}"/>
                </a:ext>
              </a:extLst>
            </p:cNvPr>
            <p:cNvGrpSpPr/>
            <p:nvPr/>
          </p:nvGrpSpPr>
          <p:grpSpPr>
            <a:xfrm>
              <a:off x="1752600" y="1413531"/>
              <a:ext cx="7391400" cy="913070"/>
              <a:chOff x="1752600" y="1413531"/>
              <a:chExt cx="7391400" cy="913070"/>
            </a:xfrm>
          </p:grpSpPr>
          <p:sp>
            <p:nvSpPr>
              <p:cNvPr id="49" name="TextBox 24">
                <a:extLst>
                  <a:ext uri="{FF2B5EF4-FFF2-40B4-BE49-F238E27FC236}">
                    <a16:creationId xmlns:a16="http://schemas.microsoft.com/office/drawing/2014/main" id="{F2D7C666-A3F4-4164-B79D-5BAD87E5E9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2600" y="1413531"/>
                <a:ext cx="7391400" cy="9130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 = √ (x – x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) </a:t>
                </a:r>
                <a:r>
                  <a:rPr kumimoji="0" lang="en-US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+ (y – y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) </a:t>
                </a:r>
                <a:r>
                  <a:rPr kumimoji="0" lang="en-US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   _    √ (x – x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) </a:t>
                </a:r>
                <a:r>
                  <a:rPr kumimoji="0" lang="en-US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+ (y – y 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kumimoji="0" lang="en-US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Symbol" pitchFamily="18" charset="2"/>
                  </a:rPr>
                  <a:t>d			         d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7835737-07D6-4743-88AA-868A00F235D1}"/>
                  </a:ext>
                </a:extLst>
              </p:cNvPr>
              <p:cNvCxnSpPr/>
              <p:nvPr/>
            </p:nvCxnSpPr>
            <p:spPr>
              <a:xfrm>
                <a:off x="2303272" y="1449182"/>
                <a:ext cx="2057400" cy="0"/>
              </a:xfrm>
              <a:prstGeom prst="line">
                <a:avLst/>
              </a:prstGeom>
              <a:ln w="127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78D8D5E-043D-4C6B-B600-0E10FBEE48B7}"/>
                  </a:ext>
                </a:extLst>
              </p:cNvPr>
              <p:cNvCxnSpPr/>
              <p:nvPr/>
            </p:nvCxnSpPr>
            <p:spPr>
              <a:xfrm>
                <a:off x="2055813" y="1864609"/>
                <a:ext cx="2057400" cy="0"/>
              </a:xfrm>
              <a:prstGeom prst="line">
                <a:avLst/>
              </a:prstGeom>
              <a:ln w="127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895DE3A-F152-4FC4-A162-1C46BA88FAC0}"/>
                </a:ext>
              </a:extLst>
            </p:cNvPr>
            <p:cNvCxnSpPr/>
            <p:nvPr/>
          </p:nvCxnSpPr>
          <p:spPr>
            <a:xfrm>
              <a:off x="5214555" y="1450581"/>
              <a:ext cx="2057400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2EDC195-808E-43B1-8208-67C5AF562E3F}"/>
                </a:ext>
              </a:extLst>
            </p:cNvPr>
            <p:cNvCxnSpPr/>
            <p:nvPr/>
          </p:nvCxnSpPr>
          <p:spPr>
            <a:xfrm>
              <a:off x="5176455" y="1864609"/>
              <a:ext cx="2057400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 35">
            <a:extLst>
              <a:ext uri="{FF2B5EF4-FFF2-40B4-BE49-F238E27FC236}">
                <a16:creationId xmlns:a16="http://schemas.microsoft.com/office/drawing/2014/main" id="{571F662E-0533-4847-97EA-DD01832F2AFF}"/>
              </a:ext>
            </a:extLst>
          </p:cNvPr>
          <p:cNvSpPr/>
          <p:nvPr/>
        </p:nvSpPr>
        <p:spPr>
          <a:xfrm>
            <a:off x="4939400" y="2176206"/>
            <a:ext cx="979487" cy="3505200"/>
          </a:xfrm>
          <a:custGeom>
            <a:avLst/>
            <a:gdLst>
              <a:gd name="connsiteX0" fmla="*/ 773723 w 902677"/>
              <a:gd name="connsiteY0" fmla="*/ 0 h 3992880"/>
              <a:gd name="connsiteX1" fmla="*/ 0 w 902677"/>
              <a:gd name="connsiteY1" fmla="*/ 2250831 h 3992880"/>
              <a:gd name="connsiteX2" fmla="*/ 773723 w 902677"/>
              <a:gd name="connsiteY2" fmla="*/ 3756074 h 3992880"/>
              <a:gd name="connsiteX3" fmla="*/ 773723 w 902677"/>
              <a:gd name="connsiteY3" fmla="*/ 3671668 h 39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2677" h="3992880">
                <a:moveTo>
                  <a:pt x="773723" y="0"/>
                </a:moveTo>
                <a:cubicBezTo>
                  <a:pt x="386861" y="812409"/>
                  <a:pt x="0" y="1624819"/>
                  <a:pt x="0" y="2250831"/>
                </a:cubicBezTo>
                <a:cubicBezTo>
                  <a:pt x="0" y="2876843"/>
                  <a:pt x="644769" y="3519268"/>
                  <a:pt x="773723" y="3756074"/>
                </a:cubicBezTo>
                <a:cubicBezTo>
                  <a:pt x="902677" y="3992880"/>
                  <a:pt x="776068" y="3690425"/>
                  <a:pt x="773723" y="3671668"/>
                </a:cubicBezTo>
              </a:path>
            </a:pathLst>
          </a:cu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B3E277-3055-4EF8-B142-380DFC28F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405" y="3085971"/>
            <a:ext cx="121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h(B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1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 ; B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2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)</a:t>
            </a:r>
          </a:p>
        </p:txBody>
      </p:sp>
      <p:sp>
        <p:nvSpPr>
          <p:cNvPr id="58" name="Freeform 37">
            <a:extLst>
              <a:ext uri="{FF2B5EF4-FFF2-40B4-BE49-F238E27FC236}">
                <a16:creationId xmlns:a16="http://schemas.microsoft.com/office/drawing/2014/main" id="{3ABD94AB-2709-4A43-B8AF-8A01018ACF86}"/>
              </a:ext>
            </a:extLst>
          </p:cNvPr>
          <p:cNvSpPr/>
          <p:nvPr/>
        </p:nvSpPr>
        <p:spPr>
          <a:xfrm rot="10800000">
            <a:off x="3558748" y="2075296"/>
            <a:ext cx="979488" cy="3505200"/>
          </a:xfrm>
          <a:custGeom>
            <a:avLst/>
            <a:gdLst>
              <a:gd name="connsiteX0" fmla="*/ 773723 w 902677"/>
              <a:gd name="connsiteY0" fmla="*/ 0 h 3992880"/>
              <a:gd name="connsiteX1" fmla="*/ 0 w 902677"/>
              <a:gd name="connsiteY1" fmla="*/ 2250831 h 3992880"/>
              <a:gd name="connsiteX2" fmla="*/ 773723 w 902677"/>
              <a:gd name="connsiteY2" fmla="*/ 3756074 h 3992880"/>
              <a:gd name="connsiteX3" fmla="*/ 773723 w 902677"/>
              <a:gd name="connsiteY3" fmla="*/ 3671668 h 39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2677" h="3992880">
                <a:moveTo>
                  <a:pt x="773723" y="0"/>
                </a:moveTo>
                <a:cubicBezTo>
                  <a:pt x="386861" y="812409"/>
                  <a:pt x="0" y="1624819"/>
                  <a:pt x="0" y="2250831"/>
                </a:cubicBezTo>
                <a:cubicBezTo>
                  <a:pt x="0" y="2876843"/>
                  <a:pt x="644769" y="3519268"/>
                  <a:pt x="773723" y="3756074"/>
                </a:cubicBezTo>
                <a:cubicBezTo>
                  <a:pt x="902677" y="3992880"/>
                  <a:pt x="776068" y="3690425"/>
                  <a:pt x="773723" y="3671668"/>
                </a:cubicBez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82094A-D889-40F6-9CEF-7C900C454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548" y="2761096"/>
            <a:ext cx="1219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h'(B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1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 ; B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2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)</a:t>
            </a:r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A622981F-2ECD-4030-8DC8-6EDE908BFF62}"/>
              </a:ext>
            </a:extLst>
          </p:cNvPr>
          <p:cNvSpPr/>
          <p:nvPr/>
        </p:nvSpPr>
        <p:spPr>
          <a:xfrm>
            <a:off x="2965067" y="2520163"/>
            <a:ext cx="228600" cy="228600"/>
          </a:xfrm>
          <a:prstGeom prst="triangle">
            <a:avLst/>
          </a:prstGeom>
          <a:solidFill>
            <a:schemeClr val="accent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1" name="TextBox 11">
            <a:extLst>
              <a:ext uri="{FF2B5EF4-FFF2-40B4-BE49-F238E27FC236}">
                <a16:creationId xmlns:a16="http://schemas.microsoft.com/office/drawing/2014/main" id="{5005B984-9407-4010-984E-357A2850C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4499" y="2506231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000" baseline="-25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EB3E8AA-F987-44A6-AB8D-AE9B590EF3F2}"/>
              </a:ext>
            </a:extLst>
          </p:cNvPr>
          <p:cNvCxnSpPr/>
          <p:nvPr/>
        </p:nvCxnSpPr>
        <p:spPr>
          <a:xfrm rot="5400000">
            <a:off x="1396314" y="3899274"/>
            <a:ext cx="3352800" cy="0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198F2C9-D198-4C80-B7C1-52A716E87B65}"/>
              </a:ext>
            </a:extLst>
          </p:cNvPr>
          <p:cNvCxnSpPr>
            <a:cxnSpLocks/>
            <a:stCxn id="60" idx="5"/>
          </p:cNvCxnSpPr>
          <p:nvPr/>
        </p:nvCxnSpPr>
        <p:spPr>
          <a:xfrm>
            <a:off x="3136517" y="2634463"/>
            <a:ext cx="1856085" cy="620901"/>
          </a:xfrm>
          <a:prstGeom prst="straightConnector1">
            <a:avLst/>
          </a:prstGeom>
          <a:ln w="28575">
            <a:solidFill>
              <a:srgbClr val="00B0F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CF9DFE9-358B-4B2B-8B96-0375CCDE4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02" y="2448869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d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65" name="Freeform 33">
            <a:extLst>
              <a:ext uri="{FF2B5EF4-FFF2-40B4-BE49-F238E27FC236}">
                <a16:creationId xmlns:a16="http://schemas.microsoft.com/office/drawing/2014/main" id="{F1196B17-4C96-499C-B5CF-77AA8ADCBC19}"/>
              </a:ext>
            </a:extLst>
          </p:cNvPr>
          <p:cNvSpPr/>
          <p:nvPr/>
        </p:nvSpPr>
        <p:spPr>
          <a:xfrm>
            <a:off x="1988285" y="2859818"/>
            <a:ext cx="4754563" cy="879475"/>
          </a:xfrm>
          <a:custGeom>
            <a:avLst/>
            <a:gdLst>
              <a:gd name="connsiteX0" fmla="*/ 0 w 4754880"/>
              <a:gd name="connsiteY0" fmla="*/ 548640 h 879230"/>
              <a:gd name="connsiteX1" fmla="*/ 1871003 w 4754880"/>
              <a:gd name="connsiteY1" fmla="*/ 787790 h 879230"/>
              <a:gd name="connsiteX2" fmla="*/ 4754880 w 4754880"/>
              <a:gd name="connsiteY2" fmla="*/ 0 h 879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4880" h="879230">
                <a:moveTo>
                  <a:pt x="0" y="548640"/>
                </a:moveTo>
                <a:cubicBezTo>
                  <a:pt x="539261" y="713935"/>
                  <a:pt x="1078523" y="879230"/>
                  <a:pt x="1871003" y="787790"/>
                </a:cubicBezTo>
                <a:cubicBezTo>
                  <a:pt x="2663483" y="696350"/>
                  <a:pt x="4754880" y="0"/>
                  <a:pt x="4754880" y="0"/>
                </a:cubicBezTo>
              </a:path>
            </a:pathLst>
          </a:cu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D50763-0827-4F8B-8C06-090F3E754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0467" y="3609977"/>
            <a:ext cx="121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h(B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1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 ; B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3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87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7" grpId="0"/>
      <p:bldP spid="48" grpId="0"/>
      <p:bldP spid="55" grpId="0"/>
      <p:bldP spid="58" grpId="0" animBg="1"/>
      <p:bldP spid="59" grpId="0"/>
      <p:bldP spid="59" grpId="1"/>
      <p:bldP spid="60" grpId="0" animBg="1"/>
      <p:bldP spid="61" grpId="0"/>
      <p:bldP spid="64" grpId="0"/>
      <p:bldP spid="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Issues with </a:t>
            </a:r>
            <a:r>
              <a:rPr lang="en-US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TDoA</a:t>
            </a: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500446" y="2025152"/>
            <a:ext cx="7883610" cy="190818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No. of Beacons required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Localized nodes can act as beacons themselves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Words>110</Words>
  <Application>Microsoft Office PowerPoint</Application>
  <PresentationFormat>On-screen Show (4:3)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8_Blank</vt:lpstr>
      <vt:lpstr>PowerPoint Presentation</vt:lpstr>
      <vt:lpstr>Issues with TDoA??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67</cp:revision>
  <dcterms:modified xsi:type="dcterms:W3CDTF">2025-04-17T12:06:02Z</dcterms:modified>
</cp:coreProperties>
</file>