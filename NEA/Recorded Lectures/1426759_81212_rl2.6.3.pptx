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2" r:id="rId1"/>
    <p:sldMasterId id="2147483694" r:id="rId2"/>
  </p:sldMasterIdLst>
  <p:notesMasterIdLst>
    <p:notesMasterId r:id="rId28"/>
  </p:notesMasterIdLst>
  <p:handoutMasterIdLst>
    <p:handoutMasterId r:id="rId29"/>
  </p:handoutMasterIdLst>
  <p:sldIdLst>
    <p:sldId id="604" r:id="rId3"/>
    <p:sldId id="605" r:id="rId4"/>
    <p:sldId id="606" r:id="rId5"/>
    <p:sldId id="607" r:id="rId6"/>
    <p:sldId id="608" r:id="rId7"/>
    <p:sldId id="609" r:id="rId8"/>
    <p:sldId id="610" r:id="rId9"/>
    <p:sldId id="611" r:id="rId10"/>
    <p:sldId id="612" r:id="rId11"/>
    <p:sldId id="613" r:id="rId12"/>
    <p:sldId id="616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6" r:id="rId21"/>
    <p:sldId id="624" r:id="rId22"/>
    <p:sldId id="614" r:id="rId23"/>
    <p:sldId id="627" r:id="rId24"/>
    <p:sldId id="628" r:id="rId25"/>
    <p:sldId id="629" r:id="rId26"/>
    <p:sldId id="630" r:id="rId27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7-13T10:04:53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20967 7942 355 0,'0'0'51'16,"0"0"-51"-16,0 0 0 0,0 0 3 15,0 0 7-15,0 0-4 16,0 0-2-16,0 0 1 16,0 0 2-16,0 0-2 0,0 0 0 15,0 0-3-15,3-18-1 16,-3 21 0-16,1 3 6 15,0 0-6-15,2 0 0 16,2-1-1-16,3-2-1 16,2-2 1-16,5-1 4 0,6 0 12 15,4-5 5-15,6-8-4 32,4-1-4-32,2-4-2 15,3 0-3-15,-2-2 5 0,-2 2-6 16,-1-2-3-16,-6 3-1 15,-6 3-1-15,-4 2 0 16,-4 4 1-16,-5 2-5 0,-6 6-1 16,-4 0-72-16,-4 4-147 0</inkml:trace>
  <inkml:trace contextRef="#ctx0" brushRef="#br0" timeOffset="1206.12">20900 11382 234 0,'0'0'2'15,"0"0"-1"-15,0 0 1 0,0 0 0 16,0 0-1-16,0 0 1 16,0 0 4-16,0 0 9 0,0 0 8 15,0 0 2-15,0 0 0 16,0 0 7-16,0 0-13 16,7 12-6-16,-7-10-2 0,0-1-4 15,2 2 6-15,0 0-7 16,0-2 1-16,-1 5-1 15,2-4-1-15,1 0 1 0,3 1-1 16,0-3 0-16,4 0 4 16,5 0-1-16,4-6-1 15,3-6 4-15,6-3-2 16,4-2-1-16,3-4 0 16,5-3-2-16,-3-2 0 15,2 2 2-15,-2 0 0 0,0 2 0 31,-6 3-1-31,-3 0 0 16,-4 5 1-16,-4 2-1 16,-5 4 0-16,-8 1 0 0,-1 4 0 15,-6 2 4-15,0 1 7 16,-1 0 2-16,0 0-2 16,0 0-5-16,0 0-5 15,0 0-3-15,0 0-2 0,0 0-3 16,0 0 0-16,0 0 1 15,0 0-3-15,0 0 2 16,0 0 0-16,0 0-1 0,0 0 2 16,0 0-1-16,0 0-1 15,0 0 2 1,0 0-1-16,0 0 1 0,0 0 1 16,0 0-2-16,0 0 2 0,0-2 1 15,0 0-1-15,-2-4 2 16,-8-2-4-1,-7-7-21-15,-9-7-125 0</inkml:trace>
  <inkml:trace contextRef="#ctx0" brushRef="#br0" timeOffset="2599.17">20987 4303 315 0,'0'0'8'0,"0"0"-7"16,0 0 11-16,0 0 1 15,0 0 1-15,0 0 1 16,0 0 3-16,0 0-5 16,0 0-7-16,0 0-2 15,0 0-2-15,0 1 0 0,1 4 5 16,3 0 1-16,0 2 0 0,1 0-1 15,1 1-2-15,-1 1 0 16,4 0-3-16,-4 0 0 16,1-1 0-16,1 0 0 15,2-2 1-15,-4-3 1 0,3 1 5 16,1-4-1 0,3 0 4-16,4-7 7 15,5-8 1-15,4-9 4 16,4-5-8-16,1-6-3 0,3-5-2 15,2-3-3 1,-3-2 4-16,1 1 4 0,-2 1-6 0,-3 5 3 16,-2 1 1-16,-7 7-2 15,-2 6-1-15,-5 3 0 16,-3 7 0 0,-5 3 3-16,0 4-4 15,-2 1-2-15,0 2-1 0,-2 2-2 16,0 0-1-16,0 2-1 15,0 0-2-15,0 0 0 16,0 0 1-16,0 0-4 16,0 0 2-16,0 0-1 15,0 0-1-15,0 0 1 0,1 0 1 16,0 0-1-16,1 2 2 0,0 0-2 16,0 1 1-1,-1-1 1-15,1 2 0 16,0-4-1-16,-2 0-17 15,0 0-45-15,-11-5-36 16,-13-13-100-16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7-13T10:05:06.5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18082 8351 11 0,'0'0'220'16,"0"0"-215"-16,0 0 6 16,0 0 4-16,0 0-1 0,0 0-4 15,0 0 9-15,0 0-2 16,0 0 1-16,0 0 5 0,0 0-11 15,0 0-2-15,35-13 1 16,-35 13-3-16,2 0 5 16,2 0 3-16,0 0 2 15,5-10 11-15,3-7 7 0,7-9-15 16,5-9-7-16,3-6-6 16,2-5-5-16,-1-3-2 15,-4-1 0 1,-5 0-1-16,-7 0-14 15,-5 2-105-15,-7-2-164 0</inkml:trace>
  <inkml:trace contextRef="#ctx0" brushRef="#br0" timeOffset="738.82">16743 6439 429 0,'0'0'43'15,"0"0"-44"-15,0 0 0 0,0 0-3 16,0 0 2-16,0 0 0 0,0 0 2 15,0 0 0-15,0 0 0 16,0 0 0-16,0 0 0 31,0 0 10-31,40 4 13 0,-33-20 12 16,4-9-9-16,4-10-12 0,8-11-9 0,7-15-4 16,11-13 1-16,5-14-2 15,4-11-1-15,-7-12-54 31,-11-10-293-31</inkml:trace>
  <inkml:trace contextRef="#ctx0" brushRef="#br0" timeOffset="1349.35">16267 8159 304 0,'0'0'8'16,"0"0"-5"-16,0 0 3 0,0 0 25 15,0 0-6-15,0 0 2 16,0 0 2-16,0 0 0 16,0 0 5-16,0 0-11 0,0 0-1 15,9-13 3-15,9-12-8 16,13-19-9-16,16-24-5 16,22-24 2-16,21-28-5 15,10-23 1-15,0-18-59 16</inkml:trace>
  <inkml:trace contextRef="#ctx0" brushRef="#br0" timeOffset="2064.8">18571 6183 532 0,'0'0'17'0,"0"0"-21"16,29-41 6-16,-4 4 6 16,10-11-1-16,13-12-6 15,9-8-3-15,3-7 4 0,0-5-4 16,-6 2-175-16</inkml:trace>
  <inkml:trace contextRef="#ctx0" brushRef="#br0" timeOffset="2572.56">19903 3739 490 0,'0'0'5'15,"0"0"-2"-15,25-47 11 16,2 10 0-16,10-8-8 0,7-9-2 16,8-7-3-16,3 0 1 31,1 2-2-31,-5 7-5 0,-9 7-143 16</inkml:trace>
  <inkml:trace contextRef="#ctx0" brushRef="#br0" timeOffset="3006.3">22060 3561 468 0,'0'0'5'16,"0"0"-11"-16,0 0 9 15,0 0-1-15,0 0 2 16,0 0 11-16,0 0 16 16,0 0-2-16,-33-45 3 0,33 22-6 31,11-11-10-31,25-17-14 15,26-25-1-15,24-31-2 0,16-36-116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7-13T10:05:21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17752 4432 303 0,'0'0'76'0,"0"0"-210"15,-14-48-44 1</inkml:trace>
  <inkml:trace contextRef="#ctx0" brushRef="#br0" timeOffset="170.38">17733 4357 537 0,'0'0'4'0,"0"0"-8"15,0 0-139-15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Each sensor node has its own resource manager that keeps track of resource consumption; applications probe the manager before transmitting or processing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29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Sensors use meta-data to succinctly and completely describe the data that they collect. If x the meta-data descriptor</a:t>
            </a:r>
          </a:p>
          <a:p>
            <a:r>
              <a:rPr lang="en-IN" dirty="0"/>
              <a:t>for sensor data</a:t>
            </a:r>
            <a:r>
              <a:rPr lang="en-IN" baseline="0" dirty="0"/>
              <a:t> x</a:t>
            </a:r>
            <a:r>
              <a:rPr lang="en-IN" dirty="0"/>
              <a:t> , then the size of X bytes must be shorter than the size of X , for SPIN to be beneficial. If two pieces of actual data are distinguishable, then their corresponding meta-data should be distinguishable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73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When a SPIN-2 node observes that its energy is approaching a low-energy threshold, it adapts by reducing its participation in the protocol. In general, a node will only participate in a stage of the protocol if it believes that it can complete all the other stages of the protocol without going below the low-energy threshold. This conservative approach implies that, if a node receives some new data, it only initiates the </a:t>
            </a:r>
            <a:r>
              <a:rPr lang="en-IN" dirty="0" err="1"/>
              <a:t>threestage</a:t>
            </a:r>
            <a:r>
              <a:rPr lang="en-IN" dirty="0"/>
              <a:t> protocol if it believes it has enough energy to participate in the full protocol with all of its </a:t>
            </a:r>
            <a:r>
              <a:rPr lang="en-IN" dirty="0" err="1"/>
              <a:t>neighbors</a:t>
            </a:r>
            <a:r>
              <a:rPr lang="en-IN" dirty="0"/>
              <a:t>. Similarly if a node receives an advertisement, it does not send out a request if it does not have enough energy to transmit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194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Event broadcast or a query</a:t>
            </a:r>
            <a:r>
              <a:rPr lang="en-IN" baseline="0" dirty="0"/>
              <a:t> broadcast ? Query – if data large and </a:t>
            </a:r>
            <a:r>
              <a:rPr lang="en-IN" baseline="0" dirty="0" err="1"/>
              <a:t>no.of</a:t>
            </a:r>
            <a:r>
              <a:rPr lang="en-IN" baseline="0" dirty="0"/>
              <a:t> events are also large.</a:t>
            </a:r>
          </a:p>
          <a:p>
            <a:r>
              <a:rPr lang="en-IN" baseline="0" dirty="0"/>
              <a:t>Agent – info on event – when a node receives an agent it updates the event table</a:t>
            </a:r>
          </a:p>
          <a:p>
            <a:r>
              <a:rPr lang="en-IN" baseline="0" dirty="0"/>
              <a:t>Event table – distance and forwarding choice of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188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Query is</a:t>
            </a:r>
            <a:r>
              <a:rPr lang="en-IN" baseline="0" dirty="0"/>
              <a:t> sent in an random direction until it reaches the 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194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Query is</a:t>
            </a:r>
            <a:r>
              <a:rPr lang="en-IN" baseline="0" dirty="0"/>
              <a:t> sent in an random direction until it reaches the 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393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Query is</a:t>
            </a:r>
            <a:r>
              <a:rPr lang="en-IN" baseline="0" dirty="0"/>
              <a:t> sent in an random direction until it reaches the 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81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Query is</a:t>
            </a:r>
            <a:r>
              <a:rPr lang="en-IN" baseline="0" dirty="0"/>
              <a:t> sent in an random direction until it reaches the 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485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Query is</a:t>
            </a:r>
            <a:r>
              <a:rPr lang="en-IN" baseline="0" dirty="0"/>
              <a:t> sent in an random direction until it reaches the  event.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A86406-93A6-491D-8B4C-AD7B2635D3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82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B49D-7693-4A17-BCEB-9110C2B7A23D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64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A865-F6B4-4FF8-9C5B-7C5C1DF470BB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C147-87AF-4F42-8B3F-8E965B7AF5DA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0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0DC08-0198-4430-A672-8A3CF79055F7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5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1813F-9E87-4959-96C3-D05651DD6879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1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FF6CD-97B9-4C82-B497-A5410AF6C1A2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5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7774E-60F1-480F-9747-8BFADEEE6F6A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132FB1C-9045-4694-8EB6-749F56C74628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455F51"/>
                </a:solidFill>
              </a:rPr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455F51"/>
                </a:solidFill>
              </a:rPr>
              <a:pPr/>
              <a:t>‹#›</a:t>
            </a:fld>
            <a:endParaRPr lang="en-US">
              <a:solidFill>
                <a:srgbClr val="455F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88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C13BF-91BC-4F60-B19B-050DEDD859CD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1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54E22-9585-4ABF-A658-AC09AA7B425F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5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286B-B0C8-4244-BF6F-A94377F94EC0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81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F615-340C-475E-AC04-99B124E14E18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609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DA97-2ACE-474F-8F66-E0F8FF5AA705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1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7DF6-2631-4BC3-AF36-4FBD500C60C3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574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111A0-E14A-40F5-80F7-D4D6B531D2BE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80B9E-C07F-440B-B423-DA63037B0229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1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07D7-2FF4-42BB-B711-80A1FF8B1FEF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75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1089-DE3F-4FB9-A0B9-5F0E09D626BD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Class 11 - EEEG627 - NEA - Prof.K.R.Anupama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77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F55E089-B1F1-4B28-A85E-29D6B305D9ED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rgbClr val="455F51"/>
                </a:solidFill>
              </a:rPr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455F51"/>
                </a:solidFill>
              </a:rPr>
              <a:pPr/>
              <a:t>‹#›</a:t>
            </a:fld>
            <a:endParaRPr lang="en-US">
              <a:solidFill>
                <a:srgbClr val="455F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205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0CB8-A0A8-41AD-892C-3F3B7D974877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85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EF19-A663-437C-9E6D-A17BB7D42E55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224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A7EF-A4EC-480C-940D-CCBFF2171064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1D1D94F-5E03-4998-BCD8-EA79153BF539}" type="datetime1">
              <a:rPr lang="en-US" smtClean="0">
                <a:solidFill>
                  <a:srgbClr val="465E9C"/>
                </a:solidFill>
              </a:rPr>
              <a:t>4/17/2025</a:t>
            </a:fld>
            <a:endParaRPr lang="en-US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465E9C"/>
                </a:solidFill>
              </a:rPr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lang="en-US" smtClean="0">
                <a:solidFill>
                  <a:srgbClr val="465E9C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465E9C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4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A72FBBA-D175-4C7B-9F6B-34432868C3CB}" type="datetime1">
              <a:rPr lang="en-US" smtClean="0">
                <a:solidFill>
                  <a:srgbClr val="465E9C"/>
                </a:solidFill>
              </a:rPr>
              <a:t>4/17/2025</a:t>
            </a:fld>
            <a:endParaRPr lang="en-US">
              <a:solidFill>
                <a:srgbClr val="465E9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465E9C"/>
                </a:solidFill>
              </a:rPr>
              <a:t>Class 11 - EEEG627 - NEA - Prof.K.R.Anupama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lang="en-US" smtClean="0">
                <a:solidFill>
                  <a:srgbClr val="465E9C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465E9C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43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emf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emf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emf"/><Relationship Id="rId4" Type="http://schemas.openxmlformats.org/officeDocument/2006/relationships/customXml" Target="../ink/ink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SPIN (Sensor Protocols for Information via Negotiation)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SPIN Focus on efficient dissemination of individual sensor observations to all the sensors in a </a:t>
            </a:r>
            <a:r>
              <a:rPr lang="en-IN" dirty="0" err="1"/>
              <a:t>ntk</a:t>
            </a:r>
            <a:r>
              <a:rPr lang="en-IN" dirty="0"/>
              <a:t>-  treat all sensors as potential sink nodes</a:t>
            </a:r>
          </a:p>
          <a:p>
            <a:r>
              <a:rPr lang="en-IN" dirty="0"/>
              <a:t>SPIN family of protocols incorporates two key innovations</a:t>
            </a:r>
          </a:p>
          <a:p>
            <a:pPr marL="652971" lvl="1" indent="-360363">
              <a:buFont typeface="Wingdings" panose="05000000000000000000" pitchFamily="2" charset="2"/>
              <a:buChar char="q"/>
            </a:pPr>
            <a:r>
              <a:rPr lang="en-IN" dirty="0"/>
              <a:t>negotiation</a:t>
            </a:r>
          </a:p>
          <a:p>
            <a:pPr marL="652971" lvl="1" indent="-360363">
              <a:buFont typeface="Wingdings" panose="05000000000000000000" pitchFamily="2" charset="2"/>
              <a:buChar char="q"/>
            </a:pPr>
            <a:r>
              <a:rPr lang="en-IN" dirty="0"/>
              <a:t>resource-adaptation</a:t>
            </a:r>
          </a:p>
          <a:p>
            <a:endParaRPr lang="en-IN" dirty="0"/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Implosion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Overlap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Resource Blindness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45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Resources for SPIN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Meta data 		– used to describe the message 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Resource Manager 	– keeps track of energy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91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14600" y="22860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3" name="Oval 2"/>
          <p:cNvSpPr/>
          <p:nvPr/>
        </p:nvSpPr>
        <p:spPr>
          <a:xfrm>
            <a:off x="3200400" y="12954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" name="Oval 3"/>
          <p:cNvSpPr/>
          <p:nvPr/>
        </p:nvSpPr>
        <p:spPr>
          <a:xfrm>
            <a:off x="3048000" y="33528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4419600" y="25146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6" name="Oval 5"/>
          <p:cNvSpPr/>
          <p:nvPr/>
        </p:nvSpPr>
        <p:spPr>
          <a:xfrm>
            <a:off x="4495800" y="5334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4495800" y="4343400"/>
            <a:ext cx="533400" cy="533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8" name="Oval 7"/>
          <p:cNvSpPr/>
          <p:nvPr/>
        </p:nvSpPr>
        <p:spPr>
          <a:xfrm>
            <a:off x="6019800" y="2590800"/>
            <a:ext cx="533400" cy="5334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1066800"/>
            <a:ext cx="3962400" cy="3581400"/>
          </a:xfrm>
          <a:prstGeom prst="ellipse">
            <a:avLst/>
          </a:prstGeom>
          <a:noFill/>
          <a:ln>
            <a:solidFill>
              <a:srgbClr val="CC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200" y="4038600"/>
            <a:ext cx="8286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ADV</a:t>
            </a:r>
          </a:p>
        </p:txBody>
      </p:sp>
      <p:cxnSp>
        <p:nvCxnSpPr>
          <p:cNvPr id="12" name="Straight Arrow Connector 11"/>
          <p:cNvCxnSpPr>
            <a:stCxn id="5" idx="6"/>
            <a:endCxn id="8" idx="2"/>
          </p:cNvCxnSpPr>
          <p:nvPr/>
        </p:nvCxnSpPr>
        <p:spPr>
          <a:xfrm>
            <a:off x="4953000" y="2781300"/>
            <a:ext cx="1066800" cy="762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05400" y="2286000"/>
            <a:ext cx="8159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REQ</a:t>
            </a:r>
          </a:p>
        </p:txBody>
      </p:sp>
      <p:cxnSp>
        <p:nvCxnSpPr>
          <p:cNvPr id="15" name="Straight Arrow Connector 14"/>
          <p:cNvCxnSpPr>
            <a:stCxn id="8" idx="3"/>
            <a:endCxn id="5" idx="5"/>
          </p:cNvCxnSpPr>
          <p:nvPr/>
        </p:nvCxnSpPr>
        <p:spPr>
          <a:xfrm rot="5400000" flipH="1">
            <a:off x="5448301" y="2397125"/>
            <a:ext cx="76200" cy="122237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05400" y="3124200"/>
            <a:ext cx="995363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8" name="Oval 17"/>
          <p:cNvSpPr/>
          <p:nvPr/>
        </p:nvSpPr>
        <p:spPr>
          <a:xfrm>
            <a:off x="1752600" y="304800"/>
            <a:ext cx="5257800" cy="5257800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19400" y="4648200"/>
            <a:ext cx="8286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ADV</a:t>
            </a:r>
          </a:p>
        </p:txBody>
      </p:sp>
      <p:cxnSp>
        <p:nvCxnSpPr>
          <p:cNvPr id="21" name="Straight Arrow Connector 20"/>
          <p:cNvCxnSpPr>
            <a:stCxn id="2" idx="6"/>
            <a:endCxn id="5" idx="2"/>
          </p:cNvCxnSpPr>
          <p:nvPr/>
        </p:nvCxnSpPr>
        <p:spPr>
          <a:xfrm>
            <a:off x="3048000" y="2552700"/>
            <a:ext cx="1371600" cy="2286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5" idx="3"/>
          </p:cNvCxnSpPr>
          <p:nvPr/>
        </p:nvCxnSpPr>
        <p:spPr>
          <a:xfrm flipV="1">
            <a:off x="3581400" y="2970213"/>
            <a:ext cx="915988" cy="611187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0"/>
            <a:endCxn id="5" idx="4"/>
          </p:cNvCxnSpPr>
          <p:nvPr/>
        </p:nvCxnSpPr>
        <p:spPr>
          <a:xfrm rot="16200000" flipV="1">
            <a:off x="4076700" y="3657600"/>
            <a:ext cx="1295400" cy="762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" idx="3"/>
            <a:endCxn id="2" idx="5"/>
          </p:cNvCxnSpPr>
          <p:nvPr/>
        </p:nvCxnSpPr>
        <p:spPr>
          <a:xfrm rot="5400000" flipH="1">
            <a:off x="3619501" y="2092325"/>
            <a:ext cx="228600" cy="152717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4" idx="7"/>
          </p:cNvCxnSpPr>
          <p:nvPr/>
        </p:nvCxnSpPr>
        <p:spPr>
          <a:xfrm rot="10800000" flipV="1">
            <a:off x="3503613" y="3009900"/>
            <a:ext cx="992187" cy="4206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3"/>
            <a:endCxn id="7" idx="1"/>
          </p:cNvCxnSpPr>
          <p:nvPr/>
        </p:nvCxnSpPr>
        <p:spPr>
          <a:xfrm rot="16200000" flipH="1">
            <a:off x="3810000" y="3657601"/>
            <a:ext cx="1450975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16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/>
      <p:bldP spid="10" grpId="1"/>
      <p:bldP spid="13" grpId="0"/>
      <p:bldP spid="13" grpId="1"/>
      <p:bldP spid="16" grpId="0"/>
      <p:bldP spid="16" grpId="1"/>
      <p:bldP spid="18" grpId="0" animBg="1"/>
      <p:bldP spid="18" grpId="1" animBg="1"/>
      <p:bldP spid="19" grpId="0"/>
      <p:bldP spid="1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Directed Diffusion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generated by sensor nodes is named by attribute-value pair</a:t>
            </a:r>
          </a:p>
          <a:p>
            <a:r>
              <a:rPr lang="en-IN" dirty="0"/>
              <a:t>Sink request data by sending interests for named data</a:t>
            </a:r>
          </a:p>
          <a:p>
            <a:r>
              <a:rPr lang="en-IN" dirty="0"/>
              <a:t>Every node has an interest cache</a:t>
            </a:r>
          </a:p>
          <a:p>
            <a:r>
              <a:rPr lang="en-IN" dirty="0"/>
              <a:t>Data matching the interest is drawn towards the sink</a:t>
            </a:r>
          </a:p>
          <a:p>
            <a:r>
              <a:rPr lang="en-IN" dirty="0"/>
              <a:t>Intermediate nodes – may fuse data with their own or cache it</a:t>
            </a:r>
          </a:p>
          <a:p>
            <a:r>
              <a:rPr lang="en-IN" dirty="0"/>
              <a:t>A sensing task is disseminated through the network as interests</a:t>
            </a:r>
          </a:p>
          <a:p>
            <a:r>
              <a:rPr lang="en-IN" dirty="0"/>
              <a:t>Dissemination sets up gradients  within the </a:t>
            </a:r>
            <a:r>
              <a:rPr lang="en-IN" dirty="0" err="1"/>
              <a:t>ntk</a:t>
            </a:r>
            <a:r>
              <a:rPr lang="en-IN" dirty="0"/>
              <a:t> designed to draw data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88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&amp; Response Format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Type		four-legged animal</a:t>
            </a:r>
          </a:p>
          <a:p>
            <a:r>
              <a:rPr lang="en-IN" dirty="0"/>
              <a:t>Interval 		20ms</a:t>
            </a:r>
          </a:p>
          <a:p>
            <a:r>
              <a:rPr lang="en-IN" dirty="0"/>
              <a:t>Duration	10s</a:t>
            </a:r>
          </a:p>
          <a:p>
            <a:r>
              <a:rPr lang="en-IN" dirty="0" err="1"/>
              <a:t>Rect</a:t>
            </a:r>
            <a:r>
              <a:rPr lang="en-IN" dirty="0"/>
              <a:t>		100,100,200,400</a:t>
            </a:r>
          </a:p>
          <a:p>
            <a:endParaRPr lang="en-IN" dirty="0"/>
          </a:p>
          <a:p>
            <a:r>
              <a:rPr lang="en-IN" dirty="0"/>
              <a:t>Type		four-legged animal</a:t>
            </a:r>
          </a:p>
          <a:p>
            <a:r>
              <a:rPr lang="en-IN" dirty="0"/>
              <a:t>Instance		elephant</a:t>
            </a:r>
          </a:p>
          <a:p>
            <a:r>
              <a:rPr lang="en-IN" dirty="0"/>
              <a:t>Location	125,250</a:t>
            </a:r>
          </a:p>
          <a:p>
            <a:r>
              <a:rPr lang="en-IN" dirty="0"/>
              <a:t>Confidence	0.85</a:t>
            </a:r>
          </a:p>
          <a:p>
            <a:r>
              <a:rPr lang="en-IN" dirty="0"/>
              <a:t>Timestamp	01:20:40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33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95400" y="1524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943600" y="3962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43000" y="1371600"/>
            <a:ext cx="533400" cy="533400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867400" y="16002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3352800" y="7620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429000" y="25908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429000" y="48006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371600" y="39624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/>
          <p:cNvCxnSpPr>
            <a:stCxn id="3" idx="1"/>
            <a:endCxn id="7" idx="5"/>
          </p:cNvCxnSpPr>
          <p:nvPr/>
        </p:nvCxnSpPr>
        <p:spPr>
          <a:xfrm rot="16200000" flipV="1">
            <a:off x="4195763" y="2214563"/>
            <a:ext cx="1209675" cy="2352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8" idx="6"/>
          </p:cNvCxnSpPr>
          <p:nvPr/>
        </p:nvCxnSpPr>
        <p:spPr>
          <a:xfrm rot="10800000" flipV="1">
            <a:off x="3657600" y="4148138"/>
            <a:ext cx="2471738" cy="7667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3" idx="0"/>
            <a:endCxn id="5" idx="4"/>
          </p:cNvCxnSpPr>
          <p:nvPr/>
        </p:nvCxnSpPr>
        <p:spPr>
          <a:xfrm rot="16200000" flipV="1">
            <a:off x="4953000" y="2857500"/>
            <a:ext cx="2133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6" idx="4"/>
          </p:cNvCxnSpPr>
          <p:nvPr/>
        </p:nvCxnSpPr>
        <p:spPr>
          <a:xfrm rot="16200000" flipV="1">
            <a:off x="2705100" y="1752600"/>
            <a:ext cx="1600200" cy="762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6"/>
            <a:endCxn id="5" idx="2"/>
          </p:cNvCxnSpPr>
          <p:nvPr/>
        </p:nvCxnSpPr>
        <p:spPr>
          <a:xfrm flipV="1">
            <a:off x="3657600" y="1714500"/>
            <a:ext cx="2209800" cy="990600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7" idx="4"/>
            <a:endCxn id="8" idx="0"/>
          </p:cNvCxnSpPr>
          <p:nvPr/>
        </p:nvCxnSpPr>
        <p:spPr>
          <a:xfrm rot="5400000">
            <a:off x="2552701" y="3810000"/>
            <a:ext cx="1981200" cy="3175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7" idx="4"/>
            <a:endCxn id="9" idx="7"/>
          </p:cNvCxnSpPr>
          <p:nvPr/>
        </p:nvCxnSpPr>
        <p:spPr>
          <a:xfrm rot="5400000">
            <a:off x="1966913" y="2419350"/>
            <a:ext cx="1176338" cy="1976437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2"/>
            <a:endCxn id="2" idx="5"/>
          </p:cNvCxnSpPr>
          <p:nvPr/>
        </p:nvCxnSpPr>
        <p:spPr>
          <a:xfrm rot="10800000">
            <a:off x="1490663" y="1719263"/>
            <a:ext cx="1938337" cy="985837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1"/>
            <a:endCxn id="6" idx="6"/>
          </p:cNvCxnSpPr>
          <p:nvPr/>
        </p:nvCxnSpPr>
        <p:spPr>
          <a:xfrm rot="16200000" flipV="1">
            <a:off x="4362450" y="95250"/>
            <a:ext cx="757238" cy="2319338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8" idx="2"/>
            <a:endCxn id="9" idx="5"/>
          </p:cNvCxnSpPr>
          <p:nvPr/>
        </p:nvCxnSpPr>
        <p:spPr>
          <a:xfrm rot="10800000">
            <a:off x="1566863" y="4157663"/>
            <a:ext cx="1862137" cy="757237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  <a:endCxn id="2" idx="7"/>
          </p:cNvCxnSpPr>
          <p:nvPr/>
        </p:nvCxnSpPr>
        <p:spPr>
          <a:xfrm rot="10800000" flipV="1">
            <a:off x="1490663" y="876300"/>
            <a:ext cx="1862137" cy="68103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9" idx="0"/>
            <a:endCxn id="2" idx="3"/>
          </p:cNvCxnSpPr>
          <p:nvPr/>
        </p:nvCxnSpPr>
        <p:spPr>
          <a:xfrm rot="16200000" flipV="1">
            <a:off x="285750" y="2762251"/>
            <a:ext cx="2243137" cy="157162"/>
          </a:xfrm>
          <a:prstGeom prst="straightConnector1">
            <a:avLst/>
          </a:prstGeom>
          <a:ln>
            <a:solidFill>
              <a:srgbClr val="CC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83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95600" y="1524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7543800" y="3962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743200" y="1371600"/>
            <a:ext cx="533400" cy="533400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7467600" y="16002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4953000" y="7620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29200" y="25908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29200" y="48006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2971800" y="39624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" y="4648200"/>
            <a:ext cx="4572000" cy="1477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Type		four-legged animal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Instance		elephant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Location		125,250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Confidence	0.85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Timestamp	01:20:40  Data cache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rot="16200000" flipH="1">
            <a:off x="3524250" y="1243013"/>
            <a:ext cx="985837" cy="1938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" idx="4"/>
            <a:endCxn id="9" idx="0"/>
          </p:cNvCxnSpPr>
          <p:nvPr/>
        </p:nvCxnSpPr>
        <p:spPr>
          <a:xfrm rot="16200000" flipH="1">
            <a:off x="1943100" y="2819400"/>
            <a:ext cx="2209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" idx="6"/>
            <a:endCxn id="6" idx="3"/>
          </p:cNvCxnSpPr>
          <p:nvPr/>
        </p:nvCxnSpPr>
        <p:spPr>
          <a:xfrm flipV="1">
            <a:off x="3124200" y="957263"/>
            <a:ext cx="1862138" cy="681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9" idx="6"/>
            <a:endCxn id="7" idx="3"/>
          </p:cNvCxnSpPr>
          <p:nvPr/>
        </p:nvCxnSpPr>
        <p:spPr>
          <a:xfrm flipV="1">
            <a:off x="3200400" y="2786063"/>
            <a:ext cx="1862138" cy="12906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9" idx="5"/>
            <a:endCxn id="8" idx="1"/>
          </p:cNvCxnSpPr>
          <p:nvPr/>
        </p:nvCxnSpPr>
        <p:spPr>
          <a:xfrm rot="16200000" flipH="1">
            <a:off x="3776663" y="3548063"/>
            <a:ext cx="676275" cy="18954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7" idx="0"/>
            <a:endCxn id="6" idx="5"/>
          </p:cNvCxnSpPr>
          <p:nvPr/>
        </p:nvCxnSpPr>
        <p:spPr>
          <a:xfrm rot="5400000" flipH="1" flipV="1">
            <a:off x="4329113" y="1771650"/>
            <a:ext cx="1633537" cy="476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7" idx="4"/>
            <a:endCxn id="8" idx="0"/>
          </p:cNvCxnSpPr>
          <p:nvPr/>
        </p:nvCxnSpPr>
        <p:spPr>
          <a:xfrm rot="5400000">
            <a:off x="4152901" y="3810000"/>
            <a:ext cx="1981200" cy="317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7" idx="5"/>
            <a:endCxn id="3" idx="2"/>
          </p:cNvCxnSpPr>
          <p:nvPr/>
        </p:nvCxnSpPr>
        <p:spPr>
          <a:xfrm rot="16200000" flipH="1">
            <a:off x="5738813" y="2271713"/>
            <a:ext cx="1290637" cy="2319337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6" idx="6"/>
            <a:endCxn id="5" idx="2"/>
          </p:cNvCxnSpPr>
          <p:nvPr/>
        </p:nvCxnSpPr>
        <p:spPr>
          <a:xfrm>
            <a:off x="5181600" y="876300"/>
            <a:ext cx="2286000" cy="838200"/>
          </a:xfrm>
          <a:prstGeom prst="straightConnector1">
            <a:avLst/>
          </a:prstGeom>
          <a:ln>
            <a:solidFill>
              <a:srgbClr val="00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8" idx="6"/>
            <a:endCxn id="3" idx="3"/>
          </p:cNvCxnSpPr>
          <p:nvPr/>
        </p:nvCxnSpPr>
        <p:spPr>
          <a:xfrm flipV="1">
            <a:off x="5257800" y="4157663"/>
            <a:ext cx="2319338" cy="75723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" idx="4"/>
            <a:endCxn id="3" idx="0"/>
          </p:cNvCxnSpPr>
          <p:nvPr/>
        </p:nvCxnSpPr>
        <p:spPr>
          <a:xfrm rot="16200000" flipH="1">
            <a:off x="6553200" y="2857500"/>
            <a:ext cx="2133600" cy="76200"/>
          </a:xfrm>
          <a:prstGeom prst="line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endCxn id="7" idx="6"/>
          </p:cNvCxnSpPr>
          <p:nvPr/>
        </p:nvCxnSpPr>
        <p:spPr>
          <a:xfrm rot="10800000" flipV="1">
            <a:off x="5257800" y="1752600"/>
            <a:ext cx="2209800" cy="952500"/>
          </a:xfrm>
          <a:prstGeom prst="line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9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95400" y="1524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943600" y="39624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43000" y="1371600"/>
            <a:ext cx="533400" cy="533400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867400" y="16002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3352800" y="7620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429000" y="25908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429000" y="48006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371600" y="3962400"/>
            <a:ext cx="228600" cy="2286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10"/>
          <p:cNvCxnSpPr>
            <a:stCxn id="3" idx="1"/>
            <a:endCxn id="7" idx="5"/>
          </p:cNvCxnSpPr>
          <p:nvPr/>
        </p:nvCxnSpPr>
        <p:spPr>
          <a:xfrm rot="16200000" flipV="1">
            <a:off x="4195763" y="2214563"/>
            <a:ext cx="1209675" cy="2352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00600" y="4552950"/>
            <a:ext cx="3898900" cy="2000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Type		four-legged animal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Interval 		10ms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		100,100,200,400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Time stamp	01:22:35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Expiry		01:30:40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>
            <a:stCxn id="7" idx="2"/>
            <a:endCxn id="2" idx="5"/>
          </p:cNvCxnSpPr>
          <p:nvPr/>
        </p:nvCxnSpPr>
        <p:spPr>
          <a:xfrm rot="10800000">
            <a:off x="1490663" y="1719263"/>
            <a:ext cx="1938337" cy="985837"/>
          </a:xfrm>
          <a:prstGeom prst="straightConnector1">
            <a:avLst/>
          </a:prstGeom>
          <a:ln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9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Rumour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A logical compromise between flooding queries and flooding event notifications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In the event that there is small data then data flooding may be better than event query flooding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Each node maintains – event table, neighbour table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IN" dirty="0"/>
              <a:t>Event may create an agent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32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7439" y="228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2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7325" y="747584"/>
            <a:ext cx="914400" cy="914400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57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6112" y="829593"/>
            <a:ext cx="914400" cy="914400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48512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429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1488" y="723900"/>
            <a:ext cx="914400" cy="914400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21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7359" y="237207"/>
            <a:ext cx="914400" cy="914400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4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Ru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141" y="180203"/>
            <a:ext cx="914400" cy="914400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618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u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2639" y="2353962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7524000" y="1389960"/>
              <a:ext cx="217440" cy="2720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16080" y="1380240"/>
                <a:ext cx="238680" cy="27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48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u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0697" y="1761207"/>
            <a:ext cx="914400" cy="914400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7477897" y="267075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856120" y="1109520"/>
              <a:ext cx="2180880" cy="1897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46040" y="1100160"/>
                <a:ext cx="2200320" cy="19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228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u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2700" y="1380207"/>
            <a:ext cx="914400" cy="914400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7477897" y="267075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629400" y="2294607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6383880" y="1568520"/>
              <a:ext cx="7200" cy="27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3800" y="1558440"/>
                <a:ext cx="2484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960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u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2919" y="647700"/>
            <a:ext cx="914400" cy="914400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7477897" y="267075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629400" y="2294607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5867400" y="1588582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821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7"/>
          <p:cNvSpPr/>
          <p:nvPr/>
        </p:nvSpPr>
        <p:spPr>
          <a:xfrm>
            <a:off x="1467700" y="512491"/>
            <a:ext cx="1533525" cy="1519237"/>
          </a:xfrm>
          <a:custGeom>
            <a:avLst/>
            <a:gdLst>
              <a:gd name="connsiteX0" fmla="*/ 1414255 w 1534907"/>
              <a:gd name="connsiteY0" fmla="*/ 1392702 h 1519311"/>
              <a:gd name="connsiteX1" fmla="*/ 1400187 w 1534907"/>
              <a:gd name="connsiteY1" fmla="*/ 1434905 h 1519311"/>
              <a:gd name="connsiteX2" fmla="*/ 1259510 w 1534907"/>
              <a:gd name="connsiteY2" fmla="*/ 1519311 h 1519311"/>
              <a:gd name="connsiteX3" fmla="*/ 598329 w 1534907"/>
              <a:gd name="connsiteY3" fmla="*/ 1505243 h 1519311"/>
              <a:gd name="connsiteX4" fmla="*/ 457652 w 1534907"/>
              <a:gd name="connsiteY4" fmla="*/ 1420837 h 1519311"/>
              <a:gd name="connsiteX5" fmla="*/ 415449 w 1534907"/>
              <a:gd name="connsiteY5" fmla="*/ 1406770 h 1519311"/>
              <a:gd name="connsiteX6" fmla="*/ 345110 w 1534907"/>
              <a:gd name="connsiteY6" fmla="*/ 1336431 h 1519311"/>
              <a:gd name="connsiteX7" fmla="*/ 288839 w 1534907"/>
              <a:gd name="connsiteY7" fmla="*/ 1252025 h 1519311"/>
              <a:gd name="connsiteX8" fmla="*/ 288839 w 1534907"/>
              <a:gd name="connsiteY8" fmla="*/ 984739 h 1519311"/>
              <a:gd name="connsiteX9" fmla="*/ 331042 w 1534907"/>
              <a:gd name="connsiteY9" fmla="*/ 970671 h 1519311"/>
              <a:gd name="connsiteX10" fmla="*/ 331042 w 1534907"/>
              <a:gd name="connsiteY10" fmla="*/ 703385 h 1519311"/>
              <a:gd name="connsiteX11" fmla="*/ 288839 w 1534907"/>
              <a:gd name="connsiteY11" fmla="*/ 633047 h 1519311"/>
              <a:gd name="connsiteX12" fmla="*/ 162230 w 1534907"/>
              <a:gd name="connsiteY12" fmla="*/ 576776 h 1519311"/>
              <a:gd name="connsiteX13" fmla="*/ 134095 w 1534907"/>
              <a:gd name="connsiteY13" fmla="*/ 548640 h 1519311"/>
              <a:gd name="connsiteX14" fmla="*/ 21553 w 1534907"/>
              <a:gd name="connsiteY14" fmla="*/ 478302 h 1519311"/>
              <a:gd name="connsiteX15" fmla="*/ 21553 w 1534907"/>
              <a:gd name="connsiteY15" fmla="*/ 309490 h 1519311"/>
              <a:gd name="connsiteX16" fmla="*/ 77824 w 1534907"/>
              <a:gd name="connsiteY16" fmla="*/ 126610 h 1519311"/>
              <a:gd name="connsiteX17" fmla="*/ 91892 w 1534907"/>
              <a:gd name="connsiteY17" fmla="*/ 56271 h 1519311"/>
              <a:gd name="connsiteX18" fmla="*/ 148162 w 1534907"/>
              <a:gd name="connsiteY18" fmla="*/ 28136 h 1519311"/>
              <a:gd name="connsiteX19" fmla="*/ 176298 w 1534907"/>
              <a:gd name="connsiteY19" fmla="*/ 0 h 1519311"/>
              <a:gd name="connsiteX20" fmla="*/ 443584 w 1534907"/>
              <a:gd name="connsiteY20" fmla="*/ 14068 h 1519311"/>
              <a:gd name="connsiteX21" fmla="*/ 682735 w 1534907"/>
              <a:gd name="connsiteY21" fmla="*/ 42203 h 1519311"/>
              <a:gd name="connsiteX22" fmla="*/ 1217307 w 1534907"/>
              <a:gd name="connsiteY22" fmla="*/ 56271 h 1519311"/>
              <a:gd name="connsiteX23" fmla="*/ 1245442 w 1534907"/>
              <a:gd name="connsiteY23" fmla="*/ 84407 h 1519311"/>
              <a:gd name="connsiteX24" fmla="*/ 1343916 w 1534907"/>
              <a:gd name="connsiteY24" fmla="*/ 154745 h 1519311"/>
              <a:gd name="connsiteX25" fmla="*/ 1400187 w 1534907"/>
              <a:gd name="connsiteY25" fmla="*/ 196948 h 1519311"/>
              <a:gd name="connsiteX26" fmla="*/ 1428322 w 1534907"/>
              <a:gd name="connsiteY26" fmla="*/ 239151 h 1519311"/>
              <a:gd name="connsiteX27" fmla="*/ 1456458 w 1534907"/>
              <a:gd name="connsiteY27" fmla="*/ 351693 h 1519311"/>
              <a:gd name="connsiteX28" fmla="*/ 1512729 w 1534907"/>
              <a:gd name="connsiteY28" fmla="*/ 436099 h 1519311"/>
              <a:gd name="connsiteX29" fmla="*/ 1512729 w 1534907"/>
              <a:gd name="connsiteY29" fmla="*/ 590843 h 1519311"/>
              <a:gd name="connsiteX30" fmla="*/ 1484593 w 1534907"/>
              <a:gd name="connsiteY30" fmla="*/ 675250 h 1519311"/>
              <a:gd name="connsiteX31" fmla="*/ 1470525 w 1534907"/>
              <a:gd name="connsiteY31" fmla="*/ 717453 h 1519311"/>
              <a:gd name="connsiteX32" fmla="*/ 1456458 w 1534907"/>
              <a:gd name="connsiteY32" fmla="*/ 984739 h 1519311"/>
              <a:gd name="connsiteX33" fmla="*/ 1386119 w 1534907"/>
              <a:gd name="connsiteY33" fmla="*/ 1055077 h 1519311"/>
              <a:gd name="connsiteX34" fmla="*/ 1329849 w 1534907"/>
              <a:gd name="connsiteY34" fmla="*/ 1125416 h 1519311"/>
              <a:gd name="connsiteX35" fmla="*/ 1315781 w 1534907"/>
              <a:gd name="connsiteY35" fmla="*/ 1181687 h 1519311"/>
              <a:gd name="connsiteX36" fmla="*/ 1301713 w 1534907"/>
              <a:gd name="connsiteY36" fmla="*/ 1223890 h 1519311"/>
              <a:gd name="connsiteX37" fmla="*/ 1315781 w 1534907"/>
              <a:gd name="connsiteY37" fmla="*/ 1294228 h 1519311"/>
              <a:gd name="connsiteX38" fmla="*/ 1357984 w 1534907"/>
              <a:gd name="connsiteY38" fmla="*/ 1392702 h 1519311"/>
              <a:gd name="connsiteX39" fmla="*/ 1400187 w 1534907"/>
              <a:gd name="connsiteY39" fmla="*/ 1406770 h 1519311"/>
              <a:gd name="connsiteX40" fmla="*/ 1414255 w 1534907"/>
              <a:gd name="connsiteY40" fmla="*/ 1392702 h 151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34907" h="1519311">
                <a:moveTo>
                  <a:pt x="1414255" y="1392702"/>
                </a:moveTo>
                <a:cubicBezTo>
                  <a:pt x="1414255" y="1397391"/>
                  <a:pt x="1410672" y="1424420"/>
                  <a:pt x="1400187" y="1434905"/>
                </a:cubicBezTo>
                <a:cubicBezTo>
                  <a:pt x="1366233" y="1468859"/>
                  <a:pt x="1303915" y="1497109"/>
                  <a:pt x="1259510" y="1519311"/>
                </a:cubicBezTo>
                <a:lnTo>
                  <a:pt x="598329" y="1505243"/>
                </a:lnTo>
                <a:cubicBezTo>
                  <a:pt x="544051" y="1498577"/>
                  <a:pt x="509531" y="1438129"/>
                  <a:pt x="457652" y="1420837"/>
                </a:cubicBezTo>
                <a:lnTo>
                  <a:pt x="415449" y="1406770"/>
                </a:lnTo>
                <a:cubicBezTo>
                  <a:pt x="392003" y="1383324"/>
                  <a:pt x="359939" y="1366089"/>
                  <a:pt x="345110" y="1336431"/>
                </a:cubicBezTo>
                <a:cubicBezTo>
                  <a:pt x="311044" y="1268297"/>
                  <a:pt x="331804" y="1294988"/>
                  <a:pt x="288839" y="1252025"/>
                </a:cubicBezTo>
                <a:cubicBezTo>
                  <a:pt x="263465" y="1150525"/>
                  <a:pt x="252375" y="1130597"/>
                  <a:pt x="288839" y="984739"/>
                </a:cubicBezTo>
                <a:cubicBezTo>
                  <a:pt x="292435" y="970353"/>
                  <a:pt x="316974" y="975360"/>
                  <a:pt x="331042" y="970671"/>
                </a:cubicBezTo>
                <a:cubicBezTo>
                  <a:pt x="376485" y="834345"/>
                  <a:pt x="368258" y="901868"/>
                  <a:pt x="331042" y="703385"/>
                </a:cubicBezTo>
                <a:cubicBezTo>
                  <a:pt x="324995" y="671134"/>
                  <a:pt x="316536" y="651512"/>
                  <a:pt x="288839" y="633047"/>
                </a:cubicBezTo>
                <a:cubicBezTo>
                  <a:pt x="259262" y="613329"/>
                  <a:pt x="192700" y="588964"/>
                  <a:pt x="162230" y="576776"/>
                </a:cubicBezTo>
                <a:cubicBezTo>
                  <a:pt x="152852" y="567397"/>
                  <a:pt x="144961" y="556246"/>
                  <a:pt x="134095" y="548640"/>
                </a:cubicBezTo>
                <a:cubicBezTo>
                  <a:pt x="97854" y="523271"/>
                  <a:pt x="21553" y="478302"/>
                  <a:pt x="21553" y="478302"/>
                </a:cubicBezTo>
                <a:cubicBezTo>
                  <a:pt x="0" y="392091"/>
                  <a:pt x="1794" y="428043"/>
                  <a:pt x="21553" y="309490"/>
                </a:cubicBezTo>
                <a:cubicBezTo>
                  <a:pt x="46016" y="162718"/>
                  <a:pt x="25634" y="204896"/>
                  <a:pt x="77824" y="126610"/>
                </a:cubicBezTo>
                <a:cubicBezTo>
                  <a:pt x="82513" y="103164"/>
                  <a:pt x="77994" y="75728"/>
                  <a:pt x="91892" y="56271"/>
                </a:cubicBezTo>
                <a:cubicBezTo>
                  <a:pt x="104081" y="39206"/>
                  <a:pt x="130713" y="39768"/>
                  <a:pt x="148162" y="28136"/>
                </a:cubicBezTo>
                <a:cubicBezTo>
                  <a:pt x="159198" y="20779"/>
                  <a:pt x="166919" y="9379"/>
                  <a:pt x="176298" y="0"/>
                </a:cubicBezTo>
                <a:cubicBezTo>
                  <a:pt x="265393" y="4689"/>
                  <a:pt x="354649" y="6953"/>
                  <a:pt x="443584" y="14068"/>
                </a:cubicBezTo>
                <a:cubicBezTo>
                  <a:pt x="749834" y="38569"/>
                  <a:pt x="189520" y="22072"/>
                  <a:pt x="682735" y="42203"/>
                </a:cubicBezTo>
                <a:cubicBezTo>
                  <a:pt x="860839" y="49472"/>
                  <a:pt x="1039116" y="51582"/>
                  <a:pt x="1217307" y="56271"/>
                </a:cubicBezTo>
                <a:cubicBezTo>
                  <a:pt x="1226685" y="65650"/>
                  <a:pt x="1235253" y="75916"/>
                  <a:pt x="1245442" y="84407"/>
                </a:cubicBezTo>
                <a:cubicBezTo>
                  <a:pt x="1300609" y="130380"/>
                  <a:pt x="1292754" y="118201"/>
                  <a:pt x="1343916" y="154745"/>
                </a:cubicBezTo>
                <a:cubicBezTo>
                  <a:pt x="1362995" y="168373"/>
                  <a:pt x="1381430" y="182880"/>
                  <a:pt x="1400187" y="196948"/>
                </a:cubicBezTo>
                <a:cubicBezTo>
                  <a:pt x="1409565" y="211016"/>
                  <a:pt x="1420761" y="224029"/>
                  <a:pt x="1428322" y="239151"/>
                </a:cubicBezTo>
                <a:cubicBezTo>
                  <a:pt x="1449379" y="281265"/>
                  <a:pt x="1440405" y="303533"/>
                  <a:pt x="1456458" y="351693"/>
                </a:cubicBezTo>
                <a:cubicBezTo>
                  <a:pt x="1473491" y="402793"/>
                  <a:pt x="1480538" y="403908"/>
                  <a:pt x="1512729" y="436099"/>
                </a:cubicBezTo>
                <a:cubicBezTo>
                  <a:pt x="1531702" y="511996"/>
                  <a:pt x="1534907" y="494738"/>
                  <a:pt x="1512729" y="590843"/>
                </a:cubicBezTo>
                <a:cubicBezTo>
                  <a:pt x="1506060" y="619741"/>
                  <a:pt x="1493972" y="647114"/>
                  <a:pt x="1484593" y="675250"/>
                </a:cubicBezTo>
                <a:lnTo>
                  <a:pt x="1470525" y="717453"/>
                </a:lnTo>
                <a:cubicBezTo>
                  <a:pt x="1465836" y="806548"/>
                  <a:pt x="1468513" y="896338"/>
                  <a:pt x="1456458" y="984739"/>
                </a:cubicBezTo>
                <a:cubicBezTo>
                  <a:pt x="1451290" y="1022636"/>
                  <a:pt x="1410043" y="1035937"/>
                  <a:pt x="1386119" y="1055077"/>
                </a:cubicBezTo>
                <a:cubicBezTo>
                  <a:pt x="1357485" y="1077985"/>
                  <a:pt x="1350738" y="1094082"/>
                  <a:pt x="1329849" y="1125416"/>
                </a:cubicBezTo>
                <a:cubicBezTo>
                  <a:pt x="1325160" y="1144173"/>
                  <a:pt x="1321093" y="1163097"/>
                  <a:pt x="1315781" y="1181687"/>
                </a:cubicBezTo>
                <a:cubicBezTo>
                  <a:pt x="1311707" y="1195945"/>
                  <a:pt x="1301713" y="1209061"/>
                  <a:pt x="1301713" y="1223890"/>
                </a:cubicBezTo>
                <a:cubicBezTo>
                  <a:pt x="1301713" y="1247800"/>
                  <a:pt x="1310594" y="1270887"/>
                  <a:pt x="1315781" y="1294228"/>
                </a:cubicBezTo>
                <a:cubicBezTo>
                  <a:pt x="1323087" y="1327104"/>
                  <a:pt x="1328623" y="1369213"/>
                  <a:pt x="1357984" y="1392702"/>
                </a:cubicBezTo>
                <a:cubicBezTo>
                  <a:pt x="1369563" y="1401965"/>
                  <a:pt x="1386119" y="1402081"/>
                  <a:pt x="1400187" y="1406770"/>
                </a:cubicBezTo>
                <a:cubicBezTo>
                  <a:pt x="1434138" y="1457698"/>
                  <a:pt x="1414255" y="1388013"/>
                  <a:pt x="1414255" y="1392702"/>
                </a:cubicBez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574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3528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668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954" name="Group 47"/>
          <p:cNvGrpSpPr>
            <a:grpSpLocks/>
          </p:cNvGrpSpPr>
          <p:nvPr/>
        </p:nvGrpSpPr>
        <p:grpSpPr bwMode="auto">
          <a:xfrm>
            <a:off x="1676400" y="3886200"/>
            <a:ext cx="914400" cy="609600"/>
            <a:chOff x="1447800" y="3810000"/>
            <a:chExt cx="914400" cy="609600"/>
          </a:xfrm>
        </p:grpSpPr>
        <p:sp>
          <p:nvSpPr>
            <p:cNvPr id="13" name="Oval 12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286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144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26670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638800" y="3810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2484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934200" y="4114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7467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764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2672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9624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48768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3352800" y="2133600"/>
            <a:ext cx="304800" cy="304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2133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324600" y="1371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391400" y="1447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410200" y="1524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7150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6477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5908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2209800" y="3657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447800" y="2895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29718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1447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3528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37338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667000" y="12954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5105400" y="426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386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48200" y="1143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3200400" y="16002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725125" y="1828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958733" y="15240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4648200" y="1156756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257800" y="1066800"/>
            <a:ext cx="304800" cy="304800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077200" y="32766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u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5400" y="203226"/>
            <a:ext cx="914400" cy="914400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7477897" y="267075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629400" y="2294607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5867400" y="1600200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5257800" y="1070919"/>
            <a:ext cx="304800" cy="3048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24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7818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791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246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54850" y="3128963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766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777875" y="2559050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accent1"/>
          </a:solid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33528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00200" y="2590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667000" y="3048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906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2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574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62600" y="2133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100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895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90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34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15000" y="39624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495800" y="16764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886200" y="19050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276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286000" y="2362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96000" y="17526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705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39000" y="13716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315200" y="1981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4008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705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342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057400" y="762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14800" y="3505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562600" y="14478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620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246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96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7244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19600" y="40386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81600" y="4191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800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7338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352800" y="3124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943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543800" y="2514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46482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1628480" y="3469373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47"/>
          <p:cNvGrpSpPr>
            <a:grpSpLocks/>
          </p:cNvGrpSpPr>
          <p:nvPr/>
        </p:nvGrpSpPr>
        <p:grpSpPr bwMode="auto">
          <a:xfrm>
            <a:off x="1600200" y="3810000"/>
            <a:ext cx="914400" cy="609600"/>
            <a:chOff x="1447800" y="3810000"/>
            <a:chExt cx="914400" cy="609600"/>
          </a:xfrm>
        </p:grpSpPr>
        <p:sp>
          <p:nvSpPr>
            <p:cNvPr id="119" name="Oval 118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43600" y="3430772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638800" y="2741428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562600" y="2128431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227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7818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791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246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54850" y="3128963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766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777875" y="2559050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accent1"/>
          </a:solid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33528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00200" y="2590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667000" y="3048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906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2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574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62600" y="2133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100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895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90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34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15000" y="39624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495800" y="16764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886200" y="19050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276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286000" y="2362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96000" y="17526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705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39000" y="13716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315200" y="1981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4008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705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342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057400" y="762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14800" y="3505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562600" y="14478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620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246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96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7244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19600" y="40386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81600" y="4191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800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7338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352800" y="3124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943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543800" y="2514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46482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1628480" y="3469373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47"/>
          <p:cNvGrpSpPr>
            <a:grpSpLocks/>
          </p:cNvGrpSpPr>
          <p:nvPr/>
        </p:nvGrpSpPr>
        <p:grpSpPr bwMode="auto">
          <a:xfrm>
            <a:off x="1600200" y="3810000"/>
            <a:ext cx="914400" cy="609600"/>
            <a:chOff x="1447800" y="3810000"/>
            <a:chExt cx="914400" cy="609600"/>
          </a:xfrm>
        </p:grpSpPr>
        <p:sp>
          <p:nvSpPr>
            <p:cNvPr id="119" name="Oval 118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43600" y="3430772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638800" y="2741428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562600" y="2128431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 descr="Bu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0" y="2590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20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7818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791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246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54850" y="3128963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766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777875" y="2559050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accent1"/>
          </a:solid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33528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00200" y="2590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667000" y="3048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906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2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574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62600" y="2133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100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895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90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34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15000" y="39624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495800" y="16764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886200" y="19050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276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286000" y="2362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96000" y="17526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705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39000" y="13716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315200" y="1981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4008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705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342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057400" y="762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14800" y="3505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562600" y="14478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620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246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96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7244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19600" y="40386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81600" y="4191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800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7338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352800" y="3124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943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543800" y="2514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46482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1628480" y="3469373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47"/>
          <p:cNvGrpSpPr>
            <a:grpSpLocks/>
          </p:cNvGrpSpPr>
          <p:nvPr/>
        </p:nvGrpSpPr>
        <p:grpSpPr bwMode="auto">
          <a:xfrm>
            <a:off x="1600200" y="3810000"/>
            <a:ext cx="914400" cy="609600"/>
            <a:chOff x="1447800" y="3810000"/>
            <a:chExt cx="914400" cy="609600"/>
          </a:xfrm>
        </p:grpSpPr>
        <p:sp>
          <p:nvSpPr>
            <p:cNvPr id="119" name="Oval 118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43600" y="3430772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638800" y="2741428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562600" y="2128431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 descr="Bu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0" y="1823631"/>
            <a:ext cx="914400" cy="914400"/>
          </a:xfrm>
          <a:prstGeom prst="rect">
            <a:avLst/>
          </a:prstGeom>
        </p:spPr>
      </p:pic>
      <p:sp>
        <p:nvSpPr>
          <p:cNvPr id="82" name="Oval 81"/>
          <p:cNvSpPr/>
          <p:nvPr/>
        </p:nvSpPr>
        <p:spPr>
          <a:xfrm>
            <a:off x="6936259" y="2598632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63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7818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791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246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54850" y="3128963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766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777875" y="2559050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accent1"/>
          </a:solid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33528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00200" y="2590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667000" y="3048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906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2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574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62600" y="2133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100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895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90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34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15000" y="39624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495800" y="16764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886200" y="19050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276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286000" y="2362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96000" y="17526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705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39000" y="13716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315200" y="1981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4008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705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342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057400" y="762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14800" y="3505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562600" y="14478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620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246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96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7244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19600" y="40386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81600" y="4191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800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7338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352800" y="3124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943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543800" y="2514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46482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1628480" y="3469373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47"/>
          <p:cNvGrpSpPr>
            <a:grpSpLocks/>
          </p:cNvGrpSpPr>
          <p:nvPr/>
        </p:nvGrpSpPr>
        <p:grpSpPr bwMode="auto">
          <a:xfrm>
            <a:off x="1600200" y="3810000"/>
            <a:ext cx="914400" cy="609600"/>
            <a:chOff x="1447800" y="3810000"/>
            <a:chExt cx="914400" cy="609600"/>
          </a:xfrm>
        </p:grpSpPr>
        <p:sp>
          <p:nvSpPr>
            <p:cNvPr id="119" name="Oval 118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43600" y="3430772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638800" y="2741428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562600" y="2128431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 descr="Bu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944" y="1129896"/>
            <a:ext cx="914400" cy="914400"/>
          </a:xfrm>
          <a:prstGeom prst="rect">
            <a:avLst/>
          </a:prstGeom>
        </p:spPr>
      </p:pic>
      <p:sp>
        <p:nvSpPr>
          <p:cNvPr id="82" name="Oval 81"/>
          <p:cNvSpPr/>
          <p:nvPr/>
        </p:nvSpPr>
        <p:spPr>
          <a:xfrm>
            <a:off x="6936259" y="2598632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6629400" y="2291416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7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781800" y="685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5791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71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114800" y="533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657600" y="990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vvv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24600" y="1295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54850" y="3128963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386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19800" y="2438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766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38800" y="2743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29400" y="2286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777875" y="2559050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accent1"/>
          </a:solidFill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33528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00200" y="2590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667000" y="3048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906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2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14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0574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2192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62600" y="2133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105400" y="609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100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9812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8956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990600" y="2667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953000" y="2819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34000" y="3200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15000" y="39624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029200" y="3733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581400" y="3581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495800" y="16764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886200" y="19050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3276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590800" y="18288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286000" y="2362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96000" y="17526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705600" y="16002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39000" y="1371600"/>
            <a:ext cx="304800" cy="304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315200" y="1981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6400800" y="39624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484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7467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705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34200" y="2590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72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2057400" y="762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09600" y="1219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752600" y="1828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990600" y="1905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57200" y="3276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20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3048000" y="4191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4114800" y="3505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562600" y="1447800"/>
            <a:ext cx="304800" cy="304800"/>
          </a:xfrm>
          <a:prstGeom prst="ellipse">
            <a:avLst/>
          </a:prstGeom>
          <a:solidFill>
            <a:srgbClr val="6600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620000" y="838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324600" y="4572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9600" y="3048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724400" y="2209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19600" y="40386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81600" y="41910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800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733800" y="4038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3352800" y="3124200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943600" y="34290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543800" y="25146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4648200" y="1066800"/>
            <a:ext cx="304800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1628480" y="3469373"/>
            <a:ext cx="1187450" cy="1143000"/>
          </a:xfrm>
          <a:custGeom>
            <a:avLst/>
            <a:gdLst>
              <a:gd name="connsiteX0" fmla="*/ 647114 w 1639701"/>
              <a:gd name="connsiteY0" fmla="*/ 87165 h 1564272"/>
              <a:gd name="connsiteX1" fmla="*/ 618979 w 1639701"/>
              <a:gd name="connsiteY1" fmla="*/ 44962 h 1564272"/>
              <a:gd name="connsiteX2" fmla="*/ 225083 w 1639701"/>
              <a:gd name="connsiteY2" fmla="*/ 101232 h 1564272"/>
              <a:gd name="connsiteX3" fmla="*/ 182880 w 1639701"/>
              <a:gd name="connsiteY3" fmla="*/ 129368 h 1564272"/>
              <a:gd name="connsiteX4" fmla="*/ 98474 w 1639701"/>
              <a:gd name="connsiteY4" fmla="*/ 213774 h 1564272"/>
              <a:gd name="connsiteX5" fmla="*/ 84406 w 1639701"/>
              <a:gd name="connsiteY5" fmla="*/ 255977 h 1564272"/>
              <a:gd name="connsiteX6" fmla="*/ 28136 w 1639701"/>
              <a:gd name="connsiteY6" fmla="*/ 354451 h 1564272"/>
              <a:gd name="connsiteX7" fmla="*/ 0 w 1639701"/>
              <a:gd name="connsiteY7" fmla="*/ 438857 h 1564272"/>
              <a:gd name="connsiteX8" fmla="*/ 14068 w 1639701"/>
              <a:gd name="connsiteY8" fmla="*/ 607669 h 1564272"/>
              <a:gd name="connsiteX9" fmla="*/ 56271 w 1639701"/>
              <a:gd name="connsiteY9" fmla="*/ 860888 h 1564272"/>
              <a:gd name="connsiteX10" fmla="*/ 140677 w 1639701"/>
              <a:gd name="connsiteY10" fmla="*/ 945294 h 1564272"/>
              <a:gd name="connsiteX11" fmla="*/ 196948 w 1639701"/>
              <a:gd name="connsiteY11" fmla="*/ 1001565 h 1564272"/>
              <a:gd name="connsiteX12" fmla="*/ 239151 w 1639701"/>
              <a:gd name="connsiteY12" fmla="*/ 1057836 h 1564272"/>
              <a:gd name="connsiteX13" fmla="*/ 323557 w 1639701"/>
              <a:gd name="connsiteY13" fmla="*/ 1114106 h 1564272"/>
              <a:gd name="connsiteX14" fmla="*/ 450166 w 1639701"/>
              <a:gd name="connsiteY14" fmla="*/ 1254783 h 1564272"/>
              <a:gd name="connsiteX15" fmla="*/ 520505 w 1639701"/>
              <a:gd name="connsiteY15" fmla="*/ 1325122 h 1564272"/>
              <a:gd name="connsiteX16" fmla="*/ 562708 w 1639701"/>
              <a:gd name="connsiteY16" fmla="*/ 1353257 h 1564272"/>
              <a:gd name="connsiteX17" fmla="*/ 633046 w 1639701"/>
              <a:gd name="connsiteY17" fmla="*/ 1423596 h 1564272"/>
              <a:gd name="connsiteX18" fmla="*/ 661182 w 1639701"/>
              <a:gd name="connsiteY18" fmla="*/ 1451731 h 1564272"/>
              <a:gd name="connsiteX19" fmla="*/ 984739 w 1639701"/>
              <a:gd name="connsiteY19" fmla="*/ 1465799 h 1564272"/>
              <a:gd name="connsiteX20" fmla="*/ 1083213 w 1639701"/>
              <a:gd name="connsiteY20" fmla="*/ 1536137 h 1564272"/>
              <a:gd name="connsiteX21" fmla="*/ 1125416 w 1639701"/>
              <a:gd name="connsiteY21" fmla="*/ 1564272 h 1564272"/>
              <a:gd name="connsiteX22" fmla="*/ 1167619 w 1639701"/>
              <a:gd name="connsiteY22" fmla="*/ 1536137 h 1564272"/>
              <a:gd name="connsiteX23" fmla="*/ 1308296 w 1639701"/>
              <a:gd name="connsiteY23" fmla="*/ 1409528 h 1564272"/>
              <a:gd name="connsiteX24" fmla="*/ 1336431 w 1639701"/>
              <a:gd name="connsiteY24" fmla="*/ 1367325 h 1564272"/>
              <a:gd name="connsiteX25" fmla="*/ 1392702 w 1639701"/>
              <a:gd name="connsiteY25" fmla="*/ 1311054 h 1564272"/>
              <a:gd name="connsiteX26" fmla="*/ 1491176 w 1639701"/>
              <a:gd name="connsiteY26" fmla="*/ 1240716 h 1564272"/>
              <a:gd name="connsiteX27" fmla="*/ 1505243 w 1639701"/>
              <a:gd name="connsiteY27" fmla="*/ 1128174 h 1564272"/>
              <a:gd name="connsiteX28" fmla="*/ 1533379 w 1639701"/>
              <a:gd name="connsiteY28" fmla="*/ 1043768 h 1564272"/>
              <a:gd name="connsiteX29" fmla="*/ 1547446 w 1639701"/>
              <a:gd name="connsiteY29" fmla="*/ 1001565 h 1564272"/>
              <a:gd name="connsiteX30" fmla="*/ 1561514 w 1639701"/>
              <a:gd name="connsiteY30" fmla="*/ 931226 h 1564272"/>
              <a:gd name="connsiteX31" fmla="*/ 1617785 w 1639701"/>
              <a:gd name="connsiteY31" fmla="*/ 818685 h 1564272"/>
              <a:gd name="connsiteX32" fmla="*/ 1617785 w 1639701"/>
              <a:gd name="connsiteY32" fmla="*/ 565466 h 1564272"/>
              <a:gd name="connsiteX33" fmla="*/ 1603717 w 1639701"/>
              <a:gd name="connsiteY33" fmla="*/ 523263 h 1564272"/>
              <a:gd name="connsiteX34" fmla="*/ 1561514 w 1639701"/>
              <a:gd name="connsiteY34" fmla="*/ 495128 h 1564272"/>
              <a:gd name="connsiteX35" fmla="*/ 1547446 w 1639701"/>
              <a:gd name="connsiteY35" fmla="*/ 452925 h 1564272"/>
              <a:gd name="connsiteX36" fmla="*/ 1505243 w 1639701"/>
              <a:gd name="connsiteY36" fmla="*/ 424789 h 1564272"/>
              <a:gd name="connsiteX37" fmla="*/ 1406769 w 1639701"/>
              <a:gd name="connsiteY37" fmla="*/ 396654 h 1564272"/>
              <a:gd name="connsiteX38" fmla="*/ 970671 w 1639701"/>
              <a:gd name="connsiteY38" fmla="*/ 396654 h 1564272"/>
              <a:gd name="connsiteX39" fmla="*/ 914400 w 1639701"/>
              <a:gd name="connsiteY39" fmla="*/ 368519 h 1564272"/>
              <a:gd name="connsiteX40" fmla="*/ 858129 w 1639701"/>
              <a:gd name="connsiteY40" fmla="*/ 312248 h 1564272"/>
              <a:gd name="connsiteX41" fmla="*/ 829994 w 1639701"/>
              <a:gd name="connsiteY41" fmla="*/ 284112 h 1564272"/>
              <a:gd name="connsiteX42" fmla="*/ 815926 w 1639701"/>
              <a:gd name="connsiteY42" fmla="*/ 241909 h 1564272"/>
              <a:gd name="connsiteX43" fmla="*/ 745588 w 1639701"/>
              <a:gd name="connsiteY43" fmla="*/ 157503 h 1564272"/>
              <a:gd name="connsiteX44" fmla="*/ 703385 w 1639701"/>
              <a:gd name="connsiteY44" fmla="*/ 129368 h 1564272"/>
              <a:gd name="connsiteX45" fmla="*/ 675249 w 1639701"/>
              <a:gd name="connsiteY45" fmla="*/ 101232 h 1564272"/>
              <a:gd name="connsiteX46" fmla="*/ 576776 w 1639701"/>
              <a:gd name="connsiteY46" fmla="*/ 44962 h 156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639701" h="1564272">
                <a:moveTo>
                  <a:pt x="647114" y="87165"/>
                </a:moveTo>
                <a:cubicBezTo>
                  <a:pt x="637736" y="73097"/>
                  <a:pt x="635836" y="46259"/>
                  <a:pt x="618979" y="44962"/>
                </a:cubicBezTo>
                <a:cubicBezTo>
                  <a:pt x="280308" y="18910"/>
                  <a:pt x="366807" y="0"/>
                  <a:pt x="225083" y="101232"/>
                </a:cubicBezTo>
                <a:cubicBezTo>
                  <a:pt x="211325" y="111059"/>
                  <a:pt x="195517" y="118135"/>
                  <a:pt x="182880" y="129368"/>
                </a:cubicBezTo>
                <a:cubicBezTo>
                  <a:pt x="153141" y="155803"/>
                  <a:pt x="98474" y="213774"/>
                  <a:pt x="98474" y="213774"/>
                </a:cubicBezTo>
                <a:cubicBezTo>
                  <a:pt x="93785" y="227842"/>
                  <a:pt x="91038" y="242714"/>
                  <a:pt x="84406" y="255977"/>
                </a:cubicBezTo>
                <a:cubicBezTo>
                  <a:pt x="33649" y="357492"/>
                  <a:pt x="77463" y="231133"/>
                  <a:pt x="28136" y="354451"/>
                </a:cubicBezTo>
                <a:cubicBezTo>
                  <a:pt x="17122" y="381987"/>
                  <a:pt x="0" y="438857"/>
                  <a:pt x="0" y="438857"/>
                </a:cubicBezTo>
                <a:cubicBezTo>
                  <a:pt x="4689" y="495128"/>
                  <a:pt x="9737" y="551370"/>
                  <a:pt x="14068" y="607669"/>
                </a:cubicBezTo>
                <a:cubicBezTo>
                  <a:pt x="19421" y="677260"/>
                  <a:pt x="1955" y="792993"/>
                  <a:pt x="56271" y="860888"/>
                </a:cubicBezTo>
                <a:cubicBezTo>
                  <a:pt x="81127" y="891958"/>
                  <a:pt x="112542" y="917159"/>
                  <a:pt x="140677" y="945294"/>
                </a:cubicBezTo>
                <a:cubicBezTo>
                  <a:pt x="159434" y="964051"/>
                  <a:pt x="181032" y="980344"/>
                  <a:pt x="196948" y="1001565"/>
                </a:cubicBezTo>
                <a:cubicBezTo>
                  <a:pt x="211016" y="1020322"/>
                  <a:pt x="221627" y="1042259"/>
                  <a:pt x="239151" y="1057836"/>
                </a:cubicBezTo>
                <a:cubicBezTo>
                  <a:pt x="264424" y="1080301"/>
                  <a:pt x="323557" y="1114106"/>
                  <a:pt x="323557" y="1114106"/>
                </a:cubicBezTo>
                <a:cubicBezTo>
                  <a:pt x="389634" y="1202209"/>
                  <a:pt x="349181" y="1153798"/>
                  <a:pt x="450166" y="1254783"/>
                </a:cubicBezTo>
                <a:lnTo>
                  <a:pt x="520505" y="1325122"/>
                </a:lnTo>
                <a:cubicBezTo>
                  <a:pt x="534573" y="1334500"/>
                  <a:pt x="549984" y="1342124"/>
                  <a:pt x="562708" y="1353257"/>
                </a:cubicBezTo>
                <a:cubicBezTo>
                  <a:pt x="587662" y="1375092"/>
                  <a:pt x="609600" y="1400150"/>
                  <a:pt x="633046" y="1423596"/>
                </a:cubicBezTo>
                <a:cubicBezTo>
                  <a:pt x="642425" y="1432975"/>
                  <a:pt x="647931" y="1451155"/>
                  <a:pt x="661182" y="1451731"/>
                </a:cubicBezTo>
                <a:lnTo>
                  <a:pt x="984739" y="1465799"/>
                </a:lnTo>
                <a:cubicBezTo>
                  <a:pt x="1084198" y="1532104"/>
                  <a:pt x="961069" y="1448892"/>
                  <a:pt x="1083213" y="1536137"/>
                </a:cubicBezTo>
                <a:cubicBezTo>
                  <a:pt x="1096971" y="1545964"/>
                  <a:pt x="1111348" y="1554894"/>
                  <a:pt x="1125416" y="1564272"/>
                </a:cubicBezTo>
                <a:cubicBezTo>
                  <a:pt x="1139484" y="1554894"/>
                  <a:pt x="1155052" y="1547447"/>
                  <a:pt x="1167619" y="1536137"/>
                </a:cubicBezTo>
                <a:cubicBezTo>
                  <a:pt x="1325375" y="1394157"/>
                  <a:pt x="1210231" y="1474904"/>
                  <a:pt x="1308296" y="1409528"/>
                </a:cubicBezTo>
                <a:cubicBezTo>
                  <a:pt x="1317674" y="1395460"/>
                  <a:pt x="1325428" y="1380162"/>
                  <a:pt x="1336431" y="1367325"/>
                </a:cubicBezTo>
                <a:cubicBezTo>
                  <a:pt x="1353694" y="1347185"/>
                  <a:pt x="1371481" y="1326970"/>
                  <a:pt x="1392702" y="1311054"/>
                </a:cubicBezTo>
                <a:cubicBezTo>
                  <a:pt x="1462499" y="1258707"/>
                  <a:pt x="1429465" y="1281857"/>
                  <a:pt x="1491176" y="1240716"/>
                </a:cubicBezTo>
                <a:cubicBezTo>
                  <a:pt x="1495865" y="1203202"/>
                  <a:pt x="1497322" y="1165141"/>
                  <a:pt x="1505243" y="1128174"/>
                </a:cubicBezTo>
                <a:cubicBezTo>
                  <a:pt x="1511457" y="1099175"/>
                  <a:pt x="1524001" y="1071903"/>
                  <a:pt x="1533379" y="1043768"/>
                </a:cubicBezTo>
                <a:cubicBezTo>
                  <a:pt x="1538068" y="1029700"/>
                  <a:pt x="1544538" y="1016106"/>
                  <a:pt x="1547446" y="1001565"/>
                </a:cubicBezTo>
                <a:cubicBezTo>
                  <a:pt x="1552135" y="978119"/>
                  <a:pt x="1552931" y="953543"/>
                  <a:pt x="1561514" y="931226"/>
                </a:cubicBezTo>
                <a:cubicBezTo>
                  <a:pt x="1576570" y="892080"/>
                  <a:pt x="1617785" y="818685"/>
                  <a:pt x="1617785" y="818685"/>
                </a:cubicBezTo>
                <a:cubicBezTo>
                  <a:pt x="1638369" y="695187"/>
                  <a:pt x="1639701" y="729831"/>
                  <a:pt x="1617785" y="565466"/>
                </a:cubicBezTo>
                <a:cubicBezTo>
                  <a:pt x="1615825" y="550767"/>
                  <a:pt x="1612980" y="534842"/>
                  <a:pt x="1603717" y="523263"/>
                </a:cubicBezTo>
                <a:cubicBezTo>
                  <a:pt x="1593155" y="510061"/>
                  <a:pt x="1575582" y="504506"/>
                  <a:pt x="1561514" y="495128"/>
                </a:cubicBezTo>
                <a:cubicBezTo>
                  <a:pt x="1556825" y="481060"/>
                  <a:pt x="1556709" y="464504"/>
                  <a:pt x="1547446" y="452925"/>
                </a:cubicBezTo>
                <a:cubicBezTo>
                  <a:pt x="1536884" y="439723"/>
                  <a:pt x="1520365" y="432350"/>
                  <a:pt x="1505243" y="424789"/>
                </a:cubicBezTo>
                <a:cubicBezTo>
                  <a:pt x="1485066" y="414700"/>
                  <a:pt x="1424792" y="401160"/>
                  <a:pt x="1406769" y="396654"/>
                </a:cubicBezTo>
                <a:cubicBezTo>
                  <a:pt x="1225713" y="410582"/>
                  <a:pt x="1165873" y="423272"/>
                  <a:pt x="970671" y="396654"/>
                </a:cubicBezTo>
                <a:cubicBezTo>
                  <a:pt x="949892" y="393821"/>
                  <a:pt x="933157" y="377897"/>
                  <a:pt x="914400" y="368519"/>
                </a:cubicBezTo>
                <a:lnTo>
                  <a:pt x="858129" y="312248"/>
                </a:lnTo>
                <a:lnTo>
                  <a:pt x="829994" y="284112"/>
                </a:lnTo>
                <a:cubicBezTo>
                  <a:pt x="825305" y="270044"/>
                  <a:pt x="822558" y="255172"/>
                  <a:pt x="815926" y="241909"/>
                </a:cubicBezTo>
                <a:cubicBezTo>
                  <a:pt x="800117" y="210292"/>
                  <a:pt x="772256" y="179726"/>
                  <a:pt x="745588" y="157503"/>
                </a:cubicBezTo>
                <a:cubicBezTo>
                  <a:pt x="732600" y="146679"/>
                  <a:pt x="716587" y="139930"/>
                  <a:pt x="703385" y="129368"/>
                </a:cubicBezTo>
                <a:cubicBezTo>
                  <a:pt x="693028" y="121082"/>
                  <a:pt x="685860" y="109190"/>
                  <a:pt x="675249" y="101232"/>
                </a:cubicBezTo>
                <a:cubicBezTo>
                  <a:pt x="596754" y="42361"/>
                  <a:pt x="623297" y="44962"/>
                  <a:pt x="576776" y="44962"/>
                </a:cubicBezTo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7" name="Group 47"/>
          <p:cNvGrpSpPr>
            <a:grpSpLocks/>
          </p:cNvGrpSpPr>
          <p:nvPr/>
        </p:nvGrpSpPr>
        <p:grpSpPr bwMode="auto">
          <a:xfrm>
            <a:off x="1600200" y="3810000"/>
            <a:ext cx="914400" cy="609600"/>
            <a:chOff x="1447800" y="3810000"/>
            <a:chExt cx="914400" cy="609600"/>
          </a:xfrm>
        </p:grpSpPr>
        <p:sp>
          <p:nvSpPr>
            <p:cNvPr id="119" name="Oval 118"/>
            <p:cNvSpPr/>
            <p:nvPr/>
          </p:nvSpPr>
          <p:spPr>
            <a:xfrm>
              <a:off x="2057400" y="41148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1447800" y="3810000"/>
              <a:ext cx="304800" cy="304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1" name="Oval 120"/>
          <p:cNvSpPr/>
          <p:nvPr/>
        </p:nvSpPr>
        <p:spPr>
          <a:xfrm>
            <a:off x="5943600" y="3430772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638800" y="2741428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562600" y="2128431"/>
            <a:ext cx="304800" cy="304800"/>
          </a:xfrm>
          <a:prstGeom prst="ellipse">
            <a:avLst/>
          </a:prstGeom>
          <a:solidFill>
            <a:srgbClr val="CC0000"/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 descr="Bu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9800" y="779469"/>
            <a:ext cx="914400" cy="914400"/>
          </a:xfrm>
          <a:prstGeom prst="rect">
            <a:avLst/>
          </a:prstGeom>
        </p:spPr>
      </p:pic>
      <p:sp>
        <p:nvSpPr>
          <p:cNvPr id="82" name="Oval 81"/>
          <p:cNvSpPr/>
          <p:nvPr/>
        </p:nvSpPr>
        <p:spPr>
          <a:xfrm>
            <a:off x="6936259" y="2598632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6629400" y="2291416"/>
            <a:ext cx="304800" cy="3048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90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</TotalTime>
  <Words>617</Words>
  <Application>Microsoft Office PowerPoint</Application>
  <PresentationFormat>On-screen Show (4:3)</PresentationFormat>
  <Paragraphs>94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1_Retrospect</vt:lpstr>
      <vt:lpstr>Retrospect</vt:lpstr>
      <vt:lpstr>SPIN (Sensor Protocols for Information via Negotiation)</vt:lpstr>
      <vt:lpstr>Resources for SPIN</vt:lpstr>
      <vt:lpstr>PowerPoint Presentation</vt:lpstr>
      <vt:lpstr>Directed Diffusion</vt:lpstr>
      <vt:lpstr>Query &amp; Response Format</vt:lpstr>
      <vt:lpstr>PowerPoint Presentation</vt:lpstr>
      <vt:lpstr>PowerPoint Presentation</vt:lpstr>
      <vt:lpstr>PowerPoint Presentation</vt:lpstr>
      <vt:lpstr>Rumour Routing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92</cp:revision>
  <dcterms:modified xsi:type="dcterms:W3CDTF">2025-04-17T12:10:18Z</dcterms:modified>
</cp:coreProperties>
</file>