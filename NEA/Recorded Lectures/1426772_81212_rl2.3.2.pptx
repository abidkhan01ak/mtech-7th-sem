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87" r:id="rId3"/>
    <p:sldId id="288" r:id="rId4"/>
    <p:sldId id="289" r:id="rId5"/>
    <p:sldId id="290" r:id="rId6"/>
    <p:sldId id="293" r:id="rId7"/>
    <p:sldId id="292" r:id="rId8"/>
    <p:sldId id="291" r:id="rId9"/>
    <p:sldId id="294" r:id="rId10"/>
    <p:sldId id="295" r:id="rId11"/>
    <p:sldId id="296" r:id="rId12"/>
    <p:sldId id="297" r:id="rId13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9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08-08-2017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6125"/>
            <a:ext cx="4972050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1" name="Shape 241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Shape 242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Shape 189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" y="17"/>
            <a:ext cx="9142380" cy="688211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Shape 190"/>
          <p:cNvSpPr/>
          <p:nvPr/>
        </p:nvSpPr>
        <p:spPr>
          <a:xfrm>
            <a:off x="0" y="4253985"/>
            <a:ext cx="9144000" cy="262813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3125" tIns="46550" rIns="93125" bIns="46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Shape 191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764470" y="15"/>
            <a:ext cx="2237873" cy="7067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Shape 195"/>
          <p:cNvGrpSpPr/>
          <p:nvPr/>
        </p:nvGrpSpPr>
        <p:grpSpPr>
          <a:xfrm>
            <a:off x="6778635" y="691752"/>
            <a:ext cx="2254818" cy="699729"/>
            <a:chOff x="76200" y="2209800"/>
            <a:chExt cx="2209799" cy="685799"/>
          </a:xfrm>
        </p:grpSpPr>
        <p:sp>
          <p:nvSpPr>
            <p:cNvPr id="196" name="Shape 196"/>
            <p:cNvSpPr txBox="1"/>
            <p:nvPr/>
          </p:nvSpPr>
          <p:spPr>
            <a:xfrm>
              <a:off x="76200" y="2209800"/>
              <a:ext cx="2209799" cy="55399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SzPct val="25000"/>
                <a:buNone/>
              </a:pPr>
              <a:r>
                <a:rPr lang="en-US" sz="300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BITS</a:t>
              </a:r>
              <a:r>
                <a:rPr lang="en-US" sz="30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Pilani</a:t>
              </a:r>
            </a:p>
          </p:txBody>
        </p:sp>
        <p:sp>
          <p:nvSpPr>
            <p:cNvPr id="197" name="Shape 197"/>
            <p:cNvSpPr txBox="1"/>
            <p:nvPr/>
          </p:nvSpPr>
          <p:spPr>
            <a:xfrm>
              <a:off x="228600" y="2664767"/>
              <a:ext cx="1904999" cy="23083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SzPct val="25000"/>
                <a:buNone/>
              </a:pPr>
              <a:r>
                <a:rPr lang="en-US" sz="9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Pilani | Dubai | Goa | Hyderabad</a:t>
              </a:r>
            </a:p>
          </p:txBody>
        </p:sp>
      </p:grpSp>
      <p:sp>
        <p:nvSpPr>
          <p:cNvPr id="198" name="Shape 198"/>
          <p:cNvSpPr txBox="1">
            <a:spLocks noGrp="1"/>
          </p:cNvSpPr>
          <p:nvPr>
            <p:ph type="ctrTitle"/>
          </p:nvPr>
        </p:nvSpPr>
        <p:spPr>
          <a:xfrm>
            <a:off x="320728" y="5237530"/>
            <a:ext cx="6199129" cy="105110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" y="6814184"/>
            <a:ext cx="9144000" cy="72389"/>
            <a:chOff x="1998227" y="6500996"/>
            <a:chExt cx="7153215" cy="46648"/>
          </a:xfrm>
        </p:grpSpPr>
        <p:sp>
          <p:nvSpPr>
            <p:cNvPr id="14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Shape 198"/>
          <p:cNvSpPr txBox="1">
            <a:spLocks/>
          </p:cNvSpPr>
          <p:nvPr userDrawn="1"/>
        </p:nvSpPr>
        <p:spPr>
          <a:xfrm>
            <a:off x="320728" y="4374693"/>
            <a:ext cx="6199129" cy="8583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5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1" r:id="rId2"/>
    <p:sldLayoutId id="2147483669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>
            <a:spLocks noGrp="1"/>
          </p:cNvSpPr>
          <p:nvPr>
            <p:ph type="ctrTitle"/>
          </p:nvPr>
        </p:nvSpPr>
        <p:spPr>
          <a:xfrm>
            <a:off x="273103" y="4570780"/>
            <a:ext cx="7305708" cy="1434604"/>
          </a:xfrm>
          <a:prstGeom prst="rect">
            <a:avLst/>
          </a:prstGeom>
          <a:noFill/>
          <a:ln>
            <a:noFill/>
          </a:ln>
        </p:spPr>
        <p:txBody>
          <a:bodyPr lIns="91400" tIns="45700" rIns="91400" bIns="45700" anchor="ctr" anchorCtr="0">
            <a:noAutofit/>
          </a:bodyPr>
          <a:lstStyle/>
          <a:p>
            <a:pPr marL="0" marR="0" lvl="0" indent="0" rtl="0">
              <a:lnSpc>
                <a:spcPct val="111111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-US" sz="44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Wireless Sensor Network </a:t>
            </a:r>
            <a:r>
              <a:rPr lang="en-US" sz="4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Cross Layer Protocol Stack</a:t>
            </a:r>
            <a:endParaRPr lang="en-US" sz="4400" i="0" u="none" strike="noStrike" cap="none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Protocol Stack - Issues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A88E-A27D-4FF5-8340-7DEA020CB2FB}"/>
              </a:ext>
            </a:extLst>
          </p:cNvPr>
          <p:cNvSpPr txBox="1"/>
          <p:nvPr/>
        </p:nvSpPr>
        <p:spPr>
          <a:xfrm>
            <a:off x="263612" y="1588536"/>
            <a:ext cx="8155458" cy="4062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Dynamic environment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Power control - </a:t>
            </a:r>
            <a:r>
              <a:rPr lang="en-IN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Longetivity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Protocol place in the sensor node architecture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Protocol availability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883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Dynamic Environment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A88E-A27D-4FF5-8340-7DEA020CB2FB}"/>
              </a:ext>
            </a:extLst>
          </p:cNvPr>
          <p:cNvSpPr txBox="1"/>
          <p:nvPr/>
        </p:nvSpPr>
        <p:spPr>
          <a:xfrm>
            <a:off x="230660" y="1354098"/>
            <a:ext cx="8155458" cy="470895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Sensor nodes address a dynamic environment </a:t>
            </a:r>
          </a:p>
          <a:p>
            <a:pPr marL="914400" indent="-4524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Nodes have to reconfigure themselves –</a:t>
            </a:r>
          </a:p>
          <a:p>
            <a:pPr marL="914400" lvl="1" indent="-4524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to adapt to the changes.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resources are very limited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Network - adapts its functionality to a new situation -lower the use of the scarce energy &amp; memory - maintain the integrity of its operation</a:t>
            </a:r>
          </a:p>
        </p:txBody>
      </p:sp>
    </p:spTree>
    <p:extLst>
      <p:ext uri="{BB962C8B-B14F-4D97-AF65-F5344CB8AC3E}">
        <p14:creationId xmlns:p14="http://schemas.microsoft.com/office/powerpoint/2010/main" val="151253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Error Control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A88E-A27D-4FF5-8340-7DEA020CB2FB}"/>
              </a:ext>
            </a:extLst>
          </p:cNvPr>
          <p:cNvSpPr txBox="1"/>
          <p:nvPr/>
        </p:nvSpPr>
        <p:spPr>
          <a:xfrm>
            <a:off x="345990" y="1531782"/>
            <a:ext cx="8155458" cy="399580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Normally resides in all protocol layers – worst case scenarios are handled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WSN this redundancy- too expensive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Adopting a central view on how error control is performed and cross-layer design reduces the resources spent for error control</a:t>
            </a:r>
          </a:p>
        </p:txBody>
      </p:sp>
    </p:spTree>
    <p:extLst>
      <p:ext uri="{BB962C8B-B14F-4D97-AF65-F5344CB8AC3E}">
        <p14:creationId xmlns:p14="http://schemas.microsoft.com/office/powerpoint/2010/main" val="222888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Power Control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A88E-A27D-4FF5-8340-7DEA020CB2FB}"/>
              </a:ext>
            </a:extLst>
          </p:cNvPr>
          <p:cNvSpPr txBox="1"/>
          <p:nvPr/>
        </p:nvSpPr>
        <p:spPr>
          <a:xfrm>
            <a:off x="329515" y="2507602"/>
            <a:ext cx="8155458" cy="26492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Traditionally done only at the physical layer,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Energy consumption- is a major design constraint - found in all</a:t>
            </a:r>
          </a:p>
        </p:txBody>
      </p:sp>
    </p:spTree>
    <p:extLst>
      <p:ext uri="{BB962C8B-B14F-4D97-AF65-F5344CB8AC3E}">
        <p14:creationId xmlns:p14="http://schemas.microsoft.com/office/powerpoint/2010/main" val="1653682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Protocol Place</a:t>
            </a:r>
          </a:p>
        </p:txBody>
      </p:sp>
      <p:pic>
        <p:nvPicPr>
          <p:cNvPr id="4" name="Graphic 3" descr="Marker">
            <a:extLst>
              <a:ext uri="{FF2B5EF4-FFF2-40B4-BE49-F238E27FC236}">
                <a16:creationId xmlns:a16="http://schemas.microsoft.com/office/drawing/2014/main" id="{CEC6C158-C6DB-4FC4-A332-066EFFF23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9751" y="1793790"/>
            <a:ext cx="914400" cy="914400"/>
          </a:xfrm>
          <a:prstGeom prst="rect">
            <a:avLst/>
          </a:prstGeom>
        </p:spPr>
      </p:pic>
      <p:pic>
        <p:nvPicPr>
          <p:cNvPr id="6" name="Graphic 5" descr="Marker">
            <a:extLst>
              <a:ext uri="{FF2B5EF4-FFF2-40B4-BE49-F238E27FC236}">
                <a16:creationId xmlns:a16="http://schemas.microsoft.com/office/drawing/2014/main" id="{4C4B778C-1850-48A7-854A-5F5D7DE04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6414" y="4450493"/>
            <a:ext cx="914400" cy="914400"/>
          </a:xfrm>
          <a:prstGeom prst="rect">
            <a:avLst/>
          </a:prstGeom>
        </p:spPr>
      </p:pic>
      <p:pic>
        <p:nvPicPr>
          <p:cNvPr id="7" name="Graphic 6" descr="Marker">
            <a:extLst>
              <a:ext uri="{FF2B5EF4-FFF2-40B4-BE49-F238E27FC236}">
                <a16:creationId xmlns:a16="http://schemas.microsoft.com/office/drawing/2014/main" id="{785FF94C-B9C4-4E18-B8E9-F85180E27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0566" y="1336590"/>
            <a:ext cx="914400" cy="914400"/>
          </a:xfrm>
          <a:prstGeom prst="rect">
            <a:avLst/>
          </a:prstGeom>
        </p:spPr>
      </p:pic>
      <p:pic>
        <p:nvPicPr>
          <p:cNvPr id="8" name="Graphic 7" descr="Marker">
            <a:extLst>
              <a:ext uri="{FF2B5EF4-FFF2-40B4-BE49-F238E27FC236}">
                <a16:creationId xmlns:a16="http://schemas.microsoft.com/office/drawing/2014/main" id="{68BE0428-C671-443F-BA0D-7A7940AD1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4231" y="4075671"/>
            <a:ext cx="914400" cy="914400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023DECE5-7261-4EAE-8FDF-EBC39157B0B6}"/>
              </a:ext>
            </a:extLst>
          </p:cNvPr>
          <p:cNvSpPr txBox="1">
            <a:spLocks/>
          </p:cNvSpPr>
          <p:nvPr/>
        </p:nvSpPr>
        <p:spPr>
          <a:xfrm>
            <a:off x="562229" y="5660700"/>
            <a:ext cx="6526336" cy="8265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Habitat Monitoring</a:t>
            </a:r>
          </a:p>
        </p:txBody>
      </p:sp>
      <p:pic>
        <p:nvPicPr>
          <p:cNvPr id="10" name="Graphic 9" descr="Rabbit">
            <a:extLst>
              <a:ext uri="{FF2B5EF4-FFF2-40B4-BE49-F238E27FC236}">
                <a16:creationId xmlns:a16="http://schemas.microsoft.com/office/drawing/2014/main" id="{63707A44-09A0-4146-A609-1BD0D2F554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6414" y="3388190"/>
            <a:ext cx="914400" cy="914400"/>
          </a:xfrm>
          <a:prstGeom prst="rect">
            <a:avLst/>
          </a:prstGeom>
        </p:spPr>
      </p:pic>
      <p:pic>
        <p:nvPicPr>
          <p:cNvPr id="12" name="Graphic 11" descr="Marker">
            <a:extLst>
              <a:ext uri="{FF2B5EF4-FFF2-40B4-BE49-F238E27FC236}">
                <a16:creationId xmlns:a16="http://schemas.microsoft.com/office/drawing/2014/main" id="{AE6508CB-E17B-47A5-92C8-7A9511ED32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2292" y="4438133"/>
            <a:ext cx="914400" cy="914400"/>
          </a:xfrm>
          <a:prstGeom prst="rect">
            <a:avLst/>
          </a:prstGeom>
        </p:spPr>
      </p:pic>
      <p:pic>
        <p:nvPicPr>
          <p:cNvPr id="13" name="Graphic 12" descr="Map compass">
            <a:extLst>
              <a:ext uri="{FF2B5EF4-FFF2-40B4-BE49-F238E27FC236}">
                <a16:creationId xmlns:a16="http://schemas.microsoft.com/office/drawing/2014/main" id="{1DACD325-7BEB-4AEA-BFF9-F86590AB60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05016" y="3710395"/>
            <a:ext cx="914400" cy="914400"/>
          </a:xfrm>
          <a:prstGeom prst="rect">
            <a:avLst/>
          </a:prstGeom>
        </p:spPr>
      </p:pic>
      <p:pic>
        <p:nvPicPr>
          <p:cNvPr id="15" name="Graphic 14" descr="Watch">
            <a:extLst>
              <a:ext uri="{FF2B5EF4-FFF2-40B4-BE49-F238E27FC236}">
                <a16:creationId xmlns:a16="http://schemas.microsoft.com/office/drawing/2014/main" id="{7368698B-EBC8-4D2F-914C-5005E30F39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05016" y="474087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2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Protocol Place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A88E-A27D-4FF5-8340-7DEA020CB2FB}"/>
              </a:ext>
            </a:extLst>
          </p:cNvPr>
          <p:cNvSpPr txBox="1"/>
          <p:nvPr/>
        </p:nvSpPr>
        <p:spPr>
          <a:xfrm>
            <a:off x="395419" y="1301801"/>
            <a:ext cx="8155458" cy="528846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Time synchronization, localization, calibration.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Shift their place in the protocol stack - transient phase is over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Data produced by some of these algorithms might make a different protocol stack more suited for the sensor node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Localization algorithm for static sensor networks might enable a better routing algorithm</a:t>
            </a:r>
          </a:p>
        </p:txBody>
      </p:sp>
    </p:spTree>
    <p:extLst>
      <p:ext uri="{BB962C8B-B14F-4D97-AF65-F5344CB8AC3E}">
        <p14:creationId xmlns:p14="http://schemas.microsoft.com/office/powerpoint/2010/main" val="396656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Protocol Availability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A88E-A27D-4FF5-8340-7DEA020CB2FB}"/>
              </a:ext>
            </a:extLst>
          </p:cNvPr>
          <p:cNvSpPr txBox="1"/>
          <p:nvPr/>
        </p:nvSpPr>
        <p:spPr>
          <a:xfrm>
            <a:off x="500446" y="1536240"/>
            <a:ext cx="8155458" cy="464213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New protocols might become available after network deployment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In specific conditions- some of the sensor nodes might use a different protocol stack that better suits their goal &amp; the environment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Changing or Updating at run time parts of the software on the nodes is important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80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67A2D0-DF8D-4E46-8DA8-B08BDB0E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Cross Layer Protocol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F3EB89-FF0E-4D6E-8D9E-25FC1D437F6B}"/>
              </a:ext>
            </a:extLst>
          </p:cNvPr>
          <p:cNvSpPr/>
          <p:nvPr/>
        </p:nvSpPr>
        <p:spPr>
          <a:xfrm>
            <a:off x="196630" y="5115695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Physical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4E6DFC-313F-4CDF-BE1D-80061F258504}"/>
              </a:ext>
            </a:extLst>
          </p:cNvPr>
          <p:cNvSpPr/>
          <p:nvPr/>
        </p:nvSpPr>
        <p:spPr>
          <a:xfrm>
            <a:off x="196630" y="4353695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Data Link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F38DA-126E-4719-B607-CD101D7F01D7}"/>
              </a:ext>
            </a:extLst>
          </p:cNvPr>
          <p:cNvSpPr/>
          <p:nvPr/>
        </p:nvSpPr>
        <p:spPr>
          <a:xfrm>
            <a:off x="196630" y="3615376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Network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97099E-B66D-45A1-BB6F-A897B469FCE9}"/>
              </a:ext>
            </a:extLst>
          </p:cNvPr>
          <p:cNvSpPr/>
          <p:nvPr/>
        </p:nvSpPr>
        <p:spPr>
          <a:xfrm>
            <a:off x="196630" y="2877058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Transport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E95620-F784-47BB-9561-B3590B2C674B}"/>
              </a:ext>
            </a:extLst>
          </p:cNvPr>
          <p:cNvSpPr/>
          <p:nvPr/>
        </p:nvSpPr>
        <p:spPr>
          <a:xfrm>
            <a:off x="192508" y="2131533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Appln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B41F79-6E14-422B-AD36-3B4781A1FF5E}"/>
              </a:ext>
            </a:extLst>
          </p:cNvPr>
          <p:cNvSpPr/>
          <p:nvPr/>
        </p:nvSpPr>
        <p:spPr>
          <a:xfrm>
            <a:off x="5585254" y="2131533"/>
            <a:ext cx="2784389" cy="368437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Cross Layer</a:t>
            </a:r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CB94B753-DD83-46DC-AAC4-FA68CB4AEF77}"/>
              </a:ext>
            </a:extLst>
          </p:cNvPr>
          <p:cNvSpPr/>
          <p:nvPr/>
        </p:nvSpPr>
        <p:spPr>
          <a:xfrm>
            <a:off x="3921211" y="3451654"/>
            <a:ext cx="1556951" cy="650789"/>
          </a:xfrm>
          <a:prstGeom prst="striped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3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FB9101-62AE-4009-9200-09CF50FFECEC}"/>
              </a:ext>
            </a:extLst>
          </p:cNvPr>
          <p:cNvSpPr txBox="1">
            <a:spLocks/>
          </p:cNvSpPr>
          <p:nvPr/>
        </p:nvSpPr>
        <p:spPr>
          <a:xfrm>
            <a:off x="500446" y="400840"/>
            <a:ext cx="6526336" cy="8265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3D Protocol Stack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378722-FB78-4977-BB57-459A3981528D}"/>
              </a:ext>
            </a:extLst>
          </p:cNvPr>
          <p:cNvSpPr/>
          <p:nvPr/>
        </p:nvSpPr>
        <p:spPr>
          <a:xfrm>
            <a:off x="1225377" y="2780272"/>
            <a:ext cx="3581400" cy="762000"/>
          </a:xfrm>
          <a:prstGeom prst="rect">
            <a:avLst/>
          </a:prstGeom>
          <a:solidFill>
            <a:srgbClr val="CC9900">
              <a:lumMod val="20000"/>
              <a:lumOff val="80000"/>
            </a:srgbClr>
          </a:solidFill>
          <a:ln w="25400" cap="flat" cmpd="sng" algn="ctr">
            <a:solidFill>
              <a:srgbClr val="CC9900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Application Layer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D8D97F-AA6F-4D00-A1A5-21CFD4888252}"/>
              </a:ext>
            </a:extLst>
          </p:cNvPr>
          <p:cNvSpPr/>
          <p:nvPr/>
        </p:nvSpPr>
        <p:spPr>
          <a:xfrm>
            <a:off x="1225377" y="3542272"/>
            <a:ext cx="3581400" cy="762000"/>
          </a:xfrm>
          <a:prstGeom prst="rect">
            <a:avLst/>
          </a:prstGeom>
          <a:solidFill>
            <a:srgbClr val="CC9900">
              <a:lumMod val="20000"/>
              <a:lumOff val="80000"/>
            </a:srgbClr>
          </a:solidFill>
          <a:ln w="25400" cap="flat" cmpd="sng" algn="ctr">
            <a:solidFill>
              <a:srgbClr val="CC9900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Transport Layer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BB3CA1-21E0-4B14-A1D9-776B54603BF3}"/>
              </a:ext>
            </a:extLst>
          </p:cNvPr>
          <p:cNvSpPr/>
          <p:nvPr/>
        </p:nvSpPr>
        <p:spPr>
          <a:xfrm>
            <a:off x="1225377" y="4304272"/>
            <a:ext cx="3581400" cy="762000"/>
          </a:xfrm>
          <a:prstGeom prst="rect">
            <a:avLst/>
          </a:prstGeom>
          <a:solidFill>
            <a:srgbClr val="CC9900">
              <a:lumMod val="20000"/>
              <a:lumOff val="80000"/>
            </a:srgbClr>
          </a:solidFill>
          <a:ln w="25400" cap="flat" cmpd="sng" algn="ctr">
            <a:solidFill>
              <a:srgbClr val="CC9900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Network 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78D0B9-AB52-494A-AE28-958CE92DD212}"/>
              </a:ext>
            </a:extLst>
          </p:cNvPr>
          <p:cNvSpPr/>
          <p:nvPr/>
        </p:nvSpPr>
        <p:spPr>
          <a:xfrm>
            <a:off x="1225377" y="5066272"/>
            <a:ext cx="3581400" cy="762000"/>
          </a:xfrm>
          <a:prstGeom prst="rect">
            <a:avLst/>
          </a:prstGeom>
          <a:solidFill>
            <a:srgbClr val="CC9900">
              <a:lumMod val="20000"/>
              <a:lumOff val="80000"/>
            </a:srgbClr>
          </a:solidFill>
          <a:ln w="25400" cap="flat" cmpd="sng" algn="ctr">
            <a:solidFill>
              <a:srgbClr val="CC9900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Data Link 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F549FB-09E2-4DD2-85CB-D46A23AC5658}"/>
              </a:ext>
            </a:extLst>
          </p:cNvPr>
          <p:cNvSpPr/>
          <p:nvPr/>
        </p:nvSpPr>
        <p:spPr>
          <a:xfrm>
            <a:off x="1225377" y="5828272"/>
            <a:ext cx="3581400" cy="762000"/>
          </a:xfrm>
          <a:prstGeom prst="rect">
            <a:avLst/>
          </a:prstGeom>
          <a:solidFill>
            <a:srgbClr val="CC9900">
              <a:lumMod val="20000"/>
              <a:lumOff val="80000"/>
            </a:srgbClr>
          </a:solidFill>
          <a:ln w="25400" cap="flat" cmpd="sng" algn="ctr">
            <a:solidFill>
              <a:srgbClr val="CC9900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Physical Layer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4D892ACB-4942-4459-830D-CCADB37A2C24}"/>
              </a:ext>
            </a:extLst>
          </p:cNvPr>
          <p:cNvSpPr/>
          <p:nvPr/>
        </p:nvSpPr>
        <p:spPr>
          <a:xfrm>
            <a:off x="1225377" y="2323072"/>
            <a:ext cx="4267200" cy="457200"/>
          </a:xfrm>
          <a:prstGeom prst="parallelogram">
            <a:avLst>
              <a:gd name="adj" fmla="val 159505"/>
            </a:avLst>
          </a:prstGeom>
          <a:solidFill>
            <a:srgbClr val="CC9900">
              <a:lumMod val="20000"/>
              <a:lumOff val="80000"/>
            </a:srgbClr>
          </a:solidFill>
          <a:ln w="25400" cap="flat" cmpd="sng" algn="ctr">
            <a:solidFill>
              <a:srgbClr val="CC9900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C5DD01AC-C8D6-4EF6-9F82-E191C08EC1C2}"/>
              </a:ext>
            </a:extLst>
          </p:cNvPr>
          <p:cNvSpPr/>
          <p:nvPr/>
        </p:nvSpPr>
        <p:spPr>
          <a:xfrm>
            <a:off x="2673177" y="1408672"/>
            <a:ext cx="4267200" cy="457200"/>
          </a:xfrm>
          <a:prstGeom prst="parallelogram">
            <a:avLst>
              <a:gd name="adj" fmla="val 159505"/>
            </a:avLst>
          </a:prstGeom>
          <a:solidFill>
            <a:srgbClr val="CC9900">
              <a:lumMod val="20000"/>
              <a:lumOff val="80000"/>
            </a:srgbClr>
          </a:solidFill>
          <a:ln w="25400" cap="flat" cmpd="sng" algn="ctr">
            <a:solidFill>
              <a:srgbClr val="CC9900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B7AB86-5A78-45F9-A71F-2BBB6BEB1086}"/>
              </a:ext>
            </a:extLst>
          </p:cNvPr>
          <p:cNvCxnSpPr/>
          <p:nvPr/>
        </p:nvCxnSpPr>
        <p:spPr>
          <a:xfrm rot="5400000">
            <a:off x="3663777" y="4151872"/>
            <a:ext cx="3657600" cy="0"/>
          </a:xfrm>
          <a:prstGeom prst="line">
            <a:avLst/>
          </a:prstGeom>
          <a:noFill/>
          <a:ln w="25400" cap="flat" cmpd="sng" algn="ctr">
            <a:solidFill>
              <a:srgbClr val="CC9900">
                <a:lumMod val="50000"/>
              </a:srgbClr>
            </a:solidFill>
            <a:prstDash val="soli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C52193-D7A0-4A30-960C-4E42D172C030}"/>
              </a:ext>
            </a:extLst>
          </p:cNvPr>
          <p:cNvCxnSpPr/>
          <p:nvPr/>
        </p:nvCxnSpPr>
        <p:spPr>
          <a:xfrm rot="5400000">
            <a:off x="4501977" y="3618472"/>
            <a:ext cx="3505200" cy="0"/>
          </a:xfrm>
          <a:prstGeom prst="line">
            <a:avLst/>
          </a:prstGeom>
          <a:noFill/>
          <a:ln w="25400" cap="flat" cmpd="sng" algn="ctr">
            <a:solidFill>
              <a:srgbClr val="CC9900">
                <a:lumMod val="50000"/>
              </a:srgbClr>
            </a:solidFill>
            <a:prstDash val="soli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4D3A79-13C7-4C32-96F8-311FAA78C3EB}"/>
              </a:ext>
            </a:extLst>
          </p:cNvPr>
          <p:cNvCxnSpPr/>
          <p:nvPr/>
        </p:nvCxnSpPr>
        <p:spPr>
          <a:xfrm flipV="1">
            <a:off x="4806777" y="4837672"/>
            <a:ext cx="2133600" cy="1752600"/>
          </a:xfrm>
          <a:prstGeom prst="line">
            <a:avLst/>
          </a:prstGeom>
          <a:noFill/>
          <a:ln w="28575" cap="flat" cmpd="sng" algn="ctr">
            <a:solidFill>
              <a:srgbClr val="CC99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07E3F5-88AB-4EA5-AB23-6335642EB59E}"/>
              </a:ext>
            </a:extLst>
          </p:cNvPr>
          <p:cNvCxnSpPr/>
          <p:nvPr/>
        </p:nvCxnSpPr>
        <p:spPr>
          <a:xfrm rot="5400000">
            <a:off x="5225877" y="3123172"/>
            <a:ext cx="3429000" cy="0"/>
          </a:xfrm>
          <a:prstGeom prst="line">
            <a:avLst/>
          </a:prstGeom>
          <a:noFill/>
          <a:ln w="25400" cap="flat" cmpd="sng" algn="ctr">
            <a:solidFill>
              <a:srgbClr val="CC9900">
                <a:lumMod val="50000"/>
              </a:srgbClr>
            </a:solidFill>
            <a:prstDash val="solid"/>
          </a:ln>
          <a:effectLst/>
        </p:spPr>
      </p:cxn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E652B478-D828-4C69-BAF7-FB774EDCAD71}"/>
              </a:ext>
            </a:extLst>
          </p:cNvPr>
          <p:cNvSpPr/>
          <p:nvPr/>
        </p:nvSpPr>
        <p:spPr>
          <a:xfrm>
            <a:off x="1987377" y="1865872"/>
            <a:ext cx="4267200" cy="457200"/>
          </a:xfrm>
          <a:prstGeom prst="parallelogram">
            <a:avLst>
              <a:gd name="adj" fmla="val 159505"/>
            </a:avLst>
          </a:prstGeom>
          <a:solidFill>
            <a:srgbClr val="CC9900">
              <a:lumMod val="20000"/>
              <a:lumOff val="80000"/>
            </a:srgbClr>
          </a:solidFill>
          <a:ln w="25400" cap="flat" cmpd="sng" algn="ctr">
            <a:solidFill>
              <a:srgbClr val="CC9900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TextBox 46">
            <a:extLst>
              <a:ext uri="{FF2B5EF4-FFF2-40B4-BE49-F238E27FC236}">
                <a16:creationId xmlns:a16="http://schemas.microsoft.com/office/drawing/2014/main" id="{355792D1-9A00-415B-9303-88E2A1437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7777" y="3085072"/>
            <a:ext cx="762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o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w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7" name="TextBox 47">
            <a:extLst>
              <a:ext uri="{FF2B5EF4-FFF2-40B4-BE49-F238E27FC236}">
                <a16:creationId xmlns:a16="http://schemas.microsoft.com/office/drawing/2014/main" id="{276B9FD8-E321-4FDC-80F2-6B7162146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2977" y="2737410"/>
            <a:ext cx="9144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g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</a:t>
            </a:r>
          </a:p>
        </p:txBody>
      </p:sp>
      <p:sp>
        <p:nvSpPr>
          <p:cNvPr id="18" name="TextBox 48">
            <a:extLst>
              <a:ext uri="{FF2B5EF4-FFF2-40B4-BE49-F238E27FC236}">
                <a16:creationId xmlns:a16="http://schemas.microsoft.com/office/drawing/2014/main" id="{ECDC1EA8-9D18-47BA-B27F-C8D4A55E1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577" y="2551672"/>
            <a:ext cx="9144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g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</a:t>
            </a:r>
          </a:p>
        </p:txBody>
      </p:sp>
      <p:sp>
        <p:nvSpPr>
          <p:cNvPr id="19" name="TextBox 49">
            <a:extLst>
              <a:ext uri="{FF2B5EF4-FFF2-40B4-BE49-F238E27FC236}">
                <a16:creationId xmlns:a16="http://schemas.microsoft.com/office/drawing/2014/main" id="{B943F5DE-E25F-4124-9F5A-64E8D1CA6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377" y="2399272"/>
            <a:ext cx="9144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g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</a:t>
            </a:r>
          </a:p>
        </p:txBody>
      </p:sp>
      <p:sp>
        <p:nvSpPr>
          <p:cNvPr id="20" name="TextBox 50">
            <a:extLst>
              <a:ext uri="{FF2B5EF4-FFF2-40B4-BE49-F238E27FC236}">
                <a16:creationId xmlns:a16="http://schemas.microsoft.com/office/drawing/2014/main" id="{02D5AC98-E62D-4B77-B957-99DC93395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7377" y="2708835"/>
            <a:ext cx="99060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o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1" name="TextBox 51">
            <a:extLst>
              <a:ext uri="{FF2B5EF4-FFF2-40B4-BE49-F238E27FC236}">
                <a16:creationId xmlns:a16="http://schemas.microsoft.com/office/drawing/2014/main" id="{36B9A7C3-E77E-47F0-A772-0DBE6D881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9377" y="2646922"/>
            <a:ext cx="1143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351486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5438AB-8045-4B2F-8440-16848328CE54}"/>
              </a:ext>
            </a:extLst>
          </p:cNvPr>
          <p:cNvSpPr txBox="1">
            <a:spLocks/>
          </p:cNvSpPr>
          <p:nvPr/>
        </p:nvSpPr>
        <p:spPr>
          <a:xfrm>
            <a:off x="500446" y="400840"/>
            <a:ext cx="6526336" cy="8265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Protocol Placement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E9726AE9-BF7C-4C60-82D8-67A521C4E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257800"/>
            <a:ext cx="1143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0000"/>
                </a:solidFill>
                <a:latin typeface="Garamond" pitchFamily="18" charset="0"/>
              </a:rPr>
              <a:t>Physical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498F2559-FB34-42A2-AA05-3C927AD90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414838"/>
            <a:ext cx="1143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0000"/>
                </a:solidFill>
                <a:latin typeface="Garamond" pitchFamily="18" charset="0"/>
              </a:rPr>
              <a:t>Link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2F372AB-A484-471D-9728-7F7BD4344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7600"/>
            <a:ext cx="1600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0000"/>
                </a:solidFill>
                <a:latin typeface="Garamond" pitchFamily="18" charset="0"/>
              </a:rPr>
              <a:t>Network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57C3BC95-0E4F-430C-B132-878E89C53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895600"/>
            <a:ext cx="1600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0000"/>
                </a:solidFill>
                <a:latin typeface="Garamond" pitchFamily="18" charset="0"/>
              </a:rPr>
              <a:t>Transport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6971B074-E3FB-44C5-836C-4F48BED9B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76438"/>
            <a:ext cx="1600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0000"/>
                </a:solidFill>
                <a:latin typeface="Garamond" pitchFamily="18" charset="0"/>
              </a:rPr>
              <a:t>Appln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E2E509-EFDC-4A96-A655-031FE6C71621}"/>
              </a:ext>
            </a:extLst>
          </p:cNvPr>
          <p:cNvSpPr/>
          <p:nvPr/>
        </p:nvSpPr>
        <p:spPr>
          <a:xfrm>
            <a:off x="2286000" y="2819400"/>
            <a:ext cx="762000" cy="2895600"/>
          </a:xfrm>
          <a:prstGeom prst="ellipse">
            <a:avLst/>
          </a:prstGeom>
          <a:solidFill>
            <a:srgbClr val="FFCCFF"/>
          </a:solidFill>
          <a:ln w="25400" cap="flat" cmpd="sng" algn="ctr">
            <a:solidFill>
              <a:srgbClr val="660033"/>
            </a:solidFill>
            <a:prstDash val="solid"/>
          </a:ln>
          <a:effectLst/>
        </p:spPr>
        <p:txBody>
          <a:bodyPr vert="vert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Localization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D8E1FC7-A10D-4A3D-8D44-74D522C276C0}"/>
              </a:ext>
            </a:extLst>
          </p:cNvPr>
          <p:cNvSpPr/>
          <p:nvPr/>
        </p:nvSpPr>
        <p:spPr>
          <a:xfrm>
            <a:off x="3657600" y="1905000"/>
            <a:ext cx="1066800" cy="1905000"/>
          </a:xfrm>
          <a:prstGeom prst="ellipse">
            <a:avLst/>
          </a:prstGeom>
          <a:solidFill>
            <a:srgbClr val="006633">
              <a:lumMod val="20000"/>
              <a:lumOff val="80000"/>
            </a:srgbClr>
          </a:solidFill>
          <a:ln w="25400" cap="flat" cmpd="sng" algn="ctr">
            <a:solidFill>
              <a:srgbClr val="35742A">
                <a:lumMod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Aggregation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006118-CB47-471A-AE09-66248C947F07}"/>
              </a:ext>
            </a:extLst>
          </p:cNvPr>
          <p:cNvSpPr/>
          <p:nvPr/>
        </p:nvSpPr>
        <p:spPr>
          <a:xfrm>
            <a:off x="3048000" y="3581400"/>
            <a:ext cx="1066800" cy="1600200"/>
          </a:xfrm>
          <a:prstGeom prst="ellipse">
            <a:avLst/>
          </a:prstGeom>
          <a:solidFill>
            <a:srgbClr val="FFFFFF">
              <a:lumMod val="95000"/>
            </a:srgb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Routing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C1054C7-BAFA-4BCD-B2DF-08C7B1423E22}"/>
              </a:ext>
            </a:extLst>
          </p:cNvPr>
          <p:cNvSpPr/>
          <p:nvPr/>
        </p:nvSpPr>
        <p:spPr>
          <a:xfrm>
            <a:off x="4343400" y="3581400"/>
            <a:ext cx="1066800" cy="1600200"/>
          </a:xfrm>
          <a:prstGeom prst="ellipse">
            <a:avLst/>
          </a:prstGeom>
          <a:solidFill>
            <a:srgbClr val="FF66FF"/>
          </a:solidFill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Clustering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8F15900-5D29-4F8B-A713-25C0341D5785}"/>
              </a:ext>
            </a:extLst>
          </p:cNvPr>
          <p:cNvSpPr/>
          <p:nvPr/>
        </p:nvSpPr>
        <p:spPr>
          <a:xfrm>
            <a:off x="5410200" y="4038600"/>
            <a:ext cx="914400" cy="1600200"/>
          </a:xfrm>
          <a:prstGeom prst="ellipse">
            <a:avLst/>
          </a:prstGeom>
          <a:solidFill>
            <a:srgbClr val="E2CAAA">
              <a:lumMod val="75000"/>
            </a:srgbClr>
          </a:solidFill>
          <a:ln w="25400" cap="flat" cmpd="sng" algn="ctr">
            <a:solidFill>
              <a:srgbClr val="CC9900">
                <a:lumMod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Timing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C6DEC8A-E84F-4C62-9310-5BE27E27817B}"/>
              </a:ext>
            </a:extLst>
          </p:cNvPr>
          <p:cNvSpPr/>
          <p:nvPr/>
        </p:nvSpPr>
        <p:spPr>
          <a:xfrm>
            <a:off x="6477000" y="2133600"/>
            <a:ext cx="762000" cy="2895600"/>
          </a:xfrm>
          <a:prstGeom prst="ellipse">
            <a:avLst/>
          </a:prstGeom>
          <a:solidFill>
            <a:srgbClr val="99CCFF"/>
          </a:solidFill>
          <a:ln w="25400" cap="flat" cmpd="sng" algn="ctr">
            <a:solidFill>
              <a:srgbClr val="002060"/>
            </a:solidFill>
            <a:prstDash val="solid"/>
          </a:ln>
          <a:effectLst/>
        </p:spPr>
        <p:txBody>
          <a:bodyPr vert="vert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Addressing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145C12F-93B3-41A4-900F-9A96AC66FEEC}"/>
              </a:ext>
            </a:extLst>
          </p:cNvPr>
          <p:cNvSpPr/>
          <p:nvPr/>
        </p:nvSpPr>
        <p:spPr>
          <a:xfrm>
            <a:off x="7315200" y="2133600"/>
            <a:ext cx="762000" cy="2895600"/>
          </a:xfrm>
          <a:prstGeom prst="ellipse">
            <a:avLst/>
          </a:prstGeom>
          <a:solidFill>
            <a:srgbClr val="FFFF00"/>
          </a:solidFill>
          <a:ln w="25400" cap="flat" cmpd="sng" algn="ctr">
            <a:solidFill>
              <a:srgbClr val="660033"/>
            </a:solidFill>
            <a:prstDash val="solid"/>
          </a:ln>
          <a:effectLst/>
        </p:spPr>
        <p:txBody>
          <a:bodyPr vert="vert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64850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D843F6-AFFC-4B68-8071-A849F77682FB}"/>
              </a:ext>
            </a:extLst>
          </p:cNvPr>
          <p:cNvSpPr txBox="1">
            <a:spLocks/>
          </p:cNvSpPr>
          <p:nvPr/>
        </p:nvSpPr>
        <p:spPr>
          <a:xfrm>
            <a:off x="500446" y="400840"/>
            <a:ext cx="6526336" cy="8265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Node – Modes of Operation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0BF0B3-7131-487A-B408-F13DB2C4BA07}"/>
              </a:ext>
            </a:extLst>
          </p:cNvPr>
          <p:cNvSpPr txBox="1"/>
          <p:nvPr/>
        </p:nvSpPr>
        <p:spPr>
          <a:xfrm>
            <a:off x="352165" y="2110620"/>
            <a:ext cx="8155458" cy="212362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Initialization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Post – Deployment Operation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39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</TotalTime>
  <Words>337</Words>
  <Application>Microsoft Office PowerPoint</Application>
  <PresentationFormat>On-screen Show (4:3)</PresentationFormat>
  <Paragraphs>108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Garamond</vt:lpstr>
      <vt:lpstr>8_Blank</vt:lpstr>
      <vt:lpstr>Wireless Sensor Network  - Cross Layer Protocol Stack</vt:lpstr>
      <vt:lpstr>Protocol Stack - Issues</vt:lpstr>
      <vt:lpstr>Dynamic Environment</vt:lpstr>
      <vt:lpstr>Error Control</vt:lpstr>
      <vt:lpstr>Power Control</vt:lpstr>
      <vt:lpstr>Protocol Place</vt:lpstr>
      <vt:lpstr>Protocol Place</vt:lpstr>
      <vt:lpstr>Protocol Availability</vt:lpstr>
      <vt:lpstr>Cross Layer Protocol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Anupama KR</cp:lastModifiedBy>
  <cp:revision>49</cp:revision>
  <dcterms:modified xsi:type="dcterms:W3CDTF">2017-08-08T10:01:42Z</dcterms:modified>
</cp:coreProperties>
</file>