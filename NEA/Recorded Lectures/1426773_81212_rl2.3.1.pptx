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8"/>
  </p:notesMasterIdLst>
  <p:handoutMasterIdLst>
    <p:handoutMasterId r:id="rId9"/>
  </p:handoutMasterIdLst>
  <p:sldIdLst>
    <p:sldId id="256" r:id="rId2"/>
    <p:sldId id="287" r:id="rId3"/>
    <p:sldId id="288" r:id="rId4"/>
    <p:sldId id="289" r:id="rId5"/>
    <p:sldId id="290" r:id="rId6"/>
    <p:sldId id="291" r:id="rId7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9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10-08-2017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6125"/>
            <a:ext cx="4972050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1" name="Shape 241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Shape 189" descr="\\Server\D\jyoti\FI023_BITS_v1\styleguide img\IMG_5627_b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" y="17"/>
            <a:ext cx="9142380" cy="6882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Shape 190"/>
          <p:cNvSpPr/>
          <p:nvPr/>
        </p:nvSpPr>
        <p:spPr>
          <a:xfrm>
            <a:off x="0" y="4253985"/>
            <a:ext cx="9144000" cy="26281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lIns="93125" tIns="46550" rIns="93125" bIns="46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Shape 191" descr="Picture 7.png"/>
          <p:cNvPicPr preferRelativeResize="0"/>
          <p:nvPr/>
        </p:nvPicPr>
        <p:blipFill rotWithShape="1">
          <a:blip r:embed="rId3">
            <a:alphaModFix/>
          </a:blip>
          <a:srcRect l="1923" b="5335"/>
          <a:stretch/>
        </p:blipFill>
        <p:spPr>
          <a:xfrm>
            <a:off x="6764470" y="15"/>
            <a:ext cx="2237873" cy="7067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5" name="Shape 195"/>
          <p:cNvGrpSpPr/>
          <p:nvPr/>
        </p:nvGrpSpPr>
        <p:grpSpPr>
          <a:xfrm>
            <a:off x="6778635" y="691752"/>
            <a:ext cx="2254818" cy="699729"/>
            <a:chOff x="76200" y="2209800"/>
            <a:chExt cx="2209799" cy="685799"/>
          </a:xfrm>
        </p:grpSpPr>
        <p:sp>
          <p:nvSpPr>
            <p:cNvPr id="196" name="Shape 196"/>
            <p:cNvSpPr txBox="1"/>
            <p:nvPr/>
          </p:nvSpPr>
          <p:spPr>
            <a:xfrm>
              <a:off x="76200" y="2209800"/>
              <a:ext cx="2209799" cy="553997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3000" b="1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BITS</a:t>
              </a:r>
              <a:r>
                <a:rPr lang="en-US" sz="3000" b="0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Pilani</a:t>
              </a:r>
            </a:p>
          </p:txBody>
        </p:sp>
        <p:sp>
          <p:nvSpPr>
            <p:cNvPr id="197" name="Shape 197"/>
            <p:cNvSpPr txBox="1"/>
            <p:nvPr/>
          </p:nvSpPr>
          <p:spPr>
            <a:xfrm>
              <a:off x="228600" y="2664767"/>
              <a:ext cx="19049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9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Pilani | Dubai | Goa | Hyderabad</a:t>
              </a:r>
            </a:p>
          </p:txBody>
        </p:sp>
      </p:grpSp>
      <p:sp>
        <p:nvSpPr>
          <p:cNvPr id="198" name="Shape 198"/>
          <p:cNvSpPr txBox="1">
            <a:spLocks noGrp="1"/>
          </p:cNvSpPr>
          <p:nvPr>
            <p:ph type="ctrTitle"/>
          </p:nvPr>
        </p:nvSpPr>
        <p:spPr>
          <a:xfrm>
            <a:off x="320728" y="5237530"/>
            <a:ext cx="6199129" cy="10511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" y="6814184"/>
            <a:ext cx="9144000" cy="72389"/>
            <a:chOff x="1998227" y="6500996"/>
            <a:chExt cx="7153215" cy="46648"/>
          </a:xfrm>
        </p:grpSpPr>
        <p:sp>
          <p:nvSpPr>
            <p:cNvPr id="14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" name="Shape 198"/>
          <p:cNvSpPr txBox="1">
            <a:spLocks/>
          </p:cNvSpPr>
          <p:nvPr userDrawn="1"/>
        </p:nvSpPr>
        <p:spPr>
          <a:xfrm>
            <a:off x="320728" y="4374693"/>
            <a:ext cx="6199129" cy="85838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21505" y="260796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lvl="5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lvl="6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lvl="7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lvl="8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5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1" r:id="rId2"/>
    <p:sldLayoutId id="2147483669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 txBox="1">
            <a:spLocks noGrp="1"/>
          </p:cNvSpPr>
          <p:nvPr>
            <p:ph type="ctrTitle"/>
          </p:nvPr>
        </p:nvSpPr>
        <p:spPr>
          <a:xfrm>
            <a:off x="273103" y="4570780"/>
            <a:ext cx="7305708" cy="1434604"/>
          </a:xfrm>
          <a:prstGeom prst="rect">
            <a:avLst/>
          </a:prstGeom>
          <a:noFill/>
          <a:ln>
            <a:noFill/>
          </a:ln>
        </p:spPr>
        <p:txBody>
          <a:bodyPr lIns="91400" tIns="45700" rIns="91400" bIns="45700" anchor="ctr" anchorCtr="0">
            <a:noAutofit/>
          </a:bodyPr>
          <a:lstStyle/>
          <a:p>
            <a:pPr marL="0" marR="0" lvl="0" indent="0" rtl="0">
              <a:lnSpc>
                <a:spcPct val="111111"/>
              </a:lnSpc>
              <a:spcBef>
                <a:spcPts val="0"/>
              </a:spcBef>
              <a:buClr>
                <a:schemeClr val="lt1"/>
              </a:buClr>
              <a:buSzPct val="25000"/>
              <a:buFont typeface="Arial"/>
              <a:buNone/>
            </a:pPr>
            <a:r>
              <a:rPr lang="en-US" sz="440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Wireless Sensor Network </a:t>
            </a:r>
            <a:r>
              <a:rPr lang="en-US" sz="4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Protocol Stack</a:t>
            </a:r>
            <a:endParaRPr lang="en-US" sz="4400" i="0" u="none" strike="noStrike" cap="none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Protocol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C89747-8FF9-44BE-B6D0-5B12FFEDDCDB}"/>
              </a:ext>
            </a:extLst>
          </p:cNvPr>
          <p:cNvSpPr/>
          <p:nvPr/>
        </p:nvSpPr>
        <p:spPr>
          <a:xfrm>
            <a:off x="196630" y="5758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Physical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30FE92-9D4E-4371-B2C5-1636F5759AE8}"/>
              </a:ext>
            </a:extLst>
          </p:cNvPr>
          <p:cNvSpPr/>
          <p:nvPr/>
        </p:nvSpPr>
        <p:spPr>
          <a:xfrm>
            <a:off x="196630" y="4996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50BDE-206D-42B4-B3A6-A2625628542D}"/>
              </a:ext>
            </a:extLst>
          </p:cNvPr>
          <p:cNvSpPr/>
          <p:nvPr/>
        </p:nvSpPr>
        <p:spPr>
          <a:xfrm>
            <a:off x="196630" y="4257929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B071-8313-4B96-B031-DBDFD41F86FD}"/>
              </a:ext>
            </a:extLst>
          </p:cNvPr>
          <p:cNvSpPr/>
          <p:nvPr/>
        </p:nvSpPr>
        <p:spPr>
          <a:xfrm>
            <a:off x="196630" y="3519611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Transport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649B8-1649-4843-939B-2E0B011E640A}"/>
              </a:ext>
            </a:extLst>
          </p:cNvPr>
          <p:cNvSpPr/>
          <p:nvPr/>
        </p:nvSpPr>
        <p:spPr>
          <a:xfrm>
            <a:off x="192508" y="2774086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5AA88E-A27D-4FF5-8340-7DEA020CB2FB}"/>
              </a:ext>
            </a:extLst>
          </p:cNvPr>
          <p:cNvSpPr txBox="1"/>
          <p:nvPr/>
        </p:nvSpPr>
        <p:spPr>
          <a:xfrm>
            <a:off x="4028304" y="3223057"/>
            <a:ext cx="4950940" cy="276995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ISM – 2.4GHz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ZigBee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LoRa, UWB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Simple Modulation Technique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Energy Aware  - Short Range</a:t>
            </a:r>
          </a:p>
        </p:txBody>
      </p:sp>
    </p:spTree>
    <p:extLst>
      <p:ext uri="{BB962C8B-B14F-4D97-AF65-F5344CB8AC3E}">
        <p14:creationId xmlns:p14="http://schemas.microsoft.com/office/powerpoint/2010/main" val="71988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0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4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Protocol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C89747-8FF9-44BE-B6D0-5B12FFEDDCDB}"/>
              </a:ext>
            </a:extLst>
          </p:cNvPr>
          <p:cNvSpPr/>
          <p:nvPr/>
        </p:nvSpPr>
        <p:spPr>
          <a:xfrm>
            <a:off x="196630" y="5758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Physical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30FE92-9D4E-4371-B2C5-1636F5759AE8}"/>
              </a:ext>
            </a:extLst>
          </p:cNvPr>
          <p:cNvSpPr/>
          <p:nvPr/>
        </p:nvSpPr>
        <p:spPr>
          <a:xfrm>
            <a:off x="196630" y="4996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50BDE-206D-42B4-B3A6-A2625628542D}"/>
              </a:ext>
            </a:extLst>
          </p:cNvPr>
          <p:cNvSpPr/>
          <p:nvPr/>
        </p:nvSpPr>
        <p:spPr>
          <a:xfrm>
            <a:off x="196630" y="4257929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B071-8313-4B96-B031-DBDFD41F86FD}"/>
              </a:ext>
            </a:extLst>
          </p:cNvPr>
          <p:cNvSpPr/>
          <p:nvPr/>
        </p:nvSpPr>
        <p:spPr>
          <a:xfrm>
            <a:off x="196630" y="3519611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Transport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649B8-1649-4843-939B-2E0B011E640A}"/>
              </a:ext>
            </a:extLst>
          </p:cNvPr>
          <p:cNvSpPr/>
          <p:nvPr/>
        </p:nvSpPr>
        <p:spPr>
          <a:xfrm>
            <a:off x="192508" y="2774086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5AA88E-A27D-4FF5-8340-7DEA020CB2FB}"/>
              </a:ext>
            </a:extLst>
          </p:cNvPr>
          <p:cNvSpPr txBox="1"/>
          <p:nvPr/>
        </p:nvSpPr>
        <p:spPr>
          <a:xfrm>
            <a:off x="4036542" y="2774086"/>
            <a:ext cx="4950940" cy="3631733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Energy Aware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Collisions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Idle Listening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Overhearing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Sleep state</a:t>
            </a:r>
          </a:p>
          <a:p>
            <a:pPr marL="1376363" lvl="1" indent="-461963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Over- emitting</a:t>
            </a:r>
          </a:p>
          <a:p>
            <a:pPr marL="403225" lvl="1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Multi Channel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8458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0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  <p:bldP spid="13" grpId="1" animBg="1"/>
      <p:bldP spid="14" grpId="1" animBg="1"/>
      <p:bldP spid="15" grpId="1" animBg="1"/>
      <p:bldP spid="16" grpId="1" animBg="1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Protocol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C89747-8FF9-44BE-B6D0-5B12FFEDDCDB}"/>
              </a:ext>
            </a:extLst>
          </p:cNvPr>
          <p:cNvSpPr/>
          <p:nvPr/>
        </p:nvSpPr>
        <p:spPr>
          <a:xfrm>
            <a:off x="196630" y="5758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Physical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30FE92-9D4E-4371-B2C5-1636F5759AE8}"/>
              </a:ext>
            </a:extLst>
          </p:cNvPr>
          <p:cNvSpPr/>
          <p:nvPr/>
        </p:nvSpPr>
        <p:spPr>
          <a:xfrm>
            <a:off x="196630" y="4996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50BDE-206D-42B4-B3A6-A2625628542D}"/>
              </a:ext>
            </a:extLst>
          </p:cNvPr>
          <p:cNvSpPr/>
          <p:nvPr/>
        </p:nvSpPr>
        <p:spPr>
          <a:xfrm>
            <a:off x="196630" y="4257929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B071-8313-4B96-B031-DBDFD41F86FD}"/>
              </a:ext>
            </a:extLst>
          </p:cNvPr>
          <p:cNvSpPr/>
          <p:nvPr/>
        </p:nvSpPr>
        <p:spPr>
          <a:xfrm>
            <a:off x="196630" y="3519611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Transport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649B8-1649-4843-939B-2E0B011E640A}"/>
              </a:ext>
            </a:extLst>
          </p:cNvPr>
          <p:cNvSpPr/>
          <p:nvPr/>
        </p:nvSpPr>
        <p:spPr>
          <a:xfrm>
            <a:off x="192508" y="2774086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5AA88E-A27D-4FF5-8340-7DEA020CB2FB}"/>
              </a:ext>
            </a:extLst>
          </p:cNvPr>
          <p:cNvSpPr txBox="1"/>
          <p:nvPr/>
        </p:nvSpPr>
        <p:spPr>
          <a:xfrm>
            <a:off x="4036542" y="4066747"/>
            <a:ext cx="4950940" cy="233907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Centric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Energy Aware</a:t>
            </a:r>
          </a:p>
          <a:p>
            <a:pPr marL="914400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Aggregation</a:t>
            </a:r>
          </a:p>
          <a:p>
            <a:pPr marL="403225" lvl="1" indent="-403225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Query- Response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Star: 5 Points 1">
            <a:extLst>
              <a:ext uri="{FF2B5EF4-FFF2-40B4-BE49-F238E27FC236}">
                <a16:creationId xmlns:a16="http://schemas.microsoft.com/office/drawing/2014/main" id="{2A2C7D62-C3C6-486A-B178-8379E7BC719A}"/>
              </a:ext>
            </a:extLst>
          </p:cNvPr>
          <p:cNvSpPr/>
          <p:nvPr/>
        </p:nvSpPr>
        <p:spPr>
          <a:xfrm>
            <a:off x="2965622" y="4377377"/>
            <a:ext cx="436606" cy="461319"/>
          </a:xfrm>
          <a:prstGeom prst="star5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16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3" grpId="0" animBg="1"/>
      <p:bldP spid="14" grpId="0" animBg="1"/>
      <p:bldP spid="15" grpId="0" animBg="1"/>
      <p:bldP spid="16" grpId="0" animBg="1"/>
      <p:bldP spid="17" grpId="0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Protocol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C89747-8FF9-44BE-B6D0-5B12FFEDDCDB}"/>
              </a:ext>
            </a:extLst>
          </p:cNvPr>
          <p:cNvSpPr/>
          <p:nvPr/>
        </p:nvSpPr>
        <p:spPr>
          <a:xfrm>
            <a:off x="196630" y="5758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Physical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30FE92-9D4E-4371-B2C5-1636F5759AE8}"/>
              </a:ext>
            </a:extLst>
          </p:cNvPr>
          <p:cNvSpPr/>
          <p:nvPr/>
        </p:nvSpPr>
        <p:spPr>
          <a:xfrm>
            <a:off x="196630" y="4996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50BDE-206D-42B4-B3A6-A2625628542D}"/>
              </a:ext>
            </a:extLst>
          </p:cNvPr>
          <p:cNvSpPr/>
          <p:nvPr/>
        </p:nvSpPr>
        <p:spPr>
          <a:xfrm>
            <a:off x="196630" y="4257929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B071-8313-4B96-B031-DBDFD41F86FD}"/>
              </a:ext>
            </a:extLst>
          </p:cNvPr>
          <p:cNvSpPr/>
          <p:nvPr/>
        </p:nvSpPr>
        <p:spPr>
          <a:xfrm>
            <a:off x="196630" y="3519611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Transport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649B8-1649-4843-939B-2E0B011E640A}"/>
              </a:ext>
            </a:extLst>
          </p:cNvPr>
          <p:cNvSpPr/>
          <p:nvPr/>
        </p:nvSpPr>
        <p:spPr>
          <a:xfrm>
            <a:off x="192508" y="2774086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5AA88E-A27D-4FF5-8340-7DEA020CB2FB}"/>
              </a:ext>
            </a:extLst>
          </p:cNvPr>
          <p:cNvSpPr txBox="1"/>
          <p:nvPr/>
        </p:nvSpPr>
        <p:spPr>
          <a:xfrm>
            <a:off x="4020066" y="3704282"/>
            <a:ext cx="4950940" cy="233907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Appears only when WSN connects to standard infrastructure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Nodes – Gateway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Gateway needs Transport</a:t>
            </a:r>
          </a:p>
        </p:txBody>
      </p:sp>
    </p:spTree>
    <p:extLst>
      <p:ext uri="{BB962C8B-B14F-4D97-AF65-F5344CB8AC3E}">
        <p14:creationId xmlns:p14="http://schemas.microsoft.com/office/powerpoint/2010/main" val="352294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3" grpId="0" animBg="1"/>
      <p:bldP spid="14" grpId="0" animBg="1"/>
      <p:bldP spid="15" grpId="0" animBg="1"/>
      <p:bldP spid="16" grpId="0" animBg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Protocol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C89747-8FF9-44BE-B6D0-5B12FFEDDCDB}"/>
              </a:ext>
            </a:extLst>
          </p:cNvPr>
          <p:cNvSpPr/>
          <p:nvPr/>
        </p:nvSpPr>
        <p:spPr>
          <a:xfrm>
            <a:off x="196630" y="5758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Physical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30FE92-9D4E-4371-B2C5-1636F5759AE8}"/>
              </a:ext>
            </a:extLst>
          </p:cNvPr>
          <p:cNvSpPr/>
          <p:nvPr/>
        </p:nvSpPr>
        <p:spPr>
          <a:xfrm>
            <a:off x="196630" y="4996248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Data 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50BDE-206D-42B4-B3A6-A2625628542D}"/>
              </a:ext>
            </a:extLst>
          </p:cNvPr>
          <p:cNvSpPr/>
          <p:nvPr/>
        </p:nvSpPr>
        <p:spPr>
          <a:xfrm>
            <a:off x="196630" y="4257929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B071-8313-4B96-B031-DBDFD41F86FD}"/>
              </a:ext>
            </a:extLst>
          </p:cNvPr>
          <p:cNvSpPr/>
          <p:nvPr/>
        </p:nvSpPr>
        <p:spPr>
          <a:xfrm>
            <a:off x="196630" y="3519611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Transport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649B8-1649-4843-939B-2E0B011E640A}"/>
              </a:ext>
            </a:extLst>
          </p:cNvPr>
          <p:cNvSpPr/>
          <p:nvPr/>
        </p:nvSpPr>
        <p:spPr>
          <a:xfrm>
            <a:off x="192508" y="2774086"/>
            <a:ext cx="3566984" cy="700217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5AA88E-A27D-4FF5-8340-7DEA020CB2FB}"/>
              </a:ext>
            </a:extLst>
          </p:cNvPr>
          <p:cNvSpPr txBox="1"/>
          <p:nvPr/>
        </p:nvSpPr>
        <p:spPr>
          <a:xfrm>
            <a:off x="3995352" y="2580511"/>
            <a:ext cx="4950940" cy="3877954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One single application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Whole protocol stack designed for a special </a:t>
            </a:r>
            <a:r>
              <a:rPr lang="en-I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appln</a:t>
            </a: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Whole network is seen as an instrument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Application layer  distributed along the whole protocol stack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Not  appear explicitly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Explicit application </a:t>
            </a:r>
          </a:p>
          <a:p>
            <a:pPr marL="914400" indent="-452438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Sensor management</a:t>
            </a:r>
          </a:p>
          <a:p>
            <a:pPr marL="914400" indent="-452438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Task management </a:t>
            </a:r>
          </a:p>
          <a:p>
            <a:pPr marL="914400" indent="-452438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Data advertisement</a:t>
            </a:r>
          </a:p>
          <a:p>
            <a:pPr marL="914400" indent="-452438">
              <a:buFont typeface="Arial" panose="020B0604020202020204" pitchFamily="34" charset="0"/>
              <a:buChar char="•"/>
            </a:pPr>
            <a:r>
              <a:rPr lang="en-IN" sz="2000" dirty="0">
                <a:latin typeface="Calibri" panose="020F0502020204030204" pitchFamily="34" charset="0"/>
                <a:cs typeface="Calibri" panose="020F0502020204030204" pitchFamily="34" charset="0"/>
              </a:rPr>
              <a:t>sensor query &amp; data extraction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841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3" grpId="0" animBg="1"/>
      <p:bldP spid="14" grpId="0" animBg="1"/>
      <p:bldP spid="15" grpId="0" animBg="1"/>
      <p:bldP spid="16" grpId="0" animBg="1"/>
      <p:bldP spid="17" grpId="0"/>
    </p:bld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631</TotalTime>
  <Words>138</Words>
  <Application>Microsoft Office PowerPoint</Application>
  <PresentationFormat>On-screen Show (4:3)</PresentationFormat>
  <Paragraphs>61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8_Blank</vt:lpstr>
      <vt:lpstr>Wireless Sensor Network  - Protocol Stack</vt:lpstr>
      <vt:lpstr>Protocol Stack</vt:lpstr>
      <vt:lpstr>Protocol Stack</vt:lpstr>
      <vt:lpstr>Protocol Stack</vt:lpstr>
      <vt:lpstr>Protocol Stack</vt:lpstr>
      <vt:lpstr>Protocol Stack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Anupama KR</cp:lastModifiedBy>
  <cp:revision>45</cp:revision>
  <dcterms:modified xsi:type="dcterms:W3CDTF">2017-08-10T11:07:18Z</dcterms:modified>
</cp:coreProperties>
</file>