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8" r:id="rId1"/>
  </p:sldMasterIdLst>
  <p:notesMasterIdLst>
    <p:notesMasterId r:id="rId7"/>
  </p:notesMasterIdLst>
  <p:handoutMasterIdLst>
    <p:handoutMasterId r:id="rId8"/>
  </p:handoutMasterIdLst>
  <p:sldIdLst>
    <p:sldId id="287" r:id="rId2"/>
    <p:sldId id="288" r:id="rId3"/>
    <p:sldId id="289" r:id="rId4"/>
    <p:sldId id="290" r:id="rId5"/>
    <p:sldId id="291" r:id="rId6"/>
  </p:sldIdLst>
  <p:sldSz cx="9144000" cy="6858000" type="screen4x3"/>
  <p:notesSz cx="6805613" cy="99441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F77E56C-7D47-4C29-AAEB-9FD71A0A3F1F}">
  <a:tblStyle styleId="{8F77E56C-7D47-4C29-AAEB-9FD71A0A3F1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</a:tblStyle>
  <a:tblStyle styleId="{1562F7F7-E2AF-42E1-A3D0-5D2B67903BC4}" styleName="Table_1"/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7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97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E9B4E-3786-43E4-ADC0-DE2945E09898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9563C-2CF4-4AF1-9C09-67033D314C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318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54939" y="0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6125"/>
            <a:ext cx="4972049" cy="37290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0562" y="4723448"/>
            <a:ext cx="5444489" cy="447484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9445168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54939" y="9445168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 txBox="1">
            <a:spLocks noGrp="1"/>
          </p:cNvSpPr>
          <p:nvPr>
            <p:ph type="title"/>
          </p:nvPr>
        </p:nvSpPr>
        <p:spPr>
          <a:xfrm>
            <a:off x="121505" y="260796"/>
            <a:ext cx="6526336" cy="59665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lvl="5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lvl="6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lvl="7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lvl="8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bg>
      <p:bgPr>
        <a:blipFill rotWithShape="1"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2514603" y="3810003"/>
            <a:ext cx="6019799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l" rtl="0">
              <a:lnSpc>
                <a:spcPct val="90909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3042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/>
          <p:nvPr/>
        </p:nvSpPr>
        <p:spPr>
          <a:xfrm>
            <a:off x="8246615" y="37254"/>
            <a:ext cx="670613" cy="124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Shape 162"/>
          <p:cNvSpPr txBox="1">
            <a:spLocks noGrp="1"/>
          </p:cNvSpPr>
          <p:nvPr>
            <p:ph type="body" idx="1"/>
          </p:nvPr>
        </p:nvSpPr>
        <p:spPr>
          <a:xfrm>
            <a:off x="159604" y="1152465"/>
            <a:ext cx="8833823" cy="501020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197272" marR="0" lvl="1" indent="-7027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▪"/>
              <a:defRPr/>
            </a:lvl2pPr>
            <a:lvl3pPr marL="465681" marR="0" lvl="2" indent="-15326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–"/>
              <a:defRPr/>
            </a:lvl3pPr>
            <a:lvl4pPr marL="625773" marR="0" lvl="3" indent="-46653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▫"/>
              <a:defRPr/>
            </a:lvl4pPr>
            <a:lvl5pPr marL="763733" marR="0" lvl="4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5pPr>
            <a:lvl6pPr marL="763733" marR="0" lvl="5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6pPr>
            <a:lvl7pPr marL="763733" marR="0" lvl="6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7pPr>
            <a:lvl8pPr marL="763733" marR="0" lvl="7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8pPr>
            <a:lvl9pPr marL="763733" marR="0" lvl="8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9pPr>
          </a:lstStyle>
          <a:p>
            <a:endParaRPr dirty="0"/>
          </a:p>
        </p:txBody>
      </p:sp>
      <p:sp>
        <p:nvSpPr>
          <p:cNvPr id="163" name="Shape 163"/>
          <p:cNvSpPr txBox="1">
            <a:spLocks noGrp="1"/>
          </p:cNvSpPr>
          <p:nvPr>
            <p:ph type="title"/>
          </p:nvPr>
        </p:nvSpPr>
        <p:spPr>
          <a:xfrm>
            <a:off x="159604" y="151603"/>
            <a:ext cx="6526336" cy="59665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1" y="6785609"/>
            <a:ext cx="9144000" cy="72389"/>
            <a:chOff x="1998227" y="6500996"/>
            <a:chExt cx="7153215" cy="46648"/>
          </a:xfrm>
        </p:grpSpPr>
        <p:sp>
          <p:nvSpPr>
            <p:cNvPr id="170" name="Shape 170"/>
            <p:cNvSpPr/>
            <p:nvPr/>
          </p:nvSpPr>
          <p:spPr>
            <a:xfrm>
              <a:off x="4408551" y="6500996"/>
              <a:ext cx="2376028" cy="4664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Shape 171"/>
            <p:cNvSpPr/>
            <p:nvPr/>
          </p:nvSpPr>
          <p:spPr>
            <a:xfrm>
              <a:off x="1998227" y="6500996"/>
              <a:ext cx="2410322" cy="4664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Shape 172"/>
            <p:cNvSpPr/>
            <p:nvPr/>
          </p:nvSpPr>
          <p:spPr>
            <a:xfrm>
              <a:off x="6775414" y="6500996"/>
              <a:ext cx="2376028" cy="4664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" name="Shape 18" descr="BITS_university_logo_whitevert.png"/>
          <p:cNvPicPr preferRelativeResize="0"/>
          <p:nvPr userDrawn="1"/>
        </p:nvPicPr>
        <p:blipFill rotWithShape="1">
          <a:blip r:embed="rId4">
            <a:alphaModFix/>
          </a:blip>
          <a:srcRect t="2" b="28592"/>
          <a:stretch/>
        </p:blipFill>
        <p:spPr>
          <a:xfrm>
            <a:off x="8138322" y="23045"/>
            <a:ext cx="939004" cy="90367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Shape 184"/>
          <p:cNvSpPr txBox="1"/>
          <p:nvPr userDrawn="1"/>
        </p:nvSpPr>
        <p:spPr>
          <a:xfrm>
            <a:off x="8095553" y="841751"/>
            <a:ext cx="1024542" cy="26429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12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Protocol Stack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C89747-8FF9-44BE-B6D0-5B12FFEDDCDB}"/>
              </a:ext>
            </a:extLst>
          </p:cNvPr>
          <p:cNvSpPr/>
          <p:nvPr/>
        </p:nvSpPr>
        <p:spPr>
          <a:xfrm>
            <a:off x="196630" y="5758248"/>
            <a:ext cx="3566984" cy="70021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Physical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30FE92-9D4E-4371-B2C5-1636F5759AE8}"/>
              </a:ext>
            </a:extLst>
          </p:cNvPr>
          <p:cNvSpPr/>
          <p:nvPr/>
        </p:nvSpPr>
        <p:spPr>
          <a:xfrm>
            <a:off x="196630" y="4996248"/>
            <a:ext cx="3566984" cy="70021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Data Link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850BDE-206D-42B4-B3A6-A2625628542D}"/>
              </a:ext>
            </a:extLst>
          </p:cNvPr>
          <p:cNvSpPr/>
          <p:nvPr/>
        </p:nvSpPr>
        <p:spPr>
          <a:xfrm>
            <a:off x="196630" y="4257929"/>
            <a:ext cx="3566984" cy="70021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Network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45B071-8313-4B96-B031-DBDFD41F86FD}"/>
              </a:ext>
            </a:extLst>
          </p:cNvPr>
          <p:cNvSpPr/>
          <p:nvPr/>
        </p:nvSpPr>
        <p:spPr>
          <a:xfrm>
            <a:off x="196630" y="3519611"/>
            <a:ext cx="3566984" cy="70021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Transport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C649B8-1649-4843-939B-2E0B011E640A}"/>
              </a:ext>
            </a:extLst>
          </p:cNvPr>
          <p:cNvSpPr/>
          <p:nvPr/>
        </p:nvSpPr>
        <p:spPr>
          <a:xfrm>
            <a:off x="192508" y="2774086"/>
            <a:ext cx="3566984" cy="70021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Appln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5AA88E-A27D-4FF5-8340-7DEA020CB2FB}"/>
              </a:ext>
            </a:extLst>
          </p:cNvPr>
          <p:cNvSpPr txBox="1"/>
          <p:nvPr/>
        </p:nvSpPr>
        <p:spPr>
          <a:xfrm>
            <a:off x="4028304" y="3223057"/>
            <a:ext cx="4950940" cy="276995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ISM – 2.4GHz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ZigBee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LoRa, UWB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Simple Modulation Technique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Energy Aware  - Short Range</a:t>
            </a:r>
          </a:p>
        </p:txBody>
      </p:sp>
    </p:spTree>
    <p:extLst>
      <p:ext uri="{BB962C8B-B14F-4D97-AF65-F5344CB8AC3E}">
        <p14:creationId xmlns:p14="http://schemas.microsoft.com/office/powerpoint/2010/main" val="719883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0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3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3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3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4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Protocol Stack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C89747-8FF9-44BE-B6D0-5B12FFEDDCDB}"/>
              </a:ext>
            </a:extLst>
          </p:cNvPr>
          <p:cNvSpPr/>
          <p:nvPr/>
        </p:nvSpPr>
        <p:spPr>
          <a:xfrm>
            <a:off x="196630" y="5758248"/>
            <a:ext cx="3566984" cy="70021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Physical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30FE92-9D4E-4371-B2C5-1636F5759AE8}"/>
              </a:ext>
            </a:extLst>
          </p:cNvPr>
          <p:cNvSpPr/>
          <p:nvPr/>
        </p:nvSpPr>
        <p:spPr>
          <a:xfrm>
            <a:off x="196630" y="4996248"/>
            <a:ext cx="3566984" cy="70021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Data Link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850BDE-206D-42B4-B3A6-A2625628542D}"/>
              </a:ext>
            </a:extLst>
          </p:cNvPr>
          <p:cNvSpPr/>
          <p:nvPr/>
        </p:nvSpPr>
        <p:spPr>
          <a:xfrm>
            <a:off x="196630" y="4257929"/>
            <a:ext cx="3566984" cy="70021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Network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45B071-8313-4B96-B031-DBDFD41F86FD}"/>
              </a:ext>
            </a:extLst>
          </p:cNvPr>
          <p:cNvSpPr/>
          <p:nvPr/>
        </p:nvSpPr>
        <p:spPr>
          <a:xfrm>
            <a:off x="196630" y="3519611"/>
            <a:ext cx="3566984" cy="70021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Transport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C649B8-1649-4843-939B-2E0B011E640A}"/>
              </a:ext>
            </a:extLst>
          </p:cNvPr>
          <p:cNvSpPr/>
          <p:nvPr/>
        </p:nvSpPr>
        <p:spPr>
          <a:xfrm>
            <a:off x="192508" y="2774086"/>
            <a:ext cx="3566984" cy="70021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Appln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5AA88E-A27D-4FF5-8340-7DEA020CB2FB}"/>
              </a:ext>
            </a:extLst>
          </p:cNvPr>
          <p:cNvSpPr txBox="1"/>
          <p:nvPr/>
        </p:nvSpPr>
        <p:spPr>
          <a:xfrm>
            <a:off x="4036542" y="2774086"/>
            <a:ext cx="4950940" cy="363173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Energy Aware</a:t>
            </a:r>
          </a:p>
          <a:p>
            <a:pPr marL="914400" indent="-403225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Collisions</a:t>
            </a:r>
          </a:p>
          <a:p>
            <a:pPr marL="914400" indent="-403225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Idle Listening</a:t>
            </a:r>
          </a:p>
          <a:p>
            <a:pPr marL="914400" indent="-403225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Overhearing</a:t>
            </a:r>
          </a:p>
          <a:p>
            <a:pPr marL="914400" indent="-403225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Sleep state</a:t>
            </a:r>
          </a:p>
          <a:p>
            <a:pPr marL="1376363" lvl="1" indent="-461963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Over- emitting</a:t>
            </a:r>
          </a:p>
          <a:p>
            <a:pPr marL="403225" lvl="1" indent="-403225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Multi Channel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458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4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animBg="1"/>
      <p:bldP spid="13" grpId="1" animBg="1"/>
      <p:bldP spid="14" grpId="1" animBg="1"/>
      <p:bldP spid="15" grpId="1" animBg="1"/>
      <p:bldP spid="16" grpId="1" animBg="1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Protocol Stack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C89747-8FF9-44BE-B6D0-5B12FFEDDCDB}"/>
              </a:ext>
            </a:extLst>
          </p:cNvPr>
          <p:cNvSpPr/>
          <p:nvPr/>
        </p:nvSpPr>
        <p:spPr>
          <a:xfrm>
            <a:off x="196630" y="5758248"/>
            <a:ext cx="3566984" cy="70021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Physical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30FE92-9D4E-4371-B2C5-1636F5759AE8}"/>
              </a:ext>
            </a:extLst>
          </p:cNvPr>
          <p:cNvSpPr/>
          <p:nvPr/>
        </p:nvSpPr>
        <p:spPr>
          <a:xfrm>
            <a:off x="196630" y="4996248"/>
            <a:ext cx="3566984" cy="70021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Data Link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850BDE-206D-42B4-B3A6-A2625628542D}"/>
              </a:ext>
            </a:extLst>
          </p:cNvPr>
          <p:cNvSpPr/>
          <p:nvPr/>
        </p:nvSpPr>
        <p:spPr>
          <a:xfrm>
            <a:off x="196630" y="4257929"/>
            <a:ext cx="3566984" cy="70021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Network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45B071-8313-4B96-B031-DBDFD41F86FD}"/>
              </a:ext>
            </a:extLst>
          </p:cNvPr>
          <p:cNvSpPr/>
          <p:nvPr/>
        </p:nvSpPr>
        <p:spPr>
          <a:xfrm>
            <a:off x="196630" y="3519611"/>
            <a:ext cx="3566984" cy="70021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Transport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C649B8-1649-4843-939B-2E0B011E640A}"/>
              </a:ext>
            </a:extLst>
          </p:cNvPr>
          <p:cNvSpPr/>
          <p:nvPr/>
        </p:nvSpPr>
        <p:spPr>
          <a:xfrm>
            <a:off x="192508" y="2774086"/>
            <a:ext cx="3566984" cy="70021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Appln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5AA88E-A27D-4FF5-8340-7DEA020CB2FB}"/>
              </a:ext>
            </a:extLst>
          </p:cNvPr>
          <p:cNvSpPr txBox="1"/>
          <p:nvPr/>
        </p:nvSpPr>
        <p:spPr>
          <a:xfrm>
            <a:off x="4036542" y="4066747"/>
            <a:ext cx="4950940" cy="233907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Data Centric</a:t>
            </a:r>
          </a:p>
          <a:p>
            <a:pPr marL="914400" indent="-403225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Energy Aware</a:t>
            </a:r>
          </a:p>
          <a:p>
            <a:pPr marL="914400" indent="-403225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Data Aggregation</a:t>
            </a:r>
          </a:p>
          <a:p>
            <a:pPr marL="403225" lvl="1" indent="-403225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Query- Response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tar: 5 Points 1">
            <a:extLst>
              <a:ext uri="{FF2B5EF4-FFF2-40B4-BE49-F238E27FC236}">
                <a16:creationId xmlns:a16="http://schemas.microsoft.com/office/drawing/2014/main" id="{2A2C7D62-C3C6-486A-B178-8379E7BC719A}"/>
              </a:ext>
            </a:extLst>
          </p:cNvPr>
          <p:cNvSpPr/>
          <p:nvPr/>
        </p:nvSpPr>
        <p:spPr>
          <a:xfrm>
            <a:off x="2965622" y="4377377"/>
            <a:ext cx="436606" cy="461319"/>
          </a:xfrm>
          <a:prstGeom prst="star5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816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0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30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0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 animBg="1"/>
      <p:bldP spid="14" grpId="0" animBg="1"/>
      <p:bldP spid="15" grpId="0" animBg="1"/>
      <p:bldP spid="16" grpId="0" animBg="1"/>
      <p:bldP spid="17" grpId="0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Protocol Stack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C89747-8FF9-44BE-B6D0-5B12FFEDDCDB}"/>
              </a:ext>
            </a:extLst>
          </p:cNvPr>
          <p:cNvSpPr/>
          <p:nvPr/>
        </p:nvSpPr>
        <p:spPr>
          <a:xfrm>
            <a:off x="196630" y="5758248"/>
            <a:ext cx="3566984" cy="70021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Physical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30FE92-9D4E-4371-B2C5-1636F5759AE8}"/>
              </a:ext>
            </a:extLst>
          </p:cNvPr>
          <p:cNvSpPr/>
          <p:nvPr/>
        </p:nvSpPr>
        <p:spPr>
          <a:xfrm>
            <a:off x="196630" y="4996248"/>
            <a:ext cx="3566984" cy="70021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Data Link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850BDE-206D-42B4-B3A6-A2625628542D}"/>
              </a:ext>
            </a:extLst>
          </p:cNvPr>
          <p:cNvSpPr/>
          <p:nvPr/>
        </p:nvSpPr>
        <p:spPr>
          <a:xfrm>
            <a:off x="196630" y="4257929"/>
            <a:ext cx="3566984" cy="70021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Network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45B071-8313-4B96-B031-DBDFD41F86FD}"/>
              </a:ext>
            </a:extLst>
          </p:cNvPr>
          <p:cNvSpPr/>
          <p:nvPr/>
        </p:nvSpPr>
        <p:spPr>
          <a:xfrm>
            <a:off x="196630" y="3519611"/>
            <a:ext cx="3566984" cy="70021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Transport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C649B8-1649-4843-939B-2E0B011E640A}"/>
              </a:ext>
            </a:extLst>
          </p:cNvPr>
          <p:cNvSpPr/>
          <p:nvPr/>
        </p:nvSpPr>
        <p:spPr>
          <a:xfrm>
            <a:off x="192508" y="2774086"/>
            <a:ext cx="3566984" cy="70021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Appln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5AA88E-A27D-4FF5-8340-7DEA020CB2FB}"/>
              </a:ext>
            </a:extLst>
          </p:cNvPr>
          <p:cNvSpPr txBox="1"/>
          <p:nvPr/>
        </p:nvSpPr>
        <p:spPr>
          <a:xfrm>
            <a:off x="4020066" y="3704282"/>
            <a:ext cx="4950940" cy="233907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Appears only when WSN connects to standard infrastructure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Nodes – Gateway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Gateway needs Transport</a:t>
            </a:r>
          </a:p>
        </p:txBody>
      </p:sp>
    </p:spTree>
    <p:extLst>
      <p:ext uri="{BB962C8B-B14F-4D97-AF65-F5344CB8AC3E}">
        <p14:creationId xmlns:p14="http://schemas.microsoft.com/office/powerpoint/2010/main" val="3522940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0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30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0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 animBg="1"/>
      <p:bldP spid="14" grpId="0" animBg="1"/>
      <p:bldP spid="15" grpId="0" animBg="1"/>
      <p:bldP spid="16" grpId="0" animBg="1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Protocol Stack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C89747-8FF9-44BE-B6D0-5B12FFEDDCDB}"/>
              </a:ext>
            </a:extLst>
          </p:cNvPr>
          <p:cNvSpPr/>
          <p:nvPr/>
        </p:nvSpPr>
        <p:spPr>
          <a:xfrm>
            <a:off x="196630" y="5758248"/>
            <a:ext cx="3566984" cy="70021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Physical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30FE92-9D4E-4371-B2C5-1636F5759AE8}"/>
              </a:ext>
            </a:extLst>
          </p:cNvPr>
          <p:cNvSpPr/>
          <p:nvPr/>
        </p:nvSpPr>
        <p:spPr>
          <a:xfrm>
            <a:off x="196630" y="4996248"/>
            <a:ext cx="3566984" cy="70021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Data Link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850BDE-206D-42B4-B3A6-A2625628542D}"/>
              </a:ext>
            </a:extLst>
          </p:cNvPr>
          <p:cNvSpPr/>
          <p:nvPr/>
        </p:nvSpPr>
        <p:spPr>
          <a:xfrm>
            <a:off x="196630" y="4257929"/>
            <a:ext cx="3566984" cy="70021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Network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45B071-8313-4B96-B031-DBDFD41F86FD}"/>
              </a:ext>
            </a:extLst>
          </p:cNvPr>
          <p:cNvSpPr/>
          <p:nvPr/>
        </p:nvSpPr>
        <p:spPr>
          <a:xfrm>
            <a:off x="196630" y="3519611"/>
            <a:ext cx="3566984" cy="70021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Transport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C649B8-1649-4843-939B-2E0B011E640A}"/>
              </a:ext>
            </a:extLst>
          </p:cNvPr>
          <p:cNvSpPr/>
          <p:nvPr/>
        </p:nvSpPr>
        <p:spPr>
          <a:xfrm>
            <a:off x="192508" y="2774086"/>
            <a:ext cx="3566984" cy="70021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Appln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5AA88E-A27D-4FF5-8340-7DEA020CB2FB}"/>
              </a:ext>
            </a:extLst>
          </p:cNvPr>
          <p:cNvSpPr txBox="1"/>
          <p:nvPr/>
        </p:nvSpPr>
        <p:spPr>
          <a:xfrm>
            <a:off x="3995352" y="2580511"/>
            <a:ext cx="4950940" cy="3877954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One single application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Whole protocol stack designed for a special 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appln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Whole network is seen as an instrument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Application layer  distributed along the whole protocol stack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Not  appear explicitly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Explicit application </a:t>
            </a:r>
          </a:p>
          <a:p>
            <a:pPr marL="914400" indent="-452438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Sensor management</a:t>
            </a:r>
          </a:p>
          <a:p>
            <a:pPr marL="914400" indent="-452438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Task management </a:t>
            </a:r>
          </a:p>
          <a:p>
            <a:pPr marL="914400" indent="-452438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Data advertisement</a:t>
            </a:r>
          </a:p>
          <a:p>
            <a:pPr marL="914400" indent="-452438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sensor query &amp; data extraction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8412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0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0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30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0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 animBg="1"/>
      <p:bldP spid="14" grpId="0" animBg="1"/>
      <p:bldP spid="15" grpId="0" animBg="1"/>
      <p:bldP spid="16" grpId="0" animBg="1"/>
      <p:bldP spid="17" grpId="0"/>
    </p:bldLst>
  </p:timing>
</p:sld>
</file>

<file path=ppt/theme/theme1.xml><?xml version="1.0" encoding="utf-8"?>
<a:theme xmlns:a="http://schemas.openxmlformats.org/drawingml/2006/main" name="8_Blank">
  <a:themeElements>
    <a:clrScheme name="Bits">
      <a:dk1>
        <a:srgbClr val="000000"/>
      </a:dk1>
      <a:lt1>
        <a:srgbClr val="FFFFFF"/>
      </a:lt1>
      <a:dk2>
        <a:srgbClr val="002960"/>
      </a:dk2>
      <a:lt2>
        <a:srgbClr val="FFFFFF"/>
      </a:lt2>
      <a:accent1>
        <a:srgbClr val="FCB017"/>
      </a:accent1>
      <a:accent2>
        <a:srgbClr val="76C2E5"/>
      </a:accent2>
      <a:accent3>
        <a:srgbClr val="FF0000"/>
      </a:accent3>
      <a:accent4>
        <a:srgbClr val="002960"/>
      </a:accent4>
      <a:accent5>
        <a:srgbClr val="FF6600"/>
      </a:accent5>
      <a:accent6>
        <a:srgbClr val="808080"/>
      </a:accent6>
      <a:hlink>
        <a:srgbClr val="FF0000"/>
      </a:hlink>
      <a:folHlink>
        <a:srgbClr val="00296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</a:spPr>
      <a:bodyPr lIns="91425" tIns="91425" rIns="91425" bIns="91425" anchor="b" anchorCtr="0"/>
      <a:lstStyle>
        <a:defPPr>
          <a:defRPr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631</TotalTime>
  <Words>131</Words>
  <Application>Microsoft Office PowerPoint</Application>
  <PresentationFormat>On-screen Show (4:3)</PresentationFormat>
  <Paragraphs>59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8_Blank</vt:lpstr>
      <vt:lpstr>Protocol Stack</vt:lpstr>
      <vt:lpstr>Protocol Stack</vt:lpstr>
      <vt:lpstr>Protocol Stack</vt:lpstr>
      <vt:lpstr>Protocol Stack</vt:lpstr>
      <vt:lpstr>Protocol Stack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WILP Transformation  Work Stream  Update in WSLM 14: MAY 27, 2015</dc:title>
  <dc:creator>Clarance Suman Vissakodeti</dc:creator>
  <cp:lastModifiedBy>Abid AK</cp:lastModifiedBy>
  <cp:revision>46</cp:revision>
  <dcterms:modified xsi:type="dcterms:W3CDTF">2025-04-17T11:59:13Z</dcterms:modified>
</cp:coreProperties>
</file>