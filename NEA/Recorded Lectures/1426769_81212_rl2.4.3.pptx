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83" r:id="rId3"/>
    <p:sldId id="292" r:id="rId4"/>
    <p:sldId id="299" r:id="rId5"/>
    <p:sldId id="300" r:id="rId6"/>
    <p:sldId id="301" r:id="rId7"/>
    <p:sldId id="296" r:id="rId8"/>
    <p:sldId id="297" r:id="rId9"/>
    <p:sldId id="302" r:id="rId10"/>
  </p:sldIdLst>
  <p:sldSz cx="9144000" cy="6858000" type="screen4x3"/>
  <p:notesSz cx="6805613" cy="99441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8F77E56C-7D47-4C29-AAEB-9FD71A0A3F1F}">
  <a:tblStyle styleId="{8F77E56C-7D47-4C29-AAEB-9FD71A0A3F1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</a:tblStyle>
  <a:tblStyle styleId="{1562F7F7-E2AF-42E1-A3D0-5D2B67903BC4}" styleName="Table_1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452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E9B4E-3786-43E4-ADC0-DE2945E09898}" type="datetimeFigureOut">
              <a:rPr lang="en-IN" smtClean="0"/>
              <a:t>05-09-2017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9563C-2CF4-4AF1-9C09-67033D314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318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54939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6125"/>
            <a:ext cx="4972049" cy="37290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0562" y="4723448"/>
            <a:ext cx="5444489" cy="447484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54939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6125"/>
            <a:ext cx="4972050" cy="37290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1" name="Shape 241"/>
          <p:cNvSpPr txBox="1">
            <a:spLocks noGrp="1"/>
          </p:cNvSpPr>
          <p:nvPr>
            <p:ph type="body" idx="1"/>
          </p:nvPr>
        </p:nvSpPr>
        <p:spPr>
          <a:xfrm>
            <a:off x="680562" y="4723448"/>
            <a:ext cx="5444489" cy="447484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Shape 242"/>
          <p:cNvSpPr txBox="1">
            <a:spLocks noGrp="1"/>
          </p:cNvSpPr>
          <p:nvPr>
            <p:ph type="sldNum" idx="12"/>
          </p:nvPr>
        </p:nvSpPr>
        <p:spPr>
          <a:xfrm>
            <a:off x="3854939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Shape 189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" y="17"/>
            <a:ext cx="9142380" cy="688211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Shape 190"/>
          <p:cNvSpPr/>
          <p:nvPr/>
        </p:nvSpPr>
        <p:spPr>
          <a:xfrm>
            <a:off x="0" y="4253985"/>
            <a:ext cx="9144000" cy="262813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lIns="93125" tIns="46550" rIns="93125" bIns="46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Shape 191" descr="Picture 7.png"/>
          <p:cNvPicPr preferRelativeResize="0"/>
          <p:nvPr/>
        </p:nvPicPr>
        <p:blipFill rotWithShape="1">
          <a:blip r:embed="rId3">
            <a:alphaModFix/>
          </a:blip>
          <a:srcRect l="1923" b="5335"/>
          <a:stretch/>
        </p:blipFill>
        <p:spPr>
          <a:xfrm>
            <a:off x="6764470" y="15"/>
            <a:ext cx="2237873" cy="7067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" name="Shape 195"/>
          <p:cNvGrpSpPr/>
          <p:nvPr/>
        </p:nvGrpSpPr>
        <p:grpSpPr>
          <a:xfrm>
            <a:off x="6778635" y="691752"/>
            <a:ext cx="2254818" cy="699729"/>
            <a:chOff x="76200" y="2209800"/>
            <a:chExt cx="2209799" cy="685799"/>
          </a:xfrm>
        </p:grpSpPr>
        <p:sp>
          <p:nvSpPr>
            <p:cNvPr id="196" name="Shape 196"/>
            <p:cNvSpPr txBox="1"/>
            <p:nvPr/>
          </p:nvSpPr>
          <p:spPr>
            <a:xfrm>
              <a:off x="76200" y="2209800"/>
              <a:ext cx="2209799" cy="553997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SzPct val="25000"/>
                <a:buNone/>
              </a:pPr>
              <a:r>
                <a:rPr lang="en-US" sz="3000" b="1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BITS</a:t>
              </a:r>
              <a:r>
                <a:rPr lang="en-US" sz="3000" b="0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Pilani</a:t>
              </a:r>
            </a:p>
          </p:txBody>
        </p:sp>
        <p:sp>
          <p:nvSpPr>
            <p:cNvPr id="197" name="Shape 197"/>
            <p:cNvSpPr txBox="1"/>
            <p:nvPr/>
          </p:nvSpPr>
          <p:spPr>
            <a:xfrm>
              <a:off x="228600" y="2664767"/>
              <a:ext cx="1904999" cy="230832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SzPct val="25000"/>
                <a:buNone/>
              </a:pPr>
              <a:r>
                <a:rPr lang="en-US" sz="9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Pilani | Dubai | Goa | Hyderabad</a:t>
              </a:r>
            </a:p>
          </p:txBody>
        </p:sp>
      </p:grpSp>
      <p:sp>
        <p:nvSpPr>
          <p:cNvPr id="198" name="Shape 198"/>
          <p:cNvSpPr txBox="1">
            <a:spLocks noGrp="1"/>
          </p:cNvSpPr>
          <p:nvPr>
            <p:ph type="ctrTitle"/>
          </p:nvPr>
        </p:nvSpPr>
        <p:spPr>
          <a:xfrm>
            <a:off x="320728" y="5237530"/>
            <a:ext cx="6199129" cy="105110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1" y="6814184"/>
            <a:ext cx="9144000" cy="72389"/>
            <a:chOff x="1998227" y="6500996"/>
            <a:chExt cx="7153215" cy="46648"/>
          </a:xfrm>
        </p:grpSpPr>
        <p:sp>
          <p:nvSpPr>
            <p:cNvPr id="14" name="Shape 170"/>
            <p:cNvSpPr/>
            <p:nvPr/>
          </p:nvSpPr>
          <p:spPr>
            <a:xfrm>
              <a:off x="4408551" y="6500996"/>
              <a:ext cx="2376028" cy="4664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Shape 171"/>
            <p:cNvSpPr/>
            <p:nvPr/>
          </p:nvSpPr>
          <p:spPr>
            <a:xfrm>
              <a:off x="1998227" y="6500996"/>
              <a:ext cx="2410322" cy="4664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Shape 172"/>
            <p:cNvSpPr/>
            <p:nvPr/>
          </p:nvSpPr>
          <p:spPr>
            <a:xfrm>
              <a:off x="6775414" y="6500996"/>
              <a:ext cx="2376028" cy="466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Shape 198"/>
          <p:cNvSpPr txBox="1">
            <a:spLocks/>
          </p:cNvSpPr>
          <p:nvPr userDrawn="1"/>
        </p:nvSpPr>
        <p:spPr>
          <a:xfrm>
            <a:off x="320728" y="4374693"/>
            <a:ext cx="6199129" cy="85838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title"/>
          </p:nvPr>
        </p:nvSpPr>
        <p:spPr>
          <a:xfrm>
            <a:off x="121505" y="260796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lvl="5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lvl="6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lvl="7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lvl="8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bg>
      <p:bgPr>
        <a:blipFill rotWithShape="1"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2514603" y="3810003"/>
            <a:ext cx="6019799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l" rtl="0">
              <a:lnSpc>
                <a:spcPct val="90909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3042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/>
        </p:nvSpPr>
        <p:spPr>
          <a:xfrm>
            <a:off x="8246615" y="37254"/>
            <a:ext cx="670613" cy="124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159604" y="1152465"/>
            <a:ext cx="8833823" cy="501020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197272" marR="0" lvl="1" indent="-7027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▪"/>
              <a:defRPr/>
            </a:lvl2pPr>
            <a:lvl3pPr marL="465681" marR="0" lvl="2" indent="-15326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–"/>
              <a:defRPr/>
            </a:lvl3pPr>
            <a:lvl4pPr marL="625773" marR="0" lvl="3" indent="-46653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▫"/>
              <a:defRPr/>
            </a:lvl4pPr>
            <a:lvl5pPr marL="763733" marR="0" lvl="4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5pPr>
            <a:lvl6pPr marL="763733" marR="0" lvl="5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6pPr>
            <a:lvl7pPr marL="763733" marR="0" lvl="6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7pPr>
            <a:lvl8pPr marL="763733" marR="0" lvl="7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8pPr>
            <a:lvl9pPr marL="763733" marR="0" lvl="8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9pPr>
          </a:lstStyle>
          <a:p>
            <a:endParaRPr dirty="0"/>
          </a:p>
        </p:txBody>
      </p:sp>
      <p:sp>
        <p:nvSpPr>
          <p:cNvPr id="163" name="Shape 163"/>
          <p:cNvSpPr txBox="1">
            <a:spLocks noGrp="1"/>
          </p:cNvSpPr>
          <p:nvPr>
            <p:ph type="title"/>
          </p:nvPr>
        </p:nvSpPr>
        <p:spPr>
          <a:xfrm>
            <a:off x="159604" y="151603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1" y="6785609"/>
            <a:ext cx="9144000" cy="72389"/>
            <a:chOff x="1998227" y="6500996"/>
            <a:chExt cx="7153215" cy="46648"/>
          </a:xfrm>
        </p:grpSpPr>
        <p:sp>
          <p:nvSpPr>
            <p:cNvPr id="170" name="Shape 170"/>
            <p:cNvSpPr/>
            <p:nvPr/>
          </p:nvSpPr>
          <p:spPr>
            <a:xfrm>
              <a:off x="4408551" y="6500996"/>
              <a:ext cx="2376028" cy="4664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Shape 171"/>
            <p:cNvSpPr/>
            <p:nvPr/>
          </p:nvSpPr>
          <p:spPr>
            <a:xfrm>
              <a:off x="1998227" y="6500996"/>
              <a:ext cx="2410322" cy="4664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Shape 172"/>
            <p:cNvSpPr/>
            <p:nvPr/>
          </p:nvSpPr>
          <p:spPr>
            <a:xfrm>
              <a:off x="6775414" y="6500996"/>
              <a:ext cx="2376028" cy="466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" name="Shape 18" descr="BITS_university_logo_whitevert.png"/>
          <p:cNvPicPr preferRelativeResize="0"/>
          <p:nvPr userDrawn="1"/>
        </p:nvPicPr>
        <p:blipFill rotWithShape="1">
          <a:blip r:embed="rId5">
            <a:alphaModFix/>
          </a:blip>
          <a:srcRect t="2" b="28592"/>
          <a:stretch/>
        </p:blipFill>
        <p:spPr>
          <a:xfrm>
            <a:off x="8138322" y="23045"/>
            <a:ext cx="939004" cy="90367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Shape 184"/>
          <p:cNvSpPr txBox="1"/>
          <p:nvPr userDrawn="1"/>
        </p:nvSpPr>
        <p:spPr>
          <a:xfrm>
            <a:off x="8095553" y="841751"/>
            <a:ext cx="1024542" cy="26429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12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1" r:id="rId2"/>
    <p:sldLayoutId id="2147483669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 txBox="1">
            <a:spLocks noGrp="1"/>
          </p:cNvSpPr>
          <p:nvPr>
            <p:ph type="ctrTitle"/>
          </p:nvPr>
        </p:nvSpPr>
        <p:spPr>
          <a:xfrm>
            <a:off x="273103" y="4570780"/>
            <a:ext cx="7305708" cy="1434604"/>
          </a:xfrm>
          <a:prstGeom prst="rect">
            <a:avLst/>
          </a:prstGeom>
          <a:noFill/>
          <a:ln>
            <a:noFill/>
          </a:ln>
        </p:spPr>
        <p:txBody>
          <a:bodyPr lIns="91400" tIns="45700" rIns="91400" bIns="45700" anchor="ctr" anchorCtr="0">
            <a:noAutofit/>
          </a:bodyPr>
          <a:lstStyle/>
          <a:p>
            <a:pPr marL="0" marR="0" lvl="0" indent="0" rtl="0">
              <a:lnSpc>
                <a:spcPct val="111111"/>
              </a:lnSpc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-US" sz="44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Wireless Sensor Network – Time Sync Protocols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Time Sync Types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40798-B41E-48C6-A643-BD71433B88BD}"/>
              </a:ext>
            </a:extLst>
          </p:cNvPr>
          <p:cNvSpPr txBox="1"/>
          <p:nvPr/>
        </p:nvSpPr>
        <p:spPr>
          <a:xfrm>
            <a:off x="304801" y="2313476"/>
            <a:ext cx="7883610" cy="190818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Sender – Receiver synchronization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Receiver – Receiver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2336022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69" y="367887"/>
            <a:ext cx="7687965" cy="1551529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Receiver – Receiver Synch</a:t>
            </a:r>
            <a:b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Receiver Broadcasting Service (RBS)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40798-B41E-48C6-A643-BD71433B88BD}"/>
              </a:ext>
            </a:extLst>
          </p:cNvPr>
          <p:cNvSpPr txBox="1"/>
          <p:nvPr/>
        </p:nvSpPr>
        <p:spPr>
          <a:xfrm>
            <a:off x="263612" y="2544465"/>
            <a:ext cx="7883610" cy="3349476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Three stages</a:t>
            </a:r>
          </a:p>
          <a:p>
            <a:pPr marL="914400" indent="-4524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Transmitter broadcasts clock time</a:t>
            </a:r>
          </a:p>
          <a:p>
            <a:pPr marL="914400" indent="-4524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Each </a:t>
            </a:r>
            <a:r>
              <a:rPr lang="en-IN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rx</a:t>
            </a: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 records the time that the ref was </a:t>
            </a:r>
            <a:r>
              <a:rPr lang="en-IN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rxed</a:t>
            </a: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-local clock</a:t>
            </a:r>
          </a:p>
          <a:p>
            <a:pPr marL="914400" indent="-4524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Receivers exchange observations</a:t>
            </a:r>
          </a:p>
        </p:txBody>
      </p:sp>
    </p:spTree>
    <p:extLst>
      <p:ext uri="{BB962C8B-B14F-4D97-AF65-F5344CB8AC3E}">
        <p14:creationId xmlns:p14="http://schemas.microsoft.com/office/powerpoint/2010/main" val="2223035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0B6E08-6A89-4800-9016-246490B17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69" y="367887"/>
            <a:ext cx="7687965" cy="1551529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RBS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" name="Group 1028">
            <a:extLst>
              <a:ext uri="{FF2B5EF4-FFF2-40B4-BE49-F238E27FC236}">
                <a16:creationId xmlns:a16="http://schemas.microsoft.com/office/drawing/2014/main" id="{DFCFA011-D04D-410A-AFA4-E9CA84A527CB}"/>
              </a:ext>
            </a:extLst>
          </p:cNvPr>
          <p:cNvGrpSpPr>
            <a:grpSpLocks/>
          </p:cNvGrpSpPr>
          <p:nvPr/>
        </p:nvGrpSpPr>
        <p:grpSpPr bwMode="auto">
          <a:xfrm>
            <a:off x="2220094" y="2590800"/>
            <a:ext cx="2971800" cy="2667000"/>
            <a:chOff x="1776" y="1488"/>
            <a:chExt cx="1872" cy="1680"/>
          </a:xfrm>
        </p:grpSpPr>
        <p:sp>
          <p:nvSpPr>
            <p:cNvPr id="5" name="AutoShape 1029">
              <a:extLst>
                <a:ext uri="{FF2B5EF4-FFF2-40B4-BE49-F238E27FC236}">
                  <a16:creationId xmlns:a16="http://schemas.microsoft.com/office/drawing/2014/main" id="{62753493-EFBB-4E0E-BDC0-8005F10E9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064"/>
              <a:ext cx="480" cy="48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" name="Text Box 1030">
              <a:extLst>
                <a:ext uri="{FF2B5EF4-FFF2-40B4-BE49-F238E27FC236}">
                  <a16:creationId xmlns:a16="http://schemas.microsoft.com/office/drawing/2014/main" id="{8AA98509-C9D2-4527-9601-9610D2590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112"/>
              <a:ext cx="288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0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7" name="AutoShape 1031">
              <a:extLst>
                <a:ext uri="{FF2B5EF4-FFF2-40B4-BE49-F238E27FC236}">
                  <a16:creationId xmlns:a16="http://schemas.microsoft.com/office/drawing/2014/main" id="{1D23314F-B0CF-4D5A-8011-9BE096C199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488"/>
              <a:ext cx="480" cy="480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" name="AutoShape 1032">
              <a:extLst>
                <a:ext uri="{FF2B5EF4-FFF2-40B4-BE49-F238E27FC236}">
                  <a16:creationId xmlns:a16="http://schemas.microsoft.com/office/drawing/2014/main" id="{9EB9CA29-9EE1-4129-A586-80AB2AF38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688"/>
              <a:ext cx="480" cy="480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" name="AutoShape 1033">
              <a:extLst>
                <a:ext uri="{FF2B5EF4-FFF2-40B4-BE49-F238E27FC236}">
                  <a16:creationId xmlns:a16="http://schemas.microsoft.com/office/drawing/2014/main" id="{B94EF4AB-5CE9-4B28-A650-00BB5A041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488"/>
              <a:ext cx="480" cy="480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" name="AutoShape 1034">
              <a:extLst>
                <a:ext uri="{FF2B5EF4-FFF2-40B4-BE49-F238E27FC236}">
                  <a16:creationId xmlns:a16="http://schemas.microsoft.com/office/drawing/2014/main" id="{4131DF0B-375C-4AF6-9842-D0BFA94BB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688"/>
              <a:ext cx="480" cy="480"/>
            </a:xfrm>
            <a:prstGeom prst="flowChartConnec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" name="Text Box 1035">
              <a:extLst>
                <a:ext uri="{FF2B5EF4-FFF2-40B4-BE49-F238E27FC236}">
                  <a16:creationId xmlns:a16="http://schemas.microsoft.com/office/drawing/2014/main" id="{5FB6A7CC-E29D-403E-825B-3D396CAFE9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526"/>
              <a:ext cx="288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2" name="Text Box 1036">
              <a:extLst>
                <a:ext uri="{FF2B5EF4-FFF2-40B4-BE49-F238E27FC236}">
                  <a16:creationId xmlns:a16="http://schemas.microsoft.com/office/drawing/2014/main" id="{52820370-27D3-4B9F-A0B6-01CECDB6FB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26"/>
              <a:ext cx="288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0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3" name="Text Box 1037">
              <a:extLst>
                <a:ext uri="{FF2B5EF4-FFF2-40B4-BE49-F238E27FC236}">
                  <a16:creationId xmlns:a16="http://schemas.microsoft.com/office/drawing/2014/main" id="{B057505A-17B3-4AC0-9E99-BBC0F2358D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536"/>
              <a:ext cx="288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4" name="Text Box 1038">
              <a:extLst>
                <a:ext uri="{FF2B5EF4-FFF2-40B4-BE49-F238E27FC236}">
                  <a16:creationId xmlns:a16="http://schemas.microsoft.com/office/drawing/2014/main" id="{B712A434-F7E0-4391-B69A-9A23C10F6E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726"/>
              <a:ext cx="288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000">
                  <a:latin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15" name="Group 1039">
            <a:extLst>
              <a:ext uri="{FF2B5EF4-FFF2-40B4-BE49-F238E27FC236}">
                <a16:creationId xmlns:a16="http://schemas.microsoft.com/office/drawing/2014/main" id="{8858F63C-1C6F-423C-9C0A-F3DC1E21B154}"/>
              </a:ext>
            </a:extLst>
          </p:cNvPr>
          <p:cNvGrpSpPr>
            <a:grpSpLocks/>
          </p:cNvGrpSpPr>
          <p:nvPr/>
        </p:nvGrpSpPr>
        <p:grpSpPr bwMode="auto">
          <a:xfrm>
            <a:off x="2905894" y="3200400"/>
            <a:ext cx="1600200" cy="1371600"/>
            <a:chOff x="2208" y="1872"/>
            <a:chExt cx="1008" cy="864"/>
          </a:xfrm>
        </p:grpSpPr>
        <p:grpSp>
          <p:nvGrpSpPr>
            <p:cNvPr id="16" name="Group 1040">
              <a:extLst>
                <a:ext uri="{FF2B5EF4-FFF2-40B4-BE49-F238E27FC236}">
                  <a16:creationId xmlns:a16="http://schemas.microsoft.com/office/drawing/2014/main" id="{BD406A50-AE77-44B8-8EF4-49656A76CF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1872"/>
              <a:ext cx="1008" cy="864"/>
              <a:chOff x="2208" y="1872"/>
              <a:chExt cx="1008" cy="864"/>
            </a:xfrm>
          </p:grpSpPr>
          <p:sp>
            <p:nvSpPr>
              <p:cNvPr id="18" name="Line 1041">
                <a:extLst>
                  <a:ext uri="{FF2B5EF4-FFF2-40B4-BE49-F238E27FC236}">
                    <a16:creationId xmlns:a16="http://schemas.microsoft.com/office/drawing/2014/main" id="{301E6652-7F28-48EB-9178-BE3E185ABA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496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Line 1042">
                <a:extLst>
                  <a:ext uri="{FF2B5EF4-FFF2-40B4-BE49-F238E27FC236}">
                    <a16:creationId xmlns:a16="http://schemas.microsoft.com/office/drawing/2014/main" id="{56B318D5-5D56-4AF0-B695-4961547859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256" y="1872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Line 1043">
                <a:extLst>
                  <a:ext uri="{FF2B5EF4-FFF2-40B4-BE49-F238E27FC236}">
                    <a16:creationId xmlns:a16="http://schemas.microsoft.com/office/drawing/2014/main" id="{D37C688D-1993-4DBD-A3CE-E7FE85A4A2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08" y="2496"/>
                <a:ext cx="288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7" name="Line 1044">
              <a:extLst>
                <a:ext uri="{FF2B5EF4-FFF2-40B4-BE49-F238E27FC236}">
                  <a16:creationId xmlns:a16="http://schemas.microsoft.com/office/drawing/2014/main" id="{423FEA86-2EF8-402F-916D-7E2C2B48C4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1872"/>
              <a:ext cx="24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" name="Line 1045">
            <a:extLst>
              <a:ext uri="{FF2B5EF4-FFF2-40B4-BE49-F238E27FC236}">
                <a16:creationId xmlns:a16="http://schemas.microsoft.com/office/drawing/2014/main" id="{415BE03A-E89C-4074-B0D8-DF60A0E174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8294" y="2852738"/>
            <a:ext cx="1295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" name="Line 1046">
            <a:extLst>
              <a:ext uri="{FF2B5EF4-FFF2-40B4-BE49-F238E27FC236}">
                <a16:creationId xmlns:a16="http://schemas.microsoft.com/office/drawing/2014/main" id="{F38E2E85-6541-4F74-8460-023954A3828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8294" y="4876800"/>
            <a:ext cx="1295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" name="Line 1047">
            <a:extLst>
              <a:ext uri="{FF2B5EF4-FFF2-40B4-BE49-F238E27FC236}">
                <a16:creationId xmlns:a16="http://schemas.microsoft.com/office/drawing/2014/main" id="{336CC51A-4C3D-450C-BD05-7B975EC7B4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7294" y="34290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" name="Line 1048">
            <a:extLst>
              <a:ext uri="{FF2B5EF4-FFF2-40B4-BE49-F238E27FC236}">
                <a16:creationId xmlns:a16="http://schemas.microsoft.com/office/drawing/2014/main" id="{4440EE30-6CEF-4194-834E-689B6BD214A4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0894" y="34290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5" name="Line 1049">
            <a:extLst>
              <a:ext uri="{FF2B5EF4-FFF2-40B4-BE49-F238E27FC236}">
                <a16:creationId xmlns:a16="http://schemas.microsoft.com/office/drawing/2014/main" id="{17296FE5-8461-4223-BB72-0E9EC8EBCA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9494" y="34290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" name="Line 1050">
            <a:extLst>
              <a:ext uri="{FF2B5EF4-FFF2-40B4-BE49-F238E27FC236}">
                <a16:creationId xmlns:a16="http://schemas.microsoft.com/office/drawing/2014/main" id="{22F874F9-5D78-4669-B325-5A1E01BFA42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8294" y="5029200"/>
            <a:ext cx="1295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7" name="Line 1051">
            <a:extLst>
              <a:ext uri="{FF2B5EF4-FFF2-40B4-BE49-F238E27FC236}">
                <a16:creationId xmlns:a16="http://schemas.microsoft.com/office/drawing/2014/main" id="{479432DB-736D-4DC9-B931-284746F2679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48694" y="34290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" name="Line 1052">
            <a:extLst>
              <a:ext uri="{FF2B5EF4-FFF2-40B4-BE49-F238E27FC236}">
                <a16:creationId xmlns:a16="http://schemas.microsoft.com/office/drawing/2014/main" id="{C7324CD7-63B4-4C2F-AF57-4F1525A598A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8294" y="3005138"/>
            <a:ext cx="1295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43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TPSN - Inaccuracies</a:t>
            </a:r>
          </a:p>
        </p:txBody>
      </p:sp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4232B006-744D-4E91-AA52-3BA3829A5169}"/>
              </a:ext>
            </a:extLst>
          </p:cNvPr>
          <p:cNvSpPr/>
          <p:nvPr/>
        </p:nvSpPr>
        <p:spPr>
          <a:xfrm>
            <a:off x="704334" y="1820565"/>
            <a:ext cx="838200" cy="609600"/>
          </a:xfrm>
          <a:prstGeom prst="roundRect">
            <a:avLst/>
          </a:prstGeom>
          <a:noFill/>
          <a:ln>
            <a:solidFill>
              <a:srgbClr val="66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S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1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</a:endParaRP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38F45D86-D403-49BE-A7C6-9E72260A43DD}"/>
              </a:ext>
            </a:extLst>
          </p:cNvPr>
          <p:cNvSpPr/>
          <p:nvPr/>
        </p:nvSpPr>
        <p:spPr>
          <a:xfrm>
            <a:off x="1923534" y="1820565"/>
            <a:ext cx="838200" cy="609600"/>
          </a:xfrm>
          <a:prstGeom prst="roundRect">
            <a:avLst/>
          </a:prstGeom>
          <a:noFill/>
          <a:ln>
            <a:solidFill>
              <a:srgbClr val="66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M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1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E058356-CED4-499F-9CBE-BDE306905C01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542534" y="2125365"/>
            <a:ext cx="3810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EC79EDDB-D5B7-4B36-BFD3-A50C4DD12C21}"/>
              </a:ext>
            </a:extLst>
          </p:cNvPr>
          <p:cNvSpPr/>
          <p:nvPr/>
        </p:nvSpPr>
        <p:spPr>
          <a:xfrm>
            <a:off x="3142734" y="1820565"/>
            <a:ext cx="838200" cy="609600"/>
          </a:xfrm>
          <a:prstGeom prst="roundRect">
            <a:avLst/>
          </a:prstGeom>
          <a:noFill/>
          <a:ln>
            <a:solidFill>
              <a:srgbClr val="66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T</a:t>
            </a:r>
            <a:r>
              <a:rPr kumimoji="0" lang="en-US" sz="2400" b="0" i="1" u="none" strike="noStrike" kern="0" cap="none" spc="0" normalizeH="0" baseline="-2500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1</a:t>
            </a:r>
            <a:endParaRPr kumimoji="0" lang="en-US" sz="2400" b="0" i="1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62D6A0E-709A-4A4E-9F62-A7375339D4B7}"/>
              </a:ext>
            </a:extLst>
          </p:cNvPr>
          <p:cNvCxnSpPr/>
          <p:nvPr/>
        </p:nvCxnSpPr>
        <p:spPr>
          <a:xfrm>
            <a:off x="2761734" y="2125365"/>
            <a:ext cx="3810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2466AAEC-E6E1-41F3-9117-93A990F95236}"/>
              </a:ext>
            </a:extLst>
          </p:cNvPr>
          <p:cNvSpPr/>
          <p:nvPr/>
        </p:nvSpPr>
        <p:spPr>
          <a:xfrm>
            <a:off x="4285734" y="2658765"/>
            <a:ext cx="838200" cy="609600"/>
          </a:xfrm>
          <a:prstGeom prst="roundRect">
            <a:avLst/>
          </a:prstGeom>
          <a:noFill/>
          <a:ln>
            <a:solidFill>
              <a:srgbClr val="66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P</a:t>
            </a:r>
            <a:r>
              <a:rPr kumimoji="0" lang="en-US" sz="2400" b="0" i="1" u="none" strike="noStrike" kern="0" cap="none" spc="0" normalizeH="0" baseline="-2500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12</a:t>
            </a:r>
            <a:endParaRPr kumimoji="0" lang="en-US" sz="2400" b="0" i="1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625E1A0-C2D4-45FA-B58F-618AB137A727}"/>
              </a:ext>
            </a:extLst>
          </p:cNvPr>
          <p:cNvCxnSpPr>
            <a:stCxn id="7" idx="3"/>
            <a:endCxn id="9" idx="0"/>
          </p:cNvCxnSpPr>
          <p:nvPr/>
        </p:nvCxnSpPr>
        <p:spPr>
          <a:xfrm>
            <a:off x="3980934" y="2125365"/>
            <a:ext cx="723900" cy="53340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BD8529E4-9A60-4845-B259-CF593E511D49}"/>
              </a:ext>
            </a:extLst>
          </p:cNvPr>
          <p:cNvSpPr/>
          <p:nvPr/>
        </p:nvSpPr>
        <p:spPr>
          <a:xfrm>
            <a:off x="6800334" y="3420765"/>
            <a:ext cx="838200" cy="609600"/>
          </a:xfrm>
          <a:prstGeom prst="roundRect">
            <a:avLst/>
          </a:prstGeom>
          <a:noFill/>
          <a:ln>
            <a:solidFill>
              <a:srgbClr val="66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R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2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A598E26-9A4D-42F5-B94A-4CA9EDCF712E}"/>
              </a:ext>
            </a:extLst>
          </p:cNvPr>
          <p:cNvCxnSpPr>
            <a:endCxn id="12" idx="1"/>
          </p:cNvCxnSpPr>
          <p:nvPr/>
        </p:nvCxnSpPr>
        <p:spPr>
          <a:xfrm>
            <a:off x="5085834" y="2887365"/>
            <a:ext cx="1714500" cy="83820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15817A4-99AC-4947-9474-668BE8F2F7D4}"/>
              </a:ext>
            </a:extLst>
          </p:cNvPr>
          <p:cNvCxnSpPr/>
          <p:nvPr/>
        </p:nvCxnSpPr>
        <p:spPr>
          <a:xfrm>
            <a:off x="7638534" y="3723978"/>
            <a:ext cx="381000" cy="158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3">
            <a:extLst>
              <a:ext uri="{FF2B5EF4-FFF2-40B4-BE49-F238E27FC236}">
                <a16:creationId xmlns:a16="http://schemas.microsoft.com/office/drawing/2014/main" id="{1F123199-E162-4ED9-903C-F62FB87D7750}"/>
              </a:ext>
            </a:extLst>
          </p:cNvPr>
          <p:cNvSpPr/>
          <p:nvPr/>
        </p:nvSpPr>
        <p:spPr>
          <a:xfrm>
            <a:off x="8019534" y="3496965"/>
            <a:ext cx="838200" cy="609600"/>
          </a:xfrm>
          <a:prstGeom prst="roundRect">
            <a:avLst/>
          </a:prstGeom>
          <a:noFill/>
          <a:ln>
            <a:solidFill>
              <a:srgbClr val="66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S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2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5E8C373-0CE3-4894-A769-C7F179D47A85}"/>
              </a:ext>
            </a:extLst>
          </p:cNvPr>
          <p:cNvCxnSpPr/>
          <p:nvPr/>
        </p:nvCxnSpPr>
        <p:spPr>
          <a:xfrm rot="5400000">
            <a:off x="8210035" y="4449465"/>
            <a:ext cx="685800" cy="317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20">
            <a:extLst>
              <a:ext uri="{FF2B5EF4-FFF2-40B4-BE49-F238E27FC236}">
                <a16:creationId xmlns:a16="http://schemas.microsoft.com/office/drawing/2014/main" id="{4729FF2D-4387-4DA8-AFD0-E0454134F0CC}"/>
              </a:ext>
            </a:extLst>
          </p:cNvPr>
          <p:cNvSpPr/>
          <p:nvPr/>
        </p:nvSpPr>
        <p:spPr>
          <a:xfrm>
            <a:off x="8171934" y="4792365"/>
            <a:ext cx="838200" cy="609600"/>
          </a:xfrm>
          <a:prstGeom prst="roundRect">
            <a:avLst/>
          </a:prstGeom>
          <a:noFill/>
          <a:ln>
            <a:solidFill>
              <a:srgbClr val="66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S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3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</a:endParaRPr>
          </a:p>
        </p:txBody>
      </p:sp>
      <p:sp>
        <p:nvSpPr>
          <p:cNvPr id="18" name="Rounded Rectangle 21">
            <a:extLst>
              <a:ext uri="{FF2B5EF4-FFF2-40B4-BE49-F238E27FC236}">
                <a16:creationId xmlns:a16="http://schemas.microsoft.com/office/drawing/2014/main" id="{AD96E70A-0AEA-4D11-88C5-7F01168A4C93}"/>
              </a:ext>
            </a:extLst>
          </p:cNvPr>
          <p:cNvSpPr/>
          <p:nvPr/>
        </p:nvSpPr>
        <p:spPr>
          <a:xfrm>
            <a:off x="6876534" y="4792365"/>
            <a:ext cx="838200" cy="609600"/>
          </a:xfrm>
          <a:prstGeom prst="roundRect">
            <a:avLst/>
          </a:prstGeom>
          <a:noFill/>
          <a:ln>
            <a:solidFill>
              <a:srgbClr val="66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M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3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D5FDB98-50B5-42E0-ADBA-9B861ED4D462}"/>
              </a:ext>
            </a:extLst>
          </p:cNvPr>
          <p:cNvCxnSpPr>
            <a:stCxn id="17" idx="1"/>
            <a:endCxn id="18" idx="3"/>
          </p:cNvCxnSpPr>
          <p:nvPr/>
        </p:nvCxnSpPr>
        <p:spPr>
          <a:xfrm rot="10800000">
            <a:off x="7714734" y="5097165"/>
            <a:ext cx="4572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25">
            <a:extLst>
              <a:ext uri="{FF2B5EF4-FFF2-40B4-BE49-F238E27FC236}">
                <a16:creationId xmlns:a16="http://schemas.microsoft.com/office/drawing/2014/main" id="{C361646C-F104-4857-B13B-AB1C38D63029}"/>
              </a:ext>
            </a:extLst>
          </p:cNvPr>
          <p:cNvSpPr/>
          <p:nvPr/>
        </p:nvSpPr>
        <p:spPr>
          <a:xfrm>
            <a:off x="5581134" y="4792365"/>
            <a:ext cx="838200" cy="609600"/>
          </a:xfrm>
          <a:prstGeom prst="roundRect">
            <a:avLst/>
          </a:prstGeom>
          <a:noFill/>
          <a:ln>
            <a:solidFill>
              <a:srgbClr val="66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T</a:t>
            </a:r>
            <a:r>
              <a:rPr kumimoji="0" lang="en-US" sz="2400" b="0" i="1" u="none" strike="noStrike" kern="0" cap="none" spc="0" normalizeH="0" baseline="-2500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3</a:t>
            </a:r>
            <a:endParaRPr kumimoji="0" lang="en-US" sz="2400" b="0" i="1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475C11A-4F47-4BE0-8259-332FF6909A90}"/>
              </a:ext>
            </a:extLst>
          </p:cNvPr>
          <p:cNvCxnSpPr/>
          <p:nvPr/>
        </p:nvCxnSpPr>
        <p:spPr>
          <a:xfrm rot="10800000">
            <a:off x="6419334" y="5097165"/>
            <a:ext cx="4572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7">
            <a:extLst>
              <a:ext uri="{FF2B5EF4-FFF2-40B4-BE49-F238E27FC236}">
                <a16:creationId xmlns:a16="http://schemas.microsoft.com/office/drawing/2014/main" id="{79DCCC09-A58C-47A5-B03F-F8B41741F4BF}"/>
              </a:ext>
            </a:extLst>
          </p:cNvPr>
          <p:cNvSpPr/>
          <p:nvPr/>
        </p:nvSpPr>
        <p:spPr>
          <a:xfrm>
            <a:off x="4361934" y="5478165"/>
            <a:ext cx="838200" cy="609600"/>
          </a:xfrm>
          <a:prstGeom prst="roundRect">
            <a:avLst/>
          </a:prstGeom>
          <a:noFill/>
          <a:ln>
            <a:solidFill>
              <a:srgbClr val="66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P</a:t>
            </a:r>
            <a:r>
              <a:rPr kumimoji="0" lang="en-US" sz="2400" b="0" i="1" u="none" strike="noStrike" kern="0" cap="none" spc="0" normalizeH="0" baseline="-2500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34</a:t>
            </a:r>
            <a:endParaRPr kumimoji="0" lang="en-US" sz="2400" b="0" i="1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C4E5667-FBF8-43B7-BA5F-5DB90A8C9D60}"/>
              </a:ext>
            </a:extLst>
          </p:cNvPr>
          <p:cNvCxnSpPr>
            <a:stCxn id="20" idx="1"/>
            <a:endCxn id="22" idx="3"/>
          </p:cNvCxnSpPr>
          <p:nvPr/>
        </p:nvCxnSpPr>
        <p:spPr>
          <a:xfrm rot="10800000" flipV="1">
            <a:off x="5200134" y="5097165"/>
            <a:ext cx="381000" cy="68580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30">
            <a:extLst>
              <a:ext uri="{FF2B5EF4-FFF2-40B4-BE49-F238E27FC236}">
                <a16:creationId xmlns:a16="http://schemas.microsoft.com/office/drawing/2014/main" id="{B08DA29F-88C5-4D97-8A92-8BAA92F97E9E}"/>
              </a:ext>
            </a:extLst>
          </p:cNvPr>
          <p:cNvSpPr/>
          <p:nvPr/>
        </p:nvSpPr>
        <p:spPr>
          <a:xfrm>
            <a:off x="3066534" y="5478165"/>
            <a:ext cx="838200" cy="609600"/>
          </a:xfrm>
          <a:prstGeom prst="roundRect">
            <a:avLst/>
          </a:prstGeom>
          <a:noFill/>
          <a:ln>
            <a:solidFill>
              <a:srgbClr val="66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R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4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8C27C37-07F9-42B4-BD7F-410156B77C7F}"/>
              </a:ext>
            </a:extLst>
          </p:cNvPr>
          <p:cNvCxnSpPr/>
          <p:nvPr/>
        </p:nvCxnSpPr>
        <p:spPr>
          <a:xfrm rot="10800000">
            <a:off x="3904734" y="5782965"/>
            <a:ext cx="4572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735CE60-63DB-4CCD-8168-AAD83D38D405}"/>
              </a:ext>
            </a:extLst>
          </p:cNvPr>
          <p:cNvCxnSpPr/>
          <p:nvPr/>
        </p:nvCxnSpPr>
        <p:spPr>
          <a:xfrm rot="10800000">
            <a:off x="2609334" y="5781378"/>
            <a:ext cx="457200" cy="158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33">
            <a:extLst>
              <a:ext uri="{FF2B5EF4-FFF2-40B4-BE49-F238E27FC236}">
                <a16:creationId xmlns:a16="http://schemas.microsoft.com/office/drawing/2014/main" id="{2161F8DC-CE30-46CF-B13C-E0D86B8ABDE1}"/>
              </a:ext>
            </a:extLst>
          </p:cNvPr>
          <p:cNvSpPr/>
          <p:nvPr/>
        </p:nvSpPr>
        <p:spPr>
          <a:xfrm>
            <a:off x="1771134" y="5478165"/>
            <a:ext cx="838200" cy="609600"/>
          </a:xfrm>
          <a:prstGeom prst="roundRect">
            <a:avLst/>
          </a:prstGeom>
          <a:noFill/>
          <a:ln>
            <a:solidFill>
              <a:srgbClr val="66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S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4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885AABC-2D35-49D2-89DC-57F49CE36F66}"/>
              </a:ext>
            </a:extLst>
          </p:cNvPr>
          <p:cNvCxnSpPr/>
          <p:nvPr/>
        </p:nvCxnSpPr>
        <p:spPr>
          <a:xfrm rot="5400000">
            <a:off x="1694934" y="4182765"/>
            <a:ext cx="4876800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CF60C9C-5465-45E6-927D-77093E28F553}"/>
              </a:ext>
            </a:extLst>
          </p:cNvPr>
          <p:cNvCxnSpPr/>
          <p:nvPr/>
        </p:nvCxnSpPr>
        <p:spPr>
          <a:xfrm rot="5400000">
            <a:off x="2990334" y="4182765"/>
            <a:ext cx="4876800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E32F4B13-6497-4F0F-9A8F-A4B2F80372EE}"/>
              </a:ext>
            </a:extLst>
          </p:cNvPr>
          <p:cNvSpPr/>
          <p:nvPr/>
        </p:nvSpPr>
        <p:spPr>
          <a:xfrm>
            <a:off x="4169379" y="2392065"/>
            <a:ext cx="1196529" cy="1205432"/>
          </a:xfrm>
          <a:prstGeom prst="ellipse">
            <a:avLst/>
          </a:prstGeom>
          <a:solidFill>
            <a:srgbClr val="00B05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733CD10-8A22-40E2-AE18-9D4DED0060D3}"/>
              </a:ext>
            </a:extLst>
          </p:cNvPr>
          <p:cNvSpPr/>
          <p:nvPr/>
        </p:nvSpPr>
        <p:spPr>
          <a:xfrm>
            <a:off x="4187920" y="5149593"/>
            <a:ext cx="1196529" cy="1205432"/>
          </a:xfrm>
          <a:prstGeom prst="ellipse">
            <a:avLst/>
          </a:prstGeom>
          <a:solidFill>
            <a:srgbClr val="00B05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9567188-3DA8-461D-A6F4-E3A705E07653}"/>
              </a:ext>
            </a:extLst>
          </p:cNvPr>
          <p:cNvSpPr/>
          <p:nvPr/>
        </p:nvSpPr>
        <p:spPr>
          <a:xfrm>
            <a:off x="2987403" y="1577441"/>
            <a:ext cx="1087754" cy="1095847"/>
          </a:xfrm>
          <a:prstGeom prst="ellipse">
            <a:avLst/>
          </a:prstGeom>
          <a:solidFill>
            <a:srgbClr val="00B05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B712C89-B3E9-48E5-8D0C-154B76870CC6}"/>
              </a:ext>
            </a:extLst>
          </p:cNvPr>
          <p:cNvSpPr/>
          <p:nvPr/>
        </p:nvSpPr>
        <p:spPr>
          <a:xfrm>
            <a:off x="5418343" y="4412237"/>
            <a:ext cx="1316182" cy="1325975"/>
          </a:xfrm>
          <a:prstGeom prst="ellipse">
            <a:avLst/>
          </a:prstGeom>
          <a:solidFill>
            <a:srgbClr val="00B05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1D7633-8BCF-4F1C-9C87-90109273D843}"/>
              </a:ext>
            </a:extLst>
          </p:cNvPr>
          <p:cNvSpPr/>
          <p:nvPr/>
        </p:nvSpPr>
        <p:spPr>
          <a:xfrm>
            <a:off x="1760328" y="1510744"/>
            <a:ext cx="1125680" cy="1185988"/>
          </a:xfrm>
          <a:prstGeom prst="ellipse">
            <a:avLst/>
          </a:prstGeom>
          <a:solidFill>
            <a:schemeClr val="accent3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C700794-8766-46A9-82A0-68584B73E124}"/>
              </a:ext>
            </a:extLst>
          </p:cNvPr>
          <p:cNvSpPr/>
          <p:nvPr/>
        </p:nvSpPr>
        <p:spPr>
          <a:xfrm rot="20100000">
            <a:off x="560595" y="1519068"/>
            <a:ext cx="1125680" cy="1185988"/>
          </a:xfrm>
          <a:prstGeom prst="ellipse">
            <a:avLst/>
          </a:prstGeom>
          <a:solidFill>
            <a:schemeClr val="accent3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8237F56-57BA-4BA5-ACF2-A134395209F8}"/>
              </a:ext>
            </a:extLst>
          </p:cNvPr>
          <p:cNvSpPr/>
          <p:nvPr/>
        </p:nvSpPr>
        <p:spPr>
          <a:xfrm>
            <a:off x="6647933" y="3165783"/>
            <a:ext cx="1125680" cy="1185988"/>
          </a:xfrm>
          <a:prstGeom prst="ellipse">
            <a:avLst/>
          </a:prstGeom>
          <a:solidFill>
            <a:schemeClr val="accent3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35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D777B3-0C40-4C28-ACB7-110A89C8E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Inaccuracies Removed ??</a:t>
            </a:r>
          </a:p>
        </p:txBody>
      </p:sp>
      <p:pic>
        <p:nvPicPr>
          <p:cNvPr id="5" name="Graphic 4" descr="Marker">
            <a:extLst>
              <a:ext uri="{FF2B5EF4-FFF2-40B4-BE49-F238E27FC236}">
                <a16:creationId xmlns:a16="http://schemas.microsoft.com/office/drawing/2014/main" id="{4175C2D6-485D-476C-BA0D-4E3485CBD4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543" y="2576383"/>
            <a:ext cx="619898" cy="619898"/>
          </a:xfrm>
          <a:prstGeom prst="rect">
            <a:avLst/>
          </a:prstGeom>
        </p:spPr>
      </p:pic>
      <p:pic>
        <p:nvPicPr>
          <p:cNvPr id="6" name="Graphic 5" descr="Marker">
            <a:extLst>
              <a:ext uri="{FF2B5EF4-FFF2-40B4-BE49-F238E27FC236}">
                <a16:creationId xmlns:a16="http://schemas.microsoft.com/office/drawing/2014/main" id="{3BDC1AE9-74EB-4BE6-8443-B48A00D40F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33365" y="1748481"/>
            <a:ext cx="619898" cy="619898"/>
          </a:xfrm>
          <a:prstGeom prst="rect">
            <a:avLst/>
          </a:prstGeom>
        </p:spPr>
      </p:pic>
      <p:pic>
        <p:nvPicPr>
          <p:cNvPr id="7" name="Graphic 6" descr="Marker">
            <a:extLst>
              <a:ext uri="{FF2B5EF4-FFF2-40B4-BE49-F238E27FC236}">
                <a16:creationId xmlns:a16="http://schemas.microsoft.com/office/drawing/2014/main" id="{AB030590-278E-4BCE-AE1B-F811CC735B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43314" y="3391930"/>
            <a:ext cx="619898" cy="619898"/>
          </a:xfrm>
          <a:prstGeom prst="rect">
            <a:avLst/>
          </a:prstGeom>
        </p:spPr>
      </p:pic>
      <p:pic>
        <p:nvPicPr>
          <p:cNvPr id="9" name="Graphic 8" descr="Wi-Fi">
            <a:extLst>
              <a:ext uri="{FF2B5EF4-FFF2-40B4-BE49-F238E27FC236}">
                <a16:creationId xmlns:a16="http://schemas.microsoft.com/office/drawing/2014/main" id="{04F2FEED-A642-4D6F-8D09-B90C67F0B7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811427" y="2266435"/>
            <a:ext cx="1239794" cy="1239794"/>
          </a:xfrm>
          <a:prstGeom prst="rect">
            <a:avLst/>
          </a:prstGeom>
        </p:spPr>
      </p:pic>
      <p:pic>
        <p:nvPicPr>
          <p:cNvPr id="10" name="Graphic 9" descr="Marker">
            <a:extLst>
              <a:ext uri="{FF2B5EF4-FFF2-40B4-BE49-F238E27FC236}">
                <a16:creationId xmlns:a16="http://schemas.microsoft.com/office/drawing/2014/main" id="{070FE951-CCD6-4FA2-BA95-94CEA47AD67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29243" y="1744364"/>
            <a:ext cx="619898" cy="6198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7D5A5C7-C00B-4EB7-9714-F6E0716BF14A}"/>
              </a:ext>
            </a:extLst>
          </p:cNvPr>
          <p:cNvSpPr txBox="1"/>
          <p:nvPr/>
        </p:nvSpPr>
        <p:spPr>
          <a:xfrm>
            <a:off x="1301571" y="1735123"/>
            <a:ext cx="683741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24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Graphic 11" descr="Marker">
            <a:extLst>
              <a:ext uri="{FF2B5EF4-FFF2-40B4-BE49-F238E27FC236}">
                <a16:creationId xmlns:a16="http://schemas.microsoft.com/office/drawing/2014/main" id="{ED0F12C7-5792-4113-8D1A-73B0111114D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47430" y="3396049"/>
            <a:ext cx="619898" cy="6198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9152766-A11D-4C8E-8C3A-A053429F952E}"/>
              </a:ext>
            </a:extLst>
          </p:cNvPr>
          <p:cNvSpPr txBox="1"/>
          <p:nvPr/>
        </p:nvSpPr>
        <p:spPr>
          <a:xfrm>
            <a:off x="1643441" y="3506229"/>
            <a:ext cx="683741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24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D74B4E-A40B-4C6D-A3B9-BA854A524C46}"/>
              </a:ext>
            </a:extLst>
          </p:cNvPr>
          <p:cNvSpPr txBox="1"/>
          <p:nvPr/>
        </p:nvSpPr>
        <p:spPr>
          <a:xfrm>
            <a:off x="5111571" y="2156557"/>
            <a:ext cx="2459002" cy="123537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= T + p</a:t>
            </a:r>
            <a:r>
              <a:rPr lang="en-US" sz="24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= T + p</a:t>
            </a:r>
            <a:r>
              <a:rPr lang="en-US" sz="24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66DF52-1DC0-4868-8DB1-74D4C0A703AA}"/>
              </a:ext>
            </a:extLst>
          </p:cNvPr>
          <p:cNvSpPr txBox="1"/>
          <p:nvPr/>
        </p:nvSpPr>
        <p:spPr>
          <a:xfrm>
            <a:off x="4712037" y="3863328"/>
            <a:ext cx="3875910" cy="73863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Propagation delay - negligible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58F45C-1039-4C2D-AE95-8650DCB97D3C}"/>
              </a:ext>
            </a:extLst>
          </p:cNvPr>
          <p:cNvSpPr txBox="1"/>
          <p:nvPr/>
        </p:nvSpPr>
        <p:spPr>
          <a:xfrm>
            <a:off x="4712037" y="4899610"/>
            <a:ext cx="3875910" cy="67823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4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= T</a:t>
            </a:r>
            <a:r>
              <a:rPr lang="en-US" sz="24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 + 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07B57F1-D382-4CE9-8519-1425AB617389}"/>
              </a:ext>
            </a:extLst>
          </p:cNvPr>
          <p:cNvSpPr/>
          <p:nvPr/>
        </p:nvSpPr>
        <p:spPr>
          <a:xfrm>
            <a:off x="6341072" y="5016303"/>
            <a:ext cx="389242" cy="378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480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15" grpId="0"/>
      <p:bldP spid="16" grpId="0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5" y="400839"/>
            <a:ext cx="7267835" cy="98311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Is RBS extremely accurate 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40798-B41E-48C6-A643-BD71433B88BD}"/>
              </a:ext>
            </a:extLst>
          </p:cNvPr>
          <p:cNvSpPr txBox="1"/>
          <p:nvPr/>
        </p:nvSpPr>
        <p:spPr>
          <a:xfrm>
            <a:off x="296563" y="1711534"/>
            <a:ext cx="7883610" cy="341629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No as both skew and offset contribute to lack of sync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Offset – as each node may start at different time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Works well in single – hop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Requires Time Translation in case of multi-hop</a:t>
            </a:r>
          </a:p>
        </p:txBody>
      </p:sp>
    </p:spTree>
    <p:extLst>
      <p:ext uri="{BB962C8B-B14F-4D97-AF65-F5344CB8AC3E}">
        <p14:creationId xmlns:p14="http://schemas.microsoft.com/office/powerpoint/2010/main" val="2770313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Time Translation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0F567F7-771A-4C04-9535-F1A6FB533EA7}"/>
              </a:ext>
            </a:extLst>
          </p:cNvPr>
          <p:cNvSpPr/>
          <p:nvPr/>
        </p:nvSpPr>
        <p:spPr>
          <a:xfrm>
            <a:off x="1015312" y="2040927"/>
            <a:ext cx="2286000" cy="2286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AAAAD35-DF56-45F1-A9B1-539D2F667565}"/>
              </a:ext>
            </a:extLst>
          </p:cNvPr>
          <p:cNvSpPr/>
          <p:nvPr/>
        </p:nvSpPr>
        <p:spPr>
          <a:xfrm>
            <a:off x="2463112" y="2726727"/>
            <a:ext cx="2286000" cy="2286000"/>
          </a:xfrm>
          <a:prstGeom prst="ellipse">
            <a:avLst/>
          </a:prstGeom>
          <a:solidFill>
            <a:srgbClr val="FFCCFF">
              <a:alpha val="55000"/>
            </a:srgbClr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57923A3-7966-4537-BA0F-D6DC10FD2A6B}"/>
              </a:ext>
            </a:extLst>
          </p:cNvPr>
          <p:cNvSpPr/>
          <p:nvPr/>
        </p:nvSpPr>
        <p:spPr>
          <a:xfrm>
            <a:off x="2005912" y="2955327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4BEDB9D-E8FD-4E4C-9BA6-E84B62A8BD87}"/>
              </a:ext>
            </a:extLst>
          </p:cNvPr>
          <p:cNvSpPr/>
          <p:nvPr/>
        </p:nvSpPr>
        <p:spPr>
          <a:xfrm>
            <a:off x="3529912" y="3793527"/>
            <a:ext cx="228600" cy="2286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34" name="TextBox 8">
            <a:extLst>
              <a:ext uri="{FF2B5EF4-FFF2-40B4-BE49-F238E27FC236}">
                <a16:creationId xmlns:a16="http://schemas.microsoft.com/office/drawing/2014/main" id="{39E800BC-D52D-48FB-9B54-496A6D04E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7312" y="2483426"/>
            <a:ext cx="609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A</a:t>
            </a:r>
            <a:endParaRPr lang="en-IN" dirty="0"/>
          </a:p>
        </p:txBody>
      </p:sp>
      <p:sp>
        <p:nvSpPr>
          <p:cNvPr id="35" name="TextBox 9">
            <a:extLst>
              <a:ext uri="{FF2B5EF4-FFF2-40B4-BE49-F238E27FC236}">
                <a16:creationId xmlns:a16="http://schemas.microsoft.com/office/drawing/2014/main" id="{954FD344-5E79-41CD-9618-3EB7BD36D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0912" y="3445071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B</a:t>
            </a:r>
            <a:endParaRPr lang="en-IN" dirty="0"/>
          </a:p>
        </p:txBody>
      </p:sp>
      <p:sp>
        <p:nvSpPr>
          <p:cNvPr id="36" name="TextBox 10">
            <a:extLst>
              <a:ext uri="{FF2B5EF4-FFF2-40B4-BE49-F238E27FC236}">
                <a16:creationId xmlns:a16="http://schemas.microsoft.com/office/drawing/2014/main" id="{F5C6CC6C-02F9-4962-B5CB-5C9359749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112" y="2421927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  <a:endParaRPr lang="en-IN"/>
          </a:p>
        </p:txBody>
      </p:sp>
      <p:sp>
        <p:nvSpPr>
          <p:cNvPr id="37" name="TextBox 11">
            <a:extLst>
              <a:ext uri="{FF2B5EF4-FFF2-40B4-BE49-F238E27FC236}">
                <a16:creationId xmlns:a16="http://schemas.microsoft.com/office/drawing/2014/main" id="{64B5560D-BE74-49BC-9EDD-C183A1F47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8312" y="2269527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  <a:endParaRPr lang="en-IN"/>
          </a:p>
        </p:txBody>
      </p:sp>
      <p:sp>
        <p:nvSpPr>
          <p:cNvPr id="38" name="TextBox 13">
            <a:extLst>
              <a:ext uri="{FF2B5EF4-FFF2-40B4-BE49-F238E27FC236}">
                <a16:creationId xmlns:a16="http://schemas.microsoft.com/office/drawing/2014/main" id="{12E1120E-F60F-49FE-BF2C-C32139DB1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7312" y="3576040"/>
            <a:ext cx="609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  <a:endParaRPr lang="en-IN"/>
          </a:p>
        </p:txBody>
      </p:sp>
      <p:sp>
        <p:nvSpPr>
          <p:cNvPr id="39" name="TextBox 14">
            <a:extLst>
              <a:ext uri="{FF2B5EF4-FFF2-40B4-BE49-F238E27FC236}">
                <a16:creationId xmlns:a16="http://schemas.microsoft.com/office/drawing/2014/main" id="{8F3FF7C3-2853-46EC-B149-300BD32EA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5512" y="3499840"/>
            <a:ext cx="609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  <a:endParaRPr lang="en-IN"/>
          </a:p>
        </p:txBody>
      </p:sp>
      <p:sp>
        <p:nvSpPr>
          <p:cNvPr id="40" name="TextBox 15">
            <a:extLst>
              <a:ext uri="{FF2B5EF4-FFF2-40B4-BE49-F238E27FC236}">
                <a16:creationId xmlns:a16="http://schemas.microsoft.com/office/drawing/2014/main" id="{B4261F9F-8066-4588-A150-E931A62893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0312" y="4250727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  <a:endParaRPr lang="en-IN"/>
          </a:p>
        </p:txBody>
      </p:sp>
      <p:sp>
        <p:nvSpPr>
          <p:cNvPr id="41" name="TextBox 16">
            <a:extLst>
              <a:ext uri="{FF2B5EF4-FFF2-40B4-BE49-F238E27FC236}">
                <a16:creationId xmlns:a16="http://schemas.microsoft.com/office/drawing/2014/main" id="{D67C3C78-57D2-4390-ACE7-B9FECB233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2312" y="3183927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  <a:endParaRPr lang="en-IN"/>
          </a:p>
        </p:txBody>
      </p:sp>
      <p:sp>
        <p:nvSpPr>
          <p:cNvPr id="42" name="TextBox 17">
            <a:extLst>
              <a:ext uri="{FF2B5EF4-FFF2-40B4-BE49-F238E27FC236}">
                <a16:creationId xmlns:a16="http://schemas.microsoft.com/office/drawing/2014/main" id="{9899DD32-6D7A-4F77-A1AE-559178338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7112" y="4185640"/>
            <a:ext cx="609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7</a:t>
            </a:r>
            <a:endParaRPr lang="en-I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6E0A6A5-99CC-4E6A-AFCF-240849A8EC5A}"/>
              </a:ext>
            </a:extLst>
          </p:cNvPr>
          <p:cNvSpPr/>
          <p:nvPr/>
        </p:nvSpPr>
        <p:spPr>
          <a:xfrm>
            <a:off x="4139512" y="3945927"/>
            <a:ext cx="228600" cy="2286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2B57022-6969-4112-AC3A-E3DE7EE9EC1D}"/>
              </a:ext>
            </a:extLst>
          </p:cNvPr>
          <p:cNvSpPr/>
          <p:nvPr/>
        </p:nvSpPr>
        <p:spPr>
          <a:xfrm>
            <a:off x="3834712" y="2955327"/>
            <a:ext cx="228600" cy="2286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2307EB3-DC51-4C36-B58A-A3B1A2240026}"/>
              </a:ext>
            </a:extLst>
          </p:cNvPr>
          <p:cNvSpPr/>
          <p:nvPr/>
        </p:nvSpPr>
        <p:spPr>
          <a:xfrm>
            <a:off x="3225112" y="4479327"/>
            <a:ext cx="228600" cy="2286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D4373F8-D436-4C1C-A65B-670633432DA1}"/>
              </a:ext>
            </a:extLst>
          </p:cNvPr>
          <p:cNvSpPr/>
          <p:nvPr/>
        </p:nvSpPr>
        <p:spPr>
          <a:xfrm>
            <a:off x="2844112" y="3183927"/>
            <a:ext cx="228600" cy="2286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ECBDBE2-9FA4-4802-BA47-111484CC22CF}"/>
              </a:ext>
            </a:extLst>
          </p:cNvPr>
          <p:cNvSpPr/>
          <p:nvPr/>
        </p:nvSpPr>
        <p:spPr>
          <a:xfrm>
            <a:off x="2463112" y="2345727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3CD2171-E1B1-425C-AFAE-072563B12F1E}"/>
              </a:ext>
            </a:extLst>
          </p:cNvPr>
          <p:cNvSpPr/>
          <p:nvPr/>
        </p:nvSpPr>
        <p:spPr>
          <a:xfrm>
            <a:off x="1320112" y="2802927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592027E-8BC7-4383-85F3-3F64ED495EDA}"/>
              </a:ext>
            </a:extLst>
          </p:cNvPr>
          <p:cNvSpPr/>
          <p:nvPr/>
        </p:nvSpPr>
        <p:spPr>
          <a:xfrm>
            <a:off x="1548712" y="3488727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A798A34-04E6-429B-898A-D70F355DE95D}"/>
              </a:ext>
            </a:extLst>
          </p:cNvPr>
          <p:cNvSpPr txBox="1"/>
          <p:nvPr/>
        </p:nvSpPr>
        <p:spPr>
          <a:xfrm>
            <a:off x="4966777" y="1908142"/>
            <a:ext cx="417722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24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sent</a:t>
            </a:r>
          </a:p>
          <a:p>
            <a:pPr>
              <a:spcBef>
                <a:spcPts val="600"/>
              </a:spcBef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sz="24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occurs 2 units later</a:t>
            </a:r>
          </a:p>
          <a:p>
            <a:pPr>
              <a:spcBef>
                <a:spcPts val="600"/>
              </a:spcBef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sz="24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occurs</a:t>
            </a:r>
          </a:p>
          <a:p>
            <a:pPr>
              <a:spcBef>
                <a:spcPts val="600"/>
              </a:spcBef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24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sent 4 units later </a:t>
            </a:r>
          </a:p>
          <a:p>
            <a:pPr>
              <a:spcBef>
                <a:spcPts val="600"/>
              </a:spcBef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24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sent 10 units before P</a:t>
            </a:r>
            <a:r>
              <a:rPr lang="en-US" sz="24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n-IN" sz="2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A7767D4-54B7-4D8F-8C4B-27DF567E125F}"/>
              </a:ext>
            </a:extLst>
          </p:cNvPr>
          <p:cNvSpPr txBox="1"/>
          <p:nvPr/>
        </p:nvSpPr>
        <p:spPr>
          <a:xfrm>
            <a:off x="4938170" y="3956227"/>
            <a:ext cx="4177223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sz="24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 = P</a:t>
            </a:r>
            <a:r>
              <a:rPr lang="en-US" sz="24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+ 2 </a:t>
            </a:r>
          </a:p>
          <a:p>
            <a:pPr>
              <a:spcBef>
                <a:spcPts val="600"/>
              </a:spcBef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sz="24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=  P</a:t>
            </a:r>
            <a:r>
              <a:rPr lang="en-US" sz="24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- 4 </a:t>
            </a:r>
          </a:p>
          <a:p>
            <a:pPr>
              <a:spcBef>
                <a:spcPts val="600"/>
              </a:spcBef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24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= P</a:t>
            </a:r>
            <a:r>
              <a:rPr lang="en-US" sz="24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B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+ 10</a:t>
            </a:r>
          </a:p>
          <a:p>
            <a:pPr>
              <a:spcBef>
                <a:spcPts val="600"/>
              </a:spcBef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sz="24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– E</a:t>
            </a:r>
            <a:r>
              <a:rPr lang="en-US" sz="24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= P</a:t>
            </a:r>
            <a:r>
              <a:rPr lang="en-US" sz="24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+ 10 + 2 – P</a:t>
            </a:r>
            <a:r>
              <a:rPr lang="en-US" sz="24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+4 </a:t>
            </a:r>
          </a:p>
          <a:p>
            <a:pPr>
              <a:spcBef>
                <a:spcPts val="600"/>
              </a:spcBef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sz="24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– E</a:t>
            </a:r>
            <a:r>
              <a:rPr lang="en-US" sz="24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= 16 </a:t>
            </a: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743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7F593CC-5615-4785-B585-AFF2D3B1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Time Sync Protocols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DD0911-D1EC-449B-B60C-BD436CF42A15}"/>
              </a:ext>
            </a:extLst>
          </p:cNvPr>
          <p:cNvSpPr txBox="1"/>
          <p:nvPr/>
        </p:nvSpPr>
        <p:spPr>
          <a:xfrm>
            <a:off x="296563" y="2357865"/>
            <a:ext cx="7883610" cy="276995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Type1 : Time servers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Type2 : Translate time thro’ </a:t>
            </a:r>
            <a:r>
              <a:rPr lang="en-IN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ntk</a:t>
            </a: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Type3 : Self-organize to sync clock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00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8_Blank">
  <a:themeElements>
    <a:clrScheme name="Bits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FCB017"/>
      </a:accent1>
      <a:accent2>
        <a:srgbClr val="76C2E5"/>
      </a:accent2>
      <a:accent3>
        <a:srgbClr val="FF0000"/>
      </a:accent3>
      <a:accent4>
        <a:srgbClr val="002960"/>
      </a:accent4>
      <a:accent5>
        <a:srgbClr val="FF6600"/>
      </a:accent5>
      <a:accent6>
        <a:srgbClr val="808080"/>
      </a:accent6>
      <a:hlink>
        <a:srgbClr val="FF0000"/>
      </a:hlink>
      <a:folHlink>
        <a:srgbClr val="00296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lIns="91425" tIns="91425" rIns="91425" bIns="91425" anchor="b" anchorCtr="0"/>
      <a:lstStyle>
        <a:defPPr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492</TotalTime>
  <Words>213</Words>
  <Application>Microsoft Office PowerPoint</Application>
  <PresentationFormat>On-screen Show (4:3)</PresentationFormat>
  <Paragraphs>66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Symbol</vt:lpstr>
      <vt:lpstr>Times New Roman</vt:lpstr>
      <vt:lpstr>Tw Cen MT Condensed</vt:lpstr>
      <vt:lpstr>8_Blank</vt:lpstr>
      <vt:lpstr>Wireless Sensor Network – Time Sync Protocols </vt:lpstr>
      <vt:lpstr>Time Sync Types</vt:lpstr>
      <vt:lpstr>Receiver – Receiver Synch Receiver Broadcasting Service (RBS)</vt:lpstr>
      <vt:lpstr>RBS</vt:lpstr>
      <vt:lpstr>TPSN - Inaccuracies</vt:lpstr>
      <vt:lpstr>Inaccuracies Removed ??</vt:lpstr>
      <vt:lpstr>Is RBS extremely accurate ?</vt:lpstr>
      <vt:lpstr>Time Translation</vt:lpstr>
      <vt:lpstr>Time Sync Protocols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WILP Transformation  Work Stream  Update in WSLM 14: MAY 27, 2015</dc:title>
  <dc:creator>Clarance Suman Vissakodeti</dc:creator>
  <cp:lastModifiedBy>Anupama KR</cp:lastModifiedBy>
  <cp:revision>48</cp:revision>
  <dcterms:modified xsi:type="dcterms:W3CDTF">2017-09-05T10:11:33Z</dcterms:modified>
</cp:coreProperties>
</file>