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6" r:id="rId1"/>
  </p:sldMasterIdLst>
  <p:sldIdLst>
    <p:sldId id="269" r:id="rId2"/>
    <p:sldId id="270" r:id="rId3"/>
    <p:sldId id="271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8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50860"/>
    <a:srgbClr val="1C1573"/>
    <a:srgbClr val="283E84"/>
    <a:srgbClr val="211D71"/>
    <a:srgbClr val="000099"/>
    <a:srgbClr val="1E2F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6305" autoAdjust="0"/>
  </p:normalViewPr>
  <p:slideViewPr>
    <p:cSldViewPr>
      <p:cViewPr varScale="1">
        <p:scale>
          <a:sx n="78" d="100"/>
          <a:sy n="78" d="100"/>
        </p:scale>
        <p:origin x="878" y="62"/>
      </p:cViewPr>
      <p:guideLst>
        <p:guide orient="horz" pos="2208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8" t="-543" r="178" b="-543"/>
          <a:stretch/>
        </p:blipFill>
        <p:spPr>
          <a:xfrm>
            <a:off x="4750810" y="2223656"/>
            <a:ext cx="2690381" cy="2729344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17420"/>
            <a:ext cx="12192000" cy="4058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3335" y="2482116"/>
            <a:ext cx="8848465" cy="2130566"/>
          </a:xfrm>
          <a:prstGeom prst="rect">
            <a:avLst/>
          </a:prstGeom>
        </p:spPr>
      </p:pic>
      <p:sp>
        <p:nvSpPr>
          <p:cNvPr id="7" name="Title 1"/>
          <p:cNvSpPr txBox="1">
            <a:spLocks/>
          </p:cNvSpPr>
          <p:nvPr userDrawn="1"/>
        </p:nvSpPr>
        <p:spPr>
          <a:xfrm>
            <a:off x="1831508" y="2575123"/>
            <a:ext cx="8666988" cy="19368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kern="1200">
                <a:solidFill>
                  <a:schemeClr val="bg1"/>
                </a:solidFill>
                <a:latin typeface="Helvetica" panose="020B060402020203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en-US" sz="3600" dirty="0"/>
              <a:t>Click to edit Session title</a:t>
            </a:r>
          </a:p>
        </p:txBody>
      </p:sp>
    </p:spTree>
    <p:extLst>
      <p:ext uri="{BB962C8B-B14F-4D97-AF65-F5344CB8AC3E}">
        <p14:creationId xmlns:p14="http://schemas.microsoft.com/office/powerpoint/2010/main" val="1461970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8" t="-543" r="178" b="-543"/>
          <a:stretch/>
        </p:blipFill>
        <p:spPr>
          <a:xfrm>
            <a:off x="4750810" y="2223656"/>
            <a:ext cx="2690381" cy="272934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 algn="r">
              <a:defRPr sz="5400" b="1">
                <a:solidFill>
                  <a:srgbClr val="150860"/>
                </a:solidFill>
                <a:latin typeface="Helvetica"/>
                <a:cs typeface="Helvetica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 algn="r">
              <a:buNone/>
              <a:defRPr sz="2400" b="0" i="0">
                <a:solidFill>
                  <a:schemeClr val="tx1">
                    <a:tint val="75000"/>
                  </a:schemeClr>
                </a:solidFill>
                <a:latin typeface="Helvetica Light"/>
                <a:cs typeface="Helvetica Ligh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17420"/>
            <a:ext cx="12192000" cy="4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6871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8" t="-543" r="178" b="-543"/>
          <a:stretch/>
        </p:blipFill>
        <p:spPr>
          <a:xfrm>
            <a:off x="4750810" y="2223656"/>
            <a:ext cx="2690381" cy="272934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17420"/>
            <a:ext cx="12192000" cy="4058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0569"/>
            <a:ext cx="10668000" cy="76436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60569"/>
            <a:ext cx="9321800" cy="764364"/>
          </a:xfrm>
        </p:spPr>
        <p:txBody>
          <a:bodyPr>
            <a:normAutofit/>
          </a:bodyPr>
          <a:lstStyle>
            <a:lvl1pPr>
              <a:defRPr sz="3200" b="1">
                <a:solidFill>
                  <a:schemeClr val="bg1"/>
                </a:solidFill>
                <a:latin typeface="Helvetica" panose="020B060402020203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>
          <a:xfrm>
            <a:off x="857739" y="1600201"/>
            <a:ext cx="10160000" cy="2728913"/>
          </a:xfrm>
        </p:spPr>
        <p:txBody>
          <a:bodyPr/>
          <a:lstStyle>
            <a:lvl1pPr>
              <a:defRPr sz="1800">
                <a:latin typeface="Helvetica" panose="020B0604020202030204" pitchFamily="34" charset="0"/>
              </a:defRPr>
            </a:lvl1pPr>
            <a:lvl2pPr>
              <a:defRPr sz="1600">
                <a:latin typeface="Helvetica" panose="020B0604020202030204" pitchFamily="34" charset="0"/>
              </a:defRPr>
            </a:lvl2pPr>
            <a:lvl3pPr>
              <a:defRPr sz="1400">
                <a:latin typeface="Helvetica" panose="020B0604020202030204" pitchFamily="34" charset="0"/>
              </a:defRPr>
            </a:lvl3pPr>
            <a:lvl4pPr>
              <a:defRPr sz="1200">
                <a:latin typeface="Helvetica" panose="020B0604020202030204" pitchFamily="34" charset="0"/>
              </a:defRPr>
            </a:lvl4pPr>
            <a:lvl5pPr>
              <a:defRPr sz="1200">
                <a:latin typeface="Helvetica" panose="020B0604020202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4"/>
          </p:nvPr>
        </p:nvSpPr>
        <p:spPr>
          <a:xfrm>
            <a:off x="329247" y="1143001"/>
            <a:ext cx="11196956" cy="395287"/>
          </a:xfrm>
        </p:spPr>
        <p:txBody>
          <a:bodyPr>
            <a:normAutofit/>
          </a:bodyPr>
          <a:lstStyle>
            <a:lvl1pPr marL="0" indent="0">
              <a:buNone/>
              <a:defRPr sz="2000" b="1">
                <a:solidFill>
                  <a:srgbClr val="1C1573"/>
                </a:solidFill>
                <a:latin typeface="Helvetica" panose="020B0604020202030204" pitchFamily="34" charset="0"/>
              </a:defRPr>
            </a:lvl1pPr>
            <a:lvl2pPr>
              <a:defRPr b="1">
                <a:solidFill>
                  <a:srgbClr val="1C1573"/>
                </a:solidFill>
                <a:latin typeface="Helvetica" panose="020B0604020202030204" pitchFamily="34" charset="0"/>
              </a:defRPr>
            </a:lvl2pPr>
            <a:lvl3pPr>
              <a:defRPr b="1">
                <a:solidFill>
                  <a:srgbClr val="1C1573"/>
                </a:solidFill>
                <a:latin typeface="Helvetica" panose="020B0604020202030204" pitchFamily="34" charset="0"/>
              </a:defRPr>
            </a:lvl3pPr>
            <a:lvl4pPr>
              <a:defRPr b="1">
                <a:solidFill>
                  <a:srgbClr val="1C1573"/>
                </a:solidFill>
                <a:latin typeface="Helvetica" panose="020B0604020202030204" pitchFamily="34" charset="0"/>
              </a:defRPr>
            </a:lvl4pPr>
            <a:lvl5pPr>
              <a:defRPr b="1">
                <a:solidFill>
                  <a:srgbClr val="1C1573"/>
                </a:solidFill>
                <a:latin typeface="Helvetica" panose="020B0604020202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05642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6184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40" r:id="rId2"/>
    <p:sldLayoutId id="214748374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DevOps Practices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Treat Ops as first-class citizens from the point of view of requirements</a:t>
            </a:r>
          </a:p>
          <a:p>
            <a:r>
              <a:rPr lang="en-US" dirty="0"/>
              <a:t>Make Dev more responsible for relevant incident handling</a:t>
            </a:r>
          </a:p>
          <a:p>
            <a:r>
              <a:rPr lang="en-US" dirty="0"/>
              <a:t>Enforce the deployment process used by all, including Dev and Ops personnel</a:t>
            </a:r>
          </a:p>
          <a:p>
            <a:r>
              <a:rPr lang="en-US" dirty="0"/>
              <a:t>Use continuous deployment</a:t>
            </a:r>
          </a:p>
          <a:p>
            <a:r>
              <a:rPr lang="en-US" dirty="0"/>
              <a:t>Develop infrastructure code, such as deployment scripts</a:t>
            </a:r>
          </a:p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Five different categories of DevOps practices</a:t>
            </a:r>
          </a:p>
        </p:txBody>
      </p:sp>
    </p:spTree>
    <p:extLst>
      <p:ext uri="{BB962C8B-B14F-4D97-AF65-F5344CB8AC3E}">
        <p14:creationId xmlns:p14="http://schemas.microsoft.com/office/powerpoint/2010/main" val="20309441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DevOps Practices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DevOps life cycle processes by Porter’s value chain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0025" y="2133600"/>
            <a:ext cx="8915400" cy="297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629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DevOps Practices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857739" y="1600201"/>
            <a:ext cx="10160000" cy="3505199"/>
          </a:xfrm>
        </p:spPr>
        <p:txBody>
          <a:bodyPr>
            <a:normAutofit/>
          </a:bodyPr>
          <a:lstStyle/>
          <a:p>
            <a:r>
              <a:rPr lang="en-US" dirty="0"/>
              <a:t>IT professional</a:t>
            </a:r>
          </a:p>
          <a:p>
            <a:pPr lvl="1"/>
            <a:r>
              <a:rPr lang="en-US" dirty="0"/>
              <a:t>help desk support</a:t>
            </a:r>
          </a:p>
          <a:p>
            <a:r>
              <a:rPr lang="en-US" dirty="0"/>
              <a:t>operator, and operations personnel</a:t>
            </a:r>
          </a:p>
          <a:p>
            <a:pPr lvl="1"/>
            <a:r>
              <a:rPr lang="en-US" dirty="0"/>
              <a:t>hands-on access to the hardware—installing and configuring hardware, managing backups, and maintaining printers</a:t>
            </a:r>
          </a:p>
          <a:p>
            <a:r>
              <a:rPr lang="en-US" dirty="0"/>
              <a:t>System administrator</a:t>
            </a:r>
          </a:p>
          <a:p>
            <a:pPr lvl="1"/>
            <a:r>
              <a:rPr lang="en-US" dirty="0"/>
              <a:t>responsible for uptime, performance, resources, and security of computer systems</a:t>
            </a:r>
          </a:p>
          <a:p>
            <a:endParaRPr lang="en-US" dirty="0"/>
          </a:p>
          <a:p>
            <a:r>
              <a:rPr lang="en-US" dirty="0"/>
              <a:t>Note :We will use term operator though out the course refer to anyone who performs computer operator or system administration tasks (or both)</a:t>
            </a:r>
          </a:p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Common terminology used</a:t>
            </a:r>
          </a:p>
        </p:txBody>
      </p:sp>
    </p:spTree>
    <p:extLst>
      <p:ext uri="{BB962C8B-B14F-4D97-AF65-F5344CB8AC3E}">
        <p14:creationId xmlns:p14="http://schemas.microsoft.com/office/powerpoint/2010/main" val="2403995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its_16-9-template" id="{B7A0C74C-E369-44C7-A546-EF1EA9C648F2}" vid="{8DB36153-B58A-4978-9624-5131A009622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Bits_Recording_Sample</Template>
  <TotalTime>128</TotalTime>
  <Words>135</Words>
  <Application>Microsoft Office PowerPoint</Application>
  <PresentationFormat>Widescreen</PresentationFormat>
  <Paragraphs>19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Calibri</vt:lpstr>
      <vt:lpstr>Calibri Light</vt:lpstr>
      <vt:lpstr>Helvetica</vt:lpstr>
      <vt:lpstr>Helvetica Light</vt:lpstr>
      <vt:lpstr>Office Theme</vt:lpstr>
      <vt:lpstr>DevOps Practices</vt:lpstr>
      <vt:lpstr>DevOps Practices</vt:lpstr>
      <vt:lpstr>DevOps Practices</vt:lpstr>
    </vt:vector>
  </TitlesOfParts>
  <Company>HP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DevOps</dc:title>
  <dc:creator>Sonika Rathi</dc:creator>
  <cp:lastModifiedBy>Abid AK</cp:lastModifiedBy>
  <cp:revision>4</cp:revision>
  <dcterms:created xsi:type="dcterms:W3CDTF">2019-03-25T12:04:05Z</dcterms:created>
  <dcterms:modified xsi:type="dcterms:W3CDTF">2025-04-18T12:31:07Z</dcterms:modified>
</cp:coreProperties>
</file>