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4572000" cy="3429000"/>
  <p:notesSz cx="4572000" cy="3429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2900" y="1062990"/>
            <a:ext cx="3886200" cy="720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5800" y="1920240"/>
            <a:ext cx="3200400" cy="857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8600" y="788670"/>
            <a:ext cx="1988820" cy="2263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54580" y="788670"/>
            <a:ext cx="1988820" cy="2263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81100" y="647667"/>
            <a:ext cx="1164590" cy="23495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37" y="0"/>
                </a:moveTo>
                <a:lnTo>
                  <a:pt x="0" y="0"/>
                </a:lnTo>
                <a:lnTo>
                  <a:pt x="0" y="23018"/>
                </a:lnTo>
                <a:lnTo>
                  <a:pt x="1164437" y="23018"/>
                </a:lnTo>
                <a:lnTo>
                  <a:pt x="1164437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7667"/>
            <a:ext cx="1181100" cy="23495"/>
          </a:xfrm>
          <a:custGeom>
            <a:avLst/>
            <a:gdLst/>
            <a:ahLst/>
            <a:cxnLst/>
            <a:rect l="l" t="t" r="r" b="b"/>
            <a:pathLst>
              <a:path w="1181100" h="23495">
                <a:moveTo>
                  <a:pt x="1181100" y="0"/>
                </a:moveTo>
                <a:lnTo>
                  <a:pt x="0" y="0"/>
                </a:lnTo>
                <a:lnTo>
                  <a:pt x="0" y="23018"/>
                </a:lnTo>
                <a:lnTo>
                  <a:pt x="1181100" y="23018"/>
                </a:lnTo>
                <a:lnTo>
                  <a:pt x="11811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340736" y="647667"/>
            <a:ext cx="1164590" cy="23495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24" y="0"/>
                </a:moveTo>
                <a:lnTo>
                  <a:pt x="0" y="0"/>
                </a:lnTo>
                <a:lnTo>
                  <a:pt x="0" y="23018"/>
                </a:lnTo>
                <a:lnTo>
                  <a:pt x="1164424" y="23018"/>
                </a:lnTo>
                <a:lnTo>
                  <a:pt x="11644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247900" y="3276567"/>
            <a:ext cx="1164590" cy="23495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37" y="0"/>
                </a:moveTo>
                <a:lnTo>
                  <a:pt x="0" y="0"/>
                </a:lnTo>
                <a:lnTo>
                  <a:pt x="0" y="23018"/>
                </a:lnTo>
                <a:lnTo>
                  <a:pt x="1164437" y="23018"/>
                </a:lnTo>
                <a:lnTo>
                  <a:pt x="1164437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66800" y="3276567"/>
            <a:ext cx="1181100" cy="23495"/>
          </a:xfrm>
          <a:custGeom>
            <a:avLst/>
            <a:gdLst/>
            <a:ahLst/>
            <a:cxnLst/>
            <a:rect l="l" t="t" r="r" b="b"/>
            <a:pathLst>
              <a:path w="1181100" h="23495">
                <a:moveTo>
                  <a:pt x="1181100" y="0"/>
                </a:moveTo>
                <a:lnTo>
                  <a:pt x="0" y="0"/>
                </a:lnTo>
                <a:lnTo>
                  <a:pt x="0" y="23018"/>
                </a:lnTo>
                <a:lnTo>
                  <a:pt x="1181100" y="23018"/>
                </a:lnTo>
                <a:lnTo>
                  <a:pt x="11811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407536" y="3276567"/>
            <a:ext cx="1164590" cy="23495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24" y="0"/>
                </a:moveTo>
                <a:lnTo>
                  <a:pt x="0" y="0"/>
                </a:lnTo>
                <a:lnTo>
                  <a:pt x="0" y="23018"/>
                </a:lnTo>
                <a:lnTo>
                  <a:pt x="1164424" y="23018"/>
                </a:lnTo>
                <a:lnTo>
                  <a:pt x="11644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700" y="0"/>
            <a:ext cx="1096962" cy="3460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000" y="112597"/>
            <a:ext cx="4355998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5171" y="790193"/>
            <a:ext cx="2900045" cy="1268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54480" y="3188970"/>
            <a:ext cx="146304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8600" y="3188970"/>
            <a:ext cx="105156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91840" y="3188970"/>
            <a:ext cx="105156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hyperlink" Target="https://youtu.be/k4iWumuQkjM" TargetMode="External"/><Relationship Id="rId4" Type="http://schemas.openxmlformats.org/officeDocument/2006/relationships/hyperlink" Target="https://youtu.be/rSk9bsqlL20" TargetMode="External"/><Relationship Id="rId5" Type="http://schemas.openxmlformats.org/officeDocument/2006/relationships/hyperlink" Target="https://youtu.be/8BUN90TNKlE" TargetMode="External"/><Relationship Id="rId6" Type="http://schemas.openxmlformats.org/officeDocument/2006/relationships/hyperlink" Target="https://youtu.be/DJd-ax0UqBk" TargetMode="External"/><Relationship Id="rId7" Type="http://schemas.openxmlformats.org/officeDocument/2006/relationships/hyperlink" Target="https://youtu.be/Ga8Icx8e2FM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3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40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4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4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4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44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4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4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50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5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52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53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54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0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2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3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4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5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6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67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69.png"/><Relationship Id="rId4" Type="http://schemas.openxmlformats.org/officeDocument/2006/relationships/image" Target="../media/image70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18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26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69.png"/><Relationship Id="rId5" Type="http://schemas.openxmlformats.org/officeDocument/2006/relationships/image" Target="../media/image73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87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91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9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4572000" cy="3429000"/>
            <a:chOff x="0" y="0"/>
            <a:chExt cx="4572000" cy="3429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8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1676399"/>
              <a:ext cx="4343400" cy="1371600"/>
            </a:xfrm>
            <a:custGeom>
              <a:avLst/>
              <a:gdLst/>
              <a:ahLst/>
              <a:cxnLst/>
              <a:rect l="l" t="t" r="r" b="b"/>
              <a:pathLst>
                <a:path w="4343400" h="1371600">
                  <a:moveTo>
                    <a:pt x="43434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4343400" y="13716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0F11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47800" y="3047999"/>
              <a:ext cx="1447800" cy="38100"/>
            </a:xfrm>
            <a:custGeom>
              <a:avLst/>
              <a:gdLst/>
              <a:ahLst/>
              <a:cxnLst/>
              <a:rect l="l" t="t" r="r" b="b"/>
              <a:pathLst>
                <a:path w="1447800" h="38100">
                  <a:moveTo>
                    <a:pt x="1447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7800" y="381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047999"/>
              <a:ext cx="1447800" cy="38100"/>
            </a:xfrm>
            <a:custGeom>
              <a:avLst/>
              <a:gdLst/>
              <a:ahLst/>
              <a:cxnLst/>
              <a:rect l="l" t="t" r="r" b="b"/>
              <a:pathLst>
                <a:path w="1447800" h="38100">
                  <a:moveTo>
                    <a:pt x="1447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7800" y="381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95600" y="3047999"/>
              <a:ext cx="1447800" cy="38100"/>
            </a:xfrm>
            <a:custGeom>
              <a:avLst/>
              <a:gdLst/>
              <a:ahLst/>
              <a:cxnLst/>
              <a:rect l="l" t="t" r="r" b="b"/>
              <a:pathLst>
                <a:path w="1447800" h="38100">
                  <a:moveTo>
                    <a:pt x="1447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7800" y="381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" y="1676437"/>
              <a:ext cx="1028700" cy="98979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4241" y="2635122"/>
            <a:ext cx="842010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1689"/>
              </a:lnSpc>
              <a:spcBef>
                <a:spcPts val="100"/>
              </a:spcBef>
            </a:pPr>
            <a:r>
              <a:rPr dirty="0" sz="1450" spc="-7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145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endParaRPr sz="1450">
              <a:latin typeface="Arial MT"/>
              <a:cs typeface="Arial MT"/>
            </a:endParaRPr>
          </a:p>
          <a:p>
            <a:pPr marL="17780">
              <a:lnSpc>
                <a:spcPts val="670"/>
              </a:lnSpc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r>
              <a:rPr dirty="0" sz="6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Campus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03655" y="2058415"/>
            <a:ext cx="29178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85" b="1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dirty="0" sz="22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5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2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57451" y="2682366"/>
            <a:ext cx="227647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ts val="99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Slides</a:t>
            </a: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edited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/compiled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Pradnya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Kashikar</a:t>
            </a:r>
            <a:endParaRPr sz="900">
              <a:latin typeface="Arial MT"/>
              <a:cs typeface="Arial MT"/>
            </a:endParaRPr>
          </a:p>
          <a:p>
            <a:pPr algn="r" marR="5080">
              <a:lnSpc>
                <a:spcPts val="990"/>
              </a:lnSpc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90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DevOps faculty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team.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2161" y="3275005"/>
            <a:ext cx="3529965" cy="24765"/>
            <a:chOff x="1042161" y="3275005"/>
            <a:chExt cx="3529965" cy="24765"/>
          </a:xfrm>
        </p:grpSpPr>
        <p:sp>
          <p:nvSpPr>
            <p:cNvPr id="3" name="object 3" descr=""/>
            <p:cNvSpPr/>
            <p:nvPr/>
          </p:nvSpPr>
          <p:spPr>
            <a:xfrm>
              <a:off x="2315336" y="3275005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454400" y="3275005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2161" y="3275005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973" y="0"/>
            <a:ext cx="1096962" cy="34607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66800" y="3276593"/>
            <a:ext cx="3505200" cy="23495"/>
            <a:chOff x="1066800" y="3276593"/>
            <a:chExt cx="3505200" cy="23495"/>
          </a:xfrm>
        </p:grpSpPr>
        <p:sp>
          <p:nvSpPr>
            <p:cNvPr id="8" name="object 8" descr=""/>
            <p:cNvSpPr/>
            <p:nvPr/>
          </p:nvSpPr>
          <p:spPr>
            <a:xfrm>
              <a:off x="2247900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6800" y="3276593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07536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0" y="647668"/>
            <a:ext cx="3505200" cy="23495"/>
            <a:chOff x="0" y="647668"/>
            <a:chExt cx="35052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8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83793" y="251205"/>
            <a:ext cx="1813560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60"/>
              <a:t>IMP</a:t>
            </a:r>
            <a:r>
              <a:rPr dirty="0" sz="2000" spc="-170"/>
              <a:t> </a:t>
            </a:r>
            <a:r>
              <a:rPr dirty="0" sz="2000" spc="-70"/>
              <a:t>Note</a:t>
            </a:r>
            <a:r>
              <a:rPr dirty="0" sz="2000" spc="-160"/>
              <a:t> </a:t>
            </a:r>
            <a:r>
              <a:rPr dirty="0" sz="2000" spc="-50"/>
              <a:t>to</a:t>
            </a:r>
            <a:r>
              <a:rPr dirty="0" sz="2000" spc="-135"/>
              <a:t> </a:t>
            </a:r>
            <a:r>
              <a:rPr dirty="0" sz="2000" spc="-20"/>
              <a:t>Self</a:t>
            </a:r>
            <a:endParaRPr sz="2000"/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487" y="1238502"/>
            <a:ext cx="3193998" cy="13368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2381" y="0"/>
            <a:ext cx="4577080" cy="3431540"/>
            <a:chOff x="-2381" y="0"/>
            <a:chExt cx="4577080" cy="34315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8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140711"/>
              <a:ext cx="4572000" cy="1288415"/>
            </a:xfrm>
            <a:custGeom>
              <a:avLst/>
              <a:gdLst/>
              <a:ahLst/>
              <a:cxnLst/>
              <a:rect l="l" t="t" r="r" b="b"/>
              <a:pathLst>
                <a:path w="4572000" h="1288414">
                  <a:moveTo>
                    <a:pt x="4572000" y="0"/>
                  </a:moveTo>
                  <a:lnTo>
                    <a:pt x="0" y="0"/>
                  </a:lnTo>
                  <a:lnTo>
                    <a:pt x="0" y="1288288"/>
                  </a:lnTo>
                  <a:lnTo>
                    <a:pt x="4572000" y="1288288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140711"/>
              <a:ext cx="4572000" cy="1288415"/>
            </a:xfrm>
            <a:custGeom>
              <a:avLst/>
              <a:gdLst/>
              <a:ahLst/>
              <a:cxnLst/>
              <a:rect l="l" t="t" r="r" b="b"/>
              <a:pathLst>
                <a:path w="4572000" h="1288414">
                  <a:moveTo>
                    <a:pt x="0" y="1288288"/>
                  </a:moveTo>
                  <a:lnTo>
                    <a:pt x="4572000" y="1288288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1288288"/>
                  </a:lnTo>
                  <a:close/>
                </a:path>
              </a:pathLst>
            </a:custGeom>
            <a:ln w="476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4700" y="0"/>
              <a:ext cx="1096962" cy="34607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41450" y="3387724"/>
              <a:ext cx="1447800" cy="38100"/>
            </a:xfrm>
            <a:custGeom>
              <a:avLst/>
              <a:gdLst/>
              <a:ahLst/>
              <a:cxnLst/>
              <a:rect l="l" t="t" r="r" b="b"/>
              <a:pathLst>
                <a:path w="1447800" h="38100">
                  <a:moveTo>
                    <a:pt x="1447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7800" y="381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387724"/>
              <a:ext cx="1441450" cy="38100"/>
            </a:xfrm>
            <a:custGeom>
              <a:avLst/>
              <a:gdLst/>
              <a:ahLst/>
              <a:cxnLst/>
              <a:rect l="l" t="t" r="r" b="b"/>
              <a:pathLst>
                <a:path w="1441450" h="38100">
                  <a:moveTo>
                    <a:pt x="144145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1450" y="38100"/>
                  </a:lnTo>
                  <a:lnTo>
                    <a:pt x="144145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889250" y="3387724"/>
              <a:ext cx="1447800" cy="38100"/>
            </a:xfrm>
            <a:custGeom>
              <a:avLst/>
              <a:gdLst/>
              <a:ahLst/>
              <a:cxnLst/>
              <a:rect l="l" t="t" r="r" b="b"/>
              <a:pathLst>
                <a:path w="1447800" h="38100">
                  <a:moveTo>
                    <a:pt x="1447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447800" y="381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559302" y="386841"/>
            <a:ext cx="855344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85"/>
              </a:lnSpc>
              <a:spcBef>
                <a:spcPts val="100"/>
              </a:spcBef>
            </a:pPr>
            <a:r>
              <a:rPr dirty="0" sz="1450" spc="-7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145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endParaRPr sz="1450">
              <a:latin typeface="Arial MT"/>
              <a:cs typeface="Arial MT"/>
            </a:endParaRPr>
          </a:p>
          <a:p>
            <a:pPr marL="30480">
              <a:lnSpc>
                <a:spcPts val="665"/>
              </a:lnSpc>
            </a:pP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Pilani</a:t>
            </a:r>
            <a:r>
              <a:rPr dirty="0" sz="6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Campus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711" y="2280030"/>
            <a:ext cx="3580765" cy="8648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 spc="-70" b="1">
                <a:latin typeface="Calibri"/>
                <a:cs typeface="Calibri"/>
              </a:rPr>
              <a:t>CSIW</a:t>
            </a:r>
            <a:r>
              <a:rPr dirty="0" sz="2000" spc="-145" b="1">
                <a:latin typeface="Calibri"/>
                <a:cs typeface="Calibri"/>
              </a:rPr>
              <a:t> </a:t>
            </a:r>
            <a:r>
              <a:rPr dirty="0" sz="2000" spc="-70" b="1">
                <a:latin typeface="Calibri"/>
                <a:cs typeface="Calibri"/>
              </a:rPr>
              <a:t>ZG515,</a:t>
            </a:r>
            <a:r>
              <a:rPr dirty="0" sz="2000" spc="-150" b="1">
                <a:latin typeface="Calibri"/>
                <a:cs typeface="Calibri"/>
              </a:rPr>
              <a:t> </a:t>
            </a:r>
            <a:r>
              <a:rPr dirty="0" sz="2000" spc="-80" b="1">
                <a:latin typeface="Calibri"/>
                <a:cs typeface="Calibri"/>
              </a:rPr>
              <a:t>Introduction</a:t>
            </a:r>
            <a:r>
              <a:rPr dirty="0" sz="2000" spc="-155" b="1">
                <a:latin typeface="Calibri"/>
                <a:cs typeface="Calibri"/>
              </a:rPr>
              <a:t> </a:t>
            </a:r>
            <a:r>
              <a:rPr dirty="0" sz="2000" spc="-55" b="1">
                <a:latin typeface="Calibri"/>
                <a:cs typeface="Calibri"/>
              </a:rPr>
              <a:t>to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1800"/>
              </a:spcBef>
            </a:pPr>
            <a:r>
              <a:rPr dirty="0" sz="2000" spc="-60" b="1">
                <a:latin typeface="Calibri"/>
                <a:cs typeface="Calibri"/>
              </a:rPr>
              <a:t>CS</a:t>
            </a:r>
            <a:r>
              <a:rPr dirty="0" sz="2000" spc="-150" b="1">
                <a:latin typeface="Calibri"/>
                <a:cs typeface="Calibri"/>
              </a:rPr>
              <a:t> </a:t>
            </a:r>
            <a:r>
              <a:rPr dirty="0" sz="2000" spc="-35" b="1">
                <a:latin typeface="Calibri"/>
                <a:cs typeface="Calibri"/>
              </a:rPr>
              <a:t>04</a:t>
            </a:r>
            <a:r>
              <a:rPr dirty="0" sz="2000" spc="-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:</a:t>
            </a:r>
            <a:r>
              <a:rPr dirty="0" sz="2000" spc="-135" b="1">
                <a:latin typeface="Calibri"/>
                <a:cs typeface="Calibri"/>
              </a:rPr>
              <a:t> </a:t>
            </a:r>
            <a:r>
              <a:rPr dirty="0" sz="2000" spc="-80" b="1">
                <a:latin typeface="Calibri"/>
                <a:cs typeface="Calibri"/>
              </a:rPr>
              <a:t>DevOps</a:t>
            </a:r>
            <a:r>
              <a:rPr dirty="0" sz="2000" spc="-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-</a:t>
            </a:r>
            <a:r>
              <a:rPr dirty="0" sz="2000" spc="-1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People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2161" y="3275005"/>
            <a:ext cx="3529965" cy="24765"/>
            <a:chOff x="1042161" y="3275005"/>
            <a:chExt cx="3529965" cy="24765"/>
          </a:xfrm>
        </p:grpSpPr>
        <p:sp>
          <p:nvSpPr>
            <p:cNvPr id="3" name="object 3" descr=""/>
            <p:cNvSpPr/>
            <p:nvPr/>
          </p:nvSpPr>
          <p:spPr>
            <a:xfrm>
              <a:off x="2315336" y="3275005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454400" y="3275005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2161" y="3275005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973" y="0"/>
            <a:ext cx="1096962" cy="34607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66800" y="3276593"/>
            <a:ext cx="3505200" cy="23495"/>
            <a:chOff x="1066800" y="3276593"/>
            <a:chExt cx="3505200" cy="23495"/>
          </a:xfrm>
        </p:grpSpPr>
        <p:sp>
          <p:nvSpPr>
            <p:cNvPr id="8" name="object 8" descr=""/>
            <p:cNvSpPr/>
            <p:nvPr/>
          </p:nvSpPr>
          <p:spPr>
            <a:xfrm>
              <a:off x="2247900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6800" y="3276593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07536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0" y="647668"/>
            <a:ext cx="4490720" cy="2509520"/>
            <a:chOff x="0" y="647668"/>
            <a:chExt cx="4490720" cy="2509520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8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47" y="711706"/>
              <a:ext cx="4411219" cy="244526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99771" y="677036"/>
            <a:ext cx="437769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3515" marR="6350" indent="-171450">
              <a:lnSpc>
                <a:spcPct val="150000"/>
              </a:lnSpc>
              <a:spcBef>
                <a:spcPts val="100"/>
              </a:spcBef>
              <a:buClr>
                <a:srgbClr val="0F1141"/>
              </a:buClr>
              <a:buFont typeface="Wingdings"/>
              <a:buChar char=""/>
              <a:tabLst>
                <a:tab pos="184785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important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login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session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not </a:t>
            </a:r>
            <a:r>
              <a:rPr dirty="0" sz="1200" spc="-25">
                <a:latin typeface="Arial MT"/>
                <a:cs typeface="Arial MT"/>
              </a:rPr>
              <a:t>	</a:t>
            </a:r>
            <a:r>
              <a:rPr dirty="0" sz="1200">
                <a:latin typeface="Arial MT"/>
                <a:cs typeface="Arial MT"/>
              </a:rPr>
              <a:t>guarantee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attendance.</a:t>
            </a:r>
            <a:endParaRPr sz="1200">
              <a:latin typeface="Arial MT"/>
              <a:cs typeface="Arial MT"/>
            </a:endParaRPr>
          </a:p>
          <a:p>
            <a:pPr marL="183515" marR="5080" indent="-171450">
              <a:lnSpc>
                <a:spcPct val="150000"/>
              </a:lnSpc>
              <a:buClr>
                <a:srgbClr val="0F1141"/>
              </a:buClr>
              <a:buFont typeface="Wingdings"/>
              <a:buChar char=""/>
              <a:tabLst>
                <a:tab pos="184785" algn="l"/>
              </a:tabLst>
            </a:pPr>
            <a:r>
              <a:rPr dirty="0" sz="1200">
                <a:latin typeface="Arial MT"/>
                <a:cs typeface="Arial MT"/>
              </a:rPr>
              <a:t>Once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join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session,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continue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till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end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consider </a:t>
            </a:r>
            <a:r>
              <a:rPr dirty="0" sz="1200" spc="-10">
                <a:latin typeface="Arial MT"/>
                <a:cs typeface="Arial MT"/>
              </a:rPr>
              <a:t>	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present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 marL="183515" marR="8890" indent="-171450">
              <a:lnSpc>
                <a:spcPct val="150000"/>
              </a:lnSpc>
              <a:buClr>
                <a:srgbClr val="0F1141"/>
              </a:buClr>
              <a:buFont typeface="Wingdings"/>
              <a:buChar char=""/>
              <a:tabLst>
                <a:tab pos="184785" algn="l"/>
              </a:tabLst>
            </a:pPr>
            <a:r>
              <a:rPr dirty="0" sz="1200" spc="-30">
                <a:latin typeface="Arial MT"/>
                <a:cs typeface="Arial MT"/>
              </a:rPr>
              <a:t>IMPORTANTLY,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interactive </a:t>
            </a:r>
            <a:r>
              <a:rPr dirty="0" sz="1200" spc="-10">
                <a:latin typeface="Arial MT"/>
                <a:cs typeface="Arial MT"/>
              </a:rPr>
              <a:t>	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responding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Professors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queries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session.</a:t>
            </a:r>
            <a:endParaRPr sz="1200">
              <a:latin typeface="Arial MT"/>
              <a:cs typeface="Arial MT"/>
            </a:endParaRPr>
          </a:p>
          <a:p>
            <a:pPr marL="184785" marR="7620" indent="-172720">
              <a:lnSpc>
                <a:spcPct val="150000"/>
              </a:lnSpc>
              <a:buFont typeface="Wingdings"/>
              <a:buChar char=""/>
              <a:tabLst>
                <a:tab pos="184785" algn="l"/>
                <a:tab pos="226060" algn="l"/>
              </a:tabLst>
            </a:pPr>
            <a:r>
              <a:rPr dirty="0" sz="1200">
                <a:solidFill>
                  <a:srgbClr val="0F1141"/>
                </a:solidFill>
                <a:latin typeface="Arial"/>
                <a:cs typeface="Arial"/>
              </a:rPr>
              <a:t>	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Whenever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Professor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calls your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number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dirty="0" sz="12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,you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need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respond,</a:t>
            </a:r>
            <a:r>
              <a:rPr dirty="0" sz="12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otherwise</a:t>
            </a:r>
            <a:r>
              <a:rPr dirty="0" sz="12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12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dirty="0" sz="12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considered</a:t>
            </a:r>
            <a:r>
              <a:rPr dirty="0" sz="1200" spc="-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2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ABSENT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942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105"/>
              </a:spcBef>
            </a:pPr>
            <a:r>
              <a:rPr dirty="0" sz="2000" spc="-60"/>
              <a:t>IMP</a:t>
            </a:r>
            <a:r>
              <a:rPr dirty="0" sz="2000" spc="-170"/>
              <a:t> </a:t>
            </a:r>
            <a:r>
              <a:rPr dirty="0" sz="2000" spc="-70"/>
              <a:t>Note</a:t>
            </a:r>
            <a:r>
              <a:rPr dirty="0" sz="2000" spc="-160"/>
              <a:t> </a:t>
            </a:r>
            <a:r>
              <a:rPr dirty="0" sz="2000" spc="-50"/>
              <a:t>to</a:t>
            </a:r>
            <a:r>
              <a:rPr dirty="0" sz="2000" spc="-135"/>
              <a:t> </a:t>
            </a:r>
            <a:r>
              <a:rPr dirty="0" sz="2000" spc="-50"/>
              <a:t>Students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1696" y="3307460"/>
            <a:ext cx="8674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42161" y="3274980"/>
            <a:ext cx="3529965" cy="24765"/>
            <a:chOff x="1042161" y="3274980"/>
            <a:chExt cx="3529965" cy="24765"/>
          </a:xfrm>
        </p:grpSpPr>
        <p:sp>
          <p:nvSpPr>
            <p:cNvPr id="4" name="object 4" descr=""/>
            <p:cNvSpPr/>
            <p:nvPr/>
          </p:nvSpPr>
          <p:spPr>
            <a:xfrm>
              <a:off x="2315336" y="3274980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454400" y="3275043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42161" y="3274980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47900" y="32765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66799" y="3276567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407536" y="32765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700" y="0"/>
            <a:ext cx="1096962" cy="34607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647667"/>
            <a:ext cx="3505200" cy="23495"/>
            <a:chOff x="0" y="647667"/>
            <a:chExt cx="35052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7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363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800" spc="-70"/>
              <a:t>Coverage</a:t>
            </a:r>
            <a:endParaRPr sz="1800"/>
          </a:p>
        </p:txBody>
      </p:sp>
      <p:grpSp>
        <p:nvGrpSpPr>
          <p:cNvPr id="16" name="object 16" descr=""/>
          <p:cNvGrpSpPr/>
          <p:nvPr/>
        </p:nvGrpSpPr>
        <p:grpSpPr>
          <a:xfrm>
            <a:off x="111125" y="796924"/>
            <a:ext cx="4349750" cy="2216150"/>
            <a:chOff x="111125" y="796924"/>
            <a:chExt cx="4349750" cy="2216150"/>
          </a:xfrm>
        </p:grpSpPr>
        <p:sp>
          <p:nvSpPr>
            <p:cNvPr id="17" name="object 17" descr=""/>
            <p:cNvSpPr/>
            <p:nvPr/>
          </p:nvSpPr>
          <p:spPr>
            <a:xfrm>
              <a:off x="114300" y="800099"/>
              <a:ext cx="4343400" cy="2209800"/>
            </a:xfrm>
            <a:custGeom>
              <a:avLst/>
              <a:gdLst/>
              <a:ahLst/>
              <a:cxnLst/>
              <a:rect l="l" t="t" r="r" b="b"/>
              <a:pathLst>
                <a:path w="4343400" h="2209800">
                  <a:moveTo>
                    <a:pt x="4343400" y="0"/>
                  </a:moveTo>
                  <a:lnTo>
                    <a:pt x="3284728" y="0"/>
                  </a:lnTo>
                  <a:lnTo>
                    <a:pt x="0" y="0"/>
                  </a:lnTo>
                  <a:lnTo>
                    <a:pt x="0" y="2209800"/>
                  </a:lnTo>
                  <a:lnTo>
                    <a:pt x="3284728" y="2209800"/>
                  </a:lnTo>
                  <a:lnTo>
                    <a:pt x="4343400" y="2209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125" y="796924"/>
              <a:ext cx="4349750" cy="2216150"/>
            </a:xfrm>
            <a:custGeom>
              <a:avLst/>
              <a:gdLst/>
              <a:ahLst/>
              <a:cxnLst/>
              <a:rect l="l" t="t" r="r" b="b"/>
              <a:pathLst>
                <a:path w="4349750" h="2216150">
                  <a:moveTo>
                    <a:pt x="3287903" y="0"/>
                  </a:moveTo>
                  <a:lnTo>
                    <a:pt x="3287903" y="2216150"/>
                  </a:lnTo>
                </a:path>
                <a:path w="4349750" h="2216150">
                  <a:moveTo>
                    <a:pt x="3175" y="0"/>
                  </a:moveTo>
                  <a:lnTo>
                    <a:pt x="3175" y="2216150"/>
                  </a:lnTo>
                </a:path>
                <a:path w="4349750" h="2216150">
                  <a:moveTo>
                    <a:pt x="4346575" y="0"/>
                  </a:moveTo>
                  <a:lnTo>
                    <a:pt x="4346575" y="2216150"/>
                  </a:lnTo>
                </a:path>
                <a:path w="4349750" h="2216150">
                  <a:moveTo>
                    <a:pt x="0" y="3175"/>
                  </a:moveTo>
                  <a:lnTo>
                    <a:pt x="4349750" y="3175"/>
                  </a:lnTo>
                </a:path>
                <a:path w="4349750" h="2216150">
                  <a:moveTo>
                    <a:pt x="0" y="2212975"/>
                  </a:moveTo>
                  <a:lnTo>
                    <a:pt x="4349750" y="2212975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47573" y="813053"/>
            <a:ext cx="14446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84785" algn="l"/>
              </a:tabLst>
            </a:pPr>
            <a:r>
              <a:rPr dirty="0" sz="1400" b="1">
                <a:latin typeface="Calibri"/>
                <a:cs typeface="Calibri"/>
              </a:rPr>
              <a:t>DevOps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People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76174" y="1241297"/>
            <a:ext cx="2973070" cy="14979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Building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competencies,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Developers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 spc="-10">
                <a:latin typeface="Calibri"/>
                <a:cs typeface="Calibri"/>
              </a:rPr>
              <a:t>Self-organized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teams,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Intrinsic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Motivation</a:t>
            </a:r>
            <a:endParaRPr sz="1200">
              <a:latin typeface="Calibri"/>
              <a:cs typeface="Calibri"/>
            </a:endParaRPr>
          </a:p>
          <a:p>
            <a:pPr marL="184785" marR="358775" indent="-172720">
              <a:lnSpc>
                <a:spcPct val="114999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20">
                <a:latin typeface="Calibri"/>
                <a:cs typeface="Calibri"/>
              </a:rPr>
              <a:t>Technology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DevOps(Infrastructure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Release Management)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 spc="-20">
                <a:latin typeface="Calibri"/>
                <a:cs typeface="Calibri"/>
              </a:rPr>
              <a:t>Tools/technology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DevOps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Discuss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catalyst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DevOps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433064" y="766318"/>
            <a:ext cx="993140" cy="867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T1</a:t>
            </a:r>
            <a:r>
              <a:rPr dirty="0" sz="1200" spc="13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1200" spc="14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Chapter</a:t>
            </a:r>
            <a:r>
              <a:rPr dirty="0" sz="1200" spc="1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06FC0"/>
                </a:solidFill>
                <a:latin typeface="Calibri"/>
                <a:cs typeface="Calibri"/>
              </a:rPr>
              <a:t>2,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R1</a:t>
            </a:r>
            <a:r>
              <a:rPr dirty="0" sz="12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Chapter</a:t>
            </a:r>
            <a:r>
              <a:rPr dirty="0" sz="1200" spc="-2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006FC0"/>
                </a:solidFill>
                <a:latin typeface="Calibri"/>
                <a:cs typeface="Calibri"/>
              </a:rPr>
              <a:t>4 </a:t>
            </a:r>
            <a:r>
              <a:rPr dirty="0" sz="1200" spc="-25">
                <a:solidFill>
                  <a:srgbClr val="006FC0"/>
                </a:solidFill>
                <a:latin typeface="Calibri"/>
                <a:cs typeface="Calibri"/>
              </a:rPr>
              <a:t>Web 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dirty="0" sz="1200" spc="48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433064" y="1607946"/>
            <a:ext cx="99314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932815" algn="l"/>
              </a:tabLst>
            </a:pPr>
            <a:r>
              <a:rPr dirty="0" sz="1200" spc="-10">
                <a:solidFill>
                  <a:srgbClr val="006FC0"/>
                </a:solidFill>
                <a:latin typeface="Calibri"/>
                <a:cs typeface="Calibri"/>
              </a:rPr>
              <a:t>developers</a:t>
            </a:r>
            <a:r>
              <a:rPr dirty="0" sz="120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dirty="0" sz="1200" spc="-50">
                <a:solidFill>
                  <a:srgbClr val="006FC0"/>
                </a:solidFill>
                <a:latin typeface="Calibri"/>
                <a:cs typeface="Calibri"/>
              </a:rPr>
              <a:t>- </a:t>
            </a:r>
            <a:r>
              <a:rPr dirty="0" sz="1200" spc="-10">
                <a:solidFill>
                  <a:srgbClr val="006FC0"/>
                </a:solidFill>
                <a:latin typeface="Calibri"/>
                <a:cs typeface="Calibri"/>
              </a:rPr>
              <a:t>https://develo per.mozilla.org</a:t>
            </a:r>
            <a:endParaRPr sz="1200">
              <a:latin typeface="Calibri"/>
              <a:cs typeface="Calibri"/>
            </a:endParaRPr>
          </a:p>
          <a:p>
            <a:pPr marL="12700" marR="114935">
              <a:lnSpc>
                <a:spcPct val="114999"/>
              </a:lnSpc>
            </a:pPr>
            <a:r>
              <a:rPr dirty="0" sz="1200" spc="-20">
                <a:solidFill>
                  <a:srgbClr val="006FC0"/>
                </a:solidFill>
                <a:latin typeface="Calibri"/>
                <a:cs typeface="Calibri"/>
              </a:rPr>
              <a:t>/en- </a:t>
            </a:r>
            <a:r>
              <a:rPr dirty="0" sz="1200" spc="-10">
                <a:solidFill>
                  <a:srgbClr val="006FC0"/>
                </a:solidFill>
                <a:latin typeface="Calibri"/>
                <a:cs typeface="Calibri"/>
              </a:rPr>
              <a:t>US/docs/Web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1696" y="3308095"/>
            <a:ext cx="8674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42161" y="3275005"/>
            <a:ext cx="3529965" cy="24765"/>
            <a:chOff x="1042161" y="3275005"/>
            <a:chExt cx="3529965" cy="24765"/>
          </a:xfrm>
        </p:grpSpPr>
        <p:sp>
          <p:nvSpPr>
            <p:cNvPr id="4" name="object 4" descr=""/>
            <p:cNvSpPr/>
            <p:nvPr/>
          </p:nvSpPr>
          <p:spPr>
            <a:xfrm>
              <a:off x="2315336" y="3275005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454400" y="3275005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42161" y="3275005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47900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66799" y="3276593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407536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700" y="0"/>
            <a:ext cx="1096962" cy="34607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647668"/>
            <a:ext cx="3505200" cy="23495"/>
            <a:chOff x="0" y="647668"/>
            <a:chExt cx="35052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8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85673" y="184150"/>
            <a:ext cx="28600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Recorded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Lectures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for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CS04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49225" y="946403"/>
          <a:ext cx="4349750" cy="177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0"/>
              </a:tblGrid>
              <a:tr h="258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14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RL2.3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DevOps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People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RL2.3.1</a:t>
                      </a:r>
                      <a:r>
                        <a:rPr dirty="0" sz="14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Team</a:t>
                      </a:r>
                      <a:r>
                        <a:rPr dirty="0" sz="1400" spc="-4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structure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in</a:t>
                      </a:r>
                      <a:r>
                        <a:rPr dirty="0" sz="14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a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3"/>
                        </a:rPr>
                        <a:t>DevOps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5080">
                        <a:lnSpc>
                          <a:spcPts val="1520"/>
                        </a:lnSpc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RL2.3.2 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Transformation</a:t>
                      </a:r>
                      <a:r>
                        <a:rPr dirty="0" sz="1400" spc="-4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to</a:t>
                      </a:r>
                      <a:r>
                        <a:rPr dirty="0" sz="1400" spc="-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Enterprise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DevOps</a:t>
                      </a:r>
                      <a:r>
                        <a:rPr dirty="0" sz="1400" spc="1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4"/>
                        </a:rPr>
                        <a:t>culture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5080">
                        <a:lnSpc>
                          <a:spcPts val="1650"/>
                        </a:lnSpc>
                        <a:spcBef>
                          <a:spcPts val="65"/>
                        </a:spcBef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5"/>
                        </a:rPr>
                        <a:t>RL2.3.3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5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5"/>
                        </a:rPr>
                        <a:t>DevOps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5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5"/>
                        </a:rPr>
                        <a:t>Culture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614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RL2.4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DevOps-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Tools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5080">
                        <a:lnSpc>
                          <a:spcPts val="1530"/>
                        </a:lnSpc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RL2.4.1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Tools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and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Technology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in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6"/>
                        </a:rPr>
                        <a:t> DevOps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marL="5080">
                        <a:lnSpc>
                          <a:spcPts val="1560"/>
                        </a:lnSpc>
                        <a:spcBef>
                          <a:spcPts val="55"/>
                        </a:spcBef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RL2.4.2</a:t>
                      </a:r>
                      <a:r>
                        <a:rPr dirty="0" sz="14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Cloud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as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a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catalyst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for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 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  <a:hlinkClick r:id="rId7"/>
                        </a:rPr>
                        <a:t>DevOps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363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800" spc="-10"/>
              <a:t>DevOps</a:t>
            </a:r>
            <a:endParaRPr sz="1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457199"/>
            <a:ext cx="1871345" cy="152463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95147" y="781938"/>
            <a:ext cx="601345" cy="313690"/>
            <a:chOff x="295147" y="781938"/>
            <a:chExt cx="601345" cy="313690"/>
          </a:xfrm>
        </p:grpSpPr>
        <p:sp>
          <p:nvSpPr>
            <p:cNvPr id="6" name="object 6" descr=""/>
            <p:cNvSpPr/>
            <p:nvPr/>
          </p:nvSpPr>
          <p:spPr>
            <a:xfrm>
              <a:off x="302513" y="788669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6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5148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94" y="6731"/>
                  </a:moveTo>
                  <a:lnTo>
                    <a:pt x="451104" y="6731"/>
                  </a:lnTo>
                  <a:lnTo>
                    <a:pt x="444500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500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7366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8023" y="14351"/>
                  </a:lnTo>
                  <a:lnTo>
                    <a:pt x="438023" y="11811"/>
                  </a:lnTo>
                  <a:lnTo>
                    <a:pt x="453694" y="11811"/>
                  </a:lnTo>
                  <a:lnTo>
                    <a:pt x="45369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154" y="794003"/>
              <a:ext cx="164083" cy="28981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02514" y="1081785"/>
              <a:ext cx="450850" cy="6985"/>
            </a:xfrm>
            <a:custGeom>
              <a:avLst/>
              <a:gdLst/>
              <a:ahLst/>
              <a:cxnLst/>
              <a:rect l="l" t="t" r="r" b="b"/>
              <a:pathLst>
                <a:path w="450850" h="6984">
                  <a:moveTo>
                    <a:pt x="450469" y="0"/>
                  </a:moveTo>
                  <a:lnTo>
                    <a:pt x="434340" y="0"/>
                  </a:lnTo>
                  <a:lnTo>
                    <a:pt x="430809" y="1524"/>
                  </a:lnTo>
                  <a:lnTo>
                    <a:pt x="430784" y="254"/>
                  </a:lnTo>
                  <a:lnTo>
                    <a:pt x="6731" y="254"/>
                  </a:lnTo>
                  <a:lnTo>
                    <a:pt x="6731" y="0"/>
                  </a:lnTo>
                  <a:lnTo>
                    <a:pt x="0" y="0"/>
                  </a:lnTo>
                  <a:lnTo>
                    <a:pt x="6731" y="6731"/>
                  </a:lnTo>
                  <a:lnTo>
                    <a:pt x="6731" y="6604"/>
                  </a:lnTo>
                  <a:lnTo>
                    <a:pt x="446468" y="6604"/>
                  </a:lnTo>
                  <a:lnTo>
                    <a:pt x="446468" y="2032"/>
                  </a:lnTo>
                  <a:lnTo>
                    <a:pt x="448564" y="2032"/>
                  </a:lnTo>
                  <a:lnTo>
                    <a:pt x="45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29259" y="868425"/>
            <a:ext cx="24892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Calibri"/>
                <a:cs typeface="Calibri"/>
              </a:rPr>
              <a:t>People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88872" y="781938"/>
            <a:ext cx="601345" cy="313690"/>
            <a:chOff x="888872" y="781938"/>
            <a:chExt cx="601345" cy="313690"/>
          </a:xfrm>
        </p:grpSpPr>
        <p:sp>
          <p:nvSpPr>
            <p:cNvPr id="12" name="object 12" descr=""/>
            <p:cNvSpPr/>
            <p:nvPr/>
          </p:nvSpPr>
          <p:spPr>
            <a:xfrm>
              <a:off x="895603" y="788669"/>
              <a:ext cx="584200" cy="300355"/>
            </a:xfrm>
            <a:custGeom>
              <a:avLst/>
              <a:gdLst/>
              <a:ahLst/>
              <a:cxnLst/>
              <a:rect l="l" t="t" r="r" b="b"/>
              <a:pathLst>
                <a:path w="584200" h="300355">
                  <a:moveTo>
                    <a:pt x="434975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975" y="299847"/>
                  </a:lnTo>
                  <a:lnTo>
                    <a:pt x="584200" y="149986"/>
                  </a:lnTo>
                  <a:lnTo>
                    <a:pt x="434975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88873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94" y="6731"/>
                  </a:move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6731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7388" y="14351"/>
                  </a:lnTo>
                  <a:lnTo>
                    <a:pt x="437388" y="11811"/>
                  </a:lnTo>
                  <a:lnTo>
                    <a:pt x="453694" y="11811"/>
                  </a:lnTo>
                  <a:lnTo>
                    <a:pt x="45369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5244" y="794003"/>
              <a:ext cx="164719" cy="28981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95604" y="1081785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4" h="6984">
                  <a:moveTo>
                    <a:pt x="451104" y="0"/>
                  </a:moveTo>
                  <a:lnTo>
                    <a:pt x="434975" y="0"/>
                  </a:lnTo>
                  <a:lnTo>
                    <a:pt x="430974" y="1524"/>
                  </a:lnTo>
                  <a:lnTo>
                    <a:pt x="430784" y="1524"/>
                  </a:lnTo>
                  <a:lnTo>
                    <a:pt x="430784" y="254"/>
                  </a:lnTo>
                  <a:lnTo>
                    <a:pt x="7366" y="254"/>
                  </a:lnTo>
                  <a:lnTo>
                    <a:pt x="7366" y="0"/>
                  </a:lnTo>
                  <a:lnTo>
                    <a:pt x="0" y="0"/>
                  </a:lnTo>
                  <a:lnTo>
                    <a:pt x="7366" y="6731"/>
                  </a:lnTo>
                  <a:lnTo>
                    <a:pt x="7366" y="6604"/>
                  </a:lnTo>
                  <a:lnTo>
                    <a:pt x="447040" y="6604"/>
                  </a:lnTo>
                  <a:lnTo>
                    <a:pt x="447040" y="2032"/>
                  </a:lnTo>
                  <a:lnTo>
                    <a:pt x="449072" y="2032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10158" y="868425"/>
            <a:ext cx="27495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482597" y="781938"/>
            <a:ext cx="601345" cy="313690"/>
            <a:chOff x="1482597" y="781938"/>
            <a:chExt cx="601345" cy="313690"/>
          </a:xfrm>
        </p:grpSpPr>
        <p:sp>
          <p:nvSpPr>
            <p:cNvPr id="18" name="object 18" descr=""/>
            <p:cNvSpPr/>
            <p:nvPr/>
          </p:nvSpPr>
          <p:spPr>
            <a:xfrm>
              <a:off x="1489201" y="788669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6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82598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44" y="6731"/>
                  </a:move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6604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7261" y="14351"/>
                  </a:lnTo>
                  <a:lnTo>
                    <a:pt x="437261" y="11811"/>
                  </a:lnTo>
                  <a:lnTo>
                    <a:pt x="453644" y="11811"/>
                  </a:lnTo>
                  <a:lnTo>
                    <a:pt x="45364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8842" y="794003"/>
              <a:ext cx="164719" cy="28981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489202" y="1081785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5" h="6984">
                  <a:moveTo>
                    <a:pt x="451231" y="0"/>
                  </a:moveTo>
                  <a:lnTo>
                    <a:pt x="434340" y="0"/>
                  </a:lnTo>
                  <a:lnTo>
                    <a:pt x="430809" y="1524"/>
                  </a:lnTo>
                  <a:lnTo>
                    <a:pt x="430784" y="254"/>
                  </a:lnTo>
                  <a:lnTo>
                    <a:pt x="7493" y="254"/>
                  </a:lnTo>
                  <a:lnTo>
                    <a:pt x="7493" y="0"/>
                  </a:lnTo>
                  <a:lnTo>
                    <a:pt x="0" y="0"/>
                  </a:lnTo>
                  <a:lnTo>
                    <a:pt x="7493" y="6731"/>
                  </a:lnTo>
                  <a:lnTo>
                    <a:pt x="7493" y="6604"/>
                  </a:lnTo>
                  <a:lnTo>
                    <a:pt x="447167" y="6604"/>
                  </a:lnTo>
                  <a:lnTo>
                    <a:pt x="447167" y="2032"/>
                  </a:lnTo>
                  <a:lnTo>
                    <a:pt x="449199" y="2032"/>
                  </a:lnTo>
                  <a:lnTo>
                    <a:pt x="451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645666" y="868425"/>
            <a:ext cx="18669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86384" y="1609597"/>
            <a:ext cx="601345" cy="313690"/>
            <a:chOff x="286384" y="1609597"/>
            <a:chExt cx="601345" cy="313690"/>
          </a:xfrm>
        </p:grpSpPr>
        <p:sp>
          <p:nvSpPr>
            <p:cNvPr id="24" name="object 24" descr=""/>
            <p:cNvSpPr/>
            <p:nvPr/>
          </p:nvSpPr>
          <p:spPr>
            <a:xfrm>
              <a:off x="293115" y="1616328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7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86385" y="1609597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89">
                  <a:moveTo>
                    <a:pt x="453504" y="7112"/>
                  </a:moveTo>
                  <a:lnTo>
                    <a:pt x="13462" y="7112"/>
                  </a:lnTo>
                  <a:lnTo>
                    <a:pt x="13462" y="6731"/>
                  </a:lnTo>
                  <a:lnTo>
                    <a:pt x="450596" y="6731"/>
                  </a:lnTo>
                  <a:lnTo>
                    <a:pt x="443738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3738" y="313309"/>
                  </a:lnTo>
                  <a:lnTo>
                    <a:pt x="450596" y="306578"/>
                  </a:lnTo>
                  <a:lnTo>
                    <a:pt x="13462" y="306578"/>
                  </a:lnTo>
                  <a:lnTo>
                    <a:pt x="6731" y="299847"/>
                  </a:lnTo>
                  <a:lnTo>
                    <a:pt x="13462" y="299847"/>
                  </a:lnTo>
                  <a:lnTo>
                    <a:pt x="13462" y="14732"/>
                  </a:lnTo>
                  <a:lnTo>
                    <a:pt x="437769" y="14732"/>
                  </a:lnTo>
                  <a:lnTo>
                    <a:pt x="437769" y="12192"/>
                  </a:lnTo>
                  <a:lnTo>
                    <a:pt x="453504" y="12192"/>
                  </a:lnTo>
                  <a:lnTo>
                    <a:pt x="453504" y="7112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2756" y="1621662"/>
              <a:ext cx="164719" cy="28981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93116" y="1909444"/>
              <a:ext cx="450850" cy="6985"/>
            </a:xfrm>
            <a:custGeom>
              <a:avLst/>
              <a:gdLst/>
              <a:ahLst/>
              <a:cxnLst/>
              <a:rect l="l" t="t" r="r" b="b"/>
              <a:pathLst>
                <a:path w="450850" h="6985">
                  <a:moveTo>
                    <a:pt x="450596" y="0"/>
                  </a:moveTo>
                  <a:lnTo>
                    <a:pt x="434340" y="0"/>
                  </a:lnTo>
                  <a:lnTo>
                    <a:pt x="430403" y="1714"/>
                  </a:lnTo>
                  <a:lnTo>
                    <a:pt x="430403" y="635"/>
                  </a:lnTo>
                  <a:lnTo>
                    <a:pt x="6731" y="635"/>
                  </a:lnTo>
                  <a:lnTo>
                    <a:pt x="6731" y="0"/>
                  </a:lnTo>
                  <a:lnTo>
                    <a:pt x="0" y="0"/>
                  </a:lnTo>
                  <a:lnTo>
                    <a:pt x="6731" y="6731"/>
                  </a:lnTo>
                  <a:lnTo>
                    <a:pt x="6731" y="6985"/>
                  </a:lnTo>
                  <a:lnTo>
                    <a:pt x="446151" y="6985"/>
                  </a:lnTo>
                  <a:lnTo>
                    <a:pt x="446151" y="2032"/>
                  </a:lnTo>
                  <a:lnTo>
                    <a:pt x="448564" y="2032"/>
                  </a:lnTo>
                  <a:lnTo>
                    <a:pt x="450596" y="0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08177" y="1695703"/>
            <a:ext cx="2736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 b="1">
                <a:solidFill>
                  <a:srgbClr val="FFFFFF"/>
                </a:solidFill>
                <a:latin typeface="Calibri"/>
                <a:cs typeface="Calibri"/>
              </a:rPr>
              <a:t>Culture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79475" y="1595500"/>
            <a:ext cx="601345" cy="313690"/>
            <a:chOff x="879475" y="1595500"/>
            <a:chExt cx="601345" cy="313690"/>
          </a:xfrm>
        </p:grpSpPr>
        <p:sp>
          <p:nvSpPr>
            <p:cNvPr id="30" name="object 30" descr=""/>
            <p:cNvSpPr/>
            <p:nvPr/>
          </p:nvSpPr>
          <p:spPr>
            <a:xfrm>
              <a:off x="886840" y="1602231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39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39" y="299847"/>
                  </a:lnTo>
                  <a:lnTo>
                    <a:pt x="584326" y="149860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79475" y="1595500"/>
              <a:ext cx="454659" cy="313690"/>
            </a:xfrm>
            <a:custGeom>
              <a:avLst/>
              <a:gdLst/>
              <a:ahLst/>
              <a:cxnLst/>
              <a:rect l="l" t="t" r="r" b="b"/>
              <a:pathLst>
                <a:path w="454659" h="313689">
                  <a:moveTo>
                    <a:pt x="454139" y="7239"/>
                  </a:moveTo>
                  <a:lnTo>
                    <a:pt x="14097" y="7239"/>
                  </a:lnTo>
                  <a:lnTo>
                    <a:pt x="14097" y="6731"/>
                  </a:ln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7366" y="299847"/>
                  </a:lnTo>
                  <a:lnTo>
                    <a:pt x="14097" y="299847"/>
                  </a:lnTo>
                  <a:lnTo>
                    <a:pt x="14097" y="14097"/>
                  </a:lnTo>
                  <a:lnTo>
                    <a:pt x="14097" y="13589"/>
                  </a:lnTo>
                  <a:lnTo>
                    <a:pt x="437883" y="13589"/>
                  </a:lnTo>
                  <a:lnTo>
                    <a:pt x="437883" y="12319"/>
                  </a:lnTo>
                  <a:lnTo>
                    <a:pt x="454139" y="12319"/>
                  </a:lnTo>
                  <a:lnTo>
                    <a:pt x="454139" y="7239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6481" y="1607565"/>
              <a:ext cx="164084" cy="28981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86841" y="1894839"/>
              <a:ext cx="450850" cy="7620"/>
            </a:xfrm>
            <a:custGeom>
              <a:avLst/>
              <a:gdLst/>
              <a:ahLst/>
              <a:cxnLst/>
              <a:rect l="l" t="t" r="r" b="b"/>
              <a:pathLst>
                <a:path w="450850" h="7619">
                  <a:moveTo>
                    <a:pt x="450469" y="508"/>
                  </a:moveTo>
                  <a:lnTo>
                    <a:pt x="434340" y="508"/>
                  </a:lnTo>
                  <a:lnTo>
                    <a:pt x="430911" y="1993"/>
                  </a:lnTo>
                  <a:lnTo>
                    <a:pt x="430911" y="0"/>
                  </a:lnTo>
                  <a:lnTo>
                    <a:pt x="6731" y="0"/>
                  </a:lnTo>
                  <a:lnTo>
                    <a:pt x="6731" y="508"/>
                  </a:lnTo>
                  <a:lnTo>
                    <a:pt x="0" y="508"/>
                  </a:lnTo>
                  <a:lnTo>
                    <a:pt x="6731" y="7239"/>
                  </a:lnTo>
                  <a:lnTo>
                    <a:pt x="6731" y="7620"/>
                  </a:lnTo>
                  <a:lnTo>
                    <a:pt x="445897" y="7620"/>
                  </a:lnTo>
                  <a:lnTo>
                    <a:pt x="445897" y="2540"/>
                  </a:lnTo>
                  <a:lnTo>
                    <a:pt x="448437" y="2540"/>
                  </a:lnTo>
                  <a:lnTo>
                    <a:pt x="450469" y="508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923289" y="1682241"/>
            <a:ext cx="42227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 b="1">
                <a:solidFill>
                  <a:srgbClr val="FFFFFF"/>
                </a:solidFill>
                <a:latin typeface="Calibri"/>
                <a:cs typeface="Calibri"/>
              </a:rPr>
              <a:t>Interactions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473072" y="1600834"/>
            <a:ext cx="601345" cy="313690"/>
            <a:chOff x="1473072" y="1600834"/>
            <a:chExt cx="601345" cy="313690"/>
          </a:xfrm>
        </p:grpSpPr>
        <p:sp>
          <p:nvSpPr>
            <p:cNvPr id="36" name="object 36" descr=""/>
            <p:cNvSpPr/>
            <p:nvPr/>
          </p:nvSpPr>
          <p:spPr>
            <a:xfrm>
              <a:off x="1479803" y="1607565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5101" y="0"/>
                  </a:moveTo>
                  <a:lnTo>
                    <a:pt x="0" y="0"/>
                  </a:lnTo>
                  <a:lnTo>
                    <a:pt x="0" y="299846"/>
                  </a:lnTo>
                  <a:lnTo>
                    <a:pt x="435101" y="299846"/>
                  </a:lnTo>
                  <a:lnTo>
                    <a:pt x="584326" y="149986"/>
                  </a:lnTo>
                  <a:lnTo>
                    <a:pt x="435101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73073" y="1600834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89">
                  <a:moveTo>
                    <a:pt x="453948" y="6985"/>
                  </a:moveTo>
                  <a:lnTo>
                    <a:pt x="14224" y="6985"/>
                  </a:lnTo>
                  <a:lnTo>
                    <a:pt x="14224" y="6731"/>
                  </a:lnTo>
                  <a:lnTo>
                    <a:pt x="451231" y="6731"/>
                  </a:lnTo>
                  <a:lnTo>
                    <a:pt x="444500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500" y="313309"/>
                  </a:lnTo>
                  <a:lnTo>
                    <a:pt x="451231" y="306578"/>
                  </a:lnTo>
                  <a:lnTo>
                    <a:pt x="14224" y="306578"/>
                  </a:lnTo>
                  <a:lnTo>
                    <a:pt x="6731" y="299847"/>
                  </a:lnTo>
                  <a:lnTo>
                    <a:pt x="14224" y="299847"/>
                  </a:lnTo>
                  <a:lnTo>
                    <a:pt x="14224" y="14605"/>
                  </a:lnTo>
                  <a:lnTo>
                    <a:pt x="437591" y="14605"/>
                  </a:lnTo>
                  <a:lnTo>
                    <a:pt x="437591" y="12065"/>
                  </a:lnTo>
                  <a:lnTo>
                    <a:pt x="453948" y="12065"/>
                  </a:lnTo>
                  <a:lnTo>
                    <a:pt x="453948" y="6985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9444" y="1613026"/>
              <a:ext cx="164719" cy="289687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479804" y="1900681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5" h="6985">
                  <a:moveTo>
                    <a:pt x="451231" y="0"/>
                  </a:moveTo>
                  <a:lnTo>
                    <a:pt x="435102" y="0"/>
                  </a:lnTo>
                  <a:lnTo>
                    <a:pt x="430530" y="1701"/>
                  </a:lnTo>
                  <a:lnTo>
                    <a:pt x="430530" y="508"/>
                  </a:lnTo>
                  <a:lnTo>
                    <a:pt x="7493" y="508"/>
                  </a:lnTo>
                  <a:lnTo>
                    <a:pt x="7493" y="0"/>
                  </a:lnTo>
                  <a:lnTo>
                    <a:pt x="0" y="0"/>
                  </a:lnTo>
                  <a:lnTo>
                    <a:pt x="7493" y="6731"/>
                  </a:lnTo>
                  <a:lnTo>
                    <a:pt x="7493" y="6858"/>
                  </a:lnTo>
                  <a:lnTo>
                    <a:pt x="446913" y="6858"/>
                  </a:lnTo>
                  <a:lnTo>
                    <a:pt x="446913" y="2032"/>
                  </a:lnTo>
                  <a:lnTo>
                    <a:pt x="449199" y="2032"/>
                  </a:lnTo>
                  <a:lnTo>
                    <a:pt x="451231" y="0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515236" y="1686813"/>
            <a:ext cx="42862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10" b="1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415544" y="1215389"/>
            <a:ext cx="187325" cy="302260"/>
            <a:chOff x="415544" y="1215389"/>
            <a:chExt cx="187325" cy="302260"/>
          </a:xfrm>
        </p:grpSpPr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931" y="1216253"/>
              <a:ext cx="90095" cy="208432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211" y="1424685"/>
              <a:ext cx="181482" cy="90804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415544" y="1215389"/>
              <a:ext cx="187325" cy="302260"/>
            </a:xfrm>
            <a:custGeom>
              <a:avLst/>
              <a:gdLst/>
              <a:ahLst/>
              <a:cxnLst/>
              <a:rect l="l" t="t" r="r" b="b"/>
              <a:pathLst>
                <a:path w="187325" h="302259">
                  <a:moveTo>
                    <a:pt x="186944" y="208661"/>
                  </a:moveTo>
                  <a:lnTo>
                    <a:pt x="183515" y="208661"/>
                  </a:lnTo>
                  <a:lnTo>
                    <a:pt x="181483" y="208661"/>
                  </a:lnTo>
                  <a:lnTo>
                    <a:pt x="181483" y="210693"/>
                  </a:lnTo>
                  <a:lnTo>
                    <a:pt x="93472" y="298704"/>
                  </a:lnTo>
                  <a:lnTo>
                    <a:pt x="5334" y="210693"/>
                  </a:lnTo>
                  <a:lnTo>
                    <a:pt x="49022" y="210693"/>
                  </a:lnTo>
                  <a:lnTo>
                    <a:pt x="49022" y="209296"/>
                  </a:lnTo>
                  <a:lnTo>
                    <a:pt x="49022" y="208661"/>
                  </a:lnTo>
                  <a:lnTo>
                    <a:pt x="48387" y="208661"/>
                  </a:lnTo>
                  <a:lnTo>
                    <a:pt x="47828" y="208915"/>
                  </a:lnTo>
                  <a:lnTo>
                    <a:pt x="47828" y="208280"/>
                  </a:lnTo>
                  <a:lnTo>
                    <a:pt x="49022" y="208280"/>
                  </a:lnTo>
                  <a:lnTo>
                    <a:pt x="49022" y="1524"/>
                  </a:lnTo>
                  <a:lnTo>
                    <a:pt x="137769" y="1524"/>
                  </a:lnTo>
                  <a:lnTo>
                    <a:pt x="137769" y="1270"/>
                  </a:lnTo>
                  <a:lnTo>
                    <a:pt x="137795" y="210693"/>
                  </a:lnTo>
                  <a:lnTo>
                    <a:pt x="181483" y="210693"/>
                  </a:lnTo>
                  <a:lnTo>
                    <a:pt x="181483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990" y="0"/>
                  </a:lnTo>
                  <a:lnTo>
                    <a:pt x="46990" y="1270"/>
                  </a:lnTo>
                  <a:lnTo>
                    <a:pt x="46990" y="208280"/>
                  </a:lnTo>
                  <a:lnTo>
                    <a:pt x="46990" y="208661"/>
                  </a:lnTo>
                  <a:lnTo>
                    <a:pt x="3302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26" y="299466"/>
                  </a:lnTo>
                  <a:lnTo>
                    <a:pt x="184912" y="210693"/>
                  </a:lnTo>
                  <a:lnTo>
                    <a:pt x="186944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1032002" y="1215389"/>
            <a:ext cx="186690" cy="302260"/>
            <a:chOff x="1032002" y="1215389"/>
            <a:chExt cx="186690" cy="302260"/>
          </a:xfrm>
        </p:grpSpPr>
        <p:pic>
          <p:nvPicPr>
            <p:cNvPr id="46" name="object 4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9754" y="1216253"/>
              <a:ext cx="90766" cy="20843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4669" y="1424685"/>
              <a:ext cx="180848" cy="9080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032002" y="1215389"/>
              <a:ext cx="186690" cy="302260"/>
            </a:xfrm>
            <a:custGeom>
              <a:avLst/>
              <a:gdLst/>
              <a:ahLst/>
              <a:cxnLst/>
              <a:rect l="l" t="t" r="r" b="b"/>
              <a:pathLst>
                <a:path w="186690" h="302259">
                  <a:moveTo>
                    <a:pt x="186182" y="208661"/>
                  </a:moveTo>
                  <a:lnTo>
                    <a:pt x="182880" y="208661"/>
                  </a:lnTo>
                  <a:lnTo>
                    <a:pt x="180848" y="208661"/>
                  </a:lnTo>
                  <a:lnTo>
                    <a:pt x="180848" y="210693"/>
                  </a:lnTo>
                  <a:lnTo>
                    <a:pt x="93091" y="298450"/>
                  </a:lnTo>
                  <a:lnTo>
                    <a:pt x="5334" y="210693"/>
                  </a:lnTo>
                  <a:lnTo>
                    <a:pt x="49022" y="210693"/>
                  </a:lnTo>
                  <a:lnTo>
                    <a:pt x="49022" y="209296"/>
                  </a:lnTo>
                  <a:lnTo>
                    <a:pt x="49022" y="208661"/>
                  </a:lnTo>
                  <a:lnTo>
                    <a:pt x="47752" y="208661"/>
                  </a:lnTo>
                  <a:lnTo>
                    <a:pt x="47193" y="208915"/>
                  </a:lnTo>
                  <a:lnTo>
                    <a:pt x="47193" y="208280"/>
                  </a:lnTo>
                  <a:lnTo>
                    <a:pt x="49022" y="208280"/>
                  </a:lnTo>
                  <a:lnTo>
                    <a:pt x="49022" y="1524"/>
                  </a:lnTo>
                  <a:lnTo>
                    <a:pt x="137096" y="1524"/>
                  </a:lnTo>
                  <a:lnTo>
                    <a:pt x="137096" y="1270"/>
                  </a:lnTo>
                  <a:lnTo>
                    <a:pt x="137160" y="210693"/>
                  </a:lnTo>
                  <a:lnTo>
                    <a:pt x="180848" y="210693"/>
                  </a:lnTo>
                  <a:lnTo>
                    <a:pt x="180848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355" y="0"/>
                  </a:lnTo>
                  <a:lnTo>
                    <a:pt x="46355" y="1270"/>
                  </a:lnTo>
                  <a:lnTo>
                    <a:pt x="46355" y="208280"/>
                  </a:lnTo>
                  <a:lnTo>
                    <a:pt x="46355" y="208661"/>
                  </a:lnTo>
                  <a:lnTo>
                    <a:pt x="3302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39" y="299466"/>
                  </a:lnTo>
                  <a:lnTo>
                    <a:pt x="184277" y="210693"/>
                  </a:lnTo>
                  <a:lnTo>
                    <a:pt x="186182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1633854" y="1215389"/>
            <a:ext cx="187325" cy="302260"/>
            <a:chOff x="1633854" y="1215389"/>
            <a:chExt cx="187325" cy="302260"/>
          </a:xfrm>
        </p:grpSpPr>
        <p:pic>
          <p:nvPicPr>
            <p:cNvPr id="50" name="object 5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2241" y="1216253"/>
              <a:ext cx="90766" cy="208432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7156" y="1424685"/>
              <a:ext cx="180848" cy="90804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633855" y="1215389"/>
              <a:ext cx="187325" cy="302260"/>
            </a:xfrm>
            <a:custGeom>
              <a:avLst/>
              <a:gdLst/>
              <a:ahLst/>
              <a:cxnLst/>
              <a:rect l="l" t="t" r="r" b="b"/>
              <a:pathLst>
                <a:path w="187325" h="302259">
                  <a:moveTo>
                    <a:pt x="186817" y="208661"/>
                  </a:moveTo>
                  <a:lnTo>
                    <a:pt x="183515" y="208661"/>
                  </a:lnTo>
                  <a:lnTo>
                    <a:pt x="181483" y="208661"/>
                  </a:lnTo>
                  <a:lnTo>
                    <a:pt x="181483" y="210693"/>
                  </a:lnTo>
                  <a:lnTo>
                    <a:pt x="93472" y="298704"/>
                  </a:lnTo>
                  <a:lnTo>
                    <a:pt x="5969" y="210693"/>
                  </a:lnTo>
                  <a:lnTo>
                    <a:pt x="49657" y="210693"/>
                  </a:lnTo>
                  <a:lnTo>
                    <a:pt x="49657" y="209296"/>
                  </a:lnTo>
                  <a:lnTo>
                    <a:pt x="49657" y="208661"/>
                  </a:lnTo>
                  <a:lnTo>
                    <a:pt x="48387" y="208661"/>
                  </a:lnTo>
                  <a:lnTo>
                    <a:pt x="47828" y="208915"/>
                  </a:lnTo>
                  <a:lnTo>
                    <a:pt x="47828" y="208280"/>
                  </a:lnTo>
                  <a:lnTo>
                    <a:pt x="49657" y="208280"/>
                  </a:lnTo>
                  <a:lnTo>
                    <a:pt x="49657" y="1524"/>
                  </a:lnTo>
                  <a:lnTo>
                    <a:pt x="137731" y="1524"/>
                  </a:lnTo>
                  <a:lnTo>
                    <a:pt x="137731" y="1270"/>
                  </a:lnTo>
                  <a:lnTo>
                    <a:pt x="137795" y="210693"/>
                  </a:lnTo>
                  <a:lnTo>
                    <a:pt x="181483" y="210693"/>
                  </a:lnTo>
                  <a:lnTo>
                    <a:pt x="181483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990" y="0"/>
                  </a:lnTo>
                  <a:lnTo>
                    <a:pt x="46990" y="1270"/>
                  </a:lnTo>
                  <a:lnTo>
                    <a:pt x="46990" y="208280"/>
                  </a:lnTo>
                  <a:lnTo>
                    <a:pt x="46990" y="208661"/>
                  </a:lnTo>
                  <a:lnTo>
                    <a:pt x="3937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39" y="299466"/>
                  </a:lnTo>
                  <a:lnTo>
                    <a:pt x="184912" y="210693"/>
                  </a:lnTo>
                  <a:lnTo>
                    <a:pt x="186817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3" name="object 5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9488" y="2144013"/>
            <a:ext cx="228600" cy="129539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9488" y="2692653"/>
            <a:ext cx="228600" cy="129539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50698" y="1985009"/>
            <a:ext cx="448183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7160" indent="-1244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37160" algn="l"/>
              </a:tabLst>
            </a:pPr>
            <a:r>
              <a:rPr dirty="0" sz="900" spc="-10">
                <a:solidFill>
                  <a:srgbClr val="006FBE"/>
                </a:solidFill>
                <a:latin typeface="Calibri"/>
                <a:cs typeface="Calibri"/>
              </a:rPr>
              <a:t>Process:</a:t>
            </a:r>
            <a:endParaRPr sz="900">
              <a:latin typeface="Calibri"/>
              <a:cs typeface="Calibri"/>
            </a:endParaRPr>
          </a:p>
          <a:p>
            <a:pPr algn="just" marL="303530" marR="51435">
              <a:lnSpc>
                <a:spcPct val="100000"/>
              </a:lnSpc>
            </a:pPr>
            <a:r>
              <a:rPr dirty="0" sz="900">
                <a:latin typeface="Calibri"/>
                <a:cs typeface="Calibri"/>
              </a:rPr>
              <a:t>Sequence</a:t>
            </a:r>
            <a:r>
              <a:rPr dirty="0" sz="900" spc="1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or</a:t>
            </a:r>
            <a:r>
              <a:rPr dirty="0" sz="900" spc="1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layers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2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procedures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that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is</a:t>
            </a:r>
            <a:r>
              <a:rPr dirty="0" sz="900" spc="2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consisted</a:t>
            </a:r>
            <a:r>
              <a:rPr dirty="0" sz="900" spc="20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2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people,</a:t>
            </a:r>
            <a:r>
              <a:rPr dirty="0" sz="900" spc="2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machines,</a:t>
            </a:r>
            <a:r>
              <a:rPr dirty="0" sz="900" spc="2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materials,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methods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2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governing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policies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that</a:t>
            </a:r>
            <a:r>
              <a:rPr dirty="0" sz="9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are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used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all </a:t>
            </a:r>
            <a:r>
              <a:rPr dirty="0" sz="900" spc="-10">
                <a:latin typeface="Calibri"/>
                <a:cs typeface="Calibri"/>
              </a:rPr>
              <a:t>together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design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delivery</a:t>
            </a:r>
            <a:r>
              <a:rPr dirty="0" sz="900">
                <a:latin typeface="Calibri"/>
                <a:cs typeface="Calibri"/>
              </a:rPr>
              <a:t> a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good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or</a:t>
            </a:r>
            <a:r>
              <a:rPr dirty="0" sz="900" spc="-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service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(product)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.</a:t>
            </a:r>
            <a:r>
              <a:rPr dirty="0" sz="900" spc="215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Conversion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input</a:t>
            </a:r>
            <a:r>
              <a:rPr dirty="0" sz="900" spc="-10">
                <a:latin typeface="Calibri"/>
                <a:cs typeface="Calibri"/>
              </a:rPr>
              <a:t> into</a:t>
            </a:r>
            <a:r>
              <a:rPr dirty="0" sz="900">
                <a:latin typeface="Calibri"/>
                <a:cs typeface="Calibri"/>
              </a:rPr>
              <a:t> an</a:t>
            </a:r>
            <a:r>
              <a:rPr dirty="0" sz="900" spc="-10">
                <a:latin typeface="Calibri"/>
                <a:cs typeface="Calibri"/>
              </a:rPr>
              <a:t> output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through-outprocedures.</a:t>
            </a:r>
            <a:endParaRPr sz="900">
              <a:latin typeface="Calibri"/>
              <a:cs typeface="Calibri"/>
            </a:endParaRPr>
          </a:p>
          <a:p>
            <a:pPr algn="just" marL="137160" indent="-124460">
              <a:lnSpc>
                <a:spcPct val="100000"/>
              </a:lnSpc>
              <a:buFont typeface="Arial MT"/>
              <a:buChar char="•"/>
              <a:tabLst>
                <a:tab pos="137160" algn="l"/>
              </a:tabLst>
            </a:pPr>
            <a:r>
              <a:rPr dirty="0" sz="900" spc="-10">
                <a:solidFill>
                  <a:srgbClr val="006FBE"/>
                </a:solidFill>
                <a:latin typeface="Calibri"/>
                <a:cs typeface="Calibri"/>
              </a:rPr>
              <a:t>Practice:</a:t>
            </a:r>
            <a:endParaRPr sz="900">
              <a:latin typeface="Calibri"/>
              <a:cs typeface="Calibri"/>
            </a:endParaRPr>
          </a:p>
          <a:p>
            <a:pPr algn="just" marL="303530">
              <a:lnSpc>
                <a:spcPct val="100000"/>
              </a:lnSpc>
            </a:pPr>
            <a:r>
              <a:rPr dirty="0" sz="900" spc="-10">
                <a:latin typeface="Calibri"/>
                <a:cs typeface="Calibri"/>
              </a:rPr>
              <a:t>Series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steps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achieve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consistent</a:t>
            </a:r>
            <a:r>
              <a:rPr dirty="0" sz="900" spc="60">
                <a:latin typeface="Calibri"/>
                <a:cs typeface="Calibri"/>
              </a:rPr>
              <a:t> </a:t>
            </a:r>
            <a:r>
              <a:rPr dirty="0" sz="900" spc="-30">
                <a:latin typeface="Calibri"/>
                <a:cs typeface="Calibri"/>
              </a:rPr>
              <a:t>result</a:t>
            </a:r>
            <a:r>
              <a:rPr dirty="0" sz="900" spc="-7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(output).</a:t>
            </a:r>
            <a:endParaRPr sz="900">
              <a:latin typeface="Calibri"/>
              <a:cs typeface="Calibri"/>
            </a:endParaRPr>
          </a:p>
          <a:p>
            <a:pPr algn="just" marL="137160" marR="5080" indent="-125095">
              <a:lnSpc>
                <a:spcPct val="100000"/>
              </a:lnSpc>
              <a:buFont typeface="Arial MT"/>
              <a:buChar char="•"/>
              <a:tabLst>
                <a:tab pos="137160" algn="l"/>
              </a:tabLst>
            </a:pP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simple</a:t>
            </a:r>
            <a:r>
              <a:rPr dirty="0" sz="900" spc="5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process</a:t>
            </a:r>
            <a:r>
              <a:rPr dirty="0" sz="900" spc="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may</a:t>
            </a:r>
            <a:r>
              <a:rPr dirty="0" sz="9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be</a:t>
            </a:r>
            <a:r>
              <a:rPr dirty="0" sz="900" spc="6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described</a:t>
            </a:r>
            <a:r>
              <a:rPr dirty="0" sz="900" spc="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by</a:t>
            </a:r>
            <a:r>
              <a:rPr dirty="0" sz="9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dirty="0" sz="9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single</a:t>
            </a:r>
            <a:r>
              <a:rPr dirty="0" sz="900" spc="6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FBE"/>
                </a:solidFill>
                <a:latin typeface="Calibri"/>
                <a:cs typeface="Calibri"/>
              </a:rPr>
              <a:t>procedure.</a:t>
            </a:r>
            <a:r>
              <a:rPr dirty="0" sz="9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But</a:t>
            </a:r>
            <a:r>
              <a:rPr dirty="0" sz="900" spc="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dirty="0" sz="900" spc="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more</a:t>
            </a:r>
            <a:r>
              <a:rPr dirty="0" sz="9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complex</a:t>
            </a:r>
            <a:r>
              <a:rPr dirty="0" sz="900" spc="5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process,</a:t>
            </a:r>
            <a:r>
              <a:rPr dirty="0" sz="900" spc="9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06FBE"/>
                </a:solidFill>
                <a:latin typeface="Calibri"/>
                <a:cs typeface="Calibri"/>
              </a:rPr>
              <a:t>will</a:t>
            </a:r>
            <a:r>
              <a:rPr dirty="0" sz="900" spc="50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06FBE"/>
                </a:solidFill>
                <a:latin typeface="Calibri"/>
                <a:cs typeface="Calibri"/>
              </a:rPr>
              <a:t>have</a:t>
            </a:r>
            <a:r>
              <a:rPr dirty="0" sz="900" spc="-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6FBE"/>
                </a:solidFill>
                <a:latin typeface="Calibri"/>
                <a:cs typeface="Calibri"/>
              </a:rPr>
              <a:t>multiple</a:t>
            </a:r>
            <a:r>
              <a:rPr dirty="0" sz="900" spc="-5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FBE"/>
                </a:solidFill>
                <a:latin typeface="Calibri"/>
                <a:cs typeface="Calibri"/>
              </a:rPr>
              <a:t>procedures.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Dimensions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84150" y="678433"/>
            <a:ext cx="540385" cy="490855"/>
            <a:chOff x="184150" y="678433"/>
            <a:chExt cx="540385" cy="4908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150" y="678433"/>
              <a:ext cx="304800" cy="17373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61313"/>
              <a:ext cx="305409" cy="17373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039621"/>
              <a:ext cx="229209" cy="12954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328929" y="1454149"/>
            <a:ext cx="395605" cy="426720"/>
            <a:chOff x="328929" y="1454149"/>
            <a:chExt cx="395605" cy="42672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454149"/>
              <a:ext cx="229209" cy="12953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1563877"/>
              <a:ext cx="305409" cy="17373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751329"/>
              <a:ext cx="229209" cy="12953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045" y="2025649"/>
            <a:ext cx="229209" cy="12953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57377" y="653541"/>
            <a:ext cx="4063365" cy="211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2228850" indent="-1466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dimensions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DevOps </a:t>
            </a: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People</a:t>
            </a:r>
            <a:endParaRPr sz="1200">
              <a:latin typeface="Calibri"/>
              <a:cs typeface="Calibri"/>
            </a:endParaRPr>
          </a:p>
          <a:p>
            <a:pPr algn="just" marL="325120" marR="5080">
              <a:lnSpc>
                <a:spcPts val="1090"/>
              </a:lnSpc>
              <a:spcBef>
                <a:spcPts val="15"/>
              </a:spcBef>
            </a:pPr>
            <a:r>
              <a:rPr dirty="0" sz="900">
                <a:latin typeface="Calibri"/>
                <a:cs typeface="Calibri"/>
              </a:rPr>
              <a:t>Initially,</a:t>
            </a:r>
            <a:r>
              <a:rPr dirty="0" sz="900" spc="1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stakeholders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would</a:t>
            </a:r>
            <a:r>
              <a:rPr dirty="0" sz="900" spc="17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need</a:t>
            </a:r>
            <a:r>
              <a:rPr dirty="0" sz="900" spc="1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1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</a:t>
            </a:r>
            <a:r>
              <a:rPr dirty="0" sz="900" spc="1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identified,</a:t>
            </a:r>
            <a:r>
              <a:rPr dirty="0" sz="900" spc="19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ensuring</a:t>
            </a:r>
            <a:r>
              <a:rPr dirty="0" sz="900" spc="1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that</a:t>
            </a:r>
            <a:r>
              <a:rPr dirty="0" sz="900" spc="16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everybody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delivering</a:t>
            </a:r>
            <a:r>
              <a:rPr dirty="0" sz="900" spc="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value</a:t>
            </a:r>
            <a:r>
              <a:rPr dirty="0" sz="900" spc="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business</a:t>
            </a:r>
            <a:r>
              <a:rPr dirty="0" sz="900" spc="10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are</a:t>
            </a:r>
            <a:r>
              <a:rPr dirty="0" sz="900" spc="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working</a:t>
            </a:r>
            <a:r>
              <a:rPr dirty="0" sz="900" spc="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tightly</a:t>
            </a:r>
            <a:r>
              <a:rPr dirty="0" sz="900" spc="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together</a:t>
            </a:r>
            <a:r>
              <a:rPr dirty="0" sz="900" spc="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on</a:t>
            </a:r>
            <a:r>
              <a:rPr dirty="0" sz="900" spc="1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8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common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goal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adding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value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the</a:t>
            </a:r>
            <a:r>
              <a:rPr dirty="0" sz="900" spc="-7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customer.</a:t>
            </a:r>
            <a:endParaRPr sz="900">
              <a:latin typeface="Calibri"/>
              <a:cs typeface="Calibri"/>
            </a:endParaRPr>
          </a:p>
          <a:p>
            <a:pPr algn="just" marL="325120">
              <a:lnSpc>
                <a:spcPts val="925"/>
              </a:lnSpc>
            </a:pPr>
            <a:r>
              <a:rPr dirty="0" sz="900">
                <a:latin typeface="Calibri"/>
                <a:cs typeface="Calibri"/>
              </a:rPr>
              <a:t>Highly</a:t>
            </a:r>
            <a:r>
              <a:rPr dirty="0" sz="900" spc="9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motivated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people</a:t>
            </a:r>
            <a:r>
              <a:rPr dirty="0" sz="900" spc="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with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good</a:t>
            </a:r>
            <a:r>
              <a:rPr dirty="0" sz="900" spc="5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collaboration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is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necessary</a:t>
            </a:r>
            <a:endParaRPr sz="900">
              <a:latin typeface="Calibri"/>
              <a:cs typeface="Calibri"/>
            </a:endParaRPr>
          </a:p>
          <a:p>
            <a:pPr marL="158750">
              <a:lnSpc>
                <a:spcPts val="1320"/>
              </a:lnSpc>
            </a:pP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algn="just" marL="325120" marR="5080">
              <a:lnSpc>
                <a:spcPct val="100000"/>
              </a:lnSpc>
              <a:spcBef>
                <a:spcPts val="60"/>
              </a:spcBef>
            </a:pPr>
            <a:r>
              <a:rPr dirty="0" sz="900">
                <a:latin typeface="Calibri"/>
                <a:cs typeface="Calibri"/>
              </a:rPr>
              <a:t>Process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designing,</a:t>
            </a:r>
            <a:r>
              <a:rPr dirty="0" sz="900" spc="5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building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testing</a:t>
            </a:r>
            <a:r>
              <a:rPr dirty="0" sz="900" spc="4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software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should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well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presented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to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each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individual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team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member</a:t>
            </a:r>
            <a:endParaRPr sz="900">
              <a:latin typeface="Calibri"/>
              <a:cs typeface="Calibri"/>
            </a:endParaRPr>
          </a:p>
          <a:p>
            <a:pPr algn="just" marL="325120">
              <a:lnSpc>
                <a:spcPct val="100000"/>
              </a:lnSpc>
            </a:pPr>
            <a:r>
              <a:rPr dirty="0" sz="900">
                <a:latin typeface="Calibri"/>
                <a:cs typeface="Calibri"/>
              </a:rPr>
              <a:t>Processes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practices </a:t>
            </a:r>
            <a:r>
              <a:rPr dirty="0" sz="900" spc="-10">
                <a:latin typeface="Calibri"/>
                <a:cs typeface="Calibri"/>
              </a:rPr>
              <a:t>that</a:t>
            </a:r>
            <a:r>
              <a:rPr dirty="0" sz="900">
                <a:latin typeface="Calibri"/>
                <a:cs typeface="Calibri"/>
              </a:rPr>
              <a:t> help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improve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value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delivery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5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customers</a:t>
            </a:r>
            <a:endParaRPr sz="900">
              <a:latin typeface="Calibri"/>
              <a:cs typeface="Calibri"/>
            </a:endParaRPr>
          </a:p>
          <a:p>
            <a:pPr marL="18669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Tools</a:t>
            </a:r>
            <a:endParaRPr sz="1200">
              <a:latin typeface="Calibri"/>
              <a:cs typeface="Calibri"/>
            </a:endParaRPr>
          </a:p>
          <a:p>
            <a:pPr marL="222885" marR="112395">
              <a:lnSpc>
                <a:spcPct val="101099"/>
              </a:lnSpc>
              <a:spcBef>
                <a:spcPts val="670"/>
              </a:spcBef>
            </a:pPr>
            <a:r>
              <a:rPr dirty="0" sz="900">
                <a:latin typeface="Calibri"/>
                <a:cs typeface="Calibri"/>
              </a:rPr>
              <a:t>Tools</a:t>
            </a:r>
            <a:r>
              <a:rPr dirty="0" sz="900" spc="40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2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services</a:t>
            </a:r>
            <a:r>
              <a:rPr dirty="0" sz="900" spc="29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that</a:t>
            </a:r>
            <a:r>
              <a:rPr dirty="0" sz="900" spc="254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can</a:t>
            </a:r>
            <a:r>
              <a:rPr dirty="0" sz="900" spc="28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help</a:t>
            </a:r>
            <a:r>
              <a:rPr dirty="0" sz="900" spc="27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enable</a:t>
            </a:r>
            <a:r>
              <a:rPr dirty="0" sz="900" spc="2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different</a:t>
            </a:r>
            <a:r>
              <a:rPr dirty="0" sz="900" spc="35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DevOps</a:t>
            </a:r>
            <a:r>
              <a:rPr dirty="0" sz="900" spc="4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practices</a:t>
            </a:r>
            <a:r>
              <a:rPr dirty="0" sz="900" spc="340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and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different</a:t>
            </a:r>
            <a:r>
              <a:rPr dirty="0" sz="900" spc="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teams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which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can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</a:t>
            </a:r>
            <a:r>
              <a:rPr dirty="0" sz="900" spc="6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used</a:t>
            </a:r>
            <a:r>
              <a:rPr dirty="0" sz="900" spc="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make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things </a:t>
            </a:r>
            <a:r>
              <a:rPr dirty="0" sz="900" spc="-10">
                <a:latin typeface="Calibri"/>
                <a:cs typeface="Calibri"/>
              </a:rPr>
              <a:t>easier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199" y="2256154"/>
            <a:ext cx="15240" cy="185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266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DevOps–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People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" y="739139"/>
            <a:ext cx="256031" cy="1478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" y="1008887"/>
            <a:ext cx="256031" cy="14782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00" y="1444751"/>
            <a:ext cx="256031" cy="14782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35965" y="715771"/>
            <a:ext cx="3970654" cy="8864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139065">
              <a:lnSpc>
                <a:spcPts val="1100"/>
              </a:lnSpc>
              <a:spcBef>
                <a:spcPts val="240"/>
              </a:spcBef>
            </a:pPr>
            <a:r>
              <a:rPr dirty="0" sz="1000">
                <a:latin typeface="Calibri"/>
                <a:cs typeface="Calibri"/>
              </a:rPr>
              <a:t>Addresses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people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aspect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adopting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DevOps,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including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creating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 necessary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culture.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969"/>
              </a:lnSpc>
            </a:pPr>
            <a:r>
              <a:rPr dirty="0" sz="1000" spc="-10">
                <a:latin typeface="Calibri"/>
                <a:cs typeface="Calibri"/>
              </a:rPr>
              <a:t>An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organization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may adopt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most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efficient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processes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automated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ts val="1100"/>
              </a:lnSpc>
              <a:spcBef>
                <a:spcPts val="80"/>
              </a:spcBef>
            </a:pP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possible,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they’re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useless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without the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people</a:t>
            </a:r>
            <a:r>
              <a:rPr dirty="0" sz="1000" spc="3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who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eventually</a:t>
            </a:r>
            <a:r>
              <a:rPr dirty="0" sz="1000" spc="2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must </a:t>
            </a:r>
            <a:r>
              <a:rPr dirty="0" sz="1000">
                <a:latin typeface="Calibri"/>
                <a:cs typeface="Calibri"/>
              </a:rPr>
              <a:t>execute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those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processes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those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tools.</a:t>
            </a:r>
            <a:endParaRPr sz="1000">
              <a:latin typeface="Calibri"/>
              <a:cs typeface="Calibri"/>
            </a:endParaRPr>
          </a:p>
          <a:p>
            <a:pPr marL="32384">
              <a:lnSpc>
                <a:spcPts val="1185"/>
              </a:lnSpc>
            </a:pPr>
            <a:r>
              <a:rPr dirty="0" sz="1000">
                <a:solidFill>
                  <a:srgbClr val="6C1C6B"/>
                </a:solidFill>
                <a:latin typeface="Calibri"/>
                <a:cs typeface="Calibri"/>
              </a:rPr>
              <a:t>DEVOPS</a:t>
            </a:r>
            <a:r>
              <a:rPr dirty="0" sz="1000" spc="15">
                <a:solidFill>
                  <a:srgbClr val="6C1C6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C1C6B"/>
                </a:solidFill>
                <a:latin typeface="Calibri"/>
                <a:cs typeface="Calibri"/>
              </a:rPr>
              <a:t>CULTURE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329" y="1906777"/>
            <a:ext cx="256031" cy="1478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828925" y="1883409"/>
            <a:ext cx="125920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Calibri"/>
                <a:cs typeface="Calibri"/>
              </a:rPr>
              <a:t>headed</a:t>
            </a:r>
            <a:r>
              <a:rPr dirty="0" sz="1000" spc="14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18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49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same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329" y="2220721"/>
            <a:ext cx="256031" cy="14782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9900" y="1727961"/>
            <a:ext cx="2682875" cy="8026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0">
                <a:solidFill>
                  <a:srgbClr val="0D5589"/>
                </a:solidFill>
                <a:latin typeface="Calibri"/>
                <a:cs typeface="Calibri"/>
              </a:rPr>
              <a:t>(1)</a:t>
            </a:r>
            <a:r>
              <a:rPr dirty="0" sz="1000" spc="1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Identifying</a:t>
            </a:r>
            <a:r>
              <a:rPr dirty="0" sz="1000" spc="1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business</a:t>
            </a:r>
            <a:r>
              <a:rPr dirty="0" sz="1000" spc="10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5589"/>
                </a:solidFill>
                <a:latin typeface="Calibri"/>
                <a:cs typeface="Calibri"/>
              </a:rPr>
              <a:t>objectives</a:t>
            </a:r>
            <a:endParaRPr sz="1000">
              <a:latin typeface="Calibri"/>
              <a:cs typeface="Calibri"/>
            </a:endParaRPr>
          </a:p>
          <a:p>
            <a:pPr marL="344805" marR="5080">
              <a:lnSpc>
                <a:spcPct val="101000"/>
              </a:lnSpc>
              <a:spcBef>
                <a:spcPts val="10"/>
              </a:spcBef>
              <a:tabLst>
                <a:tab pos="909955" algn="l"/>
              </a:tabLst>
            </a:pPr>
            <a:r>
              <a:rPr dirty="0" sz="1000" spc="-10">
                <a:latin typeface="Calibri"/>
                <a:cs typeface="Calibri"/>
              </a:rPr>
              <a:t>Creating</a:t>
            </a:r>
            <a:r>
              <a:rPr dirty="0" sz="1000">
                <a:latin typeface="Calibri"/>
                <a:cs typeface="Calibri"/>
              </a:rPr>
              <a:t>	a</a:t>
            </a:r>
            <a:r>
              <a:rPr dirty="0" sz="1000" spc="4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culture</a:t>
            </a:r>
            <a:r>
              <a:rPr dirty="0" sz="1000" spc="229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15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getting</a:t>
            </a:r>
            <a:r>
              <a:rPr dirty="0" sz="1000" spc="200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everyone </a:t>
            </a:r>
            <a:r>
              <a:rPr dirty="0" sz="1000">
                <a:latin typeface="Calibri"/>
                <a:cs typeface="Calibri"/>
              </a:rPr>
              <a:t>direction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working</a:t>
            </a:r>
            <a:r>
              <a:rPr dirty="0" sz="1000" spc="-35">
                <a:latin typeface="Calibri"/>
                <a:cs typeface="Calibri"/>
              </a:rPr>
              <a:t> toward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8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goal</a:t>
            </a:r>
            <a:endParaRPr sz="1000">
              <a:latin typeface="Calibri"/>
              <a:cs typeface="Calibri"/>
            </a:endParaRPr>
          </a:p>
          <a:p>
            <a:pPr marL="344805" marR="26034">
              <a:lnSpc>
                <a:spcPct val="100000"/>
              </a:lnSpc>
              <a:spcBef>
                <a:spcPts val="60"/>
              </a:spcBef>
              <a:tabLst>
                <a:tab pos="1027430" algn="l"/>
              </a:tabLst>
            </a:pPr>
            <a:r>
              <a:rPr dirty="0" sz="1000" spc="-10">
                <a:latin typeface="Calibri"/>
                <a:cs typeface="Calibri"/>
              </a:rPr>
              <a:t>Identifying</a:t>
            </a:r>
            <a:r>
              <a:rPr dirty="0" sz="1000">
                <a:latin typeface="Calibri"/>
                <a:cs typeface="Calibri"/>
              </a:rPr>
              <a:t>	common</a:t>
            </a:r>
            <a:r>
              <a:rPr dirty="0" sz="1000" spc="14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business</a:t>
            </a:r>
            <a:r>
              <a:rPr dirty="0" sz="1000" spc="185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objectives organization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whole.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99969" y="2197353"/>
            <a:ext cx="128968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3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3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409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329" y="2525521"/>
            <a:ext cx="256031" cy="147827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02081" y="2502153"/>
            <a:ext cx="3688079" cy="6394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Calibri"/>
                <a:cs typeface="Calibri"/>
              </a:rPr>
              <a:t>identify</a:t>
            </a:r>
            <a:r>
              <a:rPr dirty="0" sz="1000" spc="14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goals</a:t>
            </a:r>
            <a:r>
              <a:rPr dirty="0" sz="1000" spc="4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3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3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wants</a:t>
            </a:r>
            <a:r>
              <a:rPr dirty="0" sz="1000" spc="4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achieve;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then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3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can</a:t>
            </a:r>
            <a:r>
              <a:rPr dirty="0" sz="1000" spc="4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</a:t>
            </a:r>
            <a:r>
              <a:rPr dirty="0" sz="1000" spc="39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 common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set</a:t>
            </a:r>
            <a:r>
              <a:rPr dirty="0" sz="1000" spc="1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4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milestones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toward</a:t>
            </a:r>
            <a:r>
              <a:rPr dirty="0" sz="1000" spc="-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those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goals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for </a:t>
            </a:r>
            <a:r>
              <a:rPr dirty="0" sz="1000">
                <a:latin typeface="Calibri"/>
                <a:cs typeface="Calibri"/>
              </a:rPr>
              <a:t>different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teams</a:t>
            </a:r>
            <a:endParaRPr sz="1000">
              <a:latin typeface="Calibri"/>
              <a:cs typeface="Calibri"/>
            </a:endParaRPr>
          </a:p>
          <a:p>
            <a:pPr marL="29845">
              <a:lnSpc>
                <a:spcPts val="1180"/>
              </a:lnSpc>
            </a:pP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stakeholders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to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Collaboration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 communication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across</a:t>
            </a:r>
            <a:endParaRPr sz="10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25"/>
              </a:spcBef>
            </a:pPr>
            <a:r>
              <a:rPr dirty="0" sz="1000" spc="-10">
                <a:latin typeface="Calibri"/>
                <a:cs typeface="Calibri"/>
              </a:rPr>
              <a:t>stakeholders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886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DevOps–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People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33" y="913764"/>
            <a:ext cx="256032" cy="1478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933" y="1223136"/>
            <a:ext cx="256032" cy="14782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13740" y="686180"/>
            <a:ext cx="4181475" cy="193802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2)</a:t>
            </a:r>
            <a:r>
              <a:rPr dirty="0" sz="1000" spc="3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 spc="-30">
                <a:solidFill>
                  <a:srgbClr val="0D5589"/>
                </a:solidFill>
                <a:latin typeface="Calibri"/>
                <a:cs typeface="Calibri"/>
              </a:rPr>
              <a:t>Create</a:t>
            </a:r>
            <a:r>
              <a:rPr dirty="0" sz="1000" spc="-2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an</a:t>
            </a:r>
            <a:r>
              <a:rPr dirty="0" sz="1000" spc="-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5589"/>
                </a:solidFill>
                <a:latin typeface="Calibri"/>
                <a:cs typeface="Calibri"/>
              </a:rPr>
              <a:t>environment</a:t>
            </a:r>
            <a:r>
              <a:rPr dirty="0" sz="1000" spc="1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D5589"/>
                </a:solidFill>
                <a:latin typeface="Calibri"/>
                <a:cs typeface="Calibri"/>
              </a:rPr>
              <a:t>of</a:t>
            </a:r>
            <a:r>
              <a:rPr dirty="0" sz="1000" spc="185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D5589"/>
                </a:solidFill>
                <a:latin typeface="Calibri"/>
                <a:cs typeface="Calibri"/>
              </a:rPr>
              <a:t>sharing</a:t>
            </a:r>
            <a:endParaRPr sz="1000">
              <a:latin typeface="Calibri"/>
              <a:cs typeface="Calibri"/>
            </a:endParaRPr>
          </a:p>
          <a:p>
            <a:pPr marL="325120" marR="13970">
              <a:lnSpc>
                <a:spcPct val="102000"/>
              </a:lnSpc>
              <a:spcBef>
                <a:spcPts val="195"/>
              </a:spcBef>
            </a:pPr>
            <a:r>
              <a:rPr dirty="0" sz="1000">
                <a:latin typeface="Calibri"/>
                <a:cs typeface="Calibri"/>
              </a:rPr>
              <a:t>leaders</a:t>
            </a:r>
            <a:r>
              <a:rPr dirty="0" sz="1000" spc="3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organization</a:t>
            </a:r>
            <a:r>
              <a:rPr dirty="0" sz="1000" spc="18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work</a:t>
            </a:r>
            <a:r>
              <a:rPr dirty="0" sz="1000" spc="4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their</a:t>
            </a:r>
            <a:r>
              <a:rPr dirty="0" sz="1000" spc="2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teams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4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dirty="0" sz="1000" spc="3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 environment</a:t>
            </a:r>
            <a:r>
              <a:rPr dirty="0" sz="1000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10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culture</a:t>
            </a:r>
            <a:r>
              <a:rPr dirty="0" sz="1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collaboration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andsharing.</a:t>
            </a:r>
            <a:endParaRPr sz="1000">
              <a:latin typeface="Calibri"/>
              <a:cs typeface="Calibri"/>
            </a:endParaRPr>
          </a:p>
          <a:p>
            <a:pPr marL="325120">
              <a:lnSpc>
                <a:spcPct val="100000"/>
              </a:lnSpc>
              <a:spcBef>
                <a:spcPts val="10"/>
              </a:spcBef>
            </a:pPr>
            <a:r>
              <a:rPr dirty="0" sz="1000" spc="-10">
                <a:latin typeface="Calibri"/>
                <a:cs typeface="Calibri"/>
              </a:rPr>
              <a:t>Leaders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must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remove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any</a:t>
            </a:r>
            <a:r>
              <a:rPr dirty="0" sz="1000">
                <a:latin typeface="Calibri"/>
                <a:cs typeface="Calibri"/>
              </a:rPr>
              <a:t> self-imposed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barriers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cooperation.</a:t>
            </a:r>
            <a:endParaRPr sz="1000">
              <a:latin typeface="Calibri"/>
              <a:cs typeface="Calibri"/>
            </a:endParaRPr>
          </a:p>
          <a:p>
            <a:pPr marL="325755" marR="17145">
              <a:lnSpc>
                <a:spcPct val="101800"/>
              </a:lnSpc>
              <a:spcBef>
                <a:spcPts val="20"/>
              </a:spcBef>
              <a:tabLst>
                <a:tab pos="822325" algn="l"/>
              </a:tabLst>
            </a:pPr>
            <a:r>
              <a:rPr dirty="0" sz="1000" spc="-10">
                <a:latin typeface="Calibri"/>
                <a:cs typeface="Calibri"/>
              </a:rPr>
              <a:t>Typical</a:t>
            </a:r>
            <a:r>
              <a:rPr dirty="0" sz="1000">
                <a:latin typeface="Calibri"/>
                <a:cs typeface="Calibri"/>
              </a:rPr>
              <a:t>	measurements</a:t>
            </a:r>
            <a:r>
              <a:rPr dirty="0" sz="1000" spc="16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reward</a:t>
            </a:r>
            <a:r>
              <a:rPr dirty="0" sz="1000" spc="21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operations</a:t>
            </a:r>
            <a:r>
              <a:rPr dirty="0" sz="1000" spc="17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teams</a:t>
            </a:r>
            <a:r>
              <a:rPr dirty="0" sz="1000" spc="4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4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uptime</a:t>
            </a:r>
            <a:r>
              <a:rPr dirty="0" sz="1000" spc="150">
                <a:latin typeface="Calibri"/>
                <a:cs typeface="Calibri"/>
              </a:rPr>
              <a:t> 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 spc="50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stability,</a:t>
            </a:r>
            <a:r>
              <a:rPr dirty="0" sz="1000" spc="-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reward</a:t>
            </a:r>
            <a:r>
              <a:rPr dirty="0" sz="1000" spc="-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developers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for </a:t>
            </a:r>
            <a:r>
              <a:rPr dirty="0" sz="1000">
                <a:latin typeface="Calibri"/>
                <a:cs typeface="Calibri"/>
              </a:rPr>
              <a:t>new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features delivered,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they</a:t>
            </a:r>
            <a:r>
              <a:rPr dirty="0" sz="1000" spc="254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pit</a:t>
            </a:r>
            <a:r>
              <a:rPr dirty="0" sz="1000">
                <a:latin typeface="Calibri"/>
                <a:cs typeface="Calibri"/>
              </a:rPr>
              <a:t> these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groups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against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each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other.</a:t>
            </a:r>
            <a:endParaRPr sz="1000">
              <a:latin typeface="Calibri"/>
              <a:cs typeface="Calibri"/>
            </a:endParaRPr>
          </a:p>
          <a:p>
            <a:pPr algn="just" marL="325120" marR="5080">
              <a:lnSpc>
                <a:spcPct val="101499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7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leaders</a:t>
            </a:r>
            <a:r>
              <a:rPr dirty="0" sz="1000" spc="34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4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9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organization</a:t>
            </a:r>
            <a:r>
              <a:rPr dirty="0" sz="1000" spc="47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should</a:t>
            </a:r>
            <a:r>
              <a:rPr dirty="0" sz="1000" spc="34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further</a:t>
            </a:r>
            <a:r>
              <a:rPr dirty="0" sz="1000" spc="360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encourage </a:t>
            </a:r>
            <a:r>
              <a:rPr dirty="0" sz="1000">
                <a:latin typeface="Calibri"/>
                <a:cs typeface="Calibri"/>
              </a:rPr>
              <a:t>collaboration</a:t>
            </a:r>
            <a:r>
              <a:rPr dirty="0" sz="1000" spc="3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4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improving</a:t>
            </a:r>
            <a:r>
              <a:rPr dirty="0" sz="1000" spc="3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visibility.</a:t>
            </a:r>
            <a:r>
              <a:rPr dirty="0" sz="1000" spc="4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Establishing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40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common</a:t>
            </a:r>
            <a:r>
              <a:rPr dirty="0" sz="1000" spc="4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set</a:t>
            </a:r>
            <a:r>
              <a:rPr dirty="0" sz="1000" spc="4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of</a:t>
            </a:r>
            <a:r>
              <a:rPr dirty="0" sz="1000" spc="-10">
                <a:latin typeface="Calibri"/>
                <a:cs typeface="Calibri"/>
              </a:rPr>
              <a:t> collaboration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essential,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especially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geographically distributed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can’t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work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together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person</a:t>
            </a:r>
            <a:r>
              <a:rPr dirty="0" sz="600" spc="-10">
                <a:latin typeface="Calibri"/>
                <a:cs typeface="Calibri"/>
              </a:rPr>
              <a:t>.</a:t>
            </a:r>
            <a:endParaRPr sz="600">
              <a:latin typeface="Calibri"/>
              <a:cs typeface="Calibri"/>
            </a:endParaRPr>
          </a:p>
          <a:p>
            <a:pPr algn="just" marL="265430">
              <a:lnSpc>
                <a:spcPct val="100000"/>
              </a:lnSpc>
              <a:spcBef>
                <a:spcPts val="20"/>
              </a:spcBef>
            </a:pPr>
            <a:r>
              <a:rPr dirty="0" sz="1000" spc="-10">
                <a:latin typeface="Calibri"/>
                <a:cs typeface="Calibri"/>
              </a:rPr>
              <a:t>Giving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stakeholders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visibility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project’s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goals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statusis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62454" y="2600070"/>
            <a:ext cx="2520315" cy="2914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51840" algn="l"/>
                <a:tab pos="1251585" algn="l"/>
                <a:tab pos="2312670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225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DevOps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10">
                <a:latin typeface="Calibri"/>
                <a:cs typeface="Calibri"/>
              </a:rPr>
              <a:t>culture</a:t>
            </a:r>
            <a:r>
              <a:rPr dirty="0" sz="1000">
                <a:latin typeface="Calibri"/>
                <a:cs typeface="Calibri"/>
              </a:rPr>
              <a:t>	based</a:t>
            </a:r>
            <a:r>
              <a:rPr dirty="0" sz="1000" spc="26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250">
                <a:latin typeface="Calibri"/>
                <a:cs typeface="Calibri"/>
              </a:rPr>
              <a:t>  </a:t>
            </a:r>
            <a:r>
              <a:rPr dirty="0" sz="1000" spc="-20">
                <a:latin typeface="Calibri"/>
                <a:cs typeface="Calibri"/>
              </a:rPr>
              <a:t>trust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and</a:t>
            </a:r>
            <a:endParaRPr sz="1000">
              <a:latin typeface="Calibri"/>
              <a:cs typeface="Calibri"/>
            </a:endParaRPr>
          </a:p>
          <a:p>
            <a:pPr algn="r" marR="170815">
              <a:lnSpc>
                <a:spcPct val="100000"/>
              </a:lnSpc>
              <a:spcBef>
                <a:spcPts val="330"/>
              </a:spcBef>
            </a:pPr>
            <a:r>
              <a:rPr dirty="0" sz="450" spc="-5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7050" y="2600070"/>
            <a:ext cx="1201420" cy="336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  <a:tabLst>
                <a:tab pos="499745" algn="l"/>
              </a:tabLst>
            </a:pPr>
            <a:r>
              <a:rPr dirty="0" sz="1000" spc="-10">
                <a:latin typeface="Calibri"/>
                <a:cs typeface="Calibri"/>
              </a:rPr>
              <a:t>crucial</a:t>
            </a:r>
            <a:r>
              <a:rPr dirty="0" sz="1000">
                <a:latin typeface="Calibri"/>
                <a:cs typeface="Calibri"/>
              </a:rPr>
              <a:t>	for</a:t>
            </a:r>
            <a:r>
              <a:rPr dirty="0" sz="1000" spc="235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building collaboration.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266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DevOps–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People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79" y="791844"/>
            <a:ext cx="256031" cy="1478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059" y="1111884"/>
            <a:ext cx="256032" cy="14782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059" y="1416684"/>
            <a:ext cx="256032" cy="14782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059" y="1721865"/>
            <a:ext cx="256032" cy="1478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059" y="2179065"/>
            <a:ext cx="256032" cy="1478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73506" y="768476"/>
            <a:ext cx="4018915" cy="2117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6C1C6B"/>
                </a:solidFill>
                <a:latin typeface="Calibri"/>
                <a:cs typeface="Calibri"/>
              </a:rPr>
              <a:t>DEVOPS</a:t>
            </a:r>
            <a:r>
              <a:rPr dirty="0" sz="1000" spc="15">
                <a:solidFill>
                  <a:srgbClr val="6C1C6B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6C1C6B"/>
                </a:solidFill>
                <a:latin typeface="Calibri"/>
                <a:cs typeface="Calibri"/>
              </a:rPr>
              <a:t>TEAM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0">
              <a:latin typeface="Calibri"/>
              <a:cs typeface="Calibri"/>
            </a:endParaRPr>
          </a:p>
          <a:p>
            <a:pPr algn="just" marL="158750" marR="762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arguments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for</a:t>
            </a:r>
            <a:r>
              <a:rPr dirty="0" sz="1000">
                <a:latin typeface="Calibri"/>
                <a:cs typeface="Calibri"/>
              </a:rPr>
              <a:t> and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against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having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separate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DevOps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28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old</a:t>
            </a:r>
            <a:r>
              <a:rPr dirty="0" sz="1000">
                <a:latin typeface="Calibri"/>
                <a:cs typeface="Calibri"/>
              </a:rPr>
              <a:t> as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concept </a:t>
            </a:r>
            <a:r>
              <a:rPr dirty="0" sz="1000" spc="-10">
                <a:latin typeface="Calibri"/>
                <a:cs typeface="Calibri"/>
              </a:rPr>
              <a:t>itself.</a:t>
            </a:r>
            <a:endParaRPr sz="1000">
              <a:latin typeface="Calibri"/>
              <a:cs typeface="Calibri"/>
            </a:endParaRPr>
          </a:p>
          <a:p>
            <a:pPr algn="just" marL="158750" marR="5715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DevOps</a:t>
            </a:r>
            <a:r>
              <a:rPr dirty="0" sz="1000" spc="18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liaison</a:t>
            </a:r>
            <a:r>
              <a:rPr dirty="0" sz="1000" spc="17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teams,</a:t>
            </a:r>
            <a:r>
              <a:rPr dirty="0" sz="1000" spc="16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which</a:t>
            </a:r>
            <a:r>
              <a:rPr dirty="0" sz="1000" spc="17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resolve</a:t>
            </a:r>
            <a:r>
              <a:rPr dirty="0" sz="1000" spc="16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any</a:t>
            </a:r>
            <a:r>
              <a:rPr dirty="0" sz="1000" spc="15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conflicts</a:t>
            </a:r>
            <a:r>
              <a:rPr dirty="0" sz="1000" spc="17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60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promote collaboration.</a:t>
            </a:r>
            <a:endParaRPr sz="1000">
              <a:latin typeface="Calibri"/>
              <a:cs typeface="Calibri"/>
            </a:endParaRPr>
          </a:p>
          <a:p>
            <a:pPr algn="just" marL="15875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may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existing</a:t>
            </a:r>
            <a:r>
              <a:rPr dirty="0" sz="1000" spc="1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group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process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group,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36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may</a:t>
            </a:r>
            <a:r>
              <a:rPr dirty="0" sz="1000">
                <a:latin typeface="Calibri"/>
                <a:cs typeface="Calibri"/>
              </a:rPr>
              <a:t> be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new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staffed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representatives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 teams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2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stake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in</a:t>
            </a:r>
            <a:r>
              <a:rPr dirty="0" sz="1000">
                <a:latin typeface="Calibri"/>
                <a:cs typeface="Calibri"/>
              </a:rPr>
              <a:t> the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application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being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delivered.</a:t>
            </a:r>
            <a:endParaRPr sz="1000">
              <a:latin typeface="Calibri"/>
              <a:cs typeface="Calibri"/>
            </a:endParaRPr>
          </a:p>
          <a:p>
            <a:pPr algn="just" marL="15875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DevOps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team,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your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most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important</a:t>
            </a:r>
            <a:r>
              <a:rPr dirty="0" sz="1000">
                <a:latin typeface="Calibri"/>
                <a:cs typeface="Calibri"/>
              </a:rPr>
              <a:t> goal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ensure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that </a:t>
            </a:r>
            <a:r>
              <a:rPr dirty="0" sz="1000">
                <a:latin typeface="Calibri"/>
                <a:cs typeface="Calibri"/>
              </a:rPr>
              <a:t>it functions</a:t>
            </a:r>
            <a:r>
              <a:rPr dirty="0" sz="1000" spc="2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 Center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Excellence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facilitates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collaboration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without</a:t>
            </a:r>
            <a:r>
              <a:rPr dirty="0" sz="1000" spc="7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adding</a:t>
            </a:r>
            <a:r>
              <a:rPr dirty="0" sz="1000" spc="3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000" spc="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 layer</a:t>
            </a:r>
            <a:r>
              <a:rPr dirty="0" sz="1000" spc="1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000" spc="2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bureaucracy</a:t>
            </a:r>
            <a:r>
              <a:rPr dirty="0" sz="1000" spc="1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becoming</a:t>
            </a:r>
            <a:r>
              <a:rPr dirty="0" sz="1000" spc="2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2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owns</a:t>
            </a:r>
            <a:r>
              <a:rPr dirty="0" sz="1000" spc="21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addressing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all</a:t>
            </a:r>
            <a:r>
              <a:rPr dirty="0" sz="1000">
                <a:latin typeface="Calibri"/>
                <a:cs typeface="Calibri"/>
              </a:rPr>
              <a:t> DevOps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related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problems</a:t>
            </a:r>
            <a:endParaRPr sz="1000">
              <a:latin typeface="Calibri"/>
              <a:cs typeface="Calibri"/>
            </a:endParaRPr>
          </a:p>
          <a:p>
            <a:pPr algn="r" marR="216535">
              <a:lnSpc>
                <a:spcPct val="100000"/>
              </a:lnSpc>
              <a:spcBef>
                <a:spcPts val="185"/>
              </a:spcBef>
            </a:pPr>
            <a:r>
              <a:rPr dirty="0" sz="450" spc="-5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41554" y="800099"/>
            <a:ext cx="4166235" cy="2209800"/>
            <a:chOff x="241554" y="800099"/>
            <a:chExt cx="4166235" cy="2209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9140" y="1037716"/>
              <a:ext cx="1553718" cy="135369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54" y="800099"/>
              <a:ext cx="4165727" cy="22098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85673" y="184150"/>
            <a:ext cx="2539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latin typeface="Arial"/>
                <a:cs typeface="Arial"/>
              </a:rPr>
              <a:t>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Driven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70102" y="656208"/>
            <a:ext cx="3601720" cy="2590800"/>
            <a:chOff x="570102" y="656208"/>
            <a:chExt cx="3601720" cy="2590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102" y="656208"/>
              <a:ext cx="3601592" cy="259080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85673" y="183260"/>
            <a:ext cx="2539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latin typeface="Arial"/>
                <a:cs typeface="Arial"/>
              </a:rPr>
              <a:t>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Driven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8346" y="705738"/>
            <a:ext cx="4415790" cy="2323465"/>
            <a:chOff x="78346" y="705738"/>
            <a:chExt cx="4415790" cy="23234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4900" y="2305557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46" y="705738"/>
              <a:ext cx="4353560" cy="173266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909" y="1368221"/>
              <a:ext cx="1784731" cy="94228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46" y="1565566"/>
              <a:ext cx="1505966" cy="57730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85673" y="184150"/>
            <a:ext cx="1260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solidFill>
                  <a:srgbClr val="006FC0"/>
                </a:solidFill>
                <a:latin typeface="Arial"/>
                <a:cs typeface="Arial"/>
              </a:rPr>
              <a:t>Agile</a:t>
            </a:r>
            <a:r>
              <a:rPr dirty="0" sz="1800" spc="-8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006FC0"/>
                </a:solidFill>
                <a:latin typeface="Arial"/>
                <a:cs typeface="Arial"/>
              </a:rPr>
              <a:t>Teams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83768" y="759713"/>
            <a:ext cx="3316604" cy="2540000"/>
            <a:chOff x="683768" y="759713"/>
            <a:chExt cx="3316604" cy="2540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768" y="759713"/>
              <a:ext cx="3316351" cy="148882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100" y="2307170"/>
              <a:ext cx="2458974" cy="99241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7573" y="122301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From</a:t>
            </a:r>
            <a:r>
              <a:rPr dirty="0" sz="1800" spc="-204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to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6532" y="840866"/>
            <a:ext cx="4378960" cy="2317750"/>
            <a:chOff x="96532" y="840866"/>
            <a:chExt cx="4378960" cy="23177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452" y="840866"/>
              <a:ext cx="3196463" cy="140703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32" y="2400299"/>
              <a:ext cx="4378960" cy="75778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0588" y="26035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5673" y="183260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From</a:t>
            </a:r>
            <a:r>
              <a:rPr dirty="0" sz="1800" spc="-204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to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06" y="971277"/>
            <a:ext cx="4053857" cy="13340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08811" y="914907"/>
            <a:ext cx="3091815" cy="2073910"/>
            <a:chOff x="908811" y="914907"/>
            <a:chExt cx="3091815" cy="20739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811" y="914907"/>
              <a:ext cx="2754249" cy="207352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23774" y="143332"/>
            <a:ext cx="19354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Component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Teams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61747" y="732408"/>
            <a:ext cx="3938270" cy="2392045"/>
            <a:chOff x="261747" y="732408"/>
            <a:chExt cx="3938270" cy="23920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747" y="732408"/>
              <a:ext cx="3937762" cy="2391791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85673" y="68960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From</a:t>
            </a:r>
            <a:r>
              <a:rPr dirty="0" sz="1800" spc="-204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to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06375" y="749604"/>
            <a:ext cx="4159250" cy="2359660"/>
            <a:chOff x="206375" y="749604"/>
            <a:chExt cx="4159250" cy="23596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375" y="749604"/>
              <a:ext cx="4159250" cy="235966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85673" y="69850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From</a:t>
            </a:r>
            <a:r>
              <a:rPr dirty="0" sz="1800" spc="-204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to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95300" y="729614"/>
            <a:ext cx="3505200" cy="2508885"/>
            <a:chOff x="495300" y="729614"/>
            <a:chExt cx="3505200" cy="25088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729614"/>
              <a:ext cx="3473196" cy="250888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2000" spc="-70"/>
              <a:t>Infra</a:t>
            </a:r>
            <a:r>
              <a:rPr dirty="0" sz="2000" spc="-130"/>
              <a:t> </a:t>
            </a:r>
            <a:r>
              <a:rPr dirty="0" sz="2000" spc="-60"/>
              <a:t>evolution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14629" y="0"/>
            <a:ext cx="4197350" cy="3124200"/>
            <a:chOff x="214629" y="0"/>
            <a:chExt cx="4197350" cy="3124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29" y="337311"/>
              <a:ext cx="3845941" cy="2786888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26593" y="952499"/>
            <a:ext cx="3601085" cy="2085975"/>
            <a:chOff x="426593" y="952499"/>
            <a:chExt cx="3601085" cy="20859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93" y="952499"/>
              <a:ext cx="3600957" cy="208597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85673" y="183260"/>
            <a:ext cx="687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 b="1">
                <a:latin typeface="Arial"/>
                <a:cs typeface="Arial"/>
              </a:rPr>
              <a:t>Squad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869" y="1951608"/>
            <a:ext cx="2754249" cy="7231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5673" y="184150"/>
            <a:ext cx="68770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/>
              <a:t>Squad</a:t>
            </a:r>
            <a:endParaRPr sz="1800"/>
          </a:p>
        </p:txBody>
      </p:sp>
      <p:sp>
        <p:nvSpPr>
          <p:cNvPr id="5" name="object 5" descr=""/>
          <p:cNvSpPr txBox="1"/>
          <p:nvPr/>
        </p:nvSpPr>
        <p:spPr>
          <a:xfrm>
            <a:off x="185673" y="803909"/>
            <a:ext cx="4152900" cy="2006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54305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Squad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similar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Scrum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team.</a:t>
            </a:r>
            <a:endParaRPr sz="1000">
              <a:latin typeface="Calibri"/>
              <a:cs typeface="Calibri"/>
            </a:endParaRPr>
          </a:p>
          <a:p>
            <a:pPr marL="153670" marR="262890" indent="-141605">
              <a:lnSpc>
                <a:spcPct val="100000"/>
              </a:lnSpc>
              <a:buFont typeface="Arial MT"/>
              <a:buChar char="•"/>
              <a:tabLst>
                <a:tab pos="155575" algn="l"/>
              </a:tabLst>
            </a:pPr>
            <a:r>
              <a:rPr dirty="0" sz="1000">
                <a:latin typeface="Calibri"/>
                <a:cs typeface="Calibri"/>
              </a:rPr>
              <a:t>They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together,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skills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needed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design,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develop,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test,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release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production.</a:t>
            </a:r>
            <a:endParaRPr sz="1000">
              <a:latin typeface="Calibri"/>
              <a:cs typeface="Calibri"/>
            </a:endParaRPr>
          </a:p>
          <a:p>
            <a:pPr marL="153670" marR="46355" indent="-141605">
              <a:lnSpc>
                <a:spcPct val="100000"/>
              </a:lnSpc>
              <a:buFont typeface="Arial MT"/>
              <a:buChar char="•"/>
              <a:tabLst>
                <a:tab pos="155575" algn="l"/>
              </a:tabLst>
            </a:pPr>
            <a:r>
              <a:rPr dirty="0" sz="1000">
                <a:latin typeface="Calibri"/>
                <a:cs typeface="Calibri"/>
              </a:rPr>
              <a:t>They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self-organizing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team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decide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their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own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way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working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–</a:t>
            </a:r>
            <a:r>
              <a:rPr dirty="0" sz="1000" spc="-20">
                <a:latin typeface="Calibri"/>
                <a:cs typeface="Calibri"/>
              </a:rPr>
              <a:t> some </a:t>
            </a:r>
            <a:r>
              <a:rPr dirty="0" sz="1000" spc="-2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Scrum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sprints,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Kanban,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mix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these</a:t>
            </a:r>
            <a:r>
              <a:rPr dirty="0" sz="1000" spc="-10">
                <a:latin typeface="Calibri"/>
                <a:cs typeface="Calibri"/>
              </a:rPr>
              <a:t> approaches.</a:t>
            </a:r>
            <a:endParaRPr sz="1000">
              <a:latin typeface="Calibri"/>
              <a:cs typeface="Calibri"/>
            </a:endParaRPr>
          </a:p>
          <a:p>
            <a:pPr marL="153670" marR="87630" indent="-141605">
              <a:lnSpc>
                <a:spcPct val="100000"/>
              </a:lnSpc>
              <a:buFont typeface="Arial MT"/>
              <a:buChar char="•"/>
              <a:tabLst>
                <a:tab pos="155575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tribe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collection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squads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work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related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areas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–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web</a:t>
            </a:r>
            <a:r>
              <a:rPr dirty="0" sz="1000">
                <a:latin typeface="Calibri"/>
                <a:cs typeface="Calibri"/>
              </a:rPr>
              <a:t> 	application,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support,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backend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infrastructure.</a:t>
            </a:r>
            <a:endParaRPr sz="1000">
              <a:latin typeface="Calibri"/>
              <a:cs typeface="Calibri"/>
            </a:endParaRPr>
          </a:p>
          <a:p>
            <a:pPr marL="153670" marR="161290" indent="-141605">
              <a:lnSpc>
                <a:spcPct val="100000"/>
              </a:lnSpc>
              <a:buFont typeface="Arial MT"/>
              <a:buChar char="•"/>
              <a:tabLst>
                <a:tab pos="155575" algn="l"/>
              </a:tabLst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chapter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your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small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family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people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similar skills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working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within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general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competency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area,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within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-10">
                <a:latin typeface="Calibri"/>
                <a:cs typeface="Calibri"/>
              </a:rPr>
              <a:t> tribe.</a:t>
            </a:r>
            <a:endParaRPr sz="1000">
              <a:latin typeface="Calibri"/>
              <a:cs typeface="Calibri"/>
            </a:endParaRPr>
          </a:p>
          <a:p>
            <a:pPr marL="153670" marR="5080" indent="-141605">
              <a:lnSpc>
                <a:spcPct val="100000"/>
              </a:lnSpc>
              <a:buFont typeface="Arial MT"/>
              <a:buChar char="•"/>
              <a:tabLst>
                <a:tab pos="155575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Guild is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more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organic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wide-</a:t>
            </a:r>
            <a:r>
              <a:rPr dirty="0" sz="1000">
                <a:latin typeface="Calibri"/>
                <a:cs typeface="Calibri"/>
              </a:rPr>
              <a:t>reaching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“community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interest”,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group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people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want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share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knowledge,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tools,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code,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practices.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Chapters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are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always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local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Tribe, </a:t>
            </a:r>
            <a:r>
              <a:rPr dirty="0" sz="1000">
                <a:latin typeface="Calibri"/>
                <a:cs typeface="Calibri"/>
              </a:rPr>
              <a:t>while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guild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usually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cuts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across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whole 	organization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42900" y="876299"/>
            <a:ext cx="4036695" cy="2057400"/>
            <a:chOff x="342900" y="876299"/>
            <a:chExt cx="4036695" cy="2057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" y="876299"/>
              <a:ext cx="4036567" cy="2057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391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70"/>
              <a:t>DevOps</a:t>
            </a:r>
            <a:r>
              <a:rPr dirty="0" sz="1800" spc="-125"/>
              <a:t> </a:t>
            </a:r>
            <a:r>
              <a:rPr dirty="0" sz="1800"/>
              <a:t>–</a:t>
            </a:r>
            <a:r>
              <a:rPr dirty="0" sz="1800" spc="-160"/>
              <a:t> </a:t>
            </a:r>
            <a:r>
              <a:rPr dirty="0" sz="1800" spc="-60"/>
              <a:t>Roles</a:t>
            </a:r>
            <a:r>
              <a:rPr dirty="0" sz="1800" spc="-160"/>
              <a:t> </a:t>
            </a:r>
            <a:r>
              <a:rPr dirty="0" sz="1800"/>
              <a:t>&amp;</a:t>
            </a:r>
            <a:r>
              <a:rPr dirty="0" sz="1800" spc="-160"/>
              <a:t> </a:t>
            </a:r>
            <a:r>
              <a:rPr dirty="0" sz="1800" spc="-70"/>
              <a:t>Responsibilities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DevOps–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People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2846" y="869314"/>
            <a:ext cx="386080" cy="429895"/>
            <a:chOff x="172846" y="869314"/>
            <a:chExt cx="386080" cy="4298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869314"/>
              <a:ext cx="256031" cy="14782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15618"/>
              <a:ext cx="256031" cy="14782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174114"/>
              <a:ext cx="219456" cy="124968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963" y="1439544"/>
            <a:ext cx="219456" cy="124968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72846" y="1689480"/>
            <a:ext cx="386080" cy="410209"/>
            <a:chOff x="172846" y="1689480"/>
            <a:chExt cx="386080" cy="410209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689480"/>
              <a:ext cx="256031" cy="14782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843404"/>
              <a:ext cx="219456" cy="1249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974468"/>
              <a:ext cx="219456" cy="12496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60146" y="707262"/>
            <a:ext cx="4000500" cy="2073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1145"/>
              </a:lnSpc>
              <a:spcBef>
                <a:spcPts val="120"/>
              </a:spcBef>
            </a:pPr>
            <a:r>
              <a:rPr dirty="0" sz="1000" spc="-30">
                <a:solidFill>
                  <a:srgbClr val="006FBE"/>
                </a:solidFill>
                <a:latin typeface="Calibri"/>
                <a:cs typeface="Calibri"/>
              </a:rPr>
              <a:t>Key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competencies</a:t>
            </a:r>
            <a:r>
              <a:rPr dirty="0" sz="1000" spc="9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dirty="0" sz="1000" spc="7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succeed</a:t>
            </a:r>
            <a:endParaRPr sz="1000">
              <a:latin typeface="Calibri"/>
              <a:cs typeface="Calibri"/>
            </a:endParaRPr>
          </a:p>
          <a:p>
            <a:pPr marL="178435" marR="466725">
              <a:lnSpc>
                <a:spcPts val="1150"/>
              </a:lnSpc>
              <a:spcBef>
                <a:spcPts val="25"/>
              </a:spcBef>
            </a:pPr>
            <a:r>
              <a:rPr dirty="0" sz="1000" spc="-20">
                <a:latin typeface="Calibri"/>
                <a:cs typeface="Calibri"/>
              </a:rPr>
              <a:t>Culture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–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Shared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organizational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assumptions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resolve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problems Leadership</a:t>
            </a:r>
            <a:endParaRPr sz="1000">
              <a:latin typeface="Calibri"/>
              <a:cs typeface="Calibri"/>
            </a:endParaRPr>
          </a:p>
          <a:p>
            <a:pPr marL="344805" marR="173355">
              <a:lnSpc>
                <a:spcPts val="1060"/>
              </a:lnSpc>
              <a:spcBef>
                <a:spcPts val="30"/>
              </a:spcBef>
            </a:pPr>
            <a:r>
              <a:rPr dirty="0" sz="850">
                <a:latin typeface="Calibri"/>
                <a:cs typeface="Calibri"/>
              </a:rPr>
              <a:t>visioning,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strategic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management,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flexibility,</a:t>
            </a:r>
            <a:r>
              <a:rPr dirty="0" sz="850" spc="4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and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4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ability</a:t>
            </a:r>
            <a:r>
              <a:rPr dirty="0" sz="850" spc="-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to</a:t>
            </a:r>
            <a:r>
              <a:rPr dirty="0" sz="850" spc="4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inspire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others</a:t>
            </a:r>
            <a:r>
              <a:rPr dirty="0" sz="850" spc="229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to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innovate</a:t>
            </a:r>
            <a:r>
              <a:rPr dirty="0" sz="850" spc="-4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and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perform</a:t>
            </a:r>
            <a:endParaRPr sz="850">
              <a:latin typeface="Calibri"/>
              <a:cs typeface="Calibri"/>
            </a:endParaRPr>
          </a:p>
          <a:p>
            <a:pPr marL="344805" marR="295910">
              <a:lnSpc>
                <a:spcPts val="1000"/>
              </a:lnSpc>
              <a:spcBef>
                <a:spcPts val="15"/>
              </a:spcBef>
            </a:pPr>
            <a:r>
              <a:rPr dirty="0" sz="850" spc="-10">
                <a:latin typeface="Calibri"/>
                <a:cs typeface="Calibri"/>
              </a:rPr>
              <a:t>individuals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with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advanced</a:t>
            </a:r>
            <a:r>
              <a:rPr dirty="0" sz="850">
                <a:latin typeface="Calibri"/>
                <a:cs typeface="Calibri"/>
              </a:rPr>
              <a:t> communications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skills,</a:t>
            </a:r>
            <a:r>
              <a:rPr dirty="0" sz="850" spc="6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knowledge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of</a:t>
            </a:r>
            <a:r>
              <a:rPr dirty="0" sz="850" spc="21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diverse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cultures, and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people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who</a:t>
            </a:r>
            <a:r>
              <a:rPr dirty="0" sz="850" spc="1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behave</a:t>
            </a:r>
            <a:r>
              <a:rPr dirty="0" sz="850" spc="-20">
                <a:latin typeface="Calibri"/>
                <a:cs typeface="Calibri"/>
              </a:rPr>
              <a:t> collaboratively</a:t>
            </a:r>
            <a:r>
              <a:rPr dirty="0" sz="850">
                <a:latin typeface="Calibri"/>
                <a:cs typeface="Calibri"/>
              </a:rPr>
              <a:t> when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working</a:t>
            </a:r>
            <a:r>
              <a:rPr dirty="0" sz="850" spc="2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in</a:t>
            </a:r>
            <a:r>
              <a:rPr dirty="0" sz="850" spc="5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teams</a:t>
            </a:r>
            <a:endParaRPr sz="850">
              <a:latin typeface="Calibri"/>
              <a:cs typeface="Calibri"/>
            </a:endParaRPr>
          </a:p>
          <a:p>
            <a:pPr marL="178435">
              <a:lnSpc>
                <a:spcPts val="1110"/>
              </a:lnSpc>
            </a:pPr>
            <a:r>
              <a:rPr dirty="0" sz="1000" spc="-10">
                <a:latin typeface="Calibri"/>
                <a:cs typeface="Calibri"/>
              </a:rPr>
              <a:t>Resource/management</a:t>
            </a:r>
            <a:endParaRPr sz="1000">
              <a:latin typeface="Calibri"/>
              <a:cs typeface="Calibri"/>
            </a:endParaRPr>
          </a:p>
          <a:p>
            <a:pPr marL="344805">
              <a:lnSpc>
                <a:spcPct val="100000"/>
              </a:lnSpc>
              <a:spcBef>
                <a:spcPts val="20"/>
              </a:spcBef>
            </a:pPr>
            <a:r>
              <a:rPr dirty="0" sz="850" spc="-10">
                <a:latin typeface="Calibri"/>
                <a:cs typeface="Calibri"/>
              </a:rPr>
              <a:t>effective</a:t>
            </a:r>
            <a:r>
              <a:rPr dirty="0" sz="850" spc="4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management</a:t>
            </a:r>
            <a:r>
              <a:rPr dirty="0" sz="850" spc="5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of</a:t>
            </a:r>
            <a:r>
              <a:rPr dirty="0" sz="850" spc="4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availableresources</a:t>
            </a:r>
            <a:endParaRPr sz="850">
              <a:latin typeface="Calibri"/>
              <a:cs typeface="Calibri"/>
            </a:endParaRPr>
          </a:p>
          <a:p>
            <a:pPr marL="344805" marR="541655">
              <a:lnSpc>
                <a:spcPts val="1050"/>
              </a:lnSpc>
              <a:spcBef>
                <a:spcPts val="20"/>
              </a:spcBef>
            </a:pPr>
            <a:r>
              <a:rPr dirty="0" sz="850" spc="-10">
                <a:latin typeface="Calibri"/>
                <a:cs typeface="Calibri"/>
              </a:rPr>
              <a:t>collaboration</a:t>
            </a:r>
            <a:r>
              <a:rPr dirty="0" sz="850" spc="-3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across</a:t>
            </a:r>
            <a:r>
              <a:rPr dirty="0" sz="850" spc="4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multi-</a:t>
            </a:r>
            <a:r>
              <a:rPr dirty="0" sz="850" spc="-10">
                <a:latin typeface="Calibri"/>
                <a:cs typeface="Calibri"/>
              </a:rPr>
              <a:t>functional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teams</a:t>
            </a:r>
            <a:r>
              <a:rPr dirty="0" sz="850" spc="1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is</a:t>
            </a:r>
            <a:r>
              <a:rPr dirty="0" sz="850" spc="4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at</a:t>
            </a:r>
            <a:r>
              <a:rPr dirty="0" sz="850" spc="-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2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heart </a:t>
            </a:r>
            <a:r>
              <a:rPr dirty="0" sz="850">
                <a:latin typeface="Calibri"/>
                <a:cs typeface="Calibri"/>
              </a:rPr>
              <a:t>of</a:t>
            </a:r>
            <a:r>
              <a:rPr dirty="0" sz="850" spc="22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DevOps,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delivering</a:t>
            </a:r>
            <a:r>
              <a:rPr dirty="0" sz="850">
                <a:latin typeface="Calibri"/>
                <a:cs typeface="Calibri"/>
              </a:rPr>
              <a:t> an</a:t>
            </a:r>
            <a:r>
              <a:rPr dirty="0" sz="850" spc="-2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accountable</a:t>
            </a:r>
            <a:r>
              <a:rPr dirty="0" sz="850" spc="6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business</a:t>
            </a:r>
            <a:r>
              <a:rPr dirty="0" sz="850" spc="5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outcome</a:t>
            </a:r>
            <a:endParaRPr sz="850">
              <a:latin typeface="Calibri"/>
              <a:cs typeface="Calibri"/>
            </a:endParaRPr>
          </a:p>
          <a:p>
            <a:pPr marL="178435">
              <a:lnSpc>
                <a:spcPts val="1000"/>
              </a:lnSpc>
            </a:pPr>
            <a:r>
              <a:rPr dirty="0" sz="950" spc="-20">
                <a:latin typeface="Calibri"/>
                <a:cs typeface="Calibri"/>
              </a:rPr>
              <a:t>Subject </a:t>
            </a:r>
            <a:r>
              <a:rPr dirty="0" sz="950" spc="-30">
                <a:latin typeface="Calibri"/>
                <a:cs typeface="Calibri"/>
              </a:rPr>
              <a:t>matter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experts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30">
                <a:latin typeface="Calibri"/>
                <a:cs typeface="Calibri"/>
              </a:rPr>
              <a:t>(SME’s)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different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areas</a:t>
            </a:r>
            <a:r>
              <a:rPr dirty="0" sz="950" spc="-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like</a:t>
            </a:r>
            <a:r>
              <a:rPr dirty="0" sz="950">
                <a:latin typeface="Calibri"/>
                <a:cs typeface="Calibri"/>
              </a:rPr>
              <a:t> –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Automation,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Build</a:t>
            </a:r>
            <a:r>
              <a:rPr dirty="0" sz="950" spc="220">
                <a:latin typeface="Calibri"/>
                <a:cs typeface="Calibri"/>
              </a:rPr>
              <a:t> </a:t>
            </a:r>
            <a:r>
              <a:rPr dirty="0" sz="950" spc="-50">
                <a:latin typeface="Calibri"/>
                <a:cs typeface="Calibri"/>
              </a:rPr>
              <a:t>&amp;</a:t>
            </a:r>
            <a:endParaRPr sz="950">
              <a:latin typeface="Calibri"/>
              <a:cs typeface="Calibri"/>
            </a:endParaRPr>
          </a:p>
          <a:p>
            <a:pPr marL="178435">
              <a:lnSpc>
                <a:spcPts val="1075"/>
              </a:lnSpc>
            </a:pPr>
            <a:r>
              <a:rPr dirty="0" sz="950">
                <a:latin typeface="Calibri"/>
                <a:cs typeface="Calibri"/>
              </a:rPr>
              <a:t>Release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management,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CI/CD,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Containers,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 spc="-40">
                <a:latin typeface="Calibri"/>
                <a:cs typeface="Calibri"/>
              </a:rPr>
              <a:t>Security,</a:t>
            </a:r>
            <a:r>
              <a:rPr dirty="0" sz="950" spc="-3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Cloud</a:t>
            </a:r>
            <a:r>
              <a:rPr dirty="0" sz="950" spc="1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(AWS/GCP/Azure)</a:t>
            </a:r>
            <a:endParaRPr sz="95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985"/>
              </a:spcBef>
              <a:tabLst>
                <a:tab pos="728980" algn="l"/>
                <a:tab pos="3413125" algn="l"/>
              </a:tabLst>
            </a:pPr>
            <a:r>
              <a:rPr dirty="0" sz="950" spc="-10">
                <a:latin typeface="Calibri"/>
                <a:cs typeface="Calibri"/>
              </a:rPr>
              <a:t>DevOps</a:t>
            </a:r>
            <a:r>
              <a:rPr dirty="0" sz="950">
                <a:latin typeface="Calibri"/>
                <a:cs typeface="Calibri"/>
              </a:rPr>
              <a:t>	engineers</a:t>
            </a:r>
            <a:r>
              <a:rPr dirty="0" sz="950" spc="24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who</a:t>
            </a:r>
            <a:r>
              <a:rPr dirty="0" sz="950" spc="19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200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members</a:t>
            </a:r>
            <a:r>
              <a:rPr dirty="0" sz="950" spc="24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240">
                <a:latin typeface="Calibri"/>
                <a:cs typeface="Calibri"/>
              </a:rPr>
              <a:t>  </a:t>
            </a:r>
            <a:r>
              <a:rPr dirty="0" sz="950" spc="-10">
                <a:latin typeface="Calibri"/>
                <a:cs typeface="Calibri"/>
              </a:rPr>
              <a:t>different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10">
                <a:latin typeface="Calibri"/>
                <a:cs typeface="Calibri"/>
              </a:rPr>
              <a:t>department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00576" y="2791205"/>
            <a:ext cx="8382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6897" y="2755518"/>
            <a:ext cx="156210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latin typeface="Calibri"/>
                <a:cs typeface="Calibri"/>
              </a:rPr>
              <a:t>(development,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QA,</a:t>
            </a:r>
            <a:r>
              <a:rPr dirty="0" sz="950" spc="-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Operations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50">
                <a:latin typeface="Calibri"/>
                <a:cs typeface="Calibri"/>
              </a:rPr>
              <a:t>)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138677"/>
            <a:ext cx="228155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4085">
              <a:lnSpc>
                <a:spcPts val="550"/>
              </a:lnSpc>
              <a:spcBef>
                <a:spcPts val="105"/>
              </a:spcBef>
            </a:pPr>
            <a:r>
              <a:rPr dirty="0" sz="500" spc="-25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500">
              <a:latin typeface="Calibri"/>
              <a:cs typeface="Calibri"/>
            </a:endParaRPr>
          </a:p>
          <a:p>
            <a:pPr marL="2204085">
              <a:lnSpc>
                <a:spcPts val="550"/>
              </a:lnSpc>
            </a:pPr>
            <a:r>
              <a:rPr dirty="0" sz="500" spc="-5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018" y="139445"/>
            <a:ext cx="1862455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DevOps–</a:t>
            </a:r>
            <a:r>
              <a:rPr dirty="0" sz="2000" spc="30"/>
              <a:t> </a:t>
            </a:r>
            <a:r>
              <a:rPr dirty="0" sz="2000" spc="-25"/>
              <a:t>Tools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00" y="775461"/>
            <a:ext cx="252984" cy="14325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00" y="1324355"/>
            <a:ext cx="252984" cy="14325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20700" y="1667255"/>
            <a:ext cx="304800" cy="349250"/>
            <a:chOff x="120700" y="1667255"/>
            <a:chExt cx="304800" cy="34925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" y="1667255"/>
              <a:ext cx="304800" cy="17373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700" y="1872995"/>
              <a:ext cx="252984" cy="14325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20700" y="2398775"/>
            <a:ext cx="449580" cy="722630"/>
            <a:chOff x="120700" y="2398775"/>
            <a:chExt cx="449580" cy="72263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" y="2398775"/>
              <a:ext cx="304800" cy="17373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581604"/>
              <a:ext cx="304800" cy="17404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764789"/>
              <a:ext cx="304800" cy="17373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947669"/>
              <a:ext cx="304800" cy="17373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274065" y="727709"/>
            <a:ext cx="4222115" cy="2403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985" indent="1968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15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focus</a:t>
            </a:r>
            <a:r>
              <a:rPr dirty="0" sz="1200" spc="15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 spc="-20">
                <a:latin typeface="Calibri"/>
                <a:cs typeface="Calibri"/>
              </a:rPr>
              <a:t>high-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creative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12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while </a:t>
            </a:r>
            <a:r>
              <a:rPr dirty="0" sz="1200">
                <a:latin typeface="Calibri"/>
                <a:cs typeface="Calibri"/>
              </a:rPr>
              <a:t>delegating</a:t>
            </a:r>
            <a:r>
              <a:rPr dirty="0" sz="1200" spc="1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routine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tasks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automation.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Technology</a:t>
            </a:r>
            <a:r>
              <a:rPr dirty="0" sz="1200" spc="17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 </a:t>
            </a:r>
            <a:r>
              <a:rPr dirty="0" sz="1200">
                <a:latin typeface="Calibri"/>
                <a:cs typeface="Calibri"/>
              </a:rPr>
              <a:t>teams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practitioners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leverage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scale</a:t>
            </a:r>
            <a:r>
              <a:rPr dirty="0" sz="1200" spc="-20">
                <a:latin typeface="Calibri"/>
                <a:cs typeface="Calibri"/>
              </a:rPr>
              <a:t> their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 and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abilities. </a:t>
            </a:r>
            <a:r>
              <a:rPr dirty="0" sz="1200">
                <a:latin typeface="Calibri"/>
                <a:cs typeface="Calibri"/>
              </a:rPr>
              <a:t>Organization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reuse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assets,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practices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cost- </a:t>
            </a:r>
            <a:r>
              <a:rPr dirty="0" sz="1200">
                <a:latin typeface="Calibri"/>
                <a:cs typeface="Calibri"/>
              </a:rPr>
              <a:t>effective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efficient.</a:t>
            </a:r>
            <a:endParaRPr sz="1200">
              <a:latin typeface="Calibri"/>
              <a:cs typeface="Calibri"/>
            </a:endParaRPr>
          </a:p>
          <a:p>
            <a:pPr marL="12700" marR="5080" indent="19685">
              <a:lnSpc>
                <a:spcPct val="100000"/>
              </a:lnSpc>
              <a:tabLst>
                <a:tab pos="407034" algn="l"/>
              </a:tabLst>
            </a:pPr>
            <a:r>
              <a:rPr dirty="0" sz="1200" spc="-20">
                <a:latin typeface="Calibri"/>
                <a:cs typeface="Calibri"/>
              </a:rPr>
              <a:t>Standardizing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 </a:t>
            </a:r>
            <a:r>
              <a:rPr dirty="0" sz="1200" spc="-10">
                <a:latin typeface="Calibri"/>
                <a:cs typeface="Calibri"/>
              </a:rPr>
              <a:t>makes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effective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practitioners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anywhere,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new</a:t>
            </a:r>
            <a:r>
              <a:rPr dirty="0" sz="1200">
                <a:latin typeface="Calibri"/>
                <a:cs typeface="Calibri"/>
              </a:rPr>
              <a:t>	team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members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learn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process </a:t>
            </a:r>
            <a:r>
              <a:rPr dirty="0" sz="1200" spc="-10">
                <a:latin typeface="Calibri"/>
                <a:cs typeface="Calibri"/>
              </a:rPr>
              <a:t>that’s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cost-effective,</a:t>
            </a:r>
            <a:r>
              <a:rPr dirty="0" sz="1200" spc="-20">
                <a:latin typeface="Calibri"/>
                <a:cs typeface="Calibri"/>
              </a:rPr>
              <a:t> repeatable,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scalable.</a:t>
            </a:r>
            <a:endParaRPr sz="1200">
              <a:latin typeface="Calibri"/>
              <a:cs typeface="Calibri"/>
            </a:endParaRPr>
          </a:p>
          <a:p>
            <a:pPr marL="178435" marR="2221230" indent="-146685">
              <a:lnSpc>
                <a:spcPct val="100000"/>
              </a:lnSpc>
            </a:pPr>
            <a:r>
              <a:rPr dirty="0" sz="1200" spc="-20">
                <a:latin typeface="Calibri"/>
                <a:cs typeface="Calibri"/>
              </a:rPr>
              <a:t>Categorized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major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areas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are </a:t>
            </a:r>
            <a:r>
              <a:rPr dirty="0" sz="1200" spc="-35">
                <a:solidFill>
                  <a:srgbClr val="537799"/>
                </a:solidFill>
                <a:latin typeface="Calibri"/>
                <a:cs typeface="Calibri"/>
              </a:rPr>
              <a:t>Infrastructure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37799"/>
                </a:solidFill>
                <a:latin typeface="Calibri"/>
                <a:cs typeface="Calibri"/>
              </a:rPr>
              <a:t>as</a:t>
            </a:r>
            <a:r>
              <a:rPr dirty="0" sz="1200" spc="7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37799"/>
                </a:solidFill>
                <a:latin typeface="Calibri"/>
                <a:cs typeface="Calibri"/>
              </a:rPr>
              <a:t>Code</a:t>
            </a:r>
            <a:r>
              <a:rPr dirty="0" sz="1200" spc="50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Delivery</a:t>
            </a:r>
            <a:r>
              <a:rPr dirty="0" sz="1200" spc="-2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  <a:p>
            <a:pPr marL="178435">
              <a:lnSpc>
                <a:spcPct val="100000"/>
              </a:lnSpc>
            </a:pPr>
            <a:r>
              <a:rPr dirty="0" sz="1200">
                <a:solidFill>
                  <a:srgbClr val="537799"/>
                </a:solidFill>
                <a:latin typeface="Calibri"/>
                <a:cs typeface="Calibri"/>
              </a:rPr>
              <a:t>Deployment</a:t>
            </a:r>
            <a:r>
              <a:rPr dirty="0" sz="1200" spc="1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automation</a:t>
            </a:r>
            <a:r>
              <a:rPr dirty="0" sz="1200" spc="-2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37799"/>
                </a:solidFill>
                <a:latin typeface="Calibri"/>
                <a:cs typeface="Calibri"/>
              </a:rPr>
              <a:t>and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 release</a:t>
            </a:r>
            <a:r>
              <a:rPr dirty="0" sz="1200" spc="-55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37799"/>
                </a:solid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52500" y="1028699"/>
            <a:ext cx="3048000" cy="1751964"/>
            <a:chOff x="952500" y="1028699"/>
            <a:chExt cx="3048000" cy="175196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0" y="1028699"/>
              <a:ext cx="2335276" cy="17514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9100" y="767587"/>
            <a:ext cx="3737610" cy="2364740"/>
            <a:chOff x="419100" y="767587"/>
            <a:chExt cx="3737610" cy="23647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" y="767587"/>
              <a:ext cx="3737355" cy="236448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98195" y="874902"/>
            <a:ext cx="3975735" cy="1800225"/>
            <a:chOff x="298195" y="874902"/>
            <a:chExt cx="3975735" cy="18002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195" y="874902"/>
              <a:ext cx="3975608" cy="17998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46683" y="747648"/>
            <a:ext cx="3353435" cy="2269490"/>
            <a:chOff x="646683" y="747648"/>
            <a:chExt cx="3353435" cy="22694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83" y="747648"/>
              <a:ext cx="3353435" cy="226898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04800" y="636142"/>
            <a:ext cx="3951604" cy="2623820"/>
            <a:chOff x="304800" y="636142"/>
            <a:chExt cx="3951604" cy="26238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636142"/>
              <a:ext cx="3951478" cy="26238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8413"/>
            <a:ext cx="4572000" cy="23920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8888"/>
            <a:ext cx="4572000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86" y="0"/>
            <a:ext cx="264553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623" y="761999"/>
            <a:ext cx="3476879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840700"/>
            <a:ext cx="3456686" cy="242843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43966" y="990599"/>
            <a:ext cx="4047490" cy="1969135"/>
            <a:chOff x="243966" y="990599"/>
            <a:chExt cx="4047490" cy="1969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966" y="990599"/>
              <a:ext cx="4047363" cy="196875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85800" y="952499"/>
            <a:ext cx="3314700" cy="1934845"/>
            <a:chOff x="685800" y="952499"/>
            <a:chExt cx="3314700" cy="19348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952499"/>
              <a:ext cx="3258058" cy="193484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38200" y="659764"/>
            <a:ext cx="3162300" cy="2282190"/>
            <a:chOff x="838200" y="659764"/>
            <a:chExt cx="3162300" cy="22821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659764"/>
              <a:ext cx="3085719" cy="22820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38200" y="838199"/>
            <a:ext cx="3162300" cy="1975485"/>
            <a:chOff x="838200" y="838199"/>
            <a:chExt cx="3162300" cy="19754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838199"/>
              <a:ext cx="3097656" cy="19751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6133" y="838199"/>
            <a:ext cx="4359910" cy="2136140"/>
            <a:chOff x="106133" y="838199"/>
            <a:chExt cx="4359910" cy="21361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33" y="838199"/>
              <a:ext cx="4359783" cy="213588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65912" y="874775"/>
            <a:ext cx="3434715" cy="2153920"/>
            <a:chOff x="565912" y="874775"/>
            <a:chExt cx="3434715" cy="21539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912" y="874775"/>
              <a:ext cx="3378580" cy="21535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97408" y="757300"/>
            <a:ext cx="3479800" cy="2443480"/>
            <a:chOff x="597408" y="757300"/>
            <a:chExt cx="3479800" cy="24434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408" y="757300"/>
              <a:ext cx="3479546" cy="24430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85800" y="904112"/>
            <a:ext cx="3314700" cy="2095500"/>
            <a:chOff x="685800" y="904112"/>
            <a:chExt cx="3314700" cy="20955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904112"/>
              <a:ext cx="3124200" cy="20949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458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z="2000" spc="-75"/>
              <a:t>DevOps</a:t>
            </a:r>
            <a:r>
              <a:rPr dirty="0" sz="2000" spc="-155"/>
              <a:t> </a:t>
            </a:r>
            <a:r>
              <a:rPr dirty="0" sz="2000"/>
              <a:t>-</a:t>
            </a:r>
            <a:r>
              <a:rPr dirty="0" sz="2000" spc="-130"/>
              <a:t> </a:t>
            </a:r>
            <a:r>
              <a:rPr dirty="0" sz="2000" spc="-70"/>
              <a:t>Tools</a:t>
            </a:r>
            <a:endParaRPr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869" y="1951608"/>
            <a:ext cx="2754249" cy="7231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82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DevOps–</a:t>
            </a:r>
            <a:r>
              <a:rPr dirty="0" sz="2000" spc="80"/>
              <a:t> </a:t>
            </a:r>
            <a:r>
              <a:rPr dirty="0" sz="2000" spc="-35"/>
              <a:t>Infrastructure</a:t>
            </a:r>
            <a:r>
              <a:rPr dirty="0" sz="2000" spc="-65"/>
              <a:t> </a:t>
            </a:r>
            <a:r>
              <a:rPr dirty="0" sz="2000"/>
              <a:t>as</a:t>
            </a:r>
            <a:r>
              <a:rPr dirty="0" sz="2000" spc="-10"/>
              <a:t> </a:t>
            </a:r>
            <a:r>
              <a:rPr dirty="0" sz="2000" spc="-20"/>
              <a:t>Code</a:t>
            </a:r>
            <a:endParaRPr sz="2000"/>
          </a:p>
        </p:txBody>
      </p:sp>
      <p:sp>
        <p:nvSpPr>
          <p:cNvPr id="5" name="object 5" descr=""/>
          <p:cNvSpPr txBox="1"/>
          <p:nvPr/>
        </p:nvSpPr>
        <p:spPr>
          <a:xfrm>
            <a:off x="4098163" y="2792983"/>
            <a:ext cx="8382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-25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45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46" y="2048890"/>
            <a:ext cx="240791" cy="13716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46" y="2492374"/>
            <a:ext cx="240791" cy="13716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60146" y="730123"/>
            <a:ext cx="4027804" cy="2055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 marR="36195" indent="19685">
              <a:lnSpc>
                <a:spcPct val="99600"/>
              </a:lnSpc>
              <a:spcBef>
                <a:spcPts val="100"/>
              </a:spcBef>
              <a:tabLst>
                <a:tab pos="1029335" algn="l"/>
                <a:tab pos="1751330" algn="l"/>
                <a:tab pos="2072005" algn="l"/>
                <a:tab pos="2751455" algn="l"/>
                <a:tab pos="2978785" algn="l"/>
                <a:tab pos="3439160" algn="l"/>
              </a:tabLst>
            </a:pPr>
            <a:r>
              <a:rPr dirty="0" sz="950" spc="-10">
                <a:latin typeface="Calibri"/>
                <a:cs typeface="Calibri"/>
              </a:rPr>
              <a:t>organizations</a:t>
            </a:r>
            <a:r>
              <a:rPr dirty="0" sz="950" spc="-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manage</a:t>
            </a:r>
            <a:r>
              <a:rPr dirty="0" sz="950" spc="-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scale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-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speed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with</a:t>
            </a:r>
            <a:r>
              <a:rPr dirty="0" sz="950" spc="-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-10">
                <a:latin typeface="Calibri"/>
                <a:cs typeface="Calibri"/>
              </a:rPr>
              <a:t> environments </a:t>
            </a:r>
            <a:r>
              <a:rPr dirty="0" sz="950">
                <a:latin typeface="Calibri"/>
                <a:cs typeface="Calibri"/>
              </a:rPr>
              <a:t>need</a:t>
            </a:r>
            <a:r>
              <a:rPr dirty="0" sz="950" spc="260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270">
                <a:latin typeface="Calibri"/>
                <a:cs typeface="Calibri"/>
              </a:rPr>
              <a:t> 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10">
                <a:latin typeface="Calibri"/>
                <a:cs typeface="Calibri"/>
              </a:rPr>
              <a:t>provisioned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10">
                <a:latin typeface="Calibri"/>
                <a:cs typeface="Calibri"/>
              </a:rPr>
              <a:t>configured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25">
                <a:latin typeface="Calibri"/>
                <a:cs typeface="Calibri"/>
              </a:rPr>
              <a:t>to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10">
                <a:latin typeface="Calibri"/>
                <a:cs typeface="Calibri"/>
              </a:rPr>
              <a:t>enable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-10">
                <a:latin typeface="Calibri"/>
                <a:cs typeface="Calibri"/>
              </a:rPr>
              <a:t>continuous delivery/deployment.</a:t>
            </a:r>
            <a:endParaRPr sz="950">
              <a:latin typeface="Calibri"/>
              <a:cs typeface="Calibri"/>
            </a:endParaRPr>
          </a:p>
          <a:p>
            <a:pPr marL="198120">
              <a:lnSpc>
                <a:spcPts val="1120"/>
              </a:lnSpc>
            </a:pPr>
            <a:r>
              <a:rPr dirty="0" sz="950" spc="-30">
                <a:latin typeface="Calibri"/>
                <a:cs typeface="Calibri"/>
              </a:rPr>
              <a:t>Infrastructure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notion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software-defined</a:t>
            </a:r>
            <a:r>
              <a:rPr dirty="0" sz="950" spc="-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environments</a:t>
            </a:r>
            <a:endParaRPr sz="950">
              <a:latin typeface="Calibri"/>
              <a:cs typeface="Calibri"/>
            </a:endParaRPr>
          </a:p>
          <a:p>
            <a:pPr algn="just" marL="178435" marR="5080" indent="20955">
              <a:lnSpc>
                <a:spcPct val="100000"/>
              </a:lnSpc>
              <a:spcBef>
                <a:spcPts val="15"/>
              </a:spcBef>
            </a:pPr>
            <a:r>
              <a:rPr dirty="0" sz="950">
                <a:latin typeface="Calibri"/>
                <a:cs typeface="Calibri"/>
              </a:rPr>
              <a:t>Infrastructure</a:t>
            </a:r>
            <a:r>
              <a:rPr dirty="0" sz="950" spc="390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14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4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deals</a:t>
            </a:r>
            <a:r>
              <a:rPr dirty="0" sz="950" spc="160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160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capturing</a:t>
            </a:r>
            <a:r>
              <a:rPr dirty="0" sz="950" spc="280"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node</a:t>
            </a:r>
            <a:r>
              <a:rPr dirty="0" sz="950" spc="47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definitions</a:t>
            </a:r>
            <a:r>
              <a:rPr dirty="0" sz="950" spc="235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configurations</a:t>
            </a:r>
            <a:r>
              <a:rPr dirty="0" sz="950" spc="8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as</a:t>
            </a:r>
            <a:r>
              <a:rPr dirty="0" sz="950" spc="6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code</a:t>
            </a:r>
            <a:r>
              <a:rPr dirty="0" sz="950" spc="7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software-</a:t>
            </a:r>
            <a:r>
              <a:rPr dirty="0" sz="950">
                <a:latin typeface="Calibri"/>
                <a:cs typeface="Calibri"/>
              </a:rPr>
              <a:t>defined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environments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technologies</a:t>
            </a:r>
            <a:r>
              <a:rPr dirty="0" sz="950" spc="3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that</a:t>
            </a:r>
            <a:r>
              <a:rPr dirty="0" sz="950">
                <a:latin typeface="Calibri"/>
                <a:cs typeface="Calibri"/>
              </a:rPr>
              <a:t> define</a:t>
            </a:r>
            <a:r>
              <a:rPr dirty="0" sz="950" spc="-10">
                <a:latin typeface="Calibri"/>
                <a:cs typeface="Calibri"/>
              </a:rPr>
              <a:t> entire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made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up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multiple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nodes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just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their</a:t>
            </a:r>
            <a:r>
              <a:rPr dirty="0" sz="950" spc="1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configurations,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2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also</a:t>
            </a:r>
            <a:r>
              <a:rPr dirty="0" sz="950" spc="2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their</a:t>
            </a:r>
            <a:r>
              <a:rPr dirty="0" sz="950" spc="2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definitions,</a:t>
            </a:r>
            <a:r>
              <a:rPr dirty="0" sz="950" spc="229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topologies,</a:t>
            </a:r>
            <a:r>
              <a:rPr dirty="0" sz="950" spc="229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roles,</a:t>
            </a:r>
            <a:r>
              <a:rPr dirty="0" sz="950" spc="2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relationships,</a:t>
            </a:r>
            <a:r>
              <a:rPr dirty="0" sz="950" spc="21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workloads</a:t>
            </a:r>
            <a:r>
              <a:rPr dirty="0" sz="950" spc="2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 spc="-30">
                <a:latin typeface="Calibri"/>
                <a:cs typeface="Calibri"/>
              </a:rPr>
              <a:t>workload</a:t>
            </a:r>
            <a:r>
              <a:rPr dirty="0" sz="950">
                <a:latin typeface="Calibri"/>
                <a:cs typeface="Calibri"/>
              </a:rPr>
              <a:t> policies,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behavior.</a:t>
            </a:r>
            <a:endParaRPr sz="950">
              <a:latin typeface="Calibri"/>
              <a:cs typeface="Calibri"/>
            </a:endParaRPr>
          </a:p>
          <a:p>
            <a:pPr algn="just" marL="198120">
              <a:lnSpc>
                <a:spcPts val="1110"/>
              </a:lnSpc>
            </a:pPr>
            <a:r>
              <a:rPr dirty="0" sz="950" spc="-20">
                <a:latin typeface="Calibri"/>
                <a:cs typeface="Calibri"/>
              </a:rPr>
              <a:t>Application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or</a:t>
            </a:r>
            <a:r>
              <a:rPr dirty="0" sz="950" spc="-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middleware-</a:t>
            </a:r>
            <a:r>
              <a:rPr dirty="0" sz="950" spc="-10">
                <a:latin typeface="Calibri"/>
                <a:cs typeface="Calibri"/>
              </a:rPr>
              <a:t>centric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tools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code</a:t>
            </a:r>
            <a:r>
              <a:rPr dirty="0" sz="950" spc="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both</a:t>
            </a:r>
            <a:r>
              <a:rPr dirty="0" sz="950" spc="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application</a:t>
            </a:r>
            <a:endParaRPr sz="950">
              <a:latin typeface="Calibri"/>
              <a:cs typeface="Calibri"/>
            </a:endParaRPr>
          </a:p>
          <a:p>
            <a:pPr algn="just" marL="12700" marR="21590" indent="59055">
              <a:lnSpc>
                <a:spcPct val="101099"/>
              </a:lnSpc>
              <a:spcBef>
                <a:spcPts val="50"/>
              </a:spcBef>
            </a:pP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servers</a:t>
            </a:r>
            <a:r>
              <a:rPr dirty="0" sz="950" spc="49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dirty="0" sz="950" spc="4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dirty="0" sz="950" spc="3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applications</a:t>
            </a:r>
            <a:r>
              <a:rPr dirty="0" sz="950" spc="220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that</a:t>
            </a:r>
            <a:r>
              <a:rPr dirty="0" sz="950" spc="39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run</a:t>
            </a:r>
            <a:r>
              <a:rPr dirty="0" sz="950" spc="46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on</a:t>
            </a:r>
            <a:r>
              <a:rPr dirty="0" sz="950" spc="35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them.</a:t>
            </a:r>
            <a:r>
              <a:rPr dirty="0" sz="950" spc="38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Automate</a:t>
            </a:r>
            <a:r>
              <a:rPr dirty="0" sz="950" spc="165">
                <a:latin typeface="Calibri"/>
                <a:cs typeface="Calibri"/>
              </a:rPr>
              <a:t>  </a:t>
            </a:r>
            <a:r>
              <a:rPr dirty="0" sz="950">
                <a:latin typeface="Calibri"/>
                <a:cs typeface="Calibri"/>
              </a:rPr>
              <a:t>server</a:t>
            </a:r>
            <a:r>
              <a:rPr dirty="0" sz="950" spc="40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application-</a:t>
            </a:r>
            <a:r>
              <a:rPr dirty="0" sz="950">
                <a:latin typeface="Calibri"/>
                <a:cs typeface="Calibri"/>
              </a:rPr>
              <a:t>level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tasks</a:t>
            </a:r>
            <a:endParaRPr sz="950">
              <a:latin typeface="Calibri"/>
              <a:cs typeface="Calibri"/>
            </a:endParaRPr>
          </a:p>
          <a:p>
            <a:pPr algn="just" marL="178435" marR="348615" indent="19685">
              <a:lnSpc>
                <a:spcPct val="100000"/>
              </a:lnSpc>
            </a:pPr>
            <a:r>
              <a:rPr dirty="0" sz="950" spc="-20">
                <a:latin typeface="Calibri"/>
                <a:cs typeface="Calibri"/>
              </a:rPr>
              <a:t>Generic</a:t>
            </a:r>
            <a:r>
              <a:rPr dirty="0" sz="950" spc="-3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tools</a:t>
            </a:r>
            <a:r>
              <a:rPr dirty="0" sz="950" spc="-55">
                <a:latin typeface="Calibri"/>
                <a:cs typeface="Calibri"/>
              </a:rPr>
              <a:t> </a:t>
            </a:r>
            <a:r>
              <a:rPr dirty="0" sz="950" spc="-15">
                <a:latin typeface="Calibri"/>
                <a:cs typeface="Calibri"/>
              </a:rPr>
              <a:t>-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scripted</a:t>
            </a:r>
            <a:r>
              <a:rPr dirty="0" sz="950" spc="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dirty="0" sz="950" spc="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30">
                <a:solidFill>
                  <a:srgbClr val="006FBE"/>
                </a:solidFill>
                <a:latin typeface="Calibri"/>
                <a:cs typeface="Calibri"/>
              </a:rPr>
              <a:t>perform</a:t>
            </a:r>
            <a:r>
              <a:rPr dirty="0" sz="950" spc="-2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30">
                <a:solidFill>
                  <a:srgbClr val="006FBE"/>
                </a:solidFill>
                <a:latin typeface="Calibri"/>
                <a:cs typeface="Calibri"/>
              </a:rPr>
              <a:t>several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kinds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of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 tasks,</a:t>
            </a:r>
            <a:r>
              <a:rPr dirty="0" sz="950" spc="1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006FBE"/>
                </a:solidFill>
                <a:latin typeface="Calibri"/>
                <a:cs typeface="Calibri"/>
              </a:rPr>
              <a:t>all</a:t>
            </a:r>
            <a:r>
              <a:rPr dirty="0" sz="950" spc="-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dirty="0" sz="950" spc="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006FBE"/>
                </a:solidFill>
                <a:latin typeface="Calibri"/>
                <a:cs typeface="Calibri"/>
              </a:rPr>
              <a:t>way</a:t>
            </a:r>
            <a:r>
              <a:rPr dirty="0" sz="950" spc="-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006FBE"/>
                </a:solidFill>
                <a:latin typeface="Calibri"/>
                <a:cs typeface="Calibri"/>
              </a:rPr>
              <a:t>from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 configuring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an</a:t>
            </a:r>
            <a:r>
              <a:rPr dirty="0" sz="950" spc="-2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OS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on</a:t>
            </a:r>
            <a:r>
              <a:rPr dirty="0" sz="950" spc="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dirty="0" sz="950" spc="-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virtual</a:t>
            </a:r>
            <a:r>
              <a:rPr dirty="0" sz="950" spc="-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006FBE"/>
                </a:solidFill>
                <a:latin typeface="Calibri"/>
                <a:cs typeface="Calibri"/>
              </a:rPr>
              <a:t>or</a:t>
            </a:r>
            <a:r>
              <a:rPr dirty="0" sz="950" spc="-8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physical</a:t>
            </a:r>
            <a:r>
              <a:rPr dirty="0" sz="950" spc="3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node</a:t>
            </a:r>
            <a:r>
              <a:rPr dirty="0" sz="950" spc="1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dirty="0" sz="950" spc="-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configuring</a:t>
            </a:r>
            <a:r>
              <a:rPr dirty="0" sz="950" spc="-9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firewall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6897" y="2749118"/>
            <a:ext cx="27432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006FBE"/>
                </a:solidFill>
                <a:latin typeface="Calibri"/>
                <a:cs typeface="Calibri"/>
              </a:rPr>
              <a:t>ports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747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DevOps–</a:t>
            </a:r>
            <a:r>
              <a:rPr dirty="0" sz="2000" spc="25"/>
              <a:t> </a:t>
            </a:r>
            <a:r>
              <a:rPr dirty="0" sz="2000" spc="-10"/>
              <a:t>Delivery</a:t>
            </a:r>
            <a:r>
              <a:rPr dirty="0" sz="2000" spc="-75"/>
              <a:t> </a:t>
            </a:r>
            <a:r>
              <a:rPr dirty="0" sz="2000" spc="-10"/>
              <a:t>pipeline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46" y="775461"/>
            <a:ext cx="252984" cy="14325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72846" y="1118615"/>
            <a:ext cx="304800" cy="349250"/>
            <a:chOff x="172846" y="1118615"/>
            <a:chExt cx="304800" cy="3492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46" y="1118615"/>
              <a:ext cx="304800" cy="17373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324355"/>
              <a:ext cx="252984" cy="14325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326263" y="727709"/>
            <a:ext cx="399161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2384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delivery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pipeline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consists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goes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from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production</a:t>
            </a:r>
            <a:endParaRPr sz="1200">
              <a:latin typeface="Calibri"/>
              <a:cs typeface="Calibri"/>
            </a:endParaRPr>
          </a:p>
          <a:p>
            <a:pPr algn="just" marL="32384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vary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from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another.</a:t>
            </a:r>
            <a:endParaRPr sz="1200">
              <a:latin typeface="Calibri"/>
              <a:cs typeface="Calibri"/>
            </a:endParaRPr>
          </a:p>
          <a:p>
            <a:pPr algn="just" marL="12700" marR="5080" indent="1968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3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fully</a:t>
            </a:r>
            <a:r>
              <a:rPr dirty="0" sz="1200" spc="3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automate</a:t>
            </a:r>
            <a:r>
              <a:rPr dirty="0" sz="1200" spc="3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delivery</a:t>
            </a:r>
            <a:r>
              <a:rPr dirty="0" sz="1200" spc="3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pipelines; </a:t>
            </a:r>
            <a:r>
              <a:rPr dirty="0" sz="1200">
                <a:latin typeface="Calibri"/>
                <a:cs typeface="Calibri"/>
              </a:rPr>
              <a:t>others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put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their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software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manual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checks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gates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due </a:t>
            </a:r>
            <a:r>
              <a:rPr dirty="0" sz="1200">
                <a:latin typeface="Calibri"/>
                <a:cs typeface="Calibri"/>
              </a:rPr>
              <a:t>to </a:t>
            </a:r>
            <a:r>
              <a:rPr dirty="0" sz="1200" spc="-25">
                <a:latin typeface="Calibri"/>
                <a:cs typeface="Calibri"/>
              </a:rPr>
              <a:t>regulatory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requirements</a:t>
            </a:r>
            <a:r>
              <a:rPr dirty="0" sz="700" spc="-10">
                <a:latin typeface="Calibri"/>
                <a:cs typeface="Calibri"/>
              </a:rPr>
              <a:t>.</a:t>
            </a:r>
            <a:endParaRPr sz="7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442" y="2011292"/>
            <a:ext cx="2973216" cy="118910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172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DevOps–</a:t>
            </a:r>
            <a:r>
              <a:rPr dirty="0" sz="2000" spc="30"/>
              <a:t> </a:t>
            </a:r>
            <a:r>
              <a:rPr dirty="0" sz="2000" spc="-10"/>
              <a:t>Delivery</a:t>
            </a:r>
            <a:r>
              <a:rPr dirty="0" sz="2000" spc="-90"/>
              <a:t> </a:t>
            </a:r>
            <a:r>
              <a:rPr dirty="0" sz="2000" spc="-10"/>
              <a:t>pipeline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46" y="908049"/>
            <a:ext cx="256031" cy="1478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46" y="1231137"/>
            <a:ext cx="228600" cy="1295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46" y="1680717"/>
            <a:ext cx="256031" cy="147828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72846" y="2151633"/>
            <a:ext cx="256540" cy="304800"/>
            <a:chOff x="172846" y="2151633"/>
            <a:chExt cx="256540" cy="30480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2151633"/>
              <a:ext cx="256031" cy="14782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46" y="2326588"/>
              <a:ext cx="228600" cy="12984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60146" y="729233"/>
            <a:ext cx="4256405" cy="1896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Development</a:t>
            </a:r>
            <a:r>
              <a:rPr dirty="0" sz="1000" spc="7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  <a:p>
            <a:pPr algn="just" marL="178435" marR="142875" indent="19685">
              <a:lnSpc>
                <a:spcPct val="101000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provides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multiple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enable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developers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write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code. </a:t>
            </a:r>
            <a:r>
              <a:rPr dirty="0" sz="1000">
                <a:latin typeface="Calibri"/>
                <a:cs typeface="Calibri"/>
              </a:rPr>
              <a:t>Beyond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integrated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development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environment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(IDE)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tools</a:t>
            </a:r>
            <a:endParaRPr sz="1000">
              <a:latin typeface="Calibri"/>
              <a:cs typeface="Calibri"/>
            </a:endParaRPr>
          </a:p>
          <a:p>
            <a:pPr algn="just" marL="178435" marR="5080" indent="19685">
              <a:lnSpc>
                <a:spcPct val="101499"/>
              </a:lnSpc>
              <a:spcBef>
                <a:spcPts val="5"/>
              </a:spcBef>
            </a:pPr>
            <a:r>
              <a:rPr dirty="0" sz="1000">
                <a:latin typeface="Calibri"/>
                <a:cs typeface="Calibri"/>
              </a:rPr>
              <a:t>Developers</a:t>
            </a:r>
            <a:r>
              <a:rPr dirty="0" sz="1000" spc="4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4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4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write</a:t>
            </a:r>
            <a:r>
              <a:rPr dirty="0" sz="1000" spc="43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code,</a:t>
            </a:r>
            <a:r>
              <a:rPr dirty="0" sz="1000" spc="4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this</a:t>
            </a:r>
            <a:r>
              <a:rPr dirty="0" sz="1000" spc="4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stage</a:t>
            </a:r>
            <a:r>
              <a:rPr dirty="0" sz="1000" spc="4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includes</a:t>
            </a:r>
            <a:r>
              <a:rPr dirty="0" sz="1000" spc="4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4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4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enable </a:t>
            </a:r>
            <a:r>
              <a:rPr dirty="0" sz="1000">
                <a:latin typeface="Calibri"/>
                <a:cs typeface="Calibri"/>
              </a:rPr>
              <a:t>collaborative</a:t>
            </a:r>
            <a:r>
              <a:rPr dirty="0" sz="1000" spc="1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development,</a:t>
            </a:r>
            <a:r>
              <a:rPr dirty="0" sz="1000" spc="2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2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1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source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control</a:t>
            </a:r>
            <a:r>
              <a:rPr dirty="0" sz="1000" spc="204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management, work-item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management,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collaboration,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unit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testing,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project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planning.</a:t>
            </a:r>
            <a:endParaRPr sz="1000">
              <a:latin typeface="Calibri"/>
              <a:cs typeface="Calibri"/>
            </a:endParaRPr>
          </a:p>
          <a:p>
            <a:pPr algn="just" marL="198120">
              <a:lnSpc>
                <a:spcPct val="100000"/>
              </a:lnSpc>
              <a:spcBef>
                <a:spcPts val="15"/>
              </a:spcBef>
            </a:pPr>
            <a:r>
              <a:rPr dirty="0" sz="1000" spc="-10">
                <a:latin typeface="Calibri"/>
                <a:cs typeface="Calibri"/>
              </a:rPr>
              <a:t>Tools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this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stage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typically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are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cross-</a:t>
            </a:r>
            <a:r>
              <a:rPr dirty="0" sz="1000">
                <a:latin typeface="Calibri"/>
                <a:cs typeface="Calibri"/>
              </a:rPr>
              <a:t>platform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cross-</a:t>
            </a:r>
            <a:r>
              <a:rPr dirty="0" sz="1000" spc="-10">
                <a:latin typeface="Calibri"/>
                <a:cs typeface="Calibri"/>
              </a:rPr>
              <a:t>technology.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Build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 stage</a:t>
            </a:r>
            <a:endParaRPr sz="10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code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compiled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create</a:t>
            </a:r>
            <a:r>
              <a:rPr dirty="0" sz="1000">
                <a:latin typeface="Calibri"/>
                <a:cs typeface="Calibri"/>
              </a:rPr>
              <a:t> 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unit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binaries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deployed.</a:t>
            </a:r>
            <a:endParaRPr sz="10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75"/>
              </a:spcBef>
            </a:pPr>
            <a:r>
              <a:rPr dirty="0" sz="1000">
                <a:latin typeface="Calibri"/>
                <a:cs typeface="Calibri"/>
              </a:rPr>
              <a:t>organizations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typically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build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servers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facilitate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large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number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of</a:t>
            </a:r>
            <a:endParaRPr sz="1000">
              <a:latin typeface="Calibri"/>
              <a:cs typeface="Calibri"/>
            </a:endParaRPr>
          </a:p>
          <a:p>
            <a:pPr marL="178435">
              <a:lnSpc>
                <a:spcPct val="100000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builds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required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ongoing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basis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enable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continuous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integration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487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DevOps–</a:t>
            </a:r>
            <a:r>
              <a:rPr dirty="0" sz="2000" spc="25"/>
              <a:t> </a:t>
            </a:r>
            <a:r>
              <a:rPr dirty="0" sz="2000" spc="-10"/>
              <a:t>Delivery</a:t>
            </a:r>
            <a:r>
              <a:rPr dirty="0" sz="2000" spc="-80"/>
              <a:t> </a:t>
            </a:r>
            <a:r>
              <a:rPr dirty="0" sz="2000" spc="-10"/>
              <a:t>pipeline</a:t>
            </a:r>
            <a:endParaRPr sz="2000"/>
          </a:p>
        </p:txBody>
      </p:sp>
      <p:grpSp>
        <p:nvGrpSpPr>
          <p:cNvPr id="4" name="object 4" descr=""/>
          <p:cNvGrpSpPr/>
          <p:nvPr/>
        </p:nvGrpSpPr>
        <p:grpSpPr>
          <a:xfrm>
            <a:off x="172846" y="923797"/>
            <a:ext cx="228600" cy="281940"/>
            <a:chOff x="172846" y="923797"/>
            <a:chExt cx="228600" cy="2819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923797"/>
              <a:ext cx="228600" cy="1295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76197"/>
              <a:ext cx="228600" cy="129540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46" y="1846198"/>
            <a:ext cx="228600" cy="12953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46" y="2160142"/>
            <a:ext cx="228600" cy="12953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846" y="2612135"/>
            <a:ext cx="15240" cy="18592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60146" y="728217"/>
            <a:ext cx="4255135" cy="22548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Package</a:t>
            </a:r>
            <a:r>
              <a:rPr dirty="0" sz="1000" spc="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repository</a:t>
            </a:r>
            <a:r>
              <a:rPr dirty="0" sz="1000" spc="-2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(artifact</a:t>
            </a:r>
            <a:r>
              <a:rPr dirty="0" sz="1000" spc="-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repository)</a:t>
            </a:r>
            <a:endParaRPr sz="1000">
              <a:latin typeface="Calibri"/>
              <a:cs typeface="Calibri"/>
            </a:endParaRPr>
          </a:p>
          <a:p>
            <a:pPr marL="178435" marR="5080" indent="1968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latin typeface="Calibri"/>
                <a:cs typeface="Calibri"/>
              </a:rPr>
              <a:t>common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storage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mechanism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for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binaries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created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during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build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stage </a:t>
            </a:r>
            <a:r>
              <a:rPr dirty="0" sz="1000">
                <a:latin typeface="Calibri"/>
                <a:cs typeface="Calibri"/>
              </a:rPr>
              <a:t>need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store</a:t>
            </a:r>
            <a:r>
              <a:rPr dirty="0" sz="1000" spc="2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assets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associated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binaries</a:t>
            </a:r>
            <a:r>
              <a:rPr dirty="0" sz="1000" spc="2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facilitate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their </a:t>
            </a:r>
            <a:r>
              <a:rPr dirty="0" sz="1000">
                <a:latin typeface="Calibri"/>
                <a:cs typeface="Calibri"/>
              </a:rPr>
              <a:t>deployment,</a:t>
            </a:r>
            <a:r>
              <a:rPr dirty="0" sz="1000" spc="3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3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3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configuration</a:t>
            </a:r>
            <a:r>
              <a:rPr dirty="0" sz="1000" spc="3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files,</a:t>
            </a:r>
            <a:r>
              <a:rPr dirty="0" sz="1000" spc="3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infrastructure-as-</a:t>
            </a:r>
            <a:r>
              <a:rPr dirty="0" sz="1000">
                <a:latin typeface="Calibri"/>
                <a:cs typeface="Calibri"/>
              </a:rPr>
              <a:t>code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files,</a:t>
            </a:r>
            <a:r>
              <a:rPr dirty="0" sz="1000" spc="36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>
                <a:latin typeface="Calibri"/>
                <a:cs typeface="Calibri"/>
              </a:rPr>
              <a:t> deployment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scripts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006FBE"/>
                </a:solidFill>
                <a:latin typeface="Calibri"/>
                <a:cs typeface="Calibri"/>
              </a:rPr>
              <a:t>Test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endParaRPr sz="1000">
              <a:latin typeface="Calibri"/>
              <a:cs typeface="Calibri"/>
            </a:endParaRPr>
          </a:p>
          <a:p>
            <a:pPr marL="178435" marR="27940" indent="19685">
              <a:lnSpc>
                <a:spcPct val="101000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QA,</a:t>
            </a:r>
            <a:r>
              <a:rPr dirty="0" sz="1000" spc="21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3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acceptance,</a:t>
            </a:r>
            <a:r>
              <a:rPr dirty="0" sz="1000" spc="14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45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development/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testing</a:t>
            </a:r>
            <a:r>
              <a:rPr dirty="0" sz="1000" spc="14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teams</a:t>
            </a:r>
            <a:r>
              <a:rPr dirty="0" sz="1000" spc="4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do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9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actual </a:t>
            </a:r>
            <a:r>
              <a:rPr dirty="0" sz="1000">
                <a:latin typeface="Calibri"/>
                <a:cs typeface="Calibri"/>
              </a:rPr>
              <a:t>testing. </a:t>
            </a:r>
            <a:r>
              <a:rPr dirty="0" sz="1000" spc="-20">
                <a:latin typeface="Calibri"/>
                <a:cs typeface="Calibri"/>
              </a:rPr>
              <a:t>Many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are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used</a:t>
            </a:r>
            <a:endParaRPr sz="1000">
              <a:latin typeface="Calibri"/>
              <a:cs typeface="Calibri"/>
            </a:endParaRPr>
          </a:p>
          <a:p>
            <a:pPr marL="178435" marR="157480" indent="19685">
              <a:lnSpc>
                <a:spcPct val="100000"/>
              </a:lnSpc>
              <a:spcBef>
                <a:spcPts val="60"/>
              </a:spcBef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dirty="0" sz="1000" spc="22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r>
              <a:rPr dirty="0" sz="1000" spc="235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r>
              <a:rPr dirty="0" sz="1000">
                <a:latin typeface="Calibri"/>
                <a:cs typeface="Calibri"/>
              </a:rPr>
              <a:t>:</a:t>
            </a:r>
            <a:r>
              <a:rPr dirty="0" sz="1000" spc="1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These</a:t>
            </a:r>
            <a:r>
              <a:rPr dirty="0" sz="1000" spc="20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170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facilitate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provisioning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>
                <a:latin typeface="Calibri"/>
                <a:cs typeface="Calibri"/>
              </a:rPr>
              <a:t> configuring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environments.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Calibri"/>
              <a:cs typeface="Calibri"/>
            </a:endParaRPr>
          </a:p>
          <a:p>
            <a:pPr marL="198120" marR="297180">
              <a:lnSpc>
                <a:spcPct val="100000"/>
              </a:lnSpc>
            </a:pPr>
            <a:r>
              <a:rPr dirty="0" sz="1200" spc="-35">
                <a:latin typeface="Calibri"/>
                <a:cs typeface="Calibri"/>
              </a:rPr>
              <a:t>Infrastructure-</a:t>
            </a:r>
            <a:r>
              <a:rPr dirty="0" sz="1200" spc="-10">
                <a:latin typeface="Calibri"/>
                <a:cs typeface="Calibri"/>
              </a:rPr>
              <a:t>as-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technologies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29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18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provisioning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tools.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139541"/>
            <a:ext cx="228155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4085">
              <a:lnSpc>
                <a:spcPts val="550"/>
              </a:lnSpc>
              <a:spcBef>
                <a:spcPts val="105"/>
              </a:spcBef>
            </a:pPr>
            <a:r>
              <a:rPr dirty="0" sz="5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500">
              <a:latin typeface="Calibri"/>
              <a:cs typeface="Calibri"/>
            </a:endParaRPr>
          </a:p>
          <a:p>
            <a:pPr marL="2204085">
              <a:lnSpc>
                <a:spcPts val="550"/>
              </a:lnSpc>
            </a:pPr>
            <a:r>
              <a:rPr dirty="0" sz="500" spc="-5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998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DevOps–</a:t>
            </a:r>
            <a:r>
              <a:rPr dirty="0" sz="2000" spc="25"/>
              <a:t> </a:t>
            </a:r>
            <a:r>
              <a:rPr dirty="0" sz="2000" spc="-10"/>
              <a:t>Delivery</a:t>
            </a:r>
            <a:r>
              <a:rPr dirty="0" sz="2000" spc="-75"/>
              <a:t> </a:t>
            </a:r>
            <a:r>
              <a:rPr dirty="0" sz="2000" spc="-10"/>
              <a:t>pipeline</a:t>
            </a:r>
            <a:endParaRPr sz="2000"/>
          </a:p>
        </p:txBody>
      </p:sp>
      <p:grpSp>
        <p:nvGrpSpPr>
          <p:cNvPr id="4" name="object 4" descr=""/>
          <p:cNvGrpSpPr/>
          <p:nvPr/>
        </p:nvGrpSpPr>
        <p:grpSpPr>
          <a:xfrm>
            <a:off x="172846" y="907668"/>
            <a:ext cx="256540" cy="767080"/>
            <a:chOff x="172846" y="907668"/>
            <a:chExt cx="256540" cy="7670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907668"/>
              <a:ext cx="256031" cy="14782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63116"/>
              <a:ext cx="256031" cy="14782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217040"/>
              <a:ext cx="256031" cy="14782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372488"/>
              <a:ext cx="256031" cy="14782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526793"/>
              <a:ext cx="256031" cy="147828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60146" y="650284"/>
            <a:ext cx="4105910" cy="13519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200" spc="-40" b="1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dirty="0" sz="1200" spc="10" b="1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r>
              <a:rPr dirty="0" sz="1200" b="1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204"/>
              </a:spcBef>
            </a:pPr>
            <a:r>
              <a:rPr dirty="0" sz="1000" spc="-10">
                <a:latin typeface="Calibri"/>
                <a:cs typeface="Calibri"/>
              </a:rPr>
              <a:t>Environment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(Infrastructure) </a:t>
            </a:r>
            <a:r>
              <a:rPr dirty="0" sz="1000" spc="-10">
                <a:latin typeface="Calibri"/>
                <a:cs typeface="Calibri"/>
              </a:rPr>
              <a:t>Orchestration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Tool</a:t>
            </a:r>
            <a:endParaRPr sz="1000">
              <a:latin typeface="Calibri"/>
              <a:cs typeface="Calibri"/>
            </a:endParaRPr>
          </a:p>
          <a:p>
            <a:pPr marL="198120" marR="908050">
              <a:lnSpc>
                <a:spcPct val="101000"/>
              </a:lnSpc>
              <a:spcBef>
                <a:spcPts val="15"/>
              </a:spcBef>
            </a:pPr>
            <a:r>
              <a:rPr dirty="0" sz="1000">
                <a:latin typeface="Calibri"/>
                <a:cs typeface="Calibri"/>
              </a:rPr>
              <a:t>Build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&amp;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Deployment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Tools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/</a:t>
            </a:r>
            <a:r>
              <a:rPr dirty="0" sz="1000" spc="3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Continuous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Integration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Tools </a:t>
            </a:r>
            <a:r>
              <a:rPr dirty="0" sz="1000" spc="-25">
                <a:latin typeface="Calibri"/>
                <a:cs typeface="Calibri"/>
              </a:rPr>
              <a:t>Infrastructure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Configuration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Tools</a:t>
            </a:r>
            <a:endParaRPr sz="1000">
              <a:latin typeface="Calibri"/>
              <a:cs typeface="Calibri"/>
            </a:endParaRPr>
          </a:p>
          <a:p>
            <a:pPr marL="198120" marR="1731010">
              <a:lnSpc>
                <a:spcPct val="101200"/>
              </a:lnSpc>
              <a:spcBef>
                <a:spcPts val="10"/>
              </a:spcBef>
            </a:pPr>
            <a:r>
              <a:rPr dirty="0" sz="1000" spc="-10">
                <a:latin typeface="Calibri"/>
                <a:cs typeface="Calibri"/>
              </a:rPr>
              <a:t>Service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Support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Tools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(Incident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&amp;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Change) Environment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Health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Dashboards</a:t>
            </a:r>
            <a:endParaRPr sz="1000">
              <a:latin typeface="Calibri"/>
              <a:cs typeface="Calibri"/>
            </a:endParaRPr>
          </a:p>
          <a:p>
            <a:pPr marL="179070" marR="5080" indent="20320">
              <a:lnSpc>
                <a:spcPct val="102000"/>
              </a:lnSpc>
              <a:spcBef>
                <a:spcPts val="50"/>
              </a:spcBef>
            </a:pPr>
            <a:r>
              <a:rPr dirty="0" sz="1000" b="1">
                <a:latin typeface="Times New Roman"/>
                <a:cs typeface="Times New Roman"/>
              </a:rPr>
              <a:t>Ex:</a:t>
            </a:r>
            <a:r>
              <a:rPr dirty="0" sz="1000" spc="140" b="1">
                <a:latin typeface="Times New Roman"/>
                <a:cs typeface="Times New Roman"/>
              </a:rPr>
              <a:t>  </a:t>
            </a:r>
            <a:r>
              <a:rPr dirty="0" sz="1000" spc="-10" b="1">
                <a:latin typeface="Times New Roman"/>
                <a:cs typeface="Times New Roman"/>
              </a:rPr>
              <a:t>Jenkins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for</a:t>
            </a:r>
            <a:r>
              <a:rPr dirty="0" sz="1000" spc="-8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app</a:t>
            </a:r>
            <a:r>
              <a:rPr dirty="0" sz="1000" spc="-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builds,</a:t>
            </a:r>
            <a:r>
              <a:rPr dirty="0" sz="1000" spc="3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Puppet</a:t>
            </a:r>
            <a:r>
              <a:rPr dirty="0" sz="1000" spc="10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for</a:t>
            </a:r>
            <a:r>
              <a:rPr dirty="0" sz="1000" spc="-80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infrastructure</a:t>
            </a:r>
            <a:r>
              <a:rPr dirty="0" sz="1000" spc="-1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configuration,</a:t>
            </a:r>
            <a:r>
              <a:rPr dirty="0" sz="1000" spc="75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CA </a:t>
            </a:r>
            <a:r>
              <a:rPr dirty="0" sz="1000" b="1">
                <a:latin typeface="Times New Roman"/>
                <a:cs typeface="Times New Roman"/>
              </a:rPr>
              <a:t>Lisa</a:t>
            </a:r>
            <a:r>
              <a:rPr dirty="0" sz="1000" spc="-10" b="1">
                <a:latin typeface="Times New Roman"/>
                <a:cs typeface="Times New Roman"/>
              </a:rPr>
              <a:t> </a:t>
            </a:r>
            <a:r>
              <a:rPr dirty="0" sz="1000" spc="-25" b="1">
                <a:latin typeface="Times New Roman"/>
                <a:cs typeface="Times New Roman"/>
              </a:rPr>
              <a:t>for</a:t>
            </a:r>
            <a:r>
              <a:rPr dirty="0" sz="1000" spc="-75" b="1">
                <a:latin typeface="Times New Roman"/>
                <a:cs typeface="Times New Roman"/>
              </a:rPr>
              <a:t> </a:t>
            </a:r>
            <a:r>
              <a:rPr dirty="0" sz="1000" b="1">
                <a:latin typeface="Times New Roman"/>
                <a:cs typeface="Times New Roman"/>
              </a:rPr>
              <a:t>service</a:t>
            </a:r>
            <a:r>
              <a:rPr dirty="0" sz="1000" spc="45" b="1">
                <a:latin typeface="Times New Roman"/>
                <a:cs typeface="Times New Roman"/>
              </a:rPr>
              <a:t> </a:t>
            </a:r>
            <a:r>
              <a:rPr dirty="0" sz="1000" spc="-10" b="1">
                <a:latin typeface="Times New Roman"/>
                <a:cs typeface="Times New Roman"/>
              </a:rPr>
              <a:t>virtualization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138677"/>
            <a:ext cx="228155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4085">
              <a:lnSpc>
                <a:spcPts val="550"/>
              </a:lnSpc>
              <a:spcBef>
                <a:spcPts val="105"/>
              </a:spcBef>
            </a:pPr>
            <a:r>
              <a:rPr dirty="0" sz="5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500">
              <a:latin typeface="Calibri"/>
              <a:cs typeface="Calibri"/>
            </a:endParaRPr>
          </a:p>
          <a:p>
            <a:pPr marL="2204085">
              <a:lnSpc>
                <a:spcPts val="550"/>
              </a:lnSpc>
            </a:pPr>
            <a:r>
              <a:rPr dirty="0" sz="5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DevOps–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Delivery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pipeline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1670" y="690752"/>
            <a:ext cx="4236085" cy="336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25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dirty="0" sz="1000" spc="5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data</a:t>
            </a:r>
            <a:r>
              <a:rPr dirty="0" sz="1000" spc="-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 (TDM)</a:t>
            </a:r>
            <a:r>
              <a:rPr dirty="0" sz="1000" spc="-10"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198120">
              <a:lnSpc>
                <a:spcPct val="100000"/>
              </a:lnSpc>
              <a:spcBef>
                <a:spcPts val="20"/>
              </a:spcBef>
              <a:tabLst>
                <a:tab pos="1126490" algn="l"/>
                <a:tab pos="3417570" algn="l"/>
              </a:tabLst>
            </a:pPr>
            <a:r>
              <a:rPr dirty="0" sz="1000" spc="-10">
                <a:latin typeface="Calibri"/>
                <a:cs typeface="Calibri"/>
              </a:rPr>
              <a:t>Administration</a:t>
            </a:r>
            <a:r>
              <a:rPr dirty="0" sz="1000">
                <a:latin typeface="Calibri"/>
                <a:cs typeface="Calibri"/>
              </a:rPr>
              <a:t>	of</a:t>
            </a:r>
            <a:r>
              <a:rPr dirty="0" sz="1000" spc="23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7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21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necessary</a:t>
            </a:r>
            <a:r>
              <a:rPr dirty="0" sz="1000" spc="220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180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fulfilling</a:t>
            </a:r>
            <a:r>
              <a:rPr dirty="0" sz="1000">
                <a:latin typeface="Calibri"/>
                <a:cs typeface="Calibri"/>
              </a:rPr>
              <a:t>	the</a:t>
            </a:r>
            <a:r>
              <a:rPr dirty="0" sz="1000" spc="185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needs</a:t>
            </a:r>
            <a:r>
              <a:rPr dirty="0" sz="1000" spc="165">
                <a:latin typeface="Calibri"/>
                <a:cs typeface="Calibri"/>
              </a:rPr>
              <a:t>  </a:t>
            </a:r>
            <a:r>
              <a:rPr dirty="0" sz="1000" spc="-25">
                <a:latin typeface="Calibri"/>
                <a:cs typeface="Calibri"/>
              </a:rPr>
              <a:t>of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70" y="1193926"/>
            <a:ext cx="228600" cy="12954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27786" y="1001394"/>
            <a:ext cx="2065020" cy="4902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Calibri"/>
                <a:cs typeface="Calibri"/>
              </a:rPr>
              <a:t>automated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processes.</a:t>
            </a:r>
            <a:endParaRPr sz="1000">
              <a:latin typeface="Calibri"/>
              <a:cs typeface="Calibri"/>
            </a:endParaRPr>
          </a:p>
          <a:p>
            <a:pPr marL="12700" marR="5080" indent="19685">
              <a:lnSpc>
                <a:spcPct val="101000"/>
              </a:lnSpc>
              <a:spcBef>
                <a:spcPts val="10"/>
              </a:spcBef>
            </a:pPr>
            <a:r>
              <a:rPr dirty="0" sz="1000">
                <a:latin typeface="Calibri"/>
                <a:cs typeface="Calibri"/>
              </a:rPr>
              <a:t>TDM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should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also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ensure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quality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of</a:t>
            </a:r>
            <a:r>
              <a:rPr dirty="0" sz="1000" spc="-10">
                <a:latin typeface="Calibri"/>
                <a:cs typeface="Calibri"/>
              </a:rPr>
              <a:t> at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correct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time.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548508" y="1156842"/>
            <a:ext cx="1726564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data,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well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availability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74370" y="1489582"/>
            <a:ext cx="256540" cy="302260"/>
            <a:chOff x="174370" y="1489582"/>
            <a:chExt cx="256540" cy="30226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489582"/>
              <a:ext cx="256031" cy="14782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643506"/>
              <a:ext cx="256031" cy="147828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74370" y="1952878"/>
            <a:ext cx="256540" cy="299085"/>
            <a:chOff x="174370" y="1952878"/>
            <a:chExt cx="256540" cy="29908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952878"/>
              <a:ext cx="256031" cy="14782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70" y="2122296"/>
              <a:ext cx="228600" cy="12953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61670" y="1466214"/>
            <a:ext cx="4258310" cy="1109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40335" marR="214629" indent="57785">
              <a:lnSpc>
                <a:spcPct val="101000"/>
              </a:lnSpc>
              <a:spcBef>
                <a:spcPts val="105"/>
              </a:spcBef>
            </a:pPr>
            <a:r>
              <a:rPr dirty="0" sz="1000" spc="-90">
                <a:latin typeface="Calibri"/>
                <a:cs typeface="Calibri"/>
              </a:rPr>
              <a:t>To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enable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continuous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testing,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managing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data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essential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function. </a:t>
            </a:r>
            <a:r>
              <a:rPr dirty="0" sz="1000">
                <a:latin typeface="Calibri"/>
                <a:cs typeface="Calibri"/>
              </a:rPr>
              <a:t>Ex: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IBM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InfoSphere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Optim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,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Informatica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Test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Management</a:t>
            </a:r>
            <a:endParaRPr sz="1000">
              <a:latin typeface="Calibri"/>
              <a:cs typeface="Calibri"/>
            </a:endParaRPr>
          </a:p>
          <a:p>
            <a:pPr algn="just" marL="198120" marR="840105" indent="-186055">
              <a:lnSpc>
                <a:spcPct val="101000"/>
              </a:lnSpc>
              <a:spcBef>
                <a:spcPts val="15"/>
              </a:spcBef>
            </a:pP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Integration,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functional,</a:t>
            </a:r>
            <a:r>
              <a:rPr dirty="0" sz="1000" spc="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performance,</a:t>
            </a:r>
            <a:r>
              <a:rPr dirty="0" sz="1000" spc="6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dirty="0" sz="1000" spc="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security</a:t>
            </a:r>
            <a:r>
              <a:rPr dirty="0" sz="1000" spc="3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testing</a:t>
            </a:r>
            <a:r>
              <a:rPr dirty="0" sz="1000" spc="6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tools: </a:t>
            </a:r>
            <a:r>
              <a:rPr dirty="0" sz="1000" spc="-10">
                <a:latin typeface="Calibri"/>
                <a:cs typeface="Calibri"/>
              </a:rPr>
              <a:t>Automated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are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available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for </a:t>
            </a:r>
            <a:r>
              <a:rPr dirty="0" sz="1000">
                <a:latin typeface="Calibri"/>
                <a:cs typeface="Calibri"/>
              </a:rPr>
              <a:t>each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these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types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1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tests.</a:t>
            </a:r>
            <a:endParaRPr sz="1000">
              <a:latin typeface="Calibri"/>
              <a:cs typeface="Calibri"/>
            </a:endParaRPr>
          </a:p>
          <a:p>
            <a:pPr algn="just" marL="178435" marR="5080" indent="19685">
              <a:lnSpc>
                <a:spcPct val="101499"/>
              </a:lnSpc>
              <a:spcBef>
                <a:spcPts val="5"/>
              </a:spcBef>
            </a:pP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1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should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1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integrated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1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common</a:t>
            </a:r>
            <a:r>
              <a:rPr dirty="0" sz="1000" spc="1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asset</a:t>
            </a:r>
            <a:r>
              <a:rPr dirty="0" sz="1000" spc="1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management</a:t>
            </a:r>
            <a:r>
              <a:rPr dirty="0" sz="1000" spc="1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</a:t>
            </a:r>
            <a:r>
              <a:rPr dirty="0" sz="1000" spc="14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or</a:t>
            </a:r>
            <a:r>
              <a:rPr dirty="0" sz="1000">
                <a:latin typeface="Calibri"/>
                <a:cs typeface="Calibri"/>
              </a:rPr>
              <a:t> repository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where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scenarios,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test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scripts,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associated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can</a:t>
            </a:r>
            <a:r>
              <a:rPr dirty="0" sz="1000" spc="28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be</a:t>
            </a:r>
            <a:r>
              <a:rPr dirty="0" sz="1000">
                <a:latin typeface="Calibri"/>
                <a:cs typeface="Calibri"/>
              </a:rPr>
              <a:t> stored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traceability</a:t>
            </a:r>
            <a:r>
              <a:rPr dirty="0" sz="1000" spc="-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established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back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code,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requirements,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defects.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76115" y="3139541"/>
            <a:ext cx="90170" cy="166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50"/>
              </a:lnSpc>
              <a:spcBef>
                <a:spcPts val="105"/>
              </a:spcBef>
            </a:pPr>
            <a:r>
              <a:rPr dirty="0" sz="5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ts val="550"/>
              </a:lnSpc>
            </a:pPr>
            <a:r>
              <a:rPr dirty="0" sz="5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172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DevOps–</a:t>
            </a:r>
            <a:r>
              <a:rPr dirty="0" sz="2000" spc="25"/>
              <a:t> </a:t>
            </a:r>
            <a:r>
              <a:rPr dirty="0" sz="2000" spc="-10"/>
              <a:t>Delivery</a:t>
            </a:r>
            <a:r>
              <a:rPr dirty="0" sz="2000" spc="-75"/>
              <a:t> </a:t>
            </a:r>
            <a:r>
              <a:rPr dirty="0" sz="2000" spc="-10"/>
              <a:t>pipeline</a:t>
            </a:r>
            <a:endParaRPr sz="2000"/>
          </a:p>
        </p:txBody>
      </p:sp>
      <p:sp>
        <p:nvSpPr>
          <p:cNvPr id="5" name="object 5" descr=""/>
          <p:cNvSpPr txBox="1"/>
          <p:nvPr/>
        </p:nvSpPr>
        <p:spPr>
          <a:xfrm>
            <a:off x="161670" y="701420"/>
            <a:ext cx="4259580" cy="250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Service</a:t>
            </a:r>
            <a:r>
              <a:rPr dirty="0" sz="1200" spc="-2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virtualization:</a:t>
            </a:r>
            <a:endParaRPr sz="1200">
              <a:latin typeface="Calibri"/>
              <a:cs typeface="Calibri"/>
            </a:endParaRPr>
          </a:p>
          <a:p>
            <a:pPr algn="just" marL="184150" indent="-171450">
              <a:lnSpc>
                <a:spcPct val="100000"/>
              </a:lnSpc>
              <a:buClr>
                <a:srgbClr val="006FBE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1200">
                <a:latin typeface="Calibri"/>
                <a:cs typeface="Calibri"/>
              </a:rPr>
              <a:t>Modern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aren’t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simple, monolithic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applications.</a:t>
            </a:r>
            <a:endParaRPr sz="1200">
              <a:latin typeface="Calibri"/>
              <a:cs typeface="Calibri"/>
            </a:endParaRPr>
          </a:p>
          <a:p>
            <a:pPr algn="just" marL="182880" marR="5715" indent="-170815">
              <a:lnSpc>
                <a:spcPct val="100000"/>
              </a:lnSpc>
              <a:buSzPct val="83333"/>
              <a:buFont typeface="Arial MT"/>
              <a:buChar char="•"/>
              <a:tabLst>
                <a:tab pos="182880" algn="l"/>
                <a:tab pos="208279" algn="l"/>
              </a:tabLst>
            </a:pPr>
            <a:r>
              <a:rPr dirty="0" sz="1200">
                <a:latin typeface="Calibri"/>
                <a:cs typeface="Calibri"/>
              </a:rPr>
              <a:t>	They’re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complex</a:t>
            </a:r>
            <a:r>
              <a:rPr dirty="0" sz="1200" spc="1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17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315">
                <a:latin typeface="Calibri"/>
                <a:cs typeface="Calibri"/>
              </a:rPr>
              <a:t>  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6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dependent</a:t>
            </a:r>
            <a:r>
              <a:rPr dirty="0" sz="1200" spc="1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7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other </a:t>
            </a:r>
            <a:r>
              <a:rPr dirty="0" sz="1200">
                <a:latin typeface="Calibri"/>
                <a:cs typeface="Calibri"/>
              </a:rPr>
              <a:t>applications,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servers,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databases,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third-</a:t>
            </a:r>
            <a:r>
              <a:rPr dirty="0" sz="1200" spc="-10">
                <a:latin typeface="Calibri"/>
                <a:cs typeface="Calibri"/>
              </a:rPr>
              <a:t>party applications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sources.</a:t>
            </a:r>
            <a:endParaRPr sz="1200">
              <a:latin typeface="Calibri"/>
              <a:cs typeface="Calibri"/>
            </a:endParaRPr>
          </a:p>
          <a:p>
            <a:pPr algn="just" marL="182880" marR="6350" indent="-170815">
              <a:lnSpc>
                <a:spcPct val="100000"/>
              </a:lnSpc>
              <a:buFont typeface="Arial MT"/>
              <a:buChar char="•"/>
              <a:tabLst>
                <a:tab pos="182880" algn="l"/>
              </a:tabLst>
            </a:pPr>
            <a:r>
              <a:rPr dirty="0" sz="1200" spc="-30">
                <a:latin typeface="Calibri"/>
                <a:cs typeface="Calibri"/>
              </a:rPr>
              <a:t>Unfortunately,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time, these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components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 </a:t>
            </a:r>
            <a:r>
              <a:rPr dirty="0" sz="1200" spc="-10">
                <a:latin typeface="Calibri"/>
                <a:cs typeface="Calibri"/>
              </a:rPr>
              <a:t>unavailable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costly.</a:t>
            </a:r>
            <a:endParaRPr sz="1200">
              <a:latin typeface="Calibri"/>
              <a:cs typeface="Calibri"/>
            </a:endParaRPr>
          </a:p>
          <a:p>
            <a:pPr algn="just" marL="182880" marR="5080" indent="-170815">
              <a:lnSpc>
                <a:spcPct val="100000"/>
              </a:lnSpc>
              <a:buFont typeface="Arial MT"/>
              <a:buChar char="•"/>
              <a:tabLst>
                <a:tab pos="182880" algn="l"/>
              </a:tabLst>
            </a:pP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25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virtualization</a:t>
            </a:r>
            <a:r>
              <a:rPr dirty="0" sz="1200" spc="2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solutions</a:t>
            </a:r>
            <a:r>
              <a:rPr dirty="0" sz="1200" spc="254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simulate</a:t>
            </a:r>
            <a:r>
              <a:rPr dirty="0" sz="1200" spc="254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6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behavior</a:t>
            </a:r>
            <a:r>
              <a:rPr dirty="0" sz="1200" spc="245">
                <a:latin typeface="Calibri"/>
                <a:cs typeface="Calibri"/>
              </a:rPr>
              <a:t>  </a:t>
            </a:r>
            <a:r>
              <a:rPr dirty="0" sz="1200" spc="-50">
                <a:latin typeface="Calibri"/>
                <a:cs typeface="Calibri"/>
              </a:rPr>
              <a:t>— </a:t>
            </a:r>
            <a:r>
              <a:rPr dirty="0" sz="1200">
                <a:latin typeface="Calibri"/>
                <a:cs typeface="Calibri"/>
              </a:rPr>
              <a:t>functionality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performance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components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end-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to-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whole.</a:t>
            </a:r>
            <a:endParaRPr sz="1200">
              <a:latin typeface="Calibri"/>
              <a:cs typeface="Calibri"/>
            </a:endParaRPr>
          </a:p>
          <a:p>
            <a:pPr algn="just" marL="182880" marR="12700" indent="-170815">
              <a:lnSpc>
                <a:spcPts val="1200"/>
              </a:lnSpc>
              <a:spcBef>
                <a:spcPts val="60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200" spc="-30">
                <a:latin typeface="Calibri"/>
                <a:cs typeface="Calibri"/>
              </a:rPr>
              <a:t>Create </a:t>
            </a:r>
            <a:r>
              <a:rPr dirty="0" sz="1200">
                <a:latin typeface="Calibri"/>
                <a:cs typeface="Calibri"/>
              </a:rPr>
              <a:t>stubs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(virtual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components)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are</a:t>
            </a:r>
            <a:r>
              <a:rPr dirty="0" sz="1200" spc="-7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required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for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run.</a:t>
            </a:r>
            <a:endParaRPr sz="1200">
              <a:latin typeface="Calibri"/>
              <a:cs typeface="Calibri"/>
            </a:endParaRPr>
          </a:p>
          <a:p>
            <a:pPr algn="just" marL="184150" indent="-171450">
              <a:lnSpc>
                <a:spcPts val="12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200" spc="-10">
                <a:latin typeface="Calibri"/>
                <a:cs typeface="Calibri"/>
              </a:rPr>
              <a:t>Ex: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IBM’s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Rational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Test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Virtualization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Server,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Soap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UI,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Microfocus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DevOps–</a:t>
            </a:r>
            <a:r>
              <a:rPr dirty="0" sz="2000" spc="30"/>
              <a:t> </a:t>
            </a:r>
            <a:r>
              <a:rPr dirty="0" sz="2000" spc="-10"/>
              <a:t>Delivery</a:t>
            </a:r>
            <a:r>
              <a:rPr dirty="0" sz="2000" spc="-90"/>
              <a:t> </a:t>
            </a:r>
            <a:r>
              <a:rPr dirty="0" sz="2000" spc="-10"/>
              <a:t>pipeline</a:t>
            </a:r>
            <a:endParaRPr sz="2000"/>
          </a:p>
        </p:txBody>
      </p:sp>
      <p:sp>
        <p:nvSpPr>
          <p:cNvPr id="4" name="object 4" descr=""/>
          <p:cNvSpPr txBox="1"/>
          <p:nvPr/>
        </p:nvSpPr>
        <p:spPr>
          <a:xfrm>
            <a:off x="134238" y="746886"/>
            <a:ext cx="431101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6FBE"/>
                </a:solidFill>
                <a:latin typeface="Calibri"/>
                <a:cs typeface="Calibri"/>
              </a:rPr>
              <a:t>Stage</a:t>
            </a:r>
            <a:r>
              <a:rPr dirty="0" sz="1200" spc="-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production</a:t>
            </a:r>
            <a:r>
              <a:rPr dirty="0" sz="1200" spc="-5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006FBE"/>
                </a:solidFill>
                <a:latin typeface="Calibri"/>
                <a:cs typeface="Calibri"/>
              </a:rPr>
              <a:t>environments</a:t>
            </a:r>
            <a:endParaRPr sz="12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  <a:tab pos="1067435" algn="l"/>
                <a:tab pos="1388745" algn="l"/>
                <a:tab pos="2094864" algn="l"/>
                <a:tab pos="2339975" algn="l"/>
                <a:tab pos="2679700" algn="l"/>
                <a:tab pos="3258820" algn="l"/>
                <a:tab pos="3620770" algn="l"/>
              </a:tabLst>
            </a:pP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are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deployed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in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the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staging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and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production</a:t>
            </a:r>
            <a:endParaRPr sz="12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environments.</a:t>
            </a:r>
            <a:endParaRPr sz="1200">
              <a:latin typeface="Calibri"/>
              <a:cs typeface="Calibri"/>
            </a:endParaRPr>
          </a:p>
          <a:p>
            <a:pPr algn="just" marL="182880" marR="8255" indent="-170815">
              <a:lnSpc>
                <a:spcPct val="100000"/>
              </a:lnSpc>
              <a:buFont typeface="Arial MT"/>
              <a:buChar char="•"/>
              <a:tabLst>
                <a:tab pos="182880" algn="l"/>
              </a:tabLst>
            </a:pP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these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25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provisioning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tools.</a:t>
            </a:r>
            <a:endParaRPr sz="1200">
              <a:latin typeface="Calibri"/>
              <a:cs typeface="Calibri"/>
            </a:endParaRPr>
          </a:p>
          <a:p>
            <a:pPr algn="just" marL="182880" marR="7620" indent="-170815">
              <a:lnSpc>
                <a:spcPct val="100000"/>
              </a:lnSpc>
              <a:buFont typeface="Arial MT"/>
              <a:buChar char="•"/>
              <a:tabLst>
                <a:tab pos="182880" algn="l"/>
              </a:tabLst>
            </a:pP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play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critical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these </a:t>
            </a:r>
            <a:r>
              <a:rPr dirty="0" sz="1200">
                <a:latin typeface="Calibri"/>
                <a:cs typeface="Calibri"/>
              </a:rPr>
              <a:t>stages,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environment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these </a:t>
            </a: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exist.</a:t>
            </a:r>
            <a:endParaRPr sz="1200">
              <a:latin typeface="Calibri"/>
              <a:cs typeface="Calibri"/>
            </a:endParaRPr>
          </a:p>
          <a:p>
            <a:pPr algn="just" marL="182880" marR="5715" indent="-170815">
              <a:lnSpc>
                <a:spcPct val="100000"/>
              </a:lnSpc>
              <a:buFont typeface="Arial MT"/>
              <a:buChar char="•"/>
              <a:tabLst>
                <a:tab pos="182880" algn="l"/>
              </a:tabLst>
            </a:pPr>
            <a:r>
              <a:rPr dirty="0" sz="1200" spc="-25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20">
                <a:latin typeface="Calibri"/>
                <a:cs typeface="Calibri"/>
              </a:rPr>
              <a:t>advent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virtualization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technologies,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stage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production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environments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today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hundreds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even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thousands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servers.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Monitoring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monitor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deployed</a:t>
            </a:r>
            <a:r>
              <a:rPr dirty="0" sz="1200" spc="-10">
                <a:latin typeface="Calibri"/>
                <a:cs typeface="Calibri"/>
              </a:rPr>
              <a:t> applications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production.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71120" marR="5080">
              <a:lnSpc>
                <a:spcPct val="100800"/>
              </a:lnSpc>
              <a:spcBef>
                <a:spcPts val="80"/>
              </a:spcBef>
            </a:pPr>
            <a:r>
              <a:rPr dirty="0" sz="1300"/>
              <a:t>DevOps–</a:t>
            </a:r>
            <a:r>
              <a:rPr dirty="0" sz="1300" spc="45"/>
              <a:t> </a:t>
            </a:r>
            <a:r>
              <a:rPr dirty="0" sz="1300"/>
              <a:t>Deployment</a:t>
            </a:r>
            <a:r>
              <a:rPr dirty="0" sz="1300" spc="75"/>
              <a:t> </a:t>
            </a:r>
            <a:r>
              <a:rPr dirty="0" sz="1300"/>
              <a:t>automation</a:t>
            </a:r>
            <a:r>
              <a:rPr dirty="0" sz="1300" spc="-10"/>
              <a:t> </a:t>
            </a:r>
            <a:r>
              <a:rPr dirty="0" sz="1300"/>
              <a:t>and</a:t>
            </a:r>
            <a:r>
              <a:rPr dirty="0" sz="1300" spc="-30"/>
              <a:t> </a:t>
            </a:r>
            <a:r>
              <a:rPr dirty="0" sz="1300" spc="-10"/>
              <a:t>release management</a:t>
            </a:r>
            <a:endParaRPr sz="13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70" y="724534"/>
            <a:ext cx="252984" cy="14325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74370" y="1181734"/>
            <a:ext cx="419100" cy="441959"/>
            <a:chOff x="174370" y="1181734"/>
            <a:chExt cx="419100" cy="441959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70" y="1181734"/>
              <a:ext cx="252984" cy="14325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486" y="1328038"/>
              <a:ext cx="252984" cy="14325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486" y="1480438"/>
              <a:ext cx="252984" cy="143256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86" y="1765426"/>
            <a:ext cx="252984" cy="14325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340486" y="2183256"/>
            <a:ext cx="394970" cy="867410"/>
            <a:chOff x="340486" y="2183256"/>
            <a:chExt cx="394970" cy="86741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486" y="2183256"/>
              <a:ext cx="304800" cy="17373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369184"/>
              <a:ext cx="228600" cy="12953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506344"/>
              <a:ext cx="228600" cy="12953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643504"/>
              <a:ext cx="228600" cy="1295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780664"/>
              <a:ext cx="228600" cy="12954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920898"/>
              <a:ext cx="228600" cy="12954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327786" y="702690"/>
            <a:ext cx="4082415" cy="2493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096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Managing</a:t>
            </a:r>
            <a:r>
              <a:rPr dirty="0" sz="1000" spc="2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dirty="0" sz="1000" spc="13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automation</a:t>
            </a:r>
            <a:r>
              <a:rPr dirty="0" sz="1000" spc="23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of</a:t>
            </a:r>
            <a:r>
              <a:rPr dirty="0" sz="1000" spc="229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application</a:t>
            </a:r>
            <a:r>
              <a:rPr dirty="0" sz="1000" spc="-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deployment </a:t>
            </a:r>
            <a:r>
              <a:rPr dirty="0" sz="1000" spc="-30">
                <a:solidFill>
                  <a:srgbClr val="006FBE"/>
                </a:solidFill>
                <a:latin typeface="Calibri"/>
                <a:cs typeface="Calibri"/>
              </a:rPr>
              <a:t>from</a:t>
            </a:r>
            <a:r>
              <a:rPr dirty="0" sz="1000" spc="-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one</a:t>
            </a:r>
            <a:r>
              <a:rPr dirty="0" sz="1000" spc="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stage</a:t>
            </a:r>
            <a:r>
              <a:rPr dirty="0" sz="1000" spc="4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dirty="0" sz="1000" spc="-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 next</a:t>
            </a:r>
            <a:r>
              <a:rPr dirty="0" sz="1000" spc="-3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006FBE"/>
                </a:solidFill>
                <a:latin typeface="Calibri"/>
                <a:cs typeface="Calibri"/>
              </a:rPr>
              <a:t>requires</a:t>
            </a:r>
            <a:r>
              <a:rPr dirty="0" sz="1000" spc="-3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specialized</a:t>
            </a:r>
            <a:r>
              <a:rPr dirty="0" sz="1000" spc="4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tools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Calibri"/>
              <a:cs typeface="Calibri"/>
            </a:endParaRPr>
          </a:p>
          <a:p>
            <a:pPr marL="178435" marR="2622550" indent="-166370">
              <a:lnSpc>
                <a:spcPts val="1150"/>
              </a:lnSpc>
            </a:pPr>
            <a:r>
              <a:rPr dirty="0" sz="1000">
                <a:solidFill>
                  <a:srgbClr val="006FBE"/>
                </a:solidFill>
                <a:latin typeface="Calibri"/>
                <a:cs typeface="Calibri"/>
              </a:rPr>
              <a:t>Deployment</a:t>
            </a:r>
            <a:r>
              <a:rPr dirty="0" sz="1000" spc="-15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6FBE"/>
                </a:solidFill>
                <a:latin typeface="Calibri"/>
                <a:cs typeface="Calibri"/>
              </a:rPr>
              <a:t>automation </a:t>
            </a:r>
            <a:r>
              <a:rPr dirty="0" sz="1000" spc="-35">
                <a:latin typeface="Calibri"/>
                <a:cs typeface="Calibri"/>
              </a:rPr>
              <a:t>Core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tools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DevOps</a:t>
            </a:r>
            <a:endParaRPr sz="1000">
              <a:latin typeface="Calibri"/>
              <a:cs typeface="Calibri"/>
            </a:endParaRPr>
          </a:p>
          <a:p>
            <a:pPr marL="178435" marR="141605">
              <a:lnSpc>
                <a:spcPts val="1150"/>
              </a:lnSpc>
              <a:spcBef>
                <a:spcPts val="50"/>
              </a:spcBef>
            </a:pPr>
            <a:r>
              <a:rPr dirty="0" sz="1000" spc="-30">
                <a:latin typeface="Calibri"/>
                <a:cs typeface="Calibri"/>
              </a:rPr>
              <a:t>Perform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orchestrated</a:t>
            </a:r>
            <a:r>
              <a:rPr dirty="0" sz="1000">
                <a:latin typeface="Calibri"/>
                <a:cs typeface="Calibri"/>
              </a:rPr>
              <a:t> deployments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track</a:t>
            </a:r>
            <a:r>
              <a:rPr dirty="0" sz="1000" spc="-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which </a:t>
            </a:r>
            <a:r>
              <a:rPr dirty="0" sz="1000" spc="-20">
                <a:latin typeface="Calibri"/>
                <a:cs typeface="Calibri"/>
              </a:rPr>
              <a:t>version</a:t>
            </a:r>
            <a:r>
              <a:rPr dirty="0" sz="1000">
                <a:latin typeface="Calibri"/>
                <a:cs typeface="Calibri"/>
              </a:rPr>
              <a:t> is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deployed</a:t>
            </a:r>
            <a:r>
              <a:rPr dirty="0" sz="1000" spc="-25">
                <a:latin typeface="Calibri"/>
                <a:cs typeface="Calibri"/>
              </a:rPr>
              <a:t> on</a:t>
            </a:r>
            <a:r>
              <a:rPr dirty="0" sz="1000">
                <a:latin typeface="Calibri"/>
                <a:cs typeface="Calibri"/>
              </a:rPr>
              <a:t> which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node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at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any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stage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build 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delivery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pipeline</a:t>
            </a:r>
            <a:endParaRPr sz="1000">
              <a:latin typeface="Calibri"/>
              <a:cs typeface="Calibri"/>
            </a:endParaRPr>
          </a:p>
          <a:p>
            <a:pPr marL="178435">
              <a:lnSpc>
                <a:spcPts val="1040"/>
              </a:lnSpc>
            </a:pPr>
            <a:r>
              <a:rPr dirty="0" sz="1000" spc="-30">
                <a:latin typeface="Calibri"/>
                <a:cs typeface="Calibri"/>
              </a:rPr>
              <a:t>Can </a:t>
            </a:r>
            <a:r>
              <a:rPr dirty="0" sz="1000">
                <a:latin typeface="Calibri"/>
                <a:cs typeface="Calibri"/>
              </a:rPr>
              <a:t>also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manage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configurations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environments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stages</a:t>
            </a:r>
            <a:r>
              <a:rPr dirty="0" sz="1000" spc="16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endParaRPr sz="1000">
              <a:latin typeface="Calibri"/>
              <a:cs typeface="Calibri"/>
            </a:endParaRPr>
          </a:p>
          <a:p>
            <a:pPr marL="178435">
              <a:lnSpc>
                <a:spcPts val="1175"/>
              </a:lnSpc>
            </a:pPr>
            <a:r>
              <a:rPr dirty="0" sz="1000">
                <a:latin typeface="Calibri"/>
                <a:cs typeface="Calibri"/>
              </a:rPr>
              <a:t>which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application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components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must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deployed.</a:t>
            </a:r>
            <a:endParaRPr sz="1000">
              <a:latin typeface="Calibri"/>
              <a:cs typeface="Calibri"/>
            </a:endParaRPr>
          </a:p>
          <a:p>
            <a:pPr marL="178435">
              <a:lnSpc>
                <a:spcPct val="100000"/>
              </a:lnSpc>
              <a:spcBef>
                <a:spcPts val="919"/>
              </a:spcBef>
            </a:pPr>
            <a:r>
              <a:rPr dirty="0" sz="1200" spc="-10">
                <a:latin typeface="Calibri"/>
                <a:cs typeface="Calibri"/>
              </a:rPr>
              <a:t>Manage</a:t>
            </a:r>
            <a:endParaRPr sz="1200">
              <a:latin typeface="Calibri"/>
              <a:cs typeface="Calibri"/>
            </a:endParaRPr>
          </a:p>
          <a:p>
            <a:pPr marL="344805" marR="2497455">
              <a:lnSpc>
                <a:spcPct val="100000"/>
              </a:lnSpc>
              <a:spcBef>
                <a:spcPts val="45"/>
              </a:spcBef>
            </a:pPr>
            <a:r>
              <a:rPr dirty="0" sz="900" spc="-20">
                <a:latin typeface="Calibri"/>
                <a:cs typeface="Calibri"/>
              </a:rPr>
              <a:t>Middleware</a:t>
            </a:r>
            <a:r>
              <a:rPr dirty="0" sz="900" spc="3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components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middleware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configurations</a:t>
            </a:r>
            <a:endParaRPr sz="900">
              <a:latin typeface="Calibri"/>
              <a:cs typeface="Calibri"/>
            </a:endParaRPr>
          </a:p>
          <a:p>
            <a:pPr marL="344805">
              <a:lnSpc>
                <a:spcPct val="100000"/>
              </a:lnSpc>
            </a:pPr>
            <a:r>
              <a:rPr dirty="0" sz="900">
                <a:latin typeface="Calibri"/>
                <a:cs typeface="Calibri"/>
              </a:rPr>
              <a:t>Database</a:t>
            </a:r>
            <a:r>
              <a:rPr dirty="0" sz="900" spc="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components</a:t>
            </a:r>
            <a:r>
              <a:rPr dirty="0" sz="900" spc="5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that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need</a:t>
            </a:r>
            <a:r>
              <a:rPr dirty="0" sz="900" spc="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 </a:t>
            </a:r>
            <a:r>
              <a:rPr dirty="0" sz="900" spc="-10">
                <a:latin typeface="Calibri"/>
                <a:cs typeface="Calibri"/>
              </a:rPr>
              <a:t>changed;</a:t>
            </a:r>
            <a:endParaRPr sz="900">
              <a:latin typeface="Calibri"/>
              <a:cs typeface="Calibri"/>
            </a:endParaRPr>
          </a:p>
          <a:p>
            <a:pPr marL="344805">
              <a:lnSpc>
                <a:spcPct val="100000"/>
              </a:lnSpc>
            </a:pPr>
            <a:r>
              <a:rPr dirty="0" sz="900" spc="-10">
                <a:latin typeface="Calibri"/>
                <a:cs typeface="Calibri"/>
              </a:rPr>
              <a:t>Environment configuration</a:t>
            </a:r>
            <a:endParaRPr sz="900">
              <a:latin typeface="Calibri"/>
              <a:cs typeface="Calibri"/>
            </a:endParaRPr>
          </a:p>
          <a:p>
            <a:pPr marL="344805" marR="5080">
              <a:lnSpc>
                <a:spcPts val="1060"/>
              </a:lnSpc>
              <a:spcBef>
                <a:spcPts val="80"/>
              </a:spcBef>
            </a:pPr>
            <a:r>
              <a:rPr dirty="0" sz="900">
                <a:latin typeface="Calibri"/>
                <a:cs typeface="Calibri"/>
              </a:rPr>
              <a:t>capture</a:t>
            </a:r>
            <a:r>
              <a:rPr dirty="0" sz="900" spc="3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and</a:t>
            </a:r>
            <a:r>
              <a:rPr dirty="0" sz="900" spc="26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automate</a:t>
            </a:r>
            <a:r>
              <a:rPr dirty="0" sz="900" spc="19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2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processes</a:t>
            </a:r>
            <a:r>
              <a:rPr dirty="0" sz="900" spc="18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2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carry</a:t>
            </a:r>
            <a:r>
              <a:rPr dirty="0" sz="900" spc="409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out</a:t>
            </a:r>
            <a:r>
              <a:rPr dirty="0" sz="900" spc="2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these</a:t>
            </a:r>
            <a:r>
              <a:rPr dirty="0" sz="900" spc="15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deployments</a:t>
            </a:r>
            <a:r>
              <a:rPr dirty="0" sz="900" spc="204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and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configuration</a:t>
            </a:r>
            <a:r>
              <a:rPr dirty="0" sz="900" spc="5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changes.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138677"/>
            <a:ext cx="228155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04085">
              <a:lnSpc>
                <a:spcPts val="550"/>
              </a:lnSpc>
              <a:spcBef>
                <a:spcPts val="105"/>
              </a:spcBef>
            </a:pPr>
            <a:r>
              <a:rPr dirty="0" sz="5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500">
              <a:latin typeface="Calibri"/>
              <a:cs typeface="Calibri"/>
            </a:endParaRPr>
          </a:p>
          <a:p>
            <a:pPr marL="2204085">
              <a:lnSpc>
                <a:spcPts val="550"/>
              </a:lnSpc>
            </a:pPr>
            <a:r>
              <a:rPr dirty="0" sz="500" spc="-5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300"/>
              <a:t>DevOps–</a:t>
            </a:r>
            <a:r>
              <a:rPr dirty="0" sz="1300" spc="40"/>
              <a:t> </a:t>
            </a:r>
            <a:r>
              <a:rPr dirty="0" sz="1300"/>
              <a:t>Deployment</a:t>
            </a:r>
            <a:r>
              <a:rPr dirty="0" sz="1300" spc="65"/>
              <a:t> </a:t>
            </a:r>
            <a:r>
              <a:rPr dirty="0" sz="1300"/>
              <a:t>automation</a:t>
            </a:r>
            <a:r>
              <a:rPr dirty="0" sz="1300" spc="-15"/>
              <a:t> </a:t>
            </a:r>
            <a:r>
              <a:rPr dirty="0" sz="1300"/>
              <a:t>and</a:t>
            </a:r>
            <a:r>
              <a:rPr dirty="0" sz="1300" spc="-35"/>
              <a:t> </a:t>
            </a:r>
            <a:r>
              <a:rPr dirty="0" sz="1300" spc="-10"/>
              <a:t>release</a:t>
            </a:r>
            <a:endParaRPr sz="1300"/>
          </a:p>
          <a:p>
            <a:pPr marL="63500">
              <a:lnSpc>
                <a:spcPct val="100000"/>
              </a:lnSpc>
              <a:spcBef>
                <a:spcPts val="15"/>
              </a:spcBef>
            </a:pPr>
            <a:r>
              <a:rPr dirty="0" sz="1300" spc="-10"/>
              <a:t>management</a:t>
            </a:r>
            <a:endParaRPr sz="13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70" y="725169"/>
            <a:ext cx="304800" cy="1737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86" y="1096720"/>
            <a:ext cx="304800" cy="1740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86" y="1612391"/>
            <a:ext cx="304800" cy="1737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486" y="1937003"/>
            <a:ext cx="304800" cy="17373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27786" y="700277"/>
            <a:ext cx="4093845" cy="1420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06FBE"/>
                </a:solidFill>
                <a:latin typeface="Calibri"/>
                <a:cs typeface="Calibri"/>
              </a:rPr>
              <a:t>Release</a:t>
            </a:r>
            <a:r>
              <a:rPr dirty="0" sz="1200" spc="-35" b="1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alibri"/>
              <a:cs typeface="Calibri"/>
            </a:endParaRPr>
          </a:p>
          <a:p>
            <a:pPr algn="just" marL="178435" marR="1016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Orchestrating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plans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deployments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associated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13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requires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coordination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business, development,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QA,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operations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teams.</a:t>
            </a:r>
            <a:endParaRPr sz="1200">
              <a:latin typeface="Calibri"/>
              <a:cs typeface="Calibri"/>
            </a:endParaRPr>
          </a:p>
          <a:p>
            <a:pPr algn="just" marL="178435" marR="5080">
              <a:lnSpc>
                <a:spcPct val="80000"/>
              </a:lnSpc>
              <a:spcBef>
                <a:spcPts val="30"/>
              </a:spcBef>
            </a:pPr>
            <a:r>
              <a:rPr dirty="0" sz="1200">
                <a:latin typeface="Calibri"/>
                <a:cs typeface="Calibri"/>
              </a:rPr>
              <a:t>Release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organizations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execute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releases,</a:t>
            </a:r>
            <a:endParaRPr sz="1200">
              <a:latin typeface="Calibri"/>
              <a:cs typeface="Calibri"/>
            </a:endParaRPr>
          </a:p>
          <a:p>
            <a:pPr algn="just" marL="178435">
              <a:lnSpc>
                <a:spcPts val="1405"/>
              </a:lnSpc>
            </a:pP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collaboration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portal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stakeholders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93902" y="2094991"/>
            <a:ext cx="1532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085" algn="l"/>
              </a:tabLst>
            </a:pPr>
            <a:r>
              <a:rPr dirty="0" sz="1200">
                <a:latin typeface="Calibri"/>
                <a:cs typeface="Calibri"/>
              </a:rPr>
              <a:t>release,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 spc="-25">
                <a:latin typeface="Calibri"/>
                <a:cs typeface="Calibri"/>
              </a:rPr>
              <a:t>and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provide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079117" y="2094991"/>
            <a:ext cx="1769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0"/>
              </a:spcBef>
              <a:tabLst>
                <a:tab pos="1123950" algn="l"/>
              </a:tabLst>
            </a:pPr>
            <a:r>
              <a:rPr dirty="0" sz="1200">
                <a:latin typeface="Calibri"/>
                <a:cs typeface="Calibri"/>
              </a:rPr>
              <a:t>traceability</a:t>
            </a:r>
            <a:r>
              <a:rPr dirty="0" sz="1200" spc="4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4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release </a:t>
            </a:r>
            <a:r>
              <a:rPr dirty="0" sz="1200">
                <a:latin typeface="Calibri"/>
                <a:cs typeface="Calibri"/>
              </a:rPr>
              <a:t>stages</a:t>
            </a:r>
            <a:r>
              <a:rPr dirty="0" sz="1200" spc="4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r>
              <a:rPr dirty="0" sz="1200">
                <a:latin typeface="Calibri"/>
                <a:cs typeface="Calibri"/>
              </a:rPr>
              <a:t>	build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05250" y="2094991"/>
            <a:ext cx="515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50">
                <a:latin typeface="Calibri"/>
                <a:cs typeface="Calibri"/>
              </a:rPr>
              <a:t>  </a:t>
            </a:r>
            <a:r>
              <a:rPr dirty="0" sz="1200" spc="-25">
                <a:latin typeface="Calibri"/>
                <a:cs typeface="Calibri"/>
              </a:rPr>
              <a:t>its delivery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3902" y="2277871"/>
            <a:ext cx="15195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components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4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all </a:t>
            </a:r>
            <a:r>
              <a:rPr dirty="0" sz="1200" spc="-10">
                <a:latin typeface="Calibri"/>
                <a:cs typeface="Calibri"/>
              </a:rPr>
              <a:t>pipeline.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DevOps–</a:t>
            </a:r>
            <a:r>
              <a:rPr dirty="0" sz="2000" spc="30"/>
              <a:t> </a:t>
            </a:r>
            <a:r>
              <a:rPr dirty="0" sz="2000" spc="-10"/>
              <a:t>Cloud</a:t>
            </a:r>
            <a:r>
              <a:rPr dirty="0" sz="2000" spc="-70"/>
              <a:t> </a:t>
            </a:r>
            <a:r>
              <a:rPr dirty="0" sz="2000"/>
              <a:t>as</a:t>
            </a:r>
            <a:r>
              <a:rPr dirty="0" sz="2000" spc="-5"/>
              <a:t> </a:t>
            </a:r>
            <a:r>
              <a:rPr dirty="0" sz="2000"/>
              <a:t>a</a:t>
            </a:r>
            <a:r>
              <a:rPr dirty="0" sz="2000" spc="-85"/>
              <a:t> </a:t>
            </a:r>
            <a:r>
              <a:rPr dirty="0" sz="2000" spc="-10"/>
              <a:t>catalyst</a:t>
            </a:r>
            <a:endParaRPr sz="2000"/>
          </a:p>
        </p:txBody>
      </p:sp>
      <p:sp>
        <p:nvSpPr>
          <p:cNvPr id="4" name="object 4" descr=""/>
          <p:cNvSpPr/>
          <p:nvPr/>
        </p:nvSpPr>
        <p:spPr>
          <a:xfrm>
            <a:off x="194310" y="759078"/>
            <a:ext cx="1129030" cy="2087880"/>
          </a:xfrm>
          <a:custGeom>
            <a:avLst/>
            <a:gdLst/>
            <a:ahLst/>
            <a:cxnLst/>
            <a:rect l="l" t="t" r="r" b="b"/>
            <a:pathLst>
              <a:path w="1129030" h="2087880">
                <a:moveTo>
                  <a:pt x="1128903" y="49149"/>
                </a:moveTo>
                <a:lnTo>
                  <a:pt x="1126871" y="38354"/>
                </a:lnTo>
                <a:lnTo>
                  <a:pt x="1124204" y="33108"/>
                </a:lnTo>
                <a:lnTo>
                  <a:pt x="1124204" y="49149"/>
                </a:lnTo>
                <a:lnTo>
                  <a:pt x="1124204" y="2037969"/>
                </a:lnTo>
                <a:lnTo>
                  <a:pt x="1123442" y="2042668"/>
                </a:lnTo>
                <a:lnTo>
                  <a:pt x="1122172" y="2048002"/>
                </a:lnTo>
                <a:lnTo>
                  <a:pt x="1122172" y="2047367"/>
                </a:lnTo>
                <a:lnTo>
                  <a:pt x="1120140" y="2052066"/>
                </a:lnTo>
                <a:lnTo>
                  <a:pt x="1120775" y="2052066"/>
                </a:lnTo>
                <a:lnTo>
                  <a:pt x="1118108" y="2056765"/>
                </a:lnTo>
                <a:lnTo>
                  <a:pt x="1118743" y="2056765"/>
                </a:lnTo>
                <a:lnTo>
                  <a:pt x="1116076" y="2060829"/>
                </a:lnTo>
                <a:lnTo>
                  <a:pt x="1112774" y="2064766"/>
                </a:lnTo>
                <a:lnTo>
                  <a:pt x="1113409" y="2064131"/>
                </a:lnTo>
                <a:lnTo>
                  <a:pt x="1110107" y="2068195"/>
                </a:lnTo>
                <a:lnTo>
                  <a:pt x="1106043" y="2071497"/>
                </a:lnTo>
                <a:lnTo>
                  <a:pt x="1102614" y="2074164"/>
                </a:lnTo>
                <a:lnTo>
                  <a:pt x="1097915" y="2076958"/>
                </a:lnTo>
                <a:lnTo>
                  <a:pt x="1098677" y="2076958"/>
                </a:lnTo>
                <a:lnTo>
                  <a:pt x="1093978" y="2078863"/>
                </a:lnTo>
                <a:lnTo>
                  <a:pt x="1084453" y="2081657"/>
                </a:lnTo>
                <a:lnTo>
                  <a:pt x="1074420" y="2082927"/>
                </a:lnTo>
                <a:lnTo>
                  <a:pt x="55118" y="2082927"/>
                </a:lnTo>
                <a:lnTo>
                  <a:pt x="45085" y="2081657"/>
                </a:lnTo>
                <a:lnTo>
                  <a:pt x="39624" y="2080260"/>
                </a:lnTo>
                <a:lnTo>
                  <a:pt x="40386" y="2080260"/>
                </a:lnTo>
                <a:lnTo>
                  <a:pt x="35687" y="2078863"/>
                </a:lnTo>
                <a:lnTo>
                  <a:pt x="30988" y="2076958"/>
                </a:lnTo>
                <a:lnTo>
                  <a:pt x="22860" y="2071497"/>
                </a:lnTo>
                <a:lnTo>
                  <a:pt x="23495" y="2071497"/>
                </a:lnTo>
                <a:lnTo>
                  <a:pt x="19558" y="2068195"/>
                </a:lnTo>
                <a:lnTo>
                  <a:pt x="16637" y="2064766"/>
                </a:lnTo>
                <a:lnTo>
                  <a:pt x="16129" y="2064131"/>
                </a:lnTo>
                <a:lnTo>
                  <a:pt x="16129" y="2064766"/>
                </a:lnTo>
                <a:lnTo>
                  <a:pt x="10795" y="2056765"/>
                </a:lnTo>
                <a:lnTo>
                  <a:pt x="8763" y="2052066"/>
                </a:lnTo>
                <a:lnTo>
                  <a:pt x="7620" y="2048002"/>
                </a:lnTo>
                <a:lnTo>
                  <a:pt x="7366" y="2047367"/>
                </a:lnTo>
                <a:lnTo>
                  <a:pt x="7366" y="2048002"/>
                </a:lnTo>
                <a:lnTo>
                  <a:pt x="6096" y="2042668"/>
                </a:lnTo>
                <a:lnTo>
                  <a:pt x="4699" y="2032508"/>
                </a:lnTo>
                <a:lnTo>
                  <a:pt x="4699" y="54483"/>
                </a:lnTo>
                <a:lnTo>
                  <a:pt x="6096" y="44323"/>
                </a:lnTo>
                <a:lnTo>
                  <a:pt x="8763" y="34925"/>
                </a:lnTo>
                <a:lnTo>
                  <a:pt x="10795" y="30226"/>
                </a:lnTo>
                <a:lnTo>
                  <a:pt x="16129" y="22225"/>
                </a:lnTo>
                <a:lnTo>
                  <a:pt x="16129" y="22860"/>
                </a:lnTo>
                <a:lnTo>
                  <a:pt x="16637" y="22225"/>
                </a:lnTo>
                <a:lnTo>
                  <a:pt x="19558" y="18796"/>
                </a:lnTo>
                <a:lnTo>
                  <a:pt x="23495" y="15494"/>
                </a:lnTo>
                <a:lnTo>
                  <a:pt x="22860" y="15494"/>
                </a:lnTo>
                <a:lnTo>
                  <a:pt x="30988" y="10033"/>
                </a:lnTo>
                <a:lnTo>
                  <a:pt x="35687" y="8128"/>
                </a:lnTo>
                <a:lnTo>
                  <a:pt x="40386" y="6731"/>
                </a:lnTo>
                <a:lnTo>
                  <a:pt x="39624" y="6731"/>
                </a:lnTo>
                <a:lnTo>
                  <a:pt x="45085" y="5334"/>
                </a:lnTo>
                <a:lnTo>
                  <a:pt x="55118" y="4064"/>
                </a:lnTo>
                <a:lnTo>
                  <a:pt x="1074420" y="4064"/>
                </a:lnTo>
                <a:lnTo>
                  <a:pt x="1084453" y="5334"/>
                </a:lnTo>
                <a:lnTo>
                  <a:pt x="1093978" y="8128"/>
                </a:lnTo>
                <a:lnTo>
                  <a:pt x="1098677" y="10033"/>
                </a:lnTo>
                <a:lnTo>
                  <a:pt x="1097915" y="10033"/>
                </a:lnTo>
                <a:lnTo>
                  <a:pt x="1102614" y="12827"/>
                </a:lnTo>
                <a:lnTo>
                  <a:pt x="1106043" y="15494"/>
                </a:lnTo>
                <a:lnTo>
                  <a:pt x="1110107" y="18796"/>
                </a:lnTo>
                <a:lnTo>
                  <a:pt x="1113409" y="22860"/>
                </a:lnTo>
                <a:lnTo>
                  <a:pt x="1112774" y="22225"/>
                </a:lnTo>
                <a:lnTo>
                  <a:pt x="1116076" y="26289"/>
                </a:lnTo>
                <a:lnTo>
                  <a:pt x="1118743" y="30226"/>
                </a:lnTo>
                <a:lnTo>
                  <a:pt x="1118108" y="30226"/>
                </a:lnTo>
                <a:lnTo>
                  <a:pt x="1120775" y="34925"/>
                </a:lnTo>
                <a:lnTo>
                  <a:pt x="1120140" y="34925"/>
                </a:lnTo>
                <a:lnTo>
                  <a:pt x="1122172" y="39624"/>
                </a:lnTo>
                <a:lnTo>
                  <a:pt x="1123442" y="44323"/>
                </a:lnTo>
                <a:lnTo>
                  <a:pt x="1124204" y="49149"/>
                </a:lnTo>
                <a:lnTo>
                  <a:pt x="1124204" y="33108"/>
                </a:lnTo>
                <a:lnTo>
                  <a:pt x="1095883" y="4064"/>
                </a:lnTo>
                <a:lnTo>
                  <a:pt x="1079754" y="0"/>
                </a:lnTo>
                <a:lnTo>
                  <a:pt x="49022" y="0"/>
                </a:lnTo>
                <a:lnTo>
                  <a:pt x="9398" y="23495"/>
                </a:lnTo>
                <a:lnTo>
                  <a:pt x="0" y="54483"/>
                </a:lnTo>
                <a:lnTo>
                  <a:pt x="0" y="2032508"/>
                </a:lnTo>
                <a:lnTo>
                  <a:pt x="28956" y="2080895"/>
                </a:lnTo>
                <a:lnTo>
                  <a:pt x="55118" y="2087626"/>
                </a:lnTo>
                <a:lnTo>
                  <a:pt x="1074420" y="2087626"/>
                </a:lnTo>
                <a:lnTo>
                  <a:pt x="1113409" y="2071497"/>
                </a:lnTo>
                <a:lnTo>
                  <a:pt x="1118997" y="2064131"/>
                </a:lnTo>
                <a:lnTo>
                  <a:pt x="1119505" y="2063496"/>
                </a:lnTo>
                <a:lnTo>
                  <a:pt x="1124839" y="2054098"/>
                </a:lnTo>
                <a:lnTo>
                  <a:pt x="1126871" y="2048637"/>
                </a:lnTo>
                <a:lnTo>
                  <a:pt x="1126998" y="2048002"/>
                </a:lnTo>
                <a:lnTo>
                  <a:pt x="1128268" y="2043938"/>
                </a:lnTo>
                <a:lnTo>
                  <a:pt x="1128903" y="2038604"/>
                </a:lnTo>
                <a:lnTo>
                  <a:pt x="1128903" y="49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35025" y="795273"/>
            <a:ext cx="890269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 b="1">
                <a:latin typeface="Times New Roman"/>
                <a:cs typeface="Times New Roman"/>
              </a:rPr>
              <a:t>Essential</a:t>
            </a:r>
            <a:r>
              <a:rPr dirty="0" sz="600" spc="125" b="1">
                <a:latin typeface="Times New Roman"/>
                <a:cs typeface="Times New Roman"/>
              </a:rPr>
              <a:t> </a:t>
            </a:r>
            <a:r>
              <a:rPr dirty="0" sz="600" spc="-10" b="1">
                <a:latin typeface="Times New Roman"/>
                <a:cs typeface="Times New Roman"/>
              </a:rPr>
              <a:t>Characteristics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8698" y="1372869"/>
            <a:ext cx="321945" cy="2216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6830" marR="5080" indent="-24765">
              <a:lnSpc>
                <a:spcPct val="108300"/>
              </a:lnSpc>
              <a:spcBef>
                <a:spcPts val="75"/>
              </a:spcBef>
            </a:pPr>
            <a:r>
              <a:rPr dirty="0" sz="600" spc="-10">
                <a:latin typeface="Times New Roman"/>
                <a:cs typeface="Times New Roman"/>
              </a:rPr>
              <a:t>Resource</a:t>
            </a:r>
            <a:r>
              <a:rPr dirty="0" sz="600" spc="5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pooling</a:t>
            </a:r>
            <a:endParaRPr sz="6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952" y="1407197"/>
            <a:ext cx="244741" cy="18220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27786" y="1681352"/>
            <a:ext cx="504825" cy="2216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52400" marR="5080" indent="-140335">
              <a:lnSpc>
                <a:spcPct val="108300"/>
              </a:lnSpc>
              <a:spcBef>
                <a:spcPts val="75"/>
              </a:spcBef>
            </a:pPr>
            <a:r>
              <a:rPr dirty="0" sz="600">
                <a:latin typeface="Times New Roman"/>
                <a:cs typeface="Times New Roman"/>
              </a:rPr>
              <a:t>Broad</a:t>
            </a:r>
            <a:r>
              <a:rPr dirty="0" sz="600" spc="45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network</a:t>
            </a:r>
            <a:r>
              <a:rPr dirty="0" sz="600" spc="5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access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02131" y="1717128"/>
            <a:ext cx="327660" cy="1016635"/>
            <a:chOff x="802131" y="1717128"/>
            <a:chExt cx="327660" cy="101663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002" y="1717128"/>
              <a:ext cx="224561" cy="19498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131" y="2492463"/>
              <a:ext cx="257505" cy="24070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88747" y="2078227"/>
            <a:ext cx="768985" cy="5918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57834" marR="5080" indent="51435">
              <a:lnSpc>
                <a:spcPct val="108300"/>
              </a:lnSpc>
              <a:spcBef>
                <a:spcPts val="75"/>
              </a:spcBef>
            </a:pPr>
            <a:r>
              <a:rPr dirty="0" sz="600" spc="-10">
                <a:latin typeface="Times New Roman"/>
                <a:cs typeface="Times New Roman"/>
              </a:rPr>
              <a:t>Rapid</a:t>
            </a:r>
            <a:r>
              <a:rPr dirty="0" sz="600" spc="5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Elasticity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600">
              <a:latin typeface="Times New Roman"/>
              <a:cs typeface="Times New Roman"/>
            </a:endParaRPr>
          </a:p>
          <a:p>
            <a:pPr marL="52069" marR="436245" indent="-40005">
              <a:lnSpc>
                <a:spcPct val="108300"/>
              </a:lnSpc>
            </a:pPr>
            <a:r>
              <a:rPr dirty="0" sz="600" spc="-10">
                <a:latin typeface="Times New Roman"/>
                <a:cs typeface="Times New Roman"/>
              </a:rPr>
              <a:t>Measured</a:t>
            </a:r>
            <a:r>
              <a:rPr dirty="0" sz="600" spc="5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Service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67588" y="1042123"/>
            <a:ext cx="930275" cy="1311275"/>
            <a:chOff x="267588" y="1042123"/>
            <a:chExt cx="930275" cy="131127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286" y="2046655"/>
              <a:ext cx="367779" cy="19565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250" y="1042123"/>
              <a:ext cx="217169" cy="19498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67588" y="1385061"/>
              <a:ext cx="930275" cy="967105"/>
            </a:xfrm>
            <a:custGeom>
              <a:avLst/>
              <a:gdLst/>
              <a:ahLst/>
              <a:cxnLst/>
              <a:rect l="l" t="t" r="r" b="b"/>
              <a:pathLst>
                <a:path w="930275" h="967105">
                  <a:moveTo>
                    <a:pt x="0" y="0"/>
                  </a:moveTo>
                  <a:lnTo>
                    <a:pt x="886206" y="0"/>
                  </a:lnTo>
                </a:path>
                <a:path w="930275" h="967105">
                  <a:moveTo>
                    <a:pt x="28194" y="318008"/>
                  </a:moveTo>
                  <a:lnTo>
                    <a:pt x="914400" y="318008"/>
                  </a:lnTo>
                </a:path>
                <a:path w="930275" h="967105">
                  <a:moveTo>
                    <a:pt x="43688" y="602361"/>
                  </a:moveTo>
                  <a:lnTo>
                    <a:pt x="929894" y="602361"/>
                  </a:lnTo>
                </a:path>
                <a:path w="930275" h="967105">
                  <a:moveTo>
                    <a:pt x="28194" y="966851"/>
                  </a:moveTo>
                  <a:lnTo>
                    <a:pt x="914400" y="966851"/>
                  </a:lnTo>
                </a:path>
              </a:pathLst>
            </a:custGeom>
            <a:ln w="3175">
              <a:solidFill>
                <a:srgbClr val="E9E3EB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32993" y="1001648"/>
            <a:ext cx="413384" cy="2216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2860" marR="5080" indent="-10795">
              <a:lnSpc>
                <a:spcPct val="108300"/>
              </a:lnSpc>
              <a:spcBef>
                <a:spcPts val="75"/>
              </a:spcBef>
            </a:pPr>
            <a:r>
              <a:rPr dirty="0" sz="600">
                <a:latin typeface="Times New Roman"/>
                <a:cs typeface="Times New Roman"/>
              </a:rPr>
              <a:t>On-</a:t>
            </a:r>
            <a:r>
              <a:rPr dirty="0" sz="600" spc="-10">
                <a:latin typeface="Times New Roman"/>
                <a:cs typeface="Times New Roman"/>
              </a:rPr>
              <a:t>demand</a:t>
            </a:r>
            <a:r>
              <a:rPr dirty="0" sz="600" spc="500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Self-service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77461" y="2780537"/>
            <a:ext cx="10477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25">
                <a:solidFill>
                  <a:srgbClr val="888888"/>
                </a:solidFill>
                <a:latin typeface="Times New Roman"/>
                <a:cs typeface="Times New Roman"/>
              </a:rPr>
              <a:t>33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110"/>
              </a:spcBef>
            </a:pPr>
            <a:r>
              <a:rPr dirty="0" spc="-10"/>
              <a:t>Scalability:</a:t>
            </a:r>
          </a:p>
          <a:p>
            <a:pPr marL="137795" indent="-125095">
              <a:lnSpc>
                <a:spcPts val="1010"/>
              </a:lnSpc>
              <a:buFont typeface="Arial MT"/>
              <a:buChar char="•"/>
              <a:tabLst>
                <a:tab pos="137795" algn="l"/>
              </a:tabLst>
            </a:pPr>
            <a:r>
              <a:rPr dirty="0" spc="-25" b="0">
                <a:latin typeface="Times New Roman"/>
                <a:cs typeface="Times New Roman"/>
              </a:rPr>
              <a:t>Ability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7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system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8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handle</a:t>
            </a:r>
            <a:r>
              <a:rPr dirty="0" spc="4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increasing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workload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by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increasing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in</a:t>
            </a:r>
          </a:p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 b="0">
                <a:latin typeface="Times New Roman"/>
                <a:cs typeface="Times New Roman"/>
              </a:rPr>
              <a:t>proportion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amount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4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resource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capacity.</a:t>
            </a:r>
          </a:p>
          <a:p>
            <a:pPr marL="137160" marR="373380" indent="-125095">
              <a:lnSpc>
                <a:spcPct val="103499"/>
              </a:lnSpc>
              <a:spcBef>
                <a:spcPts val="35"/>
              </a:spcBef>
              <a:buFont typeface="Arial MT"/>
              <a:buChar char="•"/>
              <a:tabLst>
                <a:tab pos="137160" algn="l"/>
              </a:tabLst>
            </a:pPr>
            <a:r>
              <a:rPr dirty="0" spc="-10" b="0">
                <a:latin typeface="Times New Roman"/>
                <a:cs typeface="Times New Roman"/>
              </a:rPr>
              <a:t>Architecture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allows</a:t>
            </a:r>
            <a:r>
              <a:rPr dirty="0" spc="-8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on-</a:t>
            </a:r>
            <a:r>
              <a:rPr dirty="0" b="0">
                <a:latin typeface="Times New Roman"/>
                <a:cs typeface="Times New Roman"/>
              </a:rPr>
              <a:t>demand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resources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for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increasing workload</a:t>
            </a: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pc="-10"/>
              <a:t>Elasticity:</a:t>
            </a:r>
          </a:p>
          <a:p>
            <a:pPr marL="137795" indent="-125095">
              <a:lnSpc>
                <a:spcPts val="1000"/>
              </a:lnSpc>
              <a:spcBef>
                <a:spcPts val="30"/>
              </a:spcBef>
              <a:buFont typeface="Arial MT"/>
              <a:buChar char="•"/>
              <a:tabLst>
                <a:tab pos="137795" algn="l"/>
              </a:tabLst>
            </a:pPr>
            <a:r>
              <a:rPr dirty="0" spc="-30" b="0">
                <a:latin typeface="Times New Roman"/>
                <a:cs typeface="Times New Roman"/>
              </a:rPr>
              <a:t>Dynamically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Commissioning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decommissioning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2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resources</a:t>
            </a:r>
          </a:p>
          <a:p>
            <a:pPr marL="137160" marR="44450" indent="-125095">
              <a:lnSpc>
                <a:spcPts val="1040"/>
              </a:lnSpc>
              <a:buFont typeface="Arial MT"/>
              <a:buChar char="•"/>
              <a:tabLst>
                <a:tab pos="137160" algn="l"/>
              </a:tabLst>
            </a:pPr>
            <a:r>
              <a:rPr dirty="0" spc="-20" b="0">
                <a:latin typeface="Times New Roman"/>
                <a:cs typeface="Times New Roman"/>
              </a:rPr>
              <a:t>Speed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which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resources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are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provisioned</a:t>
            </a:r>
            <a:r>
              <a:rPr dirty="0" spc="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on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demand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usage</a:t>
            </a:r>
            <a:r>
              <a:rPr dirty="0" b="0">
                <a:latin typeface="Times New Roman"/>
                <a:cs typeface="Times New Roman"/>
              </a:rPr>
              <a:t> of</a:t>
            </a:r>
            <a:r>
              <a:rPr dirty="0" spc="1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resources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8739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/>
              <a:t>DevOps–</a:t>
            </a:r>
            <a:r>
              <a:rPr dirty="0" spc="50"/>
              <a:t> </a:t>
            </a:r>
            <a:r>
              <a:rPr dirty="0"/>
              <a:t>Cloud as a</a:t>
            </a:r>
            <a:r>
              <a:rPr dirty="0" spc="-105"/>
              <a:t> </a:t>
            </a:r>
            <a:r>
              <a:rPr dirty="0" spc="-10"/>
              <a:t>catalyst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686" y="1559204"/>
            <a:ext cx="432993" cy="3583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83" y="996467"/>
            <a:ext cx="433666" cy="35836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325374" y="2131339"/>
            <a:ext cx="433705" cy="358775"/>
            <a:chOff x="325374" y="2131339"/>
            <a:chExt cx="433705" cy="35877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374" y="2131339"/>
              <a:ext cx="433666" cy="35836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04114" y="2277871"/>
              <a:ext cx="277495" cy="100330"/>
            </a:xfrm>
            <a:custGeom>
              <a:avLst/>
              <a:gdLst/>
              <a:ahLst/>
              <a:cxnLst/>
              <a:rect l="l" t="t" r="r" b="b"/>
              <a:pathLst>
                <a:path w="277495" h="100330">
                  <a:moveTo>
                    <a:pt x="635" y="0"/>
                  </a:moveTo>
                  <a:lnTo>
                    <a:pt x="0" y="2032"/>
                  </a:lnTo>
                  <a:lnTo>
                    <a:pt x="275590" y="100202"/>
                  </a:lnTo>
                  <a:lnTo>
                    <a:pt x="276987" y="98171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685" y="2219392"/>
              <a:ext cx="136486" cy="11766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" y="2303542"/>
              <a:ext cx="136486" cy="116315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87274" y="876680"/>
            <a:ext cx="494030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b="1">
                <a:latin typeface="Arial"/>
                <a:cs typeface="Arial"/>
              </a:rPr>
              <a:t>Private</a:t>
            </a:r>
            <a:r>
              <a:rPr dirty="0" sz="550" spc="60" b="1">
                <a:latin typeface="Arial"/>
                <a:cs typeface="Arial"/>
              </a:rPr>
              <a:t> </a:t>
            </a:r>
            <a:r>
              <a:rPr dirty="0" sz="550" spc="-10" b="1">
                <a:latin typeface="Arial"/>
                <a:cs typeface="Arial"/>
              </a:rPr>
              <a:t>Cloud</a:t>
            </a:r>
            <a:endParaRPr sz="5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1018" y="1434211"/>
            <a:ext cx="467995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b="1">
                <a:latin typeface="Arial"/>
                <a:cs typeface="Arial"/>
              </a:rPr>
              <a:t>Public</a:t>
            </a:r>
            <a:r>
              <a:rPr dirty="0" sz="550" spc="50" b="1">
                <a:latin typeface="Arial"/>
                <a:cs typeface="Arial"/>
              </a:rPr>
              <a:t> </a:t>
            </a:r>
            <a:r>
              <a:rPr dirty="0" sz="550" spc="-10" b="1">
                <a:latin typeface="Arial"/>
                <a:cs typeface="Arial"/>
              </a:rPr>
              <a:t>Cloud</a:t>
            </a:r>
            <a:endParaRPr sz="5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18261" y="2021839"/>
            <a:ext cx="481965" cy="1136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" b="1">
                <a:latin typeface="Arial"/>
                <a:cs typeface="Arial"/>
              </a:rPr>
              <a:t>Hybrid</a:t>
            </a:r>
            <a:r>
              <a:rPr dirty="0" sz="550" spc="50" b="1">
                <a:latin typeface="Arial"/>
                <a:cs typeface="Arial"/>
              </a:rPr>
              <a:t> </a:t>
            </a:r>
            <a:r>
              <a:rPr dirty="0" sz="550" spc="-10" b="1">
                <a:latin typeface="Arial"/>
                <a:cs typeface="Arial"/>
              </a:rPr>
              <a:t>Cloud</a:t>
            </a:r>
            <a:endParaRPr sz="5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5416" y="860805"/>
            <a:ext cx="3375660" cy="422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850" spc="-30" b="1">
                <a:latin typeface="Calibri"/>
                <a:cs typeface="Calibri"/>
              </a:rPr>
              <a:t>Private</a:t>
            </a:r>
            <a:r>
              <a:rPr dirty="0" sz="850" spc="-10" b="1">
                <a:latin typeface="Calibri"/>
                <a:cs typeface="Calibri"/>
              </a:rPr>
              <a:t> Cloud:</a:t>
            </a:r>
            <a:r>
              <a:rPr dirty="0" sz="850" spc="-25" b="1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1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infrastructure </a:t>
            </a:r>
            <a:r>
              <a:rPr dirty="0" sz="850" spc="-20">
                <a:latin typeface="Calibri"/>
                <a:cs typeface="Calibri"/>
              </a:rPr>
              <a:t>is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operated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solely</a:t>
            </a:r>
            <a:r>
              <a:rPr dirty="0" sz="850" spc="-6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for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an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organization.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It</a:t>
            </a:r>
            <a:r>
              <a:rPr dirty="0" sz="850" spc="6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may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be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managed</a:t>
            </a:r>
            <a:r>
              <a:rPr dirty="0" sz="850" spc="-3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by</a:t>
            </a:r>
            <a:r>
              <a:rPr dirty="0" sz="850" spc="-6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organization</a:t>
            </a:r>
            <a:r>
              <a:rPr dirty="0" sz="850" spc="1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</a:t>
            </a:r>
            <a:r>
              <a:rPr dirty="0" sz="850" spc="-4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third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party </a:t>
            </a:r>
            <a:r>
              <a:rPr dirty="0" sz="850">
                <a:latin typeface="Calibri"/>
                <a:cs typeface="Calibri"/>
              </a:rPr>
              <a:t>and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 spc="-35">
                <a:latin typeface="Calibri"/>
                <a:cs typeface="Calibri"/>
              </a:rPr>
              <a:t>may</a:t>
            </a:r>
            <a:r>
              <a:rPr dirty="0" sz="850" spc="-8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exist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on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2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off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the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premises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of</a:t>
            </a:r>
            <a:r>
              <a:rPr dirty="0" sz="850" spc="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-8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organization.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5416" y="1393951"/>
            <a:ext cx="3275965" cy="2914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75"/>
              </a:spcBef>
            </a:pPr>
            <a:r>
              <a:rPr dirty="0" sz="850" b="1">
                <a:latin typeface="Calibri"/>
                <a:cs typeface="Calibri"/>
              </a:rPr>
              <a:t>Public</a:t>
            </a:r>
            <a:r>
              <a:rPr dirty="0" sz="850" spc="5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Cloud:</a:t>
            </a:r>
            <a:r>
              <a:rPr dirty="0" sz="850" spc="-30" b="1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2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infrastructure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is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made</a:t>
            </a:r>
            <a:r>
              <a:rPr dirty="0" sz="850">
                <a:latin typeface="Calibri"/>
                <a:cs typeface="Calibri"/>
              </a:rPr>
              <a:t> </a:t>
            </a:r>
            <a:r>
              <a:rPr dirty="0" sz="850" spc="-35">
                <a:latin typeface="Calibri"/>
                <a:cs typeface="Calibri"/>
              </a:rPr>
              <a:t>available</a:t>
            </a:r>
            <a:r>
              <a:rPr dirty="0" sz="850" spc="-8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to</a:t>
            </a:r>
            <a:r>
              <a:rPr dirty="0" sz="850" spc="6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general</a:t>
            </a:r>
            <a:r>
              <a:rPr dirty="0" sz="850" spc="-5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public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 spc="-50">
                <a:latin typeface="Calibri"/>
                <a:cs typeface="Calibri"/>
              </a:rPr>
              <a:t>a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 spc="-30">
                <a:latin typeface="Calibri"/>
                <a:cs typeface="Calibri"/>
              </a:rPr>
              <a:t>large</a:t>
            </a:r>
            <a:r>
              <a:rPr dirty="0" sz="850" spc="-3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industry </a:t>
            </a:r>
            <a:r>
              <a:rPr dirty="0" sz="850">
                <a:latin typeface="Calibri"/>
                <a:cs typeface="Calibri"/>
              </a:rPr>
              <a:t>group</a:t>
            </a:r>
            <a:r>
              <a:rPr dirty="0" sz="850" spc="-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and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is</a:t>
            </a:r>
            <a:r>
              <a:rPr dirty="0" sz="850" spc="-6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owned</a:t>
            </a:r>
            <a:r>
              <a:rPr dirty="0" sz="850" spc="-25">
                <a:latin typeface="Calibri"/>
                <a:cs typeface="Calibri"/>
              </a:rPr>
              <a:t> by</a:t>
            </a:r>
            <a:r>
              <a:rPr dirty="0" sz="850" spc="-6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an </a:t>
            </a:r>
            <a:r>
              <a:rPr dirty="0" sz="850" spc="-20">
                <a:latin typeface="Calibri"/>
                <a:cs typeface="Calibri"/>
              </a:rPr>
              <a:t>organization</a:t>
            </a:r>
            <a:r>
              <a:rPr dirty="0" sz="85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selling</a:t>
            </a:r>
            <a:r>
              <a:rPr dirty="0" sz="850" spc="-8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cloud</a:t>
            </a:r>
            <a:r>
              <a:rPr dirty="0" sz="850" spc="17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services.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5416" y="1792985"/>
            <a:ext cx="3169285" cy="157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b="1">
                <a:latin typeface="Calibri"/>
                <a:cs typeface="Calibri"/>
              </a:rPr>
              <a:t>Hybrid</a:t>
            </a:r>
            <a:r>
              <a:rPr dirty="0" sz="850" spc="-1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Cloud:</a:t>
            </a:r>
            <a:r>
              <a:rPr dirty="0" sz="850" spc="-35" b="1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The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infrastructure</a:t>
            </a:r>
            <a:r>
              <a:rPr dirty="0" sz="850" spc="-3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is</a:t>
            </a:r>
            <a:r>
              <a:rPr dirty="0" sz="850" spc="-5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a</a:t>
            </a:r>
            <a:r>
              <a:rPr dirty="0" sz="850" spc="-4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composition</a:t>
            </a:r>
            <a:r>
              <a:rPr dirty="0" sz="850" spc="-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of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two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more</a:t>
            </a:r>
            <a:r>
              <a:rPr dirty="0" sz="850" spc="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clouds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15416" y="1925573"/>
            <a:ext cx="3235325" cy="422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0"/>
              </a:spcBef>
            </a:pPr>
            <a:r>
              <a:rPr dirty="0" sz="850" spc="-30">
                <a:latin typeface="Calibri"/>
                <a:cs typeface="Calibri"/>
              </a:rPr>
              <a:t>(private,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30">
                <a:latin typeface="Calibri"/>
                <a:cs typeface="Calibri"/>
              </a:rPr>
              <a:t>community,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4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public)</a:t>
            </a:r>
            <a:r>
              <a:rPr dirty="0" sz="850" spc="-6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that</a:t>
            </a:r>
            <a:r>
              <a:rPr dirty="0" sz="850" spc="5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remain</a:t>
            </a:r>
            <a:r>
              <a:rPr dirty="0" sz="85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unique</a:t>
            </a:r>
            <a:r>
              <a:rPr dirty="0" sz="850" spc="-1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entities</a:t>
            </a:r>
            <a:r>
              <a:rPr dirty="0" sz="850" spc="-1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but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are</a:t>
            </a:r>
            <a:r>
              <a:rPr dirty="0" sz="850" spc="-1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bound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together</a:t>
            </a:r>
            <a:r>
              <a:rPr dirty="0" sz="850" spc="170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by</a:t>
            </a:r>
            <a:r>
              <a:rPr dirty="0" sz="850" spc="-65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standardized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or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proprietary</a:t>
            </a:r>
            <a:r>
              <a:rPr dirty="0" sz="850" spc="3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technology</a:t>
            </a:r>
            <a:r>
              <a:rPr dirty="0" sz="850" spc="-30">
                <a:latin typeface="Calibri"/>
                <a:cs typeface="Calibri"/>
              </a:rPr>
              <a:t> </a:t>
            </a:r>
            <a:r>
              <a:rPr dirty="0" sz="850">
                <a:latin typeface="Calibri"/>
                <a:cs typeface="Calibri"/>
              </a:rPr>
              <a:t>that</a:t>
            </a:r>
            <a:r>
              <a:rPr dirty="0" sz="850" spc="2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enables</a:t>
            </a:r>
            <a:r>
              <a:rPr dirty="0" sz="850" spc="-60">
                <a:latin typeface="Calibri"/>
                <a:cs typeface="Calibri"/>
              </a:rPr>
              <a:t> </a:t>
            </a:r>
            <a:r>
              <a:rPr dirty="0" sz="850" spc="-20">
                <a:latin typeface="Calibri"/>
                <a:cs typeface="Calibri"/>
              </a:rPr>
              <a:t>data</a:t>
            </a:r>
            <a:r>
              <a:rPr dirty="0" sz="850" spc="-5">
                <a:latin typeface="Calibri"/>
                <a:cs typeface="Calibri"/>
              </a:rPr>
              <a:t> </a:t>
            </a:r>
            <a:r>
              <a:rPr dirty="0" sz="850" spc="-25">
                <a:latin typeface="Calibri"/>
                <a:cs typeface="Calibri"/>
              </a:rPr>
              <a:t>and</a:t>
            </a:r>
            <a:r>
              <a:rPr dirty="0" sz="850" spc="500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application</a:t>
            </a:r>
            <a:r>
              <a:rPr dirty="0" sz="850" spc="65">
                <a:latin typeface="Calibri"/>
                <a:cs typeface="Calibri"/>
              </a:rPr>
              <a:t> </a:t>
            </a:r>
            <a:r>
              <a:rPr dirty="0" sz="850" spc="-10">
                <a:latin typeface="Calibri"/>
                <a:cs typeface="Calibri"/>
              </a:rPr>
              <a:t>portability.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172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05"/>
              </a:spcBef>
            </a:pPr>
            <a:r>
              <a:rPr dirty="0" sz="2000" spc="-25"/>
              <a:t>Virtualization</a:t>
            </a:r>
            <a:endParaRPr sz="2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75" y="791209"/>
            <a:ext cx="252984" cy="14325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75" y="1089913"/>
            <a:ext cx="252984" cy="14325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93675" y="769365"/>
            <a:ext cx="4159250" cy="2407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8435" marR="53403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7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virtual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machine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(VM)</a:t>
            </a:r>
            <a:r>
              <a:rPr dirty="0" sz="1000" spc="-7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is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software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implementation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machine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(for </a:t>
            </a:r>
            <a:r>
              <a:rPr dirty="0" sz="1000" spc="-40">
                <a:latin typeface="Calibri"/>
                <a:cs typeface="Calibri"/>
              </a:rPr>
              <a:t>example,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12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computer)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 </a:t>
            </a:r>
            <a:r>
              <a:rPr dirty="0" sz="1000" spc="-40">
                <a:latin typeface="Calibri"/>
                <a:cs typeface="Calibri"/>
              </a:rPr>
              <a:t>executes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programs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like</a:t>
            </a:r>
            <a:r>
              <a:rPr dirty="0" sz="1000" spc="-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physical</a:t>
            </a:r>
            <a:r>
              <a:rPr dirty="0" sz="1000" spc="1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machine</a:t>
            </a:r>
            <a:endParaRPr sz="1000">
              <a:latin typeface="Calibri"/>
              <a:cs typeface="Calibri"/>
            </a:endParaRPr>
          </a:p>
          <a:p>
            <a:pPr marL="178435" marR="206375">
              <a:lnSpc>
                <a:spcPts val="1150"/>
              </a:lnSpc>
              <a:spcBef>
                <a:spcPts val="30"/>
              </a:spcBef>
            </a:pPr>
            <a:r>
              <a:rPr dirty="0" sz="1000">
                <a:latin typeface="Calibri"/>
                <a:cs typeface="Calibri"/>
              </a:rPr>
              <a:t>Each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VM</a:t>
            </a:r>
            <a:r>
              <a:rPr dirty="0" sz="1000" spc="-9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is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fully</a:t>
            </a:r>
            <a:r>
              <a:rPr dirty="0" sz="1000" spc="-8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protected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isolated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copy</a:t>
            </a:r>
            <a:r>
              <a:rPr dirty="0" sz="1000" spc="-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physical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machine.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is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used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r>
              <a:rPr dirty="0" sz="1000" spc="-10">
                <a:latin typeface="Calibri"/>
                <a:cs typeface="Calibri"/>
              </a:rPr>
              <a:t> share</a:t>
            </a:r>
            <a:endParaRPr sz="1000">
              <a:latin typeface="Calibri"/>
              <a:cs typeface="Calibri"/>
            </a:endParaRPr>
          </a:p>
          <a:p>
            <a:pPr algn="just" marL="178435" marR="369570">
              <a:lnSpc>
                <a:spcPct val="95600"/>
              </a:lnSpc>
              <a:spcBef>
                <a:spcPts val="25"/>
              </a:spcBef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expensive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hardware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which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helped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reduce </a:t>
            </a:r>
            <a:r>
              <a:rPr dirty="0" sz="1000" spc="-10">
                <a:latin typeface="Calibri"/>
                <a:cs typeface="Calibri"/>
              </a:rPr>
              <a:t>costs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also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helped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r>
              <a:rPr dirty="0" sz="1000" spc="50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improve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productivity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as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many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users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can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concurrently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used</a:t>
            </a:r>
            <a:r>
              <a:rPr dirty="0" sz="1000">
                <a:latin typeface="Calibri"/>
                <a:cs typeface="Calibri"/>
              </a:rPr>
              <a:t> 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same </a:t>
            </a:r>
            <a:r>
              <a:rPr dirty="0" sz="1000" spc="-10">
                <a:latin typeface="Calibri"/>
                <a:cs typeface="Calibri"/>
              </a:rPr>
              <a:t>hardware</a:t>
            </a:r>
            <a:endParaRPr sz="1000">
              <a:latin typeface="Calibri"/>
              <a:cs typeface="Calibri"/>
            </a:endParaRPr>
          </a:p>
          <a:p>
            <a:pPr marL="114935" indent="-10223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14935" algn="l"/>
              </a:tabLst>
            </a:pPr>
            <a:r>
              <a:rPr dirty="0" sz="1000" b="1">
                <a:latin typeface="Calibri"/>
                <a:cs typeface="Calibri"/>
              </a:rPr>
              <a:t>Need</a:t>
            </a:r>
            <a:r>
              <a:rPr dirty="0" sz="1000" spc="145" b="1">
                <a:latin typeface="Calibri"/>
                <a:cs typeface="Calibri"/>
              </a:rPr>
              <a:t> </a:t>
            </a:r>
            <a:r>
              <a:rPr dirty="0" sz="1000" spc="-40" b="1">
                <a:latin typeface="Calibri"/>
                <a:cs typeface="Calibri"/>
              </a:rPr>
              <a:t>for</a:t>
            </a:r>
            <a:r>
              <a:rPr dirty="0" sz="1000" spc="-35" b="1">
                <a:latin typeface="Calibri"/>
                <a:cs typeface="Calibri"/>
              </a:rPr>
              <a:t> Server</a:t>
            </a:r>
            <a:r>
              <a:rPr dirty="0" sz="1000" spc="25" b="1">
                <a:latin typeface="Calibri"/>
                <a:cs typeface="Calibri"/>
              </a:rPr>
              <a:t> </a:t>
            </a:r>
            <a:r>
              <a:rPr dirty="0" sz="1000" spc="-10" b="1">
                <a:latin typeface="Calibri"/>
                <a:cs typeface="Calibri"/>
              </a:rPr>
              <a:t>virtualization</a:t>
            </a:r>
            <a:endParaRPr sz="1000">
              <a:latin typeface="Calibri"/>
              <a:cs typeface="Calibri"/>
            </a:endParaRPr>
          </a:p>
          <a:p>
            <a:pPr lvl="1" marL="280035" marR="5080" indent="-102235">
              <a:lnSpc>
                <a:spcPct val="100000"/>
              </a:lnSpc>
              <a:buFont typeface="Arial MT"/>
              <a:buChar char="•"/>
              <a:tabLst>
                <a:tab pos="281940" algn="l"/>
              </a:tabLst>
            </a:pP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case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server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consolidation,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many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small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physical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servers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are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replaced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by</a:t>
            </a:r>
            <a:r>
              <a:rPr dirty="0" sz="1000">
                <a:latin typeface="Calibri"/>
                <a:cs typeface="Calibri"/>
              </a:rPr>
              <a:t> 	one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larger </a:t>
            </a:r>
            <a:r>
              <a:rPr dirty="0" sz="1000" spc="-45">
                <a:latin typeface="Calibri"/>
                <a:cs typeface="Calibri"/>
              </a:rPr>
              <a:t>physical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server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increase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 </a:t>
            </a:r>
            <a:r>
              <a:rPr dirty="0" sz="1000" spc="-30">
                <a:latin typeface="Calibri"/>
                <a:cs typeface="Calibri"/>
              </a:rPr>
              <a:t>utilization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costly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hardware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resources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17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as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CPU.</a:t>
            </a:r>
            <a:endParaRPr sz="1000">
              <a:latin typeface="Calibri"/>
              <a:cs typeface="Calibri"/>
            </a:endParaRPr>
          </a:p>
          <a:p>
            <a:pPr lvl="1" marL="280035" marR="144780" indent="-102235">
              <a:lnSpc>
                <a:spcPts val="1150"/>
              </a:lnSpc>
              <a:spcBef>
                <a:spcPts val="80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8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virtual machine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can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more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easily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controlled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and</a:t>
            </a:r>
            <a:r>
              <a:rPr dirty="0" sz="1000" spc="-25">
                <a:latin typeface="Calibri"/>
                <a:cs typeface="Calibri"/>
              </a:rPr>
              <a:t> inspected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-10">
                <a:latin typeface="Calibri"/>
                <a:cs typeface="Calibri"/>
              </a:rPr>
              <a:t> outside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than a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physical</a:t>
            </a:r>
            <a:r>
              <a:rPr dirty="0" sz="1000" spc="-20">
                <a:latin typeface="Calibri"/>
                <a:cs typeface="Calibri"/>
              </a:rPr>
              <a:t> one,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its</a:t>
            </a:r>
            <a:r>
              <a:rPr dirty="0" sz="1000" spc="-25">
                <a:latin typeface="Calibri"/>
                <a:cs typeface="Calibri"/>
              </a:rPr>
              <a:t> configuration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is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more</a:t>
            </a:r>
            <a:r>
              <a:rPr dirty="0" sz="1000" spc="1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flexible.</a:t>
            </a:r>
            <a:endParaRPr sz="1000">
              <a:latin typeface="Calibri"/>
              <a:cs typeface="Calibri"/>
            </a:endParaRPr>
          </a:p>
          <a:p>
            <a:pPr lvl="1" marL="280670" indent="-102235">
              <a:lnSpc>
                <a:spcPts val="1030"/>
              </a:lnSpc>
              <a:buFont typeface="Arial MT"/>
              <a:buChar char="•"/>
              <a:tabLst>
                <a:tab pos="280670" algn="l"/>
              </a:tabLst>
            </a:pP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8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new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virtual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machine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can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be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provisioned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needed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without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need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</a:t>
            </a:r>
            <a:endParaRPr sz="1000">
              <a:latin typeface="Calibri"/>
              <a:cs typeface="Calibri"/>
            </a:endParaRPr>
          </a:p>
          <a:p>
            <a:pPr marL="281940">
              <a:lnSpc>
                <a:spcPts val="1150"/>
              </a:lnSpc>
            </a:pPr>
            <a:r>
              <a:rPr dirty="0" sz="1000">
                <a:latin typeface="Calibri"/>
                <a:cs typeface="Calibri"/>
              </a:rPr>
              <a:t>up-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front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hardware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purchase.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920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dirty="0" sz="1800" spc="-10"/>
              <a:t>Container</a:t>
            </a:r>
            <a:endParaRPr sz="1800"/>
          </a:p>
        </p:txBody>
      </p:sp>
      <p:sp>
        <p:nvSpPr>
          <p:cNvPr id="4" name="object 4" descr=""/>
          <p:cNvSpPr txBox="1"/>
          <p:nvPr/>
        </p:nvSpPr>
        <p:spPr>
          <a:xfrm>
            <a:off x="67157" y="711199"/>
            <a:ext cx="4419600" cy="2508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935" indent="-102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4935" algn="l"/>
              </a:tabLst>
            </a:pPr>
            <a:r>
              <a:rPr dirty="0" sz="1000" spc="-20" b="1">
                <a:latin typeface="Calibri"/>
                <a:cs typeface="Calibri"/>
              </a:rPr>
              <a:t>Containers </a:t>
            </a:r>
            <a:r>
              <a:rPr dirty="0" sz="1000" b="1">
                <a:latin typeface="Calibri"/>
                <a:cs typeface="Calibri"/>
              </a:rPr>
              <a:t>and</a:t>
            </a:r>
            <a:r>
              <a:rPr dirty="0" sz="1000" spc="-10" b="1">
                <a:latin typeface="Calibri"/>
                <a:cs typeface="Calibri"/>
              </a:rPr>
              <a:t> </a:t>
            </a:r>
            <a:r>
              <a:rPr dirty="0" sz="1000" spc="-25" b="1">
                <a:latin typeface="Calibri"/>
                <a:cs typeface="Calibri"/>
              </a:rPr>
              <a:t>VMs</a:t>
            </a:r>
            <a:endParaRPr sz="1000">
              <a:latin typeface="Calibri"/>
              <a:cs typeface="Calibri"/>
            </a:endParaRPr>
          </a:p>
          <a:p>
            <a:pPr lvl="1" marL="280035" marR="170815" indent="-102235">
              <a:lnSpc>
                <a:spcPts val="1150"/>
              </a:lnSpc>
              <a:spcBef>
                <a:spcPts val="80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000" spc="-75">
                <a:latin typeface="Calibri"/>
                <a:cs typeface="Calibri"/>
              </a:rPr>
              <a:t>To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isolate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application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its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dependencies </a:t>
            </a:r>
            <a:r>
              <a:rPr dirty="0" sz="1000" spc="-10">
                <a:latin typeface="Calibri"/>
                <a:cs typeface="Calibri"/>
              </a:rPr>
              <a:t>into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self-contained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unit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can</a:t>
            </a:r>
            <a:r>
              <a:rPr dirty="0" sz="1000">
                <a:latin typeface="Calibri"/>
                <a:cs typeface="Calibri"/>
              </a:rPr>
              <a:t> 	run</a:t>
            </a:r>
            <a:r>
              <a:rPr dirty="0" sz="1000" spc="254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anywhere</a:t>
            </a:r>
            <a:endParaRPr sz="1000">
              <a:latin typeface="Calibri"/>
              <a:cs typeface="Calibri"/>
            </a:endParaRPr>
          </a:p>
          <a:p>
            <a:pPr lvl="1" marL="280670" indent="-102235">
              <a:lnSpc>
                <a:spcPts val="1100"/>
              </a:lnSpc>
              <a:buFont typeface="Arial MT"/>
              <a:buChar char="•"/>
              <a:tabLst>
                <a:tab pos="280670" algn="l"/>
              </a:tabLst>
            </a:pPr>
            <a:r>
              <a:rPr dirty="0" sz="1000" spc="-50">
                <a:latin typeface="Calibri"/>
                <a:cs typeface="Calibri"/>
              </a:rPr>
              <a:t>Remove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need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physical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hardware,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allowing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more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efficient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use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of</a:t>
            </a:r>
            <a:endParaRPr sz="1000">
              <a:latin typeface="Calibri"/>
              <a:cs typeface="Calibri"/>
            </a:endParaRPr>
          </a:p>
          <a:p>
            <a:pPr marL="281940" marR="678180">
              <a:lnSpc>
                <a:spcPts val="1140"/>
              </a:lnSpc>
              <a:spcBef>
                <a:spcPts val="65"/>
              </a:spcBef>
            </a:pPr>
            <a:r>
              <a:rPr dirty="0" sz="1000" spc="-10">
                <a:latin typeface="Calibri"/>
                <a:cs typeface="Calibri"/>
              </a:rPr>
              <a:t>computing</a:t>
            </a:r>
            <a:r>
              <a:rPr dirty="0" sz="1000" spc="15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resources,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both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terms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energy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consumption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and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cost </a:t>
            </a:r>
            <a:r>
              <a:rPr dirty="0" sz="1000" spc="-10">
                <a:latin typeface="Calibri"/>
                <a:cs typeface="Calibri"/>
              </a:rPr>
              <a:t>effectiveness.</a:t>
            </a:r>
            <a:endParaRPr sz="1000">
              <a:latin typeface="Calibri"/>
              <a:cs typeface="Calibri"/>
            </a:endParaRPr>
          </a:p>
          <a:p>
            <a:pPr marL="114935" indent="-102235">
              <a:lnSpc>
                <a:spcPts val="1075"/>
              </a:lnSpc>
              <a:buFont typeface="Arial MT"/>
              <a:buChar char="•"/>
              <a:tabLst>
                <a:tab pos="114935" algn="l"/>
              </a:tabLst>
            </a:pPr>
            <a:r>
              <a:rPr dirty="0" sz="1000" spc="-10" b="1">
                <a:latin typeface="Calibri"/>
                <a:cs typeface="Calibri"/>
              </a:rPr>
              <a:t>Containers</a:t>
            </a:r>
            <a:endParaRPr sz="1000">
              <a:latin typeface="Calibri"/>
              <a:cs typeface="Calibri"/>
            </a:endParaRPr>
          </a:p>
          <a:p>
            <a:pPr lvl="1" marL="280035" marR="120014" indent="-102235">
              <a:lnSpc>
                <a:spcPts val="1150"/>
              </a:lnSpc>
              <a:spcBef>
                <a:spcPts val="80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000" spc="-35">
                <a:latin typeface="Calibri"/>
                <a:cs typeface="Calibri"/>
              </a:rPr>
              <a:t>virtualize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 </a:t>
            </a:r>
            <a:r>
              <a:rPr dirty="0" sz="1000" spc="-25">
                <a:latin typeface="Calibri"/>
                <a:cs typeface="Calibri"/>
              </a:rPr>
              <a:t>operating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system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level,</a:t>
            </a:r>
            <a:r>
              <a:rPr dirty="0" sz="1000" spc="-5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with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multiple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containers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running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atop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 	OS</a:t>
            </a:r>
            <a:r>
              <a:rPr dirty="0" sz="1000" spc="16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kernel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directly</a:t>
            </a:r>
            <a:endParaRPr sz="1000">
              <a:latin typeface="Calibri"/>
              <a:cs typeface="Calibri"/>
            </a:endParaRPr>
          </a:p>
          <a:p>
            <a:pPr lvl="1" marL="280035" marR="196215" indent="-102235">
              <a:lnSpc>
                <a:spcPts val="1090"/>
              </a:lnSpc>
              <a:spcBef>
                <a:spcPts val="5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000" spc="-20">
                <a:latin typeface="Calibri"/>
                <a:cs typeface="Calibri"/>
              </a:rPr>
              <a:t>container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provides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operating-</a:t>
            </a:r>
            <a:r>
              <a:rPr dirty="0" sz="1000" spc="-45">
                <a:latin typeface="Calibri"/>
                <a:cs typeface="Calibri"/>
              </a:rPr>
              <a:t>system-</a:t>
            </a:r>
            <a:r>
              <a:rPr dirty="0" sz="1000" spc="-20">
                <a:latin typeface="Calibri"/>
                <a:cs typeface="Calibri"/>
              </a:rPr>
              <a:t>level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virtualization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by</a:t>
            </a:r>
            <a:r>
              <a:rPr dirty="0" sz="1000" spc="-8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abstracting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“user 	space”</a:t>
            </a:r>
            <a:endParaRPr sz="1000">
              <a:latin typeface="Calibri"/>
              <a:cs typeface="Calibri"/>
            </a:endParaRPr>
          </a:p>
          <a:p>
            <a:pPr lvl="1" marL="280670" indent="-102235">
              <a:lnSpc>
                <a:spcPts val="1115"/>
              </a:lnSpc>
              <a:buFont typeface="Arial MT"/>
              <a:buChar char="•"/>
              <a:tabLst>
                <a:tab pos="280670" algn="l"/>
              </a:tabLst>
            </a:pPr>
            <a:r>
              <a:rPr dirty="0" sz="1000" spc="-40">
                <a:latin typeface="Calibri"/>
                <a:cs typeface="Calibri"/>
              </a:rPr>
              <a:t>ability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create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predictable</a:t>
            </a:r>
            <a:r>
              <a:rPr dirty="0" sz="1000" spc="-9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environments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 </a:t>
            </a:r>
            <a:r>
              <a:rPr dirty="0" sz="1000" spc="-25">
                <a:latin typeface="Calibri"/>
                <a:cs typeface="Calibri"/>
              </a:rPr>
              <a:t>are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isolated</a:t>
            </a:r>
            <a:r>
              <a:rPr dirty="0" sz="1000">
                <a:latin typeface="Calibri"/>
                <a:cs typeface="Calibri"/>
              </a:rPr>
              <a:t> from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other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applications</a:t>
            </a:r>
            <a:endParaRPr sz="1000">
              <a:latin typeface="Calibri"/>
              <a:cs typeface="Calibri"/>
            </a:endParaRPr>
          </a:p>
          <a:p>
            <a:pPr lvl="1" marL="280670" indent="-102235">
              <a:lnSpc>
                <a:spcPts val="1175"/>
              </a:lnSpc>
              <a:buFont typeface="Arial MT"/>
              <a:buChar char="•"/>
              <a:tabLst>
                <a:tab pos="280670" algn="l"/>
              </a:tabLst>
            </a:pPr>
            <a:r>
              <a:rPr dirty="0" sz="1000">
                <a:latin typeface="Calibri"/>
                <a:cs typeface="Calibri"/>
              </a:rPr>
              <a:t>run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virtually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anywhere,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greatly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easing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development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0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deployment</a:t>
            </a:r>
            <a:endParaRPr sz="1000">
              <a:latin typeface="Calibri"/>
              <a:cs typeface="Calibri"/>
            </a:endParaRPr>
          </a:p>
          <a:p>
            <a:pPr lvl="1" marL="280035" marR="130810" indent="-102235">
              <a:lnSpc>
                <a:spcPts val="1150"/>
              </a:lnSpc>
              <a:spcBef>
                <a:spcPts val="80"/>
              </a:spcBef>
              <a:buFont typeface="Arial MT"/>
              <a:buChar char="•"/>
              <a:tabLst>
                <a:tab pos="281940" algn="l"/>
              </a:tabLst>
            </a:pPr>
            <a:r>
              <a:rPr dirty="0" sz="1000" spc="-35">
                <a:latin typeface="Calibri"/>
                <a:cs typeface="Calibri"/>
              </a:rPr>
              <a:t>virtualize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CPU,</a:t>
            </a:r>
            <a:r>
              <a:rPr dirty="0" sz="1000" spc="-80">
                <a:latin typeface="Calibri"/>
                <a:cs typeface="Calibri"/>
              </a:rPr>
              <a:t> </a:t>
            </a:r>
            <a:r>
              <a:rPr dirty="0" sz="1000" spc="-45">
                <a:latin typeface="Calibri"/>
                <a:cs typeface="Calibri"/>
              </a:rPr>
              <a:t>memory,</a:t>
            </a:r>
            <a:r>
              <a:rPr dirty="0" sz="1000" spc="-30">
                <a:latin typeface="Calibri"/>
                <a:cs typeface="Calibri"/>
              </a:rPr>
              <a:t> storage,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network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resources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OS-</a:t>
            </a:r>
            <a:r>
              <a:rPr dirty="0" sz="1000" spc="-35">
                <a:latin typeface="Calibri"/>
                <a:cs typeface="Calibri"/>
              </a:rPr>
              <a:t>level,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providing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 spc="-30">
                <a:latin typeface="Calibri"/>
                <a:cs typeface="Calibri"/>
              </a:rPr>
              <a:t>developers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with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sandboxed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 spc="-40">
                <a:latin typeface="Calibri"/>
                <a:cs typeface="Calibri"/>
              </a:rPr>
              <a:t>view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 the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OS </a:t>
            </a:r>
            <a:r>
              <a:rPr dirty="0" sz="1000" spc="-45">
                <a:latin typeface="Calibri"/>
                <a:cs typeface="Calibri"/>
              </a:rPr>
              <a:t>logically</a:t>
            </a:r>
            <a:r>
              <a:rPr dirty="0" sz="1000" spc="-10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isolated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other 	applications.</a:t>
            </a:r>
            <a:endParaRPr sz="1000">
              <a:latin typeface="Calibri"/>
              <a:cs typeface="Calibri"/>
            </a:endParaRPr>
          </a:p>
          <a:p>
            <a:pPr lvl="1" marL="280670" indent="-102235">
              <a:lnSpc>
                <a:spcPts val="1065"/>
              </a:lnSpc>
              <a:buFont typeface="Arial MT"/>
              <a:buChar char="•"/>
              <a:tabLst>
                <a:tab pos="280670" algn="l"/>
              </a:tabLst>
            </a:pPr>
            <a:r>
              <a:rPr dirty="0" sz="1000" spc="-25">
                <a:latin typeface="Calibri"/>
                <a:cs typeface="Calibri"/>
              </a:rPr>
              <a:t>Ex: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Docker,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LXC,</a:t>
            </a:r>
            <a:r>
              <a:rPr dirty="0" sz="1000" spc="-1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Kubernetes,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FreeBSD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Jails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etc..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5178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95"/>
              </a:spcBef>
            </a:pPr>
            <a:r>
              <a:rPr dirty="0"/>
              <a:t>DevOps–</a:t>
            </a:r>
            <a:r>
              <a:rPr dirty="0" spc="45"/>
              <a:t> </a:t>
            </a:r>
            <a:r>
              <a:rPr dirty="0"/>
              <a:t>Cloud as a</a:t>
            </a:r>
            <a:r>
              <a:rPr dirty="0" spc="-105"/>
              <a:t> </a:t>
            </a:r>
            <a:r>
              <a:rPr dirty="0" spc="-10"/>
              <a:t>catalyst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73736" y="846073"/>
            <a:ext cx="253365" cy="295910"/>
            <a:chOff x="173736" y="846073"/>
            <a:chExt cx="253365" cy="2959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6" y="846073"/>
              <a:ext cx="252984" cy="14325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6" y="998473"/>
              <a:ext cx="252984" cy="143255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" y="1608073"/>
            <a:ext cx="252984" cy="14325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36" y="1901062"/>
            <a:ext cx="252984" cy="14325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736" y="2338450"/>
            <a:ext cx="252984" cy="14325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736" y="2624962"/>
            <a:ext cx="252984" cy="14325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27152" y="824229"/>
            <a:ext cx="4090035" cy="2108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alibri"/>
                <a:cs typeface="Calibri"/>
              </a:rPr>
              <a:t>Cloud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35">
                <a:latin typeface="Calibri"/>
                <a:cs typeface="Calibri"/>
              </a:rPr>
              <a:t>key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enabler</a:t>
            </a:r>
            <a:r>
              <a:rPr dirty="0" sz="1000" spc="-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affected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DevOps.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helps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DevOps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mature.</a:t>
            </a:r>
            <a:endParaRPr sz="1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traditional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organizations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physical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servers,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requesting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new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server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is</a:t>
            </a:r>
            <a:r>
              <a:rPr dirty="0" sz="1000">
                <a:latin typeface="Calibri"/>
                <a:cs typeface="Calibri"/>
              </a:rPr>
              <a:t> a</a:t>
            </a:r>
            <a:r>
              <a:rPr dirty="0" sz="1000" spc="25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complex,</a:t>
            </a:r>
            <a:r>
              <a:rPr dirty="0" sz="1000" spc="2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time-consuming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process.</a:t>
            </a:r>
            <a:r>
              <a:rPr dirty="0" sz="1000" spc="2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2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may</a:t>
            </a:r>
            <a:r>
              <a:rPr dirty="0" sz="1000" spc="2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take</a:t>
            </a:r>
            <a:r>
              <a:rPr dirty="0" sz="1000" spc="2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days</a:t>
            </a:r>
            <a:r>
              <a:rPr dirty="0" sz="1000" spc="2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2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even</a:t>
            </a:r>
            <a:r>
              <a:rPr dirty="0" sz="1000" spc="2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weeks</a:t>
            </a:r>
            <a:r>
              <a:rPr dirty="0" sz="1000" spc="27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r>
              <a:rPr dirty="0" sz="1000">
                <a:latin typeface="Calibri"/>
                <a:cs typeface="Calibri"/>
              </a:rPr>
              <a:t> requisition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 new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physical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server,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install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set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up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operating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system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(OS),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configure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all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 </a:t>
            </a:r>
            <a:r>
              <a:rPr dirty="0" sz="1000" spc="-25">
                <a:latin typeface="Calibri"/>
                <a:cs typeface="Calibri"/>
              </a:rPr>
              <a:t>software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required</a:t>
            </a:r>
            <a:r>
              <a:rPr dirty="0" sz="1000" spc="-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deploy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application.</a:t>
            </a:r>
            <a:endParaRPr sz="1000">
              <a:latin typeface="Calibri"/>
              <a:cs typeface="Calibri"/>
            </a:endParaRPr>
          </a:p>
          <a:p>
            <a:pPr marL="12700" marR="467995">
              <a:lnSpc>
                <a:spcPts val="1160"/>
              </a:lnSpc>
              <a:spcBef>
                <a:spcPts val="70"/>
              </a:spcBef>
            </a:pPr>
            <a:r>
              <a:rPr dirty="0" sz="1000" spc="-10">
                <a:latin typeface="Calibri"/>
                <a:cs typeface="Calibri"/>
              </a:rPr>
              <a:t>Pervasiveness</a:t>
            </a:r>
            <a:r>
              <a:rPr dirty="0" sz="1000" spc="1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cloud</a:t>
            </a:r>
            <a:r>
              <a:rPr dirty="0" sz="1000" spc="16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technology,</a:t>
            </a:r>
            <a:r>
              <a:rPr dirty="0" sz="1000" spc="13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private,</a:t>
            </a:r>
            <a:r>
              <a:rPr dirty="0" sz="1000" spc="2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public,</a:t>
            </a:r>
            <a:r>
              <a:rPr dirty="0" sz="1000" spc="2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1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hybrid,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has</a:t>
            </a:r>
            <a:r>
              <a:rPr dirty="0" sz="1000">
                <a:latin typeface="Calibri"/>
                <a:cs typeface="Calibri"/>
              </a:rPr>
              <a:t> enabled</a:t>
            </a:r>
            <a:r>
              <a:rPr dirty="0" sz="1000" spc="2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organizations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provision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environments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demand.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090"/>
              </a:lnSpc>
            </a:pPr>
            <a:r>
              <a:rPr dirty="0" sz="1000" spc="-25">
                <a:solidFill>
                  <a:srgbClr val="FF0000"/>
                </a:solidFill>
                <a:latin typeface="Calibri"/>
                <a:cs typeface="Calibri"/>
              </a:rPr>
              <a:t>Virtualization</a:t>
            </a:r>
            <a:r>
              <a:rPr dirty="0" sz="1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Cloud </a:t>
            </a:r>
            <a:r>
              <a:rPr dirty="0" sz="1000">
                <a:latin typeface="Calibri"/>
                <a:cs typeface="Calibri"/>
              </a:rPr>
              <a:t>solve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that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problem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large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extent.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This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endParaRPr sz="1000">
              <a:latin typeface="Calibri"/>
              <a:cs typeface="Calibri"/>
            </a:endParaRPr>
          </a:p>
          <a:p>
            <a:pPr marL="12700" marR="13335">
              <a:lnSpc>
                <a:spcPts val="1090"/>
              </a:lnSpc>
              <a:spcBef>
                <a:spcPts val="105"/>
              </a:spcBef>
            </a:pPr>
            <a:r>
              <a:rPr dirty="0" sz="1000">
                <a:latin typeface="Calibri"/>
                <a:cs typeface="Calibri"/>
              </a:rPr>
              <a:t>tremendous</a:t>
            </a:r>
            <a:r>
              <a:rPr dirty="0" sz="1000" spc="3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growth</a:t>
            </a:r>
            <a:r>
              <a:rPr dirty="0" sz="1000" spc="3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4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scale</a:t>
            </a:r>
            <a:r>
              <a:rPr dirty="0" sz="1000" spc="3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3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which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environments</a:t>
            </a:r>
            <a:r>
              <a:rPr dirty="0" sz="1000" spc="3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5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which applications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30">
                <a:latin typeface="Calibri"/>
                <a:cs typeface="Calibri"/>
              </a:rPr>
              <a:t>are</a:t>
            </a:r>
            <a:r>
              <a:rPr dirty="0" sz="1000" spc="-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deployed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are</a:t>
            </a:r>
            <a:r>
              <a:rPr dirty="0" sz="100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used.</a:t>
            </a:r>
            <a:endParaRPr sz="1000">
              <a:latin typeface="Calibri"/>
              <a:cs typeface="Calibri"/>
            </a:endParaRPr>
          </a:p>
          <a:p>
            <a:pPr marL="12700" marR="114300">
              <a:lnSpc>
                <a:spcPts val="1150"/>
              </a:lnSpc>
              <a:spcBef>
                <a:spcPts val="65"/>
              </a:spcBef>
            </a:pPr>
            <a:r>
              <a:rPr dirty="0" sz="1000">
                <a:latin typeface="Calibri"/>
                <a:cs typeface="Calibri"/>
              </a:rPr>
              <a:t>This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scale</a:t>
            </a:r>
            <a:r>
              <a:rPr dirty="0" sz="100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necessitated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automation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software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deployment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tasks,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which </a:t>
            </a:r>
            <a:r>
              <a:rPr dirty="0" sz="1000">
                <a:latin typeface="Calibri"/>
                <a:cs typeface="Calibri"/>
              </a:rPr>
              <a:t>DevOps</a:t>
            </a:r>
            <a:r>
              <a:rPr dirty="0" sz="1000" spc="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addresses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075"/>
              </a:lnSpc>
            </a:pPr>
            <a:r>
              <a:rPr dirty="0" sz="1000" spc="-10">
                <a:latin typeface="Calibri"/>
                <a:cs typeface="Calibri"/>
              </a:rPr>
              <a:t>Ability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6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dirty="0" sz="1000" spc="1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1000" spc="1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r>
              <a:rPr dirty="0" sz="1000" spc="2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environments</a:t>
            </a:r>
            <a:r>
              <a:rPr dirty="0" sz="1000" spc="1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simply,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FF0000"/>
                </a:solidFill>
                <a:latin typeface="Calibri"/>
                <a:cs typeface="Calibri"/>
              </a:rPr>
              <a:t>ability</a:t>
            </a:r>
            <a:r>
              <a:rPr dirty="0" sz="1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dirty="0" sz="100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FF0000"/>
                </a:solidFill>
                <a:latin typeface="Calibri"/>
                <a:cs typeface="Calibri"/>
              </a:rPr>
              <a:t>VMs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latin typeface="Calibri"/>
                <a:cs typeface="Calibri"/>
              </a:rPr>
              <a:t>easily,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management</a:t>
            </a:r>
            <a:r>
              <a:rPr dirty="0" sz="1000" spc="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databases</a:t>
            </a:r>
            <a:r>
              <a:rPr dirty="0" sz="1000" spc="-9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FF0000"/>
                </a:solidFill>
                <a:latin typeface="Calibri"/>
                <a:cs typeface="Calibri"/>
              </a:rPr>
              <a:t>etc..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084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95"/>
              </a:spcBef>
            </a:pPr>
            <a:r>
              <a:rPr dirty="0"/>
              <a:t>DevOps–</a:t>
            </a:r>
            <a:r>
              <a:rPr dirty="0" spc="55"/>
              <a:t> </a:t>
            </a:r>
            <a:r>
              <a:rPr dirty="0"/>
              <a:t>Cloud</a:t>
            </a:r>
            <a:r>
              <a:rPr dirty="0" spc="5"/>
              <a:t> </a:t>
            </a:r>
            <a:r>
              <a:rPr dirty="0"/>
              <a:t>as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 spc="-10"/>
              <a:t>catalyst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00" y="885443"/>
            <a:ext cx="304800" cy="1737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00" y="1434083"/>
            <a:ext cx="304800" cy="17373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74065" y="860551"/>
            <a:ext cx="4091304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advent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actually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facilitates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continuous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deployment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provides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dirty="0" sz="1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2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production</a:t>
            </a:r>
            <a:r>
              <a:rPr dirty="0" sz="1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dirty="0" sz="1200" spc="-20">
                <a:solidFill>
                  <a:srgbClr val="FF0000"/>
                </a:solidFill>
                <a:latin typeface="Calibri"/>
                <a:cs typeface="Calibri"/>
              </a:rPr>
              <a:t> environments </a:t>
            </a:r>
            <a:r>
              <a:rPr dirty="0" sz="1200" spc="-10">
                <a:latin typeface="Calibri"/>
                <a:cs typeface="Calibri"/>
              </a:rPr>
              <a:t>during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development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stages 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deliverypipeline.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Developer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invoke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automated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build,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also </a:t>
            </a: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provisioning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configuration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production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like </a:t>
            </a:r>
            <a:r>
              <a:rPr dirty="0" sz="1200" spc="-10">
                <a:latin typeface="Calibri"/>
                <a:cs typeface="Calibri"/>
              </a:rPr>
              <a:t>environment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4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deploy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being built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without</a:t>
            </a:r>
            <a:r>
              <a:rPr dirty="0" sz="1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dirty="0" sz="12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dirty="0" sz="12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involvement</a:t>
            </a:r>
            <a:r>
              <a:rPr dirty="0" sz="1200" spc="2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dirty="0" sz="12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operations</a:t>
            </a:r>
            <a:r>
              <a:rPr dirty="0" sz="1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team</a:t>
            </a:r>
            <a:r>
              <a:rPr dirty="0" sz="800" spc="-1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8095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6050" y="253364"/>
            <a:ext cx="3141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DevOps–</a:t>
            </a:r>
            <a:r>
              <a:rPr dirty="0" sz="1800" spc="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Cloud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as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catalyst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800099"/>
            <a:ext cx="36195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284602" y="3307460"/>
            <a:ext cx="22517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dirty="0" sz="550" spc="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dirty="0" sz="550" spc="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dirty="0" sz="550" spc="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0863" y="2818510"/>
            <a:ext cx="58419" cy="56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25"/>
              </a:lnSpc>
            </a:pPr>
            <a:r>
              <a:rPr dirty="0" sz="450" spc="-25">
                <a:solidFill>
                  <a:srgbClr val="888888"/>
                </a:solidFill>
                <a:latin typeface="Calibri"/>
                <a:cs typeface="Calibri"/>
              </a:rPr>
              <a:t>40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DevOps–</a:t>
            </a:r>
            <a:r>
              <a:rPr dirty="0" spc="175"/>
              <a:t> </a:t>
            </a:r>
            <a:r>
              <a:rPr dirty="0"/>
              <a:t>Tools/technology</a:t>
            </a:r>
            <a:r>
              <a:rPr dirty="0" spc="229"/>
              <a:t> </a:t>
            </a:r>
            <a:r>
              <a:rPr dirty="0" spc="-25"/>
              <a:t>as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enablers</a:t>
            </a: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46634" y="756919"/>
          <a:ext cx="4290695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145"/>
                <a:gridCol w="1111250"/>
                <a:gridCol w="1936750"/>
              </a:tblGrid>
              <a:tr h="19367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Purpose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Development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control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Git,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SVN,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CVS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Static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Analysis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SonarQube,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FindBugs,</a:t>
                      </a:r>
                      <a:r>
                        <a:rPr dirty="0" sz="9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CheckStyle,PMD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CI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Jenkins,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pupper,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cruise</a:t>
                      </a:r>
                      <a:r>
                        <a:rPr dirty="0" sz="9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control,Anthil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Testing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Unit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Performance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297815" indent="1270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Junit,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TestNG,Jmeter,Selenium,cucumber,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SOAP</a:t>
                      </a:r>
                      <a:r>
                        <a:rPr dirty="0" sz="9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UI,HtmlUnit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Coverage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Jacaco,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Cobertura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Release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Build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Release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ANT,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Maven,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Gradle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Deployment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495934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Deployment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Automation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Jenkins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plugin,deployment</a:t>
                      </a:r>
                      <a:r>
                        <a:rPr dirty="0" sz="9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scripts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38100" marR="502920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Maintenance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monitor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226695">
                        <a:lnSpc>
                          <a:spcPct val="100000"/>
                        </a:lnSpc>
                      </a:pPr>
                      <a:r>
                        <a:rPr dirty="0" sz="900" spc="-55"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analytics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scripts,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health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tools,</a:t>
                      </a:r>
                      <a:r>
                        <a:rPr dirty="0" sz="900" spc="2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server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monitoring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tools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42161" y="3275005"/>
            <a:ext cx="3529965" cy="24765"/>
            <a:chOff x="1042161" y="3275005"/>
            <a:chExt cx="3529965" cy="24765"/>
          </a:xfrm>
        </p:grpSpPr>
        <p:sp>
          <p:nvSpPr>
            <p:cNvPr id="3" name="object 3" descr=""/>
            <p:cNvSpPr/>
            <p:nvPr/>
          </p:nvSpPr>
          <p:spPr>
            <a:xfrm>
              <a:off x="2315336" y="3275005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454400" y="3275005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42161" y="3275005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973" y="0"/>
            <a:ext cx="1096962" cy="34607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66800" y="3276593"/>
            <a:ext cx="3505200" cy="23495"/>
            <a:chOff x="1066800" y="3276593"/>
            <a:chExt cx="3505200" cy="23495"/>
          </a:xfrm>
        </p:grpSpPr>
        <p:sp>
          <p:nvSpPr>
            <p:cNvPr id="8" name="object 8" descr=""/>
            <p:cNvSpPr/>
            <p:nvPr/>
          </p:nvSpPr>
          <p:spPr>
            <a:xfrm>
              <a:off x="2247900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6800" y="3276593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07536" y="3276593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0" y="647668"/>
            <a:ext cx="3505200" cy="23495"/>
            <a:chOff x="0" y="647668"/>
            <a:chExt cx="35052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8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8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024" y="778700"/>
            <a:ext cx="2592324" cy="226771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83793" y="251205"/>
            <a:ext cx="1813560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60"/>
              <a:t>IMP</a:t>
            </a:r>
            <a:r>
              <a:rPr dirty="0" sz="2000" spc="-170"/>
              <a:t> </a:t>
            </a:r>
            <a:r>
              <a:rPr dirty="0" sz="2000" spc="-70"/>
              <a:t>Note</a:t>
            </a:r>
            <a:r>
              <a:rPr dirty="0" sz="2000" spc="-160"/>
              <a:t> </a:t>
            </a:r>
            <a:r>
              <a:rPr dirty="0" sz="2000" spc="-50"/>
              <a:t>to</a:t>
            </a:r>
            <a:r>
              <a:rPr dirty="0" sz="2000" spc="-135"/>
              <a:t> </a:t>
            </a:r>
            <a:r>
              <a:rPr dirty="0" sz="2000" spc="-20"/>
              <a:t>Self</a:t>
            </a:r>
            <a:endParaRPr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1696" y="3307460"/>
            <a:ext cx="8674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42161" y="3274980"/>
            <a:ext cx="3529965" cy="24765"/>
            <a:chOff x="1042161" y="3274980"/>
            <a:chExt cx="3529965" cy="24765"/>
          </a:xfrm>
        </p:grpSpPr>
        <p:sp>
          <p:nvSpPr>
            <p:cNvPr id="4" name="object 4" descr=""/>
            <p:cNvSpPr/>
            <p:nvPr/>
          </p:nvSpPr>
          <p:spPr>
            <a:xfrm>
              <a:off x="2315336" y="3274980"/>
              <a:ext cx="1164590" cy="24765"/>
            </a:xfrm>
            <a:custGeom>
              <a:avLst/>
              <a:gdLst/>
              <a:ahLst/>
              <a:cxnLst/>
              <a:rect l="l" t="t" r="r" b="b"/>
              <a:pathLst>
                <a:path w="1164589" h="24764">
                  <a:moveTo>
                    <a:pt x="116442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164424" y="24606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454400" y="3275043"/>
              <a:ext cx="1117600" cy="23495"/>
            </a:xfrm>
            <a:custGeom>
              <a:avLst/>
              <a:gdLst/>
              <a:ahLst/>
              <a:cxnLst/>
              <a:rect l="l" t="t" r="r" b="b"/>
              <a:pathLst>
                <a:path w="1117600" h="23495">
                  <a:moveTo>
                    <a:pt x="11176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17600" y="23018"/>
                  </a:lnTo>
                  <a:lnTo>
                    <a:pt x="111760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42161" y="3274980"/>
              <a:ext cx="1290955" cy="24765"/>
            </a:xfrm>
            <a:custGeom>
              <a:avLst/>
              <a:gdLst/>
              <a:ahLst/>
              <a:cxnLst/>
              <a:rect l="l" t="t" r="r" b="b"/>
              <a:pathLst>
                <a:path w="1290955" h="24764">
                  <a:moveTo>
                    <a:pt x="1290574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290574" y="24606"/>
                  </a:lnTo>
                  <a:lnTo>
                    <a:pt x="1290574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47900" y="32765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66799" y="3276567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407536" y="32765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700" y="0"/>
            <a:ext cx="1096962" cy="34607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647667"/>
            <a:ext cx="3505200" cy="23495"/>
            <a:chOff x="0" y="647667"/>
            <a:chExt cx="3505200" cy="23495"/>
          </a:xfrm>
        </p:grpSpPr>
        <p:sp>
          <p:nvSpPr>
            <p:cNvPr id="12" name="object 12" descr=""/>
            <p:cNvSpPr/>
            <p:nvPr/>
          </p:nvSpPr>
          <p:spPr>
            <a:xfrm>
              <a:off x="1181100" y="6476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37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37" y="23018"/>
                  </a:lnTo>
                  <a:lnTo>
                    <a:pt x="1164437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7667"/>
              <a:ext cx="1181100" cy="23495"/>
            </a:xfrm>
            <a:custGeom>
              <a:avLst/>
              <a:gdLst/>
              <a:ahLst/>
              <a:cxnLst/>
              <a:rect l="l" t="t" r="r" b="b"/>
              <a:pathLst>
                <a:path w="1181100" h="23495">
                  <a:moveTo>
                    <a:pt x="11811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81100" y="23018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40736" y="647667"/>
              <a:ext cx="1164590" cy="23495"/>
            </a:xfrm>
            <a:custGeom>
              <a:avLst/>
              <a:gdLst/>
              <a:ahLst/>
              <a:cxnLst/>
              <a:rect l="l" t="t" r="r" b="b"/>
              <a:pathLst>
                <a:path w="1164589" h="23495">
                  <a:moveTo>
                    <a:pt x="1164424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164424" y="23018"/>
                  </a:lnTo>
                  <a:lnTo>
                    <a:pt x="1164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0577" y="1608746"/>
            <a:ext cx="1064678" cy="22757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58849" y="1536318"/>
            <a:ext cx="1091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Thank</a:t>
            </a:r>
            <a:r>
              <a:rPr dirty="0" sz="1800" spc="-145" b="1">
                <a:latin typeface="Arial"/>
                <a:cs typeface="Arial"/>
              </a:rPr>
              <a:t> </a:t>
            </a:r>
            <a:r>
              <a:rPr dirty="0" sz="1800" spc="-30" b="1">
                <a:latin typeface="Arial"/>
                <a:cs typeface="Arial"/>
              </a:rPr>
              <a:t>you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Slide 1</dc:title>
  <dcterms:created xsi:type="dcterms:W3CDTF">2025-04-18T12:07:31Z</dcterms:created>
  <dcterms:modified xsi:type="dcterms:W3CDTF">2025-04-18T12:07:31Z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2025-04-18T00:00:00Z</vt:filetime>
  </property>
  <property fmtid="{D5CDD505-2E9C-101B-9397-08002B2CF9AE}" pid="5" name="Producer">
    <vt:lpwstr>Microsoft® PowerPoint® 2019</vt:lpwstr>
  </property>
</Properties>
</file>