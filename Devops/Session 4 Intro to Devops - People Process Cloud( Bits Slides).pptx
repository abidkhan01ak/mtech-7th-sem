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2" r:id="rId2"/>
    <p:sldId id="263" r:id="rId3"/>
    <p:sldId id="264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24"/>
    <p:sldId id="285" r:id="rId25"/>
    <p:sldId id="286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5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4" r:id="rId44"/>
    <p:sldId id="305" r:id="rId45"/>
    <p:sldId id="306" r:id="rId46"/>
    <p:sldId id="307" r:id="rId47"/>
    <p:sldId id="308" r:id="rId48"/>
    <p:sldId id="309" r:id="rId49"/>
    <p:sldId id="310" r:id="rId50"/>
    <p:sldId id="311" r:id="rId51"/>
    <p:sldId id="312" r:id="rId52"/>
    <p:sldId id="313" r:id="rId53"/>
    <p:sldId id="314" r:id="rId54"/>
    <p:sldId id="315" r:id="rId55"/>
    <p:sldId id="316" r:id="rId56"/>
    <p:sldId id="317" r:id="rId57"/>
    <p:sldId id="318" r:id="rId58"/>
  </p:sldIdLst>
  <p:sldSz cx="4572000" cy="3429000"/>
  <p:notesSz cx="4572000" cy="3429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44" d="100"/>
          <a:sy n="144" d="100"/>
        </p:scale>
        <p:origin x="1762" y="8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42900" y="1062990"/>
            <a:ext cx="3886200" cy="7200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85800" y="1920240"/>
            <a:ext cx="3200400" cy="8572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5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85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28600" y="788670"/>
            <a:ext cx="1988820" cy="22631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54580" y="788670"/>
            <a:ext cx="1988820" cy="22631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4/18/2025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4/18/2025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4/18/2025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181100" y="647667"/>
            <a:ext cx="1164590" cy="23495"/>
          </a:xfrm>
          <a:custGeom>
            <a:avLst/>
            <a:gdLst/>
            <a:ahLst/>
            <a:cxnLst/>
            <a:rect l="l" t="t" r="r" b="b"/>
            <a:pathLst>
              <a:path w="1164589" h="23495">
                <a:moveTo>
                  <a:pt x="1164437" y="0"/>
                </a:moveTo>
                <a:lnTo>
                  <a:pt x="0" y="0"/>
                </a:lnTo>
                <a:lnTo>
                  <a:pt x="0" y="23018"/>
                </a:lnTo>
                <a:lnTo>
                  <a:pt x="1164437" y="23018"/>
                </a:lnTo>
                <a:lnTo>
                  <a:pt x="1164437" y="0"/>
                </a:lnTo>
                <a:close/>
              </a:path>
            </a:pathLst>
          </a:custGeom>
          <a:solidFill>
            <a:srgbClr val="76C2E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647667"/>
            <a:ext cx="1181100" cy="23495"/>
          </a:xfrm>
          <a:custGeom>
            <a:avLst/>
            <a:gdLst/>
            <a:ahLst/>
            <a:cxnLst/>
            <a:rect l="l" t="t" r="r" b="b"/>
            <a:pathLst>
              <a:path w="1181100" h="23495">
                <a:moveTo>
                  <a:pt x="1181100" y="0"/>
                </a:moveTo>
                <a:lnTo>
                  <a:pt x="0" y="0"/>
                </a:lnTo>
                <a:lnTo>
                  <a:pt x="0" y="23018"/>
                </a:lnTo>
                <a:lnTo>
                  <a:pt x="1181100" y="23018"/>
                </a:lnTo>
                <a:lnTo>
                  <a:pt x="1181100" y="0"/>
                </a:lnTo>
                <a:close/>
              </a:path>
            </a:pathLst>
          </a:custGeom>
          <a:solidFill>
            <a:srgbClr val="FBAF1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2340736" y="647667"/>
            <a:ext cx="1164590" cy="23495"/>
          </a:xfrm>
          <a:custGeom>
            <a:avLst/>
            <a:gdLst/>
            <a:ahLst/>
            <a:cxnLst/>
            <a:rect l="l" t="t" r="r" b="b"/>
            <a:pathLst>
              <a:path w="1164589" h="23495">
                <a:moveTo>
                  <a:pt x="1164424" y="0"/>
                </a:moveTo>
                <a:lnTo>
                  <a:pt x="0" y="0"/>
                </a:lnTo>
                <a:lnTo>
                  <a:pt x="0" y="23018"/>
                </a:lnTo>
                <a:lnTo>
                  <a:pt x="1164424" y="23018"/>
                </a:lnTo>
                <a:lnTo>
                  <a:pt x="1164424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2247900" y="3276567"/>
            <a:ext cx="1164590" cy="23495"/>
          </a:xfrm>
          <a:custGeom>
            <a:avLst/>
            <a:gdLst/>
            <a:ahLst/>
            <a:cxnLst/>
            <a:rect l="l" t="t" r="r" b="b"/>
            <a:pathLst>
              <a:path w="1164589" h="23495">
                <a:moveTo>
                  <a:pt x="1164437" y="0"/>
                </a:moveTo>
                <a:lnTo>
                  <a:pt x="0" y="0"/>
                </a:lnTo>
                <a:lnTo>
                  <a:pt x="0" y="23018"/>
                </a:lnTo>
                <a:lnTo>
                  <a:pt x="1164437" y="23018"/>
                </a:lnTo>
                <a:lnTo>
                  <a:pt x="1164437" y="0"/>
                </a:lnTo>
                <a:close/>
              </a:path>
            </a:pathLst>
          </a:custGeom>
          <a:solidFill>
            <a:srgbClr val="76C2E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066800" y="3276567"/>
            <a:ext cx="1181100" cy="23495"/>
          </a:xfrm>
          <a:custGeom>
            <a:avLst/>
            <a:gdLst/>
            <a:ahLst/>
            <a:cxnLst/>
            <a:rect l="l" t="t" r="r" b="b"/>
            <a:pathLst>
              <a:path w="1181100" h="23495">
                <a:moveTo>
                  <a:pt x="1181100" y="0"/>
                </a:moveTo>
                <a:lnTo>
                  <a:pt x="0" y="0"/>
                </a:lnTo>
                <a:lnTo>
                  <a:pt x="0" y="23018"/>
                </a:lnTo>
                <a:lnTo>
                  <a:pt x="1181100" y="23018"/>
                </a:lnTo>
                <a:lnTo>
                  <a:pt x="1181100" y="0"/>
                </a:lnTo>
                <a:close/>
              </a:path>
            </a:pathLst>
          </a:custGeom>
          <a:solidFill>
            <a:srgbClr val="FBAF1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3407536" y="3276567"/>
            <a:ext cx="1164590" cy="23495"/>
          </a:xfrm>
          <a:custGeom>
            <a:avLst/>
            <a:gdLst/>
            <a:ahLst/>
            <a:cxnLst/>
            <a:rect l="l" t="t" r="r" b="b"/>
            <a:pathLst>
              <a:path w="1164589" h="23495">
                <a:moveTo>
                  <a:pt x="1164424" y="0"/>
                </a:moveTo>
                <a:lnTo>
                  <a:pt x="0" y="0"/>
                </a:lnTo>
                <a:lnTo>
                  <a:pt x="0" y="23018"/>
                </a:lnTo>
                <a:lnTo>
                  <a:pt x="1164424" y="23018"/>
                </a:lnTo>
                <a:lnTo>
                  <a:pt x="1164424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bg object 2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314700" y="0"/>
            <a:ext cx="1096962" cy="3460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8000" y="112597"/>
            <a:ext cx="4355998" cy="5130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495171" y="790193"/>
            <a:ext cx="2900045" cy="1268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5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554480" y="3188970"/>
            <a:ext cx="1463040" cy="1714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28600" y="3188970"/>
            <a:ext cx="1051560" cy="1714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3291840" y="3188970"/>
            <a:ext cx="1051560" cy="1714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5.jpg"/><Relationship Id="rId4" Type="http://schemas.openxmlformats.org/officeDocument/2006/relationships/image" Target="../media/image2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7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9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jp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jpg"/><Relationship Id="rId5" Type="http://schemas.openxmlformats.org/officeDocument/2006/relationships/image" Target="../media/image67.jpg"/><Relationship Id="rId4" Type="http://schemas.openxmlformats.org/officeDocument/2006/relationships/image" Target="../media/image66.jp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jpg"/><Relationship Id="rId5" Type="http://schemas.openxmlformats.org/officeDocument/2006/relationships/image" Target="../media/image72.jpg"/><Relationship Id="rId4" Type="http://schemas.openxmlformats.org/officeDocument/2006/relationships/image" Target="../media/image71.jp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g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3363" rIns="0" bIns="0" rtlCol="0">
            <a:spAutoFit/>
          </a:bodyPr>
          <a:lstStyle/>
          <a:p>
            <a:pPr marL="90170">
              <a:lnSpc>
                <a:spcPct val="100000"/>
              </a:lnSpc>
              <a:spcBef>
                <a:spcPts val="100"/>
              </a:spcBef>
            </a:pPr>
            <a:r>
              <a:rPr sz="1800" spc="-10" dirty="0"/>
              <a:t>DevOps</a:t>
            </a:r>
            <a:endParaRPr sz="18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86000" y="457199"/>
            <a:ext cx="1871345" cy="152463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295147" y="781938"/>
            <a:ext cx="601345" cy="313690"/>
            <a:chOff x="295147" y="781938"/>
            <a:chExt cx="601345" cy="313690"/>
          </a:xfrm>
        </p:grpSpPr>
        <p:sp>
          <p:nvSpPr>
            <p:cNvPr id="6" name="object 6"/>
            <p:cNvSpPr/>
            <p:nvPr/>
          </p:nvSpPr>
          <p:spPr>
            <a:xfrm>
              <a:off x="302513" y="788669"/>
              <a:ext cx="584835" cy="300355"/>
            </a:xfrm>
            <a:custGeom>
              <a:avLst/>
              <a:gdLst/>
              <a:ahLst/>
              <a:cxnLst/>
              <a:rect l="l" t="t" r="r" b="b"/>
              <a:pathLst>
                <a:path w="584835" h="300355">
                  <a:moveTo>
                    <a:pt x="434340" y="0"/>
                  </a:moveTo>
                  <a:lnTo>
                    <a:pt x="0" y="0"/>
                  </a:lnTo>
                  <a:lnTo>
                    <a:pt x="0" y="299847"/>
                  </a:lnTo>
                  <a:lnTo>
                    <a:pt x="434340" y="299847"/>
                  </a:lnTo>
                  <a:lnTo>
                    <a:pt x="584327" y="149986"/>
                  </a:lnTo>
                  <a:lnTo>
                    <a:pt x="434340" y="0"/>
                  </a:lnTo>
                  <a:close/>
                </a:path>
              </a:pathLst>
            </a:custGeom>
            <a:solidFill>
              <a:srgbClr val="9A55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95148" y="781938"/>
              <a:ext cx="454025" cy="313690"/>
            </a:xfrm>
            <a:custGeom>
              <a:avLst/>
              <a:gdLst/>
              <a:ahLst/>
              <a:cxnLst/>
              <a:rect l="l" t="t" r="r" b="b"/>
              <a:pathLst>
                <a:path w="454025" h="313690">
                  <a:moveTo>
                    <a:pt x="453694" y="6731"/>
                  </a:moveTo>
                  <a:lnTo>
                    <a:pt x="451104" y="6731"/>
                  </a:lnTo>
                  <a:lnTo>
                    <a:pt x="444500" y="0"/>
                  </a:lnTo>
                  <a:lnTo>
                    <a:pt x="0" y="0"/>
                  </a:lnTo>
                  <a:lnTo>
                    <a:pt x="0" y="313309"/>
                  </a:lnTo>
                  <a:lnTo>
                    <a:pt x="444500" y="313309"/>
                  </a:lnTo>
                  <a:lnTo>
                    <a:pt x="451104" y="306578"/>
                  </a:lnTo>
                  <a:lnTo>
                    <a:pt x="14097" y="306578"/>
                  </a:lnTo>
                  <a:lnTo>
                    <a:pt x="7366" y="299847"/>
                  </a:lnTo>
                  <a:lnTo>
                    <a:pt x="14097" y="299847"/>
                  </a:lnTo>
                  <a:lnTo>
                    <a:pt x="14097" y="14351"/>
                  </a:lnTo>
                  <a:lnTo>
                    <a:pt x="438023" y="14351"/>
                  </a:lnTo>
                  <a:lnTo>
                    <a:pt x="438023" y="11811"/>
                  </a:lnTo>
                  <a:lnTo>
                    <a:pt x="453694" y="11811"/>
                  </a:lnTo>
                  <a:lnTo>
                    <a:pt x="453694" y="673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32154" y="794003"/>
              <a:ext cx="164083" cy="289814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02514" y="1081785"/>
              <a:ext cx="450850" cy="6985"/>
            </a:xfrm>
            <a:custGeom>
              <a:avLst/>
              <a:gdLst/>
              <a:ahLst/>
              <a:cxnLst/>
              <a:rect l="l" t="t" r="r" b="b"/>
              <a:pathLst>
                <a:path w="450850" h="6984">
                  <a:moveTo>
                    <a:pt x="450469" y="0"/>
                  </a:moveTo>
                  <a:lnTo>
                    <a:pt x="434340" y="0"/>
                  </a:lnTo>
                  <a:lnTo>
                    <a:pt x="430809" y="1524"/>
                  </a:lnTo>
                  <a:lnTo>
                    <a:pt x="430784" y="254"/>
                  </a:lnTo>
                  <a:lnTo>
                    <a:pt x="6731" y="254"/>
                  </a:lnTo>
                  <a:lnTo>
                    <a:pt x="6731" y="0"/>
                  </a:lnTo>
                  <a:lnTo>
                    <a:pt x="0" y="0"/>
                  </a:lnTo>
                  <a:lnTo>
                    <a:pt x="6731" y="6731"/>
                  </a:lnTo>
                  <a:lnTo>
                    <a:pt x="6731" y="6604"/>
                  </a:lnTo>
                  <a:lnTo>
                    <a:pt x="446468" y="6604"/>
                  </a:lnTo>
                  <a:lnTo>
                    <a:pt x="446468" y="2032"/>
                  </a:lnTo>
                  <a:lnTo>
                    <a:pt x="448564" y="2032"/>
                  </a:lnTo>
                  <a:lnTo>
                    <a:pt x="45046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429259" y="868425"/>
            <a:ext cx="248920" cy="1225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600" spc="-10" dirty="0">
                <a:solidFill>
                  <a:srgbClr val="FFFFFF"/>
                </a:solidFill>
                <a:latin typeface="Calibri"/>
                <a:cs typeface="Calibri"/>
              </a:rPr>
              <a:t>People</a:t>
            </a:r>
            <a:endParaRPr sz="6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888872" y="781938"/>
            <a:ext cx="601345" cy="313690"/>
            <a:chOff x="888872" y="781938"/>
            <a:chExt cx="601345" cy="313690"/>
          </a:xfrm>
        </p:grpSpPr>
        <p:sp>
          <p:nvSpPr>
            <p:cNvPr id="12" name="object 12"/>
            <p:cNvSpPr/>
            <p:nvPr/>
          </p:nvSpPr>
          <p:spPr>
            <a:xfrm>
              <a:off x="895603" y="788669"/>
              <a:ext cx="584200" cy="300355"/>
            </a:xfrm>
            <a:custGeom>
              <a:avLst/>
              <a:gdLst/>
              <a:ahLst/>
              <a:cxnLst/>
              <a:rect l="l" t="t" r="r" b="b"/>
              <a:pathLst>
                <a:path w="584200" h="300355">
                  <a:moveTo>
                    <a:pt x="434975" y="0"/>
                  </a:moveTo>
                  <a:lnTo>
                    <a:pt x="0" y="0"/>
                  </a:lnTo>
                  <a:lnTo>
                    <a:pt x="0" y="299847"/>
                  </a:lnTo>
                  <a:lnTo>
                    <a:pt x="434975" y="299847"/>
                  </a:lnTo>
                  <a:lnTo>
                    <a:pt x="584200" y="149986"/>
                  </a:lnTo>
                  <a:lnTo>
                    <a:pt x="434975" y="0"/>
                  </a:lnTo>
                  <a:close/>
                </a:path>
              </a:pathLst>
            </a:custGeom>
            <a:solidFill>
              <a:srgbClr val="9A55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88873" y="781938"/>
              <a:ext cx="454025" cy="313690"/>
            </a:xfrm>
            <a:custGeom>
              <a:avLst/>
              <a:gdLst/>
              <a:ahLst/>
              <a:cxnLst/>
              <a:rect l="l" t="t" r="r" b="b"/>
              <a:pathLst>
                <a:path w="454025" h="313690">
                  <a:moveTo>
                    <a:pt x="453694" y="6731"/>
                  </a:moveTo>
                  <a:lnTo>
                    <a:pt x="451104" y="6731"/>
                  </a:lnTo>
                  <a:lnTo>
                    <a:pt x="444373" y="0"/>
                  </a:lnTo>
                  <a:lnTo>
                    <a:pt x="0" y="0"/>
                  </a:lnTo>
                  <a:lnTo>
                    <a:pt x="0" y="313309"/>
                  </a:lnTo>
                  <a:lnTo>
                    <a:pt x="444373" y="313309"/>
                  </a:lnTo>
                  <a:lnTo>
                    <a:pt x="451104" y="306578"/>
                  </a:lnTo>
                  <a:lnTo>
                    <a:pt x="14097" y="306578"/>
                  </a:lnTo>
                  <a:lnTo>
                    <a:pt x="6731" y="299847"/>
                  </a:lnTo>
                  <a:lnTo>
                    <a:pt x="14097" y="299847"/>
                  </a:lnTo>
                  <a:lnTo>
                    <a:pt x="14097" y="14351"/>
                  </a:lnTo>
                  <a:lnTo>
                    <a:pt x="437388" y="14351"/>
                  </a:lnTo>
                  <a:lnTo>
                    <a:pt x="437388" y="11811"/>
                  </a:lnTo>
                  <a:lnTo>
                    <a:pt x="453694" y="11811"/>
                  </a:lnTo>
                  <a:lnTo>
                    <a:pt x="453694" y="673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325244" y="794003"/>
              <a:ext cx="164719" cy="289814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895604" y="1081785"/>
              <a:ext cx="451484" cy="6985"/>
            </a:xfrm>
            <a:custGeom>
              <a:avLst/>
              <a:gdLst/>
              <a:ahLst/>
              <a:cxnLst/>
              <a:rect l="l" t="t" r="r" b="b"/>
              <a:pathLst>
                <a:path w="451484" h="6984">
                  <a:moveTo>
                    <a:pt x="451104" y="0"/>
                  </a:moveTo>
                  <a:lnTo>
                    <a:pt x="434975" y="0"/>
                  </a:lnTo>
                  <a:lnTo>
                    <a:pt x="430974" y="1524"/>
                  </a:lnTo>
                  <a:lnTo>
                    <a:pt x="430784" y="1524"/>
                  </a:lnTo>
                  <a:lnTo>
                    <a:pt x="430784" y="254"/>
                  </a:lnTo>
                  <a:lnTo>
                    <a:pt x="7366" y="254"/>
                  </a:lnTo>
                  <a:lnTo>
                    <a:pt x="7366" y="0"/>
                  </a:lnTo>
                  <a:lnTo>
                    <a:pt x="0" y="0"/>
                  </a:lnTo>
                  <a:lnTo>
                    <a:pt x="7366" y="6731"/>
                  </a:lnTo>
                  <a:lnTo>
                    <a:pt x="7366" y="6604"/>
                  </a:lnTo>
                  <a:lnTo>
                    <a:pt x="447040" y="6604"/>
                  </a:lnTo>
                  <a:lnTo>
                    <a:pt x="447040" y="2032"/>
                  </a:lnTo>
                  <a:lnTo>
                    <a:pt x="449072" y="2032"/>
                  </a:lnTo>
                  <a:lnTo>
                    <a:pt x="45110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1010158" y="868425"/>
            <a:ext cx="274955" cy="1225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600" spc="-10" dirty="0">
                <a:solidFill>
                  <a:srgbClr val="FFFFFF"/>
                </a:solidFill>
                <a:latin typeface="Calibri"/>
                <a:cs typeface="Calibri"/>
              </a:rPr>
              <a:t>Process</a:t>
            </a:r>
            <a:endParaRPr sz="600">
              <a:latin typeface="Calibri"/>
              <a:cs typeface="Calibri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482597" y="781938"/>
            <a:ext cx="601345" cy="313690"/>
            <a:chOff x="1482597" y="781938"/>
            <a:chExt cx="601345" cy="313690"/>
          </a:xfrm>
        </p:grpSpPr>
        <p:sp>
          <p:nvSpPr>
            <p:cNvPr id="18" name="object 18"/>
            <p:cNvSpPr/>
            <p:nvPr/>
          </p:nvSpPr>
          <p:spPr>
            <a:xfrm>
              <a:off x="1489201" y="788669"/>
              <a:ext cx="584835" cy="300355"/>
            </a:xfrm>
            <a:custGeom>
              <a:avLst/>
              <a:gdLst/>
              <a:ahLst/>
              <a:cxnLst/>
              <a:rect l="l" t="t" r="r" b="b"/>
              <a:pathLst>
                <a:path w="584835" h="300355">
                  <a:moveTo>
                    <a:pt x="434340" y="0"/>
                  </a:moveTo>
                  <a:lnTo>
                    <a:pt x="0" y="0"/>
                  </a:lnTo>
                  <a:lnTo>
                    <a:pt x="0" y="299847"/>
                  </a:lnTo>
                  <a:lnTo>
                    <a:pt x="434340" y="299847"/>
                  </a:lnTo>
                  <a:lnTo>
                    <a:pt x="584327" y="149986"/>
                  </a:lnTo>
                  <a:lnTo>
                    <a:pt x="434340" y="0"/>
                  </a:lnTo>
                  <a:close/>
                </a:path>
              </a:pathLst>
            </a:custGeom>
            <a:solidFill>
              <a:srgbClr val="9A55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482598" y="781938"/>
              <a:ext cx="454025" cy="313690"/>
            </a:xfrm>
            <a:custGeom>
              <a:avLst/>
              <a:gdLst/>
              <a:ahLst/>
              <a:cxnLst/>
              <a:rect l="l" t="t" r="r" b="b"/>
              <a:pathLst>
                <a:path w="454025" h="313690">
                  <a:moveTo>
                    <a:pt x="453644" y="6731"/>
                  </a:moveTo>
                  <a:lnTo>
                    <a:pt x="451104" y="6731"/>
                  </a:lnTo>
                  <a:lnTo>
                    <a:pt x="444373" y="0"/>
                  </a:lnTo>
                  <a:lnTo>
                    <a:pt x="0" y="0"/>
                  </a:lnTo>
                  <a:lnTo>
                    <a:pt x="0" y="313309"/>
                  </a:lnTo>
                  <a:lnTo>
                    <a:pt x="444373" y="313309"/>
                  </a:lnTo>
                  <a:lnTo>
                    <a:pt x="451104" y="306578"/>
                  </a:lnTo>
                  <a:lnTo>
                    <a:pt x="14097" y="306578"/>
                  </a:lnTo>
                  <a:lnTo>
                    <a:pt x="6604" y="299847"/>
                  </a:lnTo>
                  <a:lnTo>
                    <a:pt x="14097" y="299847"/>
                  </a:lnTo>
                  <a:lnTo>
                    <a:pt x="14097" y="14351"/>
                  </a:lnTo>
                  <a:lnTo>
                    <a:pt x="437261" y="14351"/>
                  </a:lnTo>
                  <a:lnTo>
                    <a:pt x="437261" y="11811"/>
                  </a:lnTo>
                  <a:lnTo>
                    <a:pt x="453644" y="11811"/>
                  </a:lnTo>
                  <a:lnTo>
                    <a:pt x="453644" y="673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918842" y="794003"/>
              <a:ext cx="164719" cy="289814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1489202" y="1081785"/>
              <a:ext cx="451484" cy="6985"/>
            </a:xfrm>
            <a:custGeom>
              <a:avLst/>
              <a:gdLst/>
              <a:ahLst/>
              <a:cxnLst/>
              <a:rect l="l" t="t" r="r" b="b"/>
              <a:pathLst>
                <a:path w="451485" h="6984">
                  <a:moveTo>
                    <a:pt x="451231" y="0"/>
                  </a:moveTo>
                  <a:lnTo>
                    <a:pt x="434340" y="0"/>
                  </a:lnTo>
                  <a:lnTo>
                    <a:pt x="430809" y="1524"/>
                  </a:lnTo>
                  <a:lnTo>
                    <a:pt x="430784" y="254"/>
                  </a:lnTo>
                  <a:lnTo>
                    <a:pt x="7493" y="254"/>
                  </a:lnTo>
                  <a:lnTo>
                    <a:pt x="7493" y="0"/>
                  </a:lnTo>
                  <a:lnTo>
                    <a:pt x="0" y="0"/>
                  </a:lnTo>
                  <a:lnTo>
                    <a:pt x="7493" y="6731"/>
                  </a:lnTo>
                  <a:lnTo>
                    <a:pt x="7493" y="6604"/>
                  </a:lnTo>
                  <a:lnTo>
                    <a:pt x="447167" y="6604"/>
                  </a:lnTo>
                  <a:lnTo>
                    <a:pt x="447167" y="2032"/>
                  </a:lnTo>
                  <a:lnTo>
                    <a:pt x="449199" y="2032"/>
                  </a:lnTo>
                  <a:lnTo>
                    <a:pt x="4512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645666" y="868425"/>
            <a:ext cx="186690" cy="1225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600" spc="-10" dirty="0">
                <a:solidFill>
                  <a:srgbClr val="FFFFFF"/>
                </a:solidFill>
                <a:latin typeface="Calibri"/>
                <a:cs typeface="Calibri"/>
              </a:rPr>
              <a:t>Tools</a:t>
            </a:r>
            <a:endParaRPr sz="600">
              <a:latin typeface="Calibri"/>
              <a:cs typeface="Calibri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286384" y="1609597"/>
            <a:ext cx="601345" cy="313690"/>
            <a:chOff x="286384" y="1609597"/>
            <a:chExt cx="601345" cy="313690"/>
          </a:xfrm>
        </p:grpSpPr>
        <p:sp>
          <p:nvSpPr>
            <p:cNvPr id="24" name="object 24"/>
            <p:cNvSpPr/>
            <p:nvPr/>
          </p:nvSpPr>
          <p:spPr>
            <a:xfrm>
              <a:off x="293115" y="1616328"/>
              <a:ext cx="584835" cy="300355"/>
            </a:xfrm>
            <a:custGeom>
              <a:avLst/>
              <a:gdLst/>
              <a:ahLst/>
              <a:cxnLst/>
              <a:rect l="l" t="t" r="r" b="b"/>
              <a:pathLst>
                <a:path w="584835" h="300355">
                  <a:moveTo>
                    <a:pt x="434340" y="0"/>
                  </a:moveTo>
                  <a:lnTo>
                    <a:pt x="0" y="0"/>
                  </a:lnTo>
                  <a:lnTo>
                    <a:pt x="0" y="299847"/>
                  </a:lnTo>
                  <a:lnTo>
                    <a:pt x="434340" y="299847"/>
                  </a:lnTo>
                  <a:lnTo>
                    <a:pt x="584327" y="149987"/>
                  </a:lnTo>
                  <a:lnTo>
                    <a:pt x="434340" y="0"/>
                  </a:lnTo>
                  <a:close/>
                </a:path>
              </a:pathLst>
            </a:custGeom>
            <a:solidFill>
              <a:srgbClr val="44A4E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286385" y="1609597"/>
              <a:ext cx="454025" cy="313690"/>
            </a:xfrm>
            <a:custGeom>
              <a:avLst/>
              <a:gdLst/>
              <a:ahLst/>
              <a:cxnLst/>
              <a:rect l="l" t="t" r="r" b="b"/>
              <a:pathLst>
                <a:path w="454025" h="313689">
                  <a:moveTo>
                    <a:pt x="453504" y="7112"/>
                  </a:moveTo>
                  <a:lnTo>
                    <a:pt x="13462" y="7112"/>
                  </a:lnTo>
                  <a:lnTo>
                    <a:pt x="13462" y="6731"/>
                  </a:lnTo>
                  <a:lnTo>
                    <a:pt x="450596" y="6731"/>
                  </a:lnTo>
                  <a:lnTo>
                    <a:pt x="443738" y="0"/>
                  </a:lnTo>
                  <a:lnTo>
                    <a:pt x="0" y="0"/>
                  </a:lnTo>
                  <a:lnTo>
                    <a:pt x="0" y="313309"/>
                  </a:lnTo>
                  <a:lnTo>
                    <a:pt x="443738" y="313309"/>
                  </a:lnTo>
                  <a:lnTo>
                    <a:pt x="450596" y="306578"/>
                  </a:lnTo>
                  <a:lnTo>
                    <a:pt x="13462" y="306578"/>
                  </a:lnTo>
                  <a:lnTo>
                    <a:pt x="6731" y="299847"/>
                  </a:lnTo>
                  <a:lnTo>
                    <a:pt x="13462" y="299847"/>
                  </a:lnTo>
                  <a:lnTo>
                    <a:pt x="13462" y="14732"/>
                  </a:lnTo>
                  <a:lnTo>
                    <a:pt x="437769" y="14732"/>
                  </a:lnTo>
                  <a:lnTo>
                    <a:pt x="437769" y="12192"/>
                  </a:lnTo>
                  <a:lnTo>
                    <a:pt x="453504" y="12192"/>
                  </a:lnTo>
                  <a:lnTo>
                    <a:pt x="453504" y="7112"/>
                  </a:lnTo>
                  <a:close/>
                </a:path>
              </a:pathLst>
            </a:custGeom>
            <a:solidFill>
              <a:srgbClr val="2E77A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22756" y="1621662"/>
              <a:ext cx="164719" cy="289813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293116" y="1909444"/>
              <a:ext cx="450850" cy="6985"/>
            </a:xfrm>
            <a:custGeom>
              <a:avLst/>
              <a:gdLst/>
              <a:ahLst/>
              <a:cxnLst/>
              <a:rect l="l" t="t" r="r" b="b"/>
              <a:pathLst>
                <a:path w="450850" h="6985">
                  <a:moveTo>
                    <a:pt x="450596" y="0"/>
                  </a:moveTo>
                  <a:lnTo>
                    <a:pt x="434340" y="0"/>
                  </a:lnTo>
                  <a:lnTo>
                    <a:pt x="430403" y="1714"/>
                  </a:lnTo>
                  <a:lnTo>
                    <a:pt x="430403" y="635"/>
                  </a:lnTo>
                  <a:lnTo>
                    <a:pt x="6731" y="635"/>
                  </a:lnTo>
                  <a:lnTo>
                    <a:pt x="6731" y="0"/>
                  </a:lnTo>
                  <a:lnTo>
                    <a:pt x="0" y="0"/>
                  </a:lnTo>
                  <a:lnTo>
                    <a:pt x="6731" y="6731"/>
                  </a:lnTo>
                  <a:lnTo>
                    <a:pt x="6731" y="6985"/>
                  </a:lnTo>
                  <a:lnTo>
                    <a:pt x="446151" y="6985"/>
                  </a:lnTo>
                  <a:lnTo>
                    <a:pt x="446151" y="2032"/>
                  </a:lnTo>
                  <a:lnTo>
                    <a:pt x="448564" y="2032"/>
                  </a:lnTo>
                  <a:lnTo>
                    <a:pt x="450596" y="0"/>
                  </a:lnTo>
                  <a:close/>
                </a:path>
              </a:pathLst>
            </a:custGeom>
            <a:solidFill>
              <a:srgbClr val="2E77A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408177" y="1695703"/>
            <a:ext cx="273685" cy="1225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600" b="1" spc="-10" dirty="0">
                <a:solidFill>
                  <a:srgbClr val="FFFFFF"/>
                </a:solidFill>
                <a:latin typeface="Calibri"/>
                <a:cs typeface="Calibri"/>
              </a:rPr>
              <a:t>Culture</a:t>
            </a:r>
            <a:endParaRPr sz="600">
              <a:latin typeface="Calibri"/>
              <a:cs typeface="Calibri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879475" y="1595500"/>
            <a:ext cx="601345" cy="313690"/>
            <a:chOff x="879475" y="1595500"/>
            <a:chExt cx="601345" cy="313690"/>
          </a:xfrm>
        </p:grpSpPr>
        <p:sp>
          <p:nvSpPr>
            <p:cNvPr id="30" name="object 30"/>
            <p:cNvSpPr/>
            <p:nvPr/>
          </p:nvSpPr>
          <p:spPr>
            <a:xfrm>
              <a:off x="886840" y="1602231"/>
              <a:ext cx="584835" cy="300355"/>
            </a:xfrm>
            <a:custGeom>
              <a:avLst/>
              <a:gdLst/>
              <a:ahLst/>
              <a:cxnLst/>
              <a:rect l="l" t="t" r="r" b="b"/>
              <a:pathLst>
                <a:path w="584835" h="300355">
                  <a:moveTo>
                    <a:pt x="434339" y="0"/>
                  </a:moveTo>
                  <a:lnTo>
                    <a:pt x="0" y="0"/>
                  </a:lnTo>
                  <a:lnTo>
                    <a:pt x="0" y="299847"/>
                  </a:lnTo>
                  <a:lnTo>
                    <a:pt x="434339" y="299847"/>
                  </a:lnTo>
                  <a:lnTo>
                    <a:pt x="584326" y="149860"/>
                  </a:lnTo>
                  <a:lnTo>
                    <a:pt x="434339" y="0"/>
                  </a:lnTo>
                  <a:close/>
                </a:path>
              </a:pathLst>
            </a:custGeom>
            <a:solidFill>
              <a:srgbClr val="44A4E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79475" y="1595500"/>
              <a:ext cx="454659" cy="313690"/>
            </a:xfrm>
            <a:custGeom>
              <a:avLst/>
              <a:gdLst/>
              <a:ahLst/>
              <a:cxnLst/>
              <a:rect l="l" t="t" r="r" b="b"/>
              <a:pathLst>
                <a:path w="454659" h="313689">
                  <a:moveTo>
                    <a:pt x="454139" y="7239"/>
                  </a:moveTo>
                  <a:lnTo>
                    <a:pt x="14097" y="7239"/>
                  </a:lnTo>
                  <a:lnTo>
                    <a:pt x="14097" y="6731"/>
                  </a:lnTo>
                  <a:lnTo>
                    <a:pt x="451104" y="6731"/>
                  </a:lnTo>
                  <a:lnTo>
                    <a:pt x="444373" y="0"/>
                  </a:lnTo>
                  <a:lnTo>
                    <a:pt x="0" y="0"/>
                  </a:lnTo>
                  <a:lnTo>
                    <a:pt x="0" y="313309"/>
                  </a:lnTo>
                  <a:lnTo>
                    <a:pt x="444373" y="313309"/>
                  </a:lnTo>
                  <a:lnTo>
                    <a:pt x="451104" y="306578"/>
                  </a:lnTo>
                  <a:lnTo>
                    <a:pt x="14097" y="306578"/>
                  </a:lnTo>
                  <a:lnTo>
                    <a:pt x="7366" y="299847"/>
                  </a:lnTo>
                  <a:lnTo>
                    <a:pt x="14097" y="299847"/>
                  </a:lnTo>
                  <a:lnTo>
                    <a:pt x="14097" y="14097"/>
                  </a:lnTo>
                  <a:lnTo>
                    <a:pt x="14097" y="13589"/>
                  </a:lnTo>
                  <a:lnTo>
                    <a:pt x="437883" y="13589"/>
                  </a:lnTo>
                  <a:lnTo>
                    <a:pt x="437883" y="12319"/>
                  </a:lnTo>
                  <a:lnTo>
                    <a:pt x="454139" y="12319"/>
                  </a:lnTo>
                  <a:lnTo>
                    <a:pt x="454139" y="7239"/>
                  </a:lnTo>
                  <a:close/>
                </a:path>
              </a:pathLst>
            </a:custGeom>
            <a:solidFill>
              <a:srgbClr val="2E77A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316481" y="1607565"/>
              <a:ext cx="164084" cy="289813"/>
            </a:xfrm>
            <a:prstGeom prst="rect">
              <a:avLst/>
            </a:prstGeom>
          </p:spPr>
        </p:pic>
        <p:sp>
          <p:nvSpPr>
            <p:cNvPr id="33" name="object 33"/>
            <p:cNvSpPr/>
            <p:nvPr/>
          </p:nvSpPr>
          <p:spPr>
            <a:xfrm>
              <a:off x="886841" y="1894839"/>
              <a:ext cx="450850" cy="7620"/>
            </a:xfrm>
            <a:custGeom>
              <a:avLst/>
              <a:gdLst/>
              <a:ahLst/>
              <a:cxnLst/>
              <a:rect l="l" t="t" r="r" b="b"/>
              <a:pathLst>
                <a:path w="450850" h="7619">
                  <a:moveTo>
                    <a:pt x="450469" y="508"/>
                  </a:moveTo>
                  <a:lnTo>
                    <a:pt x="434340" y="508"/>
                  </a:lnTo>
                  <a:lnTo>
                    <a:pt x="430911" y="1993"/>
                  </a:lnTo>
                  <a:lnTo>
                    <a:pt x="430911" y="0"/>
                  </a:lnTo>
                  <a:lnTo>
                    <a:pt x="6731" y="0"/>
                  </a:lnTo>
                  <a:lnTo>
                    <a:pt x="6731" y="508"/>
                  </a:lnTo>
                  <a:lnTo>
                    <a:pt x="0" y="508"/>
                  </a:lnTo>
                  <a:lnTo>
                    <a:pt x="6731" y="7239"/>
                  </a:lnTo>
                  <a:lnTo>
                    <a:pt x="6731" y="7620"/>
                  </a:lnTo>
                  <a:lnTo>
                    <a:pt x="445897" y="7620"/>
                  </a:lnTo>
                  <a:lnTo>
                    <a:pt x="445897" y="2540"/>
                  </a:lnTo>
                  <a:lnTo>
                    <a:pt x="448437" y="2540"/>
                  </a:lnTo>
                  <a:lnTo>
                    <a:pt x="450469" y="508"/>
                  </a:lnTo>
                  <a:close/>
                </a:path>
              </a:pathLst>
            </a:custGeom>
            <a:solidFill>
              <a:srgbClr val="2E77A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923289" y="1682241"/>
            <a:ext cx="422275" cy="1225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600" b="1" spc="-10" dirty="0">
                <a:solidFill>
                  <a:srgbClr val="FFFFFF"/>
                </a:solidFill>
                <a:latin typeface="Calibri"/>
                <a:cs typeface="Calibri"/>
              </a:rPr>
              <a:t>Interactions</a:t>
            </a:r>
            <a:endParaRPr sz="600">
              <a:latin typeface="Calibri"/>
              <a:cs typeface="Calibri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1473072" y="1600834"/>
            <a:ext cx="601345" cy="313690"/>
            <a:chOff x="1473072" y="1600834"/>
            <a:chExt cx="601345" cy="313690"/>
          </a:xfrm>
        </p:grpSpPr>
        <p:sp>
          <p:nvSpPr>
            <p:cNvPr id="36" name="object 36"/>
            <p:cNvSpPr/>
            <p:nvPr/>
          </p:nvSpPr>
          <p:spPr>
            <a:xfrm>
              <a:off x="1479803" y="1607565"/>
              <a:ext cx="584835" cy="300355"/>
            </a:xfrm>
            <a:custGeom>
              <a:avLst/>
              <a:gdLst/>
              <a:ahLst/>
              <a:cxnLst/>
              <a:rect l="l" t="t" r="r" b="b"/>
              <a:pathLst>
                <a:path w="584835" h="300355">
                  <a:moveTo>
                    <a:pt x="435101" y="0"/>
                  </a:moveTo>
                  <a:lnTo>
                    <a:pt x="0" y="0"/>
                  </a:lnTo>
                  <a:lnTo>
                    <a:pt x="0" y="299846"/>
                  </a:lnTo>
                  <a:lnTo>
                    <a:pt x="435101" y="299846"/>
                  </a:lnTo>
                  <a:lnTo>
                    <a:pt x="584326" y="149986"/>
                  </a:lnTo>
                  <a:lnTo>
                    <a:pt x="435101" y="0"/>
                  </a:lnTo>
                  <a:close/>
                </a:path>
              </a:pathLst>
            </a:custGeom>
            <a:solidFill>
              <a:srgbClr val="44A4E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1473073" y="1600834"/>
              <a:ext cx="454025" cy="313690"/>
            </a:xfrm>
            <a:custGeom>
              <a:avLst/>
              <a:gdLst/>
              <a:ahLst/>
              <a:cxnLst/>
              <a:rect l="l" t="t" r="r" b="b"/>
              <a:pathLst>
                <a:path w="454025" h="313689">
                  <a:moveTo>
                    <a:pt x="453948" y="6985"/>
                  </a:moveTo>
                  <a:lnTo>
                    <a:pt x="14224" y="6985"/>
                  </a:lnTo>
                  <a:lnTo>
                    <a:pt x="14224" y="6731"/>
                  </a:lnTo>
                  <a:lnTo>
                    <a:pt x="451231" y="6731"/>
                  </a:lnTo>
                  <a:lnTo>
                    <a:pt x="444500" y="0"/>
                  </a:lnTo>
                  <a:lnTo>
                    <a:pt x="0" y="0"/>
                  </a:lnTo>
                  <a:lnTo>
                    <a:pt x="0" y="313309"/>
                  </a:lnTo>
                  <a:lnTo>
                    <a:pt x="444500" y="313309"/>
                  </a:lnTo>
                  <a:lnTo>
                    <a:pt x="451231" y="306578"/>
                  </a:lnTo>
                  <a:lnTo>
                    <a:pt x="14224" y="306578"/>
                  </a:lnTo>
                  <a:lnTo>
                    <a:pt x="6731" y="299847"/>
                  </a:lnTo>
                  <a:lnTo>
                    <a:pt x="14224" y="299847"/>
                  </a:lnTo>
                  <a:lnTo>
                    <a:pt x="14224" y="14605"/>
                  </a:lnTo>
                  <a:lnTo>
                    <a:pt x="437591" y="14605"/>
                  </a:lnTo>
                  <a:lnTo>
                    <a:pt x="437591" y="12065"/>
                  </a:lnTo>
                  <a:lnTo>
                    <a:pt x="453948" y="12065"/>
                  </a:lnTo>
                  <a:lnTo>
                    <a:pt x="453948" y="6985"/>
                  </a:lnTo>
                  <a:close/>
                </a:path>
              </a:pathLst>
            </a:custGeom>
            <a:solidFill>
              <a:srgbClr val="2E77A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8" name="object 3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909444" y="1613026"/>
              <a:ext cx="164719" cy="289687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1479804" y="1900681"/>
              <a:ext cx="451484" cy="6985"/>
            </a:xfrm>
            <a:custGeom>
              <a:avLst/>
              <a:gdLst/>
              <a:ahLst/>
              <a:cxnLst/>
              <a:rect l="l" t="t" r="r" b="b"/>
              <a:pathLst>
                <a:path w="451485" h="6985">
                  <a:moveTo>
                    <a:pt x="451231" y="0"/>
                  </a:moveTo>
                  <a:lnTo>
                    <a:pt x="435102" y="0"/>
                  </a:lnTo>
                  <a:lnTo>
                    <a:pt x="430530" y="1701"/>
                  </a:lnTo>
                  <a:lnTo>
                    <a:pt x="430530" y="508"/>
                  </a:lnTo>
                  <a:lnTo>
                    <a:pt x="7493" y="508"/>
                  </a:lnTo>
                  <a:lnTo>
                    <a:pt x="7493" y="0"/>
                  </a:lnTo>
                  <a:lnTo>
                    <a:pt x="0" y="0"/>
                  </a:lnTo>
                  <a:lnTo>
                    <a:pt x="7493" y="6731"/>
                  </a:lnTo>
                  <a:lnTo>
                    <a:pt x="7493" y="6858"/>
                  </a:lnTo>
                  <a:lnTo>
                    <a:pt x="446913" y="6858"/>
                  </a:lnTo>
                  <a:lnTo>
                    <a:pt x="446913" y="2032"/>
                  </a:lnTo>
                  <a:lnTo>
                    <a:pt x="449199" y="2032"/>
                  </a:lnTo>
                  <a:lnTo>
                    <a:pt x="451231" y="0"/>
                  </a:lnTo>
                  <a:close/>
                </a:path>
              </a:pathLst>
            </a:custGeom>
            <a:solidFill>
              <a:srgbClr val="2E77A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1515236" y="1686813"/>
            <a:ext cx="428625" cy="1225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600" b="1" spc="-10" dirty="0">
                <a:solidFill>
                  <a:srgbClr val="FFFFFF"/>
                </a:solidFill>
                <a:latin typeface="Calibri"/>
                <a:cs typeface="Calibri"/>
              </a:rPr>
              <a:t>Automation</a:t>
            </a:r>
            <a:endParaRPr sz="600">
              <a:latin typeface="Calibri"/>
              <a:cs typeface="Calibri"/>
            </a:endParaRPr>
          </a:p>
        </p:txBody>
      </p:sp>
      <p:grpSp>
        <p:nvGrpSpPr>
          <p:cNvPr id="41" name="object 41"/>
          <p:cNvGrpSpPr/>
          <p:nvPr/>
        </p:nvGrpSpPr>
        <p:grpSpPr>
          <a:xfrm>
            <a:off x="415544" y="1215389"/>
            <a:ext cx="187325" cy="302260"/>
            <a:chOff x="415544" y="1215389"/>
            <a:chExt cx="187325" cy="302260"/>
          </a:xfrm>
        </p:grpSpPr>
        <p:pic>
          <p:nvPicPr>
            <p:cNvPr id="42" name="object 4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63931" y="1216253"/>
              <a:ext cx="90095" cy="208432"/>
            </a:xfrm>
            <a:prstGeom prst="rect">
              <a:avLst/>
            </a:prstGeom>
          </p:spPr>
        </p:pic>
        <p:pic>
          <p:nvPicPr>
            <p:cNvPr id="43" name="object 4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18211" y="1424685"/>
              <a:ext cx="181482" cy="90804"/>
            </a:xfrm>
            <a:prstGeom prst="rect">
              <a:avLst/>
            </a:prstGeom>
          </p:spPr>
        </p:pic>
        <p:sp>
          <p:nvSpPr>
            <p:cNvPr id="44" name="object 44"/>
            <p:cNvSpPr/>
            <p:nvPr/>
          </p:nvSpPr>
          <p:spPr>
            <a:xfrm>
              <a:off x="415544" y="1215389"/>
              <a:ext cx="187325" cy="302260"/>
            </a:xfrm>
            <a:custGeom>
              <a:avLst/>
              <a:gdLst/>
              <a:ahLst/>
              <a:cxnLst/>
              <a:rect l="l" t="t" r="r" b="b"/>
              <a:pathLst>
                <a:path w="187325" h="302259">
                  <a:moveTo>
                    <a:pt x="186944" y="208661"/>
                  </a:moveTo>
                  <a:lnTo>
                    <a:pt x="183515" y="208661"/>
                  </a:lnTo>
                  <a:lnTo>
                    <a:pt x="181483" y="208661"/>
                  </a:lnTo>
                  <a:lnTo>
                    <a:pt x="181483" y="210693"/>
                  </a:lnTo>
                  <a:lnTo>
                    <a:pt x="93472" y="298704"/>
                  </a:lnTo>
                  <a:lnTo>
                    <a:pt x="5334" y="210693"/>
                  </a:lnTo>
                  <a:lnTo>
                    <a:pt x="49022" y="210693"/>
                  </a:lnTo>
                  <a:lnTo>
                    <a:pt x="49022" y="209296"/>
                  </a:lnTo>
                  <a:lnTo>
                    <a:pt x="49022" y="208661"/>
                  </a:lnTo>
                  <a:lnTo>
                    <a:pt x="48387" y="208661"/>
                  </a:lnTo>
                  <a:lnTo>
                    <a:pt x="47828" y="208915"/>
                  </a:lnTo>
                  <a:lnTo>
                    <a:pt x="47828" y="208280"/>
                  </a:lnTo>
                  <a:lnTo>
                    <a:pt x="49022" y="208280"/>
                  </a:lnTo>
                  <a:lnTo>
                    <a:pt x="49022" y="1524"/>
                  </a:lnTo>
                  <a:lnTo>
                    <a:pt x="137769" y="1524"/>
                  </a:lnTo>
                  <a:lnTo>
                    <a:pt x="137769" y="1270"/>
                  </a:lnTo>
                  <a:lnTo>
                    <a:pt x="137795" y="210693"/>
                  </a:lnTo>
                  <a:lnTo>
                    <a:pt x="181483" y="210693"/>
                  </a:lnTo>
                  <a:lnTo>
                    <a:pt x="181483" y="208661"/>
                  </a:lnTo>
                  <a:lnTo>
                    <a:pt x="139827" y="208661"/>
                  </a:lnTo>
                  <a:lnTo>
                    <a:pt x="139827" y="1524"/>
                  </a:lnTo>
                  <a:lnTo>
                    <a:pt x="139827" y="1270"/>
                  </a:lnTo>
                  <a:lnTo>
                    <a:pt x="139827" y="889"/>
                  </a:lnTo>
                  <a:lnTo>
                    <a:pt x="139827" y="0"/>
                  </a:lnTo>
                  <a:lnTo>
                    <a:pt x="46990" y="0"/>
                  </a:lnTo>
                  <a:lnTo>
                    <a:pt x="46990" y="1270"/>
                  </a:lnTo>
                  <a:lnTo>
                    <a:pt x="46990" y="208280"/>
                  </a:lnTo>
                  <a:lnTo>
                    <a:pt x="46990" y="208661"/>
                  </a:lnTo>
                  <a:lnTo>
                    <a:pt x="3302" y="208661"/>
                  </a:lnTo>
                  <a:lnTo>
                    <a:pt x="0" y="208661"/>
                  </a:lnTo>
                  <a:lnTo>
                    <a:pt x="93472" y="302133"/>
                  </a:lnTo>
                  <a:lnTo>
                    <a:pt x="96126" y="299466"/>
                  </a:lnTo>
                  <a:lnTo>
                    <a:pt x="184912" y="210693"/>
                  </a:lnTo>
                  <a:lnTo>
                    <a:pt x="186944" y="20866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5" name="object 45"/>
          <p:cNvGrpSpPr/>
          <p:nvPr/>
        </p:nvGrpSpPr>
        <p:grpSpPr>
          <a:xfrm>
            <a:off x="1032002" y="1215389"/>
            <a:ext cx="186690" cy="302260"/>
            <a:chOff x="1032002" y="1215389"/>
            <a:chExt cx="186690" cy="302260"/>
          </a:xfrm>
        </p:grpSpPr>
        <p:pic>
          <p:nvPicPr>
            <p:cNvPr id="46" name="object 46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079754" y="1216253"/>
              <a:ext cx="90766" cy="208432"/>
            </a:xfrm>
            <a:prstGeom prst="rect">
              <a:avLst/>
            </a:prstGeom>
          </p:spPr>
        </p:pic>
        <p:pic>
          <p:nvPicPr>
            <p:cNvPr id="47" name="object 47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034669" y="1424685"/>
              <a:ext cx="180848" cy="90804"/>
            </a:xfrm>
            <a:prstGeom prst="rect">
              <a:avLst/>
            </a:prstGeom>
          </p:spPr>
        </p:pic>
        <p:sp>
          <p:nvSpPr>
            <p:cNvPr id="48" name="object 48"/>
            <p:cNvSpPr/>
            <p:nvPr/>
          </p:nvSpPr>
          <p:spPr>
            <a:xfrm>
              <a:off x="1032002" y="1215389"/>
              <a:ext cx="186690" cy="302260"/>
            </a:xfrm>
            <a:custGeom>
              <a:avLst/>
              <a:gdLst/>
              <a:ahLst/>
              <a:cxnLst/>
              <a:rect l="l" t="t" r="r" b="b"/>
              <a:pathLst>
                <a:path w="186690" h="302259">
                  <a:moveTo>
                    <a:pt x="186182" y="208661"/>
                  </a:moveTo>
                  <a:lnTo>
                    <a:pt x="182880" y="208661"/>
                  </a:lnTo>
                  <a:lnTo>
                    <a:pt x="180848" y="208661"/>
                  </a:lnTo>
                  <a:lnTo>
                    <a:pt x="180848" y="210693"/>
                  </a:lnTo>
                  <a:lnTo>
                    <a:pt x="93091" y="298450"/>
                  </a:lnTo>
                  <a:lnTo>
                    <a:pt x="5334" y="210693"/>
                  </a:lnTo>
                  <a:lnTo>
                    <a:pt x="49022" y="210693"/>
                  </a:lnTo>
                  <a:lnTo>
                    <a:pt x="49022" y="209296"/>
                  </a:lnTo>
                  <a:lnTo>
                    <a:pt x="49022" y="208661"/>
                  </a:lnTo>
                  <a:lnTo>
                    <a:pt x="47752" y="208661"/>
                  </a:lnTo>
                  <a:lnTo>
                    <a:pt x="47193" y="208915"/>
                  </a:lnTo>
                  <a:lnTo>
                    <a:pt x="47193" y="208280"/>
                  </a:lnTo>
                  <a:lnTo>
                    <a:pt x="49022" y="208280"/>
                  </a:lnTo>
                  <a:lnTo>
                    <a:pt x="49022" y="1524"/>
                  </a:lnTo>
                  <a:lnTo>
                    <a:pt x="137096" y="1524"/>
                  </a:lnTo>
                  <a:lnTo>
                    <a:pt x="137096" y="1270"/>
                  </a:lnTo>
                  <a:lnTo>
                    <a:pt x="137160" y="210693"/>
                  </a:lnTo>
                  <a:lnTo>
                    <a:pt x="180848" y="210693"/>
                  </a:lnTo>
                  <a:lnTo>
                    <a:pt x="180848" y="208661"/>
                  </a:lnTo>
                  <a:lnTo>
                    <a:pt x="139827" y="208661"/>
                  </a:lnTo>
                  <a:lnTo>
                    <a:pt x="139827" y="1524"/>
                  </a:lnTo>
                  <a:lnTo>
                    <a:pt x="139827" y="1270"/>
                  </a:lnTo>
                  <a:lnTo>
                    <a:pt x="139827" y="889"/>
                  </a:lnTo>
                  <a:lnTo>
                    <a:pt x="139827" y="0"/>
                  </a:lnTo>
                  <a:lnTo>
                    <a:pt x="46355" y="0"/>
                  </a:lnTo>
                  <a:lnTo>
                    <a:pt x="46355" y="1270"/>
                  </a:lnTo>
                  <a:lnTo>
                    <a:pt x="46355" y="208280"/>
                  </a:lnTo>
                  <a:lnTo>
                    <a:pt x="46355" y="208661"/>
                  </a:lnTo>
                  <a:lnTo>
                    <a:pt x="3302" y="208661"/>
                  </a:lnTo>
                  <a:lnTo>
                    <a:pt x="0" y="208661"/>
                  </a:lnTo>
                  <a:lnTo>
                    <a:pt x="93472" y="302133"/>
                  </a:lnTo>
                  <a:lnTo>
                    <a:pt x="96139" y="299466"/>
                  </a:lnTo>
                  <a:lnTo>
                    <a:pt x="184277" y="210693"/>
                  </a:lnTo>
                  <a:lnTo>
                    <a:pt x="186182" y="20866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9" name="object 49"/>
          <p:cNvGrpSpPr/>
          <p:nvPr/>
        </p:nvGrpSpPr>
        <p:grpSpPr>
          <a:xfrm>
            <a:off x="1633854" y="1215389"/>
            <a:ext cx="187325" cy="302260"/>
            <a:chOff x="1633854" y="1215389"/>
            <a:chExt cx="187325" cy="302260"/>
          </a:xfrm>
        </p:grpSpPr>
        <p:pic>
          <p:nvPicPr>
            <p:cNvPr id="50" name="object 5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682241" y="1216253"/>
              <a:ext cx="90766" cy="208432"/>
            </a:xfrm>
            <a:prstGeom prst="rect">
              <a:avLst/>
            </a:prstGeom>
          </p:spPr>
        </p:pic>
        <p:pic>
          <p:nvPicPr>
            <p:cNvPr id="51" name="object 51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637156" y="1424685"/>
              <a:ext cx="180848" cy="90804"/>
            </a:xfrm>
            <a:prstGeom prst="rect">
              <a:avLst/>
            </a:prstGeom>
          </p:spPr>
        </p:pic>
        <p:sp>
          <p:nvSpPr>
            <p:cNvPr id="52" name="object 52"/>
            <p:cNvSpPr/>
            <p:nvPr/>
          </p:nvSpPr>
          <p:spPr>
            <a:xfrm>
              <a:off x="1633855" y="1215389"/>
              <a:ext cx="187325" cy="302260"/>
            </a:xfrm>
            <a:custGeom>
              <a:avLst/>
              <a:gdLst/>
              <a:ahLst/>
              <a:cxnLst/>
              <a:rect l="l" t="t" r="r" b="b"/>
              <a:pathLst>
                <a:path w="187325" h="302259">
                  <a:moveTo>
                    <a:pt x="186817" y="208661"/>
                  </a:moveTo>
                  <a:lnTo>
                    <a:pt x="183515" y="208661"/>
                  </a:lnTo>
                  <a:lnTo>
                    <a:pt x="181483" y="208661"/>
                  </a:lnTo>
                  <a:lnTo>
                    <a:pt x="181483" y="210693"/>
                  </a:lnTo>
                  <a:lnTo>
                    <a:pt x="93472" y="298704"/>
                  </a:lnTo>
                  <a:lnTo>
                    <a:pt x="5969" y="210693"/>
                  </a:lnTo>
                  <a:lnTo>
                    <a:pt x="49657" y="210693"/>
                  </a:lnTo>
                  <a:lnTo>
                    <a:pt x="49657" y="209296"/>
                  </a:lnTo>
                  <a:lnTo>
                    <a:pt x="49657" y="208661"/>
                  </a:lnTo>
                  <a:lnTo>
                    <a:pt x="48387" y="208661"/>
                  </a:lnTo>
                  <a:lnTo>
                    <a:pt x="47828" y="208915"/>
                  </a:lnTo>
                  <a:lnTo>
                    <a:pt x="47828" y="208280"/>
                  </a:lnTo>
                  <a:lnTo>
                    <a:pt x="49657" y="208280"/>
                  </a:lnTo>
                  <a:lnTo>
                    <a:pt x="49657" y="1524"/>
                  </a:lnTo>
                  <a:lnTo>
                    <a:pt x="137731" y="1524"/>
                  </a:lnTo>
                  <a:lnTo>
                    <a:pt x="137731" y="1270"/>
                  </a:lnTo>
                  <a:lnTo>
                    <a:pt x="137795" y="210693"/>
                  </a:lnTo>
                  <a:lnTo>
                    <a:pt x="181483" y="210693"/>
                  </a:lnTo>
                  <a:lnTo>
                    <a:pt x="181483" y="208661"/>
                  </a:lnTo>
                  <a:lnTo>
                    <a:pt x="139827" y="208661"/>
                  </a:lnTo>
                  <a:lnTo>
                    <a:pt x="139827" y="1524"/>
                  </a:lnTo>
                  <a:lnTo>
                    <a:pt x="139827" y="1270"/>
                  </a:lnTo>
                  <a:lnTo>
                    <a:pt x="139827" y="889"/>
                  </a:lnTo>
                  <a:lnTo>
                    <a:pt x="139827" y="0"/>
                  </a:lnTo>
                  <a:lnTo>
                    <a:pt x="46990" y="0"/>
                  </a:lnTo>
                  <a:lnTo>
                    <a:pt x="46990" y="1270"/>
                  </a:lnTo>
                  <a:lnTo>
                    <a:pt x="46990" y="208280"/>
                  </a:lnTo>
                  <a:lnTo>
                    <a:pt x="46990" y="208661"/>
                  </a:lnTo>
                  <a:lnTo>
                    <a:pt x="3937" y="208661"/>
                  </a:lnTo>
                  <a:lnTo>
                    <a:pt x="0" y="208661"/>
                  </a:lnTo>
                  <a:lnTo>
                    <a:pt x="93472" y="302133"/>
                  </a:lnTo>
                  <a:lnTo>
                    <a:pt x="96139" y="299466"/>
                  </a:lnTo>
                  <a:lnTo>
                    <a:pt x="184912" y="210693"/>
                  </a:lnTo>
                  <a:lnTo>
                    <a:pt x="186817" y="20866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53" name="object 53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229488" y="2144013"/>
            <a:ext cx="228600" cy="129539"/>
          </a:xfrm>
          <a:prstGeom prst="rect">
            <a:avLst/>
          </a:prstGeom>
        </p:spPr>
      </p:pic>
      <p:pic>
        <p:nvPicPr>
          <p:cNvPr id="54" name="object 54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229488" y="2692653"/>
            <a:ext cx="228600" cy="129539"/>
          </a:xfrm>
          <a:prstGeom prst="rect">
            <a:avLst/>
          </a:prstGeom>
        </p:spPr>
      </p:pic>
      <p:sp>
        <p:nvSpPr>
          <p:cNvPr id="55" name="object 55"/>
          <p:cNvSpPr txBox="1"/>
          <p:nvPr/>
        </p:nvSpPr>
        <p:spPr>
          <a:xfrm>
            <a:off x="50698" y="1985009"/>
            <a:ext cx="4481830" cy="1122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7160" indent="-124460" algn="just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137160" algn="l"/>
              </a:tabLst>
            </a:pPr>
            <a:r>
              <a:rPr sz="900" spc="-10" dirty="0">
                <a:solidFill>
                  <a:srgbClr val="006FBE"/>
                </a:solidFill>
                <a:latin typeface="Calibri"/>
                <a:cs typeface="Calibri"/>
              </a:rPr>
              <a:t>Process:</a:t>
            </a:r>
            <a:endParaRPr sz="900">
              <a:latin typeface="Calibri"/>
              <a:cs typeface="Calibri"/>
            </a:endParaRPr>
          </a:p>
          <a:p>
            <a:pPr marL="303530" marR="51435" algn="just">
              <a:lnSpc>
                <a:spcPct val="100000"/>
              </a:lnSpc>
            </a:pPr>
            <a:r>
              <a:rPr sz="900" dirty="0">
                <a:latin typeface="Calibri"/>
                <a:cs typeface="Calibri"/>
              </a:rPr>
              <a:t>Sequence</a:t>
            </a:r>
            <a:r>
              <a:rPr sz="900" spc="19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or</a:t>
            </a:r>
            <a:r>
              <a:rPr sz="900" spc="16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layers</a:t>
            </a:r>
            <a:r>
              <a:rPr sz="900" spc="18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of</a:t>
            </a:r>
            <a:r>
              <a:rPr sz="900" spc="21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procedures</a:t>
            </a:r>
            <a:r>
              <a:rPr sz="900" spc="18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that</a:t>
            </a:r>
            <a:r>
              <a:rPr sz="900" spc="18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is</a:t>
            </a:r>
            <a:r>
              <a:rPr sz="900" spc="22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consisted</a:t>
            </a:r>
            <a:r>
              <a:rPr sz="900" spc="204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of</a:t>
            </a:r>
            <a:r>
              <a:rPr sz="900" spc="21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people,</a:t>
            </a:r>
            <a:r>
              <a:rPr sz="900" spc="22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machines,</a:t>
            </a:r>
            <a:r>
              <a:rPr sz="900" spc="215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materials,</a:t>
            </a:r>
            <a:r>
              <a:rPr sz="900" spc="50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methods</a:t>
            </a:r>
            <a:r>
              <a:rPr sz="900" spc="1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and</a:t>
            </a:r>
            <a:r>
              <a:rPr sz="900" spc="220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governing</a:t>
            </a:r>
            <a:r>
              <a:rPr sz="900" spc="1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policies</a:t>
            </a:r>
            <a:r>
              <a:rPr sz="900" spc="15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that</a:t>
            </a:r>
            <a:r>
              <a:rPr sz="900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are</a:t>
            </a:r>
            <a:r>
              <a:rPr sz="900" spc="-1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used</a:t>
            </a:r>
            <a:r>
              <a:rPr sz="900" spc="2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all </a:t>
            </a:r>
            <a:r>
              <a:rPr sz="900" spc="-10" dirty="0">
                <a:latin typeface="Calibri"/>
                <a:cs typeface="Calibri"/>
              </a:rPr>
              <a:t>together</a:t>
            </a:r>
            <a:r>
              <a:rPr sz="900" spc="1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to</a:t>
            </a:r>
            <a:r>
              <a:rPr sz="900" spc="2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design</a:t>
            </a:r>
            <a:r>
              <a:rPr sz="900" spc="2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and</a:t>
            </a:r>
            <a:r>
              <a:rPr sz="900" spc="10" dirty="0">
                <a:latin typeface="Calibri"/>
                <a:cs typeface="Calibri"/>
              </a:rPr>
              <a:t> </a:t>
            </a:r>
            <a:r>
              <a:rPr sz="900" spc="-20" dirty="0">
                <a:latin typeface="Calibri"/>
                <a:cs typeface="Calibri"/>
              </a:rPr>
              <a:t>delivery</a:t>
            </a:r>
            <a:r>
              <a:rPr sz="900" dirty="0">
                <a:latin typeface="Calibri"/>
                <a:cs typeface="Calibri"/>
              </a:rPr>
              <a:t> a</a:t>
            </a:r>
            <a:r>
              <a:rPr sz="900" spc="15" dirty="0">
                <a:latin typeface="Calibri"/>
                <a:cs typeface="Calibri"/>
              </a:rPr>
              <a:t> </a:t>
            </a:r>
            <a:r>
              <a:rPr sz="900" spc="-20" dirty="0">
                <a:latin typeface="Calibri"/>
                <a:cs typeface="Calibri"/>
              </a:rPr>
              <a:t>good</a:t>
            </a:r>
            <a:r>
              <a:rPr sz="900" spc="500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or</a:t>
            </a:r>
            <a:r>
              <a:rPr sz="900" spc="-6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service</a:t>
            </a:r>
            <a:r>
              <a:rPr sz="900" spc="-5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(product)</a:t>
            </a:r>
            <a:r>
              <a:rPr sz="900" spc="-4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.</a:t>
            </a:r>
            <a:r>
              <a:rPr sz="900" spc="215" dirty="0">
                <a:latin typeface="Calibri"/>
                <a:cs typeface="Calibri"/>
              </a:rPr>
              <a:t> </a:t>
            </a:r>
            <a:r>
              <a:rPr sz="900" spc="-20" dirty="0">
                <a:latin typeface="Calibri"/>
                <a:cs typeface="Calibri"/>
              </a:rPr>
              <a:t>Conversion</a:t>
            </a:r>
            <a:r>
              <a:rPr sz="900" spc="1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of</a:t>
            </a:r>
            <a:r>
              <a:rPr sz="900" spc="-3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an</a:t>
            </a:r>
            <a:r>
              <a:rPr sz="900" spc="-1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input</a:t>
            </a:r>
            <a:r>
              <a:rPr sz="900" spc="-10" dirty="0">
                <a:latin typeface="Calibri"/>
                <a:cs typeface="Calibri"/>
              </a:rPr>
              <a:t> into</a:t>
            </a:r>
            <a:r>
              <a:rPr sz="900" dirty="0">
                <a:latin typeface="Calibri"/>
                <a:cs typeface="Calibri"/>
              </a:rPr>
              <a:t> an</a:t>
            </a:r>
            <a:r>
              <a:rPr sz="900" spc="-10" dirty="0">
                <a:latin typeface="Calibri"/>
                <a:cs typeface="Calibri"/>
              </a:rPr>
              <a:t> output</a:t>
            </a:r>
            <a:r>
              <a:rPr sz="900" spc="-30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through-outprocedures.</a:t>
            </a:r>
            <a:endParaRPr sz="900">
              <a:latin typeface="Calibri"/>
              <a:cs typeface="Calibri"/>
            </a:endParaRPr>
          </a:p>
          <a:p>
            <a:pPr marL="137160" indent="-124460" algn="just">
              <a:lnSpc>
                <a:spcPct val="100000"/>
              </a:lnSpc>
              <a:buFont typeface="Arial MT"/>
              <a:buChar char="•"/>
              <a:tabLst>
                <a:tab pos="137160" algn="l"/>
              </a:tabLst>
            </a:pPr>
            <a:r>
              <a:rPr sz="900" spc="-10" dirty="0">
                <a:solidFill>
                  <a:srgbClr val="006FBE"/>
                </a:solidFill>
                <a:latin typeface="Calibri"/>
                <a:cs typeface="Calibri"/>
              </a:rPr>
              <a:t>Practice:</a:t>
            </a:r>
            <a:endParaRPr sz="900">
              <a:latin typeface="Calibri"/>
              <a:cs typeface="Calibri"/>
            </a:endParaRPr>
          </a:p>
          <a:p>
            <a:pPr marL="303530" algn="just">
              <a:lnSpc>
                <a:spcPct val="100000"/>
              </a:lnSpc>
            </a:pPr>
            <a:r>
              <a:rPr sz="900" spc="-10" dirty="0">
                <a:latin typeface="Calibri"/>
                <a:cs typeface="Calibri"/>
              </a:rPr>
              <a:t>Series</a:t>
            </a:r>
            <a:r>
              <a:rPr sz="900" spc="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of</a:t>
            </a:r>
            <a:r>
              <a:rPr sz="900" spc="-3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steps</a:t>
            </a:r>
            <a:r>
              <a:rPr sz="900" spc="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to</a:t>
            </a:r>
            <a:r>
              <a:rPr sz="900" spc="-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achieve</a:t>
            </a:r>
            <a:r>
              <a:rPr sz="900" spc="1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a</a:t>
            </a:r>
            <a:r>
              <a:rPr sz="900" spc="-40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consistent</a:t>
            </a:r>
            <a:r>
              <a:rPr sz="900" spc="60" dirty="0">
                <a:latin typeface="Calibri"/>
                <a:cs typeface="Calibri"/>
              </a:rPr>
              <a:t> </a:t>
            </a:r>
            <a:r>
              <a:rPr sz="900" spc="-30" dirty="0">
                <a:latin typeface="Calibri"/>
                <a:cs typeface="Calibri"/>
              </a:rPr>
              <a:t>result</a:t>
            </a:r>
            <a:r>
              <a:rPr sz="900" spc="-75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(output).</a:t>
            </a:r>
            <a:endParaRPr sz="900">
              <a:latin typeface="Calibri"/>
              <a:cs typeface="Calibri"/>
            </a:endParaRPr>
          </a:p>
          <a:p>
            <a:pPr marL="137160" marR="5080" indent="-125095" algn="just">
              <a:lnSpc>
                <a:spcPct val="100000"/>
              </a:lnSpc>
              <a:buFont typeface="Arial MT"/>
              <a:buChar char="•"/>
              <a:tabLst>
                <a:tab pos="137160" algn="l"/>
              </a:tabLst>
            </a:pPr>
            <a:r>
              <a:rPr sz="900" dirty="0">
                <a:solidFill>
                  <a:srgbClr val="006FBE"/>
                </a:solidFill>
                <a:latin typeface="Calibri"/>
                <a:cs typeface="Calibri"/>
              </a:rPr>
              <a:t>A</a:t>
            </a:r>
            <a:r>
              <a:rPr sz="900" spc="-1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006FBE"/>
                </a:solidFill>
                <a:latin typeface="Calibri"/>
                <a:cs typeface="Calibri"/>
              </a:rPr>
              <a:t>simple</a:t>
            </a:r>
            <a:r>
              <a:rPr sz="900" spc="5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006FBE"/>
                </a:solidFill>
                <a:latin typeface="Calibri"/>
                <a:cs typeface="Calibri"/>
              </a:rPr>
              <a:t>process</a:t>
            </a:r>
            <a:r>
              <a:rPr sz="900" spc="4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006FBE"/>
                </a:solidFill>
                <a:latin typeface="Calibri"/>
                <a:cs typeface="Calibri"/>
              </a:rPr>
              <a:t>may</a:t>
            </a:r>
            <a:r>
              <a:rPr sz="900" spc="3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006FBE"/>
                </a:solidFill>
                <a:latin typeface="Calibri"/>
                <a:cs typeface="Calibri"/>
              </a:rPr>
              <a:t>be</a:t>
            </a:r>
            <a:r>
              <a:rPr sz="900" spc="6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006FBE"/>
                </a:solidFill>
                <a:latin typeface="Calibri"/>
                <a:cs typeface="Calibri"/>
              </a:rPr>
              <a:t>described</a:t>
            </a:r>
            <a:r>
              <a:rPr sz="900" spc="4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006FBE"/>
                </a:solidFill>
                <a:latin typeface="Calibri"/>
                <a:cs typeface="Calibri"/>
              </a:rPr>
              <a:t>by</a:t>
            </a:r>
            <a:r>
              <a:rPr sz="900" spc="3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006FBE"/>
                </a:solidFill>
                <a:latin typeface="Calibri"/>
                <a:cs typeface="Calibri"/>
              </a:rPr>
              <a:t>a</a:t>
            </a:r>
            <a:r>
              <a:rPr sz="900" spc="3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006FBE"/>
                </a:solidFill>
                <a:latin typeface="Calibri"/>
                <a:cs typeface="Calibri"/>
              </a:rPr>
              <a:t>single</a:t>
            </a:r>
            <a:r>
              <a:rPr sz="900" spc="6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006FBE"/>
                </a:solidFill>
                <a:latin typeface="Calibri"/>
                <a:cs typeface="Calibri"/>
              </a:rPr>
              <a:t>procedure.</a:t>
            </a:r>
            <a:r>
              <a:rPr sz="900" spc="3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006FBE"/>
                </a:solidFill>
                <a:latin typeface="Calibri"/>
                <a:cs typeface="Calibri"/>
              </a:rPr>
              <a:t>But</a:t>
            </a:r>
            <a:r>
              <a:rPr sz="900" spc="4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006FBE"/>
                </a:solidFill>
                <a:latin typeface="Calibri"/>
                <a:cs typeface="Calibri"/>
              </a:rPr>
              <a:t>a</a:t>
            </a:r>
            <a:r>
              <a:rPr sz="900" spc="4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006FBE"/>
                </a:solidFill>
                <a:latin typeface="Calibri"/>
                <a:cs typeface="Calibri"/>
              </a:rPr>
              <a:t>more</a:t>
            </a:r>
            <a:r>
              <a:rPr sz="900" spc="3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006FBE"/>
                </a:solidFill>
                <a:latin typeface="Calibri"/>
                <a:cs typeface="Calibri"/>
              </a:rPr>
              <a:t>complex</a:t>
            </a:r>
            <a:r>
              <a:rPr sz="900" spc="5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006FBE"/>
                </a:solidFill>
                <a:latin typeface="Calibri"/>
                <a:cs typeface="Calibri"/>
              </a:rPr>
              <a:t>process,</a:t>
            </a:r>
            <a:r>
              <a:rPr sz="900" spc="9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spc="-20" dirty="0">
                <a:solidFill>
                  <a:srgbClr val="006FBE"/>
                </a:solidFill>
                <a:latin typeface="Calibri"/>
                <a:cs typeface="Calibri"/>
              </a:rPr>
              <a:t>will</a:t>
            </a:r>
            <a:r>
              <a:rPr sz="900" spc="50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spc="-20" dirty="0">
                <a:solidFill>
                  <a:srgbClr val="006FBE"/>
                </a:solidFill>
                <a:latin typeface="Calibri"/>
                <a:cs typeface="Calibri"/>
              </a:rPr>
              <a:t>have</a:t>
            </a:r>
            <a:r>
              <a:rPr sz="900" spc="-3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006FBE"/>
                </a:solidFill>
                <a:latin typeface="Calibri"/>
                <a:cs typeface="Calibri"/>
              </a:rPr>
              <a:t>multiple</a:t>
            </a:r>
            <a:r>
              <a:rPr sz="900" spc="-5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00" spc="-10" dirty="0">
                <a:solidFill>
                  <a:srgbClr val="006FBE"/>
                </a:solidFill>
                <a:latin typeface="Calibri"/>
                <a:cs typeface="Calibri"/>
              </a:rPr>
              <a:t>procedures.</a:t>
            </a:r>
            <a:endParaRPr sz="9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9017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Calibri"/>
                <a:cs typeface="Calibri"/>
              </a:rPr>
              <a:t>Dimensions</a:t>
            </a:r>
            <a:r>
              <a:rPr sz="2000" spc="1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DevOps</a:t>
            </a:r>
            <a:endParaRPr sz="20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84150" y="678433"/>
            <a:ext cx="540385" cy="490855"/>
            <a:chOff x="184150" y="678433"/>
            <a:chExt cx="540385" cy="49085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84150" y="678433"/>
              <a:ext cx="304800" cy="17373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8929" y="861313"/>
              <a:ext cx="305409" cy="17373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5045" y="1039621"/>
              <a:ext cx="229209" cy="129540"/>
            </a:xfrm>
            <a:prstGeom prst="rect">
              <a:avLst/>
            </a:prstGeom>
          </p:spPr>
        </p:pic>
      </p:grpSp>
      <p:grpSp>
        <p:nvGrpSpPr>
          <p:cNvPr id="8" name="object 8"/>
          <p:cNvGrpSpPr/>
          <p:nvPr/>
        </p:nvGrpSpPr>
        <p:grpSpPr>
          <a:xfrm>
            <a:off x="328929" y="1454149"/>
            <a:ext cx="395605" cy="426720"/>
            <a:chOff x="328929" y="1454149"/>
            <a:chExt cx="395605" cy="426720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5045" y="1454149"/>
              <a:ext cx="229209" cy="12953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8929" y="1563877"/>
              <a:ext cx="305409" cy="173736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5045" y="1751329"/>
              <a:ext cx="229209" cy="129539"/>
            </a:xfrm>
            <a:prstGeom prst="rect">
              <a:avLst/>
            </a:prstGeom>
          </p:spPr>
        </p:pic>
      </p:grpSp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95045" y="2025649"/>
            <a:ext cx="229209" cy="129539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357377" y="653541"/>
            <a:ext cx="4063365" cy="2112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8750" marR="2228850" indent="-146685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Calibri"/>
                <a:cs typeface="Calibri"/>
              </a:rPr>
              <a:t>Three</a:t>
            </a:r>
            <a:r>
              <a:rPr sz="1200" spc="-1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dimensions</a:t>
            </a:r>
            <a:r>
              <a:rPr sz="1200" spc="-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14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DevOps </a:t>
            </a:r>
            <a:r>
              <a:rPr sz="1200" spc="-10" dirty="0">
                <a:solidFill>
                  <a:srgbClr val="006FBE"/>
                </a:solidFill>
                <a:latin typeface="Calibri"/>
                <a:cs typeface="Calibri"/>
              </a:rPr>
              <a:t>People</a:t>
            </a:r>
            <a:endParaRPr sz="1200">
              <a:latin typeface="Calibri"/>
              <a:cs typeface="Calibri"/>
            </a:endParaRPr>
          </a:p>
          <a:p>
            <a:pPr marL="325120" marR="5080" algn="just">
              <a:lnSpc>
                <a:spcPts val="1090"/>
              </a:lnSpc>
              <a:spcBef>
                <a:spcPts val="15"/>
              </a:spcBef>
            </a:pPr>
            <a:r>
              <a:rPr sz="900" dirty="0">
                <a:latin typeface="Calibri"/>
                <a:cs typeface="Calibri"/>
              </a:rPr>
              <a:t>Initially,</a:t>
            </a:r>
            <a:r>
              <a:rPr sz="900" spc="16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stakeholders</a:t>
            </a:r>
            <a:r>
              <a:rPr sz="900" spc="17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would</a:t>
            </a:r>
            <a:r>
              <a:rPr sz="900" spc="17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need</a:t>
            </a:r>
            <a:r>
              <a:rPr sz="900" spc="18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to</a:t>
            </a:r>
            <a:r>
              <a:rPr sz="900" spc="18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be</a:t>
            </a:r>
            <a:r>
              <a:rPr sz="900" spc="18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identified,</a:t>
            </a:r>
            <a:r>
              <a:rPr sz="900" spc="19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ensuring</a:t>
            </a:r>
            <a:r>
              <a:rPr sz="900" spc="17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that</a:t>
            </a:r>
            <a:r>
              <a:rPr sz="900" spc="160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everybody</a:t>
            </a:r>
            <a:r>
              <a:rPr sz="900" spc="50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delivering</a:t>
            </a:r>
            <a:r>
              <a:rPr sz="900" spc="6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value</a:t>
            </a:r>
            <a:r>
              <a:rPr sz="900" spc="7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to</a:t>
            </a:r>
            <a:r>
              <a:rPr sz="900" spc="8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the</a:t>
            </a:r>
            <a:r>
              <a:rPr sz="900" spc="8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business</a:t>
            </a:r>
            <a:r>
              <a:rPr sz="900" spc="10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are</a:t>
            </a:r>
            <a:r>
              <a:rPr sz="900" spc="6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working</a:t>
            </a:r>
            <a:r>
              <a:rPr sz="900" spc="6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tightly</a:t>
            </a:r>
            <a:r>
              <a:rPr sz="900" spc="8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together</a:t>
            </a:r>
            <a:r>
              <a:rPr sz="900" spc="8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on</a:t>
            </a:r>
            <a:r>
              <a:rPr sz="900" spc="10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the</a:t>
            </a:r>
            <a:r>
              <a:rPr sz="900" spc="85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common</a:t>
            </a:r>
            <a:r>
              <a:rPr sz="900" spc="50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goal</a:t>
            </a:r>
            <a:r>
              <a:rPr sz="900" spc="2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of</a:t>
            </a:r>
            <a:r>
              <a:rPr sz="900" spc="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adding</a:t>
            </a:r>
            <a:r>
              <a:rPr sz="900" spc="30" dirty="0">
                <a:latin typeface="Calibri"/>
                <a:cs typeface="Calibri"/>
              </a:rPr>
              <a:t> </a:t>
            </a:r>
            <a:r>
              <a:rPr sz="900" spc="-20" dirty="0">
                <a:latin typeface="Calibri"/>
                <a:cs typeface="Calibri"/>
              </a:rPr>
              <a:t>value</a:t>
            </a:r>
            <a:r>
              <a:rPr sz="900" spc="-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to</a:t>
            </a:r>
            <a:r>
              <a:rPr sz="900" spc="20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the</a:t>
            </a:r>
            <a:r>
              <a:rPr sz="900" spc="-75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customer.</a:t>
            </a:r>
            <a:endParaRPr sz="900">
              <a:latin typeface="Calibri"/>
              <a:cs typeface="Calibri"/>
            </a:endParaRPr>
          </a:p>
          <a:p>
            <a:pPr marL="325120" algn="just">
              <a:lnSpc>
                <a:spcPts val="925"/>
              </a:lnSpc>
            </a:pPr>
            <a:r>
              <a:rPr sz="900" dirty="0">
                <a:latin typeface="Calibri"/>
                <a:cs typeface="Calibri"/>
              </a:rPr>
              <a:t>Highly</a:t>
            </a:r>
            <a:r>
              <a:rPr sz="900" spc="95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motivated</a:t>
            </a:r>
            <a:r>
              <a:rPr sz="900" spc="-4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people</a:t>
            </a:r>
            <a:r>
              <a:rPr sz="900" spc="4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with</a:t>
            </a:r>
            <a:r>
              <a:rPr sz="900" spc="-1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good</a:t>
            </a:r>
            <a:r>
              <a:rPr sz="900" spc="50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collaboration</a:t>
            </a:r>
            <a:r>
              <a:rPr sz="900" spc="-4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is</a:t>
            </a:r>
            <a:r>
              <a:rPr sz="900" spc="10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necessary</a:t>
            </a:r>
            <a:endParaRPr sz="900">
              <a:latin typeface="Calibri"/>
              <a:cs typeface="Calibri"/>
            </a:endParaRPr>
          </a:p>
          <a:p>
            <a:pPr marL="158750">
              <a:lnSpc>
                <a:spcPts val="1320"/>
              </a:lnSpc>
            </a:pPr>
            <a:r>
              <a:rPr sz="1200" spc="-10" dirty="0">
                <a:solidFill>
                  <a:srgbClr val="006FBE"/>
                </a:solidFill>
                <a:latin typeface="Calibri"/>
                <a:cs typeface="Calibri"/>
              </a:rPr>
              <a:t>Process</a:t>
            </a:r>
            <a:endParaRPr sz="1200">
              <a:latin typeface="Calibri"/>
              <a:cs typeface="Calibri"/>
            </a:endParaRPr>
          </a:p>
          <a:p>
            <a:pPr marL="325120" marR="5080" algn="just">
              <a:lnSpc>
                <a:spcPct val="100000"/>
              </a:lnSpc>
              <a:spcBef>
                <a:spcPts val="60"/>
              </a:spcBef>
            </a:pPr>
            <a:r>
              <a:rPr sz="900" dirty="0">
                <a:latin typeface="Calibri"/>
                <a:cs typeface="Calibri"/>
              </a:rPr>
              <a:t>Process</a:t>
            </a:r>
            <a:r>
              <a:rPr sz="900" spc="1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of</a:t>
            </a:r>
            <a:r>
              <a:rPr sz="900" spc="1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designing,</a:t>
            </a:r>
            <a:r>
              <a:rPr sz="900" spc="5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building</a:t>
            </a:r>
            <a:r>
              <a:rPr sz="900" spc="3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and</a:t>
            </a:r>
            <a:r>
              <a:rPr sz="900" spc="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testing</a:t>
            </a:r>
            <a:r>
              <a:rPr sz="900" spc="40" dirty="0">
                <a:latin typeface="Calibri"/>
                <a:cs typeface="Calibri"/>
              </a:rPr>
              <a:t> </a:t>
            </a:r>
            <a:r>
              <a:rPr sz="900" spc="-20" dirty="0">
                <a:latin typeface="Calibri"/>
                <a:cs typeface="Calibri"/>
              </a:rPr>
              <a:t>software</a:t>
            </a:r>
            <a:r>
              <a:rPr sz="900" spc="-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should</a:t>
            </a:r>
            <a:r>
              <a:rPr sz="900" spc="2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be</a:t>
            </a:r>
            <a:r>
              <a:rPr sz="900" spc="2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well</a:t>
            </a:r>
            <a:r>
              <a:rPr sz="900" spc="2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presented</a:t>
            </a:r>
            <a:r>
              <a:rPr sz="900" spc="25" dirty="0">
                <a:latin typeface="Calibri"/>
                <a:cs typeface="Calibri"/>
              </a:rPr>
              <a:t> </a:t>
            </a:r>
            <a:r>
              <a:rPr sz="900" spc="-25" dirty="0">
                <a:latin typeface="Calibri"/>
                <a:cs typeface="Calibri"/>
              </a:rPr>
              <a:t>to</a:t>
            </a:r>
            <a:r>
              <a:rPr sz="900" spc="50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each</a:t>
            </a:r>
            <a:r>
              <a:rPr sz="900" spc="-5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individual</a:t>
            </a:r>
            <a:r>
              <a:rPr sz="900" spc="2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team</a:t>
            </a:r>
            <a:r>
              <a:rPr sz="900" spc="10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member</a:t>
            </a:r>
            <a:endParaRPr sz="900">
              <a:latin typeface="Calibri"/>
              <a:cs typeface="Calibri"/>
            </a:endParaRPr>
          </a:p>
          <a:p>
            <a:pPr marL="325120" algn="just">
              <a:lnSpc>
                <a:spcPct val="100000"/>
              </a:lnSpc>
            </a:pPr>
            <a:r>
              <a:rPr sz="900" dirty="0">
                <a:latin typeface="Calibri"/>
                <a:cs typeface="Calibri"/>
              </a:rPr>
              <a:t>Processes</a:t>
            </a:r>
            <a:r>
              <a:rPr sz="900" spc="2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and</a:t>
            </a:r>
            <a:r>
              <a:rPr sz="900" spc="-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practices </a:t>
            </a:r>
            <a:r>
              <a:rPr sz="900" spc="-10" dirty="0">
                <a:latin typeface="Calibri"/>
                <a:cs typeface="Calibri"/>
              </a:rPr>
              <a:t>that</a:t>
            </a:r>
            <a:r>
              <a:rPr sz="900" dirty="0">
                <a:latin typeface="Calibri"/>
                <a:cs typeface="Calibri"/>
              </a:rPr>
              <a:t> help</a:t>
            </a:r>
            <a:r>
              <a:rPr sz="900" spc="20" dirty="0">
                <a:latin typeface="Calibri"/>
                <a:cs typeface="Calibri"/>
              </a:rPr>
              <a:t> </a:t>
            </a:r>
            <a:r>
              <a:rPr sz="900" spc="-25" dirty="0">
                <a:latin typeface="Calibri"/>
                <a:cs typeface="Calibri"/>
              </a:rPr>
              <a:t>improve</a:t>
            </a:r>
            <a:r>
              <a:rPr sz="900" spc="-1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the</a:t>
            </a:r>
            <a:r>
              <a:rPr sz="900" spc="10" dirty="0">
                <a:latin typeface="Calibri"/>
                <a:cs typeface="Calibri"/>
              </a:rPr>
              <a:t> </a:t>
            </a:r>
            <a:r>
              <a:rPr sz="900" spc="-20" dirty="0">
                <a:latin typeface="Calibri"/>
                <a:cs typeface="Calibri"/>
              </a:rPr>
              <a:t>value</a:t>
            </a:r>
            <a:r>
              <a:rPr sz="900" spc="-1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and</a:t>
            </a:r>
            <a:r>
              <a:rPr sz="900" spc="-5" dirty="0">
                <a:latin typeface="Calibri"/>
                <a:cs typeface="Calibri"/>
              </a:rPr>
              <a:t> </a:t>
            </a:r>
            <a:r>
              <a:rPr sz="900" spc="-20" dirty="0">
                <a:latin typeface="Calibri"/>
                <a:cs typeface="Calibri"/>
              </a:rPr>
              <a:t>delivery</a:t>
            </a:r>
            <a:r>
              <a:rPr sz="900" spc="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to</a:t>
            </a:r>
            <a:r>
              <a:rPr sz="900" spc="55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customers</a:t>
            </a:r>
            <a:endParaRPr sz="900">
              <a:latin typeface="Calibri"/>
              <a:cs typeface="Calibri"/>
            </a:endParaRPr>
          </a:p>
          <a:p>
            <a:pPr marL="186690">
              <a:lnSpc>
                <a:spcPct val="100000"/>
              </a:lnSpc>
              <a:spcBef>
                <a:spcPts val="420"/>
              </a:spcBef>
            </a:pPr>
            <a:r>
              <a:rPr sz="1200" spc="-10" dirty="0">
                <a:solidFill>
                  <a:srgbClr val="006FBE"/>
                </a:solidFill>
                <a:latin typeface="Calibri"/>
                <a:cs typeface="Calibri"/>
              </a:rPr>
              <a:t>Tools</a:t>
            </a:r>
            <a:endParaRPr sz="1200">
              <a:latin typeface="Calibri"/>
              <a:cs typeface="Calibri"/>
            </a:endParaRPr>
          </a:p>
          <a:p>
            <a:pPr marL="222885" marR="112395">
              <a:lnSpc>
                <a:spcPct val="101099"/>
              </a:lnSpc>
              <a:spcBef>
                <a:spcPts val="670"/>
              </a:spcBef>
            </a:pPr>
            <a:r>
              <a:rPr sz="900" dirty="0">
                <a:latin typeface="Calibri"/>
                <a:cs typeface="Calibri"/>
              </a:rPr>
              <a:t>Tools</a:t>
            </a:r>
            <a:r>
              <a:rPr sz="900" spc="40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and</a:t>
            </a:r>
            <a:r>
              <a:rPr sz="900" spc="29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services</a:t>
            </a:r>
            <a:r>
              <a:rPr sz="900" spc="29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that</a:t>
            </a:r>
            <a:r>
              <a:rPr sz="900" spc="254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can</a:t>
            </a:r>
            <a:r>
              <a:rPr sz="900" spc="28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help</a:t>
            </a:r>
            <a:r>
              <a:rPr sz="900" spc="27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enable</a:t>
            </a:r>
            <a:r>
              <a:rPr sz="900" spc="24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different</a:t>
            </a:r>
            <a:r>
              <a:rPr sz="900" spc="35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DevOps</a:t>
            </a:r>
            <a:r>
              <a:rPr sz="900" spc="40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practices</a:t>
            </a:r>
            <a:r>
              <a:rPr sz="900" spc="340" dirty="0">
                <a:latin typeface="Calibri"/>
                <a:cs typeface="Calibri"/>
              </a:rPr>
              <a:t> </a:t>
            </a:r>
            <a:r>
              <a:rPr sz="900" spc="-25" dirty="0">
                <a:latin typeface="Calibri"/>
                <a:cs typeface="Calibri"/>
              </a:rPr>
              <a:t>and</a:t>
            </a:r>
            <a:r>
              <a:rPr sz="900" spc="500" dirty="0">
                <a:latin typeface="Calibri"/>
                <a:cs typeface="Calibri"/>
              </a:rPr>
              <a:t> </a:t>
            </a:r>
            <a:r>
              <a:rPr sz="900" spc="-20" dirty="0">
                <a:latin typeface="Calibri"/>
                <a:cs typeface="Calibri"/>
              </a:rPr>
              <a:t>different</a:t>
            </a:r>
            <a:r>
              <a:rPr sz="900" spc="4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teams</a:t>
            </a:r>
            <a:r>
              <a:rPr sz="900" spc="-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which</a:t>
            </a:r>
            <a:r>
              <a:rPr sz="900" spc="-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can</a:t>
            </a:r>
            <a:r>
              <a:rPr sz="900" spc="2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be</a:t>
            </a:r>
            <a:r>
              <a:rPr sz="900" spc="6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used</a:t>
            </a:r>
            <a:r>
              <a:rPr sz="900" spc="4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to</a:t>
            </a:r>
            <a:r>
              <a:rPr sz="900" spc="15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make</a:t>
            </a:r>
            <a:r>
              <a:rPr sz="900" spc="-1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things </a:t>
            </a:r>
            <a:r>
              <a:rPr sz="900" spc="-10" dirty="0">
                <a:latin typeface="Calibri"/>
                <a:cs typeface="Calibri"/>
              </a:rPr>
              <a:t>easier</a:t>
            </a:r>
            <a:endParaRPr sz="900">
              <a:latin typeface="Calibri"/>
              <a:cs typeface="Calibri"/>
            </a:endParaRPr>
          </a:p>
        </p:txBody>
      </p:sp>
      <p:pic>
        <p:nvPicPr>
          <p:cNvPr id="14" name="object 1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22199" y="2256154"/>
            <a:ext cx="15240" cy="185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77266" rIns="0" bIns="0" rtlCol="0">
            <a:spAutoFit/>
          </a:bodyPr>
          <a:lstStyle/>
          <a:p>
            <a:pPr marL="9017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DevOps–</a:t>
            </a:r>
            <a:r>
              <a:rPr sz="1800" spc="2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People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600" y="739139"/>
            <a:ext cx="256031" cy="14782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600" y="1008887"/>
            <a:ext cx="256031" cy="14782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2600" y="1444751"/>
            <a:ext cx="256031" cy="147827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235965" y="715771"/>
            <a:ext cx="3970654" cy="88646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 marR="139065">
              <a:lnSpc>
                <a:spcPts val="1100"/>
              </a:lnSpc>
              <a:spcBef>
                <a:spcPts val="240"/>
              </a:spcBef>
            </a:pPr>
            <a:r>
              <a:rPr sz="1000" dirty="0">
                <a:latin typeface="Calibri"/>
                <a:cs typeface="Calibri"/>
              </a:rPr>
              <a:t>Addresses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people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aspect</a:t>
            </a:r>
            <a:r>
              <a:rPr sz="1000" spc="6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adopting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DevOps,</a:t>
            </a:r>
            <a:r>
              <a:rPr sz="1000" spc="7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including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creating</a:t>
            </a:r>
            <a:r>
              <a:rPr sz="1000" spc="29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the</a:t>
            </a:r>
            <a:r>
              <a:rPr sz="1000" dirty="0">
                <a:latin typeface="Calibri"/>
                <a:cs typeface="Calibri"/>
              </a:rPr>
              <a:t> necessary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culture.</a:t>
            </a:r>
            <a:endParaRPr sz="1000">
              <a:latin typeface="Calibri"/>
              <a:cs typeface="Calibri"/>
            </a:endParaRPr>
          </a:p>
          <a:p>
            <a:pPr marL="12700">
              <a:lnSpc>
                <a:spcPts val="969"/>
              </a:lnSpc>
            </a:pPr>
            <a:r>
              <a:rPr sz="1000" spc="-10" dirty="0">
                <a:latin typeface="Calibri"/>
                <a:cs typeface="Calibri"/>
              </a:rPr>
              <a:t>An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organization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may adopt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most</a:t>
            </a:r>
            <a:r>
              <a:rPr sz="1000" spc="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efficient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processes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or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automated</a:t>
            </a:r>
            <a:endParaRPr sz="1000">
              <a:latin typeface="Calibri"/>
              <a:cs typeface="Calibri"/>
            </a:endParaRPr>
          </a:p>
          <a:p>
            <a:pPr marL="12700" marR="5080">
              <a:lnSpc>
                <a:spcPts val="1100"/>
              </a:lnSpc>
              <a:spcBef>
                <a:spcPts val="80"/>
              </a:spcBef>
            </a:pPr>
            <a:r>
              <a:rPr sz="1000" dirty="0">
                <a:latin typeface="Calibri"/>
                <a:cs typeface="Calibri"/>
              </a:rPr>
              <a:t>tools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possible,</a:t>
            </a:r>
            <a:r>
              <a:rPr sz="1000" spc="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but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they’re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useless</a:t>
            </a:r>
            <a:r>
              <a:rPr sz="1000" spc="10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without the</a:t>
            </a:r>
            <a:r>
              <a:rPr sz="1000" spc="45" dirty="0"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0D5589"/>
                </a:solidFill>
                <a:latin typeface="Calibri"/>
                <a:cs typeface="Calibri"/>
              </a:rPr>
              <a:t>people</a:t>
            </a:r>
            <a:r>
              <a:rPr sz="1000" spc="30" dirty="0">
                <a:solidFill>
                  <a:srgbClr val="0D5589"/>
                </a:solidFill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who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eventually</a:t>
            </a:r>
            <a:r>
              <a:rPr sz="1000" spc="23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must </a:t>
            </a:r>
            <a:r>
              <a:rPr sz="1000" dirty="0">
                <a:latin typeface="Calibri"/>
                <a:cs typeface="Calibri"/>
              </a:rPr>
              <a:t>execute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those</a:t>
            </a:r>
            <a:r>
              <a:rPr sz="1000" spc="10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processes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use</a:t>
            </a:r>
            <a:r>
              <a:rPr sz="1000" spc="1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those</a:t>
            </a:r>
            <a:r>
              <a:rPr sz="1000" spc="-5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tools.</a:t>
            </a:r>
            <a:endParaRPr sz="1000">
              <a:latin typeface="Calibri"/>
              <a:cs typeface="Calibri"/>
            </a:endParaRPr>
          </a:p>
          <a:p>
            <a:pPr marL="32384">
              <a:lnSpc>
                <a:spcPts val="1185"/>
              </a:lnSpc>
            </a:pPr>
            <a:r>
              <a:rPr sz="1000" dirty="0">
                <a:solidFill>
                  <a:srgbClr val="6C1C6B"/>
                </a:solidFill>
                <a:latin typeface="Calibri"/>
                <a:cs typeface="Calibri"/>
              </a:rPr>
              <a:t>DEVOPS</a:t>
            </a:r>
            <a:r>
              <a:rPr sz="1000" spc="15" dirty="0">
                <a:solidFill>
                  <a:srgbClr val="6C1C6B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6C1C6B"/>
                </a:solidFill>
                <a:latin typeface="Calibri"/>
                <a:cs typeface="Calibri"/>
              </a:rPr>
              <a:t>CULTURE</a:t>
            </a:r>
            <a:endParaRPr sz="1000">
              <a:latin typeface="Calibri"/>
              <a:cs typeface="Calibri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329" y="1906777"/>
            <a:ext cx="256031" cy="147827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828925" y="1883409"/>
            <a:ext cx="1259205" cy="1809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latin typeface="Calibri"/>
                <a:cs typeface="Calibri"/>
              </a:rPr>
              <a:t>headed</a:t>
            </a:r>
            <a:r>
              <a:rPr sz="1000" spc="14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in</a:t>
            </a:r>
            <a:r>
              <a:rPr sz="1000" spc="180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49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same</a:t>
            </a:r>
            <a:endParaRPr sz="1000">
              <a:latin typeface="Calibri"/>
              <a:cs typeface="Calibri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329" y="2220721"/>
            <a:ext cx="256031" cy="147827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69900" y="1727961"/>
            <a:ext cx="2682875" cy="80264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20" dirty="0">
                <a:solidFill>
                  <a:srgbClr val="0D5589"/>
                </a:solidFill>
                <a:latin typeface="Calibri"/>
                <a:cs typeface="Calibri"/>
              </a:rPr>
              <a:t>(1)</a:t>
            </a:r>
            <a:r>
              <a:rPr sz="1000" spc="15" dirty="0">
                <a:solidFill>
                  <a:srgbClr val="0D5589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0D5589"/>
                </a:solidFill>
                <a:latin typeface="Calibri"/>
                <a:cs typeface="Calibri"/>
              </a:rPr>
              <a:t>Identifying</a:t>
            </a:r>
            <a:r>
              <a:rPr sz="1000" spc="15" dirty="0">
                <a:solidFill>
                  <a:srgbClr val="0D5589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0D5589"/>
                </a:solidFill>
                <a:latin typeface="Calibri"/>
                <a:cs typeface="Calibri"/>
              </a:rPr>
              <a:t>business</a:t>
            </a:r>
            <a:r>
              <a:rPr sz="1000" spc="100" dirty="0">
                <a:solidFill>
                  <a:srgbClr val="0D5589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0D5589"/>
                </a:solidFill>
                <a:latin typeface="Calibri"/>
                <a:cs typeface="Calibri"/>
              </a:rPr>
              <a:t>objectives</a:t>
            </a:r>
            <a:endParaRPr sz="1000">
              <a:latin typeface="Calibri"/>
              <a:cs typeface="Calibri"/>
            </a:endParaRPr>
          </a:p>
          <a:p>
            <a:pPr marL="344805" marR="5080">
              <a:lnSpc>
                <a:spcPct val="101000"/>
              </a:lnSpc>
              <a:spcBef>
                <a:spcPts val="10"/>
              </a:spcBef>
              <a:tabLst>
                <a:tab pos="909955" algn="l"/>
              </a:tabLst>
            </a:pPr>
            <a:r>
              <a:rPr sz="1000" spc="-10" dirty="0">
                <a:latin typeface="Calibri"/>
                <a:cs typeface="Calibri"/>
              </a:rPr>
              <a:t>Creating</a:t>
            </a:r>
            <a:r>
              <a:rPr sz="1000" dirty="0">
                <a:latin typeface="Calibri"/>
                <a:cs typeface="Calibri"/>
              </a:rPr>
              <a:t>	a</a:t>
            </a:r>
            <a:r>
              <a:rPr sz="1000" spc="4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culture</a:t>
            </a:r>
            <a:r>
              <a:rPr sz="1000" spc="229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is</a:t>
            </a:r>
            <a:r>
              <a:rPr sz="1000" spc="15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getting</a:t>
            </a:r>
            <a:r>
              <a:rPr sz="1000" spc="200" dirty="0">
                <a:latin typeface="Calibri"/>
                <a:cs typeface="Calibri"/>
              </a:rPr>
              <a:t>  </a:t>
            </a:r>
            <a:r>
              <a:rPr sz="1000" spc="-10" dirty="0">
                <a:latin typeface="Calibri"/>
                <a:cs typeface="Calibri"/>
              </a:rPr>
              <a:t>everyone </a:t>
            </a:r>
            <a:r>
              <a:rPr sz="1000" dirty="0">
                <a:latin typeface="Calibri"/>
                <a:cs typeface="Calibri"/>
              </a:rPr>
              <a:t>direction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working</a:t>
            </a:r>
            <a:r>
              <a:rPr sz="1000" spc="-35" dirty="0">
                <a:latin typeface="Calibri"/>
                <a:cs typeface="Calibri"/>
              </a:rPr>
              <a:t> toward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same</a:t>
            </a:r>
            <a:r>
              <a:rPr sz="1000" spc="8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goal</a:t>
            </a:r>
            <a:endParaRPr sz="1000">
              <a:latin typeface="Calibri"/>
              <a:cs typeface="Calibri"/>
            </a:endParaRPr>
          </a:p>
          <a:p>
            <a:pPr marL="344805" marR="26034">
              <a:lnSpc>
                <a:spcPct val="100000"/>
              </a:lnSpc>
              <a:spcBef>
                <a:spcPts val="60"/>
              </a:spcBef>
              <a:tabLst>
                <a:tab pos="1027430" algn="l"/>
              </a:tabLst>
            </a:pPr>
            <a:r>
              <a:rPr sz="1000" spc="-10" dirty="0">
                <a:latin typeface="Calibri"/>
                <a:cs typeface="Calibri"/>
              </a:rPr>
              <a:t>Identifying</a:t>
            </a:r>
            <a:r>
              <a:rPr sz="1000" dirty="0">
                <a:latin typeface="Calibri"/>
                <a:cs typeface="Calibri"/>
              </a:rPr>
              <a:t>	common</a:t>
            </a:r>
            <a:r>
              <a:rPr sz="1000" spc="140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business</a:t>
            </a:r>
            <a:r>
              <a:rPr sz="1000" spc="185" dirty="0">
                <a:latin typeface="Calibri"/>
                <a:cs typeface="Calibri"/>
              </a:rPr>
              <a:t>  </a:t>
            </a:r>
            <a:r>
              <a:rPr sz="1000" spc="-10" dirty="0">
                <a:latin typeface="Calibri"/>
                <a:cs typeface="Calibri"/>
              </a:rPr>
              <a:t>objectives organization </a:t>
            </a:r>
            <a:r>
              <a:rPr sz="1000" dirty="0">
                <a:latin typeface="Calibri"/>
                <a:cs typeface="Calibri"/>
              </a:rPr>
              <a:t>as</a:t>
            </a:r>
            <a:r>
              <a:rPr sz="1000" spc="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whole.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799969" y="2197353"/>
            <a:ext cx="1289685" cy="1809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latin typeface="Calibri"/>
                <a:cs typeface="Calibri"/>
              </a:rPr>
              <a:t>for</a:t>
            </a:r>
            <a:r>
              <a:rPr sz="1000" spc="3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3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team</a:t>
            </a:r>
            <a:r>
              <a:rPr sz="1000" spc="37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409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the</a:t>
            </a:r>
            <a:endParaRPr sz="1000">
              <a:latin typeface="Calibri"/>
              <a:cs typeface="Calibri"/>
            </a:endParaRPr>
          </a:p>
        </p:txBody>
      </p:sp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329" y="2525521"/>
            <a:ext cx="256031" cy="147827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402081" y="2502153"/>
            <a:ext cx="3688079" cy="63944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latin typeface="Calibri"/>
                <a:cs typeface="Calibri"/>
              </a:rPr>
              <a:t>identify</a:t>
            </a:r>
            <a:r>
              <a:rPr sz="1000" spc="140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goals</a:t>
            </a:r>
            <a:r>
              <a:rPr sz="1000" spc="4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that</a:t>
            </a:r>
            <a:r>
              <a:rPr sz="1000" spc="38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it</a:t>
            </a:r>
            <a:r>
              <a:rPr sz="1000" spc="36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wants</a:t>
            </a:r>
            <a:r>
              <a:rPr sz="1000" spc="4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3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achieve;</a:t>
            </a:r>
            <a:r>
              <a:rPr sz="1000" spc="4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then</a:t>
            </a:r>
            <a:r>
              <a:rPr sz="1000" spc="3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it</a:t>
            </a:r>
            <a:r>
              <a:rPr sz="1000" spc="36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can</a:t>
            </a:r>
            <a:r>
              <a:rPr sz="1000" spc="4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develop</a:t>
            </a:r>
            <a:r>
              <a:rPr sz="1000" spc="390" dirty="0">
                <a:latin typeface="Calibri"/>
                <a:cs typeface="Calibri"/>
              </a:rPr>
              <a:t> </a:t>
            </a:r>
            <a:r>
              <a:rPr sz="1000" spc="-50" dirty="0">
                <a:latin typeface="Calibri"/>
                <a:cs typeface="Calibri"/>
              </a:rPr>
              <a:t>a</a:t>
            </a:r>
            <a:r>
              <a:rPr sz="1000" dirty="0">
                <a:latin typeface="Calibri"/>
                <a:cs typeface="Calibri"/>
              </a:rPr>
              <a:t> common</a:t>
            </a:r>
            <a:r>
              <a:rPr sz="1000" spc="18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set</a:t>
            </a:r>
            <a:r>
              <a:rPr sz="1000" spc="1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4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milestones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toward</a:t>
            </a:r>
            <a:r>
              <a:rPr sz="1000" spc="-9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those</a:t>
            </a:r>
            <a:r>
              <a:rPr sz="1000" spc="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goals</a:t>
            </a:r>
            <a:r>
              <a:rPr sz="1000" spc="50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for </a:t>
            </a:r>
            <a:r>
              <a:rPr sz="1000" dirty="0">
                <a:latin typeface="Calibri"/>
                <a:cs typeface="Calibri"/>
              </a:rPr>
              <a:t>different</a:t>
            </a:r>
            <a:r>
              <a:rPr sz="1000" spc="18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teams</a:t>
            </a:r>
            <a:endParaRPr sz="1000">
              <a:latin typeface="Calibri"/>
              <a:cs typeface="Calibri"/>
            </a:endParaRPr>
          </a:p>
          <a:p>
            <a:pPr marL="29845">
              <a:lnSpc>
                <a:spcPts val="1180"/>
              </a:lnSpc>
            </a:pPr>
            <a:r>
              <a:rPr sz="1000" dirty="0">
                <a:latin typeface="Calibri"/>
                <a:cs typeface="Calibri"/>
              </a:rPr>
              <a:t>of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stakeholders</a:t>
            </a:r>
            <a:r>
              <a:rPr sz="1000" spc="6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to</a:t>
            </a:r>
            <a:r>
              <a:rPr sz="1000" spc="-6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use</a:t>
            </a:r>
            <a:r>
              <a:rPr sz="1000" spc="21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Collaboration</a:t>
            </a:r>
            <a:r>
              <a:rPr sz="1000" spc="-6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 communication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across</a:t>
            </a:r>
            <a:endParaRPr sz="1000">
              <a:latin typeface="Calibri"/>
              <a:cs typeface="Calibri"/>
            </a:endParaRPr>
          </a:p>
          <a:p>
            <a:pPr marL="29845">
              <a:lnSpc>
                <a:spcPct val="100000"/>
              </a:lnSpc>
              <a:spcBef>
                <a:spcPts val="25"/>
              </a:spcBef>
            </a:pPr>
            <a:r>
              <a:rPr sz="1000" spc="-10" dirty="0">
                <a:latin typeface="Calibri"/>
                <a:cs typeface="Calibri"/>
              </a:rPr>
              <a:t>stakeholders</a:t>
            </a:r>
            <a:endParaRPr sz="1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4886" rIns="0" bIns="0" rtlCol="0">
            <a:spAutoFit/>
          </a:bodyPr>
          <a:lstStyle/>
          <a:p>
            <a:pPr marL="12446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DevOps–</a:t>
            </a:r>
            <a:r>
              <a:rPr sz="1800" spc="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People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2933" y="913764"/>
            <a:ext cx="256032" cy="14782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2933" y="1223136"/>
            <a:ext cx="256032" cy="147827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13740" y="686180"/>
            <a:ext cx="4181475" cy="1938020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0"/>
              </a:spcBef>
            </a:pPr>
            <a:r>
              <a:rPr sz="1000" dirty="0">
                <a:solidFill>
                  <a:srgbClr val="0D5589"/>
                </a:solidFill>
                <a:latin typeface="Calibri"/>
                <a:cs typeface="Calibri"/>
              </a:rPr>
              <a:t>2)</a:t>
            </a:r>
            <a:r>
              <a:rPr sz="1000" spc="30" dirty="0">
                <a:solidFill>
                  <a:srgbClr val="0D5589"/>
                </a:solidFill>
                <a:latin typeface="Calibri"/>
                <a:cs typeface="Calibri"/>
              </a:rPr>
              <a:t> </a:t>
            </a:r>
            <a:r>
              <a:rPr sz="1000" spc="-30" dirty="0">
                <a:solidFill>
                  <a:srgbClr val="0D5589"/>
                </a:solidFill>
                <a:latin typeface="Calibri"/>
                <a:cs typeface="Calibri"/>
              </a:rPr>
              <a:t>Create</a:t>
            </a:r>
            <a:r>
              <a:rPr sz="1000" spc="-25" dirty="0">
                <a:solidFill>
                  <a:srgbClr val="0D5589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0D5589"/>
                </a:solidFill>
                <a:latin typeface="Calibri"/>
                <a:cs typeface="Calibri"/>
              </a:rPr>
              <a:t>an</a:t>
            </a:r>
            <a:r>
              <a:rPr sz="1000" spc="-5" dirty="0">
                <a:solidFill>
                  <a:srgbClr val="0D5589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0D5589"/>
                </a:solidFill>
                <a:latin typeface="Calibri"/>
                <a:cs typeface="Calibri"/>
              </a:rPr>
              <a:t>environment</a:t>
            </a:r>
            <a:r>
              <a:rPr sz="1000" spc="15" dirty="0">
                <a:solidFill>
                  <a:srgbClr val="0D5589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0D5589"/>
                </a:solidFill>
                <a:latin typeface="Calibri"/>
                <a:cs typeface="Calibri"/>
              </a:rPr>
              <a:t>of</a:t>
            </a:r>
            <a:r>
              <a:rPr sz="1000" spc="185" dirty="0">
                <a:solidFill>
                  <a:srgbClr val="0D5589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0D5589"/>
                </a:solidFill>
                <a:latin typeface="Calibri"/>
                <a:cs typeface="Calibri"/>
              </a:rPr>
              <a:t>sharing</a:t>
            </a:r>
            <a:endParaRPr sz="1000">
              <a:latin typeface="Calibri"/>
              <a:cs typeface="Calibri"/>
            </a:endParaRPr>
          </a:p>
          <a:p>
            <a:pPr marL="325120" marR="13970">
              <a:lnSpc>
                <a:spcPct val="102000"/>
              </a:lnSpc>
              <a:spcBef>
                <a:spcPts val="195"/>
              </a:spcBef>
            </a:pPr>
            <a:r>
              <a:rPr sz="1000" dirty="0">
                <a:latin typeface="Calibri"/>
                <a:cs typeface="Calibri"/>
              </a:rPr>
              <a:t>leaders</a:t>
            </a:r>
            <a:r>
              <a:rPr sz="1000" spc="38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3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2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organization</a:t>
            </a:r>
            <a:r>
              <a:rPr sz="1000" spc="180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2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work</a:t>
            </a:r>
            <a:r>
              <a:rPr sz="1000" spc="40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with</a:t>
            </a:r>
            <a:r>
              <a:rPr sz="1000" spc="3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their</a:t>
            </a:r>
            <a:r>
              <a:rPr sz="1000" spc="26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teams</a:t>
            </a:r>
            <a:r>
              <a:rPr sz="1000" spc="29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240" dirty="0"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FF0000"/>
                </a:solidFill>
                <a:latin typeface="Calibri"/>
                <a:cs typeface="Calibri"/>
              </a:rPr>
              <a:t>create</a:t>
            </a:r>
            <a:r>
              <a:rPr sz="1000" spc="3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spc="-25" dirty="0">
                <a:solidFill>
                  <a:srgbClr val="FF0000"/>
                </a:solidFill>
                <a:latin typeface="Calibri"/>
                <a:cs typeface="Calibri"/>
              </a:rPr>
              <a:t>an</a:t>
            </a:r>
            <a:r>
              <a:rPr sz="1000" spc="-10" dirty="0">
                <a:solidFill>
                  <a:srgbClr val="FF0000"/>
                </a:solidFill>
                <a:latin typeface="Calibri"/>
                <a:cs typeface="Calibri"/>
              </a:rPr>
              <a:t> environment</a:t>
            </a:r>
            <a:r>
              <a:rPr sz="1000" spc="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sz="1000" spc="-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FF0000"/>
                </a:solidFill>
                <a:latin typeface="Calibri"/>
                <a:cs typeface="Calibri"/>
              </a:rPr>
              <a:t>culture</a:t>
            </a:r>
            <a:r>
              <a:rPr sz="10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collaboration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andsharing.</a:t>
            </a:r>
            <a:endParaRPr sz="1000">
              <a:latin typeface="Calibri"/>
              <a:cs typeface="Calibri"/>
            </a:endParaRPr>
          </a:p>
          <a:p>
            <a:pPr marL="325120">
              <a:lnSpc>
                <a:spcPct val="100000"/>
              </a:lnSpc>
              <a:spcBef>
                <a:spcPts val="10"/>
              </a:spcBef>
            </a:pPr>
            <a:r>
              <a:rPr sz="1000" spc="-10" dirty="0">
                <a:latin typeface="Calibri"/>
                <a:cs typeface="Calibri"/>
              </a:rPr>
              <a:t>Leaders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must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remove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any</a:t>
            </a:r>
            <a:r>
              <a:rPr sz="1000" dirty="0">
                <a:latin typeface="Calibri"/>
                <a:cs typeface="Calibri"/>
              </a:rPr>
              <a:t> self-imposed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barriers</a:t>
            </a:r>
            <a:r>
              <a:rPr sz="1000" spc="-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10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cooperation.</a:t>
            </a:r>
            <a:endParaRPr sz="1000">
              <a:latin typeface="Calibri"/>
              <a:cs typeface="Calibri"/>
            </a:endParaRPr>
          </a:p>
          <a:p>
            <a:pPr marL="325755" marR="17145">
              <a:lnSpc>
                <a:spcPct val="101800"/>
              </a:lnSpc>
              <a:spcBef>
                <a:spcPts val="20"/>
              </a:spcBef>
              <a:tabLst>
                <a:tab pos="822325" algn="l"/>
              </a:tabLst>
            </a:pPr>
            <a:r>
              <a:rPr sz="1000" spc="-10" dirty="0">
                <a:latin typeface="Calibri"/>
                <a:cs typeface="Calibri"/>
              </a:rPr>
              <a:t>Typical</a:t>
            </a:r>
            <a:r>
              <a:rPr sz="1000" dirty="0">
                <a:latin typeface="Calibri"/>
                <a:cs typeface="Calibri"/>
              </a:rPr>
              <a:t>	measurements</a:t>
            </a:r>
            <a:r>
              <a:rPr sz="1000" spc="160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reward</a:t>
            </a:r>
            <a:r>
              <a:rPr sz="1000" spc="21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operations</a:t>
            </a:r>
            <a:r>
              <a:rPr sz="1000" spc="170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teams</a:t>
            </a:r>
            <a:r>
              <a:rPr sz="1000" spc="46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for</a:t>
            </a:r>
            <a:r>
              <a:rPr sz="1000" spc="4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uptime</a:t>
            </a:r>
            <a:r>
              <a:rPr sz="1000" spc="150" dirty="0">
                <a:latin typeface="Calibri"/>
                <a:cs typeface="Calibri"/>
              </a:rPr>
              <a:t>  </a:t>
            </a:r>
            <a:r>
              <a:rPr sz="1000" spc="-25" dirty="0">
                <a:latin typeface="Calibri"/>
                <a:cs typeface="Calibri"/>
              </a:rPr>
              <a:t>and</a:t>
            </a:r>
            <a:r>
              <a:rPr sz="1000" spc="50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stability,</a:t>
            </a:r>
            <a:r>
              <a:rPr sz="1000" spc="-7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35" dirty="0">
                <a:latin typeface="Calibri"/>
                <a:cs typeface="Calibri"/>
              </a:rPr>
              <a:t>reward</a:t>
            </a:r>
            <a:r>
              <a:rPr sz="1000" spc="-10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developers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for </a:t>
            </a:r>
            <a:r>
              <a:rPr sz="1000" dirty="0">
                <a:latin typeface="Calibri"/>
                <a:cs typeface="Calibri"/>
              </a:rPr>
              <a:t>new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features delivered,</a:t>
            </a:r>
            <a:r>
              <a:rPr sz="1000" spc="-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but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they</a:t>
            </a:r>
            <a:r>
              <a:rPr sz="1000" spc="254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pit</a:t>
            </a:r>
            <a:r>
              <a:rPr sz="1000" dirty="0">
                <a:latin typeface="Calibri"/>
                <a:cs typeface="Calibri"/>
              </a:rPr>
              <a:t> these</a:t>
            </a:r>
            <a:r>
              <a:rPr sz="1000" spc="7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groups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against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each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other.</a:t>
            </a:r>
            <a:endParaRPr sz="1000">
              <a:latin typeface="Calibri"/>
              <a:cs typeface="Calibri"/>
            </a:endParaRPr>
          </a:p>
          <a:p>
            <a:pPr marL="325120" marR="5080" algn="just">
              <a:lnSpc>
                <a:spcPct val="101499"/>
              </a:lnSpc>
              <a:spcBef>
                <a:spcPts val="10"/>
              </a:spcBef>
            </a:pPr>
            <a:r>
              <a:rPr sz="1000" dirty="0">
                <a:latin typeface="Calibri"/>
                <a:cs typeface="Calibri"/>
              </a:rPr>
              <a:t>The</a:t>
            </a:r>
            <a:r>
              <a:rPr sz="1000" spc="37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leaders</a:t>
            </a:r>
            <a:r>
              <a:rPr sz="1000" spc="340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34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29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organization</a:t>
            </a:r>
            <a:r>
              <a:rPr sz="1000" spc="47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should</a:t>
            </a:r>
            <a:r>
              <a:rPr sz="1000" spc="340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further</a:t>
            </a:r>
            <a:r>
              <a:rPr sz="1000" spc="360" dirty="0">
                <a:latin typeface="Calibri"/>
                <a:cs typeface="Calibri"/>
              </a:rPr>
              <a:t>  </a:t>
            </a:r>
            <a:r>
              <a:rPr sz="1000" spc="-10" dirty="0">
                <a:latin typeface="Calibri"/>
                <a:cs typeface="Calibri"/>
              </a:rPr>
              <a:t>encourage </a:t>
            </a:r>
            <a:r>
              <a:rPr sz="1000" dirty="0">
                <a:latin typeface="Calibri"/>
                <a:cs typeface="Calibri"/>
              </a:rPr>
              <a:t>collaboration</a:t>
            </a:r>
            <a:r>
              <a:rPr sz="1000" spc="39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by</a:t>
            </a:r>
            <a:r>
              <a:rPr sz="1000" spc="40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improving</a:t>
            </a:r>
            <a:r>
              <a:rPr sz="1000" spc="38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visibility.</a:t>
            </a:r>
            <a:r>
              <a:rPr sz="1000" spc="40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Establishing</a:t>
            </a:r>
            <a:r>
              <a:rPr sz="1000" spc="4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409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common</a:t>
            </a:r>
            <a:r>
              <a:rPr sz="1000" spc="4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set</a:t>
            </a:r>
            <a:r>
              <a:rPr sz="1000" spc="43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of</a:t>
            </a:r>
            <a:r>
              <a:rPr sz="1000" spc="-10" dirty="0">
                <a:latin typeface="Calibri"/>
                <a:cs typeface="Calibri"/>
              </a:rPr>
              <a:t> collaboration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tools</a:t>
            </a:r>
            <a:r>
              <a:rPr sz="1000" spc="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is</a:t>
            </a:r>
            <a:r>
              <a:rPr sz="1000" spc="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essential,</a:t>
            </a:r>
            <a:r>
              <a:rPr sz="1000" spc="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especially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when</a:t>
            </a:r>
            <a:r>
              <a:rPr sz="1000" spc="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teams</a:t>
            </a:r>
            <a:r>
              <a:rPr sz="1000" spc="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are</a:t>
            </a:r>
            <a:r>
              <a:rPr sz="1000" spc="29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geographically distributed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can’t</a:t>
            </a:r>
            <a:r>
              <a:rPr sz="1000" spc="-5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work</a:t>
            </a:r>
            <a:r>
              <a:rPr sz="1000" spc="-4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together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in</a:t>
            </a:r>
            <a:r>
              <a:rPr sz="1000" spc="6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person</a:t>
            </a:r>
            <a:r>
              <a:rPr sz="600" spc="-10" dirty="0">
                <a:latin typeface="Calibri"/>
                <a:cs typeface="Calibri"/>
              </a:rPr>
              <a:t>.</a:t>
            </a:r>
            <a:endParaRPr sz="600">
              <a:latin typeface="Calibri"/>
              <a:cs typeface="Calibri"/>
            </a:endParaRPr>
          </a:p>
          <a:p>
            <a:pPr marL="265430" algn="just">
              <a:lnSpc>
                <a:spcPct val="100000"/>
              </a:lnSpc>
              <a:spcBef>
                <a:spcPts val="20"/>
              </a:spcBef>
            </a:pPr>
            <a:r>
              <a:rPr sz="1000" spc="-10" dirty="0">
                <a:latin typeface="Calibri"/>
                <a:cs typeface="Calibri"/>
              </a:rPr>
              <a:t>Giving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all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stakeholders</a:t>
            </a:r>
            <a:r>
              <a:rPr sz="1000" spc="6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visibility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into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project’s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goals</a:t>
            </a:r>
            <a:r>
              <a:rPr sz="1000" spc="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statusis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862454" y="2600070"/>
            <a:ext cx="2520315" cy="29146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751840" algn="l"/>
                <a:tab pos="1251585" algn="l"/>
                <a:tab pos="2312670" algn="l"/>
              </a:tabLst>
            </a:pPr>
            <a:r>
              <a:rPr sz="1000" dirty="0">
                <a:latin typeface="Calibri"/>
                <a:cs typeface="Calibri"/>
              </a:rPr>
              <a:t>a</a:t>
            </a:r>
            <a:r>
              <a:rPr sz="1000" spc="225" dirty="0">
                <a:latin typeface="Calibri"/>
                <a:cs typeface="Calibri"/>
              </a:rPr>
              <a:t>  </a:t>
            </a:r>
            <a:r>
              <a:rPr sz="1000" spc="-10" dirty="0">
                <a:latin typeface="Calibri"/>
                <a:cs typeface="Calibri"/>
              </a:rPr>
              <a:t>DevOps</a:t>
            </a:r>
            <a:r>
              <a:rPr sz="1000" dirty="0">
                <a:latin typeface="Calibri"/>
                <a:cs typeface="Calibri"/>
              </a:rPr>
              <a:t>	</a:t>
            </a:r>
            <a:r>
              <a:rPr sz="1000" spc="-10" dirty="0">
                <a:latin typeface="Calibri"/>
                <a:cs typeface="Calibri"/>
              </a:rPr>
              <a:t>culture</a:t>
            </a:r>
            <a:r>
              <a:rPr sz="1000" dirty="0">
                <a:latin typeface="Calibri"/>
                <a:cs typeface="Calibri"/>
              </a:rPr>
              <a:t>	based</a:t>
            </a:r>
            <a:r>
              <a:rPr sz="1000" spc="26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on</a:t>
            </a:r>
            <a:r>
              <a:rPr sz="1000" spc="250" dirty="0">
                <a:latin typeface="Calibri"/>
                <a:cs typeface="Calibri"/>
              </a:rPr>
              <a:t>  </a:t>
            </a:r>
            <a:r>
              <a:rPr sz="1000" spc="-20" dirty="0">
                <a:latin typeface="Calibri"/>
                <a:cs typeface="Calibri"/>
              </a:rPr>
              <a:t>trust</a:t>
            </a:r>
            <a:r>
              <a:rPr sz="1000" dirty="0">
                <a:latin typeface="Calibri"/>
                <a:cs typeface="Calibri"/>
              </a:rPr>
              <a:t>	</a:t>
            </a:r>
            <a:r>
              <a:rPr sz="1000" spc="-25" dirty="0">
                <a:latin typeface="Calibri"/>
                <a:cs typeface="Calibri"/>
              </a:rPr>
              <a:t>and</a:t>
            </a:r>
            <a:endParaRPr sz="1000">
              <a:latin typeface="Calibri"/>
              <a:cs typeface="Calibri"/>
            </a:endParaRPr>
          </a:p>
          <a:p>
            <a:pPr marR="170815" algn="r">
              <a:lnSpc>
                <a:spcPct val="100000"/>
              </a:lnSpc>
              <a:spcBef>
                <a:spcPts val="330"/>
              </a:spcBef>
            </a:pPr>
            <a:r>
              <a:rPr sz="450" spc="-50" dirty="0">
                <a:solidFill>
                  <a:srgbClr val="888888"/>
                </a:solidFill>
                <a:latin typeface="Calibri"/>
                <a:cs typeface="Calibri"/>
              </a:rPr>
              <a:t>8</a:t>
            </a:r>
            <a:endParaRPr sz="45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27050" y="2600070"/>
            <a:ext cx="1201420" cy="3365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2000"/>
              </a:lnSpc>
              <a:spcBef>
                <a:spcPts val="95"/>
              </a:spcBef>
              <a:tabLst>
                <a:tab pos="499745" algn="l"/>
              </a:tabLst>
            </a:pPr>
            <a:r>
              <a:rPr sz="1000" spc="-10" dirty="0">
                <a:latin typeface="Calibri"/>
                <a:cs typeface="Calibri"/>
              </a:rPr>
              <a:t>crucial</a:t>
            </a:r>
            <a:r>
              <a:rPr sz="1000" dirty="0">
                <a:latin typeface="Calibri"/>
                <a:cs typeface="Calibri"/>
              </a:rPr>
              <a:t>	for</a:t>
            </a:r>
            <a:r>
              <a:rPr sz="1000" spc="235" dirty="0">
                <a:latin typeface="Calibri"/>
                <a:cs typeface="Calibri"/>
              </a:rPr>
              <a:t>  </a:t>
            </a:r>
            <a:r>
              <a:rPr sz="1000" spc="-10" dirty="0">
                <a:latin typeface="Calibri"/>
                <a:cs typeface="Calibri"/>
              </a:rPr>
              <a:t>building collaboration.</a:t>
            </a:r>
            <a:endParaRPr sz="1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77266" rIns="0" bIns="0" rtlCol="0">
            <a:spAutoFit/>
          </a:bodyPr>
          <a:lstStyle/>
          <a:p>
            <a:pPr marL="9017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DevOps–</a:t>
            </a:r>
            <a:r>
              <a:rPr sz="1800" spc="2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People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0279" y="791844"/>
            <a:ext cx="256031" cy="14782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5059" y="1111884"/>
            <a:ext cx="256032" cy="14782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5059" y="1416684"/>
            <a:ext cx="256032" cy="147827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5059" y="1721865"/>
            <a:ext cx="256032" cy="147827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5059" y="2179065"/>
            <a:ext cx="256032" cy="147827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373506" y="768476"/>
            <a:ext cx="4018915" cy="21170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solidFill>
                  <a:srgbClr val="6C1C6B"/>
                </a:solidFill>
                <a:latin typeface="Calibri"/>
                <a:cs typeface="Calibri"/>
              </a:rPr>
              <a:t>DEVOPS</a:t>
            </a:r>
            <a:r>
              <a:rPr sz="1000" spc="15" dirty="0">
                <a:solidFill>
                  <a:srgbClr val="6C1C6B"/>
                </a:solidFill>
                <a:latin typeface="Calibri"/>
                <a:cs typeface="Calibri"/>
              </a:rPr>
              <a:t> </a:t>
            </a:r>
            <a:r>
              <a:rPr sz="1000" spc="-20" dirty="0">
                <a:solidFill>
                  <a:srgbClr val="6C1C6B"/>
                </a:solidFill>
                <a:latin typeface="Calibri"/>
                <a:cs typeface="Calibri"/>
              </a:rPr>
              <a:t>TEAM</a:t>
            </a:r>
            <a:endParaRPr sz="10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5"/>
              </a:spcBef>
            </a:pPr>
            <a:endParaRPr sz="1000">
              <a:latin typeface="Calibri"/>
              <a:cs typeface="Calibri"/>
            </a:endParaRPr>
          </a:p>
          <a:p>
            <a:pPr marL="158750" marR="7620" algn="just">
              <a:lnSpc>
                <a:spcPct val="100000"/>
              </a:lnSpc>
              <a:spcBef>
                <a:spcPts val="5"/>
              </a:spcBef>
            </a:pPr>
            <a:r>
              <a:rPr sz="1000" dirty="0">
                <a:latin typeface="Calibri"/>
                <a:cs typeface="Calibri"/>
              </a:rPr>
              <a:t>The</a:t>
            </a:r>
            <a:r>
              <a:rPr sz="1000" spc="5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arguments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for</a:t>
            </a:r>
            <a:r>
              <a:rPr sz="1000" dirty="0">
                <a:latin typeface="Calibri"/>
                <a:cs typeface="Calibri"/>
              </a:rPr>
              <a:t> and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against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having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separate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DevOps</a:t>
            </a:r>
            <a:r>
              <a:rPr sz="1000" spc="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team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are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as</a:t>
            </a:r>
            <a:r>
              <a:rPr sz="1000" spc="28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old</a:t>
            </a:r>
            <a:r>
              <a:rPr sz="1000" dirty="0">
                <a:latin typeface="Calibri"/>
                <a:cs typeface="Calibri"/>
              </a:rPr>
              <a:t> as</a:t>
            </a:r>
            <a:r>
              <a:rPr sz="1000" spc="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concept </a:t>
            </a:r>
            <a:r>
              <a:rPr sz="1000" spc="-10" dirty="0">
                <a:latin typeface="Calibri"/>
                <a:cs typeface="Calibri"/>
              </a:rPr>
              <a:t>itself.</a:t>
            </a:r>
            <a:endParaRPr sz="1000">
              <a:latin typeface="Calibri"/>
              <a:cs typeface="Calibri"/>
            </a:endParaRPr>
          </a:p>
          <a:p>
            <a:pPr marL="158750" marR="5715" algn="just">
              <a:lnSpc>
                <a:spcPct val="100000"/>
              </a:lnSpc>
            </a:pPr>
            <a:r>
              <a:rPr sz="1000" dirty="0">
                <a:latin typeface="Calibri"/>
                <a:cs typeface="Calibri"/>
              </a:rPr>
              <a:t>DevOps</a:t>
            </a:r>
            <a:r>
              <a:rPr sz="1000" spc="180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liaison</a:t>
            </a:r>
            <a:r>
              <a:rPr sz="1000" spc="170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teams,</a:t>
            </a:r>
            <a:r>
              <a:rPr sz="1000" spc="16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which</a:t>
            </a:r>
            <a:r>
              <a:rPr sz="1000" spc="17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resolve</a:t>
            </a:r>
            <a:r>
              <a:rPr sz="1000" spc="160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any</a:t>
            </a:r>
            <a:r>
              <a:rPr sz="1000" spc="15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conflicts</a:t>
            </a:r>
            <a:r>
              <a:rPr sz="1000" spc="17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160" dirty="0">
                <a:latin typeface="Calibri"/>
                <a:cs typeface="Calibri"/>
              </a:rPr>
              <a:t>  </a:t>
            </a:r>
            <a:r>
              <a:rPr sz="1000" spc="-10" dirty="0">
                <a:latin typeface="Calibri"/>
                <a:cs typeface="Calibri"/>
              </a:rPr>
              <a:t>promote collaboration.</a:t>
            </a:r>
            <a:endParaRPr sz="1000">
              <a:latin typeface="Calibri"/>
              <a:cs typeface="Calibri"/>
            </a:endParaRPr>
          </a:p>
          <a:p>
            <a:pPr marL="158750" marR="5080" algn="just">
              <a:lnSpc>
                <a:spcPct val="100000"/>
              </a:lnSpc>
            </a:pPr>
            <a:r>
              <a:rPr sz="1000" dirty="0">
                <a:latin typeface="Calibri"/>
                <a:cs typeface="Calibri"/>
              </a:rPr>
              <a:t>Such</a:t>
            </a:r>
            <a:r>
              <a:rPr sz="1000" spc="7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7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team</a:t>
            </a:r>
            <a:r>
              <a:rPr sz="1000" spc="8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may</a:t>
            </a:r>
            <a:r>
              <a:rPr sz="1000" spc="6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be</a:t>
            </a:r>
            <a:r>
              <a:rPr sz="1000" spc="8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</a:t>
            </a:r>
            <a:r>
              <a:rPr sz="1000" spc="7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existing</a:t>
            </a:r>
            <a:r>
              <a:rPr sz="1000" spc="1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tools</a:t>
            </a:r>
            <a:r>
              <a:rPr sz="1000" spc="9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group</a:t>
            </a:r>
            <a:r>
              <a:rPr sz="1000" spc="8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or</a:t>
            </a:r>
            <a:r>
              <a:rPr sz="1000" spc="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process</a:t>
            </a:r>
            <a:r>
              <a:rPr sz="1000" spc="9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group,</a:t>
            </a:r>
            <a:r>
              <a:rPr sz="1000" spc="8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or</a:t>
            </a:r>
            <a:r>
              <a:rPr sz="1000" spc="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it</a:t>
            </a:r>
            <a:r>
              <a:rPr sz="1000" spc="36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may</a:t>
            </a:r>
            <a:r>
              <a:rPr sz="1000" dirty="0">
                <a:latin typeface="Calibri"/>
                <a:cs typeface="Calibri"/>
              </a:rPr>
              <a:t> be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new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team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staffed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by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representatives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all teams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that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have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2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stake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in</a:t>
            </a:r>
            <a:r>
              <a:rPr sz="1000" dirty="0">
                <a:latin typeface="Calibri"/>
                <a:cs typeface="Calibri"/>
              </a:rPr>
              <a:t> the</a:t>
            </a:r>
            <a:r>
              <a:rPr sz="1000" spc="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application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being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delivered.</a:t>
            </a:r>
            <a:endParaRPr sz="1000">
              <a:latin typeface="Calibri"/>
              <a:cs typeface="Calibri"/>
            </a:endParaRPr>
          </a:p>
          <a:p>
            <a:pPr marL="158750" marR="5080" algn="just">
              <a:lnSpc>
                <a:spcPct val="100000"/>
              </a:lnSpc>
            </a:pPr>
            <a:r>
              <a:rPr sz="1000" dirty="0">
                <a:latin typeface="Calibri"/>
                <a:cs typeface="Calibri"/>
              </a:rPr>
              <a:t>DevOps</a:t>
            </a:r>
            <a:r>
              <a:rPr sz="1000" spc="6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team,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your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most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important</a:t>
            </a:r>
            <a:r>
              <a:rPr sz="1000" dirty="0">
                <a:latin typeface="Calibri"/>
                <a:cs typeface="Calibri"/>
              </a:rPr>
              <a:t> goal</a:t>
            </a:r>
            <a:r>
              <a:rPr sz="1000" spc="6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is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ensure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that </a:t>
            </a:r>
            <a:r>
              <a:rPr sz="1000" dirty="0">
                <a:latin typeface="Calibri"/>
                <a:cs typeface="Calibri"/>
              </a:rPr>
              <a:t>it functions</a:t>
            </a:r>
            <a:r>
              <a:rPr sz="1000" spc="2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as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spc="-50" dirty="0">
                <a:latin typeface="Calibri"/>
                <a:cs typeface="Calibri"/>
              </a:rPr>
              <a:t>a</a:t>
            </a:r>
            <a:r>
              <a:rPr sz="1000" dirty="0">
                <a:latin typeface="Calibri"/>
                <a:cs typeface="Calibri"/>
              </a:rPr>
              <a:t> Center</a:t>
            </a:r>
            <a:r>
              <a:rPr sz="1000" spc="7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9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Excellence</a:t>
            </a:r>
            <a:r>
              <a:rPr sz="1000" spc="9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that</a:t>
            </a:r>
            <a:r>
              <a:rPr sz="1000" spc="7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facilitates</a:t>
            </a:r>
            <a:r>
              <a:rPr sz="1000" spc="8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collaboration</a:t>
            </a:r>
            <a:r>
              <a:rPr sz="1000" spc="70" dirty="0"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FF0000"/>
                </a:solidFill>
                <a:latin typeface="Calibri"/>
                <a:cs typeface="Calibri"/>
              </a:rPr>
              <a:t>without</a:t>
            </a:r>
            <a:r>
              <a:rPr sz="1000" spc="7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FF0000"/>
                </a:solidFill>
                <a:latin typeface="Calibri"/>
                <a:cs typeface="Calibri"/>
              </a:rPr>
              <a:t>adding</a:t>
            </a:r>
            <a:r>
              <a:rPr sz="1000" spc="39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sz="1000" spc="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spc="-25" dirty="0">
                <a:solidFill>
                  <a:srgbClr val="FF0000"/>
                </a:solidFill>
                <a:latin typeface="Calibri"/>
                <a:cs typeface="Calibri"/>
              </a:rPr>
              <a:t>new</a:t>
            </a:r>
            <a:r>
              <a:rPr sz="1000" dirty="0">
                <a:solidFill>
                  <a:srgbClr val="FF0000"/>
                </a:solidFill>
                <a:latin typeface="Calibri"/>
                <a:cs typeface="Calibri"/>
              </a:rPr>
              <a:t> layer</a:t>
            </a:r>
            <a:r>
              <a:rPr sz="1000" spc="18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FF0000"/>
                </a:solidFill>
                <a:latin typeface="Calibri"/>
                <a:cs typeface="Calibri"/>
              </a:rPr>
              <a:t>of</a:t>
            </a:r>
            <a:r>
              <a:rPr sz="1000" spc="2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FF0000"/>
                </a:solidFill>
                <a:latin typeface="Calibri"/>
                <a:cs typeface="Calibri"/>
              </a:rPr>
              <a:t>bureaucracy</a:t>
            </a:r>
            <a:r>
              <a:rPr sz="1000" spc="18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or</a:t>
            </a:r>
            <a:r>
              <a:rPr sz="1000" spc="18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becoming</a:t>
            </a:r>
            <a:r>
              <a:rPr sz="1000" spc="2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2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team</a:t>
            </a:r>
            <a:r>
              <a:rPr sz="1000" spc="2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that</a:t>
            </a:r>
            <a:r>
              <a:rPr sz="1000" spc="18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owns</a:t>
            </a:r>
            <a:r>
              <a:rPr sz="1000" spc="21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addressing</a:t>
            </a:r>
            <a:r>
              <a:rPr sz="1000" spc="21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all</a:t>
            </a:r>
            <a:r>
              <a:rPr sz="1000" dirty="0">
                <a:latin typeface="Calibri"/>
                <a:cs typeface="Calibri"/>
              </a:rPr>
              <a:t> DevOps</a:t>
            </a:r>
            <a:r>
              <a:rPr sz="1000" spc="114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related</a:t>
            </a:r>
            <a:r>
              <a:rPr sz="1000" spc="-5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problems</a:t>
            </a:r>
            <a:endParaRPr sz="1000">
              <a:latin typeface="Calibri"/>
              <a:cs typeface="Calibri"/>
            </a:endParaRPr>
          </a:p>
          <a:p>
            <a:pPr marR="216535" algn="r">
              <a:lnSpc>
                <a:spcPct val="100000"/>
              </a:lnSpc>
              <a:spcBef>
                <a:spcPts val="185"/>
              </a:spcBef>
            </a:pPr>
            <a:r>
              <a:rPr sz="450" spc="-50" dirty="0">
                <a:solidFill>
                  <a:srgbClr val="888888"/>
                </a:solidFill>
                <a:latin typeface="Calibri"/>
                <a:cs typeface="Calibri"/>
              </a:rPr>
              <a:t>9</a:t>
            </a:r>
            <a:endParaRPr sz="4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41554" y="800099"/>
            <a:ext cx="4166235" cy="2209800"/>
            <a:chOff x="241554" y="800099"/>
            <a:chExt cx="4166235" cy="220980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70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09140" y="1037716"/>
              <a:ext cx="1553718" cy="135369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41554" y="800099"/>
              <a:ext cx="4165727" cy="2209800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185673" y="184150"/>
            <a:ext cx="25393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0" dirty="0">
                <a:latin typeface="Arial"/>
                <a:cs typeface="Arial"/>
              </a:rPr>
              <a:t>Test</a:t>
            </a:r>
            <a:r>
              <a:rPr sz="1800" b="1" spc="-130" dirty="0">
                <a:latin typeface="Arial"/>
                <a:cs typeface="Arial"/>
              </a:rPr>
              <a:t> </a:t>
            </a:r>
            <a:r>
              <a:rPr sz="1800" b="1" spc="-80" dirty="0">
                <a:latin typeface="Arial"/>
                <a:cs typeface="Arial"/>
              </a:rPr>
              <a:t>Driven</a:t>
            </a:r>
            <a:r>
              <a:rPr sz="1800" b="1" spc="-100" dirty="0">
                <a:latin typeface="Arial"/>
                <a:cs typeface="Arial"/>
              </a:rPr>
              <a:t> </a:t>
            </a:r>
            <a:r>
              <a:rPr sz="1800" b="1" spc="-65" dirty="0">
                <a:latin typeface="Arial"/>
                <a:cs typeface="Arial"/>
              </a:rPr>
              <a:t>Development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70102" y="656208"/>
            <a:ext cx="3601720" cy="2590800"/>
            <a:chOff x="570102" y="656208"/>
            <a:chExt cx="3601720" cy="259080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69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70102" y="656208"/>
              <a:ext cx="3601592" cy="2590800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185673" y="183260"/>
            <a:ext cx="25393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0" dirty="0">
                <a:latin typeface="Arial"/>
                <a:cs typeface="Arial"/>
              </a:rPr>
              <a:t>Test</a:t>
            </a:r>
            <a:r>
              <a:rPr sz="1800" b="1" spc="-130" dirty="0">
                <a:latin typeface="Arial"/>
                <a:cs typeface="Arial"/>
              </a:rPr>
              <a:t> </a:t>
            </a:r>
            <a:r>
              <a:rPr sz="1800" b="1" spc="-80" dirty="0">
                <a:latin typeface="Arial"/>
                <a:cs typeface="Arial"/>
              </a:rPr>
              <a:t>Driven</a:t>
            </a:r>
            <a:r>
              <a:rPr sz="1800" b="1" spc="-100" dirty="0">
                <a:latin typeface="Arial"/>
                <a:cs typeface="Arial"/>
              </a:rPr>
              <a:t> </a:t>
            </a:r>
            <a:r>
              <a:rPr sz="1800" b="1" spc="-65" dirty="0">
                <a:latin typeface="Arial"/>
                <a:cs typeface="Arial"/>
              </a:rPr>
              <a:t>Development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78346" y="705738"/>
            <a:ext cx="4415790" cy="2323465"/>
            <a:chOff x="78346" y="705738"/>
            <a:chExt cx="4415790" cy="232346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04900" y="2305557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8346" y="705738"/>
              <a:ext cx="4353560" cy="173266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8909" y="1368221"/>
              <a:ext cx="1784731" cy="94228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8346" y="1565566"/>
              <a:ext cx="1505966" cy="577303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185673" y="184150"/>
            <a:ext cx="12604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80" dirty="0">
                <a:solidFill>
                  <a:srgbClr val="006FC0"/>
                </a:solidFill>
                <a:latin typeface="Arial"/>
                <a:cs typeface="Arial"/>
              </a:rPr>
              <a:t>Agile</a:t>
            </a:r>
            <a:r>
              <a:rPr sz="1800" b="1" spc="-85" dirty="0">
                <a:solidFill>
                  <a:srgbClr val="006FC0"/>
                </a:solidFill>
                <a:latin typeface="Arial"/>
                <a:cs typeface="Arial"/>
              </a:rPr>
              <a:t> </a:t>
            </a:r>
            <a:r>
              <a:rPr sz="1800" b="1" spc="-75" dirty="0">
                <a:solidFill>
                  <a:srgbClr val="006FC0"/>
                </a:solidFill>
                <a:latin typeface="Arial"/>
                <a:cs typeface="Arial"/>
              </a:rPr>
              <a:t>Teams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83768" y="759713"/>
            <a:ext cx="3316604" cy="2540000"/>
            <a:chOff x="683768" y="759713"/>
            <a:chExt cx="3316604" cy="254000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69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83768" y="759713"/>
              <a:ext cx="3316351" cy="148882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81100" y="2307170"/>
              <a:ext cx="2458974" cy="992416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147573" y="122301"/>
            <a:ext cx="22326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70" dirty="0">
                <a:latin typeface="Arial"/>
                <a:cs typeface="Arial"/>
              </a:rPr>
              <a:t>From</a:t>
            </a:r>
            <a:r>
              <a:rPr sz="1800" b="1" spc="-204" dirty="0">
                <a:latin typeface="Arial"/>
                <a:cs typeface="Arial"/>
              </a:rPr>
              <a:t> </a:t>
            </a:r>
            <a:r>
              <a:rPr sz="1800" b="1" spc="-80" dirty="0">
                <a:latin typeface="Arial"/>
                <a:cs typeface="Arial"/>
              </a:rPr>
              <a:t>Agile</a:t>
            </a:r>
            <a:r>
              <a:rPr sz="1800" b="1" spc="-90" dirty="0">
                <a:latin typeface="Arial"/>
                <a:cs typeface="Arial"/>
              </a:rPr>
              <a:t> </a:t>
            </a:r>
            <a:r>
              <a:rPr sz="1800" b="1" spc="-55" dirty="0">
                <a:latin typeface="Arial"/>
                <a:cs typeface="Arial"/>
              </a:rPr>
              <a:t>to</a:t>
            </a:r>
            <a:r>
              <a:rPr sz="1800" b="1" spc="-125" dirty="0">
                <a:latin typeface="Arial"/>
                <a:cs typeface="Arial"/>
              </a:rPr>
              <a:t> </a:t>
            </a:r>
            <a:r>
              <a:rPr sz="1800" b="1" spc="-50" dirty="0">
                <a:latin typeface="Arial"/>
                <a:cs typeface="Arial"/>
              </a:rPr>
              <a:t>DevOps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96532" y="840866"/>
            <a:ext cx="4378960" cy="2317750"/>
            <a:chOff x="96532" y="840866"/>
            <a:chExt cx="4378960" cy="231775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70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8452" y="840866"/>
              <a:ext cx="3196463" cy="140703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6532" y="2400299"/>
              <a:ext cx="4378960" cy="757783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140588" y="260350"/>
            <a:ext cx="15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0" dirty="0">
                <a:latin typeface="Arial"/>
                <a:cs typeface="Arial"/>
              </a:rPr>
              <a:t>c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85673" y="183260"/>
            <a:ext cx="22326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70" dirty="0">
                <a:latin typeface="Arial"/>
                <a:cs typeface="Arial"/>
              </a:rPr>
              <a:t>From</a:t>
            </a:r>
            <a:r>
              <a:rPr sz="1800" b="1" spc="-204" dirty="0">
                <a:latin typeface="Arial"/>
                <a:cs typeface="Arial"/>
              </a:rPr>
              <a:t> </a:t>
            </a:r>
            <a:r>
              <a:rPr sz="1800" b="1" spc="-80" dirty="0">
                <a:latin typeface="Arial"/>
                <a:cs typeface="Arial"/>
              </a:rPr>
              <a:t>Agile</a:t>
            </a:r>
            <a:r>
              <a:rPr sz="1800" b="1" spc="-90" dirty="0">
                <a:latin typeface="Arial"/>
                <a:cs typeface="Arial"/>
              </a:rPr>
              <a:t> </a:t>
            </a:r>
            <a:r>
              <a:rPr sz="1800" b="1" spc="-55" dirty="0">
                <a:latin typeface="Arial"/>
                <a:cs typeface="Arial"/>
              </a:rPr>
              <a:t>to</a:t>
            </a:r>
            <a:r>
              <a:rPr sz="1800" b="1" spc="-125" dirty="0">
                <a:latin typeface="Arial"/>
                <a:cs typeface="Arial"/>
              </a:rPr>
              <a:t> </a:t>
            </a:r>
            <a:r>
              <a:rPr sz="1800" b="1" spc="-50" dirty="0">
                <a:latin typeface="Arial"/>
                <a:cs typeface="Arial"/>
              </a:rPr>
              <a:t>DevOps</a:t>
            </a:r>
            <a:endParaRPr sz="18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6106" y="971277"/>
            <a:ext cx="4053857" cy="13340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908811" y="914907"/>
            <a:ext cx="3091815" cy="2073910"/>
            <a:chOff x="908811" y="914907"/>
            <a:chExt cx="3091815" cy="207391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69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08811" y="914907"/>
              <a:ext cx="2754249" cy="2073529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223774" y="143332"/>
            <a:ext cx="193548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75" dirty="0">
                <a:latin typeface="Arial"/>
                <a:cs typeface="Arial"/>
              </a:rPr>
              <a:t>Component</a:t>
            </a:r>
            <a:r>
              <a:rPr sz="1800" b="1" spc="-95" dirty="0">
                <a:latin typeface="Arial"/>
                <a:cs typeface="Arial"/>
              </a:rPr>
              <a:t> </a:t>
            </a:r>
            <a:r>
              <a:rPr sz="1800" b="1" spc="-75" dirty="0">
                <a:latin typeface="Arial"/>
                <a:cs typeface="Arial"/>
              </a:rPr>
              <a:t>Teams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61747" y="732408"/>
            <a:ext cx="3938270" cy="2392045"/>
            <a:chOff x="261747" y="732408"/>
            <a:chExt cx="3938270" cy="239204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69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1747" y="732408"/>
              <a:ext cx="3937762" cy="2391791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185673" y="68960"/>
            <a:ext cx="22326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70" dirty="0">
                <a:latin typeface="Arial"/>
                <a:cs typeface="Arial"/>
              </a:rPr>
              <a:t>From</a:t>
            </a:r>
            <a:r>
              <a:rPr sz="1800" b="1" spc="-204" dirty="0">
                <a:latin typeface="Arial"/>
                <a:cs typeface="Arial"/>
              </a:rPr>
              <a:t> </a:t>
            </a:r>
            <a:r>
              <a:rPr sz="1800" b="1" spc="-80" dirty="0">
                <a:latin typeface="Arial"/>
                <a:cs typeface="Arial"/>
              </a:rPr>
              <a:t>Agile</a:t>
            </a:r>
            <a:r>
              <a:rPr sz="1800" b="1" spc="-90" dirty="0">
                <a:latin typeface="Arial"/>
                <a:cs typeface="Arial"/>
              </a:rPr>
              <a:t> </a:t>
            </a:r>
            <a:r>
              <a:rPr sz="1800" b="1" spc="-55" dirty="0">
                <a:latin typeface="Arial"/>
                <a:cs typeface="Arial"/>
              </a:rPr>
              <a:t>to</a:t>
            </a:r>
            <a:r>
              <a:rPr sz="1800" b="1" spc="-125" dirty="0">
                <a:latin typeface="Arial"/>
                <a:cs typeface="Arial"/>
              </a:rPr>
              <a:t> </a:t>
            </a:r>
            <a:r>
              <a:rPr sz="1800" b="1" spc="-50" dirty="0">
                <a:latin typeface="Arial"/>
                <a:cs typeface="Arial"/>
              </a:rPr>
              <a:t>DevOps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06375" y="749604"/>
            <a:ext cx="4159250" cy="2359660"/>
            <a:chOff x="206375" y="749604"/>
            <a:chExt cx="4159250" cy="235966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69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6375" y="749604"/>
              <a:ext cx="4159250" cy="2359660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185673" y="69850"/>
            <a:ext cx="22326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70" dirty="0">
                <a:latin typeface="Arial"/>
                <a:cs typeface="Arial"/>
              </a:rPr>
              <a:t>From</a:t>
            </a:r>
            <a:r>
              <a:rPr sz="1800" b="1" spc="-204" dirty="0">
                <a:latin typeface="Arial"/>
                <a:cs typeface="Arial"/>
              </a:rPr>
              <a:t> </a:t>
            </a:r>
            <a:r>
              <a:rPr sz="1800" b="1" spc="-80" dirty="0">
                <a:latin typeface="Arial"/>
                <a:cs typeface="Arial"/>
              </a:rPr>
              <a:t>Agile</a:t>
            </a:r>
            <a:r>
              <a:rPr sz="1800" b="1" spc="-90" dirty="0">
                <a:latin typeface="Arial"/>
                <a:cs typeface="Arial"/>
              </a:rPr>
              <a:t> </a:t>
            </a:r>
            <a:r>
              <a:rPr sz="1800" b="1" spc="-55" dirty="0">
                <a:latin typeface="Arial"/>
                <a:cs typeface="Arial"/>
              </a:rPr>
              <a:t>to</a:t>
            </a:r>
            <a:r>
              <a:rPr sz="1800" b="1" spc="-125" dirty="0">
                <a:latin typeface="Arial"/>
                <a:cs typeface="Arial"/>
              </a:rPr>
              <a:t> </a:t>
            </a:r>
            <a:r>
              <a:rPr sz="1800" b="1" spc="-50" dirty="0">
                <a:latin typeface="Arial"/>
                <a:cs typeface="Arial"/>
              </a:rPr>
              <a:t>DevOps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495300" y="729614"/>
            <a:ext cx="3505200" cy="2508885"/>
            <a:chOff x="495300" y="729614"/>
            <a:chExt cx="3505200" cy="250888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69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5300" y="729614"/>
              <a:ext cx="3473196" cy="2508885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0170">
              <a:lnSpc>
                <a:spcPct val="100000"/>
              </a:lnSpc>
              <a:spcBef>
                <a:spcPts val="100"/>
              </a:spcBef>
            </a:pPr>
            <a:r>
              <a:rPr sz="2000" spc="-70" dirty="0"/>
              <a:t>Infra</a:t>
            </a:r>
            <a:r>
              <a:rPr sz="2000" spc="-130" dirty="0"/>
              <a:t> </a:t>
            </a:r>
            <a:r>
              <a:rPr sz="2000" spc="-60" dirty="0"/>
              <a:t>evolution</a:t>
            </a:r>
            <a:endParaRPr sz="2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14629" y="0"/>
            <a:ext cx="4197350" cy="3124200"/>
            <a:chOff x="214629" y="0"/>
            <a:chExt cx="4197350" cy="31242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69" y="1951608"/>
              <a:ext cx="2754249" cy="723138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4629" y="337311"/>
              <a:ext cx="3845941" cy="2786888"/>
            </a:xfrm>
            <a:prstGeom prst="rect">
              <a:avLst/>
            </a:prstGeom>
          </p:spPr>
        </p:pic>
      </p:grpSp>
      <p:sp>
        <p:nvSpPr>
          <p:cNvPr id="5" name="object 5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426593" y="952499"/>
            <a:ext cx="3601085" cy="2085975"/>
            <a:chOff x="426593" y="952499"/>
            <a:chExt cx="3601085" cy="208597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70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26593" y="952499"/>
              <a:ext cx="3600957" cy="2085975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185673" y="183260"/>
            <a:ext cx="6877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5" dirty="0">
                <a:latin typeface="Arial"/>
                <a:cs typeface="Arial"/>
              </a:rPr>
              <a:t>Squad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45869" y="1951608"/>
            <a:ext cx="2754249" cy="723138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85673" y="184150"/>
            <a:ext cx="6877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5" dirty="0"/>
              <a:t>Squad</a:t>
            </a:r>
            <a:endParaRPr sz="1800"/>
          </a:p>
        </p:txBody>
      </p:sp>
      <p:sp>
        <p:nvSpPr>
          <p:cNvPr id="5" name="object 5"/>
          <p:cNvSpPr txBox="1"/>
          <p:nvPr/>
        </p:nvSpPr>
        <p:spPr>
          <a:xfrm>
            <a:off x="185673" y="803909"/>
            <a:ext cx="4152900" cy="2006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54305" indent="-141605">
              <a:lnSpc>
                <a:spcPct val="100000"/>
              </a:lnSpc>
              <a:spcBef>
                <a:spcPts val="95"/>
              </a:spcBef>
              <a:buFont typeface="Arial MT"/>
              <a:buChar char="•"/>
              <a:tabLst>
                <a:tab pos="154305" algn="l"/>
              </a:tabLst>
            </a:pPr>
            <a:r>
              <a:rPr sz="1000" dirty="0">
                <a:latin typeface="Calibri"/>
                <a:cs typeface="Calibri"/>
              </a:rPr>
              <a:t>A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Squad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is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similar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Scrum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team.</a:t>
            </a:r>
            <a:endParaRPr sz="1000">
              <a:latin typeface="Calibri"/>
              <a:cs typeface="Calibri"/>
            </a:endParaRPr>
          </a:p>
          <a:p>
            <a:pPr marL="153670" marR="262890" indent="-141605">
              <a:lnSpc>
                <a:spcPct val="100000"/>
              </a:lnSpc>
              <a:buFont typeface="Arial MT"/>
              <a:buChar char="•"/>
              <a:tabLst>
                <a:tab pos="155575" algn="l"/>
              </a:tabLst>
            </a:pPr>
            <a:r>
              <a:rPr sz="1000" dirty="0">
                <a:latin typeface="Calibri"/>
                <a:cs typeface="Calibri"/>
              </a:rPr>
              <a:t>They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sit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together,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they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have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all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skills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tools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needed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design, 	</a:t>
            </a:r>
            <a:r>
              <a:rPr sz="1000" dirty="0">
                <a:latin typeface="Calibri"/>
                <a:cs typeface="Calibri"/>
              </a:rPr>
              <a:t>develop,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test,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release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-4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production.</a:t>
            </a:r>
            <a:endParaRPr sz="1000">
              <a:latin typeface="Calibri"/>
              <a:cs typeface="Calibri"/>
            </a:endParaRPr>
          </a:p>
          <a:p>
            <a:pPr marL="153670" marR="46355" indent="-141605">
              <a:lnSpc>
                <a:spcPct val="100000"/>
              </a:lnSpc>
              <a:buFont typeface="Arial MT"/>
              <a:buChar char="•"/>
              <a:tabLst>
                <a:tab pos="155575" algn="l"/>
              </a:tabLst>
            </a:pPr>
            <a:r>
              <a:rPr sz="1000" dirty="0">
                <a:latin typeface="Calibri"/>
                <a:cs typeface="Calibri"/>
              </a:rPr>
              <a:t>They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are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self-organizing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team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decide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their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own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way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working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–</a:t>
            </a:r>
            <a:r>
              <a:rPr sz="1000" spc="-20" dirty="0">
                <a:latin typeface="Calibri"/>
                <a:cs typeface="Calibri"/>
              </a:rPr>
              <a:t> some 	</a:t>
            </a:r>
            <a:r>
              <a:rPr sz="1000" dirty="0">
                <a:latin typeface="Calibri"/>
                <a:cs typeface="Calibri"/>
              </a:rPr>
              <a:t>use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Scrum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sprints,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some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use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Kanban,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some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use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mix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these</a:t>
            </a:r>
            <a:r>
              <a:rPr sz="1000" spc="-10" dirty="0">
                <a:latin typeface="Calibri"/>
                <a:cs typeface="Calibri"/>
              </a:rPr>
              <a:t> approaches.</a:t>
            </a:r>
            <a:endParaRPr sz="1000">
              <a:latin typeface="Calibri"/>
              <a:cs typeface="Calibri"/>
            </a:endParaRPr>
          </a:p>
          <a:p>
            <a:pPr marL="153670" marR="87630" indent="-141605">
              <a:lnSpc>
                <a:spcPct val="100000"/>
              </a:lnSpc>
              <a:buFont typeface="Arial MT"/>
              <a:buChar char="•"/>
              <a:tabLst>
                <a:tab pos="155575" algn="l"/>
              </a:tabLst>
            </a:pPr>
            <a:r>
              <a:rPr sz="1000" dirty="0">
                <a:latin typeface="Calibri"/>
                <a:cs typeface="Calibri"/>
              </a:rPr>
              <a:t>A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tribe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is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collection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squads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that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work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in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related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areas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–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such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as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-25" dirty="0">
                <a:latin typeface="Calibri"/>
                <a:cs typeface="Calibri"/>
              </a:rPr>
              <a:t> web</a:t>
            </a:r>
            <a:r>
              <a:rPr sz="1000" dirty="0">
                <a:latin typeface="Calibri"/>
                <a:cs typeface="Calibri"/>
              </a:rPr>
              <a:t> 	application,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support,</a:t>
            </a:r>
            <a:r>
              <a:rPr sz="1000" spc="-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or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backend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infrastructure.</a:t>
            </a:r>
            <a:endParaRPr sz="1000">
              <a:latin typeface="Calibri"/>
              <a:cs typeface="Calibri"/>
            </a:endParaRPr>
          </a:p>
          <a:p>
            <a:pPr marL="153670" marR="161290" indent="-141605">
              <a:lnSpc>
                <a:spcPct val="100000"/>
              </a:lnSpc>
              <a:buFont typeface="Arial MT"/>
              <a:buChar char="•"/>
              <a:tabLst>
                <a:tab pos="155575" algn="l"/>
              </a:tabLst>
            </a:pPr>
            <a:r>
              <a:rPr sz="1000" dirty="0">
                <a:latin typeface="Calibri"/>
                <a:cs typeface="Calibri"/>
              </a:rPr>
              <a:t>The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chapter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is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your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small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family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people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having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similar skills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working 	</a:t>
            </a:r>
            <a:r>
              <a:rPr sz="1000" dirty="0">
                <a:latin typeface="Calibri"/>
                <a:cs typeface="Calibri"/>
              </a:rPr>
              <a:t>within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same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general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competency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area,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within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same</a:t>
            </a:r>
            <a:r>
              <a:rPr sz="1000" spc="-10" dirty="0">
                <a:latin typeface="Calibri"/>
                <a:cs typeface="Calibri"/>
              </a:rPr>
              <a:t> tribe.</a:t>
            </a:r>
            <a:endParaRPr sz="1000">
              <a:latin typeface="Calibri"/>
              <a:cs typeface="Calibri"/>
            </a:endParaRPr>
          </a:p>
          <a:p>
            <a:pPr marL="153670" marR="5080" indent="-141605">
              <a:lnSpc>
                <a:spcPct val="100000"/>
              </a:lnSpc>
              <a:buFont typeface="Arial MT"/>
              <a:buChar char="•"/>
              <a:tabLst>
                <a:tab pos="155575" algn="l"/>
              </a:tabLst>
            </a:pPr>
            <a:r>
              <a:rPr sz="1000" dirty="0">
                <a:latin typeface="Calibri"/>
                <a:cs typeface="Calibri"/>
              </a:rPr>
              <a:t>A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Guild is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more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organic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wide-</a:t>
            </a:r>
            <a:r>
              <a:rPr sz="1000" dirty="0">
                <a:latin typeface="Calibri"/>
                <a:cs typeface="Calibri"/>
              </a:rPr>
              <a:t>reaching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“community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interest”,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group 	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-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people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that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want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share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knowledge,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tools,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code,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practices.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Chapters 	</a:t>
            </a:r>
            <a:r>
              <a:rPr sz="1000" dirty="0">
                <a:latin typeface="Calibri"/>
                <a:cs typeface="Calibri"/>
              </a:rPr>
              <a:t>are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always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local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Tribe, </a:t>
            </a:r>
            <a:r>
              <a:rPr sz="1000" dirty="0">
                <a:latin typeface="Calibri"/>
                <a:cs typeface="Calibri"/>
              </a:rPr>
              <a:t>while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guild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usually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cuts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across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whole 	organization</a:t>
            </a:r>
            <a:endParaRPr sz="1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42900" y="876299"/>
            <a:ext cx="4036695" cy="2057400"/>
            <a:chOff x="342900" y="876299"/>
            <a:chExt cx="4036695" cy="205740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69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2900" y="876299"/>
              <a:ext cx="4036567" cy="2057400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800" spc="-70" dirty="0"/>
              <a:t>DevOps</a:t>
            </a:r>
            <a:r>
              <a:rPr sz="1800" spc="-125" dirty="0"/>
              <a:t> </a:t>
            </a:r>
            <a:r>
              <a:rPr sz="1800" dirty="0"/>
              <a:t>–</a:t>
            </a:r>
            <a:r>
              <a:rPr sz="1800" spc="-160" dirty="0"/>
              <a:t> </a:t>
            </a:r>
            <a:r>
              <a:rPr sz="1800" spc="-60" dirty="0"/>
              <a:t>Roles</a:t>
            </a:r>
            <a:r>
              <a:rPr sz="1800" spc="-160" dirty="0"/>
              <a:t> </a:t>
            </a:r>
            <a:r>
              <a:rPr sz="1800" dirty="0"/>
              <a:t>&amp;</a:t>
            </a:r>
            <a:r>
              <a:rPr sz="1800" spc="-160" dirty="0"/>
              <a:t> </a:t>
            </a:r>
            <a:r>
              <a:rPr sz="1800" spc="-70" dirty="0"/>
              <a:t>Responsibilities</a:t>
            </a:r>
            <a:endParaRPr sz="18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02235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Calibri"/>
                <a:cs typeface="Calibri"/>
              </a:rPr>
              <a:t>DevOps–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People</a:t>
            </a:r>
            <a:endParaRPr sz="20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72846" y="869314"/>
            <a:ext cx="386080" cy="429895"/>
            <a:chOff x="172846" y="869314"/>
            <a:chExt cx="386080" cy="42989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846" y="869314"/>
              <a:ext cx="256031" cy="14782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846" y="1015618"/>
              <a:ext cx="256031" cy="14782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8962" y="1174114"/>
              <a:ext cx="219456" cy="124968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38963" y="1439544"/>
            <a:ext cx="219456" cy="124968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172846" y="1689480"/>
            <a:ext cx="386080" cy="410209"/>
            <a:chOff x="172846" y="1689480"/>
            <a:chExt cx="386080" cy="410209"/>
          </a:xfrm>
        </p:grpSpPr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846" y="1689480"/>
              <a:ext cx="256031" cy="147828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8962" y="1843404"/>
              <a:ext cx="219456" cy="124968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8962" y="1974468"/>
              <a:ext cx="219456" cy="124968"/>
            </a:xfrm>
            <a:prstGeom prst="rect">
              <a:avLst/>
            </a:prstGeom>
          </p:spPr>
        </p:pic>
      </p:grpSp>
      <p:sp>
        <p:nvSpPr>
          <p:cNvPr id="13" name="object 13"/>
          <p:cNvSpPr txBox="1"/>
          <p:nvPr/>
        </p:nvSpPr>
        <p:spPr>
          <a:xfrm>
            <a:off x="160146" y="707262"/>
            <a:ext cx="4000500" cy="207391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ts val="1145"/>
              </a:lnSpc>
              <a:spcBef>
                <a:spcPts val="120"/>
              </a:spcBef>
            </a:pPr>
            <a:r>
              <a:rPr sz="1000" spc="-30" dirty="0">
                <a:solidFill>
                  <a:srgbClr val="006FBE"/>
                </a:solidFill>
                <a:latin typeface="Calibri"/>
                <a:cs typeface="Calibri"/>
              </a:rPr>
              <a:t>Key </a:t>
            </a: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competencies</a:t>
            </a:r>
            <a:r>
              <a:rPr sz="1000" spc="9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to</a:t>
            </a:r>
            <a:r>
              <a:rPr sz="1000" spc="7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succeed</a:t>
            </a:r>
            <a:endParaRPr sz="1000">
              <a:latin typeface="Calibri"/>
              <a:cs typeface="Calibri"/>
            </a:endParaRPr>
          </a:p>
          <a:p>
            <a:pPr marL="178435" marR="466725">
              <a:lnSpc>
                <a:spcPts val="1150"/>
              </a:lnSpc>
              <a:spcBef>
                <a:spcPts val="25"/>
              </a:spcBef>
            </a:pPr>
            <a:r>
              <a:rPr sz="1000" spc="-20" dirty="0">
                <a:latin typeface="Calibri"/>
                <a:cs typeface="Calibri"/>
              </a:rPr>
              <a:t>Culture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–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Shared</a:t>
            </a:r>
            <a:r>
              <a:rPr sz="1000" spc="-4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organizational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assumptions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resolve</a:t>
            </a:r>
            <a:r>
              <a:rPr sz="1000" spc="5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problems Leadership</a:t>
            </a:r>
            <a:endParaRPr sz="1000">
              <a:latin typeface="Calibri"/>
              <a:cs typeface="Calibri"/>
            </a:endParaRPr>
          </a:p>
          <a:p>
            <a:pPr marL="344805" marR="173355">
              <a:lnSpc>
                <a:spcPts val="1060"/>
              </a:lnSpc>
              <a:spcBef>
                <a:spcPts val="30"/>
              </a:spcBef>
            </a:pPr>
            <a:r>
              <a:rPr sz="850" dirty="0">
                <a:latin typeface="Calibri"/>
                <a:cs typeface="Calibri"/>
              </a:rPr>
              <a:t>visioning,</a:t>
            </a:r>
            <a:r>
              <a:rPr sz="850" spc="5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strategic</a:t>
            </a:r>
            <a:r>
              <a:rPr sz="850" spc="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management,</a:t>
            </a:r>
            <a:r>
              <a:rPr sz="850" spc="20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flexibility,</a:t>
            </a:r>
            <a:r>
              <a:rPr sz="850" spc="4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and</a:t>
            </a:r>
            <a:r>
              <a:rPr sz="850" spc="2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the</a:t>
            </a:r>
            <a:r>
              <a:rPr sz="850" spc="40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ability</a:t>
            </a:r>
            <a:r>
              <a:rPr sz="850" spc="-1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to</a:t>
            </a:r>
            <a:r>
              <a:rPr sz="850" spc="4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inspire</a:t>
            </a:r>
            <a:r>
              <a:rPr sz="850" spc="1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others</a:t>
            </a:r>
            <a:r>
              <a:rPr sz="850" spc="229" dirty="0">
                <a:latin typeface="Calibri"/>
                <a:cs typeface="Calibri"/>
              </a:rPr>
              <a:t> </a:t>
            </a:r>
            <a:r>
              <a:rPr sz="850" spc="-25" dirty="0">
                <a:latin typeface="Calibri"/>
                <a:cs typeface="Calibri"/>
              </a:rPr>
              <a:t>to</a:t>
            </a:r>
            <a:r>
              <a:rPr sz="850" spc="500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innovate</a:t>
            </a:r>
            <a:r>
              <a:rPr sz="850" spc="-4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and</a:t>
            </a:r>
            <a:r>
              <a:rPr sz="850" spc="-5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perform</a:t>
            </a:r>
            <a:endParaRPr sz="850">
              <a:latin typeface="Calibri"/>
              <a:cs typeface="Calibri"/>
            </a:endParaRPr>
          </a:p>
          <a:p>
            <a:pPr marL="344805" marR="295910">
              <a:lnSpc>
                <a:spcPts val="1000"/>
              </a:lnSpc>
              <a:spcBef>
                <a:spcPts val="15"/>
              </a:spcBef>
            </a:pPr>
            <a:r>
              <a:rPr sz="850" spc="-10" dirty="0">
                <a:latin typeface="Calibri"/>
                <a:cs typeface="Calibri"/>
              </a:rPr>
              <a:t>individuals</a:t>
            </a:r>
            <a:r>
              <a:rPr sz="850" spc="-5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with</a:t>
            </a:r>
            <a:r>
              <a:rPr sz="850" spc="-5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advanced</a:t>
            </a:r>
            <a:r>
              <a:rPr sz="850" dirty="0">
                <a:latin typeface="Calibri"/>
                <a:cs typeface="Calibri"/>
              </a:rPr>
              <a:t> communications</a:t>
            </a:r>
            <a:r>
              <a:rPr sz="850" spc="3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skills,</a:t>
            </a:r>
            <a:r>
              <a:rPr sz="850" spc="6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the</a:t>
            </a:r>
            <a:r>
              <a:rPr sz="850" spc="3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knowledge</a:t>
            </a:r>
            <a:r>
              <a:rPr sz="850" spc="3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of</a:t>
            </a:r>
            <a:r>
              <a:rPr sz="850" spc="215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diverse</a:t>
            </a:r>
            <a:r>
              <a:rPr sz="850" spc="50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cultures, and</a:t>
            </a:r>
            <a:r>
              <a:rPr sz="850" spc="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people</a:t>
            </a:r>
            <a:r>
              <a:rPr sz="850" spc="2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who</a:t>
            </a:r>
            <a:r>
              <a:rPr sz="850" spc="15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behave</a:t>
            </a:r>
            <a:r>
              <a:rPr sz="850" spc="-20" dirty="0">
                <a:latin typeface="Calibri"/>
                <a:cs typeface="Calibri"/>
              </a:rPr>
              <a:t> collaboratively</a:t>
            </a:r>
            <a:r>
              <a:rPr sz="850" dirty="0">
                <a:latin typeface="Calibri"/>
                <a:cs typeface="Calibri"/>
              </a:rPr>
              <a:t> when</a:t>
            </a:r>
            <a:r>
              <a:rPr sz="850" spc="30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working</a:t>
            </a:r>
            <a:r>
              <a:rPr sz="850" spc="2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in</a:t>
            </a:r>
            <a:r>
              <a:rPr sz="850" spc="55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teams</a:t>
            </a:r>
            <a:endParaRPr sz="850">
              <a:latin typeface="Calibri"/>
              <a:cs typeface="Calibri"/>
            </a:endParaRPr>
          </a:p>
          <a:p>
            <a:pPr marL="178435">
              <a:lnSpc>
                <a:spcPts val="1110"/>
              </a:lnSpc>
            </a:pPr>
            <a:r>
              <a:rPr sz="1000" spc="-10" dirty="0">
                <a:latin typeface="Calibri"/>
                <a:cs typeface="Calibri"/>
              </a:rPr>
              <a:t>Resource/management</a:t>
            </a:r>
            <a:endParaRPr sz="1000">
              <a:latin typeface="Calibri"/>
              <a:cs typeface="Calibri"/>
            </a:endParaRPr>
          </a:p>
          <a:p>
            <a:pPr marL="344805">
              <a:lnSpc>
                <a:spcPct val="100000"/>
              </a:lnSpc>
              <a:spcBef>
                <a:spcPts val="20"/>
              </a:spcBef>
            </a:pPr>
            <a:r>
              <a:rPr sz="850" spc="-10" dirty="0">
                <a:latin typeface="Calibri"/>
                <a:cs typeface="Calibri"/>
              </a:rPr>
              <a:t>effective</a:t>
            </a:r>
            <a:r>
              <a:rPr sz="850" spc="4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management</a:t>
            </a:r>
            <a:r>
              <a:rPr sz="850" spc="5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of</a:t>
            </a:r>
            <a:r>
              <a:rPr sz="850" spc="45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availableresources</a:t>
            </a:r>
            <a:endParaRPr sz="850">
              <a:latin typeface="Calibri"/>
              <a:cs typeface="Calibri"/>
            </a:endParaRPr>
          </a:p>
          <a:p>
            <a:pPr marL="344805" marR="541655">
              <a:lnSpc>
                <a:spcPts val="1050"/>
              </a:lnSpc>
              <a:spcBef>
                <a:spcPts val="20"/>
              </a:spcBef>
            </a:pPr>
            <a:r>
              <a:rPr sz="850" spc="-10" dirty="0">
                <a:latin typeface="Calibri"/>
                <a:cs typeface="Calibri"/>
              </a:rPr>
              <a:t>collaboration</a:t>
            </a:r>
            <a:r>
              <a:rPr sz="850" spc="-3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across</a:t>
            </a:r>
            <a:r>
              <a:rPr sz="850" spc="4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multi-</a:t>
            </a:r>
            <a:r>
              <a:rPr sz="850" spc="-10" dirty="0">
                <a:latin typeface="Calibri"/>
                <a:cs typeface="Calibri"/>
              </a:rPr>
              <a:t>functional</a:t>
            </a:r>
            <a:r>
              <a:rPr sz="850" spc="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teams</a:t>
            </a:r>
            <a:r>
              <a:rPr sz="850" spc="1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is</a:t>
            </a:r>
            <a:r>
              <a:rPr sz="850" spc="45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at</a:t>
            </a:r>
            <a:r>
              <a:rPr sz="850" spc="-1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the</a:t>
            </a:r>
            <a:r>
              <a:rPr sz="850" spc="25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heart </a:t>
            </a:r>
            <a:r>
              <a:rPr sz="850" dirty="0">
                <a:latin typeface="Calibri"/>
                <a:cs typeface="Calibri"/>
              </a:rPr>
              <a:t>of</a:t>
            </a:r>
            <a:r>
              <a:rPr sz="850" spc="225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DevOps,</a:t>
            </a:r>
            <a:r>
              <a:rPr sz="850" spc="500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delivering</a:t>
            </a:r>
            <a:r>
              <a:rPr sz="850" dirty="0">
                <a:latin typeface="Calibri"/>
                <a:cs typeface="Calibri"/>
              </a:rPr>
              <a:t> an</a:t>
            </a:r>
            <a:r>
              <a:rPr sz="850" spc="-2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accountable</a:t>
            </a:r>
            <a:r>
              <a:rPr sz="850" spc="6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business</a:t>
            </a:r>
            <a:r>
              <a:rPr sz="850" spc="50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outcome</a:t>
            </a:r>
            <a:endParaRPr sz="850">
              <a:latin typeface="Calibri"/>
              <a:cs typeface="Calibri"/>
            </a:endParaRPr>
          </a:p>
          <a:p>
            <a:pPr marL="178435">
              <a:lnSpc>
                <a:spcPts val="1000"/>
              </a:lnSpc>
            </a:pPr>
            <a:r>
              <a:rPr sz="950" spc="-20" dirty="0">
                <a:latin typeface="Calibri"/>
                <a:cs typeface="Calibri"/>
              </a:rPr>
              <a:t>Subject </a:t>
            </a:r>
            <a:r>
              <a:rPr sz="950" spc="-30" dirty="0">
                <a:latin typeface="Calibri"/>
                <a:cs typeface="Calibri"/>
              </a:rPr>
              <a:t>matter</a:t>
            </a:r>
            <a:r>
              <a:rPr sz="950" spc="15" dirty="0">
                <a:latin typeface="Calibri"/>
                <a:cs typeface="Calibri"/>
              </a:rPr>
              <a:t> </a:t>
            </a:r>
            <a:r>
              <a:rPr sz="950" spc="-10" dirty="0">
                <a:latin typeface="Calibri"/>
                <a:cs typeface="Calibri"/>
              </a:rPr>
              <a:t>experts</a:t>
            </a:r>
            <a:r>
              <a:rPr sz="950" spc="5" dirty="0">
                <a:latin typeface="Calibri"/>
                <a:cs typeface="Calibri"/>
              </a:rPr>
              <a:t> </a:t>
            </a:r>
            <a:r>
              <a:rPr sz="950" spc="-30" dirty="0">
                <a:latin typeface="Calibri"/>
                <a:cs typeface="Calibri"/>
              </a:rPr>
              <a:t>(SME’s)</a:t>
            </a:r>
            <a:r>
              <a:rPr sz="950" spc="-10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in</a:t>
            </a:r>
            <a:r>
              <a:rPr sz="950" spc="5" dirty="0">
                <a:latin typeface="Calibri"/>
                <a:cs typeface="Calibri"/>
              </a:rPr>
              <a:t> </a:t>
            </a:r>
            <a:r>
              <a:rPr sz="950" spc="-25" dirty="0">
                <a:latin typeface="Calibri"/>
                <a:cs typeface="Calibri"/>
              </a:rPr>
              <a:t>different</a:t>
            </a:r>
            <a:r>
              <a:rPr sz="950" spc="-10" dirty="0">
                <a:latin typeface="Calibri"/>
                <a:cs typeface="Calibri"/>
              </a:rPr>
              <a:t> </a:t>
            </a:r>
            <a:r>
              <a:rPr sz="950" spc="-25" dirty="0">
                <a:latin typeface="Calibri"/>
                <a:cs typeface="Calibri"/>
              </a:rPr>
              <a:t>areas</a:t>
            </a:r>
            <a:r>
              <a:rPr sz="950" spc="-45" dirty="0">
                <a:latin typeface="Calibri"/>
                <a:cs typeface="Calibri"/>
              </a:rPr>
              <a:t> </a:t>
            </a:r>
            <a:r>
              <a:rPr sz="950" spc="-20" dirty="0">
                <a:latin typeface="Calibri"/>
                <a:cs typeface="Calibri"/>
              </a:rPr>
              <a:t>like</a:t>
            </a:r>
            <a:r>
              <a:rPr sz="950" dirty="0">
                <a:latin typeface="Calibri"/>
                <a:cs typeface="Calibri"/>
              </a:rPr>
              <a:t> –</a:t>
            </a:r>
            <a:r>
              <a:rPr sz="950" spc="10" dirty="0">
                <a:latin typeface="Calibri"/>
                <a:cs typeface="Calibri"/>
              </a:rPr>
              <a:t> </a:t>
            </a:r>
            <a:r>
              <a:rPr sz="950" spc="-20" dirty="0">
                <a:latin typeface="Calibri"/>
                <a:cs typeface="Calibri"/>
              </a:rPr>
              <a:t>Automation,</a:t>
            </a:r>
            <a:r>
              <a:rPr sz="950" spc="3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Build</a:t>
            </a:r>
            <a:r>
              <a:rPr sz="950" spc="220" dirty="0">
                <a:latin typeface="Calibri"/>
                <a:cs typeface="Calibri"/>
              </a:rPr>
              <a:t> </a:t>
            </a:r>
            <a:r>
              <a:rPr sz="950" spc="-50" dirty="0">
                <a:latin typeface="Calibri"/>
                <a:cs typeface="Calibri"/>
              </a:rPr>
              <a:t>&amp;</a:t>
            </a:r>
            <a:endParaRPr sz="950">
              <a:latin typeface="Calibri"/>
              <a:cs typeface="Calibri"/>
            </a:endParaRPr>
          </a:p>
          <a:p>
            <a:pPr marL="178435">
              <a:lnSpc>
                <a:spcPts val="1075"/>
              </a:lnSpc>
            </a:pPr>
            <a:r>
              <a:rPr sz="950" dirty="0">
                <a:latin typeface="Calibri"/>
                <a:cs typeface="Calibri"/>
              </a:rPr>
              <a:t>Release</a:t>
            </a:r>
            <a:r>
              <a:rPr sz="950" spc="1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management,</a:t>
            </a:r>
            <a:r>
              <a:rPr sz="950" spc="6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CI/CD,</a:t>
            </a:r>
            <a:r>
              <a:rPr sz="950" spc="70" dirty="0">
                <a:latin typeface="Calibri"/>
                <a:cs typeface="Calibri"/>
              </a:rPr>
              <a:t> </a:t>
            </a:r>
            <a:r>
              <a:rPr sz="950" spc="-20" dirty="0">
                <a:latin typeface="Calibri"/>
                <a:cs typeface="Calibri"/>
              </a:rPr>
              <a:t>Containers,</a:t>
            </a:r>
            <a:r>
              <a:rPr sz="950" spc="-10" dirty="0">
                <a:latin typeface="Calibri"/>
                <a:cs typeface="Calibri"/>
              </a:rPr>
              <a:t> </a:t>
            </a:r>
            <a:r>
              <a:rPr sz="950" spc="-40" dirty="0">
                <a:latin typeface="Calibri"/>
                <a:cs typeface="Calibri"/>
              </a:rPr>
              <a:t>Security,</a:t>
            </a:r>
            <a:r>
              <a:rPr sz="950" spc="-3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Cloud</a:t>
            </a:r>
            <a:r>
              <a:rPr sz="950" spc="165" dirty="0">
                <a:latin typeface="Calibri"/>
                <a:cs typeface="Calibri"/>
              </a:rPr>
              <a:t> </a:t>
            </a:r>
            <a:r>
              <a:rPr sz="950" spc="-10" dirty="0">
                <a:latin typeface="Calibri"/>
                <a:cs typeface="Calibri"/>
              </a:rPr>
              <a:t>(AWS/GCP/Azure)</a:t>
            </a:r>
            <a:endParaRPr sz="950">
              <a:latin typeface="Calibri"/>
              <a:cs typeface="Calibri"/>
            </a:endParaRPr>
          </a:p>
          <a:p>
            <a:pPr marL="198120">
              <a:lnSpc>
                <a:spcPct val="100000"/>
              </a:lnSpc>
              <a:spcBef>
                <a:spcPts val="985"/>
              </a:spcBef>
              <a:tabLst>
                <a:tab pos="728980" algn="l"/>
                <a:tab pos="3413125" algn="l"/>
              </a:tabLst>
            </a:pPr>
            <a:r>
              <a:rPr sz="950" spc="-10" dirty="0">
                <a:latin typeface="Calibri"/>
                <a:cs typeface="Calibri"/>
              </a:rPr>
              <a:t>DevOps</a:t>
            </a:r>
            <a:r>
              <a:rPr sz="950" dirty="0">
                <a:latin typeface="Calibri"/>
                <a:cs typeface="Calibri"/>
              </a:rPr>
              <a:t>	engineers</a:t>
            </a:r>
            <a:r>
              <a:rPr sz="950" spc="245" dirty="0">
                <a:latin typeface="Calibri"/>
                <a:cs typeface="Calibri"/>
              </a:rPr>
              <a:t>  </a:t>
            </a:r>
            <a:r>
              <a:rPr sz="950" dirty="0">
                <a:latin typeface="Calibri"/>
                <a:cs typeface="Calibri"/>
              </a:rPr>
              <a:t>who</a:t>
            </a:r>
            <a:r>
              <a:rPr sz="950" spc="195" dirty="0">
                <a:latin typeface="Calibri"/>
                <a:cs typeface="Calibri"/>
              </a:rPr>
              <a:t>  </a:t>
            </a:r>
            <a:r>
              <a:rPr sz="950" dirty="0">
                <a:latin typeface="Calibri"/>
                <a:cs typeface="Calibri"/>
              </a:rPr>
              <a:t>are</a:t>
            </a:r>
            <a:r>
              <a:rPr sz="950" spc="200" dirty="0">
                <a:latin typeface="Calibri"/>
                <a:cs typeface="Calibri"/>
              </a:rPr>
              <a:t>  </a:t>
            </a:r>
            <a:r>
              <a:rPr sz="950" dirty="0">
                <a:latin typeface="Calibri"/>
                <a:cs typeface="Calibri"/>
              </a:rPr>
              <a:t>members</a:t>
            </a:r>
            <a:r>
              <a:rPr sz="950" spc="245" dirty="0">
                <a:latin typeface="Calibri"/>
                <a:cs typeface="Calibri"/>
              </a:rPr>
              <a:t>  </a:t>
            </a:r>
            <a:r>
              <a:rPr sz="950" dirty="0">
                <a:latin typeface="Calibri"/>
                <a:cs typeface="Calibri"/>
              </a:rPr>
              <a:t>from</a:t>
            </a:r>
            <a:r>
              <a:rPr sz="950" spc="240" dirty="0">
                <a:latin typeface="Calibri"/>
                <a:cs typeface="Calibri"/>
              </a:rPr>
              <a:t>  </a:t>
            </a:r>
            <a:r>
              <a:rPr sz="950" spc="-10" dirty="0">
                <a:latin typeface="Calibri"/>
                <a:cs typeface="Calibri"/>
              </a:rPr>
              <a:t>different</a:t>
            </a:r>
            <a:r>
              <a:rPr sz="950" dirty="0">
                <a:latin typeface="Calibri"/>
                <a:cs typeface="Calibri"/>
              </a:rPr>
              <a:t>	</a:t>
            </a:r>
            <a:r>
              <a:rPr sz="950" spc="-10" dirty="0">
                <a:latin typeface="Calibri"/>
                <a:cs typeface="Calibri"/>
              </a:rPr>
              <a:t>department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100576" y="2791205"/>
            <a:ext cx="83820" cy="9334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450" spc="-25" dirty="0">
                <a:solidFill>
                  <a:srgbClr val="888888"/>
                </a:solidFill>
                <a:latin typeface="Calibri"/>
                <a:cs typeface="Calibri"/>
              </a:rPr>
              <a:t>10</a:t>
            </a:r>
            <a:endParaRPr sz="45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26897" y="2755518"/>
            <a:ext cx="1562100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spc="-10" dirty="0">
                <a:latin typeface="Calibri"/>
                <a:cs typeface="Calibri"/>
              </a:rPr>
              <a:t>(development,</a:t>
            </a:r>
            <a:r>
              <a:rPr sz="950" spc="50" dirty="0">
                <a:latin typeface="Calibri"/>
                <a:cs typeface="Calibri"/>
              </a:rPr>
              <a:t> </a:t>
            </a:r>
            <a:r>
              <a:rPr sz="950" spc="-25" dirty="0">
                <a:latin typeface="Calibri"/>
                <a:cs typeface="Calibri"/>
              </a:rPr>
              <a:t>QA,</a:t>
            </a:r>
            <a:r>
              <a:rPr sz="950" spc="-50" dirty="0">
                <a:latin typeface="Calibri"/>
                <a:cs typeface="Calibri"/>
              </a:rPr>
              <a:t> </a:t>
            </a:r>
            <a:r>
              <a:rPr sz="950" spc="-20" dirty="0">
                <a:latin typeface="Calibri"/>
                <a:cs typeface="Calibri"/>
              </a:rPr>
              <a:t>Operations</a:t>
            </a:r>
            <a:r>
              <a:rPr sz="950" spc="70" dirty="0">
                <a:latin typeface="Calibri"/>
                <a:cs typeface="Calibri"/>
              </a:rPr>
              <a:t> </a:t>
            </a:r>
            <a:r>
              <a:rPr sz="950" spc="-50" dirty="0">
                <a:latin typeface="Calibri"/>
                <a:cs typeface="Calibri"/>
              </a:rPr>
              <a:t>)</a:t>
            </a:r>
            <a:endParaRPr sz="9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138677"/>
            <a:ext cx="2281555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204085">
              <a:lnSpc>
                <a:spcPts val="550"/>
              </a:lnSpc>
              <a:spcBef>
                <a:spcPts val="105"/>
              </a:spcBef>
            </a:pPr>
            <a:r>
              <a:rPr sz="500" spc="-25" dirty="0">
                <a:solidFill>
                  <a:srgbClr val="888888"/>
                </a:solidFill>
                <a:latin typeface="Calibri"/>
                <a:cs typeface="Calibri"/>
              </a:rPr>
              <a:t>12</a:t>
            </a:r>
            <a:endParaRPr sz="500">
              <a:latin typeface="Calibri"/>
              <a:cs typeface="Calibri"/>
            </a:endParaRPr>
          </a:p>
          <a:p>
            <a:pPr marL="2204085">
              <a:lnSpc>
                <a:spcPts val="550"/>
              </a:lnSpc>
            </a:pPr>
            <a:r>
              <a:rPr sz="500" spc="-50" dirty="0">
                <a:solidFill>
                  <a:srgbClr val="888888"/>
                </a:solidFill>
                <a:latin typeface="Calibri"/>
                <a:cs typeface="Calibri"/>
              </a:rPr>
              <a:t>7</a:t>
            </a:r>
            <a:endParaRPr sz="5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018" y="139445"/>
            <a:ext cx="186245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dirty="0"/>
              <a:t>DevOps–</a:t>
            </a:r>
            <a:r>
              <a:rPr sz="2000" spc="30" dirty="0"/>
              <a:t> </a:t>
            </a:r>
            <a:r>
              <a:rPr sz="2000" spc="-25" dirty="0"/>
              <a:t>Tools</a:t>
            </a:r>
            <a:endParaRPr sz="20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0700" y="775461"/>
            <a:ext cx="252984" cy="14325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0700" y="1324355"/>
            <a:ext cx="252984" cy="14325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120700" y="1667255"/>
            <a:ext cx="304800" cy="349250"/>
            <a:chOff x="120700" y="1667255"/>
            <a:chExt cx="304800" cy="34925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20700" y="1667255"/>
              <a:ext cx="304800" cy="17373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0700" y="1872995"/>
              <a:ext cx="252984" cy="143255"/>
            </a:xfrm>
            <a:prstGeom prst="rect">
              <a:avLst/>
            </a:prstGeom>
          </p:spPr>
        </p:pic>
      </p:grpSp>
      <p:grpSp>
        <p:nvGrpSpPr>
          <p:cNvPr id="9" name="object 9"/>
          <p:cNvGrpSpPr/>
          <p:nvPr/>
        </p:nvGrpSpPr>
        <p:grpSpPr>
          <a:xfrm>
            <a:off x="120700" y="2398775"/>
            <a:ext cx="449580" cy="722630"/>
            <a:chOff x="120700" y="2398775"/>
            <a:chExt cx="449580" cy="722630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20700" y="2398775"/>
              <a:ext cx="304800" cy="173736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5429" y="2581604"/>
              <a:ext cx="304800" cy="17404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5429" y="2764789"/>
              <a:ext cx="304800" cy="173736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5429" y="2947669"/>
              <a:ext cx="304800" cy="173736"/>
            </a:xfrm>
            <a:prstGeom prst="rect">
              <a:avLst/>
            </a:prstGeom>
          </p:spPr>
        </p:pic>
      </p:grpSp>
      <p:sp>
        <p:nvSpPr>
          <p:cNvPr id="14" name="object 14"/>
          <p:cNvSpPr txBox="1"/>
          <p:nvPr/>
        </p:nvSpPr>
        <p:spPr>
          <a:xfrm>
            <a:off x="274065" y="727709"/>
            <a:ext cx="4222115" cy="24034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6985" indent="19685" algn="just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Calibri"/>
                <a:cs typeface="Calibri"/>
              </a:rPr>
              <a:t>Enables</a:t>
            </a:r>
            <a:r>
              <a:rPr sz="1200" spc="145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people</a:t>
            </a:r>
            <a:r>
              <a:rPr sz="1200" spc="150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to</a:t>
            </a:r>
            <a:r>
              <a:rPr sz="1200" spc="140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focus</a:t>
            </a:r>
            <a:r>
              <a:rPr sz="1200" spc="155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on</a:t>
            </a:r>
            <a:r>
              <a:rPr sz="1200" spc="145" dirty="0">
                <a:latin typeface="Calibri"/>
                <a:cs typeface="Calibri"/>
              </a:rPr>
              <a:t>  </a:t>
            </a:r>
            <a:r>
              <a:rPr sz="1200" spc="-20" dirty="0">
                <a:latin typeface="Calibri"/>
                <a:cs typeface="Calibri"/>
              </a:rPr>
              <a:t>high-</a:t>
            </a:r>
            <a:r>
              <a:rPr sz="1200" dirty="0">
                <a:latin typeface="Calibri"/>
                <a:cs typeface="Calibri"/>
              </a:rPr>
              <a:t>value</a:t>
            </a:r>
            <a:r>
              <a:rPr sz="1200" spc="140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creative</a:t>
            </a:r>
            <a:r>
              <a:rPr sz="1200" spc="140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work</a:t>
            </a:r>
            <a:r>
              <a:rPr sz="1200" spc="125" dirty="0">
                <a:latin typeface="Calibri"/>
                <a:cs typeface="Calibri"/>
              </a:rPr>
              <a:t>  </a:t>
            </a:r>
            <a:r>
              <a:rPr sz="1200" spc="-10" dirty="0">
                <a:latin typeface="Calibri"/>
                <a:cs typeface="Calibri"/>
              </a:rPr>
              <a:t>while </a:t>
            </a:r>
            <a:r>
              <a:rPr sz="1200" dirty="0">
                <a:latin typeface="Calibri"/>
                <a:cs typeface="Calibri"/>
              </a:rPr>
              <a:t>delegating</a:t>
            </a:r>
            <a:r>
              <a:rPr sz="1200" spc="175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routine</a:t>
            </a:r>
            <a:r>
              <a:rPr sz="1200" spc="1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tasks</a:t>
            </a:r>
            <a:r>
              <a:rPr sz="1200" spc="16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</a:t>
            </a:r>
            <a:r>
              <a:rPr sz="1200" spc="1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automation.</a:t>
            </a:r>
            <a:r>
              <a:rPr sz="1200" spc="17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Technology</a:t>
            </a:r>
            <a:r>
              <a:rPr sz="1200" spc="170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also</a:t>
            </a:r>
            <a:r>
              <a:rPr sz="1200" spc="17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allows </a:t>
            </a:r>
            <a:r>
              <a:rPr sz="1200" dirty="0">
                <a:latin typeface="Calibri"/>
                <a:cs typeface="Calibri"/>
              </a:rPr>
              <a:t>teams</a:t>
            </a:r>
            <a:r>
              <a:rPr sz="1200" spc="2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254" dirty="0">
                <a:latin typeface="Calibri"/>
                <a:cs typeface="Calibri"/>
              </a:rPr>
              <a:t> </a:t>
            </a:r>
            <a:r>
              <a:rPr sz="1200" spc="-25" dirty="0">
                <a:latin typeface="Calibri"/>
                <a:cs typeface="Calibri"/>
              </a:rPr>
              <a:t>practitioners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</a:t>
            </a:r>
            <a:r>
              <a:rPr sz="1200" spc="-10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leverage</a:t>
            </a:r>
            <a:r>
              <a:rPr sz="1200" spc="-1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scale</a:t>
            </a:r>
            <a:r>
              <a:rPr sz="1200" spc="-20" dirty="0">
                <a:latin typeface="Calibri"/>
                <a:cs typeface="Calibri"/>
              </a:rPr>
              <a:t> their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time and</a:t>
            </a:r>
            <a:r>
              <a:rPr sz="1200" spc="4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abilities. </a:t>
            </a:r>
            <a:r>
              <a:rPr sz="1200" dirty="0">
                <a:latin typeface="Calibri"/>
                <a:cs typeface="Calibri"/>
              </a:rPr>
              <a:t>Organization</a:t>
            </a:r>
            <a:r>
              <a:rPr sz="1200" spc="1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has</a:t>
            </a:r>
            <a:r>
              <a:rPr sz="1200" spc="1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</a:t>
            </a:r>
            <a:r>
              <a:rPr sz="1200" spc="1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reuse</a:t>
            </a:r>
            <a:r>
              <a:rPr sz="1200" spc="1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assets,</a:t>
            </a:r>
            <a:r>
              <a:rPr sz="1200" spc="1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code,</a:t>
            </a:r>
            <a:r>
              <a:rPr sz="1200" spc="1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1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practices</a:t>
            </a:r>
            <a:r>
              <a:rPr sz="1200" spc="1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</a:t>
            </a:r>
            <a:r>
              <a:rPr sz="1200" spc="1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be</a:t>
            </a:r>
            <a:r>
              <a:rPr sz="1200" spc="15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cost- </a:t>
            </a:r>
            <a:r>
              <a:rPr sz="1200" dirty="0">
                <a:latin typeface="Calibri"/>
                <a:cs typeface="Calibri"/>
              </a:rPr>
              <a:t>effective</a:t>
            </a:r>
            <a:r>
              <a:rPr sz="1200" spc="19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5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efficient.</a:t>
            </a:r>
            <a:endParaRPr sz="1200">
              <a:latin typeface="Calibri"/>
              <a:cs typeface="Calibri"/>
            </a:endParaRPr>
          </a:p>
          <a:p>
            <a:pPr marL="12700" marR="5080" indent="19685">
              <a:lnSpc>
                <a:spcPct val="100000"/>
              </a:lnSpc>
              <a:tabLst>
                <a:tab pos="407034" algn="l"/>
              </a:tabLst>
            </a:pPr>
            <a:r>
              <a:rPr sz="1200" spc="-20" dirty="0">
                <a:latin typeface="Calibri"/>
                <a:cs typeface="Calibri"/>
              </a:rPr>
              <a:t>Standardizing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automation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also </a:t>
            </a:r>
            <a:r>
              <a:rPr sz="1200" spc="-10" dirty="0">
                <a:latin typeface="Calibri"/>
                <a:cs typeface="Calibri"/>
              </a:rPr>
              <a:t>makes</a:t>
            </a:r>
            <a:r>
              <a:rPr sz="1200" spc="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people</a:t>
            </a:r>
            <a:r>
              <a:rPr sz="1200" spc="-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more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effective </a:t>
            </a:r>
            <a:r>
              <a:rPr sz="1200" dirty="0">
                <a:latin typeface="Calibri"/>
                <a:cs typeface="Calibri"/>
              </a:rPr>
              <a:t>common</a:t>
            </a:r>
            <a:r>
              <a:rPr sz="1200" spc="17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set</a:t>
            </a:r>
            <a:r>
              <a:rPr sz="1200" spc="18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15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tools</a:t>
            </a:r>
            <a:r>
              <a:rPr sz="1200" spc="15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allows</a:t>
            </a:r>
            <a:r>
              <a:rPr sz="1200" spc="15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practitioners</a:t>
            </a:r>
            <a:r>
              <a:rPr sz="1200" spc="1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</a:t>
            </a:r>
            <a:r>
              <a:rPr sz="1200" spc="16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work</a:t>
            </a:r>
            <a:r>
              <a:rPr sz="1200" spc="12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anywhere,</a:t>
            </a:r>
            <a:r>
              <a:rPr sz="1200" spc="150" dirty="0">
                <a:latin typeface="Calibri"/>
                <a:cs typeface="Calibri"/>
              </a:rPr>
              <a:t> </a:t>
            </a:r>
            <a:r>
              <a:rPr sz="1200" spc="-25" dirty="0">
                <a:latin typeface="Calibri"/>
                <a:cs typeface="Calibri"/>
              </a:rPr>
              <a:t>and new</a:t>
            </a:r>
            <a:r>
              <a:rPr sz="1200" dirty="0">
                <a:latin typeface="Calibri"/>
                <a:cs typeface="Calibri"/>
              </a:rPr>
              <a:t>	team</a:t>
            </a:r>
            <a:r>
              <a:rPr sz="1200" spc="204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members</a:t>
            </a:r>
            <a:r>
              <a:rPr sz="1200" spc="204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need</a:t>
            </a:r>
            <a:r>
              <a:rPr sz="1200" spc="2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</a:t>
            </a:r>
            <a:r>
              <a:rPr sz="1200" spc="2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learn</a:t>
            </a:r>
            <a:r>
              <a:rPr sz="1200" spc="204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only</a:t>
            </a:r>
            <a:r>
              <a:rPr sz="1200" spc="2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one</a:t>
            </a:r>
            <a:r>
              <a:rPr sz="1200" spc="2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set</a:t>
            </a:r>
            <a:r>
              <a:rPr sz="1200" spc="229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2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tools</a:t>
            </a:r>
            <a:r>
              <a:rPr sz="1200" spc="2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200" dirty="0">
                <a:latin typeface="Calibri"/>
                <a:cs typeface="Calibri"/>
              </a:rPr>
              <a:t> </a:t>
            </a:r>
            <a:r>
              <a:rPr sz="1200" spc="-50" dirty="0">
                <a:latin typeface="Calibri"/>
                <a:cs typeface="Calibri"/>
              </a:rPr>
              <a:t>a </a:t>
            </a:r>
            <a:r>
              <a:rPr sz="1200" dirty="0">
                <a:latin typeface="Calibri"/>
                <a:cs typeface="Calibri"/>
              </a:rPr>
              <a:t>process </a:t>
            </a:r>
            <a:r>
              <a:rPr sz="1200" spc="-10" dirty="0">
                <a:latin typeface="Calibri"/>
                <a:cs typeface="Calibri"/>
              </a:rPr>
              <a:t>that’s</a:t>
            </a:r>
            <a:r>
              <a:rPr sz="1200" spc="16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efficient,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cost-effective,</a:t>
            </a:r>
            <a:r>
              <a:rPr sz="1200" spc="-20" dirty="0">
                <a:latin typeface="Calibri"/>
                <a:cs typeface="Calibri"/>
              </a:rPr>
              <a:t> repeatable,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 </a:t>
            </a:r>
            <a:r>
              <a:rPr sz="1200" spc="-10" dirty="0">
                <a:latin typeface="Calibri"/>
                <a:cs typeface="Calibri"/>
              </a:rPr>
              <a:t>scalable.</a:t>
            </a:r>
            <a:endParaRPr sz="1200">
              <a:latin typeface="Calibri"/>
              <a:cs typeface="Calibri"/>
            </a:endParaRPr>
          </a:p>
          <a:p>
            <a:pPr marL="178435" marR="2221230" indent="-146685">
              <a:lnSpc>
                <a:spcPct val="100000"/>
              </a:lnSpc>
            </a:pPr>
            <a:r>
              <a:rPr sz="1200" spc="-20" dirty="0">
                <a:latin typeface="Calibri"/>
                <a:cs typeface="Calibri"/>
              </a:rPr>
              <a:t>Categorized</a:t>
            </a:r>
            <a:r>
              <a:rPr sz="1200" spc="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into</a:t>
            </a:r>
            <a:r>
              <a:rPr sz="1200" spc="-10" dirty="0">
                <a:latin typeface="Calibri"/>
                <a:cs typeface="Calibri"/>
              </a:rPr>
              <a:t> </a:t>
            </a:r>
            <a:r>
              <a:rPr sz="1200" spc="-40" dirty="0">
                <a:latin typeface="Calibri"/>
                <a:cs typeface="Calibri"/>
              </a:rPr>
              <a:t>major</a:t>
            </a:r>
            <a:r>
              <a:rPr sz="1200" spc="-60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areas</a:t>
            </a:r>
            <a:r>
              <a:rPr sz="1200" spc="-10" dirty="0">
                <a:latin typeface="Calibri"/>
                <a:cs typeface="Calibri"/>
              </a:rPr>
              <a:t> </a:t>
            </a:r>
            <a:r>
              <a:rPr sz="1200" spc="-25" dirty="0">
                <a:latin typeface="Calibri"/>
                <a:cs typeface="Calibri"/>
              </a:rPr>
              <a:t>are </a:t>
            </a:r>
            <a:r>
              <a:rPr sz="1200" spc="-35" dirty="0">
                <a:solidFill>
                  <a:srgbClr val="537799"/>
                </a:solidFill>
                <a:latin typeface="Calibri"/>
                <a:cs typeface="Calibri"/>
              </a:rPr>
              <a:t>Infrastructure</a:t>
            </a:r>
            <a:r>
              <a:rPr sz="1200" spc="-10" dirty="0">
                <a:solidFill>
                  <a:srgbClr val="53779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537799"/>
                </a:solidFill>
                <a:latin typeface="Calibri"/>
                <a:cs typeface="Calibri"/>
              </a:rPr>
              <a:t>as</a:t>
            </a:r>
            <a:r>
              <a:rPr sz="1200" spc="70" dirty="0">
                <a:solidFill>
                  <a:srgbClr val="537799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537799"/>
                </a:solidFill>
                <a:latin typeface="Calibri"/>
                <a:cs typeface="Calibri"/>
              </a:rPr>
              <a:t>Code</a:t>
            </a:r>
            <a:r>
              <a:rPr sz="1200" spc="500" dirty="0">
                <a:solidFill>
                  <a:srgbClr val="53779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537799"/>
                </a:solidFill>
                <a:latin typeface="Calibri"/>
                <a:cs typeface="Calibri"/>
              </a:rPr>
              <a:t>Delivery</a:t>
            </a:r>
            <a:r>
              <a:rPr sz="1200" spc="-20" dirty="0">
                <a:solidFill>
                  <a:srgbClr val="53779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537799"/>
                </a:solidFill>
                <a:latin typeface="Calibri"/>
                <a:cs typeface="Calibri"/>
              </a:rPr>
              <a:t>Pipeline</a:t>
            </a:r>
            <a:endParaRPr sz="1200">
              <a:latin typeface="Calibri"/>
              <a:cs typeface="Calibri"/>
            </a:endParaRPr>
          </a:p>
          <a:p>
            <a:pPr marL="178435">
              <a:lnSpc>
                <a:spcPct val="100000"/>
              </a:lnSpc>
            </a:pPr>
            <a:r>
              <a:rPr sz="1200" dirty="0">
                <a:solidFill>
                  <a:srgbClr val="537799"/>
                </a:solidFill>
                <a:latin typeface="Calibri"/>
                <a:cs typeface="Calibri"/>
              </a:rPr>
              <a:t>Deployment</a:t>
            </a:r>
            <a:r>
              <a:rPr sz="1200" spc="10" dirty="0">
                <a:solidFill>
                  <a:srgbClr val="53779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537799"/>
                </a:solidFill>
                <a:latin typeface="Calibri"/>
                <a:cs typeface="Calibri"/>
              </a:rPr>
              <a:t>automation</a:t>
            </a:r>
            <a:r>
              <a:rPr sz="1200" spc="-20" dirty="0">
                <a:solidFill>
                  <a:srgbClr val="537799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537799"/>
                </a:solidFill>
                <a:latin typeface="Calibri"/>
                <a:cs typeface="Calibri"/>
              </a:rPr>
              <a:t>and</a:t>
            </a:r>
            <a:r>
              <a:rPr sz="1200" spc="-10" dirty="0">
                <a:solidFill>
                  <a:srgbClr val="537799"/>
                </a:solidFill>
                <a:latin typeface="Calibri"/>
                <a:cs typeface="Calibri"/>
              </a:rPr>
              <a:t> release</a:t>
            </a:r>
            <a:r>
              <a:rPr sz="1200" spc="-55" dirty="0">
                <a:solidFill>
                  <a:srgbClr val="537799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537799"/>
                </a:solidFill>
                <a:latin typeface="Calibri"/>
                <a:cs typeface="Calibri"/>
              </a:rPr>
              <a:t>management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952500" y="1028699"/>
            <a:ext cx="3048000" cy="1751964"/>
            <a:chOff x="952500" y="1028699"/>
            <a:chExt cx="3048000" cy="1751964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70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52500" y="1028699"/>
              <a:ext cx="2335276" cy="1751456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0982" rIns="0" bIns="0" rtlCol="0">
            <a:spAutoFit/>
          </a:bodyPr>
          <a:lstStyle/>
          <a:p>
            <a:pPr marL="166370">
              <a:lnSpc>
                <a:spcPct val="100000"/>
              </a:lnSpc>
              <a:spcBef>
                <a:spcPts val="105"/>
              </a:spcBef>
            </a:pPr>
            <a:r>
              <a:rPr sz="2000" spc="-75" dirty="0"/>
              <a:t>DevOps</a:t>
            </a:r>
            <a:r>
              <a:rPr sz="2000" spc="-155" dirty="0"/>
              <a:t> </a:t>
            </a:r>
            <a:r>
              <a:rPr sz="2000" dirty="0"/>
              <a:t>-</a:t>
            </a:r>
            <a:r>
              <a:rPr sz="2000" spc="-130" dirty="0"/>
              <a:t> </a:t>
            </a:r>
            <a:r>
              <a:rPr sz="2000" spc="-70" dirty="0"/>
              <a:t>Tools</a:t>
            </a:r>
            <a:endParaRPr sz="20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419100" y="767587"/>
            <a:ext cx="3737610" cy="2364740"/>
            <a:chOff x="419100" y="767587"/>
            <a:chExt cx="3737610" cy="236474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69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19100" y="767587"/>
              <a:ext cx="3737355" cy="2364486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458" rIns="0" bIns="0" rtlCol="0">
            <a:spAutoFit/>
          </a:bodyPr>
          <a:lstStyle/>
          <a:p>
            <a:pPr marL="166370">
              <a:lnSpc>
                <a:spcPct val="100000"/>
              </a:lnSpc>
              <a:spcBef>
                <a:spcPts val="100"/>
              </a:spcBef>
            </a:pPr>
            <a:r>
              <a:rPr sz="2000" spc="-75" dirty="0"/>
              <a:t>DevOps</a:t>
            </a:r>
            <a:r>
              <a:rPr sz="2000" spc="-155" dirty="0"/>
              <a:t> </a:t>
            </a:r>
            <a:r>
              <a:rPr sz="2000" dirty="0"/>
              <a:t>-</a:t>
            </a:r>
            <a:r>
              <a:rPr sz="2000" spc="-130" dirty="0"/>
              <a:t> </a:t>
            </a:r>
            <a:r>
              <a:rPr sz="2000" spc="-70" dirty="0"/>
              <a:t>Tools</a:t>
            </a:r>
            <a:endParaRPr sz="20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98195" y="874902"/>
            <a:ext cx="3975735" cy="1800225"/>
            <a:chOff x="298195" y="874902"/>
            <a:chExt cx="3975735" cy="180022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70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98195" y="874902"/>
              <a:ext cx="3975608" cy="1799844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0982" rIns="0" bIns="0" rtlCol="0">
            <a:spAutoFit/>
          </a:bodyPr>
          <a:lstStyle/>
          <a:p>
            <a:pPr marL="166370">
              <a:lnSpc>
                <a:spcPct val="100000"/>
              </a:lnSpc>
              <a:spcBef>
                <a:spcPts val="105"/>
              </a:spcBef>
            </a:pPr>
            <a:r>
              <a:rPr sz="2000" spc="-75" dirty="0"/>
              <a:t>DevOps</a:t>
            </a:r>
            <a:r>
              <a:rPr sz="2000" spc="-155" dirty="0"/>
              <a:t> </a:t>
            </a:r>
            <a:r>
              <a:rPr sz="2000" dirty="0"/>
              <a:t>-</a:t>
            </a:r>
            <a:r>
              <a:rPr sz="2000" spc="-130" dirty="0"/>
              <a:t> </a:t>
            </a:r>
            <a:r>
              <a:rPr sz="2000" spc="-70" dirty="0"/>
              <a:t>Tools</a:t>
            </a:r>
            <a:endParaRPr sz="20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46683" y="747648"/>
            <a:ext cx="3353435" cy="2269490"/>
            <a:chOff x="646683" y="747648"/>
            <a:chExt cx="3353435" cy="226949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69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6683" y="747648"/>
              <a:ext cx="3353435" cy="2268982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458" rIns="0" bIns="0" rtlCol="0">
            <a:spAutoFit/>
          </a:bodyPr>
          <a:lstStyle/>
          <a:p>
            <a:pPr marL="166370">
              <a:lnSpc>
                <a:spcPct val="100000"/>
              </a:lnSpc>
              <a:spcBef>
                <a:spcPts val="100"/>
              </a:spcBef>
            </a:pPr>
            <a:r>
              <a:rPr sz="2000" spc="-75" dirty="0"/>
              <a:t>DevOps</a:t>
            </a:r>
            <a:r>
              <a:rPr sz="2000" spc="-155" dirty="0"/>
              <a:t> </a:t>
            </a:r>
            <a:r>
              <a:rPr sz="2000" dirty="0"/>
              <a:t>-</a:t>
            </a:r>
            <a:r>
              <a:rPr sz="2000" spc="-130" dirty="0"/>
              <a:t> </a:t>
            </a:r>
            <a:r>
              <a:rPr sz="2000" spc="-70" dirty="0"/>
              <a:t>Tools</a:t>
            </a:r>
            <a:endParaRPr sz="20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04800" y="636142"/>
            <a:ext cx="3951604" cy="2623820"/>
            <a:chOff x="304800" y="636142"/>
            <a:chExt cx="3951604" cy="262382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69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04800" y="636142"/>
              <a:ext cx="3951478" cy="2623820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0982" rIns="0" bIns="0" rtlCol="0">
            <a:spAutoFit/>
          </a:bodyPr>
          <a:lstStyle/>
          <a:p>
            <a:pPr marL="166370">
              <a:lnSpc>
                <a:spcPct val="100000"/>
              </a:lnSpc>
              <a:spcBef>
                <a:spcPts val="105"/>
              </a:spcBef>
            </a:pPr>
            <a:r>
              <a:rPr sz="2000" spc="-75" dirty="0"/>
              <a:t>DevOps</a:t>
            </a:r>
            <a:r>
              <a:rPr sz="2000" spc="-155" dirty="0"/>
              <a:t> </a:t>
            </a:r>
            <a:r>
              <a:rPr sz="2000" dirty="0"/>
              <a:t>-</a:t>
            </a:r>
            <a:r>
              <a:rPr sz="2000" spc="-130" dirty="0"/>
              <a:t> </a:t>
            </a:r>
            <a:r>
              <a:rPr sz="2000" spc="-70" dirty="0"/>
              <a:t>Tools</a:t>
            </a:r>
            <a:endParaRPr sz="20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518413"/>
            <a:ext cx="4572000" cy="239204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508888"/>
            <a:ext cx="4572000" cy="241109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2786" y="0"/>
            <a:ext cx="2645537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0982" rIns="0" bIns="0" rtlCol="0">
            <a:spAutoFit/>
          </a:bodyPr>
          <a:lstStyle/>
          <a:p>
            <a:pPr marL="166370">
              <a:lnSpc>
                <a:spcPct val="100000"/>
              </a:lnSpc>
              <a:spcBef>
                <a:spcPts val="105"/>
              </a:spcBef>
            </a:pPr>
            <a:r>
              <a:rPr sz="2000" spc="-75" dirty="0"/>
              <a:t>DevOps</a:t>
            </a:r>
            <a:r>
              <a:rPr sz="2000" spc="-155" dirty="0"/>
              <a:t> </a:t>
            </a:r>
            <a:r>
              <a:rPr sz="2000" dirty="0"/>
              <a:t>-</a:t>
            </a:r>
            <a:r>
              <a:rPr sz="2000" spc="-130" dirty="0"/>
              <a:t> </a:t>
            </a:r>
            <a:r>
              <a:rPr sz="2000" spc="-70" dirty="0"/>
              <a:t>Tools</a:t>
            </a:r>
            <a:endParaRPr sz="20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7623" y="761999"/>
            <a:ext cx="3476879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458" rIns="0" bIns="0" rtlCol="0">
            <a:spAutoFit/>
          </a:bodyPr>
          <a:lstStyle/>
          <a:p>
            <a:pPr marL="166370">
              <a:lnSpc>
                <a:spcPct val="100000"/>
              </a:lnSpc>
              <a:spcBef>
                <a:spcPts val="100"/>
              </a:spcBef>
            </a:pPr>
            <a:r>
              <a:rPr sz="2000" spc="-75" dirty="0"/>
              <a:t>DevOps</a:t>
            </a:r>
            <a:r>
              <a:rPr sz="2000" spc="-155" dirty="0"/>
              <a:t> </a:t>
            </a:r>
            <a:r>
              <a:rPr sz="2000" dirty="0"/>
              <a:t>-</a:t>
            </a:r>
            <a:r>
              <a:rPr sz="2000" spc="-130" dirty="0"/>
              <a:t> </a:t>
            </a:r>
            <a:r>
              <a:rPr sz="2000" spc="-70" dirty="0"/>
              <a:t>Tools</a:t>
            </a:r>
            <a:endParaRPr sz="20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7700" y="840700"/>
            <a:ext cx="3456686" cy="242843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43966" y="990599"/>
            <a:ext cx="4047490" cy="1969135"/>
            <a:chOff x="243966" y="990599"/>
            <a:chExt cx="4047490" cy="196913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69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43966" y="990599"/>
              <a:ext cx="4047363" cy="1968753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0982" rIns="0" bIns="0" rtlCol="0">
            <a:spAutoFit/>
          </a:bodyPr>
          <a:lstStyle/>
          <a:p>
            <a:pPr marL="166370">
              <a:lnSpc>
                <a:spcPct val="100000"/>
              </a:lnSpc>
              <a:spcBef>
                <a:spcPts val="105"/>
              </a:spcBef>
            </a:pPr>
            <a:r>
              <a:rPr sz="2000" spc="-75" dirty="0"/>
              <a:t>DevOps</a:t>
            </a:r>
            <a:r>
              <a:rPr sz="2000" spc="-155" dirty="0"/>
              <a:t> </a:t>
            </a:r>
            <a:r>
              <a:rPr sz="2000" dirty="0"/>
              <a:t>-</a:t>
            </a:r>
            <a:r>
              <a:rPr sz="2000" spc="-130" dirty="0"/>
              <a:t> </a:t>
            </a:r>
            <a:r>
              <a:rPr sz="2000" spc="-70" dirty="0"/>
              <a:t>Tools</a:t>
            </a:r>
            <a:endParaRPr sz="20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85800" y="952499"/>
            <a:ext cx="3314700" cy="1934845"/>
            <a:chOff x="685800" y="952499"/>
            <a:chExt cx="3314700" cy="193484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69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85800" y="952499"/>
              <a:ext cx="3258058" cy="1934845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458" rIns="0" bIns="0" rtlCol="0">
            <a:spAutoFit/>
          </a:bodyPr>
          <a:lstStyle/>
          <a:p>
            <a:pPr marL="166370">
              <a:lnSpc>
                <a:spcPct val="100000"/>
              </a:lnSpc>
              <a:spcBef>
                <a:spcPts val="100"/>
              </a:spcBef>
            </a:pPr>
            <a:r>
              <a:rPr sz="2000" spc="-75" dirty="0"/>
              <a:t>DevOps</a:t>
            </a:r>
            <a:r>
              <a:rPr sz="2000" spc="-155" dirty="0"/>
              <a:t> </a:t>
            </a:r>
            <a:r>
              <a:rPr sz="2000" dirty="0"/>
              <a:t>-</a:t>
            </a:r>
            <a:r>
              <a:rPr sz="2000" spc="-130" dirty="0"/>
              <a:t> </a:t>
            </a:r>
            <a:r>
              <a:rPr sz="2000" spc="-70" dirty="0"/>
              <a:t>Tools</a:t>
            </a:r>
            <a:endParaRPr sz="20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38200" y="659764"/>
            <a:ext cx="3162300" cy="2282190"/>
            <a:chOff x="838200" y="659764"/>
            <a:chExt cx="3162300" cy="228219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69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38200" y="659764"/>
              <a:ext cx="3085719" cy="2282063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0982" rIns="0" bIns="0" rtlCol="0">
            <a:spAutoFit/>
          </a:bodyPr>
          <a:lstStyle/>
          <a:p>
            <a:pPr marL="166370">
              <a:lnSpc>
                <a:spcPct val="100000"/>
              </a:lnSpc>
              <a:spcBef>
                <a:spcPts val="105"/>
              </a:spcBef>
            </a:pPr>
            <a:r>
              <a:rPr sz="2000" spc="-75" dirty="0"/>
              <a:t>DevOps</a:t>
            </a:r>
            <a:r>
              <a:rPr sz="2000" spc="-155" dirty="0"/>
              <a:t> </a:t>
            </a:r>
            <a:r>
              <a:rPr sz="2000" dirty="0"/>
              <a:t>-</a:t>
            </a:r>
            <a:r>
              <a:rPr sz="2000" spc="-130" dirty="0"/>
              <a:t> </a:t>
            </a:r>
            <a:r>
              <a:rPr sz="2000" spc="-70" dirty="0"/>
              <a:t>Tools</a:t>
            </a:r>
            <a:endParaRPr sz="20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38200" y="838199"/>
            <a:ext cx="3162300" cy="1975485"/>
            <a:chOff x="838200" y="838199"/>
            <a:chExt cx="3162300" cy="197548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69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38200" y="838199"/>
              <a:ext cx="3097656" cy="1975104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458" rIns="0" bIns="0" rtlCol="0">
            <a:spAutoFit/>
          </a:bodyPr>
          <a:lstStyle/>
          <a:p>
            <a:pPr marL="166370">
              <a:lnSpc>
                <a:spcPct val="100000"/>
              </a:lnSpc>
              <a:spcBef>
                <a:spcPts val="100"/>
              </a:spcBef>
            </a:pPr>
            <a:r>
              <a:rPr sz="2000" spc="-75" dirty="0"/>
              <a:t>DevOps</a:t>
            </a:r>
            <a:r>
              <a:rPr sz="2000" spc="-155" dirty="0"/>
              <a:t> </a:t>
            </a:r>
            <a:r>
              <a:rPr sz="2000" dirty="0"/>
              <a:t>-</a:t>
            </a:r>
            <a:r>
              <a:rPr sz="2000" spc="-130" dirty="0"/>
              <a:t> </a:t>
            </a:r>
            <a:r>
              <a:rPr sz="2000" spc="-70" dirty="0"/>
              <a:t>Tools</a:t>
            </a:r>
            <a:endParaRPr sz="20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06133" y="838199"/>
            <a:ext cx="4359910" cy="2136140"/>
            <a:chOff x="106133" y="838199"/>
            <a:chExt cx="4359910" cy="213614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69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133" y="838199"/>
              <a:ext cx="4359783" cy="2135885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0982" rIns="0" bIns="0" rtlCol="0">
            <a:spAutoFit/>
          </a:bodyPr>
          <a:lstStyle/>
          <a:p>
            <a:pPr marL="166370">
              <a:lnSpc>
                <a:spcPct val="100000"/>
              </a:lnSpc>
              <a:spcBef>
                <a:spcPts val="105"/>
              </a:spcBef>
            </a:pPr>
            <a:r>
              <a:rPr sz="2000" spc="-75" dirty="0"/>
              <a:t>DevOps</a:t>
            </a:r>
            <a:r>
              <a:rPr sz="2000" spc="-155" dirty="0"/>
              <a:t> </a:t>
            </a:r>
            <a:r>
              <a:rPr sz="2000" dirty="0"/>
              <a:t>-</a:t>
            </a:r>
            <a:r>
              <a:rPr sz="2000" spc="-130" dirty="0"/>
              <a:t> </a:t>
            </a:r>
            <a:r>
              <a:rPr sz="2000" spc="-70" dirty="0"/>
              <a:t>Tools</a:t>
            </a:r>
            <a:endParaRPr sz="20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65912" y="874775"/>
            <a:ext cx="3434715" cy="2153920"/>
            <a:chOff x="565912" y="874775"/>
            <a:chExt cx="3434715" cy="215392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70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5912" y="874775"/>
              <a:ext cx="3378580" cy="2153539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458" rIns="0" bIns="0" rtlCol="0">
            <a:spAutoFit/>
          </a:bodyPr>
          <a:lstStyle/>
          <a:p>
            <a:pPr marL="166370">
              <a:lnSpc>
                <a:spcPct val="100000"/>
              </a:lnSpc>
              <a:spcBef>
                <a:spcPts val="100"/>
              </a:spcBef>
            </a:pPr>
            <a:r>
              <a:rPr sz="2000" spc="-75" dirty="0"/>
              <a:t>DevOps</a:t>
            </a:r>
            <a:r>
              <a:rPr sz="2000" spc="-155" dirty="0"/>
              <a:t> </a:t>
            </a:r>
            <a:r>
              <a:rPr sz="2000" dirty="0"/>
              <a:t>-</a:t>
            </a:r>
            <a:r>
              <a:rPr sz="2000" spc="-130" dirty="0"/>
              <a:t> </a:t>
            </a:r>
            <a:r>
              <a:rPr sz="2000" spc="-70" dirty="0"/>
              <a:t>Tools</a:t>
            </a:r>
            <a:endParaRPr sz="20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97408" y="757300"/>
            <a:ext cx="3479800" cy="2443480"/>
            <a:chOff x="597408" y="757300"/>
            <a:chExt cx="3479800" cy="244348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70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97408" y="757300"/>
              <a:ext cx="3479546" cy="2443099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0982" rIns="0" bIns="0" rtlCol="0">
            <a:spAutoFit/>
          </a:bodyPr>
          <a:lstStyle/>
          <a:p>
            <a:pPr marL="166370">
              <a:lnSpc>
                <a:spcPct val="100000"/>
              </a:lnSpc>
              <a:spcBef>
                <a:spcPts val="105"/>
              </a:spcBef>
            </a:pPr>
            <a:r>
              <a:rPr sz="2000" spc="-75" dirty="0"/>
              <a:t>DevOps</a:t>
            </a:r>
            <a:r>
              <a:rPr sz="2000" spc="-155" dirty="0"/>
              <a:t> </a:t>
            </a:r>
            <a:r>
              <a:rPr sz="2000" dirty="0"/>
              <a:t>-</a:t>
            </a:r>
            <a:r>
              <a:rPr sz="2000" spc="-130" dirty="0"/>
              <a:t> </a:t>
            </a:r>
            <a:r>
              <a:rPr sz="2000" spc="-70" dirty="0"/>
              <a:t>Tools</a:t>
            </a:r>
            <a:endParaRPr sz="20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85800" y="904112"/>
            <a:ext cx="3314700" cy="2095500"/>
            <a:chOff x="685800" y="904112"/>
            <a:chExt cx="3314700" cy="209550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45869" y="1951608"/>
              <a:ext cx="2754249" cy="72313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85800" y="904112"/>
              <a:ext cx="3124200" cy="2094991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458" rIns="0" bIns="0" rtlCol="0">
            <a:spAutoFit/>
          </a:bodyPr>
          <a:lstStyle/>
          <a:p>
            <a:pPr marL="166370">
              <a:lnSpc>
                <a:spcPct val="100000"/>
              </a:lnSpc>
              <a:spcBef>
                <a:spcPts val="100"/>
              </a:spcBef>
            </a:pPr>
            <a:r>
              <a:rPr sz="2000" spc="-75" dirty="0"/>
              <a:t>DevOps</a:t>
            </a:r>
            <a:r>
              <a:rPr sz="2000" spc="-155" dirty="0"/>
              <a:t> </a:t>
            </a:r>
            <a:r>
              <a:rPr sz="2000" dirty="0"/>
              <a:t>-</a:t>
            </a:r>
            <a:r>
              <a:rPr sz="2000" spc="-130" dirty="0"/>
              <a:t> </a:t>
            </a:r>
            <a:r>
              <a:rPr sz="2000" spc="-70" dirty="0"/>
              <a:t>Tools</a:t>
            </a:r>
            <a:endParaRPr sz="20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45869" y="1951608"/>
            <a:ext cx="2754249" cy="723138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0982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105"/>
              </a:spcBef>
            </a:pPr>
            <a:r>
              <a:rPr sz="2000" dirty="0"/>
              <a:t>DevOps–</a:t>
            </a:r>
            <a:r>
              <a:rPr sz="2000" spc="80" dirty="0"/>
              <a:t> </a:t>
            </a:r>
            <a:r>
              <a:rPr sz="2000" spc="-35" dirty="0"/>
              <a:t>Infrastructure</a:t>
            </a:r>
            <a:r>
              <a:rPr sz="2000" spc="-65" dirty="0"/>
              <a:t> </a:t>
            </a:r>
            <a:r>
              <a:rPr sz="2000" dirty="0"/>
              <a:t>as</a:t>
            </a:r>
            <a:r>
              <a:rPr sz="2000" spc="-10" dirty="0"/>
              <a:t> </a:t>
            </a:r>
            <a:r>
              <a:rPr sz="2000" spc="-20" dirty="0"/>
              <a:t>Code</a:t>
            </a:r>
            <a:endParaRPr sz="2000"/>
          </a:p>
        </p:txBody>
      </p:sp>
      <p:sp>
        <p:nvSpPr>
          <p:cNvPr id="5" name="object 5"/>
          <p:cNvSpPr txBox="1"/>
          <p:nvPr/>
        </p:nvSpPr>
        <p:spPr>
          <a:xfrm>
            <a:off x="4098163" y="2792983"/>
            <a:ext cx="83820" cy="9334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450" spc="-25" dirty="0">
                <a:solidFill>
                  <a:srgbClr val="888888"/>
                </a:solidFill>
                <a:latin typeface="Calibri"/>
                <a:cs typeface="Calibri"/>
              </a:rPr>
              <a:t>23</a:t>
            </a:r>
            <a:endParaRPr sz="45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2846" y="2048890"/>
            <a:ext cx="240791" cy="13716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2846" y="2492374"/>
            <a:ext cx="240791" cy="137160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60146" y="730123"/>
            <a:ext cx="4027804" cy="20554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8435" marR="36195" indent="19685">
              <a:lnSpc>
                <a:spcPct val="99600"/>
              </a:lnSpc>
              <a:spcBef>
                <a:spcPts val="100"/>
              </a:spcBef>
              <a:tabLst>
                <a:tab pos="1029335" algn="l"/>
                <a:tab pos="1751330" algn="l"/>
                <a:tab pos="2072005" algn="l"/>
                <a:tab pos="2751455" algn="l"/>
                <a:tab pos="2978785" algn="l"/>
                <a:tab pos="3439160" algn="l"/>
              </a:tabLst>
            </a:pPr>
            <a:r>
              <a:rPr sz="950" spc="-10" dirty="0">
                <a:latin typeface="Calibri"/>
                <a:cs typeface="Calibri"/>
              </a:rPr>
              <a:t>organizations</a:t>
            </a:r>
            <a:r>
              <a:rPr sz="950" spc="-50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to</a:t>
            </a:r>
            <a:r>
              <a:rPr sz="950" spc="-1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manage</a:t>
            </a:r>
            <a:r>
              <a:rPr sz="950" spc="-2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the</a:t>
            </a:r>
            <a:r>
              <a:rPr sz="950" spc="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scale</a:t>
            </a:r>
            <a:r>
              <a:rPr sz="950" spc="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and</a:t>
            </a:r>
            <a:r>
              <a:rPr sz="950" spc="-2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the</a:t>
            </a:r>
            <a:r>
              <a:rPr sz="950" spc="-20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speed</a:t>
            </a:r>
            <a:r>
              <a:rPr sz="950" spc="15" dirty="0">
                <a:latin typeface="Calibri"/>
                <a:cs typeface="Calibri"/>
              </a:rPr>
              <a:t> </a:t>
            </a:r>
            <a:r>
              <a:rPr sz="950" spc="-10" dirty="0">
                <a:latin typeface="Calibri"/>
                <a:cs typeface="Calibri"/>
              </a:rPr>
              <a:t>with</a:t>
            </a:r>
            <a:r>
              <a:rPr sz="950" spc="-2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which</a:t>
            </a:r>
            <a:r>
              <a:rPr sz="950" spc="-10" dirty="0">
                <a:latin typeface="Calibri"/>
                <a:cs typeface="Calibri"/>
              </a:rPr>
              <a:t> environments </a:t>
            </a:r>
            <a:r>
              <a:rPr sz="950" dirty="0">
                <a:latin typeface="Calibri"/>
                <a:cs typeface="Calibri"/>
              </a:rPr>
              <a:t>need</a:t>
            </a:r>
            <a:r>
              <a:rPr sz="950" spc="260" dirty="0">
                <a:latin typeface="Calibri"/>
                <a:cs typeface="Calibri"/>
              </a:rPr>
              <a:t>  </a:t>
            </a:r>
            <a:r>
              <a:rPr sz="950" dirty="0">
                <a:latin typeface="Calibri"/>
                <a:cs typeface="Calibri"/>
              </a:rPr>
              <a:t>to</a:t>
            </a:r>
            <a:r>
              <a:rPr sz="950" spc="270" dirty="0">
                <a:latin typeface="Calibri"/>
                <a:cs typeface="Calibri"/>
              </a:rPr>
              <a:t>  </a:t>
            </a:r>
            <a:r>
              <a:rPr sz="950" spc="-25" dirty="0">
                <a:latin typeface="Calibri"/>
                <a:cs typeface="Calibri"/>
              </a:rPr>
              <a:t>be</a:t>
            </a:r>
            <a:r>
              <a:rPr sz="950" dirty="0">
                <a:latin typeface="Calibri"/>
                <a:cs typeface="Calibri"/>
              </a:rPr>
              <a:t>	</a:t>
            </a:r>
            <a:r>
              <a:rPr sz="950" spc="-10" dirty="0">
                <a:latin typeface="Calibri"/>
                <a:cs typeface="Calibri"/>
              </a:rPr>
              <a:t>provisioned</a:t>
            </a:r>
            <a:r>
              <a:rPr sz="950" dirty="0">
                <a:latin typeface="Calibri"/>
                <a:cs typeface="Calibri"/>
              </a:rPr>
              <a:t>	</a:t>
            </a:r>
            <a:r>
              <a:rPr sz="950" spc="-25" dirty="0">
                <a:latin typeface="Calibri"/>
                <a:cs typeface="Calibri"/>
              </a:rPr>
              <a:t>and</a:t>
            </a:r>
            <a:r>
              <a:rPr sz="950" dirty="0">
                <a:latin typeface="Calibri"/>
                <a:cs typeface="Calibri"/>
              </a:rPr>
              <a:t>	</a:t>
            </a:r>
            <a:r>
              <a:rPr sz="950" spc="-10" dirty="0">
                <a:latin typeface="Calibri"/>
                <a:cs typeface="Calibri"/>
              </a:rPr>
              <a:t>configured</a:t>
            </a:r>
            <a:r>
              <a:rPr sz="950" dirty="0">
                <a:latin typeface="Calibri"/>
                <a:cs typeface="Calibri"/>
              </a:rPr>
              <a:t>	</a:t>
            </a:r>
            <a:r>
              <a:rPr sz="950" spc="-25" dirty="0">
                <a:latin typeface="Calibri"/>
                <a:cs typeface="Calibri"/>
              </a:rPr>
              <a:t>to</a:t>
            </a:r>
            <a:r>
              <a:rPr sz="950" dirty="0">
                <a:latin typeface="Calibri"/>
                <a:cs typeface="Calibri"/>
              </a:rPr>
              <a:t>	</a:t>
            </a:r>
            <a:r>
              <a:rPr sz="950" spc="-10" dirty="0">
                <a:latin typeface="Calibri"/>
                <a:cs typeface="Calibri"/>
              </a:rPr>
              <a:t>enable</a:t>
            </a:r>
            <a:r>
              <a:rPr sz="950" dirty="0">
                <a:latin typeface="Calibri"/>
                <a:cs typeface="Calibri"/>
              </a:rPr>
              <a:t>	</a:t>
            </a:r>
            <a:r>
              <a:rPr sz="950" spc="-10" dirty="0">
                <a:latin typeface="Calibri"/>
                <a:cs typeface="Calibri"/>
              </a:rPr>
              <a:t>continuous delivery/deployment.</a:t>
            </a:r>
            <a:endParaRPr sz="950">
              <a:latin typeface="Calibri"/>
              <a:cs typeface="Calibri"/>
            </a:endParaRPr>
          </a:p>
          <a:p>
            <a:pPr marL="198120">
              <a:lnSpc>
                <a:spcPts val="1120"/>
              </a:lnSpc>
            </a:pPr>
            <a:r>
              <a:rPr sz="950" spc="-30" dirty="0">
                <a:latin typeface="Calibri"/>
                <a:cs typeface="Calibri"/>
              </a:rPr>
              <a:t>Infrastructure</a:t>
            </a:r>
            <a:r>
              <a:rPr sz="950" spc="10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as</a:t>
            </a:r>
            <a:r>
              <a:rPr sz="950" spc="1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code</a:t>
            </a:r>
            <a:r>
              <a:rPr sz="950" spc="50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is</a:t>
            </a:r>
            <a:r>
              <a:rPr sz="950" spc="20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the</a:t>
            </a:r>
            <a:r>
              <a:rPr sz="950" spc="20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notion</a:t>
            </a:r>
            <a:r>
              <a:rPr sz="950" spc="1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of</a:t>
            </a:r>
            <a:r>
              <a:rPr sz="950" spc="-5" dirty="0">
                <a:latin typeface="Calibri"/>
                <a:cs typeface="Calibri"/>
              </a:rPr>
              <a:t> </a:t>
            </a:r>
            <a:r>
              <a:rPr sz="950" spc="-25" dirty="0">
                <a:latin typeface="Calibri"/>
                <a:cs typeface="Calibri"/>
              </a:rPr>
              <a:t>software-defined</a:t>
            </a:r>
            <a:r>
              <a:rPr sz="950" spc="-45" dirty="0">
                <a:latin typeface="Calibri"/>
                <a:cs typeface="Calibri"/>
              </a:rPr>
              <a:t> </a:t>
            </a:r>
            <a:r>
              <a:rPr sz="950" spc="-10" dirty="0">
                <a:latin typeface="Calibri"/>
                <a:cs typeface="Calibri"/>
              </a:rPr>
              <a:t>environments</a:t>
            </a:r>
            <a:endParaRPr sz="950">
              <a:latin typeface="Calibri"/>
              <a:cs typeface="Calibri"/>
            </a:endParaRPr>
          </a:p>
          <a:p>
            <a:pPr marL="178435" marR="5080" indent="20955" algn="just">
              <a:lnSpc>
                <a:spcPct val="100000"/>
              </a:lnSpc>
              <a:spcBef>
                <a:spcPts val="15"/>
              </a:spcBef>
            </a:pPr>
            <a:r>
              <a:rPr sz="950" dirty="0">
                <a:latin typeface="Calibri"/>
                <a:cs typeface="Calibri"/>
              </a:rPr>
              <a:t>Infrastructure</a:t>
            </a:r>
            <a:r>
              <a:rPr sz="950" spc="390" dirty="0">
                <a:latin typeface="Calibri"/>
                <a:cs typeface="Calibri"/>
              </a:rPr>
              <a:t>  </a:t>
            </a:r>
            <a:r>
              <a:rPr sz="950" dirty="0">
                <a:latin typeface="Calibri"/>
                <a:cs typeface="Calibri"/>
              </a:rPr>
              <a:t>as</a:t>
            </a:r>
            <a:r>
              <a:rPr sz="950" spc="145" dirty="0">
                <a:latin typeface="Calibri"/>
                <a:cs typeface="Calibri"/>
              </a:rPr>
              <a:t>  </a:t>
            </a:r>
            <a:r>
              <a:rPr sz="950" dirty="0">
                <a:latin typeface="Calibri"/>
                <a:cs typeface="Calibri"/>
              </a:rPr>
              <a:t>code</a:t>
            </a:r>
            <a:r>
              <a:rPr sz="950" spc="47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deals</a:t>
            </a:r>
            <a:r>
              <a:rPr sz="950" spc="160" dirty="0">
                <a:latin typeface="Calibri"/>
                <a:cs typeface="Calibri"/>
              </a:rPr>
              <a:t>  </a:t>
            </a:r>
            <a:r>
              <a:rPr sz="950" dirty="0">
                <a:latin typeface="Calibri"/>
                <a:cs typeface="Calibri"/>
              </a:rPr>
              <a:t>with</a:t>
            </a:r>
            <a:r>
              <a:rPr sz="950" spc="160" dirty="0">
                <a:latin typeface="Calibri"/>
                <a:cs typeface="Calibri"/>
              </a:rPr>
              <a:t>  </a:t>
            </a:r>
            <a:r>
              <a:rPr sz="950" dirty="0">
                <a:latin typeface="Calibri"/>
                <a:cs typeface="Calibri"/>
              </a:rPr>
              <a:t>capturing</a:t>
            </a:r>
            <a:r>
              <a:rPr sz="950" spc="280" dirty="0">
                <a:latin typeface="Calibri"/>
                <a:cs typeface="Calibri"/>
              </a:rPr>
              <a:t> 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node</a:t>
            </a:r>
            <a:r>
              <a:rPr sz="950" spc="47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definitions</a:t>
            </a:r>
            <a:r>
              <a:rPr sz="950" spc="235" dirty="0">
                <a:solidFill>
                  <a:srgbClr val="006FBE"/>
                </a:solidFill>
                <a:latin typeface="Calibri"/>
                <a:cs typeface="Calibri"/>
              </a:rPr>
              <a:t>  </a:t>
            </a:r>
            <a:r>
              <a:rPr sz="950" spc="-25" dirty="0">
                <a:latin typeface="Calibri"/>
                <a:cs typeface="Calibri"/>
              </a:rPr>
              <a:t>and</a:t>
            </a:r>
            <a:r>
              <a:rPr sz="950" spc="-10" dirty="0">
                <a:latin typeface="Calibri"/>
                <a:cs typeface="Calibri"/>
              </a:rPr>
              <a:t> </a:t>
            </a:r>
            <a:r>
              <a:rPr sz="950" spc="-10" dirty="0">
                <a:solidFill>
                  <a:srgbClr val="006FBE"/>
                </a:solidFill>
                <a:latin typeface="Calibri"/>
                <a:cs typeface="Calibri"/>
              </a:rPr>
              <a:t>configurations</a:t>
            </a:r>
            <a:r>
              <a:rPr sz="950" spc="8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as</a:t>
            </a:r>
            <a:r>
              <a:rPr sz="950" spc="6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code</a:t>
            </a:r>
            <a:r>
              <a:rPr sz="950" spc="7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spc="-20" dirty="0">
                <a:latin typeface="Calibri"/>
                <a:cs typeface="Calibri"/>
              </a:rPr>
              <a:t>software-</a:t>
            </a:r>
            <a:r>
              <a:rPr sz="950" dirty="0">
                <a:latin typeface="Calibri"/>
                <a:cs typeface="Calibri"/>
              </a:rPr>
              <a:t>defined</a:t>
            </a:r>
            <a:r>
              <a:rPr sz="950" spc="70" dirty="0">
                <a:latin typeface="Calibri"/>
                <a:cs typeface="Calibri"/>
              </a:rPr>
              <a:t> </a:t>
            </a:r>
            <a:r>
              <a:rPr sz="950" spc="-10" dirty="0">
                <a:latin typeface="Calibri"/>
                <a:cs typeface="Calibri"/>
              </a:rPr>
              <a:t>environments</a:t>
            </a:r>
            <a:r>
              <a:rPr sz="950" spc="6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use</a:t>
            </a:r>
            <a:r>
              <a:rPr sz="950" spc="8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technologies</a:t>
            </a:r>
            <a:r>
              <a:rPr sz="950" spc="375" dirty="0">
                <a:latin typeface="Calibri"/>
                <a:cs typeface="Calibri"/>
              </a:rPr>
              <a:t> </a:t>
            </a:r>
            <a:r>
              <a:rPr sz="950" spc="-20" dirty="0">
                <a:latin typeface="Calibri"/>
                <a:cs typeface="Calibri"/>
              </a:rPr>
              <a:t>that</a:t>
            </a:r>
            <a:r>
              <a:rPr sz="950" dirty="0">
                <a:latin typeface="Calibri"/>
                <a:cs typeface="Calibri"/>
              </a:rPr>
              <a:t> define</a:t>
            </a:r>
            <a:r>
              <a:rPr sz="950" spc="-10" dirty="0">
                <a:latin typeface="Calibri"/>
                <a:cs typeface="Calibri"/>
              </a:rPr>
              <a:t> entire</a:t>
            </a:r>
            <a:r>
              <a:rPr sz="950" spc="-20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systems</a:t>
            </a:r>
            <a:r>
              <a:rPr sz="950" spc="-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made</a:t>
            </a:r>
            <a:r>
              <a:rPr sz="950" spc="-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up</a:t>
            </a:r>
            <a:r>
              <a:rPr sz="950" spc="-1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of</a:t>
            </a:r>
            <a:r>
              <a:rPr sz="950" spc="-1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multiple</a:t>
            </a:r>
            <a:r>
              <a:rPr sz="950" spc="-10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nodes</a:t>
            </a:r>
            <a:r>
              <a:rPr sz="950" spc="-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not</a:t>
            </a:r>
            <a:r>
              <a:rPr sz="950" spc="-20" dirty="0">
                <a:latin typeface="Calibri"/>
                <a:cs typeface="Calibri"/>
              </a:rPr>
              <a:t> </a:t>
            </a:r>
            <a:r>
              <a:rPr sz="950" spc="-10" dirty="0">
                <a:latin typeface="Calibri"/>
                <a:cs typeface="Calibri"/>
              </a:rPr>
              <a:t>just</a:t>
            </a:r>
            <a:r>
              <a:rPr sz="950" spc="-20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their</a:t>
            </a:r>
            <a:r>
              <a:rPr sz="950" spc="195" dirty="0">
                <a:latin typeface="Calibri"/>
                <a:cs typeface="Calibri"/>
              </a:rPr>
              <a:t> </a:t>
            </a:r>
            <a:r>
              <a:rPr sz="950" spc="-10" dirty="0">
                <a:latin typeface="Calibri"/>
                <a:cs typeface="Calibri"/>
              </a:rPr>
              <a:t>configurations, </a:t>
            </a:r>
            <a:r>
              <a:rPr sz="950" dirty="0">
                <a:latin typeface="Calibri"/>
                <a:cs typeface="Calibri"/>
              </a:rPr>
              <a:t>but</a:t>
            </a:r>
            <a:r>
              <a:rPr sz="950" spc="200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also</a:t>
            </a:r>
            <a:r>
              <a:rPr sz="950" spc="22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their</a:t>
            </a:r>
            <a:r>
              <a:rPr sz="950" spc="200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definitions,</a:t>
            </a:r>
            <a:r>
              <a:rPr sz="950" spc="229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topologies,</a:t>
            </a:r>
            <a:r>
              <a:rPr sz="950" spc="229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roles,</a:t>
            </a:r>
            <a:r>
              <a:rPr sz="950" spc="200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relationships,</a:t>
            </a:r>
            <a:r>
              <a:rPr sz="950" spc="215" dirty="0">
                <a:latin typeface="Calibri"/>
                <a:cs typeface="Calibri"/>
              </a:rPr>
              <a:t>  </a:t>
            </a:r>
            <a:r>
              <a:rPr sz="950" dirty="0">
                <a:latin typeface="Calibri"/>
                <a:cs typeface="Calibri"/>
              </a:rPr>
              <a:t>workloads</a:t>
            </a:r>
            <a:r>
              <a:rPr sz="950" spc="210" dirty="0">
                <a:latin typeface="Calibri"/>
                <a:cs typeface="Calibri"/>
              </a:rPr>
              <a:t> </a:t>
            </a:r>
            <a:r>
              <a:rPr sz="950" spc="-25" dirty="0">
                <a:latin typeface="Calibri"/>
                <a:cs typeface="Calibri"/>
              </a:rPr>
              <a:t>and</a:t>
            </a:r>
            <a:r>
              <a:rPr sz="950" spc="500" dirty="0">
                <a:latin typeface="Calibri"/>
                <a:cs typeface="Calibri"/>
              </a:rPr>
              <a:t> </a:t>
            </a:r>
            <a:r>
              <a:rPr sz="950" spc="-30" dirty="0">
                <a:latin typeface="Calibri"/>
                <a:cs typeface="Calibri"/>
              </a:rPr>
              <a:t>workload</a:t>
            </a:r>
            <a:r>
              <a:rPr sz="950" dirty="0">
                <a:latin typeface="Calibri"/>
                <a:cs typeface="Calibri"/>
              </a:rPr>
              <a:t> policies,</a:t>
            </a:r>
            <a:r>
              <a:rPr sz="950" spc="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and</a:t>
            </a:r>
            <a:r>
              <a:rPr sz="950" spc="25" dirty="0">
                <a:latin typeface="Calibri"/>
                <a:cs typeface="Calibri"/>
              </a:rPr>
              <a:t> </a:t>
            </a:r>
            <a:r>
              <a:rPr sz="950" spc="-10" dirty="0">
                <a:latin typeface="Calibri"/>
                <a:cs typeface="Calibri"/>
              </a:rPr>
              <a:t>behavior.</a:t>
            </a:r>
            <a:endParaRPr sz="950">
              <a:latin typeface="Calibri"/>
              <a:cs typeface="Calibri"/>
            </a:endParaRPr>
          </a:p>
          <a:p>
            <a:pPr marL="198120" algn="just">
              <a:lnSpc>
                <a:spcPts val="1110"/>
              </a:lnSpc>
            </a:pPr>
            <a:r>
              <a:rPr sz="950" spc="-20" dirty="0">
                <a:latin typeface="Calibri"/>
                <a:cs typeface="Calibri"/>
              </a:rPr>
              <a:t>Application</a:t>
            </a:r>
            <a:r>
              <a:rPr sz="950" spc="5" dirty="0">
                <a:latin typeface="Calibri"/>
                <a:cs typeface="Calibri"/>
              </a:rPr>
              <a:t> </a:t>
            </a:r>
            <a:r>
              <a:rPr sz="950" spc="-25" dirty="0">
                <a:latin typeface="Calibri"/>
                <a:cs typeface="Calibri"/>
              </a:rPr>
              <a:t>or</a:t>
            </a:r>
            <a:r>
              <a:rPr sz="950" spc="-70" dirty="0">
                <a:latin typeface="Calibri"/>
                <a:cs typeface="Calibri"/>
              </a:rPr>
              <a:t> </a:t>
            </a:r>
            <a:r>
              <a:rPr sz="950" spc="-25" dirty="0">
                <a:latin typeface="Calibri"/>
                <a:cs typeface="Calibri"/>
              </a:rPr>
              <a:t>middleware-</a:t>
            </a:r>
            <a:r>
              <a:rPr sz="950" spc="-10" dirty="0">
                <a:latin typeface="Calibri"/>
                <a:cs typeface="Calibri"/>
              </a:rPr>
              <a:t>centric</a:t>
            </a:r>
            <a:r>
              <a:rPr sz="950" spc="1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tools</a:t>
            </a:r>
            <a:r>
              <a:rPr sz="950" spc="2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-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code</a:t>
            </a:r>
            <a:r>
              <a:rPr sz="950" spc="2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both</a:t>
            </a:r>
            <a:r>
              <a:rPr sz="950" spc="4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spc="-10" dirty="0">
                <a:solidFill>
                  <a:srgbClr val="006FBE"/>
                </a:solidFill>
                <a:latin typeface="Calibri"/>
                <a:cs typeface="Calibri"/>
              </a:rPr>
              <a:t>application</a:t>
            </a:r>
            <a:endParaRPr sz="950">
              <a:latin typeface="Calibri"/>
              <a:cs typeface="Calibri"/>
            </a:endParaRPr>
          </a:p>
          <a:p>
            <a:pPr marL="12700" marR="21590" indent="59055" algn="just">
              <a:lnSpc>
                <a:spcPct val="101099"/>
              </a:lnSpc>
              <a:spcBef>
                <a:spcPts val="50"/>
              </a:spcBef>
            </a:pP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servers</a:t>
            </a:r>
            <a:r>
              <a:rPr sz="950" spc="49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and</a:t>
            </a:r>
            <a:r>
              <a:rPr sz="950" spc="41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the</a:t>
            </a:r>
            <a:r>
              <a:rPr sz="950" spc="34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applications</a:t>
            </a:r>
            <a:r>
              <a:rPr sz="950" spc="220" dirty="0">
                <a:solidFill>
                  <a:srgbClr val="006FBE"/>
                </a:solidFill>
                <a:latin typeface="Calibri"/>
                <a:cs typeface="Calibri"/>
              </a:rPr>
              <a:t> 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that</a:t>
            </a:r>
            <a:r>
              <a:rPr sz="950" spc="39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run</a:t>
            </a:r>
            <a:r>
              <a:rPr sz="950" spc="46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on</a:t>
            </a:r>
            <a:r>
              <a:rPr sz="950" spc="35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them.</a:t>
            </a:r>
            <a:r>
              <a:rPr sz="950" spc="38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Automate</a:t>
            </a:r>
            <a:r>
              <a:rPr sz="950" spc="165" dirty="0">
                <a:latin typeface="Calibri"/>
                <a:cs typeface="Calibri"/>
              </a:rPr>
              <a:t>  </a:t>
            </a:r>
            <a:r>
              <a:rPr sz="950" dirty="0">
                <a:latin typeface="Calibri"/>
                <a:cs typeface="Calibri"/>
              </a:rPr>
              <a:t>server</a:t>
            </a:r>
            <a:r>
              <a:rPr sz="950" spc="400" dirty="0">
                <a:latin typeface="Calibri"/>
                <a:cs typeface="Calibri"/>
              </a:rPr>
              <a:t> </a:t>
            </a:r>
            <a:r>
              <a:rPr sz="950" spc="-25" dirty="0">
                <a:latin typeface="Calibri"/>
                <a:cs typeface="Calibri"/>
              </a:rPr>
              <a:t>and</a:t>
            </a:r>
            <a:r>
              <a:rPr sz="950" spc="500" dirty="0">
                <a:latin typeface="Calibri"/>
                <a:cs typeface="Calibri"/>
              </a:rPr>
              <a:t> </a:t>
            </a:r>
            <a:r>
              <a:rPr sz="950" spc="-20" dirty="0">
                <a:latin typeface="Calibri"/>
                <a:cs typeface="Calibri"/>
              </a:rPr>
              <a:t>application-</a:t>
            </a:r>
            <a:r>
              <a:rPr sz="950" dirty="0">
                <a:latin typeface="Calibri"/>
                <a:cs typeface="Calibri"/>
              </a:rPr>
              <a:t>level</a:t>
            </a:r>
            <a:r>
              <a:rPr sz="950" spc="70" dirty="0">
                <a:latin typeface="Calibri"/>
                <a:cs typeface="Calibri"/>
              </a:rPr>
              <a:t> </a:t>
            </a:r>
            <a:r>
              <a:rPr sz="950" spc="-20" dirty="0">
                <a:latin typeface="Calibri"/>
                <a:cs typeface="Calibri"/>
              </a:rPr>
              <a:t>tasks</a:t>
            </a:r>
            <a:endParaRPr sz="950">
              <a:latin typeface="Calibri"/>
              <a:cs typeface="Calibri"/>
            </a:endParaRPr>
          </a:p>
          <a:p>
            <a:pPr marL="178435" marR="348615" indent="19685" algn="just">
              <a:lnSpc>
                <a:spcPct val="100000"/>
              </a:lnSpc>
            </a:pPr>
            <a:r>
              <a:rPr sz="950" spc="-20" dirty="0">
                <a:latin typeface="Calibri"/>
                <a:cs typeface="Calibri"/>
              </a:rPr>
              <a:t>Generic</a:t>
            </a:r>
            <a:r>
              <a:rPr sz="950" spc="-35" dirty="0">
                <a:latin typeface="Calibri"/>
                <a:cs typeface="Calibri"/>
              </a:rPr>
              <a:t> </a:t>
            </a:r>
            <a:r>
              <a:rPr sz="950" dirty="0">
                <a:latin typeface="Calibri"/>
                <a:cs typeface="Calibri"/>
              </a:rPr>
              <a:t>tools</a:t>
            </a:r>
            <a:r>
              <a:rPr sz="950" spc="-55" dirty="0">
                <a:latin typeface="Calibri"/>
                <a:cs typeface="Calibri"/>
              </a:rPr>
              <a:t> </a:t>
            </a:r>
            <a:r>
              <a:rPr sz="950" spc="-15" dirty="0">
                <a:latin typeface="Calibri"/>
                <a:cs typeface="Calibri"/>
              </a:rPr>
              <a:t>-</a:t>
            </a:r>
            <a:r>
              <a:rPr sz="950" spc="-10" dirty="0">
                <a:solidFill>
                  <a:srgbClr val="006FBE"/>
                </a:solidFill>
                <a:latin typeface="Calibri"/>
                <a:cs typeface="Calibri"/>
              </a:rPr>
              <a:t>scripted</a:t>
            </a:r>
            <a:r>
              <a:rPr sz="950" spc="4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to</a:t>
            </a:r>
            <a:r>
              <a:rPr sz="950" spc="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spc="-30" dirty="0">
                <a:solidFill>
                  <a:srgbClr val="006FBE"/>
                </a:solidFill>
                <a:latin typeface="Calibri"/>
                <a:cs typeface="Calibri"/>
              </a:rPr>
              <a:t>perform</a:t>
            </a:r>
            <a:r>
              <a:rPr sz="950" spc="-2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spc="-30" dirty="0">
                <a:solidFill>
                  <a:srgbClr val="006FBE"/>
                </a:solidFill>
                <a:latin typeface="Calibri"/>
                <a:cs typeface="Calibri"/>
              </a:rPr>
              <a:t>several</a:t>
            </a:r>
            <a:r>
              <a:rPr sz="950" spc="-2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spc="-10" dirty="0">
                <a:solidFill>
                  <a:srgbClr val="006FBE"/>
                </a:solidFill>
                <a:latin typeface="Calibri"/>
                <a:cs typeface="Calibri"/>
              </a:rPr>
              <a:t>kinds</a:t>
            </a:r>
            <a:r>
              <a:rPr sz="950" spc="-2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of</a:t>
            </a:r>
            <a:r>
              <a:rPr sz="950" spc="-10" dirty="0">
                <a:solidFill>
                  <a:srgbClr val="006FBE"/>
                </a:solidFill>
                <a:latin typeface="Calibri"/>
                <a:cs typeface="Calibri"/>
              </a:rPr>
              <a:t> tasks,</a:t>
            </a:r>
            <a:r>
              <a:rPr sz="950" spc="1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spc="-20" dirty="0">
                <a:solidFill>
                  <a:srgbClr val="006FBE"/>
                </a:solidFill>
                <a:latin typeface="Calibri"/>
                <a:cs typeface="Calibri"/>
              </a:rPr>
              <a:t>all</a:t>
            </a:r>
            <a:r>
              <a:rPr sz="950" spc="-1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the</a:t>
            </a:r>
            <a:r>
              <a:rPr sz="950" spc="2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spc="-50" dirty="0">
                <a:solidFill>
                  <a:srgbClr val="006FBE"/>
                </a:solidFill>
                <a:latin typeface="Calibri"/>
                <a:cs typeface="Calibri"/>
              </a:rPr>
              <a:t>way</a:t>
            </a:r>
            <a:r>
              <a:rPr sz="950" spc="-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spc="-20" dirty="0">
                <a:solidFill>
                  <a:srgbClr val="006FBE"/>
                </a:solidFill>
                <a:latin typeface="Calibri"/>
                <a:cs typeface="Calibri"/>
              </a:rPr>
              <a:t>from</a:t>
            </a:r>
            <a:r>
              <a:rPr sz="950" spc="-10" dirty="0">
                <a:solidFill>
                  <a:srgbClr val="006FBE"/>
                </a:solidFill>
                <a:latin typeface="Calibri"/>
                <a:cs typeface="Calibri"/>
              </a:rPr>
              <a:t> configuring</a:t>
            </a:r>
            <a:r>
              <a:rPr sz="950" spc="-2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an</a:t>
            </a:r>
            <a:r>
              <a:rPr sz="950" spc="-2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spc="-10" dirty="0">
                <a:solidFill>
                  <a:srgbClr val="006FBE"/>
                </a:solidFill>
                <a:latin typeface="Calibri"/>
                <a:cs typeface="Calibri"/>
              </a:rPr>
              <a:t>OS</a:t>
            </a:r>
            <a:r>
              <a:rPr sz="950" spc="-2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on</a:t>
            </a:r>
            <a:r>
              <a:rPr sz="950" spc="1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a</a:t>
            </a:r>
            <a:r>
              <a:rPr sz="950" spc="-4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spc="-25" dirty="0">
                <a:solidFill>
                  <a:srgbClr val="006FBE"/>
                </a:solidFill>
                <a:latin typeface="Calibri"/>
                <a:cs typeface="Calibri"/>
              </a:rPr>
              <a:t>virtual</a:t>
            </a:r>
            <a:r>
              <a:rPr sz="950" spc="-4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spc="-25" dirty="0">
                <a:solidFill>
                  <a:srgbClr val="006FBE"/>
                </a:solidFill>
                <a:latin typeface="Calibri"/>
                <a:cs typeface="Calibri"/>
              </a:rPr>
              <a:t>or</a:t>
            </a:r>
            <a:r>
              <a:rPr sz="950" spc="-8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spc="-10" dirty="0">
                <a:solidFill>
                  <a:srgbClr val="006FBE"/>
                </a:solidFill>
                <a:latin typeface="Calibri"/>
                <a:cs typeface="Calibri"/>
              </a:rPr>
              <a:t>physical</a:t>
            </a:r>
            <a:r>
              <a:rPr sz="950" spc="3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node</a:t>
            </a:r>
            <a:r>
              <a:rPr sz="950" spc="1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dirty="0">
                <a:solidFill>
                  <a:srgbClr val="006FBE"/>
                </a:solidFill>
                <a:latin typeface="Calibri"/>
                <a:cs typeface="Calibri"/>
              </a:rPr>
              <a:t>to</a:t>
            </a:r>
            <a:r>
              <a:rPr sz="950" spc="-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spc="-10" dirty="0">
                <a:solidFill>
                  <a:srgbClr val="006FBE"/>
                </a:solidFill>
                <a:latin typeface="Calibri"/>
                <a:cs typeface="Calibri"/>
              </a:rPr>
              <a:t>configuring</a:t>
            </a:r>
            <a:r>
              <a:rPr sz="950" spc="-9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950" spc="-10" dirty="0">
                <a:solidFill>
                  <a:srgbClr val="006FBE"/>
                </a:solidFill>
                <a:latin typeface="Calibri"/>
                <a:cs typeface="Calibri"/>
              </a:rPr>
              <a:t>firewall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26897" y="2749118"/>
            <a:ext cx="274320" cy="170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spc="-10" dirty="0">
                <a:solidFill>
                  <a:srgbClr val="006FBE"/>
                </a:solidFill>
                <a:latin typeface="Calibri"/>
                <a:cs typeface="Calibri"/>
              </a:rPr>
              <a:t>ports</a:t>
            </a:r>
            <a:endParaRPr sz="9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5747" rIns="0" bIns="0" rtlCol="0">
            <a:spAutoFit/>
          </a:bodyPr>
          <a:lstStyle/>
          <a:p>
            <a:pPr marL="52705">
              <a:lnSpc>
                <a:spcPct val="100000"/>
              </a:lnSpc>
              <a:spcBef>
                <a:spcPts val="100"/>
              </a:spcBef>
            </a:pPr>
            <a:r>
              <a:rPr sz="2000" dirty="0"/>
              <a:t>DevOps–</a:t>
            </a:r>
            <a:r>
              <a:rPr sz="2000" spc="25" dirty="0"/>
              <a:t> </a:t>
            </a:r>
            <a:r>
              <a:rPr sz="2000" spc="-10" dirty="0"/>
              <a:t>Delivery</a:t>
            </a:r>
            <a:r>
              <a:rPr sz="2000" spc="-75" dirty="0"/>
              <a:t> </a:t>
            </a:r>
            <a:r>
              <a:rPr sz="2000" spc="-10" dirty="0"/>
              <a:t>pipeline</a:t>
            </a:r>
            <a:endParaRPr sz="20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2846" y="775461"/>
            <a:ext cx="252984" cy="14325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172846" y="1118615"/>
            <a:ext cx="304800" cy="349250"/>
            <a:chOff x="172846" y="1118615"/>
            <a:chExt cx="304800" cy="34925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2846" y="1118615"/>
              <a:ext cx="304800" cy="173735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846" y="1324355"/>
              <a:ext cx="252984" cy="143255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326263" y="727709"/>
            <a:ext cx="3991610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84" algn="just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Calibri"/>
                <a:cs typeface="Calibri"/>
              </a:rPr>
              <a:t>A</a:t>
            </a:r>
            <a:r>
              <a:rPr sz="1200" spc="9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delivery</a:t>
            </a:r>
            <a:r>
              <a:rPr sz="1200" spc="1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pipeline</a:t>
            </a:r>
            <a:r>
              <a:rPr sz="1200" spc="17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consists</a:t>
            </a:r>
            <a:r>
              <a:rPr sz="1200" spc="17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15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1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stages</a:t>
            </a:r>
            <a:r>
              <a:rPr sz="1200" spc="17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</a:t>
            </a:r>
            <a:r>
              <a:rPr sz="1200" spc="1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application</a:t>
            </a:r>
            <a:r>
              <a:rPr sz="1200" spc="155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goes</a:t>
            </a:r>
            <a:endParaRPr sz="1200">
              <a:latin typeface="Calibri"/>
              <a:cs typeface="Calibri"/>
            </a:endParaRPr>
          </a:p>
          <a:p>
            <a:pPr marL="12700" algn="just">
              <a:lnSpc>
                <a:spcPct val="100000"/>
              </a:lnSpc>
            </a:pPr>
            <a:r>
              <a:rPr sz="1200" dirty="0">
                <a:latin typeface="Calibri"/>
                <a:cs typeface="Calibri"/>
              </a:rPr>
              <a:t>through</a:t>
            </a:r>
            <a:r>
              <a:rPr sz="1200" spc="185" dirty="0">
                <a:latin typeface="Calibri"/>
                <a:cs typeface="Calibri"/>
              </a:rPr>
              <a:t> </a:t>
            </a:r>
            <a:r>
              <a:rPr sz="1200" spc="-35" dirty="0">
                <a:latin typeface="Calibri"/>
                <a:cs typeface="Calibri"/>
              </a:rPr>
              <a:t>from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development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through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production</a:t>
            </a:r>
            <a:endParaRPr sz="1200">
              <a:latin typeface="Calibri"/>
              <a:cs typeface="Calibri"/>
            </a:endParaRPr>
          </a:p>
          <a:p>
            <a:pPr marL="32384" algn="just">
              <a:lnSpc>
                <a:spcPct val="100000"/>
              </a:lnSpc>
            </a:pPr>
            <a:r>
              <a:rPr sz="1200" dirty="0">
                <a:latin typeface="Calibri"/>
                <a:cs typeface="Calibri"/>
              </a:rPr>
              <a:t>Stages</a:t>
            </a:r>
            <a:r>
              <a:rPr sz="1200" spc="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may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spc="-50" dirty="0">
                <a:latin typeface="Calibri"/>
                <a:cs typeface="Calibri"/>
              </a:rPr>
              <a:t>vary</a:t>
            </a:r>
            <a:r>
              <a:rPr sz="1200" spc="-85" dirty="0">
                <a:latin typeface="Calibri"/>
                <a:cs typeface="Calibri"/>
              </a:rPr>
              <a:t> </a:t>
            </a:r>
            <a:r>
              <a:rPr sz="1200" spc="-35" dirty="0">
                <a:latin typeface="Calibri"/>
                <a:cs typeface="Calibri"/>
              </a:rPr>
              <a:t>from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one</a:t>
            </a:r>
            <a:r>
              <a:rPr sz="1200" spc="2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organization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</a:t>
            </a:r>
            <a:r>
              <a:rPr sz="1200" spc="2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another.</a:t>
            </a:r>
            <a:endParaRPr sz="1200">
              <a:latin typeface="Calibri"/>
              <a:cs typeface="Calibri"/>
            </a:endParaRPr>
          </a:p>
          <a:p>
            <a:pPr marL="12700" marR="5080" indent="19685" algn="just">
              <a:lnSpc>
                <a:spcPct val="100000"/>
              </a:lnSpc>
            </a:pPr>
            <a:r>
              <a:rPr sz="1200" dirty="0">
                <a:latin typeface="Calibri"/>
                <a:cs typeface="Calibri"/>
              </a:rPr>
              <a:t>Some</a:t>
            </a:r>
            <a:r>
              <a:rPr sz="1200" spc="38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organizations</a:t>
            </a:r>
            <a:r>
              <a:rPr sz="1200" spc="38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fully</a:t>
            </a:r>
            <a:r>
              <a:rPr sz="1200" spc="35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automate</a:t>
            </a:r>
            <a:r>
              <a:rPr sz="1200" spc="38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their</a:t>
            </a:r>
            <a:r>
              <a:rPr sz="1200" spc="3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delivery</a:t>
            </a:r>
            <a:r>
              <a:rPr sz="1200" spc="37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pipelines; </a:t>
            </a:r>
            <a:r>
              <a:rPr sz="1200" dirty="0">
                <a:latin typeface="Calibri"/>
                <a:cs typeface="Calibri"/>
              </a:rPr>
              <a:t>others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put</a:t>
            </a:r>
            <a:r>
              <a:rPr sz="1200" spc="26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their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software</a:t>
            </a:r>
            <a:r>
              <a:rPr sz="1200" spc="-1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through</a:t>
            </a:r>
            <a:r>
              <a:rPr sz="1200" spc="-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manual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checks</a:t>
            </a:r>
            <a:r>
              <a:rPr sz="1200" spc="1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gates</a:t>
            </a:r>
            <a:r>
              <a:rPr sz="1200" spc="-10" dirty="0">
                <a:latin typeface="Calibri"/>
                <a:cs typeface="Calibri"/>
              </a:rPr>
              <a:t> </a:t>
            </a:r>
            <a:r>
              <a:rPr sz="1200" spc="-25" dirty="0">
                <a:latin typeface="Calibri"/>
                <a:cs typeface="Calibri"/>
              </a:rPr>
              <a:t>due </a:t>
            </a:r>
            <a:r>
              <a:rPr sz="1200" dirty="0">
                <a:latin typeface="Calibri"/>
                <a:cs typeface="Calibri"/>
              </a:rPr>
              <a:t>to </a:t>
            </a:r>
            <a:r>
              <a:rPr sz="1200" spc="-25" dirty="0">
                <a:latin typeface="Calibri"/>
                <a:cs typeface="Calibri"/>
              </a:rPr>
              <a:t>regulatory</a:t>
            </a:r>
            <a:r>
              <a:rPr sz="1200" spc="-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or</a:t>
            </a:r>
            <a:r>
              <a:rPr sz="1200" spc="16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company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requirements</a:t>
            </a:r>
            <a:r>
              <a:rPr sz="700" spc="-10" dirty="0">
                <a:latin typeface="Calibri"/>
                <a:cs typeface="Calibri"/>
              </a:rPr>
              <a:t>.</a:t>
            </a:r>
            <a:endParaRPr sz="700">
              <a:latin typeface="Calibri"/>
              <a:cs typeface="Calibri"/>
            </a:endParaRPr>
          </a:p>
        </p:txBody>
      </p: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14442" y="2011292"/>
            <a:ext cx="2973216" cy="1189107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79172" rIns="0" bIns="0" rtlCol="0">
            <a:spAutoFit/>
          </a:bodyPr>
          <a:lstStyle/>
          <a:p>
            <a:pPr marL="75565">
              <a:lnSpc>
                <a:spcPct val="100000"/>
              </a:lnSpc>
              <a:spcBef>
                <a:spcPts val="105"/>
              </a:spcBef>
            </a:pPr>
            <a:r>
              <a:rPr sz="2000" dirty="0"/>
              <a:t>DevOps–</a:t>
            </a:r>
            <a:r>
              <a:rPr sz="2000" spc="30" dirty="0"/>
              <a:t> </a:t>
            </a:r>
            <a:r>
              <a:rPr sz="2000" spc="-10" dirty="0"/>
              <a:t>Delivery</a:t>
            </a:r>
            <a:r>
              <a:rPr sz="2000" spc="-90" dirty="0"/>
              <a:t> </a:t>
            </a:r>
            <a:r>
              <a:rPr sz="2000" spc="-10" dirty="0"/>
              <a:t>pipeline</a:t>
            </a:r>
            <a:endParaRPr sz="20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2846" y="908049"/>
            <a:ext cx="256031" cy="14782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2846" y="1231137"/>
            <a:ext cx="228600" cy="12953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2846" y="1680717"/>
            <a:ext cx="256031" cy="147828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172846" y="2151633"/>
            <a:ext cx="256540" cy="304800"/>
            <a:chOff x="172846" y="2151633"/>
            <a:chExt cx="256540" cy="304800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846" y="2151633"/>
              <a:ext cx="256031" cy="147828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2846" y="2326588"/>
              <a:ext cx="228600" cy="129844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160146" y="729233"/>
            <a:ext cx="4256405" cy="189611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Development</a:t>
            </a:r>
            <a:r>
              <a:rPr sz="1000" spc="7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environment</a:t>
            </a:r>
            <a:endParaRPr sz="1000">
              <a:latin typeface="Calibri"/>
              <a:cs typeface="Calibri"/>
            </a:endParaRPr>
          </a:p>
          <a:p>
            <a:pPr marL="178435" marR="142875" indent="19685" algn="just">
              <a:lnSpc>
                <a:spcPct val="101000"/>
              </a:lnSpc>
              <a:spcBef>
                <a:spcPts val="10"/>
              </a:spcBef>
            </a:pPr>
            <a:r>
              <a:rPr sz="1000" dirty="0">
                <a:latin typeface="Calibri"/>
                <a:cs typeface="Calibri"/>
              </a:rPr>
              <a:t>provides</a:t>
            </a:r>
            <a:r>
              <a:rPr sz="1000" spc="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multiple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tools</a:t>
            </a:r>
            <a:r>
              <a:rPr sz="1000" spc="6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that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enable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7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developers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7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write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6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test</a:t>
            </a:r>
            <a:r>
              <a:rPr sz="1000" spc="7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code. </a:t>
            </a:r>
            <a:r>
              <a:rPr sz="1000" dirty="0">
                <a:latin typeface="Calibri"/>
                <a:cs typeface="Calibri"/>
              </a:rPr>
              <a:t>Beyond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integrated</a:t>
            </a:r>
            <a:r>
              <a:rPr sz="1000" spc="6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development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environment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(IDE)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tools</a:t>
            </a:r>
            <a:endParaRPr sz="1000">
              <a:latin typeface="Calibri"/>
              <a:cs typeface="Calibri"/>
            </a:endParaRPr>
          </a:p>
          <a:p>
            <a:pPr marL="178435" marR="5080" indent="19685" algn="just">
              <a:lnSpc>
                <a:spcPct val="101499"/>
              </a:lnSpc>
              <a:spcBef>
                <a:spcPts val="5"/>
              </a:spcBef>
            </a:pPr>
            <a:r>
              <a:rPr sz="1000" dirty="0">
                <a:latin typeface="Calibri"/>
                <a:cs typeface="Calibri"/>
              </a:rPr>
              <a:t>Developers</a:t>
            </a:r>
            <a:r>
              <a:rPr sz="1000" spc="46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use</a:t>
            </a:r>
            <a:r>
              <a:rPr sz="1000" spc="49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47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write</a:t>
            </a:r>
            <a:r>
              <a:rPr sz="1000" spc="434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code,</a:t>
            </a:r>
            <a:r>
              <a:rPr sz="1000" spc="48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this</a:t>
            </a:r>
            <a:r>
              <a:rPr sz="1000" spc="47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stage</a:t>
            </a:r>
            <a:r>
              <a:rPr sz="1000" spc="47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includes</a:t>
            </a:r>
            <a:r>
              <a:rPr sz="1000" spc="48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tools</a:t>
            </a:r>
            <a:r>
              <a:rPr sz="1000" spc="47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that</a:t>
            </a:r>
            <a:r>
              <a:rPr sz="1000" spc="44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enable </a:t>
            </a:r>
            <a:r>
              <a:rPr sz="1000" dirty="0">
                <a:latin typeface="Calibri"/>
                <a:cs typeface="Calibri"/>
              </a:rPr>
              <a:t>collaborative</a:t>
            </a:r>
            <a:r>
              <a:rPr sz="1000" spc="19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development,</a:t>
            </a:r>
            <a:r>
              <a:rPr sz="1000" spc="2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such</a:t>
            </a:r>
            <a:r>
              <a:rPr sz="1000" spc="229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as</a:t>
            </a:r>
            <a:r>
              <a:rPr sz="1000" spc="2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tools</a:t>
            </a:r>
            <a:r>
              <a:rPr sz="1000" spc="2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for</a:t>
            </a:r>
            <a:r>
              <a:rPr sz="1000" spc="18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source</a:t>
            </a:r>
            <a:r>
              <a:rPr sz="1000" spc="2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control</a:t>
            </a:r>
            <a:r>
              <a:rPr sz="1000" spc="204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management, work-item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management,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collaboration,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unit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testing,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project</a:t>
            </a:r>
            <a:r>
              <a:rPr sz="100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planning.</a:t>
            </a:r>
            <a:endParaRPr sz="1000">
              <a:latin typeface="Calibri"/>
              <a:cs typeface="Calibri"/>
            </a:endParaRPr>
          </a:p>
          <a:p>
            <a:pPr marL="198120" algn="just">
              <a:lnSpc>
                <a:spcPct val="100000"/>
              </a:lnSpc>
              <a:spcBef>
                <a:spcPts val="15"/>
              </a:spcBef>
            </a:pPr>
            <a:r>
              <a:rPr sz="1000" spc="-10" dirty="0">
                <a:latin typeface="Calibri"/>
                <a:cs typeface="Calibri"/>
              </a:rPr>
              <a:t>Tools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in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this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stage</a:t>
            </a:r>
            <a:r>
              <a:rPr sz="1000" spc="4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typically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are</a:t>
            </a:r>
            <a:r>
              <a:rPr sz="1000" spc="-6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cross-</a:t>
            </a:r>
            <a:r>
              <a:rPr sz="1000" dirty="0">
                <a:latin typeface="Calibri"/>
                <a:cs typeface="Calibri"/>
              </a:rPr>
              <a:t>platform</a:t>
            </a:r>
            <a:r>
              <a:rPr sz="1000" spc="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cross-</a:t>
            </a:r>
            <a:r>
              <a:rPr sz="1000" spc="-10" dirty="0">
                <a:latin typeface="Calibri"/>
                <a:cs typeface="Calibri"/>
              </a:rPr>
              <a:t>technology.</a:t>
            </a:r>
            <a:endParaRPr sz="10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75"/>
              </a:spcBef>
            </a:pPr>
            <a:endParaRPr sz="1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Build</a:t>
            </a: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 stage</a:t>
            </a:r>
            <a:endParaRPr sz="1000">
              <a:latin typeface="Calibri"/>
              <a:cs typeface="Calibri"/>
            </a:endParaRPr>
          </a:p>
          <a:p>
            <a:pPr marL="198120">
              <a:lnSpc>
                <a:spcPct val="100000"/>
              </a:lnSpc>
              <a:spcBef>
                <a:spcPts val="10"/>
              </a:spcBef>
            </a:pPr>
            <a:r>
              <a:rPr sz="1000" dirty="0">
                <a:latin typeface="Calibri"/>
                <a:cs typeface="Calibri"/>
              </a:rPr>
              <a:t>code</a:t>
            </a:r>
            <a:r>
              <a:rPr sz="1000" spc="6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is</a:t>
            </a:r>
            <a:r>
              <a:rPr sz="1000" spc="6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compiled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create</a:t>
            </a:r>
            <a:r>
              <a:rPr sz="1000" dirty="0">
                <a:latin typeface="Calibri"/>
                <a:cs typeface="Calibri"/>
              </a:rPr>
              <a:t> and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unit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test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binaries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be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deployed.</a:t>
            </a:r>
            <a:endParaRPr sz="1000">
              <a:latin typeface="Calibri"/>
              <a:cs typeface="Calibri"/>
            </a:endParaRPr>
          </a:p>
          <a:p>
            <a:pPr marL="198120">
              <a:lnSpc>
                <a:spcPct val="100000"/>
              </a:lnSpc>
              <a:spcBef>
                <a:spcPts val="75"/>
              </a:spcBef>
            </a:pPr>
            <a:r>
              <a:rPr sz="1000" dirty="0">
                <a:latin typeface="Calibri"/>
                <a:cs typeface="Calibri"/>
              </a:rPr>
              <a:t>organizations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typically</a:t>
            </a:r>
            <a:r>
              <a:rPr sz="1000" spc="-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use</a:t>
            </a:r>
            <a:r>
              <a:rPr sz="1000" spc="6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build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servers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facilitate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large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number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of</a:t>
            </a:r>
            <a:endParaRPr sz="1000">
              <a:latin typeface="Calibri"/>
              <a:cs typeface="Calibri"/>
            </a:endParaRPr>
          </a:p>
          <a:p>
            <a:pPr marL="178435">
              <a:lnSpc>
                <a:spcPct val="100000"/>
              </a:lnSpc>
              <a:spcBef>
                <a:spcPts val="10"/>
              </a:spcBef>
            </a:pPr>
            <a:r>
              <a:rPr sz="1000" dirty="0">
                <a:latin typeface="Calibri"/>
                <a:cs typeface="Calibri"/>
              </a:rPr>
              <a:t>builds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required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on</a:t>
            </a:r>
            <a:r>
              <a:rPr sz="1000" spc="9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ongoing</a:t>
            </a:r>
            <a:r>
              <a:rPr sz="1000" spc="10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basis</a:t>
            </a:r>
            <a:r>
              <a:rPr sz="1000" spc="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7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enable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continuous</a:t>
            </a:r>
            <a:r>
              <a:rPr sz="1000" spc="-4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integration</a:t>
            </a:r>
            <a:endParaRPr sz="1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7487" rIns="0" bIns="0" rtlCol="0">
            <a:spAutoFit/>
          </a:bodyPr>
          <a:lstStyle/>
          <a:p>
            <a:pPr marL="50165">
              <a:lnSpc>
                <a:spcPct val="100000"/>
              </a:lnSpc>
              <a:spcBef>
                <a:spcPts val="100"/>
              </a:spcBef>
            </a:pPr>
            <a:r>
              <a:rPr sz="2000" dirty="0"/>
              <a:t>DevOps–</a:t>
            </a:r>
            <a:r>
              <a:rPr sz="2000" spc="25" dirty="0"/>
              <a:t> </a:t>
            </a:r>
            <a:r>
              <a:rPr sz="2000" spc="-10" dirty="0"/>
              <a:t>Delivery</a:t>
            </a:r>
            <a:r>
              <a:rPr sz="2000" spc="-80" dirty="0"/>
              <a:t> </a:t>
            </a:r>
            <a:r>
              <a:rPr sz="2000" spc="-10" dirty="0"/>
              <a:t>pipeline</a:t>
            </a:r>
            <a:endParaRPr sz="2000"/>
          </a:p>
        </p:txBody>
      </p:sp>
      <p:grpSp>
        <p:nvGrpSpPr>
          <p:cNvPr id="4" name="object 4"/>
          <p:cNvGrpSpPr/>
          <p:nvPr/>
        </p:nvGrpSpPr>
        <p:grpSpPr>
          <a:xfrm>
            <a:off x="172846" y="923797"/>
            <a:ext cx="228600" cy="281940"/>
            <a:chOff x="172846" y="923797"/>
            <a:chExt cx="228600" cy="28194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846" y="923797"/>
              <a:ext cx="228600" cy="12954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846" y="1076197"/>
              <a:ext cx="228600" cy="129540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2846" y="1846198"/>
            <a:ext cx="228600" cy="129539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2846" y="2160142"/>
            <a:ext cx="228600" cy="129539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72846" y="2612135"/>
            <a:ext cx="15240" cy="185927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60146" y="728217"/>
            <a:ext cx="4255135" cy="225488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Package</a:t>
            </a:r>
            <a:r>
              <a:rPr sz="1000" spc="4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repository</a:t>
            </a:r>
            <a:r>
              <a:rPr sz="1000" spc="-2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(artifact</a:t>
            </a:r>
            <a:r>
              <a:rPr sz="1000" spc="-4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repository)</a:t>
            </a:r>
            <a:endParaRPr sz="1000">
              <a:latin typeface="Calibri"/>
              <a:cs typeface="Calibri"/>
            </a:endParaRPr>
          </a:p>
          <a:p>
            <a:pPr marL="178435" marR="5080" indent="19685">
              <a:lnSpc>
                <a:spcPct val="100000"/>
              </a:lnSpc>
              <a:spcBef>
                <a:spcPts val="45"/>
              </a:spcBef>
            </a:pPr>
            <a:r>
              <a:rPr sz="1000" dirty="0">
                <a:latin typeface="Calibri"/>
                <a:cs typeface="Calibri"/>
              </a:rPr>
              <a:t>common</a:t>
            </a:r>
            <a:r>
              <a:rPr sz="1000" spc="8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storage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mechanism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for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binaries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created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during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build</a:t>
            </a:r>
            <a:r>
              <a:rPr sz="1000" spc="2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stage </a:t>
            </a:r>
            <a:r>
              <a:rPr sz="1000" dirty="0">
                <a:latin typeface="Calibri"/>
                <a:cs typeface="Calibri"/>
              </a:rPr>
              <a:t>need</a:t>
            </a:r>
            <a:r>
              <a:rPr sz="1000" spc="3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30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store</a:t>
            </a:r>
            <a:r>
              <a:rPr sz="1000" spc="28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29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assets</a:t>
            </a:r>
            <a:r>
              <a:rPr sz="1000" spc="3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associated</a:t>
            </a:r>
            <a:r>
              <a:rPr sz="1000" spc="3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with</a:t>
            </a:r>
            <a:r>
              <a:rPr sz="1000" spc="29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29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binaries</a:t>
            </a:r>
            <a:r>
              <a:rPr sz="1000" spc="28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30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facilitate</a:t>
            </a:r>
            <a:r>
              <a:rPr sz="1000" spc="29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their </a:t>
            </a:r>
            <a:r>
              <a:rPr sz="1000" dirty="0">
                <a:latin typeface="Calibri"/>
                <a:cs typeface="Calibri"/>
              </a:rPr>
              <a:t>deployment,</a:t>
            </a:r>
            <a:r>
              <a:rPr sz="1000" spc="37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such</a:t>
            </a:r>
            <a:r>
              <a:rPr sz="1000" spc="39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as</a:t>
            </a:r>
            <a:r>
              <a:rPr sz="1000" spc="36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configuration</a:t>
            </a:r>
            <a:r>
              <a:rPr sz="1000" spc="38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files,</a:t>
            </a:r>
            <a:r>
              <a:rPr sz="1000" spc="35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infrastructure-as-</a:t>
            </a:r>
            <a:r>
              <a:rPr sz="1000" dirty="0">
                <a:latin typeface="Calibri"/>
                <a:cs typeface="Calibri"/>
              </a:rPr>
              <a:t>code</a:t>
            </a:r>
            <a:r>
              <a:rPr sz="1000" spc="3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files,</a:t>
            </a:r>
            <a:r>
              <a:rPr sz="1000" spc="36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and</a:t>
            </a:r>
            <a:r>
              <a:rPr sz="1000" dirty="0">
                <a:latin typeface="Calibri"/>
                <a:cs typeface="Calibri"/>
              </a:rPr>
              <a:t> deployment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scripts</a:t>
            </a:r>
            <a:endParaRPr sz="10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000" spc="-25" dirty="0">
                <a:solidFill>
                  <a:srgbClr val="006FBE"/>
                </a:solidFill>
                <a:latin typeface="Calibri"/>
                <a:cs typeface="Calibri"/>
              </a:rPr>
              <a:t>Test </a:t>
            </a: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environment</a:t>
            </a:r>
            <a:endParaRPr sz="1000">
              <a:latin typeface="Calibri"/>
              <a:cs typeface="Calibri"/>
            </a:endParaRPr>
          </a:p>
          <a:p>
            <a:pPr marL="178435" marR="27940" indent="19685">
              <a:lnSpc>
                <a:spcPct val="101000"/>
              </a:lnSpc>
              <a:spcBef>
                <a:spcPts val="10"/>
              </a:spcBef>
            </a:pPr>
            <a:r>
              <a:rPr sz="1000" dirty="0">
                <a:latin typeface="Calibri"/>
                <a:cs typeface="Calibri"/>
              </a:rPr>
              <a:t>QA,</a:t>
            </a:r>
            <a:r>
              <a:rPr sz="1000" spc="210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user</a:t>
            </a:r>
            <a:r>
              <a:rPr sz="1000" spc="36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acceptance,</a:t>
            </a:r>
            <a:r>
              <a:rPr sz="1000" spc="14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459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development/</a:t>
            </a:r>
            <a:r>
              <a:rPr sz="1000" spc="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testing</a:t>
            </a:r>
            <a:r>
              <a:rPr sz="1000" spc="140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teams</a:t>
            </a:r>
            <a:r>
              <a:rPr sz="1000" spc="4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do</a:t>
            </a:r>
            <a:r>
              <a:rPr sz="1000" spc="4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39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actual </a:t>
            </a:r>
            <a:r>
              <a:rPr sz="1000" dirty="0">
                <a:latin typeface="Calibri"/>
                <a:cs typeface="Calibri"/>
              </a:rPr>
              <a:t>testing. </a:t>
            </a:r>
            <a:r>
              <a:rPr sz="1000" spc="-20" dirty="0">
                <a:latin typeface="Calibri"/>
                <a:cs typeface="Calibri"/>
              </a:rPr>
              <a:t>Many</a:t>
            </a:r>
            <a:r>
              <a:rPr sz="1000" spc="-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tools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are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used</a:t>
            </a:r>
            <a:endParaRPr sz="1000">
              <a:latin typeface="Calibri"/>
              <a:cs typeface="Calibri"/>
            </a:endParaRPr>
          </a:p>
          <a:p>
            <a:pPr marL="178435" marR="157480" indent="19685">
              <a:lnSpc>
                <a:spcPct val="100000"/>
              </a:lnSpc>
              <a:spcBef>
                <a:spcPts val="60"/>
              </a:spcBef>
            </a:pP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Test</a:t>
            </a:r>
            <a:r>
              <a:rPr sz="1000" spc="22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environment</a:t>
            </a:r>
            <a:r>
              <a:rPr sz="1000" spc="235" dirty="0">
                <a:solidFill>
                  <a:srgbClr val="006FBE"/>
                </a:solidFill>
                <a:latin typeface="Calibri"/>
                <a:cs typeface="Calibri"/>
              </a:rPr>
              <a:t>  </a:t>
            </a: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management</a:t>
            </a:r>
            <a:r>
              <a:rPr sz="1000" dirty="0">
                <a:latin typeface="Calibri"/>
                <a:cs typeface="Calibri"/>
              </a:rPr>
              <a:t>:</a:t>
            </a:r>
            <a:r>
              <a:rPr sz="1000" spc="16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These</a:t>
            </a:r>
            <a:r>
              <a:rPr sz="1000" spc="20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tools</a:t>
            </a:r>
            <a:r>
              <a:rPr sz="1000" spc="170" dirty="0">
                <a:latin typeface="Calibri"/>
                <a:cs typeface="Calibri"/>
              </a:rPr>
              <a:t>  </a:t>
            </a:r>
            <a:r>
              <a:rPr sz="1000" spc="-10" dirty="0">
                <a:latin typeface="Calibri"/>
                <a:cs typeface="Calibri"/>
              </a:rPr>
              <a:t>facilitate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provisioning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and</a:t>
            </a:r>
            <a:r>
              <a:rPr sz="1000" dirty="0">
                <a:latin typeface="Calibri"/>
                <a:cs typeface="Calibri"/>
              </a:rPr>
              <a:t> configuring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test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environments.</a:t>
            </a:r>
            <a:endParaRPr sz="10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000">
              <a:latin typeface="Calibri"/>
              <a:cs typeface="Calibri"/>
            </a:endParaRPr>
          </a:p>
          <a:p>
            <a:pPr marL="198120" marR="297180">
              <a:lnSpc>
                <a:spcPct val="100000"/>
              </a:lnSpc>
            </a:pPr>
            <a:r>
              <a:rPr sz="1200" spc="-35" dirty="0">
                <a:latin typeface="Calibri"/>
                <a:cs typeface="Calibri"/>
              </a:rPr>
              <a:t>Infrastructure-</a:t>
            </a:r>
            <a:r>
              <a:rPr sz="1200" spc="-10" dirty="0">
                <a:latin typeface="Calibri"/>
                <a:cs typeface="Calibri"/>
              </a:rPr>
              <a:t>as-</a:t>
            </a:r>
            <a:r>
              <a:rPr sz="1200" dirty="0">
                <a:latin typeface="Calibri"/>
                <a:cs typeface="Calibri"/>
              </a:rPr>
              <a:t>code</a:t>
            </a:r>
            <a:r>
              <a:rPr sz="1200" spc="-9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technologies</a:t>
            </a:r>
            <a:r>
              <a:rPr sz="1200" spc="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229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cloud</a:t>
            </a:r>
            <a:r>
              <a:rPr sz="1200" spc="185" dirty="0">
                <a:latin typeface="Calibri"/>
                <a:cs typeface="Calibri"/>
              </a:rPr>
              <a:t>  </a:t>
            </a:r>
            <a:r>
              <a:rPr sz="1200" spc="-10" dirty="0">
                <a:latin typeface="Calibri"/>
                <a:cs typeface="Calibri"/>
              </a:rPr>
              <a:t>provisioning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2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management</a:t>
            </a:r>
            <a:r>
              <a:rPr sz="1200" spc="-6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tools.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139541"/>
            <a:ext cx="2281555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204085">
              <a:lnSpc>
                <a:spcPts val="550"/>
              </a:lnSpc>
              <a:spcBef>
                <a:spcPts val="105"/>
              </a:spcBef>
            </a:pPr>
            <a:r>
              <a:rPr sz="500" spc="-25" dirty="0">
                <a:solidFill>
                  <a:srgbClr val="888888"/>
                </a:solidFill>
                <a:latin typeface="Calibri"/>
                <a:cs typeface="Calibri"/>
              </a:rPr>
              <a:t>15</a:t>
            </a:r>
            <a:endParaRPr sz="500">
              <a:latin typeface="Calibri"/>
              <a:cs typeface="Calibri"/>
            </a:endParaRPr>
          </a:p>
          <a:p>
            <a:pPr marL="2204085">
              <a:lnSpc>
                <a:spcPts val="550"/>
              </a:lnSpc>
            </a:pPr>
            <a:r>
              <a:rPr sz="500" spc="-50" dirty="0">
                <a:solidFill>
                  <a:srgbClr val="888888"/>
                </a:solidFill>
                <a:latin typeface="Calibri"/>
                <a:cs typeface="Calibri"/>
              </a:rPr>
              <a:t>0</a:t>
            </a:r>
            <a:endParaRPr sz="5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3998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5"/>
              </a:spcBef>
            </a:pPr>
            <a:r>
              <a:rPr sz="2000" dirty="0"/>
              <a:t>DevOps–</a:t>
            </a:r>
            <a:r>
              <a:rPr sz="2000" spc="25" dirty="0"/>
              <a:t> </a:t>
            </a:r>
            <a:r>
              <a:rPr sz="2000" spc="-10" dirty="0"/>
              <a:t>Delivery</a:t>
            </a:r>
            <a:r>
              <a:rPr sz="2000" spc="-75" dirty="0"/>
              <a:t> </a:t>
            </a:r>
            <a:r>
              <a:rPr sz="2000" spc="-10" dirty="0"/>
              <a:t>pipeline</a:t>
            </a:r>
            <a:endParaRPr sz="2000"/>
          </a:p>
        </p:txBody>
      </p:sp>
      <p:grpSp>
        <p:nvGrpSpPr>
          <p:cNvPr id="4" name="object 4"/>
          <p:cNvGrpSpPr/>
          <p:nvPr/>
        </p:nvGrpSpPr>
        <p:grpSpPr>
          <a:xfrm>
            <a:off x="172846" y="907668"/>
            <a:ext cx="256540" cy="767080"/>
            <a:chOff x="172846" y="907668"/>
            <a:chExt cx="256540" cy="76708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846" y="907668"/>
              <a:ext cx="256031" cy="14782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846" y="1063116"/>
              <a:ext cx="256031" cy="14782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846" y="1217040"/>
              <a:ext cx="256031" cy="147827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846" y="1372488"/>
              <a:ext cx="256031" cy="147827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846" y="1526793"/>
              <a:ext cx="256031" cy="147828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160146" y="650284"/>
            <a:ext cx="4105910" cy="135191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1200" b="1" spc="-40" dirty="0">
                <a:solidFill>
                  <a:srgbClr val="006FBE"/>
                </a:solidFill>
                <a:latin typeface="Calibri"/>
                <a:cs typeface="Calibri"/>
              </a:rPr>
              <a:t>Test</a:t>
            </a:r>
            <a:r>
              <a:rPr sz="1200" b="1" spc="1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200" b="1" spc="-20" dirty="0">
                <a:solidFill>
                  <a:srgbClr val="006FBE"/>
                </a:solidFill>
                <a:latin typeface="Calibri"/>
                <a:cs typeface="Calibri"/>
              </a:rPr>
              <a:t>environment</a:t>
            </a:r>
            <a:r>
              <a:rPr sz="1200" b="1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200" b="1" spc="-10" dirty="0">
                <a:solidFill>
                  <a:srgbClr val="006FBE"/>
                </a:solidFill>
                <a:latin typeface="Calibri"/>
                <a:cs typeface="Calibri"/>
              </a:rPr>
              <a:t>management</a:t>
            </a:r>
            <a:endParaRPr sz="1200">
              <a:latin typeface="Calibri"/>
              <a:cs typeface="Calibri"/>
            </a:endParaRPr>
          </a:p>
          <a:p>
            <a:pPr marL="198120">
              <a:lnSpc>
                <a:spcPct val="100000"/>
              </a:lnSpc>
              <a:spcBef>
                <a:spcPts val="204"/>
              </a:spcBef>
            </a:pPr>
            <a:r>
              <a:rPr sz="1000" spc="-10" dirty="0">
                <a:latin typeface="Calibri"/>
                <a:cs typeface="Calibri"/>
              </a:rPr>
              <a:t>Environment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(Infrastructure) </a:t>
            </a:r>
            <a:r>
              <a:rPr sz="1000" spc="-10" dirty="0">
                <a:latin typeface="Calibri"/>
                <a:cs typeface="Calibri"/>
              </a:rPr>
              <a:t>Orchestration</a:t>
            </a:r>
            <a:r>
              <a:rPr sz="1000" spc="4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Tool</a:t>
            </a:r>
            <a:endParaRPr sz="1000">
              <a:latin typeface="Calibri"/>
              <a:cs typeface="Calibri"/>
            </a:endParaRPr>
          </a:p>
          <a:p>
            <a:pPr marL="198120" marR="908050">
              <a:lnSpc>
                <a:spcPct val="101000"/>
              </a:lnSpc>
              <a:spcBef>
                <a:spcPts val="15"/>
              </a:spcBef>
            </a:pPr>
            <a:r>
              <a:rPr sz="1000" dirty="0">
                <a:latin typeface="Calibri"/>
                <a:cs typeface="Calibri"/>
              </a:rPr>
              <a:t>Build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&amp;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Deployment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Tools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/</a:t>
            </a:r>
            <a:r>
              <a:rPr sz="1000" spc="3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Continuous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Integration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Tools </a:t>
            </a:r>
            <a:r>
              <a:rPr sz="1000" spc="-25" dirty="0">
                <a:latin typeface="Calibri"/>
                <a:cs typeface="Calibri"/>
              </a:rPr>
              <a:t>Infrastructure</a:t>
            </a:r>
            <a:r>
              <a:rPr sz="100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Configuration</a:t>
            </a:r>
            <a:r>
              <a:rPr sz="1000" spc="6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Tools</a:t>
            </a:r>
            <a:endParaRPr sz="1000">
              <a:latin typeface="Calibri"/>
              <a:cs typeface="Calibri"/>
            </a:endParaRPr>
          </a:p>
          <a:p>
            <a:pPr marL="198120" marR="1731010">
              <a:lnSpc>
                <a:spcPct val="101200"/>
              </a:lnSpc>
              <a:spcBef>
                <a:spcPts val="10"/>
              </a:spcBef>
            </a:pPr>
            <a:r>
              <a:rPr sz="1000" spc="-10" dirty="0">
                <a:latin typeface="Calibri"/>
                <a:cs typeface="Calibri"/>
              </a:rPr>
              <a:t>Service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Support</a:t>
            </a:r>
            <a:r>
              <a:rPr sz="1000" spc="-6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Tools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(Incident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&amp;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Change) Environment</a:t>
            </a:r>
            <a:r>
              <a:rPr sz="1000" spc="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Health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Dashboards</a:t>
            </a:r>
            <a:endParaRPr sz="1000">
              <a:latin typeface="Calibri"/>
              <a:cs typeface="Calibri"/>
            </a:endParaRPr>
          </a:p>
          <a:p>
            <a:pPr marL="179070" marR="5080" indent="20320">
              <a:lnSpc>
                <a:spcPct val="102000"/>
              </a:lnSpc>
              <a:spcBef>
                <a:spcPts val="50"/>
              </a:spcBef>
            </a:pPr>
            <a:r>
              <a:rPr sz="1000" b="1" dirty="0">
                <a:latin typeface="Times New Roman"/>
                <a:cs typeface="Times New Roman"/>
              </a:rPr>
              <a:t>Ex:</a:t>
            </a:r>
            <a:r>
              <a:rPr sz="1000" b="1" spc="140" dirty="0">
                <a:latin typeface="Times New Roman"/>
                <a:cs typeface="Times New Roman"/>
              </a:rPr>
              <a:t>  </a:t>
            </a:r>
            <a:r>
              <a:rPr sz="1000" b="1" spc="-10" dirty="0">
                <a:latin typeface="Times New Roman"/>
                <a:cs typeface="Times New Roman"/>
              </a:rPr>
              <a:t>Jenkins</a:t>
            </a:r>
            <a:r>
              <a:rPr sz="1000" b="1" spc="-15" dirty="0">
                <a:latin typeface="Times New Roman"/>
                <a:cs typeface="Times New Roman"/>
              </a:rPr>
              <a:t> </a:t>
            </a:r>
            <a:r>
              <a:rPr sz="1000" b="1" spc="-25" dirty="0">
                <a:latin typeface="Times New Roman"/>
                <a:cs typeface="Times New Roman"/>
              </a:rPr>
              <a:t>for</a:t>
            </a:r>
            <a:r>
              <a:rPr sz="1000" b="1" spc="-85" dirty="0">
                <a:latin typeface="Times New Roman"/>
                <a:cs typeface="Times New Roman"/>
              </a:rPr>
              <a:t> </a:t>
            </a:r>
            <a:r>
              <a:rPr sz="1000" b="1" dirty="0">
                <a:latin typeface="Times New Roman"/>
                <a:cs typeface="Times New Roman"/>
              </a:rPr>
              <a:t>app</a:t>
            </a:r>
            <a:r>
              <a:rPr sz="1000" b="1" spc="-5" dirty="0">
                <a:latin typeface="Times New Roman"/>
                <a:cs typeface="Times New Roman"/>
              </a:rPr>
              <a:t> </a:t>
            </a:r>
            <a:r>
              <a:rPr sz="1000" b="1" dirty="0">
                <a:latin typeface="Times New Roman"/>
                <a:cs typeface="Times New Roman"/>
              </a:rPr>
              <a:t>builds,</a:t>
            </a:r>
            <a:r>
              <a:rPr sz="1000" b="1" spc="35" dirty="0">
                <a:latin typeface="Times New Roman"/>
                <a:cs typeface="Times New Roman"/>
              </a:rPr>
              <a:t> </a:t>
            </a:r>
            <a:r>
              <a:rPr sz="1000" b="1" dirty="0">
                <a:latin typeface="Times New Roman"/>
                <a:cs typeface="Times New Roman"/>
              </a:rPr>
              <a:t>Puppet</a:t>
            </a:r>
            <a:r>
              <a:rPr sz="1000" b="1" spc="10" dirty="0">
                <a:latin typeface="Times New Roman"/>
                <a:cs typeface="Times New Roman"/>
              </a:rPr>
              <a:t> </a:t>
            </a:r>
            <a:r>
              <a:rPr sz="1000" b="1" spc="-25" dirty="0">
                <a:latin typeface="Times New Roman"/>
                <a:cs typeface="Times New Roman"/>
              </a:rPr>
              <a:t>for</a:t>
            </a:r>
            <a:r>
              <a:rPr sz="1000" b="1" spc="-80" dirty="0">
                <a:latin typeface="Times New Roman"/>
                <a:cs typeface="Times New Roman"/>
              </a:rPr>
              <a:t> </a:t>
            </a:r>
            <a:r>
              <a:rPr sz="1000" b="1" spc="-25" dirty="0">
                <a:latin typeface="Times New Roman"/>
                <a:cs typeface="Times New Roman"/>
              </a:rPr>
              <a:t>infrastructure</a:t>
            </a:r>
            <a:r>
              <a:rPr sz="1000" b="1" spc="-15" dirty="0">
                <a:latin typeface="Times New Roman"/>
                <a:cs typeface="Times New Roman"/>
              </a:rPr>
              <a:t> </a:t>
            </a:r>
            <a:r>
              <a:rPr sz="1000" b="1" dirty="0">
                <a:latin typeface="Times New Roman"/>
                <a:cs typeface="Times New Roman"/>
              </a:rPr>
              <a:t>configuration,</a:t>
            </a:r>
            <a:r>
              <a:rPr sz="1000" b="1" spc="75" dirty="0">
                <a:latin typeface="Times New Roman"/>
                <a:cs typeface="Times New Roman"/>
              </a:rPr>
              <a:t> </a:t>
            </a:r>
            <a:r>
              <a:rPr sz="1000" b="1" spc="-25" dirty="0">
                <a:latin typeface="Times New Roman"/>
                <a:cs typeface="Times New Roman"/>
              </a:rPr>
              <a:t>CA </a:t>
            </a:r>
            <a:r>
              <a:rPr sz="1000" b="1" dirty="0">
                <a:latin typeface="Times New Roman"/>
                <a:cs typeface="Times New Roman"/>
              </a:rPr>
              <a:t>Lisa</a:t>
            </a:r>
            <a:r>
              <a:rPr sz="1000" b="1" spc="-10" dirty="0">
                <a:latin typeface="Times New Roman"/>
                <a:cs typeface="Times New Roman"/>
              </a:rPr>
              <a:t> </a:t>
            </a:r>
            <a:r>
              <a:rPr sz="1000" b="1" spc="-25" dirty="0">
                <a:latin typeface="Times New Roman"/>
                <a:cs typeface="Times New Roman"/>
              </a:rPr>
              <a:t>for</a:t>
            </a:r>
            <a:r>
              <a:rPr sz="1000" b="1" spc="-75" dirty="0">
                <a:latin typeface="Times New Roman"/>
                <a:cs typeface="Times New Roman"/>
              </a:rPr>
              <a:t> </a:t>
            </a:r>
            <a:r>
              <a:rPr sz="1000" b="1" dirty="0">
                <a:latin typeface="Times New Roman"/>
                <a:cs typeface="Times New Roman"/>
              </a:rPr>
              <a:t>service</a:t>
            </a:r>
            <a:r>
              <a:rPr sz="1000" b="1" spc="45" dirty="0">
                <a:latin typeface="Times New Roman"/>
                <a:cs typeface="Times New Roman"/>
              </a:rPr>
              <a:t> </a:t>
            </a:r>
            <a:r>
              <a:rPr sz="1000" b="1" spc="-10" dirty="0">
                <a:latin typeface="Times New Roman"/>
                <a:cs typeface="Times New Roman"/>
              </a:rPr>
              <a:t>virtualization</a:t>
            </a:r>
            <a:endParaRPr sz="10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138677"/>
            <a:ext cx="2281555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204085">
              <a:lnSpc>
                <a:spcPts val="550"/>
              </a:lnSpc>
              <a:spcBef>
                <a:spcPts val="105"/>
              </a:spcBef>
            </a:pPr>
            <a:r>
              <a:rPr sz="500" spc="-25" dirty="0">
                <a:solidFill>
                  <a:srgbClr val="888888"/>
                </a:solidFill>
                <a:latin typeface="Calibri"/>
                <a:cs typeface="Calibri"/>
              </a:rPr>
              <a:t>15</a:t>
            </a:r>
            <a:endParaRPr sz="500">
              <a:latin typeface="Calibri"/>
              <a:cs typeface="Calibri"/>
            </a:endParaRPr>
          </a:p>
          <a:p>
            <a:pPr marL="2204085">
              <a:lnSpc>
                <a:spcPts val="550"/>
              </a:lnSpc>
            </a:pPr>
            <a:r>
              <a:rPr sz="500" spc="-50" dirty="0">
                <a:solidFill>
                  <a:srgbClr val="888888"/>
                </a:solidFill>
                <a:latin typeface="Calibri"/>
                <a:cs typeface="Calibri"/>
              </a:rPr>
              <a:t>1</a:t>
            </a:r>
            <a:endParaRPr sz="5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64465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Calibri"/>
                <a:cs typeface="Calibri"/>
              </a:rPr>
              <a:t>DevOps–</a:t>
            </a:r>
            <a:r>
              <a:rPr sz="2000" spc="30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Delivery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pipeline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61670" y="690752"/>
            <a:ext cx="4236085" cy="33655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25" dirty="0">
                <a:solidFill>
                  <a:srgbClr val="006FBE"/>
                </a:solidFill>
                <a:latin typeface="Calibri"/>
                <a:cs typeface="Calibri"/>
              </a:rPr>
              <a:t>Test</a:t>
            </a:r>
            <a:r>
              <a:rPr sz="1000" spc="5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data</a:t>
            </a:r>
            <a:r>
              <a:rPr sz="1000" spc="-4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management</a:t>
            </a: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 (TDM)</a:t>
            </a:r>
            <a:r>
              <a:rPr sz="1000" spc="-10" dirty="0">
                <a:latin typeface="Calibri"/>
                <a:cs typeface="Calibri"/>
              </a:rPr>
              <a:t>:</a:t>
            </a:r>
            <a:endParaRPr sz="1000">
              <a:latin typeface="Calibri"/>
              <a:cs typeface="Calibri"/>
            </a:endParaRPr>
          </a:p>
          <a:p>
            <a:pPr marL="198120">
              <a:lnSpc>
                <a:spcPct val="100000"/>
              </a:lnSpc>
              <a:spcBef>
                <a:spcPts val="20"/>
              </a:spcBef>
              <a:tabLst>
                <a:tab pos="1126490" algn="l"/>
                <a:tab pos="3417570" algn="l"/>
              </a:tabLst>
            </a:pPr>
            <a:r>
              <a:rPr sz="1000" spc="-10" dirty="0">
                <a:latin typeface="Calibri"/>
                <a:cs typeface="Calibri"/>
              </a:rPr>
              <a:t>Administration</a:t>
            </a:r>
            <a:r>
              <a:rPr sz="1000" dirty="0">
                <a:latin typeface="Calibri"/>
                <a:cs typeface="Calibri"/>
              </a:rPr>
              <a:t>	of</a:t>
            </a:r>
            <a:r>
              <a:rPr sz="1000" spc="23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17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data</a:t>
            </a:r>
            <a:r>
              <a:rPr sz="1000" spc="21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necessary</a:t>
            </a:r>
            <a:r>
              <a:rPr sz="1000" spc="220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for</a:t>
            </a:r>
            <a:r>
              <a:rPr sz="1000" spc="180" dirty="0">
                <a:latin typeface="Calibri"/>
                <a:cs typeface="Calibri"/>
              </a:rPr>
              <a:t>  </a:t>
            </a:r>
            <a:r>
              <a:rPr sz="1000" spc="-10" dirty="0">
                <a:latin typeface="Calibri"/>
                <a:cs typeface="Calibri"/>
              </a:rPr>
              <a:t>fulfilling</a:t>
            </a:r>
            <a:r>
              <a:rPr sz="1000" dirty="0">
                <a:latin typeface="Calibri"/>
                <a:cs typeface="Calibri"/>
              </a:rPr>
              <a:t>	the</a:t>
            </a:r>
            <a:r>
              <a:rPr sz="1000" spc="185" dirty="0">
                <a:latin typeface="Calibri"/>
                <a:cs typeface="Calibri"/>
              </a:rPr>
              <a:t>  </a:t>
            </a:r>
            <a:r>
              <a:rPr sz="1000" dirty="0">
                <a:latin typeface="Calibri"/>
                <a:cs typeface="Calibri"/>
              </a:rPr>
              <a:t>needs</a:t>
            </a:r>
            <a:r>
              <a:rPr sz="1000" spc="165" dirty="0">
                <a:latin typeface="Calibri"/>
                <a:cs typeface="Calibri"/>
              </a:rPr>
              <a:t>  </a:t>
            </a:r>
            <a:r>
              <a:rPr sz="1000" spc="-25" dirty="0">
                <a:latin typeface="Calibri"/>
                <a:cs typeface="Calibri"/>
              </a:rPr>
              <a:t>of</a:t>
            </a:r>
            <a:endParaRPr sz="10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4370" y="1193926"/>
            <a:ext cx="228600" cy="12954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27786" y="1001394"/>
            <a:ext cx="2065020" cy="49022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latin typeface="Calibri"/>
                <a:cs typeface="Calibri"/>
              </a:rPr>
              <a:t>automated</a:t>
            </a:r>
            <a:r>
              <a:rPr sz="1000" spc="-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test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processes.</a:t>
            </a:r>
            <a:endParaRPr sz="1000">
              <a:latin typeface="Calibri"/>
              <a:cs typeface="Calibri"/>
            </a:endParaRPr>
          </a:p>
          <a:p>
            <a:pPr marL="12700" marR="5080" indent="19685">
              <a:lnSpc>
                <a:spcPct val="101000"/>
              </a:lnSpc>
              <a:spcBef>
                <a:spcPts val="10"/>
              </a:spcBef>
            </a:pPr>
            <a:r>
              <a:rPr sz="1000" dirty="0">
                <a:latin typeface="Calibri"/>
                <a:cs typeface="Calibri"/>
              </a:rPr>
              <a:t>TDM</a:t>
            </a:r>
            <a:r>
              <a:rPr sz="1000" spc="6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should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also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ensure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229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quality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of</a:t>
            </a:r>
            <a:r>
              <a:rPr sz="1000" spc="-10" dirty="0">
                <a:latin typeface="Calibri"/>
                <a:cs typeface="Calibri"/>
              </a:rPr>
              <a:t> at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correct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time.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548508" y="1156842"/>
            <a:ext cx="1726564" cy="1809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latin typeface="Calibri"/>
                <a:cs typeface="Calibri"/>
              </a:rPr>
              <a:t>the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data,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as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well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as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its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availability</a:t>
            </a:r>
            <a:endParaRPr sz="1000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174370" y="1489582"/>
            <a:ext cx="256540" cy="302260"/>
            <a:chOff x="174370" y="1489582"/>
            <a:chExt cx="256540" cy="302260"/>
          </a:xfrm>
        </p:grpSpPr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4370" y="1489582"/>
              <a:ext cx="256031" cy="147827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4370" y="1643506"/>
              <a:ext cx="256031" cy="147828"/>
            </a:xfrm>
            <a:prstGeom prst="rect">
              <a:avLst/>
            </a:prstGeom>
          </p:spPr>
        </p:pic>
      </p:grpSp>
      <p:grpSp>
        <p:nvGrpSpPr>
          <p:cNvPr id="11" name="object 11"/>
          <p:cNvGrpSpPr/>
          <p:nvPr/>
        </p:nvGrpSpPr>
        <p:grpSpPr>
          <a:xfrm>
            <a:off x="174370" y="1952878"/>
            <a:ext cx="256540" cy="299085"/>
            <a:chOff x="174370" y="1952878"/>
            <a:chExt cx="256540" cy="299085"/>
          </a:xfrm>
        </p:grpSpPr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4370" y="1952878"/>
              <a:ext cx="256031" cy="147827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4370" y="2122296"/>
              <a:ext cx="228600" cy="129539"/>
            </a:xfrm>
            <a:prstGeom prst="rect">
              <a:avLst/>
            </a:prstGeom>
          </p:spPr>
        </p:pic>
      </p:grpSp>
      <p:sp>
        <p:nvSpPr>
          <p:cNvPr id="14" name="object 14"/>
          <p:cNvSpPr txBox="1"/>
          <p:nvPr/>
        </p:nvSpPr>
        <p:spPr>
          <a:xfrm>
            <a:off x="161670" y="1466214"/>
            <a:ext cx="4258310" cy="11093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40335" marR="214629" indent="57785" algn="just">
              <a:lnSpc>
                <a:spcPct val="101000"/>
              </a:lnSpc>
              <a:spcBef>
                <a:spcPts val="105"/>
              </a:spcBef>
            </a:pPr>
            <a:r>
              <a:rPr sz="1000" spc="-90" dirty="0">
                <a:latin typeface="Calibri"/>
                <a:cs typeface="Calibri"/>
              </a:rPr>
              <a:t>To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enable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continuous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testing,</a:t>
            </a:r>
            <a:r>
              <a:rPr sz="1000" spc="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managing</a:t>
            </a:r>
            <a:r>
              <a:rPr sz="1000" spc="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test</a:t>
            </a:r>
            <a:r>
              <a:rPr sz="1000" spc="8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data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is</a:t>
            </a:r>
            <a:r>
              <a:rPr sz="1000" spc="9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essential</a:t>
            </a:r>
            <a:r>
              <a:rPr sz="1000" spc="6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function. </a:t>
            </a:r>
            <a:r>
              <a:rPr sz="1000" dirty="0">
                <a:latin typeface="Calibri"/>
                <a:cs typeface="Calibri"/>
              </a:rPr>
              <a:t>Ex: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IBM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InfoSphere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Optim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,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Informatica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Test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Data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Management</a:t>
            </a:r>
            <a:endParaRPr sz="1000">
              <a:latin typeface="Calibri"/>
              <a:cs typeface="Calibri"/>
            </a:endParaRPr>
          </a:p>
          <a:p>
            <a:pPr marL="198120" marR="840105" indent="-186055" algn="just">
              <a:lnSpc>
                <a:spcPct val="101000"/>
              </a:lnSpc>
              <a:spcBef>
                <a:spcPts val="15"/>
              </a:spcBef>
            </a:pP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Integration, </a:t>
            </a: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functional,</a:t>
            </a:r>
            <a:r>
              <a:rPr sz="1000" spc="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performance,</a:t>
            </a:r>
            <a:r>
              <a:rPr sz="1000" spc="6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and</a:t>
            </a:r>
            <a:r>
              <a:rPr sz="1000" spc="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security</a:t>
            </a:r>
            <a:r>
              <a:rPr sz="1000" spc="3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testing</a:t>
            </a:r>
            <a:r>
              <a:rPr sz="1000" spc="6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tools: </a:t>
            </a:r>
            <a:r>
              <a:rPr sz="1000" spc="-10" dirty="0">
                <a:latin typeface="Calibri"/>
                <a:cs typeface="Calibri"/>
              </a:rPr>
              <a:t>Automated</a:t>
            </a:r>
            <a:r>
              <a:rPr sz="1000" spc="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tools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are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available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for </a:t>
            </a:r>
            <a:r>
              <a:rPr sz="1000" dirty="0">
                <a:latin typeface="Calibri"/>
                <a:cs typeface="Calibri"/>
              </a:rPr>
              <a:t>each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these</a:t>
            </a:r>
            <a:r>
              <a:rPr sz="1000" spc="6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types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13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tests.</a:t>
            </a:r>
            <a:endParaRPr sz="1000">
              <a:latin typeface="Calibri"/>
              <a:cs typeface="Calibri"/>
            </a:endParaRPr>
          </a:p>
          <a:p>
            <a:pPr marL="178435" marR="5080" indent="19685" algn="just">
              <a:lnSpc>
                <a:spcPct val="101499"/>
              </a:lnSpc>
              <a:spcBef>
                <a:spcPts val="5"/>
              </a:spcBef>
            </a:pPr>
            <a:r>
              <a:rPr sz="1000" dirty="0">
                <a:latin typeface="Calibri"/>
                <a:cs typeface="Calibri"/>
              </a:rPr>
              <a:t>Tools</a:t>
            </a:r>
            <a:r>
              <a:rPr sz="1000" spc="1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should</a:t>
            </a:r>
            <a:r>
              <a:rPr sz="1000" spc="1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be</a:t>
            </a:r>
            <a:r>
              <a:rPr sz="1000" spc="1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integrated</a:t>
            </a:r>
            <a:r>
              <a:rPr sz="1000" spc="1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with</a:t>
            </a:r>
            <a:r>
              <a:rPr sz="1000" spc="1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1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common</a:t>
            </a:r>
            <a:r>
              <a:rPr sz="1000" spc="16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test</a:t>
            </a:r>
            <a:r>
              <a:rPr sz="1000" spc="1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asset</a:t>
            </a:r>
            <a:r>
              <a:rPr sz="1000" spc="1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management</a:t>
            </a:r>
            <a:r>
              <a:rPr sz="1000" spc="1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tool</a:t>
            </a:r>
            <a:r>
              <a:rPr sz="1000" spc="14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or</a:t>
            </a:r>
            <a:r>
              <a:rPr sz="1000" dirty="0">
                <a:latin typeface="Calibri"/>
                <a:cs typeface="Calibri"/>
              </a:rPr>
              <a:t> repository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where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all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test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scenarios,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test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scripts,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associated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results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can</a:t>
            </a:r>
            <a:r>
              <a:rPr sz="1000" spc="28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be</a:t>
            </a:r>
            <a:r>
              <a:rPr sz="1000" dirty="0">
                <a:latin typeface="Calibri"/>
                <a:cs typeface="Calibri"/>
              </a:rPr>
              <a:t> stored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traceability</a:t>
            </a:r>
            <a:r>
              <a:rPr sz="1000" spc="-7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established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back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code,</a:t>
            </a:r>
            <a:r>
              <a:rPr sz="1000" spc="7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requirements,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229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defects.</a:t>
            </a:r>
            <a:endParaRPr sz="1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476115" y="3139541"/>
            <a:ext cx="90170" cy="166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550"/>
              </a:lnSpc>
              <a:spcBef>
                <a:spcPts val="105"/>
              </a:spcBef>
            </a:pPr>
            <a:r>
              <a:rPr sz="500" spc="-25" dirty="0">
                <a:solidFill>
                  <a:srgbClr val="888888"/>
                </a:solidFill>
                <a:latin typeface="Calibri"/>
                <a:cs typeface="Calibri"/>
              </a:rPr>
              <a:t>15</a:t>
            </a:r>
            <a:endParaRPr sz="500">
              <a:latin typeface="Calibri"/>
              <a:cs typeface="Calibri"/>
            </a:endParaRPr>
          </a:p>
          <a:p>
            <a:pPr marL="12700">
              <a:lnSpc>
                <a:spcPts val="550"/>
              </a:lnSpc>
            </a:pPr>
            <a:r>
              <a:rPr sz="500" spc="-50" dirty="0">
                <a:solidFill>
                  <a:srgbClr val="888888"/>
                </a:solidFill>
                <a:latin typeface="Calibri"/>
                <a:cs typeface="Calibri"/>
              </a:rPr>
              <a:t>2</a:t>
            </a:r>
            <a:endParaRPr sz="5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79172" rIns="0" bIns="0" rtlCol="0">
            <a:spAutoFit/>
          </a:bodyPr>
          <a:lstStyle/>
          <a:p>
            <a:pPr marL="76835">
              <a:lnSpc>
                <a:spcPct val="100000"/>
              </a:lnSpc>
              <a:spcBef>
                <a:spcPts val="105"/>
              </a:spcBef>
            </a:pPr>
            <a:r>
              <a:rPr sz="2000" dirty="0"/>
              <a:t>DevOps–</a:t>
            </a:r>
            <a:r>
              <a:rPr sz="2000" spc="25" dirty="0"/>
              <a:t> </a:t>
            </a:r>
            <a:r>
              <a:rPr sz="2000" spc="-10" dirty="0"/>
              <a:t>Delivery</a:t>
            </a:r>
            <a:r>
              <a:rPr sz="2000" spc="-75" dirty="0"/>
              <a:t> </a:t>
            </a:r>
            <a:r>
              <a:rPr sz="2000" spc="-10" dirty="0"/>
              <a:t>pipeline</a:t>
            </a:r>
            <a:endParaRPr sz="2000"/>
          </a:p>
        </p:txBody>
      </p:sp>
      <p:sp>
        <p:nvSpPr>
          <p:cNvPr id="5" name="object 5"/>
          <p:cNvSpPr txBox="1"/>
          <p:nvPr/>
        </p:nvSpPr>
        <p:spPr>
          <a:xfrm>
            <a:off x="161670" y="701420"/>
            <a:ext cx="4259580" cy="25025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006FBE"/>
                </a:solidFill>
                <a:latin typeface="Calibri"/>
                <a:cs typeface="Calibri"/>
              </a:rPr>
              <a:t>Service</a:t>
            </a:r>
            <a:r>
              <a:rPr sz="1200" spc="-2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06FBE"/>
                </a:solidFill>
                <a:latin typeface="Calibri"/>
                <a:cs typeface="Calibri"/>
              </a:rPr>
              <a:t>virtualization:</a:t>
            </a:r>
            <a:endParaRPr sz="1200">
              <a:latin typeface="Calibri"/>
              <a:cs typeface="Calibri"/>
            </a:endParaRPr>
          </a:p>
          <a:p>
            <a:pPr marL="184150" indent="-171450" algn="just">
              <a:lnSpc>
                <a:spcPct val="100000"/>
              </a:lnSpc>
              <a:buClr>
                <a:srgbClr val="006FBE"/>
              </a:buClr>
              <a:buFont typeface="Arial MT"/>
              <a:buChar char="•"/>
              <a:tabLst>
                <a:tab pos="184150" algn="l"/>
              </a:tabLst>
            </a:pPr>
            <a:r>
              <a:rPr sz="1200" dirty="0">
                <a:latin typeface="Calibri"/>
                <a:cs typeface="Calibri"/>
              </a:rPr>
              <a:t>Modern</a:t>
            </a:r>
            <a:r>
              <a:rPr sz="1200" spc="-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applications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spc="-30" dirty="0">
                <a:latin typeface="Calibri"/>
                <a:cs typeface="Calibri"/>
              </a:rPr>
              <a:t>aren’t</a:t>
            </a:r>
            <a:r>
              <a:rPr sz="1200" spc="-10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simple, monolithic</a:t>
            </a:r>
            <a:r>
              <a:rPr sz="1200" spc="1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applications.</a:t>
            </a:r>
            <a:endParaRPr sz="1200">
              <a:latin typeface="Calibri"/>
              <a:cs typeface="Calibri"/>
            </a:endParaRPr>
          </a:p>
          <a:p>
            <a:pPr marL="182880" marR="5715" indent="-170815" algn="just">
              <a:lnSpc>
                <a:spcPct val="100000"/>
              </a:lnSpc>
              <a:buSzPct val="83333"/>
              <a:buFont typeface="Arial MT"/>
              <a:buChar char="•"/>
              <a:tabLst>
                <a:tab pos="182880" algn="l"/>
                <a:tab pos="208279" algn="l"/>
              </a:tabLst>
            </a:pPr>
            <a:r>
              <a:rPr sz="1200" dirty="0">
                <a:latin typeface="Calibri"/>
                <a:cs typeface="Calibri"/>
              </a:rPr>
              <a:t>	They’re</a:t>
            </a:r>
            <a:r>
              <a:rPr sz="1200" spc="160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complex</a:t>
            </a:r>
            <a:r>
              <a:rPr sz="1200" spc="175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systems</a:t>
            </a:r>
            <a:r>
              <a:rPr sz="1200" spc="170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that</a:t>
            </a:r>
            <a:r>
              <a:rPr sz="1200" spc="315" dirty="0">
                <a:latin typeface="Calibri"/>
                <a:cs typeface="Calibri"/>
              </a:rPr>
              <a:t>   </a:t>
            </a:r>
            <a:r>
              <a:rPr sz="1200" dirty="0">
                <a:latin typeface="Calibri"/>
                <a:cs typeface="Calibri"/>
              </a:rPr>
              <a:t>are</a:t>
            </a:r>
            <a:r>
              <a:rPr sz="1200" spc="165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dependent</a:t>
            </a:r>
            <a:r>
              <a:rPr sz="1200" spc="175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on</a:t>
            </a:r>
            <a:r>
              <a:rPr sz="1200" spc="170" dirty="0">
                <a:latin typeface="Calibri"/>
                <a:cs typeface="Calibri"/>
              </a:rPr>
              <a:t>  </a:t>
            </a:r>
            <a:r>
              <a:rPr sz="1200" spc="-10" dirty="0">
                <a:latin typeface="Calibri"/>
                <a:cs typeface="Calibri"/>
              </a:rPr>
              <a:t>other </a:t>
            </a:r>
            <a:r>
              <a:rPr sz="1200" dirty="0">
                <a:latin typeface="Calibri"/>
                <a:cs typeface="Calibri"/>
              </a:rPr>
              <a:t>applications,</a:t>
            </a:r>
            <a:r>
              <a:rPr sz="1200" spc="3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application</a:t>
            </a:r>
            <a:r>
              <a:rPr sz="1200" spc="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servers,</a:t>
            </a:r>
            <a:r>
              <a:rPr sz="1200" spc="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databases,</a:t>
            </a:r>
            <a:r>
              <a:rPr sz="1200" spc="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even</a:t>
            </a:r>
            <a:r>
              <a:rPr sz="1200" spc="20" dirty="0">
                <a:latin typeface="Calibri"/>
                <a:cs typeface="Calibri"/>
              </a:rPr>
              <a:t> </a:t>
            </a:r>
            <a:r>
              <a:rPr sz="1200" spc="-35" dirty="0">
                <a:latin typeface="Calibri"/>
                <a:cs typeface="Calibri"/>
              </a:rPr>
              <a:t>third-</a:t>
            </a:r>
            <a:r>
              <a:rPr sz="1200" spc="-10" dirty="0">
                <a:latin typeface="Calibri"/>
                <a:cs typeface="Calibri"/>
              </a:rPr>
              <a:t>party applications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and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data</a:t>
            </a:r>
            <a:r>
              <a:rPr sz="1200" spc="19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sources.</a:t>
            </a:r>
            <a:endParaRPr sz="1200">
              <a:latin typeface="Calibri"/>
              <a:cs typeface="Calibri"/>
            </a:endParaRPr>
          </a:p>
          <a:p>
            <a:pPr marL="182880" marR="6350" indent="-170815" algn="just">
              <a:lnSpc>
                <a:spcPct val="100000"/>
              </a:lnSpc>
              <a:buFont typeface="Arial MT"/>
              <a:buChar char="•"/>
              <a:tabLst>
                <a:tab pos="182880" algn="l"/>
              </a:tabLst>
            </a:pPr>
            <a:r>
              <a:rPr sz="1200" spc="-30" dirty="0">
                <a:latin typeface="Calibri"/>
                <a:cs typeface="Calibri"/>
              </a:rPr>
              <a:t>Unfortunately,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at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test</a:t>
            </a:r>
            <a:r>
              <a:rPr sz="1200" spc="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time, these</a:t>
            </a:r>
            <a:r>
              <a:rPr sz="1200" spc="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components</a:t>
            </a:r>
            <a:r>
              <a:rPr sz="1200" spc="1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may</a:t>
            </a:r>
            <a:r>
              <a:rPr sz="1200" spc="-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be </a:t>
            </a:r>
            <a:r>
              <a:rPr sz="1200" spc="-10" dirty="0">
                <a:latin typeface="Calibri"/>
                <a:cs typeface="Calibri"/>
              </a:rPr>
              <a:t>unavailable </a:t>
            </a:r>
            <a:r>
              <a:rPr sz="1200" dirty="0">
                <a:latin typeface="Calibri"/>
                <a:cs typeface="Calibri"/>
              </a:rPr>
              <a:t>or</a:t>
            </a:r>
            <a:r>
              <a:rPr sz="1200" spc="114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costly.</a:t>
            </a:r>
            <a:endParaRPr sz="1200">
              <a:latin typeface="Calibri"/>
              <a:cs typeface="Calibri"/>
            </a:endParaRPr>
          </a:p>
          <a:p>
            <a:pPr marL="182880" marR="5080" indent="-170815" algn="just">
              <a:lnSpc>
                <a:spcPct val="100000"/>
              </a:lnSpc>
              <a:buFont typeface="Arial MT"/>
              <a:buChar char="•"/>
              <a:tabLst>
                <a:tab pos="182880" algn="l"/>
              </a:tabLst>
            </a:pPr>
            <a:r>
              <a:rPr sz="1200" dirty="0">
                <a:latin typeface="Calibri"/>
                <a:cs typeface="Calibri"/>
              </a:rPr>
              <a:t>Service</a:t>
            </a:r>
            <a:r>
              <a:rPr sz="1200" spc="250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virtualization</a:t>
            </a:r>
            <a:r>
              <a:rPr sz="1200" spc="245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solutions</a:t>
            </a:r>
            <a:r>
              <a:rPr sz="1200" spc="254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simulate</a:t>
            </a:r>
            <a:r>
              <a:rPr sz="1200" spc="254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260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behavior</a:t>
            </a:r>
            <a:r>
              <a:rPr sz="1200" spc="245" dirty="0">
                <a:latin typeface="Calibri"/>
                <a:cs typeface="Calibri"/>
              </a:rPr>
              <a:t>  </a:t>
            </a:r>
            <a:r>
              <a:rPr sz="1200" spc="-50" dirty="0">
                <a:latin typeface="Calibri"/>
                <a:cs typeface="Calibri"/>
              </a:rPr>
              <a:t>— </a:t>
            </a:r>
            <a:r>
              <a:rPr sz="1200" dirty="0">
                <a:latin typeface="Calibri"/>
                <a:cs typeface="Calibri"/>
              </a:rPr>
              <a:t>functionality</a:t>
            </a:r>
            <a:r>
              <a:rPr sz="1200" spc="11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120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performance</a:t>
            </a:r>
            <a:r>
              <a:rPr sz="1200" spc="1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1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select</a:t>
            </a:r>
            <a:r>
              <a:rPr sz="1200" spc="1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components</a:t>
            </a:r>
            <a:r>
              <a:rPr sz="1200" spc="1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within</a:t>
            </a:r>
            <a:r>
              <a:rPr sz="1200" spc="135" dirty="0">
                <a:latin typeface="Calibri"/>
                <a:cs typeface="Calibri"/>
              </a:rPr>
              <a:t> </a:t>
            </a:r>
            <a:r>
              <a:rPr sz="1200" spc="-25" dirty="0">
                <a:latin typeface="Calibri"/>
                <a:cs typeface="Calibri"/>
              </a:rPr>
              <a:t>an </a:t>
            </a:r>
            <a:r>
              <a:rPr sz="1200" dirty="0">
                <a:latin typeface="Calibri"/>
                <a:cs typeface="Calibri"/>
              </a:rPr>
              <a:t>application</a:t>
            </a:r>
            <a:r>
              <a:rPr sz="1200" spc="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</a:t>
            </a:r>
            <a:r>
              <a:rPr sz="1200" spc="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enable</a:t>
            </a:r>
            <a:r>
              <a:rPr sz="1200" spc="5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end-</a:t>
            </a:r>
            <a:r>
              <a:rPr sz="1200" spc="140" dirty="0">
                <a:latin typeface="Calibri"/>
                <a:cs typeface="Calibri"/>
              </a:rPr>
              <a:t>  </a:t>
            </a:r>
            <a:r>
              <a:rPr sz="1200" spc="-10" dirty="0">
                <a:latin typeface="Calibri"/>
                <a:cs typeface="Calibri"/>
              </a:rPr>
              <a:t>to-</a:t>
            </a:r>
            <a:r>
              <a:rPr sz="1200" dirty="0">
                <a:latin typeface="Calibri"/>
                <a:cs typeface="Calibri"/>
              </a:rPr>
              <a:t>end</a:t>
            </a:r>
            <a:r>
              <a:rPr sz="1200" spc="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testing</a:t>
            </a:r>
            <a:r>
              <a:rPr sz="1200" spc="6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2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application</a:t>
            </a:r>
            <a:r>
              <a:rPr sz="1200" spc="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as</a:t>
            </a:r>
            <a:r>
              <a:rPr sz="1200" spc="25" dirty="0">
                <a:latin typeface="Calibri"/>
                <a:cs typeface="Calibri"/>
              </a:rPr>
              <a:t> </a:t>
            </a:r>
            <a:r>
              <a:rPr sz="1200" spc="-50" dirty="0">
                <a:latin typeface="Calibri"/>
                <a:cs typeface="Calibri"/>
              </a:rPr>
              <a:t>a </a:t>
            </a:r>
            <a:r>
              <a:rPr sz="1200" spc="-10" dirty="0">
                <a:latin typeface="Calibri"/>
                <a:cs typeface="Calibri"/>
              </a:rPr>
              <a:t>whole.</a:t>
            </a:r>
            <a:endParaRPr sz="1200">
              <a:latin typeface="Calibri"/>
              <a:cs typeface="Calibri"/>
            </a:endParaRPr>
          </a:p>
          <a:p>
            <a:pPr marL="182880" marR="12700" indent="-170815" algn="just">
              <a:lnSpc>
                <a:spcPts val="1200"/>
              </a:lnSpc>
              <a:spcBef>
                <a:spcPts val="60"/>
              </a:spcBef>
              <a:buFont typeface="Arial MT"/>
              <a:buChar char="•"/>
              <a:tabLst>
                <a:tab pos="182880" algn="l"/>
              </a:tabLst>
            </a:pPr>
            <a:r>
              <a:rPr sz="1200" spc="-30" dirty="0">
                <a:latin typeface="Calibri"/>
                <a:cs typeface="Calibri"/>
              </a:rPr>
              <a:t>Create </a:t>
            </a:r>
            <a:r>
              <a:rPr sz="1200" dirty="0">
                <a:latin typeface="Calibri"/>
                <a:cs typeface="Calibri"/>
              </a:rPr>
              <a:t>stubs</a:t>
            </a:r>
            <a:r>
              <a:rPr sz="1200" spc="-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(virtual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components)</a:t>
            </a:r>
            <a:r>
              <a:rPr sz="1200" spc="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applications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services </a:t>
            </a:r>
            <a:r>
              <a:rPr sz="1200" dirty="0">
                <a:latin typeface="Calibri"/>
                <a:cs typeface="Calibri"/>
              </a:rPr>
              <a:t>that</a:t>
            </a:r>
            <a:r>
              <a:rPr sz="1200" spc="200" dirty="0">
                <a:latin typeface="Calibri"/>
                <a:cs typeface="Calibri"/>
              </a:rPr>
              <a:t> </a:t>
            </a:r>
            <a:r>
              <a:rPr sz="1200" spc="-30" dirty="0">
                <a:latin typeface="Calibri"/>
                <a:cs typeface="Calibri"/>
              </a:rPr>
              <a:t>are</a:t>
            </a:r>
            <a:r>
              <a:rPr sz="1200" spc="-75" dirty="0">
                <a:latin typeface="Calibri"/>
                <a:cs typeface="Calibri"/>
              </a:rPr>
              <a:t> </a:t>
            </a:r>
            <a:r>
              <a:rPr sz="1200" spc="-25" dirty="0">
                <a:latin typeface="Calibri"/>
                <a:cs typeface="Calibri"/>
              </a:rPr>
              <a:t>required</a:t>
            </a:r>
            <a:r>
              <a:rPr sz="1200" spc="-70" dirty="0">
                <a:latin typeface="Calibri"/>
                <a:cs typeface="Calibri"/>
              </a:rPr>
              <a:t> </a:t>
            </a:r>
            <a:r>
              <a:rPr sz="1200" spc="-35" dirty="0">
                <a:latin typeface="Calibri"/>
                <a:cs typeface="Calibri"/>
              </a:rPr>
              <a:t>for</a:t>
            </a:r>
            <a:r>
              <a:rPr sz="1200" spc="-6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tests</a:t>
            </a:r>
            <a:r>
              <a:rPr sz="1200" spc="-1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</a:t>
            </a:r>
            <a:r>
              <a:rPr sz="1200" spc="45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run.</a:t>
            </a:r>
            <a:endParaRPr sz="1200">
              <a:latin typeface="Calibri"/>
              <a:cs typeface="Calibri"/>
            </a:endParaRPr>
          </a:p>
          <a:p>
            <a:pPr marL="184150" indent="-171450" algn="just">
              <a:lnSpc>
                <a:spcPts val="1200"/>
              </a:lnSpc>
              <a:buFont typeface="Arial MT"/>
              <a:buChar char="•"/>
              <a:tabLst>
                <a:tab pos="184150" algn="l"/>
              </a:tabLst>
            </a:pPr>
            <a:r>
              <a:rPr sz="1200" spc="-10" dirty="0">
                <a:latin typeface="Calibri"/>
                <a:cs typeface="Calibri"/>
              </a:rPr>
              <a:t>Ex:</a:t>
            </a:r>
            <a:r>
              <a:rPr sz="1200" spc="-5" dirty="0">
                <a:latin typeface="Calibri"/>
                <a:cs typeface="Calibri"/>
              </a:rPr>
              <a:t> </a:t>
            </a:r>
            <a:r>
              <a:rPr sz="1200" spc="-35" dirty="0">
                <a:latin typeface="Calibri"/>
                <a:cs typeface="Calibri"/>
              </a:rPr>
              <a:t>IBM’s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Rational</a:t>
            </a:r>
            <a:r>
              <a:rPr sz="1200" dirty="0">
                <a:latin typeface="Calibri"/>
                <a:cs typeface="Calibri"/>
              </a:rPr>
              <a:t> </a:t>
            </a:r>
            <a:r>
              <a:rPr sz="1200" spc="-45" dirty="0">
                <a:latin typeface="Calibri"/>
                <a:cs typeface="Calibri"/>
              </a:rPr>
              <a:t>Test</a:t>
            </a:r>
            <a:r>
              <a:rPr sz="1200" spc="10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Virtualization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spc="-55" dirty="0">
                <a:latin typeface="Calibri"/>
                <a:cs typeface="Calibri"/>
              </a:rPr>
              <a:t>Server,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Soap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UI,</a:t>
            </a:r>
            <a:r>
              <a:rPr sz="1200" spc="11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Microfocus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1915">
              <a:lnSpc>
                <a:spcPct val="100000"/>
              </a:lnSpc>
              <a:spcBef>
                <a:spcPts val="100"/>
              </a:spcBef>
            </a:pPr>
            <a:r>
              <a:rPr sz="2000" dirty="0"/>
              <a:t>DevOps–</a:t>
            </a:r>
            <a:r>
              <a:rPr sz="2000" spc="30" dirty="0"/>
              <a:t> </a:t>
            </a:r>
            <a:r>
              <a:rPr sz="2000" spc="-10" dirty="0"/>
              <a:t>Delivery</a:t>
            </a:r>
            <a:r>
              <a:rPr sz="2000" spc="-90" dirty="0"/>
              <a:t> </a:t>
            </a:r>
            <a:r>
              <a:rPr sz="2000" spc="-10" dirty="0"/>
              <a:t>pipeline</a:t>
            </a:r>
            <a:endParaRPr sz="2000"/>
          </a:p>
        </p:txBody>
      </p:sp>
      <p:sp>
        <p:nvSpPr>
          <p:cNvPr id="4" name="object 4"/>
          <p:cNvSpPr txBox="1"/>
          <p:nvPr/>
        </p:nvSpPr>
        <p:spPr>
          <a:xfrm>
            <a:off x="134238" y="746886"/>
            <a:ext cx="4311015" cy="2220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006FBE"/>
                </a:solidFill>
                <a:latin typeface="Calibri"/>
                <a:cs typeface="Calibri"/>
              </a:rPr>
              <a:t>Stage</a:t>
            </a:r>
            <a:r>
              <a:rPr sz="1200" spc="-4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6FBE"/>
                </a:solidFill>
                <a:latin typeface="Calibri"/>
                <a:cs typeface="Calibri"/>
              </a:rPr>
              <a:t>and</a:t>
            </a:r>
            <a:r>
              <a:rPr sz="1200" spc="-2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06FBE"/>
                </a:solidFill>
                <a:latin typeface="Calibri"/>
                <a:cs typeface="Calibri"/>
              </a:rPr>
              <a:t>production</a:t>
            </a:r>
            <a:r>
              <a:rPr sz="1200" spc="-5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06FBE"/>
                </a:solidFill>
                <a:latin typeface="Calibri"/>
                <a:cs typeface="Calibri"/>
              </a:rPr>
              <a:t>environments</a:t>
            </a:r>
            <a:endParaRPr sz="1200">
              <a:latin typeface="Calibri"/>
              <a:cs typeface="Calibri"/>
            </a:endParaRPr>
          </a:p>
          <a:p>
            <a:pPr marL="184150" indent="-171450">
              <a:lnSpc>
                <a:spcPct val="100000"/>
              </a:lnSpc>
              <a:buFont typeface="Arial MT"/>
              <a:buChar char="•"/>
              <a:tabLst>
                <a:tab pos="184150" algn="l"/>
                <a:tab pos="1067435" algn="l"/>
                <a:tab pos="1388745" algn="l"/>
                <a:tab pos="2094864" algn="l"/>
                <a:tab pos="2339975" algn="l"/>
                <a:tab pos="2679700" algn="l"/>
                <a:tab pos="3258820" algn="l"/>
                <a:tab pos="3620770" algn="l"/>
              </a:tabLst>
            </a:pPr>
            <a:r>
              <a:rPr sz="1200" spc="-10" dirty="0">
                <a:latin typeface="Calibri"/>
                <a:cs typeface="Calibri"/>
              </a:rPr>
              <a:t>Applications</a:t>
            </a:r>
            <a:r>
              <a:rPr sz="1200" dirty="0">
                <a:latin typeface="Calibri"/>
                <a:cs typeface="Calibri"/>
              </a:rPr>
              <a:t>	</a:t>
            </a:r>
            <a:r>
              <a:rPr sz="1200" spc="-25" dirty="0">
                <a:latin typeface="Calibri"/>
                <a:cs typeface="Calibri"/>
              </a:rPr>
              <a:t>are</a:t>
            </a:r>
            <a:r>
              <a:rPr sz="1200" dirty="0">
                <a:latin typeface="Calibri"/>
                <a:cs typeface="Calibri"/>
              </a:rPr>
              <a:t>	</a:t>
            </a:r>
            <a:r>
              <a:rPr sz="1200" spc="-10" dirty="0">
                <a:latin typeface="Calibri"/>
                <a:cs typeface="Calibri"/>
              </a:rPr>
              <a:t>deployed</a:t>
            </a:r>
            <a:r>
              <a:rPr sz="1200" dirty="0">
                <a:latin typeface="Calibri"/>
                <a:cs typeface="Calibri"/>
              </a:rPr>
              <a:t>	</a:t>
            </a:r>
            <a:r>
              <a:rPr sz="1200" spc="-25" dirty="0">
                <a:latin typeface="Calibri"/>
                <a:cs typeface="Calibri"/>
              </a:rPr>
              <a:t>in</a:t>
            </a:r>
            <a:r>
              <a:rPr sz="1200" dirty="0">
                <a:latin typeface="Calibri"/>
                <a:cs typeface="Calibri"/>
              </a:rPr>
              <a:t>	</a:t>
            </a:r>
            <a:r>
              <a:rPr sz="1200" spc="-25" dirty="0">
                <a:latin typeface="Calibri"/>
                <a:cs typeface="Calibri"/>
              </a:rPr>
              <a:t>the</a:t>
            </a:r>
            <a:r>
              <a:rPr sz="1200" dirty="0">
                <a:latin typeface="Calibri"/>
                <a:cs typeface="Calibri"/>
              </a:rPr>
              <a:t>	</a:t>
            </a:r>
            <a:r>
              <a:rPr sz="1200" spc="-10" dirty="0">
                <a:latin typeface="Calibri"/>
                <a:cs typeface="Calibri"/>
              </a:rPr>
              <a:t>staging</a:t>
            </a:r>
            <a:r>
              <a:rPr sz="1200" dirty="0">
                <a:latin typeface="Calibri"/>
                <a:cs typeface="Calibri"/>
              </a:rPr>
              <a:t>	</a:t>
            </a:r>
            <a:r>
              <a:rPr sz="1200" spc="-25" dirty="0">
                <a:latin typeface="Calibri"/>
                <a:cs typeface="Calibri"/>
              </a:rPr>
              <a:t>and</a:t>
            </a:r>
            <a:r>
              <a:rPr sz="1200" dirty="0">
                <a:latin typeface="Calibri"/>
                <a:cs typeface="Calibri"/>
              </a:rPr>
              <a:t>	</a:t>
            </a:r>
            <a:r>
              <a:rPr sz="1200" spc="-10" dirty="0">
                <a:latin typeface="Calibri"/>
                <a:cs typeface="Calibri"/>
              </a:rPr>
              <a:t>production</a:t>
            </a:r>
            <a:endParaRPr sz="1200">
              <a:latin typeface="Calibri"/>
              <a:cs typeface="Calibri"/>
            </a:endParaRPr>
          </a:p>
          <a:p>
            <a:pPr marL="182880">
              <a:lnSpc>
                <a:spcPct val="100000"/>
              </a:lnSpc>
            </a:pPr>
            <a:r>
              <a:rPr sz="1200" spc="-10" dirty="0">
                <a:latin typeface="Calibri"/>
                <a:cs typeface="Calibri"/>
              </a:rPr>
              <a:t>environments.</a:t>
            </a:r>
            <a:endParaRPr sz="1200">
              <a:latin typeface="Calibri"/>
              <a:cs typeface="Calibri"/>
            </a:endParaRPr>
          </a:p>
          <a:p>
            <a:pPr marL="182880" marR="8255" indent="-170815" algn="just">
              <a:lnSpc>
                <a:spcPct val="100000"/>
              </a:lnSpc>
              <a:buFont typeface="Arial MT"/>
              <a:buChar char="•"/>
              <a:tabLst>
                <a:tab pos="182880" algn="l"/>
              </a:tabLst>
            </a:pPr>
            <a:r>
              <a:rPr sz="1200" dirty="0">
                <a:latin typeface="Calibri"/>
                <a:cs typeface="Calibri"/>
              </a:rPr>
              <a:t>Tools</a:t>
            </a:r>
            <a:r>
              <a:rPr sz="1200" spc="2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used</a:t>
            </a:r>
            <a:r>
              <a:rPr sz="1200" spc="2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in</a:t>
            </a:r>
            <a:r>
              <a:rPr sz="1200" spc="2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these</a:t>
            </a:r>
            <a:r>
              <a:rPr sz="1200" spc="2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stages</a:t>
            </a:r>
            <a:r>
              <a:rPr sz="1200" spc="254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include</a:t>
            </a:r>
            <a:r>
              <a:rPr sz="1200" spc="250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environment</a:t>
            </a:r>
            <a:r>
              <a:rPr sz="1200" spc="24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management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28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provisioning</a:t>
            </a:r>
            <a:r>
              <a:rPr sz="1200" spc="-5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tools.</a:t>
            </a:r>
            <a:endParaRPr sz="1200">
              <a:latin typeface="Calibri"/>
              <a:cs typeface="Calibri"/>
            </a:endParaRPr>
          </a:p>
          <a:p>
            <a:pPr marL="182880" marR="7620" indent="-170815" algn="just">
              <a:lnSpc>
                <a:spcPct val="100000"/>
              </a:lnSpc>
              <a:buFont typeface="Arial MT"/>
              <a:buChar char="•"/>
              <a:tabLst>
                <a:tab pos="182880" algn="l"/>
              </a:tabLst>
            </a:pPr>
            <a:r>
              <a:rPr sz="1200" dirty="0">
                <a:latin typeface="Calibri"/>
                <a:cs typeface="Calibri"/>
              </a:rPr>
              <a:t>Tools</a:t>
            </a:r>
            <a:r>
              <a:rPr sz="1200" spc="17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for</a:t>
            </a:r>
            <a:r>
              <a:rPr sz="1200" spc="15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infrastructure</a:t>
            </a:r>
            <a:r>
              <a:rPr sz="1200" spc="1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as</a:t>
            </a:r>
            <a:r>
              <a:rPr sz="1200" spc="17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code</a:t>
            </a:r>
            <a:r>
              <a:rPr sz="1200" spc="18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also</a:t>
            </a:r>
            <a:r>
              <a:rPr sz="1200" spc="18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play</a:t>
            </a:r>
            <a:r>
              <a:rPr sz="1200" spc="16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</a:t>
            </a:r>
            <a:r>
              <a:rPr sz="1200" spc="1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critical</a:t>
            </a:r>
            <a:r>
              <a:rPr sz="1200" spc="15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role</a:t>
            </a:r>
            <a:r>
              <a:rPr sz="1200" spc="1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in</a:t>
            </a:r>
            <a:r>
              <a:rPr sz="1200" spc="16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these </a:t>
            </a:r>
            <a:r>
              <a:rPr sz="1200" dirty="0">
                <a:latin typeface="Calibri"/>
                <a:cs typeface="Calibri"/>
              </a:rPr>
              <a:t>stages,</a:t>
            </a:r>
            <a:r>
              <a:rPr sz="1200" spc="4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due</a:t>
            </a:r>
            <a:r>
              <a:rPr sz="1200" spc="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</a:t>
            </a:r>
            <a:r>
              <a:rPr sz="1200" spc="5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large</a:t>
            </a:r>
            <a:r>
              <a:rPr sz="1200" spc="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scale</a:t>
            </a:r>
            <a:r>
              <a:rPr sz="1200" spc="8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at</a:t>
            </a:r>
            <a:r>
              <a:rPr sz="1200" spc="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which</a:t>
            </a:r>
            <a:r>
              <a:rPr sz="1200" spc="7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7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environment</a:t>
            </a:r>
            <a:r>
              <a:rPr sz="1200" spc="5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in</a:t>
            </a:r>
            <a:r>
              <a:rPr sz="1200" spc="7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these </a:t>
            </a:r>
            <a:r>
              <a:rPr sz="1200" dirty="0">
                <a:latin typeface="Calibri"/>
                <a:cs typeface="Calibri"/>
              </a:rPr>
              <a:t>stages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exist.</a:t>
            </a:r>
            <a:endParaRPr sz="1200">
              <a:latin typeface="Calibri"/>
              <a:cs typeface="Calibri"/>
            </a:endParaRPr>
          </a:p>
          <a:p>
            <a:pPr marL="182880" marR="5715" indent="-170815" algn="just">
              <a:lnSpc>
                <a:spcPct val="100000"/>
              </a:lnSpc>
              <a:buFont typeface="Arial MT"/>
              <a:buChar char="•"/>
              <a:tabLst>
                <a:tab pos="182880" algn="l"/>
              </a:tabLst>
            </a:pPr>
            <a:r>
              <a:rPr sz="1200" spc="-25" dirty="0">
                <a:latin typeface="Calibri"/>
                <a:cs typeface="Calibri"/>
              </a:rPr>
              <a:t>With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 </a:t>
            </a:r>
            <a:r>
              <a:rPr sz="1200" spc="-20" dirty="0">
                <a:latin typeface="Calibri"/>
                <a:cs typeface="Calibri"/>
              </a:rPr>
              <a:t>advent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5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virtualization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cloud</a:t>
            </a:r>
            <a:r>
              <a:rPr sz="1200" spc="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technologies,</a:t>
            </a:r>
            <a:r>
              <a:rPr sz="1200" spc="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stage </a:t>
            </a:r>
            <a:r>
              <a:rPr sz="1200" spc="-25" dirty="0">
                <a:latin typeface="Calibri"/>
                <a:cs typeface="Calibri"/>
              </a:rPr>
              <a:t>and </a:t>
            </a:r>
            <a:r>
              <a:rPr sz="1200" dirty="0">
                <a:latin typeface="Calibri"/>
                <a:cs typeface="Calibri"/>
              </a:rPr>
              <a:t>production</a:t>
            </a:r>
            <a:r>
              <a:rPr sz="1200" spc="1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environments</a:t>
            </a:r>
            <a:r>
              <a:rPr sz="1200" spc="1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can</a:t>
            </a:r>
            <a:r>
              <a:rPr sz="1200" spc="1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today</a:t>
            </a:r>
            <a:r>
              <a:rPr sz="1200" spc="1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be</a:t>
            </a:r>
            <a:r>
              <a:rPr sz="1200" spc="1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made</a:t>
            </a:r>
            <a:r>
              <a:rPr sz="1200" spc="1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up</a:t>
            </a:r>
            <a:r>
              <a:rPr sz="1200" spc="1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1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hundreds</a:t>
            </a:r>
            <a:r>
              <a:rPr sz="1200" spc="110" dirty="0">
                <a:latin typeface="Calibri"/>
                <a:cs typeface="Calibri"/>
              </a:rPr>
              <a:t> </a:t>
            </a:r>
            <a:r>
              <a:rPr sz="1200" spc="-25" dirty="0">
                <a:latin typeface="Calibri"/>
                <a:cs typeface="Calibri"/>
              </a:rPr>
              <a:t>or </a:t>
            </a:r>
            <a:r>
              <a:rPr sz="1200" dirty="0">
                <a:latin typeface="Calibri"/>
                <a:cs typeface="Calibri"/>
              </a:rPr>
              <a:t>even</a:t>
            </a:r>
            <a:r>
              <a:rPr sz="1200" spc="2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thousands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servers.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Monitoring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tools</a:t>
            </a:r>
            <a:r>
              <a:rPr sz="1200" spc="-5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allow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organizations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spc="-25" dirty="0">
                <a:latin typeface="Calibri"/>
                <a:cs typeface="Calibri"/>
              </a:rPr>
              <a:t>to </a:t>
            </a:r>
            <a:r>
              <a:rPr sz="1200" spc="-10" dirty="0">
                <a:latin typeface="Calibri"/>
                <a:cs typeface="Calibri"/>
              </a:rPr>
              <a:t>monitor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2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deployed</a:t>
            </a:r>
            <a:r>
              <a:rPr sz="1200" spc="-10" dirty="0">
                <a:latin typeface="Calibri"/>
                <a:cs typeface="Calibri"/>
              </a:rPr>
              <a:t> applications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in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production.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71120" marR="5080">
              <a:lnSpc>
                <a:spcPct val="100800"/>
              </a:lnSpc>
              <a:spcBef>
                <a:spcPts val="80"/>
              </a:spcBef>
            </a:pPr>
            <a:r>
              <a:rPr sz="1300" dirty="0"/>
              <a:t>DevOps–</a:t>
            </a:r>
            <a:r>
              <a:rPr sz="1300" spc="45" dirty="0"/>
              <a:t> </a:t>
            </a:r>
            <a:r>
              <a:rPr sz="1300" dirty="0"/>
              <a:t>Deployment</a:t>
            </a:r>
            <a:r>
              <a:rPr sz="1300" spc="75" dirty="0"/>
              <a:t> </a:t>
            </a:r>
            <a:r>
              <a:rPr sz="1300" dirty="0"/>
              <a:t>automation</a:t>
            </a:r>
            <a:r>
              <a:rPr sz="1300" spc="-10" dirty="0"/>
              <a:t> </a:t>
            </a:r>
            <a:r>
              <a:rPr sz="1300" dirty="0"/>
              <a:t>and</a:t>
            </a:r>
            <a:r>
              <a:rPr sz="1300" spc="-30" dirty="0"/>
              <a:t> </a:t>
            </a:r>
            <a:r>
              <a:rPr sz="1300" spc="-10" dirty="0"/>
              <a:t>release management</a:t>
            </a:r>
            <a:endParaRPr sz="13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4370" y="724534"/>
            <a:ext cx="252984" cy="14325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174370" y="1181734"/>
            <a:ext cx="419100" cy="441959"/>
            <a:chOff x="174370" y="1181734"/>
            <a:chExt cx="419100" cy="441959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4370" y="1181734"/>
              <a:ext cx="252984" cy="14325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0486" y="1328038"/>
              <a:ext cx="252984" cy="143256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0486" y="1480438"/>
              <a:ext cx="252984" cy="143256"/>
            </a:xfrm>
            <a:prstGeom prst="rect">
              <a:avLst/>
            </a:prstGeom>
          </p:spPr>
        </p:pic>
      </p:grp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0486" y="1765426"/>
            <a:ext cx="252984" cy="143256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340486" y="2183256"/>
            <a:ext cx="394970" cy="867410"/>
            <a:chOff x="340486" y="2183256"/>
            <a:chExt cx="394970" cy="867410"/>
          </a:xfrm>
        </p:grpSpPr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0486" y="2183256"/>
              <a:ext cx="304800" cy="173736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06602" y="2369184"/>
              <a:ext cx="228600" cy="129539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06602" y="2506344"/>
              <a:ext cx="228600" cy="129539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06602" y="2643504"/>
              <a:ext cx="228600" cy="129540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06602" y="2780664"/>
              <a:ext cx="228600" cy="12954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06602" y="2920898"/>
              <a:ext cx="228600" cy="129540"/>
            </a:xfrm>
            <a:prstGeom prst="rect">
              <a:avLst/>
            </a:prstGeom>
          </p:spPr>
        </p:pic>
      </p:grpSp>
      <p:sp>
        <p:nvSpPr>
          <p:cNvPr id="17" name="object 17"/>
          <p:cNvSpPr txBox="1"/>
          <p:nvPr/>
        </p:nvSpPr>
        <p:spPr>
          <a:xfrm>
            <a:off x="327786" y="702690"/>
            <a:ext cx="4082415" cy="2493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100965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Managing</a:t>
            </a:r>
            <a:r>
              <a:rPr sz="1000" spc="24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the</a:t>
            </a:r>
            <a:r>
              <a:rPr sz="1000" spc="13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automation</a:t>
            </a:r>
            <a:r>
              <a:rPr sz="1000" spc="23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of</a:t>
            </a:r>
            <a:r>
              <a:rPr sz="1000" spc="229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application</a:t>
            </a:r>
            <a:r>
              <a:rPr sz="1000" spc="-4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deployment </a:t>
            </a:r>
            <a:r>
              <a:rPr sz="1000" spc="-30" dirty="0">
                <a:solidFill>
                  <a:srgbClr val="006FBE"/>
                </a:solidFill>
                <a:latin typeface="Calibri"/>
                <a:cs typeface="Calibri"/>
              </a:rPr>
              <a:t>from</a:t>
            </a:r>
            <a:r>
              <a:rPr sz="1000" spc="-4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one</a:t>
            </a:r>
            <a:r>
              <a:rPr sz="1000" spc="1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stage</a:t>
            </a:r>
            <a:r>
              <a:rPr sz="1000" spc="40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to</a:t>
            </a:r>
            <a:r>
              <a:rPr sz="1000" spc="-1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spc="-25" dirty="0">
                <a:solidFill>
                  <a:srgbClr val="006FBE"/>
                </a:solidFill>
                <a:latin typeface="Calibri"/>
                <a:cs typeface="Calibri"/>
              </a:rPr>
              <a:t>the</a:t>
            </a: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 next</a:t>
            </a:r>
            <a:r>
              <a:rPr sz="1000" spc="-3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spc="-20" dirty="0">
                <a:solidFill>
                  <a:srgbClr val="006FBE"/>
                </a:solidFill>
                <a:latin typeface="Calibri"/>
                <a:cs typeface="Calibri"/>
              </a:rPr>
              <a:t>requires</a:t>
            </a:r>
            <a:r>
              <a:rPr sz="1000" spc="-3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specialized</a:t>
            </a:r>
            <a:r>
              <a:rPr sz="1000" spc="4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tools</a:t>
            </a:r>
            <a:endParaRPr sz="10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1000">
              <a:latin typeface="Calibri"/>
              <a:cs typeface="Calibri"/>
            </a:endParaRPr>
          </a:p>
          <a:p>
            <a:pPr marL="178435" marR="2622550" indent="-166370">
              <a:lnSpc>
                <a:spcPts val="1150"/>
              </a:lnSpc>
            </a:pPr>
            <a:r>
              <a:rPr sz="1000" dirty="0">
                <a:solidFill>
                  <a:srgbClr val="006FBE"/>
                </a:solidFill>
                <a:latin typeface="Calibri"/>
                <a:cs typeface="Calibri"/>
              </a:rPr>
              <a:t>Deployment</a:t>
            </a:r>
            <a:r>
              <a:rPr sz="1000" spc="-1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006FBE"/>
                </a:solidFill>
                <a:latin typeface="Calibri"/>
                <a:cs typeface="Calibri"/>
              </a:rPr>
              <a:t>automation </a:t>
            </a:r>
            <a:r>
              <a:rPr sz="1000" spc="-35" dirty="0">
                <a:latin typeface="Calibri"/>
                <a:cs typeface="Calibri"/>
              </a:rPr>
              <a:t>Core</a:t>
            </a:r>
            <a:r>
              <a:rPr sz="1000" spc="-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tools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in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DevOps</a:t>
            </a:r>
            <a:endParaRPr sz="1000">
              <a:latin typeface="Calibri"/>
              <a:cs typeface="Calibri"/>
            </a:endParaRPr>
          </a:p>
          <a:p>
            <a:pPr marL="178435" marR="141605">
              <a:lnSpc>
                <a:spcPts val="1150"/>
              </a:lnSpc>
              <a:spcBef>
                <a:spcPts val="50"/>
              </a:spcBef>
            </a:pPr>
            <a:r>
              <a:rPr sz="1000" spc="-30" dirty="0">
                <a:latin typeface="Calibri"/>
                <a:cs typeface="Calibri"/>
              </a:rPr>
              <a:t>Perform</a:t>
            </a:r>
            <a:r>
              <a:rPr sz="100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orchestrated</a:t>
            </a:r>
            <a:r>
              <a:rPr sz="1000" dirty="0">
                <a:latin typeface="Calibri"/>
                <a:cs typeface="Calibri"/>
              </a:rPr>
              <a:t> deployments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35" dirty="0">
                <a:latin typeface="Calibri"/>
                <a:cs typeface="Calibri"/>
              </a:rPr>
              <a:t>track</a:t>
            </a:r>
            <a:r>
              <a:rPr sz="1000" spc="-7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which </a:t>
            </a:r>
            <a:r>
              <a:rPr sz="1000" spc="-20" dirty="0">
                <a:latin typeface="Calibri"/>
                <a:cs typeface="Calibri"/>
              </a:rPr>
              <a:t>version</a:t>
            </a:r>
            <a:r>
              <a:rPr sz="1000" dirty="0">
                <a:latin typeface="Calibri"/>
                <a:cs typeface="Calibri"/>
              </a:rPr>
              <a:t> is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deployed</a:t>
            </a:r>
            <a:r>
              <a:rPr sz="1000" spc="-25" dirty="0">
                <a:latin typeface="Calibri"/>
                <a:cs typeface="Calibri"/>
              </a:rPr>
              <a:t> on</a:t>
            </a:r>
            <a:r>
              <a:rPr sz="1000" dirty="0">
                <a:latin typeface="Calibri"/>
                <a:cs typeface="Calibri"/>
              </a:rPr>
              <a:t> which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node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at</a:t>
            </a:r>
            <a:r>
              <a:rPr sz="1000" spc="-45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any</a:t>
            </a:r>
            <a:r>
              <a:rPr sz="1000" spc="-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stage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build and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delivery</a:t>
            </a:r>
            <a:r>
              <a:rPr sz="1000" spc="-5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pipeline</a:t>
            </a:r>
            <a:endParaRPr sz="1000">
              <a:latin typeface="Calibri"/>
              <a:cs typeface="Calibri"/>
            </a:endParaRPr>
          </a:p>
          <a:p>
            <a:pPr marL="178435">
              <a:lnSpc>
                <a:spcPts val="1040"/>
              </a:lnSpc>
            </a:pPr>
            <a:r>
              <a:rPr sz="1000" spc="-30" dirty="0">
                <a:latin typeface="Calibri"/>
                <a:cs typeface="Calibri"/>
              </a:rPr>
              <a:t>Can </a:t>
            </a:r>
            <a:r>
              <a:rPr sz="1000" dirty="0">
                <a:latin typeface="Calibri"/>
                <a:cs typeface="Calibri"/>
              </a:rPr>
              <a:t>also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manage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configurations</a:t>
            </a:r>
            <a:r>
              <a:rPr sz="1000" spc="-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environments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all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stages</a:t>
            </a:r>
            <a:r>
              <a:rPr sz="1000" spc="16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to</a:t>
            </a:r>
            <a:endParaRPr sz="1000">
              <a:latin typeface="Calibri"/>
              <a:cs typeface="Calibri"/>
            </a:endParaRPr>
          </a:p>
          <a:p>
            <a:pPr marL="178435">
              <a:lnSpc>
                <a:spcPts val="1175"/>
              </a:lnSpc>
            </a:pPr>
            <a:r>
              <a:rPr sz="1000" dirty="0">
                <a:latin typeface="Calibri"/>
                <a:cs typeface="Calibri"/>
              </a:rPr>
              <a:t>which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application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components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must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be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deployed.</a:t>
            </a:r>
            <a:endParaRPr sz="1000">
              <a:latin typeface="Calibri"/>
              <a:cs typeface="Calibri"/>
            </a:endParaRPr>
          </a:p>
          <a:p>
            <a:pPr marL="178435">
              <a:lnSpc>
                <a:spcPct val="100000"/>
              </a:lnSpc>
              <a:spcBef>
                <a:spcPts val="919"/>
              </a:spcBef>
            </a:pPr>
            <a:r>
              <a:rPr sz="1200" spc="-10" dirty="0">
                <a:latin typeface="Calibri"/>
                <a:cs typeface="Calibri"/>
              </a:rPr>
              <a:t>Manage</a:t>
            </a:r>
            <a:endParaRPr sz="1200">
              <a:latin typeface="Calibri"/>
              <a:cs typeface="Calibri"/>
            </a:endParaRPr>
          </a:p>
          <a:p>
            <a:pPr marL="344805" marR="2497455">
              <a:lnSpc>
                <a:spcPct val="100000"/>
              </a:lnSpc>
              <a:spcBef>
                <a:spcPts val="45"/>
              </a:spcBef>
            </a:pPr>
            <a:r>
              <a:rPr sz="900" spc="-20" dirty="0">
                <a:latin typeface="Calibri"/>
                <a:cs typeface="Calibri"/>
              </a:rPr>
              <a:t>Middleware</a:t>
            </a:r>
            <a:r>
              <a:rPr sz="900" spc="35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components</a:t>
            </a:r>
            <a:r>
              <a:rPr sz="900" spc="500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middleware</a:t>
            </a:r>
            <a:r>
              <a:rPr sz="900" spc="-35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configurations</a:t>
            </a:r>
            <a:endParaRPr sz="900">
              <a:latin typeface="Calibri"/>
              <a:cs typeface="Calibri"/>
            </a:endParaRPr>
          </a:p>
          <a:p>
            <a:pPr marL="344805">
              <a:lnSpc>
                <a:spcPct val="100000"/>
              </a:lnSpc>
            </a:pPr>
            <a:r>
              <a:rPr sz="900" dirty="0">
                <a:latin typeface="Calibri"/>
                <a:cs typeface="Calibri"/>
              </a:rPr>
              <a:t>Database</a:t>
            </a:r>
            <a:r>
              <a:rPr sz="900" spc="4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components</a:t>
            </a:r>
            <a:r>
              <a:rPr sz="900" spc="55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that</a:t>
            </a:r>
            <a:r>
              <a:rPr sz="900" spc="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need</a:t>
            </a:r>
            <a:r>
              <a:rPr sz="900" spc="3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to</a:t>
            </a:r>
            <a:r>
              <a:rPr sz="900" spc="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be </a:t>
            </a:r>
            <a:r>
              <a:rPr sz="900" spc="-10" dirty="0">
                <a:latin typeface="Calibri"/>
                <a:cs typeface="Calibri"/>
              </a:rPr>
              <a:t>changed;</a:t>
            </a:r>
            <a:endParaRPr sz="900">
              <a:latin typeface="Calibri"/>
              <a:cs typeface="Calibri"/>
            </a:endParaRPr>
          </a:p>
          <a:p>
            <a:pPr marL="344805">
              <a:lnSpc>
                <a:spcPct val="100000"/>
              </a:lnSpc>
            </a:pPr>
            <a:r>
              <a:rPr sz="900" spc="-10" dirty="0">
                <a:latin typeface="Calibri"/>
                <a:cs typeface="Calibri"/>
              </a:rPr>
              <a:t>Environment configuration</a:t>
            </a:r>
            <a:endParaRPr sz="900">
              <a:latin typeface="Calibri"/>
              <a:cs typeface="Calibri"/>
            </a:endParaRPr>
          </a:p>
          <a:p>
            <a:pPr marL="344805" marR="5080">
              <a:lnSpc>
                <a:spcPts val="1060"/>
              </a:lnSpc>
              <a:spcBef>
                <a:spcPts val="80"/>
              </a:spcBef>
            </a:pPr>
            <a:r>
              <a:rPr sz="900" dirty="0">
                <a:latin typeface="Calibri"/>
                <a:cs typeface="Calibri"/>
              </a:rPr>
              <a:t>capture</a:t>
            </a:r>
            <a:r>
              <a:rPr sz="900" spc="32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and</a:t>
            </a:r>
            <a:r>
              <a:rPr sz="900" spc="26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automate</a:t>
            </a:r>
            <a:r>
              <a:rPr sz="900" spc="19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the</a:t>
            </a:r>
            <a:r>
              <a:rPr sz="900" spc="22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processes</a:t>
            </a:r>
            <a:r>
              <a:rPr sz="900" spc="18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to</a:t>
            </a:r>
            <a:r>
              <a:rPr sz="900" spc="23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carry</a:t>
            </a:r>
            <a:r>
              <a:rPr sz="900" spc="409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out</a:t>
            </a:r>
            <a:r>
              <a:rPr sz="900" spc="20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these</a:t>
            </a:r>
            <a:r>
              <a:rPr sz="900" spc="15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deployments</a:t>
            </a:r>
            <a:r>
              <a:rPr sz="900" spc="204" dirty="0">
                <a:latin typeface="Calibri"/>
                <a:cs typeface="Calibri"/>
              </a:rPr>
              <a:t> </a:t>
            </a:r>
            <a:r>
              <a:rPr sz="900" spc="-25" dirty="0">
                <a:latin typeface="Calibri"/>
                <a:cs typeface="Calibri"/>
              </a:rPr>
              <a:t>and</a:t>
            </a:r>
            <a:r>
              <a:rPr sz="900" spc="500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configuration</a:t>
            </a:r>
            <a:r>
              <a:rPr sz="900" spc="50" dirty="0">
                <a:latin typeface="Calibri"/>
                <a:cs typeface="Calibri"/>
              </a:rPr>
              <a:t> </a:t>
            </a:r>
            <a:r>
              <a:rPr sz="900" spc="-10" dirty="0">
                <a:latin typeface="Calibri"/>
                <a:cs typeface="Calibri"/>
              </a:rPr>
              <a:t>changes.</a:t>
            </a:r>
            <a:endParaRPr sz="9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138677"/>
            <a:ext cx="2281555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204085">
              <a:lnSpc>
                <a:spcPts val="550"/>
              </a:lnSpc>
              <a:spcBef>
                <a:spcPts val="105"/>
              </a:spcBef>
            </a:pPr>
            <a:r>
              <a:rPr sz="500" spc="-25" dirty="0">
                <a:solidFill>
                  <a:srgbClr val="888888"/>
                </a:solidFill>
                <a:latin typeface="Calibri"/>
                <a:cs typeface="Calibri"/>
              </a:rPr>
              <a:t>15</a:t>
            </a:r>
            <a:endParaRPr sz="500">
              <a:latin typeface="Calibri"/>
              <a:cs typeface="Calibri"/>
            </a:endParaRPr>
          </a:p>
          <a:p>
            <a:pPr marL="2204085">
              <a:lnSpc>
                <a:spcPts val="550"/>
              </a:lnSpc>
            </a:pPr>
            <a:r>
              <a:rPr sz="500" spc="-50" dirty="0">
                <a:solidFill>
                  <a:srgbClr val="888888"/>
                </a:solidFill>
                <a:latin typeface="Calibri"/>
                <a:cs typeface="Calibri"/>
              </a:rPr>
              <a:t>5</a:t>
            </a:r>
            <a:endParaRPr sz="5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95"/>
              </a:spcBef>
            </a:pPr>
            <a:r>
              <a:rPr sz="1300" dirty="0"/>
              <a:t>DevOps–</a:t>
            </a:r>
            <a:r>
              <a:rPr sz="1300" spc="40" dirty="0"/>
              <a:t> </a:t>
            </a:r>
            <a:r>
              <a:rPr sz="1300" dirty="0"/>
              <a:t>Deployment</a:t>
            </a:r>
            <a:r>
              <a:rPr sz="1300" spc="65" dirty="0"/>
              <a:t> </a:t>
            </a:r>
            <a:r>
              <a:rPr sz="1300" dirty="0"/>
              <a:t>automation</a:t>
            </a:r>
            <a:r>
              <a:rPr sz="1300" spc="-15" dirty="0"/>
              <a:t> </a:t>
            </a:r>
            <a:r>
              <a:rPr sz="1300" dirty="0"/>
              <a:t>and</a:t>
            </a:r>
            <a:r>
              <a:rPr sz="1300" spc="-35" dirty="0"/>
              <a:t> </a:t>
            </a:r>
            <a:r>
              <a:rPr sz="1300" spc="-10" dirty="0"/>
              <a:t>release</a:t>
            </a:r>
            <a:endParaRPr sz="1300"/>
          </a:p>
          <a:p>
            <a:pPr marL="63500">
              <a:lnSpc>
                <a:spcPct val="100000"/>
              </a:lnSpc>
              <a:spcBef>
                <a:spcPts val="15"/>
              </a:spcBef>
            </a:pPr>
            <a:r>
              <a:rPr sz="1300" spc="-10" dirty="0"/>
              <a:t>management</a:t>
            </a:r>
            <a:endParaRPr sz="13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4370" y="725169"/>
            <a:ext cx="304800" cy="17373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0486" y="1096720"/>
            <a:ext cx="304800" cy="17404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0486" y="1612391"/>
            <a:ext cx="304800" cy="173736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0486" y="1937003"/>
            <a:ext cx="304800" cy="173736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327786" y="700277"/>
            <a:ext cx="4093845" cy="14204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006FBE"/>
                </a:solidFill>
                <a:latin typeface="Calibri"/>
                <a:cs typeface="Calibri"/>
              </a:rPr>
              <a:t>Release</a:t>
            </a:r>
            <a:r>
              <a:rPr sz="1200" b="1" spc="-35" dirty="0">
                <a:solidFill>
                  <a:srgbClr val="006FBE"/>
                </a:solidFill>
                <a:latin typeface="Calibri"/>
                <a:cs typeface="Calibri"/>
              </a:rPr>
              <a:t> </a:t>
            </a:r>
            <a:r>
              <a:rPr sz="1200" b="1" spc="-10" dirty="0">
                <a:solidFill>
                  <a:srgbClr val="006FBE"/>
                </a:solidFill>
                <a:latin typeface="Calibri"/>
                <a:cs typeface="Calibri"/>
              </a:rPr>
              <a:t>management</a:t>
            </a:r>
            <a:endParaRPr sz="12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Calibri"/>
              <a:cs typeface="Calibri"/>
            </a:endParaRPr>
          </a:p>
          <a:p>
            <a:pPr marL="178435" marR="10160" algn="just">
              <a:lnSpc>
                <a:spcPct val="100000"/>
              </a:lnSpc>
            </a:pPr>
            <a:r>
              <a:rPr sz="1200" dirty="0">
                <a:latin typeface="Calibri"/>
                <a:cs typeface="Calibri"/>
              </a:rPr>
              <a:t>Orchestrating</a:t>
            </a:r>
            <a:r>
              <a:rPr sz="1200" spc="17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19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release</a:t>
            </a:r>
            <a:r>
              <a:rPr sz="1200" spc="19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plans</a:t>
            </a:r>
            <a:r>
              <a:rPr sz="1200" spc="19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20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deployments</a:t>
            </a:r>
            <a:r>
              <a:rPr sz="1200" spc="20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associated </a:t>
            </a:r>
            <a:r>
              <a:rPr sz="1200" dirty="0">
                <a:latin typeface="Calibri"/>
                <a:cs typeface="Calibri"/>
              </a:rPr>
              <a:t>with</a:t>
            </a:r>
            <a:r>
              <a:rPr sz="1200" spc="9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each</a:t>
            </a:r>
            <a:r>
              <a:rPr sz="1200" spc="135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release</a:t>
            </a:r>
            <a:r>
              <a:rPr sz="1200" spc="9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requires</a:t>
            </a:r>
            <a:r>
              <a:rPr sz="1200" spc="9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coordination</a:t>
            </a:r>
            <a:r>
              <a:rPr sz="1200" spc="9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across</a:t>
            </a:r>
            <a:r>
              <a:rPr sz="1200" spc="9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9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business, development,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spc="-35" dirty="0">
                <a:latin typeface="Calibri"/>
                <a:cs typeface="Calibri"/>
              </a:rPr>
              <a:t>QA,</a:t>
            </a:r>
            <a:r>
              <a:rPr sz="1200" spc="-6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260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operations</a:t>
            </a:r>
            <a:r>
              <a:rPr sz="1200" spc="1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teams.</a:t>
            </a:r>
            <a:endParaRPr sz="1200">
              <a:latin typeface="Calibri"/>
              <a:cs typeface="Calibri"/>
            </a:endParaRPr>
          </a:p>
          <a:p>
            <a:pPr marL="178435" marR="5080" algn="just">
              <a:lnSpc>
                <a:spcPct val="80000"/>
              </a:lnSpc>
              <a:spcBef>
                <a:spcPts val="30"/>
              </a:spcBef>
            </a:pPr>
            <a:r>
              <a:rPr sz="1200" dirty="0">
                <a:latin typeface="Calibri"/>
                <a:cs typeface="Calibri"/>
              </a:rPr>
              <a:t>Release</a:t>
            </a:r>
            <a:r>
              <a:rPr sz="1200" spc="26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management</a:t>
            </a:r>
            <a:r>
              <a:rPr sz="1200" spc="27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tools</a:t>
            </a:r>
            <a:r>
              <a:rPr sz="1200" spc="2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allow</a:t>
            </a:r>
            <a:r>
              <a:rPr sz="1200" spc="2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organizations</a:t>
            </a:r>
            <a:r>
              <a:rPr sz="1200" spc="2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</a:t>
            </a:r>
            <a:r>
              <a:rPr sz="1200" spc="2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plan</a:t>
            </a:r>
            <a:r>
              <a:rPr sz="1200" spc="254" dirty="0">
                <a:latin typeface="Calibri"/>
                <a:cs typeface="Calibri"/>
              </a:rPr>
              <a:t> </a:t>
            </a:r>
            <a:r>
              <a:rPr sz="1200" spc="-25" dirty="0">
                <a:latin typeface="Calibri"/>
                <a:cs typeface="Calibri"/>
              </a:rPr>
              <a:t>and </a:t>
            </a:r>
            <a:r>
              <a:rPr sz="1200" dirty="0">
                <a:latin typeface="Calibri"/>
                <a:cs typeface="Calibri"/>
              </a:rPr>
              <a:t>execute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releases,</a:t>
            </a:r>
            <a:endParaRPr sz="1200">
              <a:latin typeface="Calibri"/>
              <a:cs typeface="Calibri"/>
            </a:endParaRPr>
          </a:p>
          <a:p>
            <a:pPr marL="178435" algn="just">
              <a:lnSpc>
                <a:spcPts val="1405"/>
              </a:lnSpc>
            </a:pPr>
            <a:r>
              <a:rPr sz="1200" dirty="0">
                <a:latin typeface="Calibri"/>
                <a:cs typeface="Calibri"/>
              </a:rPr>
              <a:t>provide</a:t>
            </a:r>
            <a:r>
              <a:rPr sz="1200" spc="17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</a:t>
            </a:r>
            <a:r>
              <a:rPr sz="1200" spc="15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single</a:t>
            </a:r>
            <a:r>
              <a:rPr sz="1200" spc="20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collaboration</a:t>
            </a:r>
            <a:r>
              <a:rPr sz="1200" spc="16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portal</a:t>
            </a:r>
            <a:r>
              <a:rPr sz="1200" spc="17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for</a:t>
            </a:r>
            <a:r>
              <a:rPr sz="1200" spc="15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all</a:t>
            </a:r>
            <a:r>
              <a:rPr sz="1200" spc="16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stakeholders</a:t>
            </a:r>
            <a:r>
              <a:rPr sz="1200" spc="17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in</a:t>
            </a:r>
            <a:r>
              <a:rPr sz="1200" spc="190" dirty="0">
                <a:latin typeface="Calibri"/>
                <a:cs typeface="Calibri"/>
              </a:rPr>
              <a:t> </a:t>
            </a:r>
            <a:r>
              <a:rPr sz="1200" spc="-50" dirty="0">
                <a:latin typeface="Calibri"/>
                <a:cs typeface="Calibri"/>
              </a:rPr>
              <a:t>a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93902" y="2094991"/>
            <a:ext cx="153289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61085" algn="l"/>
              </a:tabLst>
            </a:pPr>
            <a:r>
              <a:rPr sz="1200" dirty="0">
                <a:latin typeface="Calibri"/>
                <a:cs typeface="Calibri"/>
              </a:rPr>
              <a:t>release,</a:t>
            </a:r>
            <a:r>
              <a:rPr sz="1200" spc="140" dirty="0">
                <a:latin typeface="Calibri"/>
                <a:cs typeface="Calibri"/>
              </a:rPr>
              <a:t>  </a:t>
            </a:r>
            <a:r>
              <a:rPr sz="1200" spc="-25" dirty="0">
                <a:latin typeface="Calibri"/>
                <a:cs typeface="Calibri"/>
              </a:rPr>
              <a:t>and</a:t>
            </a:r>
            <a:r>
              <a:rPr sz="1200" dirty="0">
                <a:latin typeface="Calibri"/>
                <a:cs typeface="Calibri"/>
              </a:rPr>
              <a:t>	</a:t>
            </a:r>
            <a:r>
              <a:rPr sz="1200" spc="-10" dirty="0">
                <a:latin typeface="Calibri"/>
                <a:cs typeface="Calibri"/>
              </a:rPr>
              <a:t>provide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079117" y="2094991"/>
            <a:ext cx="17691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1750">
              <a:lnSpc>
                <a:spcPct val="100000"/>
              </a:lnSpc>
              <a:spcBef>
                <a:spcPts val="100"/>
              </a:spcBef>
              <a:tabLst>
                <a:tab pos="1123950" algn="l"/>
              </a:tabLst>
            </a:pPr>
            <a:r>
              <a:rPr sz="1200" dirty="0">
                <a:latin typeface="Calibri"/>
                <a:cs typeface="Calibri"/>
              </a:rPr>
              <a:t>traceability</a:t>
            </a:r>
            <a:r>
              <a:rPr sz="1200" spc="48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for</a:t>
            </a:r>
            <a:r>
              <a:rPr sz="1200" spc="47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</a:t>
            </a:r>
            <a:r>
              <a:rPr sz="1200" spc="47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release </a:t>
            </a:r>
            <a:r>
              <a:rPr sz="1200" dirty="0">
                <a:latin typeface="Calibri"/>
                <a:cs typeface="Calibri"/>
              </a:rPr>
              <a:t>stages</a:t>
            </a:r>
            <a:r>
              <a:rPr sz="1200" spc="48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465" dirty="0">
                <a:latin typeface="Calibri"/>
                <a:cs typeface="Calibri"/>
              </a:rPr>
              <a:t> </a:t>
            </a:r>
            <a:r>
              <a:rPr sz="1200" spc="-25" dirty="0">
                <a:latin typeface="Calibri"/>
                <a:cs typeface="Calibri"/>
              </a:rPr>
              <a:t>the</a:t>
            </a:r>
            <a:r>
              <a:rPr sz="1200" dirty="0">
                <a:latin typeface="Calibri"/>
                <a:cs typeface="Calibri"/>
              </a:rPr>
              <a:t>	build</a:t>
            </a:r>
            <a:r>
              <a:rPr sz="1200" spc="425" dirty="0">
                <a:latin typeface="Calibri"/>
                <a:cs typeface="Calibri"/>
              </a:rPr>
              <a:t> </a:t>
            </a:r>
            <a:r>
              <a:rPr sz="1200" spc="-25" dirty="0">
                <a:latin typeface="Calibri"/>
                <a:cs typeface="Calibri"/>
              </a:rPr>
              <a:t>and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905250" y="2094991"/>
            <a:ext cx="5156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860" marR="5080" indent="-10795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Calibri"/>
                <a:cs typeface="Calibri"/>
              </a:rPr>
              <a:t>and</a:t>
            </a:r>
            <a:r>
              <a:rPr sz="1200" spc="150" dirty="0">
                <a:latin typeface="Calibri"/>
                <a:cs typeface="Calibri"/>
              </a:rPr>
              <a:t>  </a:t>
            </a:r>
            <a:r>
              <a:rPr sz="1200" spc="-25" dirty="0">
                <a:latin typeface="Calibri"/>
                <a:cs typeface="Calibri"/>
              </a:rPr>
              <a:t>its delivery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93902" y="2277871"/>
            <a:ext cx="15195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Calibri"/>
                <a:cs typeface="Calibri"/>
              </a:rPr>
              <a:t>components</a:t>
            </a:r>
            <a:r>
              <a:rPr sz="1200" spc="45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across</a:t>
            </a:r>
            <a:r>
              <a:rPr sz="1200" spc="440" dirty="0">
                <a:latin typeface="Calibri"/>
                <a:cs typeface="Calibri"/>
              </a:rPr>
              <a:t> </a:t>
            </a:r>
            <a:r>
              <a:rPr sz="1200" spc="-25" dirty="0">
                <a:latin typeface="Calibri"/>
                <a:cs typeface="Calibri"/>
              </a:rPr>
              <a:t>all </a:t>
            </a:r>
            <a:r>
              <a:rPr sz="1200" spc="-10" dirty="0">
                <a:latin typeface="Calibri"/>
                <a:cs typeface="Calibri"/>
              </a:rPr>
              <a:t>pipeline.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0645">
              <a:lnSpc>
                <a:spcPct val="100000"/>
              </a:lnSpc>
              <a:spcBef>
                <a:spcPts val="105"/>
              </a:spcBef>
            </a:pPr>
            <a:r>
              <a:rPr sz="2000" dirty="0"/>
              <a:t>DevOps–</a:t>
            </a:r>
            <a:r>
              <a:rPr sz="2000" spc="30" dirty="0"/>
              <a:t> </a:t>
            </a:r>
            <a:r>
              <a:rPr sz="2000" spc="-10" dirty="0"/>
              <a:t>Cloud</a:t>
            </a:r>
            <a:r>
              <a:rPr sz="2000" spc="-70" dirty="0"/>
              <a:t> </a:t>
            </a:r>
            <a:r>
              <a:rPr sz="2000" dirty="0"/>
              <a:t>as</a:t>
            </a:r>
            <a:r>
              <a:rPr sz="2000" spc="-5" dirty="0"/>
              <a:t> </a:t>
            </a:r>
            <a:r>
              <a:rPr sz="2000" dirty="0"/>
              <a:t>a</a:t>
            </a:r>
            <a:r>
              <a:rPr sz="2000" spc="-85" dirty="0"/>
              <a:t> </a:t>
            </a:r>
            <a:r>
              <a:rPr sz="2000" spc="-10" dirty="0"/>
              <a:t>catalyst</a:t>
            </a:r>
            <a:endParaRPr sz="2000"/>
          </a:p>
        </p:txBody>
      </p:sp>
      <p:sp>
        <p:nvSpPr>
          <p:cNvPr id="4" name="object 4"/>
          <p:cNvSpPr/>
          <p:nvPr/>
        </p:nvSpPr>
        <p:spPr>
          <a:xfrm>
            <a:off x="194310" y="759078"/>
            <a:ext cx="1129030" cy="2087880"/>
          </a:xfrm>
          <a:custGeom>
            <a:avLst/>
            <a:gdLst/>
            <a:ahLst/>
            <a:cxnLst/>
            <a:rect l="l" t="t" r="r" b="b"/>
            <a:pathLst>
              <a:path w="1129030" h="2087880">
                <a:moveTo>
                  <a:pt x="1128903" y="49149"/>
                </a:moveTo>
                <a:lnTo>
                  <a:pt x="1126871" y="38354"/>
                </a:lnTo>
                <a:lnTo>
                  <a:pt x="1124204" y="33108"/>
                </a:lnTo>
                <a:lnTo>
                  <a:pt x="1124204" y="49149"/>
                </a:lnTo>
                <a:lnTo>
                  <a:pt x="1124204" y="2037969"/>
                </a:lnTo>
                <a:lnTo>
                  <a:pt x="1123442" y="2042668"/>
                </a:lnTo>
                <a:lnTo>
                  <a:pt x="1122172" y="2048002"/>
                </a:lnTo>
                <a:lnTo>
                  <a:pt x="1122172" y="2047367"/>
                </a:lnTo>
                <a:lnTo>
                  <a:pt x="1120140" y="2052066"/>
                </a:lnTo>
                <a:lnTo>
                  <a:pt x="1120775" y="2052066"/>
                </a:lnTo>
                <a:lnTo>
                  <a:pt x="1118108" y="2056765"/>
                </a:lnTo>
                <a:lnTo>
                  <a:pt x="1118743" y="2056765"/>
                </a:lnTo>
                <a:lnTo>
                  <a:pt x="1116076" y="2060829"/>
                </a:lnTo>
                <a:lnTo>
                  <a:pt x="1112774" y="2064766"/>
                </a:lnTo>
                <a:lnTo>
                  <a:pt x="1113409" y="2064131"/>
                </a:lnTo>
                <a:lnTo>
                  <a:pt x="1110107" y="2068195"/>
                </a:lnTo>
                <a:lnTo>
                  <a:pt x="1106043" y="2071497"/>
                </a:lnTo>
                <a:lnTo>
                  <a:pt x="1102614" y="2074164"/>
                </a:lnTo>
                <a:lnTo>
                  <a:pt x="1097915" y="2076958"/>
                </a:lnTo>
                <a:lnTo>
                  <a:pt x="1098677" y="2076958"/>
                </a:lnTo>
                <a:lnTo>
                  <a:pt x="1093978" y="2078863"/>
                </a:lnTo>
                <a:lnTo>
                  <a:pt x="1084453" y="2081657"/>
                </a:lnTo>
                <a:lnTo>
                  <a:pt x="1074420" y="2082927"/>
                </a:lnTo>
                <a:lnTo>
                  <a:pt x="55118" y="2082927"/>
                </a:lnTo>
                <a:lnTo>
                  <a:pt x="45085" y="2081657"/>
                </a:lnTo>
                <a:lnTo>
                  <a:pt x="39624" y="2080260"/>
                </a:lnTo>
                <a:lnTo>
                  <a:pt x="40386" y="2080260"/>
                </a:lnTo>
                <a:lnTo>
                  <a:pt x="35687" y="2078863"/>
                </a:lnTo>
                <a:lnTo>
                  <a:pt x="30988" y="2076958"/>
                </a:lnTo>
                <a:lnTo>
                  <a:pt x="22860" y="2071497"/>
                </a:lnTo>
                <a:lnTo>
                  <a:pt x="23495" y="2071497"/>
                </a:lnTo>
                <a:lnTo>
                  <a:pt x="19558" y="2068195"/>
                </a:lnTo>
                <a:lnTo>
                  <a:pt x="16637" y="2064766"/>
                </a:lnTo>
                <a:lnTo>
                  <a:pt x="16129" y="2064131"/>
                </a:lnTo>
                <a:lnTo>
                  <a:pt x="16129" y="2064766"/>
                </a:lnTo>
                <a:lnTo>
                  <a:pt x="10795" y="2056765"/>
                </a:lnTo>
                <a:lnTo>
                  <a:pt x="8763" y="2052066"/>
                </a:lnTo>
                <a:lnTo>
                  <a:pt x="7620" y="2048002"/>
                </a:lnTo>
                <a:lnTo>
                  <a:pt x="7366" y="2047367"/>
                </a:lnTo>
                <a:lnTo>
                  <a:pt x="7366" y="2048002"/>
                </a:lnTo>
                <a:lnTo>
                  <a:pt x="6096" y="2042668"/>
                </a:lnTo>
                <a:lnTo>
                  <a:pt x="4699" y="2032508"/>
                </a:lnTo>
                <a:lnTo>
                  <a:pt x="4699" y="54483"/>
                </a:lnTo>
                <a:lnTo>
                  <a:pt x="6096" y="44323"/>
                </a:lnTo>
                <a:lnTo>
                  <a:pt x="8763" y="34925"/>
                </a:lnTo>
                <a:lnTo>
                  <a:pt x="10795" y="30226"/>
                </a:lnTo>
                <a:lnTo>
                  <a:pt x="16129" y="22225"/>
                </a:lnTo>
                <a:lnTo>
                  <a:pt x="16129" y="22860"/>
                </a:lnTo>
                <a:lnTo>
                  <a:pt x="16637" y="22225"/>
                </a:lnTo>
                <a:lnTo>
                  <a:pt x="19558" y="18796"/>
                </a:lnTo>
                <a:lnTo>
                  <a:pt x="23495" y="15494"/>
                </a:lnTo>
                <a:lnTo>
                  <a:pt x="22860" y="15494"/>
                </a:lnTo>
                <a:lnTo>
                  <a:pt x="30988" y="10033"/>
                </a:lnTo>
                <a:lnTo>
                  <a:pt x="35687" y="8128"/>
                </a:lnTo>
                <a:lnTo>
                  <a:pt x="40386" y="6731"/>
                </a:lnTo>
                <a:lnTo>
                  <a:pt x="39624" y="6731"/>
                </a:lnTo>
                <a:lnTo>
                  <a:pt x="45085" y="5334"/>
                </a:lnTo>
                <a:lnTo>
                  <a:pt x="55118" y="4064"/>
                </a:lnTo>
                <a:lnTo>
                  <a:pt x="1074420" y="4064"/>
                </a:lnTo>
                <a:lnTo>
                  <a:pt x="1084453" y="5334"/>
                </a:lnTo>
                <a:lnTo>
                  <a:pt x="1093978" y="8128"/>
                </a:lnTo>
                <a:lnTo>
                  <a:pt x="1098677" y="10033"/>
                </a:lnTo>
                <a:lnTo>
                  <a:pt x="1097915" y="10033"/>
                </a:lnTo>
                <a:lnTo>
                  <a:pt x="1102614" y="12827"/>
                </a:lnTo>
                <a:lnTo>
                  <a:pt x="1106043" y="15494"/>
                </a:lnTo>
                <a:lnTo>
                  <a:pt x="1110107" y="18796"/>
                </a:lnTo>
                <a:lnTo>
                  <a:pt x="1113409" y="22860"/>
                </a:lnTo>
                <a:lnTo>
                  <a:pt x="1112774" y="22225"/>
                </a:lnTo>
                <a:lnTo>
                  <a:pt x="1116076" y="26289"/>
                </a:lnTo>
                <a:lnTo>
                  <a:pt x="1118743" y="30226"/>
                </a:lnTo>
                <a:lnTo>
                  <a:pt x="1118108" y="30226"/>
                </a:lnTo>
                <a:lnTo>
                  <a:pt x="1120775" y="34925"/>
                </a:lnTo>
                <a:lnTo>
                  <a:pt x="1120140" y="34925"/>
                </a:lnTo>
                <a:lnTo>
                  <a:pt x="1122172" y="39624"/>
                </a:lnTo>
                <a:lnTo>
                  <a:pt x="1123442" y="44323"/>
                </a:lnTo>
                <a:lnTo>
                  <a:pt x="1124204" y="49149"/>
                </a:lnTo>
                <a:lnTo>
                  <a:pt x="1124204" y="33108"/>
                </a:lnTo>
                <a:lnTo>
                  <a:pt x="1095883" y="4064"/>
                </a:lnTo>
                <a:lnTo>
                  <a:pt x="1079754" y="0"/>
                </a:lnTo>
                <a:lnTo>
                  <a:pt x="49022" y="0"/>
                </a:lnTo>
                <a:lnTo>
                  <a:pt x="9398" y="23495"/>
                </a:lnTo>
                <a:lnTo>
                  <a:pt x="0" y="54483"/>
                </a:lnTo>
                <a:lnTo>
                  <a:pt x="0" y="2032508"/>
                </a:lnTo>
                <a:lnTo>
                  <a:pt x="28956" y="2080895"/>
                </a:lnTo>
                <a:lnTo>
                  <a:pt x="55118" y="2087626"/>
                </a:lnTo>
                <a:lnTo>
                  <a:pt x="1074420" y="2087626"/>
                </a:lnTo>
                <a:lnTo>
                  <a:pt x="1113409" y="2071497"/>
                </a:lnTo>
                <a:lnTo>
                  <a:pt x="1118997" y="2064131"/>
                </a:lnTo>
                <a:lnTo>
                  <a:pt x="1119505" y="2063496"/>
                </a:lnTo>
                <a:lnTo>
                  <a:pt x="1124839" y="2054098"/>
                </a:lnTo>
                <a:lnTo>
                  <a:pt x="1126871" y="2048637"/>
                </a:lnTo>
                <a:lnTo>
                  <a:pt x="1126998" y="2048002"/>
                </a:lnTo>
                <a:lnTo>
                  <a:pt x="1128268" y="2043938"/>
                </a:lnTo>
                <a:lnTo>
                  <a:pt x="1128903" y="2038604"/>
                </a:lnTo>
                <a:lnTo>
                  <a:pt x="1128903" y="4914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35025" y="795273"/>
            <a:ext cx="890269" cy="1225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600" b="1" spc="10" dirty="0">
                <a:latin typeface="Times New Roman"/>
                <a:cs typeface="Times New Roman"/>
              </a:rPr>
              <a:t>Essential</a:t>
            </a:r>
            <a:r>
              <a:rPr sz="600" b="1" spc="125" dirty="0">
                <a:latin typeface="Times New Roman"/>
                <a:cs typeface="Times New Roman"/>
              </a:rPr>
              <a:t> </a:t>
            </a:r>
            <a:r>
              <a:rPr sz="600" b="1" spc="-10" dirty="0">
                <a:latin typeface="Times New Roman"/>
                <a:cs typeface="Times New Roman"/>
              </a:rPr>
              <a:t>Characteristics</a:t>
            </a:r>
            <a:endParaRPr sz="6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58698" y="1372869"/>
            <a:ext cx="321945" cy="22161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36830" marR="5080" indent="-24765">
              <a:lnSpc>
                <a:spcPct val="108300"/>
              </a:lnSpc>
              <a:spcBef>
                <a:spcPts val="75"/>
              </a:spcBef>
            </a:pPr>
            <a:r>
              <a:rPr sz="600" spc="-10" dirty="0">
                <a:latin typeface="Times New Roman"/>
                <a:cs typeface="Times New Roman"/>
              </a:rPr>
              <a:t>Resource</a:t>
            </a:r>
            <a:r>
              <a:rPr sz="600" spc="500" dirty="0">
                <a:latin typeface="Times New Roman"/>
                <a:cs typeface="Times New Roman"/>
              </a:rPr>
              <a:t> </a:t>
            </a:r>
            <a:r>
              <a:rPr sz="600" spc="-10" dirty="0">
                <a:latin typeface="Times New Roman"/>
                <a:cs typeface="Times New Roman"/>
              </a:rPr>
              <a:t>pooling</a:t>
            </a:r>
            <a:endParaRPr sz="600">
              <a:latin typeface="Times New Roman"/>
              <a:cs typeface="Times New Roman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5952" y="1407197"/>
            <a:ext cx="244741" cy="182206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327786" y="1681352"/>
            <a:ext cx="504825" cy="22161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52400" marR="5080" indent="-140335">
              <a:lnSpc>
                <a:spcPct val="108300"/>
              </a:lnSpc>
              <a:spcBef>
                <a:spcPts val="75"/>
              </a:spcBef>
            </a:pPr>
            <a:r>
              <a:rPr sz="600" dirty="0">
                <a:latin typeface="Times New Roman"/>
                <a:cs typeface="Times New Roman"/>
              </a:rPr>
              <a:t>Broad</a:t>
            </a:r>
            <a:r>
              <a:rPr sz="600" spc="45" dirty="0">
                <a:latin typeface="Times New Roman"/>
                <a:cs typeface="Times New Roman"/>
              </a:rPr>
              <a:t> </a:t>
            </a:r>
            <a:r>
              <a:rPr sz="600" spc="-10" dirty="0">
                <a:latin typeface="Times New Roman"/>
                <a:cs typeface="Times New Roman"/>
              </a:rPr>
              <a:t>network</a:t>
            </a:r>
            <a:r>
              <a:rPr sz="600" spc="500" dirty="0">
                <a:latin typeface="Times New Roman"/>
                <a:cs typeface="Times New Roman"/>
              </a:rPr>
              <a:t> </a:t>
            </a:r>
            <a:r>
              <a:rPr sz="600" spc="-10" dirty="0">
                <a:latin typeface="Times New Roman"/>
                <a:cs typeface="Times New Roman"/>
              </a:rPr>
              <a:t>access</a:t>
            </a:r>
            <a:endParaRPr sz="600">
              <a:latin typeface="Times New Roman"/>
              <a:cs typeface="Times New Roman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02131" y="1717128"/>
            <a:ext cx="327660" cy="1016635"/>
            <a:chOff x="802131" y="1717128"/>
            <a:chExt cx="327660" cy="1016635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05002" y="1717128"/>
              <a:ext cx="224561" cy="194983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02131" y="2492463"/>
              <a:ext cx="257505" cy="240703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388747" y="2078227"/>
            <a:ext cx="768985" cy="591820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457834" marR="5080" indent="51435">
              <a:lnSpc>
                <a:spcPct val="108300"/>
              </a:lnSpc>
              <a:spcBef>
                <a:spcPts val="75"/>
              </a:spcBef>
            </a:pPr>
            <a:r>
              <a:rPr sz="600" spc="-10" dirty="0">
                <a:latin typeface="Times New Roman"/>
                <a:cs typeface="Times New Roman"/>
              </a:rPr>
              <a:t>Rapid</a:t>
            </a:r>
            <a:r>
              <a:rPr sz="600" spc="500" dirty="0">
                <a:latin typeface="Times New Roman"/>
                <a:cs typeface="Times New Roman"/>
              </a:rPr>
              <a:t> </a:t>
            </a:r>
            <a:r>
              <a:rPr sz="600" spc="-10" dirty="0">
                <a:latin typeface="Times New Roman"/>
                <a:cs typeface="Times New Roman"/>
              </a:rPr>
              <a:t>Elasticity</a:t>
            </a:r>
            <a:endParaRPr sz="6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sz="600">
              <a:latin typeface="Times New Roman"/>
              <a:cs typeface="Times New Roman"/>
            </a:endParaRPr>
          </a:p>
          <a:p>
            <a:pPr marL="52069" marR="436245" indent="-40005">
              <a:lnSpc>
                <a:spcPct val="108300"/>
              </a:lnSpc>
            </a:pPr>
            <a:r>
              <a:rPr sz="600" spc="-10" dirty="0">
                <a:latin typeface="Times New Roman"/>
                <a:cs typeface="Times New Roman"/>
              </a:rPr>
              <a:t>Measured</a:t>
            </a:r>
            <a:r>
              <a:rPr sz="600" spc="500" dirty="0">
                <a:latin typeface="Times New Roman"/>
                <a:cs typeface="Times New Roman"/>
              </a:rPr>
              <a:t> </a:t>
            </a:r>
            <a:r>
              <a:rPr sz="600" spc="-10" dirty="0">
                <a:latin typeface="Times New Roman"/>
                <a:cs typeface="Times New Roman"/>
              </a:rPr>
              <a:t>Service</a:t>
            </a:r>
            <a:endParaRPr sz="600">
              <a:latin typeface="Times New Roman"/>
              <a:cs typeface="Times New Roman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267588" y="1042123"/>
            <a:ext cx="930275" cy="1311275"/>
            <a:chOff x="267588" y="1042123"/>
            <a:chExt cx="930275" cy="1311275"/>
          </a:xfrm>
        </p:grpSpPr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91286" y="2046655"/>
              <a:ext cx="367779" cy="195656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57250" y="1042123"/>
              <a:ext cx="217169" cy="194983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267588" y="1385061"/>
              <a:ext cx="930275" cy="967105"/>
            </a:xfrm>
            <a:custGeom>
              <a:avLst/>
              <a:gdLst/>
              <a:ahLst/>
              <a:cxnLst/>
              <a:rect l="l" t="t" r="r" b="b"/>
              <a:pathLst>
                <a:path w="930275" h="967105">
                  <a:moveTo>
                    <a:pt x="0" y="0"/>
                  </a:moveTo>
                  <a:lnTo>
                    <a:pt x="886206" y="0"/>
                  </a:lnTo>
                </a:path>
                <a:path w="930275" h="967105">
                  <a:moveTo>
                    <a:pt x="28194" y="318008"/>
                  </a:moveTo>
                  <a:lnTo>
                    <a:pt x="914400" y="318008"/>
                  </a:lnTo>
                </a:path>
                <a:path w="930275" h="967105">
                  <a:moveTo>
                    <a:pt x="43688" y="602361"/>
                  </a:moveTo>
                  <a:lnTo>
                    <a:pt x="929894" y="602361"/>
                  </a:lnTo>
                </a:path>
                <a:path w="930275" h="967105">
                  <a:moveTo>
                    <a:pt x="28194" y="966851"/>
                  </a:moveTo>
                  <a:lnTo>
                    <a:pt x="914400" y="966851"/>
                  </a:lnTo>
                </a:path>
              </a:pathLst>
            </a:custGeom>
            <a:ln w="3175">
              <a:solidFill>
                <a:srgbClr val="E9E3EB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32993" y="1001648"/>
            <a:ext cx="413384" cy="22161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22860" marR="5080" indent="-10795">
              <a:lnSpc>
                <a:spcPct val="108300"/>
              </a:lnSpc>
              <a:spcBef>
                <a:spcPts val="75"/>
              </a:spcBef>
            </a:pPr>
            <a:r>
              <a:rPr sz="600" dirty="0">
                <a:latin typeface="Times New Roman"/>
                <a:cs typeface="Times New Roman"/>
              </a:rPr>
              <a:t>On-</a:t>
            </a:r>
            <a:r>
              <a:rPr sz="600" spc="-10" dirty="0">
                <a:latin typeface="Times New Roman"/>
                <a:cs typeface="Times New Roman"/>
              </a:rPr>
              <a:t>demand</a:t>
            </a:r>
            <a:r>
              <a:rPr sz="600" spc="500" dirty="0">
                <a:latin typeface="Times New Roman"/>
                <a:cs typeface="Times New Roman"/>
              </a:rPr>
              <a:t> </a:t>
            </a:r>
            <a:r>
              <a:rPr sz="600" spc="-10" dirty="0">
                <a:latin typeface="Times New Roman"/>
                <a:cs typeface="Times New Roman"/>
              </a:rPr>
              <a:t>Self-service</a:t>
            </a:r>
            <a:endParaRPr sz="6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077461" y="2780537"/>
            <a:ext cx="104775" cy="1225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600" spc="-25" dirty="0">
                <a:solidFill>
                  <a:srgbClr val="888888"/>
                </a:solidFill>
                <a:latin typeface="Times New Roman"/>
                <a:cs typeface="Times New Roman"/>
              </a:rPr>
              <a:t>33</a:t>
            </a:r>
            <a:endParaRPr sz="600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ts val="1010"/>
              </a:lnSpc>
              <a:spcBef>
                <a:spcPts val="110"/>
              </a:spcBef>
            </a:pPr>
            <a:r>
              <a:rPr spc="-10" dirty="0"/>
              <a:t>Scalability:</a:t>
            </a:r>
          </a:p>
          <a:p>
            <a:pPr marL="137795" indent="-125095">
              <a:lnSpc>
                <a:spcPts val="1010"/>
              </a:lnSpc>
              <a:buFont typeface="Arial MT"/>
              <a:buChar char="•"/>
              <a:tabLst>
                <a:tab pos="137795" algn="l"/>
              </a:tabLst>
            </a:pPr>
            <a:r>
              <a:rPr b="0" spc="-25" dirty="0">
                <a:latin typeface="Times New Roman"/>
                <a:cs typeface="Times New Roman"/>
              </a:rPr>
              <a:t>Ability</a:t>
            </a:r>
            <a:r>
              <a:rPr b="0" spc="-45" dirty="0">
                <a:latin typeface="Times New Roman"/>
                <a:cs typeface="Times New Roman"/>
              </a:rPr>
              <a:t> </a:t>
            </a:r>
            <a:r>
              <a:rPr b="0" dirty="0">
                <a:latin typeface="Times New Roman"/>
                <a:cs typeface="Times New Roman"/>
              </a:rPr>
              <a:t>to</a:t>
            </a:r>
            <a:r>
              <a:rPr b="0" spc="75" dirty="0">
                <a:latin typeface="Times New Roman"/>
                <a:cs typeface="Times New Roman"/>
              </a:rPr>
              <a:t> </a:t>
            </a:r>
            <a:r>
              <a:rPr b="0" spc="-20" dirty="0">
                <a:latin typeface="Times New Roman"/>
                <a:cs typeface="Times New Roman"/>
              </a:rPr>
              <a:t>system</a:t>
            </a:r>
            <a:r>
              <a:rPr b="0" spc="10" dirty="0">
                <a:latin typeface="Times New Roman"/>
                <a:cs typeface="Times New Roman"/>
              </a:rPr>
              <a:t> </a:t>
            </a:r>
            <a:r>
              <a:rPr b="0" dirty="0">
                <a:latin typeface="Times New Roman"/>
                <a:cs typeface="Times New Roman"/>
              </a:rPr>
              <a:t>to</a:t>
            </a:r>
            <a:r>
              <a:rPr b="0" spc="85" dirty="0">
                <a:latin typeface="Times New Roman"/>
                <a:cs typeface="Times New Roman"/>
              </a:rPr>
              <a:t> </a:t>
            </a:r>
            <a:r>
              <a:rPr b="0" spc="-10" dirty="0">
                <a:latin typeface="Times New Roman"/>
                <a:cs typeface="Times New Roman"/>
              </a:rPr>
              <a:t>handle</a:t>
            </a:r>
            <a:r>
              <a:rPr b="0" spc="45" dirty="0">
                <a:latin typeface="Times New Roman"/>
                <a:cs typeface="Times New Roman"/>
              </a:rPr>
              <a:t> </a:t>
            </a:r>
            <a:r>
              <a:rPr b="0" spc="-20" dirty="0">
                <a:latin typeface="Times New Roman"/>
                <a:cs typeface="Times New Roman"/>
              </a:rPr>
              <a:t>increasing</a:t>
            </a:r>
            <a:r>
              <a:rPr b="0" spc="-30" dirty="0">
                <a:latin typeface="Times New Roman"/>
                <a:cs typeface="Times New Roman"/>
              </a:rPr>
              <a:t> </a:t>
            </a:r>
            <a:r>
              <a:rPr b="0" spc="-20" dirty="0">
                <a:latin typeface="Times New Roman"/>
                <a:cs typeface="Times New Roman"/>
              </a:rPr>
              <a:t>workload</a:t>
            </a:r>
            <a:r>
              <a:rPr b="0" spc="-5" dirty="0">
                <a:latin typeface="Times New Roman"/>
                <a:cs typeface="Times New Roman"/>
              </a:rPr>
              <a:t> </a:t>
            </a:r>
            <a:r>
              <a:rPr b="0" spc="-25" dirty="0">
                <a:latin typeface="Times New Roman"/>
                <a:cs typeface="Times New Roman"/>
              </a:rPr>
              <a:t>by</a:t>
            </a:r>
            <a:r>
              <a:rPr b="0" spc="-15" dirty="0">
                <a:latin typeface="Times New Roman"/>
                <a:cs typeface="Times New Roman"/>
              </a:rPr>
              <a:t> </a:t>
            </a:r>
            <a:r>
              <a:rPr b="0" spc="-20" dirty="0">
                <a:latin typeface="Times New Roman"/>
                <a:cs typeface="Times New Roman"/>
              </a:rPr>
              <a:t>increasing</a:t>
            </a:r>
            <a:r>
              <a:rPr b="0" spc="-55" dirty="0">
                <a:latin typeface="Times New Roman"/>
                <a:cs typeface="Times New Roman"/>
              </a:rPr>
              <a:t> </a:t>
            </a:r>
            <a:r>
              <a:rPr b="0" spc="-25" dirty="0">
                <a:latin typeface="Times New Roman"/>
                <a:cs typeface="Times New Roman"/>
              </a:rPr>
              <a:t>in</a:t>
            </a:r>
          </a:p>
          <a:p>
            <a:pPr marL="137160">
              <a:lnSpc>
                <a:spcPct val="100000"/>
              </a:lnSpc>
              <a:spcBef>
                <a:spcPts val="40"/>
              </a:spcBef>
            </a:pPr>
            <a:r>
              <a:rPr b="0" dirty="0">
                <a:latin typeface="Times New Roman"/>
                <a:cs typeface="Times New Roman"/>
              </a:rPr>
              <a:t>proportion</a:t>
            </a:r>
            <a:r>
              <a:rPr b="0" spc="15" dirty="0">
                <a:latin typeface="Times New Roman"/>
                <a:cs typeface="Times New Roman"/>
              </a:rPr>
              <a:t> </a:t>
            </a:r>
            <a:r>
              <a:rPr b="0" dirty="0">
                <a:latin typeface="Times New Roman"/>
                <a:cs typeface="Times New Roman"/>
              </a:rPr>
              <a:t>the</a:t>
            </a:r>
            <a:r>
              <a:rPr b="0" spc="20" dirty="0">
                <a:latin typeface="Times New Roman"/>
                <a:cs typeface="Times New Roman"/>
              </a:rPr>
              <a:t> </a:t>
            </a:r>
            <a:r>
              <a:rPr b="0" dirty="0">
                <a:latin typeface="Times New Roman"/>
                <a:cs typeface="Times New Roman"/>
              </a:rPr>
              <a:t>amount</a:t>
            </a:r>
            <a:r>
              <a:rPr b="0" spc="25" dirty="0">
                <a:latin typeface="Times New Roman"/>
                <a:cs typeface="Times New Roman"/>
              </a:rPr>
              <a:t> </a:t>
            </a:r>
            <a:r>
              <a:rPr b="0" dirty="0">
                <a:latin typeface="Times New Roman"/>
                <a:cs typeface="Times New Roman"/>
              </a:rPr>
              <a:t>of</a:t>
            </a:r>
            <a:r>
              <a:rPr b="0" spc="45" dirty="0">
                <a:latin typeface="Times New Roman"/>
                <a:cs typeface="Times New Roman"/>
              </a:rPr>
              <a:t> </a:t>
            </a:r>
            <a:r>
              <a:rPr b="0" spc="-10" dirty="0">
                <a:latin typeface="Times New Roman"/>
                <a:cs typeface="Times New Roman"/>
              </a:rPr>
              <a:t>resource</a:t>
            </a:r>
            <a:r>
              <a:rPr b="0" spc="-55" dirty="0">
                <a:latin typeface="Times New Roman"/>
                <a:cs typeface="Times New Roman"/>
              </a:rPr>
              <a:t> </a:t>
            </a:r>
            <a:r>
              <a:rPr b="0" spc="-10" dirty="0">
                <a:latin typeface="Times New Roman"/>
                <a:cs typeface="Times New Roman"/>
              </a:rPr>
              <a:t>capacity.</a:t>
            </a:r>
          </a:p>
          <a:p>
            <a:pPr marL="137160" marR="373380" indent="-125095">
              <a:lnSpc>
                <a:spcPct val="103499"/>
              </a:lnSpc>
              <a:spcBef>
                <a:spcPts val="35"/>
              </a:spcBef>
              <a:buFont typeface="Arial MT"/>
              <a:buChar char="•"/>
              <a:tabLst>
                <a:tab pos="137160" algn="l"/>
              </a:tabLst>
            </a:pPr>
            <a:r>
              <a:rPr b="0" spc="-10" dirty="0">
                <a:latin typeface="Times New Roman"/>
                <a:cs typeface="Times New Roman"/>
              </a:rPr>
              <a:t>Architecture</a:t>
            </a:r>
            <a:r>
              <a:rPr b="0" spc="5" dirty="0">
                <a:latin typeface="Times New Roman"/>
                <a:cs typeface="Times New Roman"/>
              </a:rPr>
              <a:t> </a:t>
            </a:r>
            <a:r>
              <a:rPr b="0" spc="-25" dirty="0">
                <a:latin typeface="Times New Roman"/>
                <a:cs typeface="Times New Roman"/>
              </a:rPr>
              <a:t>allows</a:t>
            </a:r>
            <a:r>
              <a:rPr b="0" spc="-80" dirty="0">
                <a:latin typeface="Times New Roman"/>
                <a:cs typeface="Times New Roman"/>
              </a:rPr>
              <a:t> </a:t>
            </a:r>
            <a:r>
              <a:rPr b="0" spc="-10" dirty="0">
                <a:latin typeface="Times New Roman"/>
                <a:cs typeface="Times New Roman"/>
              </a:rPr>
              <a:t>on-</a:t>
            </a:r>
            <a:r>
              <a:rPr b="0" dirty="0">
                <a:latin typeface="Times New Roman"/>
                <a:cs typeface="Times New Roman"/>
              </a:rPr>
              <a:t>demand</a:t>
            </a:r>
            <a:r>
              <a:rPr b="0" spc="15" dirty="0">
                <a:latin typeface="Times New Roman"/>
                <a:cs typeface="Times New Roman"/>
              </a:rPr>
              <a:t> </a:t>
            </a:r>
            <a:r>
              <a:rPr b="0" spc="-10" dirty="0">
                <a:latin typeface="Times New Roman"/>
                <a:cs typeface="Times New Roman"/>
              </a:rPr>
              <a:t>resources</a:t>
            </a:r>
            <a:r>
              <a:rPr b="0" spc="35" dirty="0">
                <a:latin typeface="Times New Roman"/>
                <a:cs typeface="Times New Roman"/>
              </a:rPr>
              <a:t> </a:t>
            </a:r>
            <a:r>
              <a:rPr b="0" dirty="0">
                <a:latin typeface="Times New Roman"/>
                <a:cs typeface="Times New Roman"/>
              </a:rPr>
              <a:t>for</a:t>
            </a:r>
            <a:r>
              <a:rPr b="0" spc="35" dirty="0">
                <a:latin typeface="Times New Roman"/>
                <a:cs typeface="Times New Roman"/>
              </a:rPr>
              <a:t> </a:t>
            </a:r>
            <a:r>
              <a:rPr b="0" spc="-10" dirty="0">
                <a:latin typeface="Times New Roman"/>
                <a:cs typeface="Times New Roman"/>
              </a:rPr>
              <a:t>increasing workload</a:t>
            </a:r>
          </a:p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pc="-10" dirty="0"/>
              <a:t>Elasticity:</a:t>
            </a:r>
          </a:p>
          <a:p>
            <a:pPr marL="137795" indent="-125095">
              <a:lnSpc>
                <a:spcPts val="1000"/>
              </a:lnSpc>
              <a:spcBef>
                <a:spcPts val="30"/>
              </a:spcBef>
              <a:buFont typeface="Arial MT"/>
              <a:buChar char="•"/>
              <a:tabLst>
                <a:tab pos="137795" algn="l"/>
              </a:tabLst>
            </a:pPr>
            <a:r>
              <a:rPr b="0" spc="-30" dirty="0">
                <a:latin typeface="Times New Roman"/>
                <a:cs typeface="Times New Roman"/>
              </a:rPr>
              <a:t>Dynamically</a:t>
            </a:r>
            <a:r>
              <a:rPr b="0" spc="-40" dirty="0">
                <a:latin typeface="Times New Roman"/>
                <a:cs typeface="Times New Roman"/>
              </a:rPr>
              <a:t> </a:t>
            </a:r>
            <a:r>
              <a:rPr b="0" spc="-10" dirty="0">
                <a:latin typeface="Times New Roman"/>
                <a:cs typeface="Times New Roman"/>
              </a:rPr>
              <a:t>Commissioning</a:t>
            </a:r>
            <a:r>
              <a:rPr b="0" spc="-5" dirty="0">
                <a:latin typeface="Times New Roman"/>
                <a:cs typeface="Times New Roman"/>
              </a:rPr>
              <a:t> </a:t>
            </a:r>
            <a:r>
              <a:rPr b="0" dirty="0">
                <a:latin typeface="Times New Roman"/>
                <a:cs typeface="Times New Roman"/>
              </a:rPr>
              <a:t>and</a:t>
            </a:r>
            <a:r>
              <a:rPr b="0" spc="-5" dirty="0">
                <a:latin typeface="Times New Roman"/>
                <a:cs typeface="Times New Roman"/>
              </a:rPr>
              <a:t> </a:t>
            </a:r>
            <a:r>
              <a:rPr b="0" spc="-10" dirty="0">
                <a:latin typeface="Times New Roman"/>
                <a:cs typeface="Times New Roman"/>
              </a:rPr>
              <a:t>decommissioning</a:t>
            </a:r>
            <a:r>
              <a:rPr b="0" spc="30" dirty="0">
                <a:latin typeface="Times New Roman"/>
                <a:cs typeface="Times New Roman"/>
              </a:rPr>
              <a:t> </a:t>
            </a:r>
            <a:r>
              <a:rPr b="0" dirty="0">
                <a:latin typeface="Times New Roman"/>
                <a:cs typeface="Times New Roman"/>
              </a:rPr>
              <a:t>of</a:t>
            </a:r>
            <a:r>
              <a:rPr b="0" spc="220" dirty="0">
                <a:latin typeface="Times New Roman"/>
                <a:cs typeface="Times New Roman"/>
              </a:rPr>
              <a:t> </a:t>
            </a:r>
            <a:r>
              <a:rPr b="0" spc="-10" dirty="0">
                <a:latin typeface="Times New Roman"/>
                <a:cs typeface="Times New Roman"/>
              </a:rPr>
              <a:t>resources</a:t>
            </a:r>
          </a:p>
          <a:p>
            <a:pPr marL="137160" marR="44450" indent="-125095">
              <a:lnSpc>
                <a:spcPts val="1040"/>
              </a:lnSpc>
              <a:buFont typeface="Arial MT"/>
              <a:buChar char="•"/>
              <a:tabLst>
                <a:tab pos="137160" algn="l"/>
              </a:tabLst>
            </a:pPr>
            <a:r>
              <a:rPr b="0" spc="-20" dirty="0">
                <a:latin typeface="Times New Roman"/>
                <a:cs typeface="Times New Roman"/>
              </a:rPr>
              <a:t>Speed</a:t>
            </a:r>
            <a:r>
              <a:rPr b="0" spc="-50" dirty="0">
                <a:latin typeface="Times New Roman"/>
                <a:cs typeface="Times New Roman"/>
              </a:rPr>
              <a:t> </a:t>
            </a:r>
            <a:r>
              <a:rPr b="0" dirty="0">
                <a:latin typeface="Times New Roman"/>
                <a:cs typeface="Times New Roman"/>
              </a:rPr>
              <a:t>at</a:t>
            </a:r>
            <a:r>
              <a:rPr b="0" spc="-25" dirty="0">
                <a:latin typeface="Times New Roman"/>
                <a:cs typeface="Times New Roman"/>
              </a:rPr>
              <a:t> </a:t>
            </a:r>
            <a:r>
              <a:rPr b="0" spc="-10" dirty="0">
                <a:latin typeface="Times New Roman"/>
                <a:cs typeface="Times New Roman"/>
              </a:rPr>
              <a:t>which</a:t>
            </a:r>
            <a:r>
              <a:rPr b="0" spc="-70" dirty="0">
                <a:latin typeface="Times New Roman"/>
                <a:cs typeface="Times New Roman"/>
              </a:rPr>
              <a:t> </a:t>
            </a:r>
            <a:r>
              <a:rPr b="0" spc="-10" dirty="0">
                <a:latin typeface="Times New Roman"/>
                <a:cs typeface="Times New Roman"/>
              </a:rPr>
              <a:t>resources</a:t>
            </a:r>
            <a:r>
              <a:rPr b="0" spc="35" dirty="0">
                <a:latin typeface="Times New Roman"/>
                <a:cs typeface="Times New Roman"/>
              </a:rPr>
              <a:t> </a:t>
            </a:r>
            <a:r>
              <a:rPr b="0" spc="-10" dirty="0">
                <a:latin typeface="Times New Roman"/>
                <a:cs typeface="Times New Roman"/>
              </a:rPr>
              <a:t>are</a:t>
            </a:r>
            <a:r>
              <a:rPr b="0" spc="-40" dirty="0">
                <a:latin typeface="Times New Roman"/>
                <a:cs typeface="Times New Roman"/>
              </a:rPr>
              <a:t> </a:t>
            </a:r>
            <a:r>
              <a:rPr b="0" spc="-10" dirty="0">
                <a:latin typeface="Times New Roman"/>
                <a:cs typeface="Times New Roman"/>
              </a:rPr>
              <a:t>provisioned</a:t>
            </a:r>
            <a:r>
              <a:rPr b="0" spc="40" dirty="0">
                <a:latin typeface="Times New Roman"/>
                <a:cs typeface="Times New Roman"/>
              </a:rPr>
              <a:t> </a:t>
            </a:r>
            <a:r>
              <a:rPr b="0" dirty="0">
                <a:latin typeface="Times New Roman"/>
                <a:cs typeface="Times New Roman"/>
              </a:rPr>
              <a:t>on</a:t>
            </a:r>
            <a:r>
              <a:rPr b="0" spc="35" dirty="0">
                <a:latin typeface="Times New Roman"/>
                <a:cs typeface="Times New Roman"/>
              </a:rPr>
              <a:t> </a:t>
            </a:r>
            <a:r>
              <a:rPr b="0" dirty="0">
                <a:latin typeface="Times New Roman"/>
                <a:cs typeface="Times New Roman"/>
              </a:rPr>
              <a:t>demand</a:t>
            </a:r>
            <a:r>
              <a:rPr b="0" spc="-25" dirty="0">
                <a:latin typeface="Times New Roman"/>
                <a:cs typeface="Times New Roman"/>
              </a:rPr>
              <a:t> </a:t>
            </a:r>
            <a:r>
              <a:rPr b="0" dirty="0">
                <a:latin typeface="Times New Roman"/>
                <a:cs typeface="Times New Roman"/>
              </a:rPr>
              <a:t>and</a:t>
            </a:r>
            <a:r>
              <a:rPr b="0" spc="5" dirty="0">
                <a:latin typeface="Times New Roman"/>
                <a:cs typeface="Times New Roman"/>
              </a:rPr>
              <a:t> </a:t>
            </a:r>
            <a:r>
              <a:rPr b="0" spc="-20" dirty="0">
                <a:latin typeface="Times New Roman"/>
                <a:cs typeface="Times New Roman"/>
              </a:rPr>
              <a:t>usage</a:t>
            </a:r>
            <a:r>
              <a:rPr b="0" dirty="0">
                <a:latin typeface="Times New Roman"/>
                <a:cs typeface="Times New Roman"/>
              </a:rPr>
              <a:t> of</a:t>
            </a:r>
            <a:r>
              <a:rPr b="0" spc="120" dirty="0">
                <a:latin typeface="Times New Roman"/>
                <a:cs typeface="Times New Roman"/>
              </a:rPr>
              <a:t> </a:t>
            </a:r>
            <a:r>
              <a:rPr b="0" spc="-10" dirty="0">
                <a:latin typeface="Times New Roman"/>
                <a:cs typeface="Times New Roman"/>
              </a:rPr>
              <a:t>resources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8739" rIns="0" bIns="0" rtlCol="0">
            <a:spAutoFit/>
          </a:bodyPr>
          <a:lstStyle/>
          <a:p>
            <a:pPr marL="88265">
              <a:lnSpc>
                <a:spcPct val="100000"/>
              </a:lnSpc>
              <a:spcBef>
                <a:spcPts val="95"/>
              </a:spcBef>
            </a:pPr>
            <a:r>
              <a:rPr dirty="0"/>
              <a:t>DevOps–</a:t>
            </a:r>
            <a:r>
              <a:rPr spc="50" dirty="0"/>
              <a:t> </a:t>
            </a:r>
            <a:r>
              <a:rPr dirty="0"/>
              <a:t>Cloud as a</a:t>
            </a:r>
            <a:r>
              <a:rPr spc="-105" dirty="0"/>
              <a:t> </a:t>
            </a:r>
            <a:r>
              <a:rPr spc="-10" dirty="0"/>
              <a:t>catalyst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686" y="1559204"/>
            <a:ext cx="432993" cy="35836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3083" y="996467"/>
            <a:ext cx="433666" cy="358368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325374" y="2131339"/>
            <a:ext cx="433705" cy="358775"/>
            <a:chOff x="325374" y="2131339"/>
            <a:chExt cx="433705" cy="358775"/>
          </a:xfrm>
        </p:grpSpPr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25374" y="2131339"/>
              <a:ext cx="433666" cy="35836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04114" y="2277871"/>
              <a:ext cx="277495" cy="100330"/>
            </a:xfrm>
            <a:custGeom>
              <a:avLst/>
              <a:gdLst/>
              <a:ahLst/>
              <a:cxnLst/>
              <a:rect l="l" t="t" r="r" b="b"/>
              <a:pathLst>
                <a:path w="277495" h="100330">
                  <a:moveTo>
                    <a:pt x="635" y="0"/>
                  </a:moveTo>
                  <a:lnTo>
                    <a:pt x="0" y="2032"/>
                  </a:lnTo>
                  <a:lnTo>
                    <a:pt x="275590" y="100202"/>
                  </a:lnTo>
                  <a:lnTo>
                    <a:pt x="276987" y="98171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00685" y="2219392"/>
              <a:ext cx="136486" cy="117661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54736" y="2303542"/>
              <a:ext cx="136486" cy="116315"/>
            </a:xfrm>
            <a:prstGeom prst="rect">
              <a:avLst/>
            </a:prstGeom>
          </p:spPr>
        </p:pic>
      </p:grpSp>
      <p:sp>
        <p:nvSpPr>
          <p:cNvPr id="11" name="object 11"/>
          <p:cNvSpPr txBox="1"/>
          <p:nvPr/>
        </p:nvSpPr>
        <p:spPr>
          <a:xfrm>
            <a:off x="287274" y="876680"/>
            <a:ext cx="494030" cy="11366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550" b="1" dirty="0">
                <a:latin typeface="Arial"/>
                <a:cs typeface="Arial"/>
              </a:rPr>
              <a:t>Private</a:t>
            </a:r>
            <a:r>
              <a:rPr sz="550" b="1" spc="60" dirty="0">
                <a:latin typeface="Arial"/>
                <a:cs typeface="Arial"/>
              </a:rPr>
              <a:t> </a:t>
            </a:r>
            <a:r>
              <a:rPr sz="550" b="1" spc="-10" dirty="0">
                <a:latin typeface="Arial"/>
                <a:cs typeface="Arial"/>
              </a:rPr>
              <a:t>Cloud</a:t>
            </a:r>
            <a:endParaRPr sz="55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71018" y="1434211"/>
            <a:ext cx="467995" cy="11366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550" b="1" dirty="0">
                <a:latin typeface="Arial"/>
                <a:cs typeface="Arial"/>
              </a:rPr>
              <a:t>Public</a:t>
            </a:r>
            <a:r>
              <a:rPr sz="550" b="1" spc="50" dirty="0">
                <a:latin typeface="Arial"/>
                <a:cs typeface="Arial"/>
              </a:rPr>
              <a:t> </a:t>
            </a:r>
            <a:r>
              <a:rPr sz="550" b="1" spc="-10" dirty="0">
                <a:latin typeface="Arial"/>
                <a:cs typeface="Arial"/>
              </a:rPr>
              <a:t>Cloud</a:t>
            </a:r>
            <a:endParaRPr sz="55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18261" y="2021839"/>
            <a:ext cx="481965" cy="11366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550" b="1" dirty="0">
                <a:latin typeface="Arial"/>
                <a:cs typeface="Arial"/>
              </a:rPr>
              <a:t>Hybrid</a:t>
            </a:r>
            <a:r>
              <a:rPr sz="550" b="1" spc="50" dirty="0">
                <a:latin typeface="Arial"/>
                <a:cs typeface="Arial"/>
              </a:rPr>
              <a:t> </a:t>
            </a:r>
            <a:r>
              <a:rPr sz="550" b="1" spc="-10" dirty="0">
                <a:latin typeface="Arial"/>
                <a:cs typeface="Arial"/>
              </a:rPr>
              <a:t>Cloud</a:t>
            </a:r>
            <a:endParaRPr sz="55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15416" y="860805"/>
            <a:ext cx="3375660" cy="42227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02400"/>
              </a:lnSpc>
              <a:spcBef>
                <a:spcPts val="90"/>
              </a:spcBef>
            </a:pPr>
            <a:r>
              <a:rPr sz="850" b="1" spc="-30" dirty="0">
                <a:latin typeface="Calibri"/>
                <a:cs typeface="Calibri"/>
              </a:rPr>
              <a:t>Private</a:t>
            </a:r>
            <a:r>
              <a:rPr sz="850" b="1" spc="-10" dirty="0">
                <a:latin typeface="Calibri"/>
                <a:cs typeface="Calibri"/>
              </a:rPr>
              <a:t> Cloud:</a:t>
            </a:r>
            <a:r>
              <a:rPr sz="850" b="1" spc="-2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The</a:t>
            </a:r>
            <a:r>
              <a:rPr sz="850" spc="15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infrastructure </a:t>
            </a:r>
            <a:r>
              <a:rPr sz="850" spc="-20" dirty="0">
                <a:latin typeface="Calibri"/>
                <a:cs typeface="Calibri"/>
              </a:rPr>
              <a:t>is</a:t>
            </a:r>
            <a:r>
              <a:rPr sz="850" spc="-50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operated</a:t>
            </a:r>
            <a:r>
              <a:rPr sz="850" spc="-15" dirty="0">
                <a:latin typeface="Calibri"/>
                <a:cs typeface="Calibri"/>
              </a:rPr>
              <a:t> </a:t>
            </a:r>
            <a:r>
              <a:rPr sz="850" spc="-25" dirty="0">
                <a:latin typeface="Calibri"/>
                <a:cs typeface="Calibri"/>
              </a:rPr>
              <a:t>solely</a:t>
            </a:r>
            <a:r>
              <a:rPr sz="850" spc="-6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for</a:t>
            </a:r>
            <a:r>
              <a:rPr sz="850" spc="3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an</a:t>
            </a:r>
            <a:r>
              <a:rPr sz="850" spc="10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organization.</a:t>
            </a:r>
            <a:r>
              <a:rPr sz="850" spc="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It</a:t>
            </a:r>
            <a:r>
              <a:rPr sz="850" spc="60" dirty="0">
                <a:latin typeface="Calibri"/>
                <a:cs typeface="Calibri"/>
              </a:rPr>
              <a:t> </a:t>
            </a:r>
            <a:r>
              <a:rPr sz="850" spc="-25" dirty="0">
                <a:latin typeface="Calibri"/>
                <a:cs typeface="Calibri"/>
              </a:rPr>
              <a:t>may</a:t>
            </a:r>
            <a:r>
              <a:rPr sz="850" spc="50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be</a:t>
            </a:r>
            <a:r>
              <a:rPr sz="850" spc="-15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managed</a:t>
            </a:r>
            <a:r>
              <a:rPr sz="850" spc="-30" dirty="0">
                <a:latin typeface="Calibri"/>
                <a:cs typeface="Calibri"/>
              </a:rPr>
              <a:t> </a:t>
            </a:r>
            <a:r>
              <a:rPr sz="850" spc="-25" dirty="0">
                <a:latin typeface="Calibri"/>
                <a:cs typeface="Calibri"/>
              </a:rPr>
              <a:t>by</a:t>
            </a:r>
            <a:r>
              <a:rPr sz="850" spc="-6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the</a:t>
            </a:r>
            <a:r>
              <a:rPr sz="850" spc="10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organization</a:t>
            </a:r>
            <a:r>
              <a:rPr sz="850" spc="1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or</a:t>
            </a:r>
            <a:r>
              <a:rPr sz="850" spc="2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a</a:t>
            </a:r>
            <a:r>
              <a:rPr sz="850" spc="-4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third</a:t>
            </a:r>
            <a:r>
              <a:rPr sz="850" spc="-15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party </a:t>
            </a:r>
            <a:r>
              <a:rPr sz="850" dirty="0">
                <a:latin typeface="Calibri"/>
                <a:cs typeface="Calibri"/>
              </a:rPr>
              <a:t>and</a:t>
            </a:r>
            <a:r>
              <a:rPr sz="850" spc="10" dirty="0">
                <a:latin typeface="Calibri"/>
                <a:cs typeface="Calibri"/>
              </a:rPr>
              <a:t> </a:t>
            </a:r>
            <a:r>
              <a:rPr sz="850" spc="-35" dirty="0">
                <a:latin typeface="Calibri"/>
                <a:cs typeface="Calibri"/>
              </a:rPr>
              <a:t>may</a:t>
            </a:r>
            <a:r>
              <a:rPr sz="850" spc="-80" dirty="0">
                <a:latin typeface="Calibri"/>
                <a:cs typeface="Calibri"/>
              </a:rPr>
              <a:t> </a:t>
            </a:r>
            <a:r>
              <a:rPr sz="850" spc="-25" dirty="0">
                <a:latin typeface="Calibri"/>
                <a:cs typeface="Calibri"/>
              </a:rPr>
              <a:t>exist</a:t>
            </a:r>
            <a:r>
              <a:rPr sz="850" spc="-1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on</a:t>
            </a:r>
            <a:r>
              <a:rPr sz="850" spc="3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or</a:t>
            </a:r>
            <a:r>
              <a:rPr sz="850" spc="2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off</a:t>
            </a:r>
            <a:r>
              <a:rPr sz="850" spc="10" dirty="0">
                <a:latin typeface="Calibri"/>
                <a:cs typeface="Calibri"/>
              </a:rPr>
              <a:t> </a:t>
            </a:r>
            <a:r>
              <a:rPr sz="850" spc="-25" dirty="0">
                <a:latin typeface="Calibri"/>
                <a:cs typeface="Calibri"/>
              </a:rPr>
              <a:t>the</a:t>
            </a:r>
            <a:r>
              <a:rPr sz="850" spc="500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premises</a:t>
            </a:r>
            <a:r>
              <a:rPr sz="850" spc="-5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of</a:t>
            </a:r>
            <a:r>
              <a:rPr sz="850" spc="1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the</a:t>
            </a:r>
            <a:r>
              <a:rPr sz="850" spc="-80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organization.</a:t>
            </a:r>
            <a:endParaRPr sz="85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15416" y="1393951"/>
            <a:ext cx="3275965" cy="29146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3499"/>
              </a:lnSpc>
              <a:spcBef>
                <a:spcPts val="75"/>
              </a:spcBef>
            </a:pPr>
            <a:r>
              <a:rPr sz="850" b="1" dirty="0">
                <a:latin typeface="Calibri"/>
                <a:cs typeface="Calibri"/>
              </a:rPr>
              <a:t>Public</a:t>
            </a:r>
            <a:r>
              <a:rPr sz="850" b="1" spc="55" dirty="0">
                <a:latin typeface="Calibri"/>
                <a:cs typeface="Calibri"/>
              </a:rPr>
              <a:t> </a:t>
            </a:r>
            <a:r>
              <a:rPr sz="850" b="1" spc="-10" dirty="0">
                <a:latin typeface="Calibri"/>
                <a:cs typeface="Calibri"/>
              </a:rPr>
              <a:t>Cloud:</a:t>
            </a:r>
            <a:r>
              <a:rPr sz="850" b="1" spc="-3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The</a:t>
            </a:r>
            <a:r>
              <a:rPr sz="850" spc="25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infrastructure</a:t>
            </a:r>
            <a:r>
              <a:rPr sz="850" spc="-5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is</a:t>
            </a:r>
            <a:r>
              <a:rPr sz="850" spc="-50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made</a:t>
            </a:r>
            <a:r>
              <a:rPr sz="850" dirty="0">
                <a:latin typeface="Calibri"/>
                <a:cs typeface="Calibri"/>
              </a:rPr>
              <a:t> </a:t>
            </a:r>
            <a:r>
              <a:rPr sz="850" spc="-35" dirty="0">
                <a:latin typeface="Calibri"/>
                <a:cs typeface="Calibri"/>
              </a:rPr>
              <a:t>available</a:t>
            </a:r>
            <a:r>
              <a:rPr sz="850" spc="-8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to</a:t>
            </a:r>
            <a:r>
              <a:rPr sz="850" spc="6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the</a:t>
            </a:r>
            <a:r>
              <a:rPr sz="850" spc="30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general</a:t>
            </a:r>
            <a:r>
              <a:rPr sz="850" spc="-55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public</a:t>
            </a:r>
            <a:r>
              <a:rPr sz="850" spc="-5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or</a:t>
            </a:r>
            <a:r>
              <a:rPr sz="850" spc="35" dirty="0">
                <a:latin typeface="Calibri"/>
                <a:cs typeface="Calibri"/>
              </a:rPr>
              <a:t> </a:t>
            </a:r>
            <a:r>
              <a:rPr sz="850" spc="-50" dirty="0">
                <a:latin typeface="Calibri"/>
                <a:cs typeface="Calibri"/>
              </a:rPr>
              <a:t>a</a:t>
            </a:r>
            <a:r>
              <a:rPr sz="850" spc="500" dirty="0">
                <a:latin typeface="Calibri"/>
                <a:cs typeface="Calibri"/>
              </a:rPr>
              <a:t> </a:t>
            </a:r>
            <a:r>
              <a:rPr sz="850" spc="-30" dirty="0">
                <a:latin typeface="Calibri"/>
                <a:cs typeface="Calibri"/>
              </a:rPr>
              <a:t>large</a:t>
            </a:r>
            <a:r>
              <a:rPr sz="850" spc="-35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industry </a:t>
            </a:r>
            <a:r>
              <a:rPr sz="850" dirty="0">
                <a:latin typeface="Calibri"/>
                <a:cs typeface="Calibri"/>
              </a:rPr>
              <a:t>group</a:t>
            </a:r>
            <a:r>
              <a:rPr sz="850" spc="-1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and</a:t>
            </a:r>
            <a:r>
              <a:rPr sz="850" spc="-15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is</a:t>
            </a:r>
            <a:r>
              <a:rPr sz="850" spc="-65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owned</a:t>
            </a:r>
            <a:r>
              <a:rPr sz="850" spc="-25" dirty="0">
                <a:latin typeface="Calibri"/>
                <a:cs typeface="Calibri"/>
              </a:rPr>
              <a:t> by</a:t>
            </a:r>
            <a:r>
              <a:rPr sz="850" spc="-6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an </a:t>
            </a:r>
            <a:r>
              <a:rPr sz="850" spc="-20" dirty="0">
                <a:latin typeface="Calibri"/>
                <a:cs typeface="Calibri"/>
              </a:rPr>
              <a:t>organization</a:t>
            </a:r>
            <a:r>
              <a:rPr sz="850" dirty="0">
                <a:latin typeface="Calibri"/>
                <a:cs typeface="Calibri"/>
              </a:rPr>
              <a:t> </a:t>
            </a:r>
            <a:r>
              <a:rPr sz="850" spc="-25" dirty="0">
                <a:latin typeface="Calibri"/>
                <a:cs typeface="Calibri"/>
              </a:rPr>
              <a:t>selling</a:t>
            </a:r>
            <a:r>
              <a:rPr sz="850" spc="-8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cloud</a:t>
            </a:r>
            <a:r>
              <a:rPr sz="850" spc="170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services.</a:t>
            </a:r>
            <a:endParaRPr sz="85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15416" y="1792985"/>
            <a:ext cx="3169285" cy="15748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50" b="1" dirty="0">
                <a:latin typeface="Calibri"/>
                <a:cs typeface="Calibri"/>
              </a:rPr>
              <a:t>Hybrid</a:t>
            </a:r>
            <a:r>
              <a:rPr sz="850" b="1" spc="-15" dirty="0">
                <a:latin typeface="Calibri"/>
                <a:cs typeface="Calibri"/>
              </a:rPr>
              <a:t> </a:t>
            </a:r>
            <a:r>
              <a:rPr sz="850" b="1" spc="-10" dirty="0">
                <a:latin typeface="Calibri"/>
                <a:cs typeface="Calibri"/>
              </a:rPr>
              <a:t>Cloud:</a:t>
            </a:r>
            <a:r>
              <a:rPr sz="850" b="1" spc="-3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The</a:t>
            </a:r>
            <a:r>
              <a:rPr sz="850" spc="20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infrastructure</a:t>
            </a:r>
            <a:r>
              <a:rPr sz="850" spc="-30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is</a:t>
            </a:r>
            <a:r>
              <a:rPr sz="850" spc="-5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a</a:t>
            </a:r>
            <a:r>
              <a:rPr sz="850" spc="-40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composition</a:t>
            </a:r>
            <a:r>
              <a:rPr sz="850" spc="-3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of</a:t>
            </a:r>
            <a:r>
              <a:rPr sz="850" spc="3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two</a:t>
            </a:r>
            <a:r>
              <a:rPr sz="850" spc="2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or</a:t>
            </a:r>
            <a:r>
              <a:rPr sz="850" spc="3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more</a:t>
            </a:r>
            <a:r>
              <a:rPr sz="850" spc="5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clouds</a:t>
            </a:r>
            <a:endParaRPr sz="85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915416" y="1925573"/>
            <a:ext cx="3235325" cy="42227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02400"/>
              </a:lnSpc>
              <a:spcBef>
                <a:spcPts val="90"/>
              </a:spcBef>
            </a:pPr>
            <a:r>
              <a:rPr sz="850" spc="-30" dirty="0">
                <a:latin typeface="Calibri"/>
                <a:cs typeface="Calibri"/>
              </a:rPr>
              <a:t>(private,</a:t>
            </a:r>
            <a:r>
              <a:rPr sz="850" spc="-5" dirty="0">
                <a:latin typeface="Calibri"/>
                <a:cs typeface="Calibri"/>
              </a:rPr>
              <a:t> </a:t>
            </a:r>
            <a:r>
              <a:rPr sz="850" spc="-30" dirty="0">
                <a:latin typeface="Calibri"/>
                <a:cs typeface="Calibri"/>
              </a:rPr>
              <a:t>community,</a:t>
            </a:r>
            <a:r>
              <a:rPr sz="850" spc="-15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or</a:t>
            </a:r>
            <a:r>
              <a:rPr sz="850" spc="40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public)</a:t>
            </a:r>
            <a:r>
              <a:rPr sz="850" spc="-6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that</a:t>
            </a:r>
            <a:r>
              <a:rPr sz="850" spc="55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remain</a:t>
            </a:r>
            <a:r>
              <a:rPr sz="850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unique</a:t>
            </a:r>
            <a:r>
              <a:rPr sz="850" spc="-15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entities</a:t>
            </a:r>
            <a:r>
              <a:rPr sz="850" spc="-1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but</a:t>
            </a:r>
            <a:r>
              <a:rPr sz="850" spc="20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are</a:t>
            </a:r>
            <a:r>
              <a:rPr sz="850" spc="-10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bound</a:t>
            </a:r>
            <a:r>
              <a:rPr sz="850" spc="50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together</a:t>
            </a:r>
            <a:r>
              <a:rPr sz="850" spc="170" dirty="0">
                <a:latin typeface="Calibri"/>
                <a:cs typeface="Calibri"/>
              </a:rPr>
              <a:t> </a:t>
            </a:r>
            <a:r>
              <a:rPr sz="850" spc="-25" dirty="0">
                <a:latin typeface="Calibri"/>
                <a:cs typeface="Calibri"/>
              </a:rPr>
              <a:t>by</a:t>
            </a:r>
            <a:r>
              <a:rPr sz="850" spc="-65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standardized</a:t>
            </a:r>
            <a:r>
              <a:rPr sz="850" spc="2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or</a:t>
            </a:r>
            <a:r>
              <a:rPr sz="850" spc="20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proprietary</a:t>
            </a:r>
            <a:r>
              <a:rPr sz="850" spc="30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technology</a:t>
            </a:r>
            <a:r>
              <a:rPr sz="850" spc="-3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that</a:t>
            </a:r>
            <a:r>
              <a:rPr sz="850" spc="20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enables</a:t>
            </a:r>
            <a:r>
              <a:rPr sz="850" spc="-60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data</a:t>
            </a:r>
            <a:r>
              <a:rPr sz="850" spc="-5" dirty="0">
                <a:latin typeface="Calibri"/>
                <a:cs typeface="Calibri"/>
              </a:rPr>
              <a:t> </a:t>
            </a:r>
            <a:r>
              <a:rPr sz="850" spc="-25" dirty="0">
                <a:latin typeface="Calibri"/>
                <a:cs typeface="Calibri"/>
              </a:rPr>
              <a:t>and</a:t>
            </a:r>
            <a:r>
              <a:rPr sz="850" spc="500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application</a:t>
            </a:r>
            <a:r>
              <a:rPr sz="850" spc="65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portability.</a:t>
            </a:r>
            <a:endParaRPr sz="8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79172" rIns="0" bIns="0" rtlCol="0">
            <a:spAutoFit/>
          </a:bodyPr>
          <a:lstStyle/>
          <a:p>
            <a:pPr marL="278765">
              <a:lnSpc>
                <a:spcPct val="100000"/>
              </a:lnSpc>
              <a:spcBef>
                <a:spcPts val="105"/>
              </a:spcBef>
            </a:pPr>
            <a:r>
              <a:rPr sz="2000" spc="-25" dirty="0"/>
              <a:t>Virtualization</a:t>
            </a:r>
            <a:endParaRPr sz="20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6375" y="791209"/>
            <a:ext cx="252984" cy="14325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6375" y="1089913"/>
            <a:ext cx="252984" cy="143256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93675" y="769365"/>
            <a:ext cx="4159250" cy="24072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8435" marR="534035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Calibri"/>
                <a:cs typeface="Calibri"/>
              </a:rPr>
              <a:t>A</a:t>
            </a:r>
            <a:r>
              <a:rPr sz="1000" spc="-7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virtual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machine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spc="-45" dirty="0">
                <a:latin typeface="Calibri"/>
                <a:cs typeface="Calibri"/>
              </a:rPr>
              <a:t>(VM)</a:t>
            </a:r>
            <a:r>
              <a:rPr sz="1000" spc="-7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is</a:t>
            </a:r>
            <a:r>
              <a:rPr sz="1000" spc="-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-55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software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implementation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-55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machine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(for </a:t>
            </a:r>
            <a:r>
              <a:rPr sz="1000" spc="-40" dirty="0">
                <a:latin typeface="Calibri"/>
                <a:cs typeface="Calibri"/>
              </a:rPr>
              <a:t>example,</a:t>
            </a:r>
            <a:r>
              <a:rPr sz="1000" spc="-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12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computer)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that </a:t>
            </a:r>
            <a:r>
              <a:rPr sz="1000" spc="-40" dirty="0">
                <a:latin typeface="Calibri"/>
                <a:cs typeface="Calibri"/>
              </a:rPr>
              <a:t>executes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programs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45" dirty="0">
                <a:latin typeface="Calibri"/>
                <a:cs typeface="Calibri"/>
              </a:rPr>
              <a:t>like</a:t>
            </a:r>
            <a:r>
              <a:rPr sz="1000" spc="-8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-60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physical</a:t>
            </a:r>
            <a:r>
              <a:rPr sz="1000" spc="13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machine</a:t>
            </a:r>
            <a:endParaRPr sz="1000">
              <a:latin typeface="Calibri"/>
              <a:cs typeface="Calibri"/>
            </a:endParaRPr>
          </a:p>
          <a:p>
            <a:pPr marL="178435" marR="206375">
              <a:lnSpc>
                <a:spcPts val="1150"/>
              </a:lnSpc>
              <a:spcBef>
                <a:spcPts val="30"/>
              </a:spcBef>
            </a:pPr>
            <a:r>
              <a:rPr sz="1000" dirty="0">
                <a:latin typeface="Calibri"/>
                <a:cs typeface="Calibri"/>
              </a:rPr>
              <a:t>Each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VM</a:t>
            </a:r>
            <a:r>
              <a:rPr sz="1000" spc="-9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is</a:t>
            </a:r>
            <a:r>
              <a:rPr sz="1000" spc="-60" dirty="0">
                <a:latin typeface="Calibri"/>
                <a:cs typeface="Calibri"/>
              </a:rPr>
              <a:t> </a:t>
            </a:r>
            <a:r>
              <a:rPr sz="1000" spc="-40" dirty="0">
                <a:latin typeface="Calibri"/>
                <a:cs typeface="Calibri"/>
              </a:rPr>
              <a:t>fully</a:t>
            </a:r>
            <a:r>
              <a:rPr sz="1000" spc="-8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protected</a:t>
            </a:r>
            <a:r>
              <a:rPr sz="1000" spc="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isolated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copy</a:t>
            </a:r>
            <a:r>
              <a:rPr sz="1000" spc="-7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spc="-45" dirty="0">
                <a:latin typeface="Calibri"/>
                <a:cs typeface="Calibri"/>
              </a:rPr>
              <a:t>physical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machine. </a:t>
            </a:r>
            <a:r>
              <a:rPr sz="1000" dirty="0">
                <a:latin typeface="Calibri"/>
                <a:cs typeface="Calibri"/>
              </a:rPr>
              <a:t>It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is</a:t>
            </a:r>
            <a:r>
              <a:rPr sz="1000" spc="-6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used</a:t>
            </a:r>
            <a:r>
              <a:rPr sz="1000" spc="-4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to</a:t>
            </a:r>
            <a:r>
              <a:rPr sz="1000" spc="-10" dirty="0">
                <a:latin typeface="Calibri"/>
                <a:cs typeface="Calibri"/>
              </a:rPr>
              <a:t> share</a:t>
            </a:r>
            <a:endParaRPr sz="1000">
              <a:latin typeface="Calibri"/>
              <a:cs typeface="Calibri"/>
            </a:endParaRPr>
          </a:p>
          <a:p>
            <a:pPr marL="178435" marR="369570" algn="just">
              <a:lnSpc>
                <a:spcPct val="95600"/>
              </a:lnSpc>
              <a:spcBef>
                <a:spcPts val="25"/>
              </a:spcBef>
            </a:pPr>
            <a:r>
              <a:rPr sz="1000" dirty="0">
                <a:latin typeface="Calibri"/>
                <a:cs typeface="Calibri"/>
              </a:rPr>
              <a:t>the</a:t>
            </a:r>
            <a:r>
              <a:rPr sz="1000" spc="-45" dirty="0">
                <a:latin typeface="Calibri"/>
                <a:cs typeface="Calibri"/>
              </a:rPr>
              <a:t> </a:t>
            </a:r>
            <a:r>
              <a:rPr sz="1000" spc="-40" dirty="0">
                <a:latin typeface="Calibri"/>
                <a:cs typeface="Calibri"/>
              </a:rPr>
              <a:t>expensive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hardware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which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helped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reduce </a:t>
            </a:r>
            <a:r>
              <a:rPr sz="1000" spc="-10" dirty="0">
                <a:latin typeface="Calibri"/>
                <a:cs typeface="Calibri"/>
              </a:rPr>
              <a:t>costs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and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also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helped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to</a:t>
            </a:r>
            <a:r>
              <a:rPr sz="1000" spc="500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improve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220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productivity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spc="-35" dirty="0">
                <a:latin typeface="Calibri"/>
                <a:cs typeface="Calibri"/>
              </a:rPr>
              <a:t>as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50" dirty="0">
                <a:latin typeface="Calibri"/>
                <a:cs typeface="Calibri"/>
              </a:rPr>
              <a:t>many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users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can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concurrently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used</a:t>
            </a:r>
            <a:r>
              <a:rPr sz="1000" dirty="0">
                <a:latin typeface="Calibri"/>
                <a:cs typeface="Calibri"/>
              </a:rPr>
              <a:t> the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same </a:t>
            </a:r>
            <a:r>
              <a:rPr sz="1000" spc="-10" dirty="0">
                <a:latin typeface="Calibri"/>
                <a:cs typeface="Calibri"/>
              </a:rPr>
              <a:t>hardware</a:t>
            </a:r>
            <a:endParaRPr sz="1000">
              <a:latin typeface="Calibri"/>
              <a:cs typeface="Calibri"/>
            </a:endParaRPr>
          </a:p>
          <a:p>
            <a:pPr marL="114935" indent="-102235">
              <a:lnSpc>
                <a:spcPct val="100000"/>
              </a:lnSpc>
              <a:spcBef>
                <a:spcPts val="1200"/>
              </a:spcBef>
              <a:buFont typeface="Arial MT"/>
              <a:buChar char="•"/>
              <a:tabLst>
                <a:tab pos="114935" algn="l"/>
              </a:tabLst>
            </a:pPr>
            <a:r>
              <a:rPr sz="1000" b="1" dirty="0">
                <a:latin typeface="Calibri"/>
                <a:cs typeface="Calibri"/>
              </a:rPr>
              <a:t>Need</a:t>
            </a:r>
            <a:r>
              <a:rPr sz="1000" b="1" spc="145" dirty="0">
                <a:latin typeface="Calibri"/>
                <a:cs typeface="Calibri"/>
              </a:rPr>
              <a:t> </a:t>
            </a:r>
            <a:r>
              <a:rPr sz="1000" b="1" spc="-40" dirty="0">
                <a:latin typeface="Calibri"/>
                <a:cs typeface="Calibri"/>
              </a:rPr>
              <a:t>for</a:t>
            </a:r>
            <a:r>
              <a:rPr sz="1000" b="1" spc="-35" dirty="0">
                <a:latin typeface="Calibri"/>
                <a:cs typeface="Calibri"/>
              </a:rPr>
              <a:t> Server</a:t>
            </a:r>
            <a:r>
              <a:rPr sz="1000" b="1" spc="25" dirty="0">
                <a:latin typeface="Calibri"/>
                <a:cs typeface="Calibri"/>
              </a:rPr>
              <a:t> </a:t>
            </a:r>
            <a:r>
              <a:rPr sz="1000" b="1" spc="-10" dirty="0">
                <a:latin typeface="Calibri"/>
                <a:cs typeface="Calibri"/>
              </a:rPr>
              <a:t>virtualization</a:t>
            </a:r>
            <a:endParaRPr sz="1000">
              <a:latin typeface="Calibri"/>
              <a:cs typeface="Calibri"/>
            </a:endParaRPr>
          </a:p>
          <a:p>
            <a:pPr marL="280035" marR="5080" lvl="1" indent="-102235">
              <a:lnSpc>
                <a:spcPct val="100000"/>
              </a:lnSpc>
              <a:buFont typeface="Arial MT"/>
              <a:buChar char="•"/>
              <a:tabLst>
                <a:tab pos="281940" algn="l"/>
              </a:tabLst>
            </a:pPr>
            <a:r>
              <a:rPr sz="1000" dirty="0">
                <a:latin typeface="Calibri"/>
                <a:cs typeface="Calibri"/>
              </a:rPr>
              <a:t>In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case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server</a:t>
            </a:r>
            <a:r>
              <a:rPr sz="100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consolidation,</a:t>
            </a:r>
            <a:r>
              <a:rPr sz="1000" spc="-65" dirty="0">
                <a:latin typeface="Calibri"/>
                <a:cs typeface="Calibri"/>
              </a:rPr>
              <a:t> </a:t>
            </a:r>
            <a:r>
              <a:rPr sz="1000" spc="-40" dirty="0">
                <a:latin typeface="Calibri"/>
                <a:cs typeface="Calibri"/>
              </a:rPr>
              <a:t>many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40" dirty="0">
                <a:latin typeface="Calibri"/>
                <a:cs typeface="Calibri"/>
              </a:rPr>
              <a:t>small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spc="-45" dirty="0">
                <a:latin typeface="Calibri"/>
                <a:cs typeface="Calibri"/>
              </a:rPr>
              <a:t>physical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servers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are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replaced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by</a:t>
            </a:r>
            <a:r>
              <a:rPr sz="1000" dirty="0">
                <a:latin typeface="Calibri"/>
                <a:cs typeface="Calibri"/>
              </a:rPr>
              <a:t> 	one</a:t>
            </a:r>
            <a:r>
              <a:rPr sz="1000" spc="225" dirty="0">
                <a:latin typeface="Calibri"/>
                <a:cs typeface="Calibri"/>
              </a:rPr>
              <a:t> </a:t>
            </a:r>
            <a:r>
              <a:rPr sz="1000" spc="-35" dirty="0">
                <a:latin typeface="Calibri"/>
                <a:cs typeface="Calibri"/>
              </a:rPr>
              <a:t>larger </a:t>
            </a:r>
            <a:r>
              <a:rPr sz="1000" spc="-45" dirty="0">
                <a:latin typeface="Calibri"/>
                <a:cs typeface="Calibri"/>
              </a:rPr>
              <a:t>physical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server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increase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 </a:t>
            </a:r>
            <a:r>
              <a:rPr sz="1000" spc="-30" dirty="0">
                <a:latin typeface="Calibri"/>
                <a:cs typeface="Calibri"/>
              </a:rPr>
              <a:t>utilization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spc="-35" dirty="0">
                <a:latin typeface="Calibri"/>
                <a:cs typeface="Calibri"/>
              </a:rPr>
              <a:t>costly</a:t>
            </a:r>
            <a:r>
              <a:rPr sz="1000" spc="-5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hardware 	</a:t>
            </a:r>
            <a:r>
              <a:rPr sz="1000" spc="-25" dirty="0">
                <a:latin typeface="Calibri"/>
                <a:cs typeface="Calibri"/>
              </a:rPr>
              <a:t>resources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such</a:t>
            </a:r>
            <a:r>
              <a:rPr sz="1000" spc="17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as</a:t>
            </a:r>
            <a:r>
              <a:rPr sz="1000" spc="-5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CPU.</a:t>
            </a:r>
            <a:endParaRPr sz="1000">
              <a:latin typeface="Calibri"/>
              <a:cs typeface="Calibri"/>
            </a:endParaRPr>
          </a:p>
          <a:p>
            <a:pPr marL="280035" marR="144780" lvl="1" indent="-102235">
              <a:lnSpc>
                <a:spcPts val="1150"/>
              </a:lnSpc>
              <a:spcBef>
                <a:spcPts val="80"/>
              </a:spcBef>
              <a:buFont typeface="Arial MT"/>
              <a:buChar char="•"/>
              <a:tabLst>
                <a:tab pos="281940" algn="l"/>
              </a:tabLst>
            </a:pPr>
            <a:r>
              <a:rPr sz="1000" dirty="0">
                <a:latin typeface="Calibri"/>
                <a:cs typeface="Calibri"/>
              </a:rPr>
              <a:t>A</a:t>
            </a:r>
            <a:r>
              <a:rPr sz="1000" spc="-8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virtual machine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can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be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more</a:t>
            </a:r>
            <a:r>
              <a:rPr sz="1000" dirty="0">
                <a:latin typeface="Calibri"/>
                <a:cs typeface="Calibri"/>
              </a:rPr>
              <a:t> </a:t>
            </a:r>
            <a:r>
              <a:rPr sz="1000" spc="-50" dirty="0">
                <a:latin typeface="Calibri"/>
                <a:cs typeface="Calibri"/>
              </a:rPr>
              <a:t>easily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controlled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and</a:t>
            </a:r>
            <a:r>
              <a:rPr sz="1000" spc="-25" dirty="0">
                <a:latin typeface="Calibri"/>
                <a:cs typeface="Calibri"/>
              </a:rPr>
              <a:t> inspected </a:t>
            </a:r>
            <a:r>
              <a:rPr sz="1000" dirty="0">
                <a:latin typeface="Calibri"/>
                <a:cs typeface="Calibri"/>
              </a:rPr>
              <a:t>from</a:t>
            </a:r>
            <a:r>
              <a:rPr sz="1000" spc="-10" dirty="0">
                <a:latin typeface="Calibri"/>
                <a:cs typeface="Calibri"/>
              </a:rPr>
              <a:t> outside 	</a:t>
            </a:r>
            <a:r>
              <a:rPr sz="1000" dirty="0">
                <a:latin typeface="Calibri"/>
                <a:cs typeface="Calibri"/>
              </a:rPr>
              <a:t>than a</a:t>
            </a:r>
            <a:r>
              <a:rPr sz="1000" spc="120" dirty="0">
                <a:latin typeface="Calibri"/>
                <a:cs typeface="Calibri"/>
              </a:rPr>
              <a:t> </a:t>
            </a:r>
            <a:r>
              <a:rPr sz="1000" spc="-45" dirty="0">
                <a:latin typeface="Calibri"/>
                <a:cs typeface="Calibri"/>
              </a:rPr>
              <a:t>physical</a:t>
            </a:r>
            <a:r>
              <a:rPr sz="1000" spc="-20" dirty="0">
                <a:latin typeface="Calibri"/>
                <a:cs typeface="Calibri"/>
              </a:rPr>
              <a:t> one,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its</a:t>
            </a:r>
            <a:r>
              <a:rPr sz="1000" spc="-25" dirty="0">
                <a:latin typeface="Calibri"/>
                <a:cs typeface="Calibri"/>
              </a:rPr>
              <a:t> configuration</a:t>
            </a:r>
            <a:r>
              <a:rPr sz="1000" spc="-5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is</a:t>
            </a:r>
            <a:r>
              <a:rPr sz="1000" spc="-6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more</a:t>
            </a:r>
            <a:r>
              <a:rPr sz="1000" spc="13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flexible.</a:t>
            </a:r>
            <a:endParaRPr sz="1000">
              <a:latin typeface="Calibri"/>
              <a:cs typeface="Calibri"/>
            </a:endParaRPr>
          </a:p>
          <a:p>
            <a:pPr marL="280670" lvl="1" indent="-102235">
              <a:lnSpc>
                <a:spcPts val="1030"/>
              </a:lnSpc>
              <a:buFont typeface="Arial MT"/>
              <a:buChar char="•"/>
              <a:tabLst>
                <a:tab pos="280670" algn="l"/>
              </a:tabLst>
            </a:pPr>
            <a:r>
              <a:rPr sz="1000" dirty="0">
                <a:latin typeface="Calibri"/>
                <a:cs typeface="Calibri"/>
              </a:rPr>
              <a:t>A</a:t>
            </a:r>
            <a:r>
              <a:rPr sz="1000" spc="-80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new</a:t>
            </a:r>
            <a:r>
              <a:rPr sz="1000" spc="-6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virtual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machine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can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be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provisioned</a:t>
            </a:r>
            <a:r>
              <a:rPr sz="1000" spc="-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as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needed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without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need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for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an</a:t>
            </a:r>
            <a:endParaRPr sz="1000">
              <a:latin typeface="Calibri"/>
              <a:cs typeface="Calibri"/>
            </a:endParaRPr>
          </a:p>
          <a:p>
            <a:pPr marL="281940">
              <a:lnSpc>
                <a:spcPts val="1150"/>
              </a:lnSpc>
            </a:pPr>
            <a:r>
              <a:rPr sz="1000" dirty="0">
                <a:latin typeface="Calibri"/>
                <a:cs typeface="Calibri"/>
              </a:rPr>
              <a:t>up-</a:t>
            </a:r>
            <a:r>
              <a:rPr sz="1000" spc="-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front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hardware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purchase.</a:t>
            </a:r>
            <a:endParaRPr sz="1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02920" rIns="0" bIns="0" rtlCol="0">
            <a:spAutoFit/>
          </a:bodyPr>
          <a:lstStyle/>
          <a:p>
            <a:pPr marL="164465">
              <a:lnSpc>
                <a:spcPct val="100000"/>
              </a:lnSpc>
              <a:spcBef>
                <a:spcPts val="100"/>
              </a:spcBef>
            </a:pPr>
            <a:r>
              <a:rPr sz="1800" spc="-10" dirty="0"/>
              <a:t>Container</a:t>
            </a:r>
            <a:endParaRPr sz="1800"/>
          </a:p>
        </p:txBody>
      </p:sp>
      <p:sp>
        <p:nvSpPr>
          <p:cNvPr id="4" name="object 4"/>
          <p:cNvSpPr txBox="1"/>
          <p:nvPr/>
        </p:nvSpPr>
        <p:spPr>
          <a:xfrm>
            <a:off x="67157" y="711199"/>
            <a:ext cx="4419600" cy="2508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14935" indent="-102235">
              <a:lnSpc>
                <a:spcPct val="100000"/>
              </a:lnSpc>
              <a:spcBef>
                <a:spcPts val="95"/>
              </a:spcBef>
              <a:buFont typeface="Arial MT"/>
              <a:buChar char="•"/>
              <a:tabLst>
                <a:tab pos="114935" algn="l"/>
              </a:tabLst>
            </a:pPr>
            <a:r>
              <a:rPr sz="1000" b="1" spc="-20" dirty="0">
                <a:latin typeface="Calibri"/>
                <a:cs typeface="Calibri"/>
              </a:rPr>
              <a:t>Containers </a:t>
            </a:r>
            <a:r>
              <a:rPr sz="1000" b="1" dirty="0">
                <a:latin typeface="Calibri"/>
                <a:cs typeface="Calibri"/>
              </a:rPr>
              <a:t>and</a:t>
            </a:r>
            <a:r>
              <a:rPr sz="1000" b="1" spc="-10" dirty="0">
                <a:latin typeface="Calibri"/>
                <a:cs typeface="Calibri"/>
              </a:rPr>
              <a:t> </a:t>
            </a:r>
            <a:r>
              <a:rPr sz="1000" b="1" spc="-25" dirty="0">
                <a:latin typeface="Calibri"/>
                <a:cs typeface="Calibri"/>
              </a:rPr>
              <a:t>VMs</a:t>
            </a:r>
            <a:endParaRPr sz="1000">
              <a:latin typeface="Calibri"/>
              <a:cs typeface="Calibri"/>
            </a:endParaRPr>
          </a:p>
          <a:p>
            <a:pPr marL="280035" marR="170815" lvl="1" indent="-102235">
              <a:lnSpc>
                <a:spcPts val="1150"/>
              </a:lnSpc>
              <a:spcBef>
                <a:spcPts val="80"/>
              </a:spcBef>
              <a:buFont typeface="Arial MT"/>
              <a:buChar char="•"/>
              <a:tabLst>
                <a:tab pos="281940" algn="l"/>
              </a:tabLst>
            </a:pPr>
            <a:r>
              <a:rPr sz="1000" spc="-75" dirty="0">
                <a:latin typeface="Calibri"/>
                <a:cs typeface="Calibri"/>
              </a:rPr>
              <a:t>To</a:t>
            </a:r>
            <a:r>
              <a:rPr sz="1000" spc="-45" dirty="0">
                <a:latin typeface="Calibri"/>
                <a:cs typeface="Calibri"/>
              </a:rPr>
              <a:t> </a:t>
            </a:r>
            <a:r>
              <a:rPr sz="1000" spc="-35" dirty="0">
                <a:latin typeface="Calibri"/>
                <a:cs typeface="Calibri"/>
              </a:rPr>
              <a:t>isolate </a:t>
            </a:r>
            <a:r>
              <a:rPr sz="1000" dirty="0">
                <a:latin typeface="Calibri"/>
                <a:cs typeface="Calibri"/>
              </a:rPr>
              <a:t>an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application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and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its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dependencies </a:t>
            </a:r>
            <a:r>
              <a:rPr sz="1000" spc="-10" dirty="0">
                <a:latin typeface="Calibri"/>
                <a:cs typeface="Calibri"/>
              </a:rPr>
              <a:t>into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-6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self-contained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unit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that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can</a:t>
            </a:r>
            <a:r>
              <a:rPr sz="1000" dirty="0">
                <a:latin typeface="Calibri"/>
                <a:cs typeface="Calibri"/>
              </a:rPr>
              <a:t> 	run</a:t>
            </a:r>
            <a:r>
              <a:rPr sz="1000" spc="254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anywhere</a:t>
            </a:r>
            <a:endParaRPr sz="1000">
              <a:latin typeface="Calibri"/>
              <a:cs typeface="Calibri"/>
            </a:endParaRPr>
          </a:p>
          <a:p>
            <a:pPr marL="280670" lvl="1" indent="-102235">
              <a:lnSpc>
                <a:spcPts val="1100"/>
              </a:lnSpc>
              <a:buFont typeface="Arial MT"/>
              <a:buChar char="•"/>
              <a:tabLst>
                <a:tab pos="280670" algn="l"/>
              </a:tabLst>
            </a:pPr>
            <a:r>
              <a:rPr sz="1000" spc="-50" dirty="0">
                <a:latin typeface="Calibri"/>
                <a:cs typeface="Calibri"/>
              </a:rPr>
              <a:t>Remove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need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for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spc="-45" dirty="0">
                <a:latin typeface="Calibri"/>
                <a:cs typeface="Calibri"/>
              </a:rPr>
              <a:t>physical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35" dirty="0">
                <a:latin typeface="Calibri"/>
                <a:cs typeface="Calibri"/>
              </a:rPr>
              <a:t>hardware,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40" dirty="0">
                <a:latin typeface="Calibri"/>
                <a:cs typeface="Calibri"/>
              </a:rPr>
              <a:t>allowing</a:t>
            </a:r>
            <a:r>
              <a:rPr sz="1000" spc="-6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for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more</a:t>
            </a:r>
            <a:r>
              <a:rPr sz="100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efficient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use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of</a:t>
            </a:r>
            <a:endParaRPr sz="1000">
              <a:latin typeface="Calibri"/>
              <a:cs typeface="Calibri"/>
            </a:endParaRPr>
          </a:p>
          <a:p>
            <a:pPr marL="281940" marR="678180">
              <a:lnSpc>
                <a:spcPts val="1140"/>
              </a:lnSpc>
              <a:spcBef>
                <a:spcPts val="65"/>
              </a:spcBef>
            </a:pPr>
            <a:r>
              <a:rPr sz="1000" spc="-10" dirty="0">
                <a:latin typeface="Calibri"/>
                <a:cs typeface="Calibri"/>
              </a:rPr>
              <a:t>computing</a:t>
            </a:r>
            <a:r>
              <a:rPr sz="1000" spc="150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resources,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both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in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terms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35" dirty="0">
                <a:latin typeface="Calibri"/>
                <a:cs typeface="Calibri"/>
              </a:rPr>
              <a:t>energy</a:t>
            </a:r>
            <a:r>
              <a:rPr sz="1000" spc="-6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consumption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and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cost </a:t>
            </a:r>
            <a:r>
              <a:rPr sz="1000" spc="-10" dirty="0">
                <a:latin typeface="Calibri"/>
                <a:cs typeface="Calibri"/>
              </a:rPr>
              <a:t>effectiveness.</a:t>
            </a:r>
            <a:endParaRPr sz="1000">
              <a:latin typeface="Calibri"/>
              <a:cs typeface="Calibri"/>
            </a:endParaRPr>
          </a:p>
          <a:p>
            <a:pPr marL="114935" indent="-102235">
              <a:lnSpc>
                <a:spcPts val="1075"/>
              </a:lnSpc>
              <a:buFont typeface="Arial MT"/>
              <a:buChar char="•"/>
              <a:tabLst>
                <a:tab pos="114935" algn="l"/>
              </a:tabLst>
            </a:pPr>
            <a:r>
              <a:rPr sz="1000" b="1" spc="-10" dirty="0">
                <a:latin typeface="Calibri"/>
                <a:cs typeface="Calibri"/>
              </a:rPr>
              <a:t>Containers</a:t>
            </a:r>
            <a:endParaRPr sz="1000">
              <a:latin typeface="Calibri"/>
              <a:cs typeface="Calibri"/>
            </a:endParaRPr>
          </a:p>
          <a:p>
            <a:pPr marL="280035" marR="120014" lvl="1" indent="-102235">
              <a:lnSpc>
                <a:spcPts val="1150"/>
              </a:lnSpc>
              <a:spcBef>
                <a:spcPts val="80"/>
              </a:spcBef>
              <a:buFont typeface="Arial MT"/>
              <a:buChar char="•"/>
              <a:tabLst>
                <a:tab pos="281940" algn="l"/>
              </a:tabLst>
            </a:pPr>
            <a:r>
              <a:rPr sz="1000" spc="-35" dirty="0">
                <a:latin typeface="Calibri"/>
                <a:cs typeface="Calibri"/>
              </a:rPr>
              <a:t>virtualize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at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 </a:t>
            </a:r>
            <a:r>
              <a:rPr sz="1000" spc="-25" dirty="0">
                <a:latin typeface="Calibri"/>
                <a:cs typeface="Calibri"/>
              </a:rPr>
              <a:t>operating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spc="-40" dirty="0">
                <a:latin typeface="Calibri"/>
                <a:cs typeface="Calibri"/>
              </a:rPr>
              <a:t>system</a:t>
            </a:r>
            <a:r>
              <a:rPr sz="1000" spc="-25" dirty="0">
                <a:latin typeface="Calibri"/>
                <a:cs typeface="Calibri"/>
              </a:rPr>
              <a:t> </a:t>
            </a:r>
            <a:r>
              <a:rPr sz="1000" spc="-45" dirty="0">
                <a:latin typeface="Calibri"/>
                <a:cs typeface="Calibri"/>
              </a:rPr>
              <a:t>level,</a:t>
            </a:r>
            <a:r>
              <a:rPr sz="1000" spc="-5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with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multiple</a:t>
            </a:r>
            <a:r>
              <a:rPr sz="100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containers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running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atop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the</a:t>
            </a:r>
            <a:r>
              <a:rPr sz="1000" dirty="0">
                <a:latin typeface="Calibri"/>
                <a:cs typeface="Calibri"/>
              </a:rPr>
              <a:t> 	OS</a:t>
            </a:r>
            <a:r>
              <a:rPr sz="1000" spc="16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kernel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directly</a:t>
            </a:r>
            <a:endParaRPr sz="1000">
              <a:latin typeface="Calibri"/>
              <a:cs typeface="Calibri"/>
            </a:endParaRPr>
          </a:p>
          <a:p>
            <a:pPr marL="280035" marR="196215" lvl="1" indent="-102235">
              <a:lnSpc>
                <a:spcPts val="1090"/>
              </a:lnSpc>
              <a:spcBef>
                <a:spcPts val="5"/>
              </a:spcBef>
              <a:buFont typeface="Arial MT"/>
              <a:buChar char="•"/>
              <a:tabLst>
                <a:tab pos="281940" algn="l"/>
              </a:tabLst>
            </a:pPr>
            <a:r>
              <a:rPr sz="1000" spc="-20" dirty="0">
                <a:latin typeface="Calibri"/>
                <a:cs typeface="Calibri"/>
              </a:rPr>
              <a:t>container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provides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40" dirty="0">
                <a:latin typeface="Calibri"/>
                <a:cs typeface="Calibri"/>
              </a:rPr>
              <a:t>operating-</a:t>
            </a:r>
            <a:r>
              <a:rPr sz="1000" spc="-45" dirty="0">
                <a:latin typeface="Calibri"/>
                <a:cs typeface="Calibri"/>
              </a:rPr>
              <a:t>system-</a:t>
            </a:r>
            <a:r>
              <a:rPr sz="1000" spc="-20" dirty="0">
                <a:latin typeface="Calibri"/>
                <a:cs typeface="Calibri"/>
              </a:rPr>
              <a:t>level</a:t>
            </a:r>
            <a:r>
              <a:rPr sz="1000" spc="70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virtualization</a:t>
            </a:r>
            <a:r>
              <a:rPr sz="1000" spc="75" dirty="0">
                <a:latin typeface="Calibri"/>
                <a:cs typeface="Calibri"/>
              </a:rPr>
              <a:t> </a:t>
            </a:r>
            <a:r>
              <a:rPr sz="1000" spc="-35" dirty="0">
                <a:latin typeface="Calibri"/>
                <a:cs typeface="Calibri"/>
              </a:rPr>
              <a:t>by</a:t>
            </a:r>
            <a:r>
              <a:rPr sz="1000" spc="-8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abstracting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“user 	space”</a:t>
            </a:r>
            <a:endParaRPr sz="1000">
              <a:latin typeface="Calibri"/>
              <a:cs typeface="Calibri"/>
            </a:endParaRPr>
          </a:p>
          <a:p>
            <a:pPr marL="280670" lvl="1" indent="-102235">
              <a:lnSpc>
                <a:spcPts val="1115"/>
              </a:lnSpc>
              <a:buFont typeface="Arial MT"/>
              <a:buChar char="•"/>
              <a:tabLst>
                <a:tab pos="280670" algn="l"/>
              </a:tabLst>
            </a:pPr>
            <a:r>
              <a:rPr sz="1000" spc="-40" dirty="0">
                <a:latin typeface="Calibri"/>
                <a:cs typeface="Calibri"/>
              </a:rPr>
              <a:t>ability</a:t>
            </a:r>
            <a:r>
              <a:rPr sz="1000" spc="-6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create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predictable</a:t>
            </a:r>
            <a:r>
              <a:rPr sz="1000" spc="-9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environments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that </a:t>
            </a:r>
            <a:r>
              <a:rPr sz="1000" spc="-25" dirty="0">
                <a:latin typeface="Calibri"/>
                <a:cs typeface="Calibri"/>
              </a:rPr>
              <a:t>are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isolated</a:t>
            </a:r>
            <a:r>
              <a:rPr sz="1000" dirty="0">
                <a:latin typeface="Calibri"/>
                <a:cs typeface="Calibri"/>
              </a:rPr>
              <a:t> from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other</a:t>
            </a:r>
            <a:r>
              <a:rPr sz="1000" spc="114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applications</a:t>
            </a:r>
            <a:endParaRPr sz="1000">
              <a:latin typeface="Calibri"/>
              <a:cs typeface="Calibri"/>
            </a:endParaRPr>
          </a:p>
          <a:p>
            <a:pPr marL="280670" lvl="1" indent="-102235">
              <a:lnSpc>
                <a:spcPts val="1175"/>
              </a:lnSpc>
              <a:buFont typeface="Arial MT"/>
              <a:buChar char="•"/>
              <a:tabLst>
                <a:tab pos="280670" algn="l"/>
              </a:tabLst>
            </a:pPr>
            <a:r>
              <a:rPr sz="1000" dirty="0">
                <a:latin typeface="Calibri"/>
                <a:cs typeface="Calibri"/>
              </a:rPr>
              <a:t>run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virtually</a:t>
            </a:r>
            <a:r>
              <a:rPr sz="1000" spc="-60" dirty="0">
                <a:latin typeface="Calibri"/>
                <a:cs typeface="Calibri"/>
              </a:rPr>
              <a:t> </a:t>
            </a:r>
            <a:r>
              <a:rPr sz="1000" spc="-40" dirty="0">
                <a:latin typeface="Calibri"/>
                <a:cs typeface="Calibri"/>
              </a:rPr>
              <a:t>anywhere,</a:t>
            </a:r>
            <a:r>
              <a:rPr sz="1000" spc="-55" dirty="0">
                <a:latin typeface="Calibri"/>
                <a:cs typeface="Calibri"/>
              </a:rPr>
              <a:t> </a:t>
            </a:r>
            <a:r>
              <a:rPr sz="1000" spc="-40" dirty="0">
                <a:latin typeface="Calibri"/>
                <a:cs typeface="Calibri"/>
              </a:rPr>
              <a:t>greatly</a:t>
            </a:r>
            <a:r>
              <a:rPr sz="1000" dirty="0">
                <a:latin typeface="Calibri"/>
                <a:cs typeface="Calibri"/>
              </a:rPr>
              <a:t> </a:t>
            </a:r>
            <a:r>
              <a:rPr sz="1000" spc="-40" dirty="0">
                <a:latin typeface="Calibri"/>
                <a:cs typeface="Calibri"/>
              </a:rPr>
              <a:t>easing</a:t>
            </a:r>
            <a:r>
              <a:rPr sz="100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development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10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deployment</a:t>
            </a:r>
            <a:endParaRPr sz="1000">
              <a:latin typeface="Calibri"/>
              <a:cs typeface="Calibri"/>
            </a:endParaRPr>
          </a:p>
          <a:p>
            <a:pPr marL="280035" marR="130810" lvl="1" indent="-102235">
              <a:lnSpc>
                <a:spcPts val="1150"/>
              </a:lnSpc>
              <a:spcBef>
                <a:spcPts val="80"/>
              </a:spcBef>
              <a:buFont typeface="Arial MT"/>
              <a:buChar char="•"/>
              <a:tabLst>
                <a:tab pos="281940" algn="l"/>
              </a:tabLst>
            </a:pPr>
            <a:r>
              <a:rPr sz="1000" spc="-35" dirty="0">
                <a:latin typeface="Calibri"/>
                <a:cs typeface="Calibri"/>
              </a:rPr>
              <a:t>virtualize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spc="-40" dirty="0">
                <a:latin typeface="Calibri"/>
                <a:cs typeface="Calibri"/>
              </a:rPr>
              <a:t>CPU,</a:t>
            </a:r>
            <a:r>
              <a:rPr sz="1000" spc="-80" dirty="0">
                <a:latin typeface="Calibri"/>
                <a:cs typeface="Calibri"/>
              </a:rPr>
              <a:t> </a:t>
            </a:r>
            <a:r>
              <a:rPr sz="1000" spc="-45" dirty="0">
                <a:latin typeface="Calibri"/>
                <a:cs typeface="Calibri"/>
              </a:rPr>
              <a:t>memory,</a:t>
            </a:r>
            <a:r>
              <a:rPr sz="1000" spc="-30" dirty="0">
                <a:latin typeface="Calibri"/>
                <a:cs typeface="Calibri"/>
              </a:rPr>
              <a:t> storage,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network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resources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at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40" dirty="0">
                <a:latin typeface="Calibri"/>
                <a:cs typeface="Calibri"/>
              </a:rPr>
              <a:t>OS-</a:t>
            </a:r>
            <a:r>
              <a:rPr sz="1000" spc="-35" dirty="0">
                <a:latin typeface="Calibri"/>
                <a:cs typeface="Calibri"/>
              </a:rPr>
              <a:t>level,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providing 	</a:t>
            </a:r>
            <a:r>
              <a:rPr sz="1000" spc="-30" dirty="0">
                <a:latin typeface="Calibri"/>
                <a:cs typeface="Calibri"/>
              </a:rPr>
              <a:t>developers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with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-65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sandboxed</a:t>
            </a:r>
            <a:r>
              <a:rPr sz="1000" spc="-60" dirty="0">
                <a:latin typeface="Calibri"/>
                <a:cs typeface="Calibri"/>
              </a:rPr>
              <a:t> </a:t>
            </a:r>
            <a:r>
              <a:rPr sz="1000" spc="-40" dirty="0">
                <a:latin typeface="Calibri"/>
                <a:cs typeface="Calibri"/>
              </a:rPr>
              <a:t>view</a:t>
            </a:r>
            <a:r>
              <a:rPr sz="1000" spc="-6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 the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OS </a:t>
            </a:r>
            <a:r>
              <a:rPr sz="1000" spc="-45" dirty="0">
                <a:latin typeface="Calibri"/>
                <a:cs typeface="Calibri"/>
              </a:rPr>
              <a:t>logically</a:t>
            </a:r>
            <a:r>
              <a:rPr sz="1000" spc="-105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isolated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from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other 	applications.</a:t>
            </a:r>
            <a:endParaRPr sz="1000">
              <a:latin typeface="Calibri"/>
              <a:cs typeface="Calibri"/>
            </a:endParaRPr>
          </a:p>
          <a:p>
            <a:pPr marL="280670" lvl="1" indent="-102235">
              <a:lnSpc>
                <a:spcPts val="1065"/>
              </a:lnSpc>
              <a:buFont typeface="Arial MT"/>
              <a:buChar char="•"/>
              <a:tabLst>
                <a:tab pos="280670" algn="l"/>
              </a:tabLst>
            </a:pPr>
            <a:r>
              <a:rPr sz="1000" spc="-25" dirty="0">
                <a:latin typeface="Calibri"/>
                <a:cs typeface="Calibri"/>
              </a:rPr>
              <a:t>Ex:</a:t>
            </a:r>
            <a:r>
              <a:rPr sz="1000" spc="-45" dirty="0">
                <a:latin typeface="Calibri"/>
                <a:cs typeface="Calibri"/>
              </a:rPr>
              <a:t> </a:t>
            </a:r>
            <a:r>
              <a:rPr sz="1000" spc="-35" dirty="0">
                <a:latin typeface="Calibri"/>
                <a:cs typeface="Calibri"/>
              </a:rPr>
              <a:t>Docker,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spc="-50" dirty="0">
                <a:latin typeface="Calibri"/>
                <a:cs typeface="Calibri"/>
              </a:rPr>
              <a:t>LXC,</a:t>
            </a:r>
            <a:r>
              <a:rPr sz="1000" spc="-12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Kubernetes,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FreeBSD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Jails</a:t>
            </a:r>
            <a:r>
              <a:rPr sz="1000" spc="6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etc..</a:t>
            </a:r>
            <a:endParaRPr sz="1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5178" rIns="0" bIns="0" rtlCol="0">
            <a:spAutoFit/>
          </a:bodyPr>
          <a:lstStyle/>
          <a:p>
            <a:pPr marL="66040">
              <a:lnSpc>
                <a:spcPct val="100000"/>
              </a:lnSpc>
              <a:spcBef>
                <a:spcPts val="95"/>
              </a:spcBef>
            </a:pPr>
            <a:r>
              <a:rPr dirty="0"/>
              <a:t>DevOps–</a:t>
            </a:r>
            <a:r>
              <a:rPr spc="45" dirty="0"/>
              <a:t> </a:t>
            </a:r>
            <a:r>
              <a:rPr dirty="0"/>
              <a:t>Cloud as a</a:t>
            </a:r>
            <a:r>
              <a:rPr spc="-105" dirty="0"/>
              <a:t> </a:t>
            </a:r>
            <a:r>
              <a:rPr spc="-10" dirty="0"/>
              <a:t>catalyst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173736" y="846073"/>
            <a:ext cx="253365" cy="295910"/>
            <a:chOff x="173736" y="846073"/>
            <a:chExt cx="253365" cy="29591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3736" y="846073"/>
              <a:ext cx="252984" cy="143255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3736" y="998473"/>
              <a:ext cx="252984" cy="143255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3736" y="1608073"/>
            <a:ext cx="252984" cy="143256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3736" y="1901062"/>
            <a:ext cx="252984" cy="143256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3736" y="2338450"/>
            <a:ext cx="252984" cy="143256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3736" y="2624962"/>
            <a:ext cx="252984" cy="143255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327152" y="824229"/>
            <a:ext cx="4090035" cy="21088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1000" spc="-10" dirty="0">
                <a:latin typeface="Calibri"/>
                <a:cs typeface="Calibri"/>
              </a:rPr>
              <a:t>Cloud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is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spc="-35" dirty="0">
                <a:latin typeface="Calibri"/>
                <a:cs typeface="Calibri"/>
              </a:rPr>
              <a:t>key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enabler</a:t>
            </a:r>
            <a:r>
              <a:rPr sz="1000" spc="-6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has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affected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DevOps.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It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helps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DevOps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mature.</a:t>
            </a:r>
            <a:endParaRPr sz="1000">
              <a:latin typeface="Calibri"/>
              <a:cs typeface="Calibri"/>
            </a:endParaRPr>
          </a:p>
          <a:p>
            <a:pPr marL="12700" marR="5080" algn="just">
              <a:lnSpc>
                <a:spcPct val="100000"/>
              </a:lnSpc>
            </a:pPr>
            <a:r>
              <a:rPr sz="1000" dirty="0">
                <a:latin typeface="Calibri"/>
                <a:cs typeface="Calibri"/>
              </a:rPr>
              <a:t>In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traditional</a:t>
            </a:r>
            <a:r>
              <a:rPr sz="100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organizations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that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use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physical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servers,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requesting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new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server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is</a:t>
            </a:r>
            <a:r>
              <a:rPr sz="1000" dirty="0">
                <a:latin typeface="Calibri"/>
                <a:cs typeface="Calibri"/>
              </a:rPr>
              <a:t> a</a:t>
            </a:r>
            <a:r>
              <a:rPr sz="1000" spc="254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complex,</a:t>
            </a:r>
            <a:r>
              <a:rPr sz="1000" spc="28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time-consuming</a:t>
            </a:r>
            <a:r>
              <a:rPr sz="1000" spc="29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process.</a:t>
            </a:r>
            <a:r>
              <a:rPr sz="1000" spc="27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It</a:t>
            </a:r>
            <a:r>
              <a:rPr sz="1000" spc="27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may</a:t>
            </a:r>
            <a:r>
              <a:rPr sz="1000" spc="27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take</a:t>
            </a:r>
            <a:r>
              <a:rPr sz="1000" spc="26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days</a:t>
            </a:r>
            <a:r>
              <a:rPr sz="1000" spc="27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or</a:t>
            </a:r>
            <a:r>
              <a:rPr sz="1000" spc="24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even</a:t>
            </a:r>
            <a:r>
              <a:rPr sz="1000" spc="28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weeks</a:t>
            </a:r>
            <a:r>
              <a:rPr sz="1000" spc="27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to</a:t>
            </a:r>
            <a:r>
              <a:rPr sz="1000" dirty="0">
                <a:latin typeface="Calibri"/>
                <a:cs typeface="Calibri"/>
              </a:rPr>
              <a:t> requisition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 new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physical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server,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install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set</a:t>
            </a:r>
            <a:r>
              <a:rPr sz="1000" spc="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up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operating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system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(OS),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configure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all</a:t>
            </a:r>
            <a:r>
              <a:rPr sz="1000" spc="-2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 </a:t>
            </a:r>
            <a:r>
              <a:rPr sz="1000" spc="-25" dirty="0">
                <a:latin typeface="Calibri"/>
                <a:cs typeface="Calibri"/>
              </a:rPr>
              <a:t>software</a:t>
            </a:r>
            <a:r>
              <a:rPr sz="1000" spc="-4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required</a:t>
            </a:r>
            <a:r>
              <a:rPr sz="1000" spc="-5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deploy</a:t>
            </a:r>
            <a:r>
              <a:rPr sz="1000" spc="-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application.</a:t>
            </a:r>
            <a:endParaRPr sz="1000">
              <a:latin typeface="Calibri"/>
              <a:cs typeface="Calibri"/>
            </a:endParaRPr>
          </a:p>
          <a:p>
            <a:pPr marL="12700" marR="467995">
              <a:lnSpc>
                <a:spcPts val="1160"/>
              </a:lnSpc>
              <a:spcBef>
                <a:spcPts val="70"/>
              </a:spcBef>
            </a:pPr>
            <a:r>
              <a:rPr sz="1000" spc="-10" dirty="0">
                <a:latin typeface="Calibri"/>
                <a:cs typeface="Calibri"/>
              </a:rPr>
              <a:t>Pervasiveness</a:t>
            </a:r>
            <a:r>
              <a:rPr sz="1000" spc="19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of</a:t>
            </a:r>
            <a:r>
              <a:rPr sz="1000" spc="2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cloud</a:t>
            </a:r>
            <a:r>
              <a:rPr sz="1000" spc="16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technology,</a:t>
            </a:r>
            <a:r>
              <a:rPr sz="1000" spc="13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private,</a:t>
            </a:r>
            <a:r>
              <a:rPr sz="1000" spc="2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public,</a:t>
            </a:r>
            <a:r>
              <a:rPr sz="1000" spc="2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15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hybrid,</a:t>
            </a:r>
            <a:r>
              <a:rPr sz="1000" spc="305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has</a:t>
            </a:r>
            <a:r>
              <a:rPr sz="1000" dirty="0">
                <a:latin typeface="Calibri"/>
                <a:cs typeface="Calibri"/>
              </a:rPr>
              <a:t> enabled</a:t>
            </a:r>
            <a:r>
              <a:rPr sz="1000" spc="21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organizations</a:t>
            </a:r>
            <a:r>
              <a:rPr sz="1000" spc="-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provision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environments</a:t>
            </a:r>
            <a:r>
              <a:rPr sz="1000" spc="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on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demand.</a:t>
            </a:r>
            <a:endParaRPr sz="1000">
              <a:latin typeface="Calibri"/>
              <a:cs typeface="Calibri"/>
            </a:endParaRPr>
          </a:p>
          <a:p>
            <a:pPr marL="12700">
              <a:lnSpc>
                <a:spcPts val="1090"/>
              </a:lnSpc>
            </a:pPr>
            <a:r>
              <a:rPr sz="1000" spc="-25" dirty="0">
                <a:solidFill>
                  <a:srgbClr val="FF0000"/>
                </a:solidFill>
                <a:latin typeface="Calibri"/>
                <a:cs typeface="Calibri"/>
              </a:rPr>
              <a:t>Virtualization</a:t>
            </a:r>
            <a:r>
              <a:rPr sz="1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in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Cloud </a:t>
            </a:r>
            <a:r>
              <a:rPr sz="1000" dirty="0">
                <a:latin typeface="Calibri"/>
                <a:cs typeface="Calibri"/>
              </a:rPr>
              <a:t>solve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that</a:t>
            </a:r>
            <a:r>
              <a:rPr sz="1000" spc="-4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problem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a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large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extent.</a:t>
            </a:r>
            <a:r>
              <a:rPr sz="1000" spc="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This</a:t>
            </a:r>
            <a:r>
              <a:rPr sz="1000" spc="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has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led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to</a:t>
            </a:r>
            <a:endParaRPr sz="1000">
              <a:latin typeface="Calibri"/>
              <a:cs typeface="Calibri"/>
            </a:endParaRPr>
          </a:p>
          <a:p>
            <a:pPr marL="12700" marR="13335">
              <a:lnSpc>
                <a:spcPts val="1090"/>
              </a:lnSpc>
              <a:spcBef>
                <a:spcPts val="105"/>
              </a:spcBef>
            </a:pPr>
            <a:r>
              <a:rPr sz="1000" dirty="0">
                <a:latin typeface="Calibri"/>
                <a:cs typeface="Calibri"/>
              </a:rPr>
              <a:t>tremendous</a:t>
            </a:r>
            <a:r>
              <a:rPr sz="1000" spc="30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growth</a:t>
            </a:r>
            <a:r>
              <a:rPr sz="1000" spc="39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in</a:t>
            </a:r>
            <a:r>
              <a:rPr sz="1000" spc="4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3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scale</a:t>
            </a:r>
            <a:r>
              <a:rPr sz="1000" spc="38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by</a:t>
            </a:r>
            <a:r>
              <a:rPr sz="1000" spc="38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which</a:t>
            </a:r>
            <a:r>
              <a:rPr sz="1000" spc="41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33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environments</a:t>
            </a:r>
            <a:r>
              <a:rPr sz="1000" spc="38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35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which applications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spc="-30" dirty="0">
                <a:latin typeface="Calibri"/>
                <a:cs typeface="Calibri"/>
              </a:rPr>
              <a:t>are</a:t>
            </a:r>
            <a:r>
              <a:rPr sz="1000" spc="-6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deployed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are</a:t>
            </a:r>
            <a:r>
              <a:rPr sz="1000" dirty="0">
                <a:latin typeface="Calibri"/>
                <a:cs typeface="Calibri"/>
              </a:rPr>
              <a:t> </a:t>
            </a:r>
            <a:r>
              <a:rPr sz="1000" spc="-20" dirty="0">
                <a:latin typeface="Calibri"/>
                <a:cs typeface="Calibri"/>
              </a:rPr>
              <a:t>used.</a:t>
            </a:r>
            <a:endParaRPr sz="1000">
              <a:latin typeface="Calibri"/>
              <a:cs typeface="Calibri"/>
            </a:endParaRPr>
          </a:p>
          <a:p>
            <a:pPr marL="12700" marR="114300">
              <a:lnSpc>
                <a:spcPts val="1150"/>
              </a:lnSpc>
              <a:spcBef>
                <a:spcPts val="65"/>
              </a:spcBef>
            </a:pPr>
            <a:r>
              <a:rPr sz="1000" dirty="0">
                <a:latin typeface="Calibri"/>
                <a:cs typeface="Calibri"/>
              </a:rPr>
              <a:t>This</a:t>
            </a:r>
            <a:r>
              <a:rPr sz="1000" spc="40" dirty="0"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FF0000"/>
                </a:solidFill>
                <a:latin typeface="Calibri"/>
                <a:cs typeface="Calibri"/>
              </a:rPr>
              <a:t>scale</a:t>
            </a:r>
            <a:r>
              <a:rPr sz="1000" spc="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has</a:t>
            </a:r>
            <a:r>
              <a:rPr sz="1000" spc="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necessitated</a:t>
            </a:r>
            <a:r>
              <a:rPr sz="1000" spc="2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automation</a:t>
            </a:r>
            <a:r>
              <a:rPr sz="1000" spc="4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on</a:t>
            </a:r>
            <a:r>
              <a:rPr sz="1000" spc="10" dirty="0">
                <a:latin typeface="Calibri"/>
                <a:cs typeface="Calibri"/>
              </a:rPr>
              <a:t> </a:t>
            </a:r>
            <a:r>
              <a:rPr sz="1000" spc="-25" dirty="0">
                <a:latin typeface="Calibri"/>
                <a:cs typeface="Calibri"/>
              </a:rPr>
              <a:t>software</a:t>
            </a:r>
            <a:r>
              <a:rPr sz="1000" spc="-4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deployment</a:t>
            </a:r>
            <a:r>
              <a:rPr sz="1000" spc="-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tasks,</a:t>
            </a:r>
            <a:r>
              <a:rPr sz="1000" spc="15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which </a:t>
            </a:r>
            <a:r>
              <a:rPr sz="1000" dirty="0">
                <a:latin typeface="Calibri"/>
                <a:cs typeface="Calibri"/>
              </a:rPr>
              <a:t>DevOps</a:t>
            </a:r>
            <a:r>
              <a:rPr sz="1000" spc="30" dirty="0">
                <a:latin typeface="Calibri"/>
                <a:cs typeface="Calibri"/>
              </a:rPr>
              <a:t> </a:t>
            </a:r>
            <a:r>
              <a:rPr sz="1000" spc="-10" dirty="0">
                <a:latin typeface="Calibri"/>
                <a:cs typeface="Calibri"/>
              </a:rPr>
              <a:t>addresses</a:t>
            </a:r>
            <a:endParaRPr sz="1000">
              <a:latin typeface="Calibri"/>
              <a:cs typeface="Calibri"/>
            </a:endParaRPr>
          </a:p>
          <a:p>
            <a:pPr marL="12700">
              <a:lnSpc>
                <a:spcPts val="1075"/>
              </a:lnSpc>
            </a:pPr>
            <a:r>
              <a:rPr sz="1000" spc="-10" dirty="0">
                <a:latin typeface="Calibri"/>
                <a:cs typeface="Calibri"/>
              </a:rPr>
              <a:t>Ability</a:t>
            </a:r>
            <a:r>
              <a:rPr sz="1000" spc="10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to</a:t>
            </a:r>
            <a:r>
              <a:rPr sz="1000" spc="160" dirty="0"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FF0000"/>
                </a:solidFill>
                <a:latin typeface="Calibri"/>
                <a:cs typeface="Calibri"/>
              </a:rPr>
              <a:t>create</a:t>
            </a:r>
            <a:r>
              <a:rPr sz="1000" spc="1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sz="1000" spc="1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FF0000"/>
                </a:solidFill>
                <a:latin typeface="Calibri"/>
                <a:cs typeface="Calibri"/>
              </a:rPr>
              <a:t>switch</a:t>
            </a:r>
            <a:r>
              <a:rPr sz="1000" spc="2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FF0000"/>
                </a:solidFill>
                <a:latin typeface="Calibri"/>
                <a:cs typeface="Calibri"/>
              </a:rPr>
              <a:t>environments</a:t>
            </a:r>
            <a:r>
              <a:rPr sz="1000" spc="18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simply,</a:t>
            </a:r>
            <a:r>
              <a:rPr sz="1000" spc="225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-35" dirty="0">
                <a:latin typeface="Calibri"/>
                <a:cs typeface="Calibri"/>
              </a:rPr>
              <a:t> </a:t>
            </a:r>
            <a:r>
              <a:rPr sz="1000" spc="-20" dirty="0">
                <a:solidFill>
                  <a:srgbClr val="FF0000"/>
                </a:solidFill>
                <a:latin typeface="Calibri"/>
                <a:cs typeface="Calibri"/>
              </a:rPr>
              <a:t>ability</a:t>
            </a:r>
            <a:r>
              <a:rPr sz="10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sz="1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FF0000"/>
                </a:solidFill>
                <a:latin typeface="Calibri"/>
                <a:cs typeface="Calibri"/>
              </a:rPr>
              <a:t>create</a:t>
            </a:r>
            <a:r>
              <a:rPr sz="1000" spc="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spc="-25" dirty="0">
                <a:solidFill>
                  <a:srgbClr val="FF0000"/>
                </a:solidFill>
                <a:latin typeface="Calibri"/>
                <a:cs typeface="Calibri"/>
              </a:rPr>
              <a:t>VMs</a:t>
            </a:r>
            <a:endParaRPr sz="1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000" spc="-25" dirty="0">
                <a:latin typeface="Calibri"/>
                <a:cs typeface="Calibri"/>
              </a:rPr>
              <a:t>easily, </a:t>
            </a:r>
            <a:r>
              <a:rPr sz="1000" dirty="0">
                <a:latin typeface="Calibri"/>
                <a:cs typeface="Calibri"/>
              </a:rPr>
              <a:t>and</a:t>
            </a:r>
            <a:r>
              <a:rPr sz="1000" spc="-30" dirty="0">
                <a:latin typeface="Calibri"/>
                <a:cs typeface="Calibri"/>
              </a:rPr>
              <a:t> </a:t>
            </a:r>
            <a:r>
              <a:rPr sz="1000" dirty="0">
                <a:latin typeface="Calibri"/>
                <a:cs typeface="Calibri"/>
              </a:rPr>
              <a:t>the</a:t>
            </a:r>
            <a:r>
              <a:rPr sz="1000" spc="-10" dirty="0"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FF0000"/>
                </a:solidFill>
                <a:latin typeface="Calibri"/>
                <a:cs typeface="Calibri"/>
              </a:rPr>
              <a:t>management</a:t>
            </a:r>
            <a:r>
              <a:rPr sz="1000" spc="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FF0000"/>
                </a:solidFill>
                <a:latin typeface="Calibri"/>
                <a:cs typeface="Calibri"/>
              </a:rPr>
              <a:t>of</a:t>
            </a:r>
            <a:r>
              <a:rPr sz="10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spc="-10" dirty="0">
                <a:solidFill>
                  <a:srgbClr val="FF0000"/>
                </a:solidFill>
                <a:latin typeface="Calibri"/>
                <a:cs typeface="Calibri"/>
              </a:rPr>
              <a:t>databases</a:t>
            </a:r>
            <a:r>
              <a:rPr sz="1000" spc="-9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000" spc="-20" dirty="0">
                <a:solidFill>
                  <a:srgbClr val="FF0000"/>
                </a:solidFill>
                <a:latin typeface="Calibri"/>
                <a:cs typeface="Calibri"/>
              </a:rPr>
              <a:t>etc..</a:t>
            </a:r>
            <a:endParaRPr sz="1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2084" rIns="0" bIns="0" rtlCol="0">
            <a:spAutoFit/>
          </a:bodyPr>
          <a:lstStyle/>
          <a:p>
            <a:pPr marL="126364">
              <a:lnSpc>
                <a:spcPct val="100000"/>
              </a:lnSpc>
              <a:spcBef>
                <a:spcPts val="95"/>
              </a:spcBef>
            </a:pPr>
            <a:r>
              <a:rPr dirty="0"/>
              <a:t>DevOps–</a:t>
            </a:r>
            <a:r>
              <a:rPr spc="55" dirty="0"/>
              <a:t> </a:t>
            </a:r>
            <a:r>
              <a:rPr dirty="0"/>
              <a:t>Cloud</a:t>
            </a:r>
            <a:r>
              <a:rPr spc="5" dirty="0"/>
              <a:t> </a:t>
            </a:r>
            <a:r>
              <a:rPr dirty="0"/>
              <a:t>as</a:t>
            </a:r>
            <a:r>
              <a:rPr spc="5" dirty="0"/>
              <a:t> </a:t>
            </a:r>
            <a:r>
              <a:rPr dirty="0"/>
              <a:t>a</a:t>
            </a:r>
            <a:r>
              <a:rPr spc="-100" dirty="0"/>
              <a:t> </a:t>
            </a:r>
            <a:r>
              <a:rPr spc="-10" dirty="0"/>
              <a:t>catalyst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0700" y="885443"/>
            <a:ext cx="304800" cy="17373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0700" y="1434083"/>
            <a:ext cx="304800" cy="17373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74065" y="860551"/>
            <a:ext cx="4091304" cy="1305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Calibri"/>
                <a:cs typeface="Calibri"/>
              </a:rPr>
              <a:t>advent</a:t>
            </a:r>
            <a:r>
              <a:rPr sz="1200" spc="16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16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cloud</a:t>
            </a:r>
            <a:r>
              <a:rPr sz="1200" spc="17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actually</a:t>
            </a:r>
            <a:r>
              <a:rPr sz="1200" spc="1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facilitates</a:t>
            </a:r>
            <a:r>
              <a:rPr sz="1200" spc="16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continuous</a:t>
            </a:r>
            <a:r>
              <a:rPr sz="1200" spc="1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deployment</a:t>
            </a:r>
            <a:r>
              <a:rPr sz="1200" spc="185" dirty="0">
                <a:latin typeface="Calibri"/>
                <a:cs typeface="Calibri"/>
              </a:rPr>
              <a:t> </a:t>
            </a:r>
            <a:r>
              <a:rPr sz="1200" spc="-25" dirty="0">
                <a:latin typeface="Calibri"/>
                <a:cs typeface="Calibri"/>
              </a:rPr>
              <a:t>and </a:t>
            </a:r>
            <a:r>
              <a:rPr sz="1200" spc="-10" dirty="0">
                <a:latin typeface="Calibri"/>
                <a:cs typeface="Calibri"/>
              </a:rPr>
              <a:t>provides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easier</a:t>
            </a:r>
            <a:r>
              <a:rPr sz="1200" spc="250" dirty="0"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access</a:t>
            </a:r>
            <a:r>
              <a:rPr sz="12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sz="1200" spc="-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production</a:t>
            </a:r>
            <a:r>
              <a:rPr sz="12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like</a:t>
            </a:r>
            <a:r>
              <a:rPr sz="1200" spc="-20" dirty="0">
                <a:solidFill>
                  <a:srgbClr val="FF0000"/>
                </a:solidFill>
                <a:latin typeface="Calibri"/>
                <a:cs typeface="Calibri"/>
              </a:rPr>
              <a:t> environments </a:t>
            </a:r>
            <a:r>
              <a:rPr sz="1200" spc="-10" dirty="0">
                <a:latin typeface="Calibri"/>
                <a:cs typeface="Calibri"/>
              </a:rPr>
              <a:t>during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spc="-25" dirty="0">
                <a:latin typeface="Calibri"/>
                <a:cs typeface="Calibri"/>
              </a:rPr>
              <a:t>the </a:t>
            </a:r>
            <a:r>
              <a:rPr sz="1200" spc="-10" dirty="0">
                <a:latin typeface="Calibri"/>
                <a:cs typeface="Calibri"/>
              </a:rPr>
              <a:t>development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testing</a:t>
            </a:r>
            <a:r>
              <a:rPr sz="1200" spc="26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stages of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deliverypipeline.</a:t>
            </a:r>
            <a:endParaRPr sz="1200">
              <a:latin typeface="Calibri"/>
              <a:cs typeface="Calibri"/>
            </a:endParaRPr>
          </a:p>
          <a:p>
            <a:pPr marL="12700" marR="5080" algn="just">
              <a:lnSpc>
                <a:spcPct val="100000"/>
              </a:lnSpc>
            </a:pPr>
            <a:r>
              <a:rPr sz="1200" dirty="0">
                <a:latin typeface="Calibri"/>
                <a:cs typeface="Calibri"/>
              </a:rPr>
              <a:t>Developer</a:t>
            </a:r>
            <a:r>
              <a:rPr sz="1200" spc="30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can</a:t>
            </a:r>
            <a:r>
              <a:rPr sz="1200" spc="29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not</a:t>
            </a:r>
            <a:r>
              <a:rPr sz="1200" spc="31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only</a:t>
            </a:r>
            <a:r>
              <a:rPr sz="1200" spc="30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invoke</a:t>
            </a:r>
            <a:r>
              <a:rPr sz="1200" spc="30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</a:t>
            </a:r>
            <a:r>
              <a:rPr sz="1200" spc="31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automated</a:t>
            </a:r>
            <a:r>
              <a:rPr sz="1200" spc="30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build,</a:t>
            </a:r>
            <a:r>
              <a:rPr sz="1200" spc="29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but</a:t>
            </a:r>
            <a:r>
              <a:rPr sz="1200" spc="305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also </a:t>
            </a:r>
            <a:r>
              <a:rPr sz="1200" dirty="0">
                <a:latin typeface="Calibri"/>
                <a:cs typeface="Calibri"/>
              </a:rPr>
              <a:t>request</a:t>
            </a:r>
            <a:r>
              <a:rPr sz="1200" spc="114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120" dirty="0">
                <a:latin typeface="Calibri"/>
                <a:cs typeface="Calibri"/>
              </a:rPr>
              <a:t>  </a:t>
            </a:r>
            <a:r>
              <a:rPr sz="1200" dirty="0">
                <a:latin typeface="Calibri"/>
                <a:cs typeface="Calibri"/>
              </a:rPr>
              <a:t>provisioning</a:t>
            </a:r>
            <a:r>
              <a:rPr sz="1200" spc="11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1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configuration</a:t>
            </a:r>
            <a:r>
              <a:rPr sz="1200" spc="1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114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</a:t>
            </a:r>
            <a:r>
              <a:rPr sz="1200" spc="114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production</a:t>
            </a:r>
            <a:r>
              <a:rPr sz="1200" spc="120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like </a:t>
            </a:r>
            <a:r>
              <a:rPr sz="1200" spc="-10" dirty="0">
                <a:latin typeface="Calibri"/>
                <a:cs typeface="Calibri"/>
              </a:rPr>
              <a:t>environment</a:t>
            </a:r>
            <a:r>
              <a:rPr sz="1200" spc="5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in</a:t>
            </a:r>
            <a:r>
              <a:rPr sz="1200" spc="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cloud</a:t>
            </a:r>
            <a:r>
              <a:rPr sz="1200" spc="40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then</a:t>
            </a:r>
            <a:r>
              <a:rPr sz="1200" spc="6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deploy</a:t>
            </a:r>
            <a:r>
              <a:rPr sz="1200" spc="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5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application</a:t>
            </a:r>
            <a:r>
              <a:rPr sz="1200" spc="5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being built</a:t>
            </a:r>
            <a:r>
              <a:rPr sz="1200" spc="-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</a:t>
            </a:r>
            <a:r>
              <a:rPr sz="1200" spc="-5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it</a:t>
            </a:r>
            <a:r>
              <a:rPr sz="1200" spc="-55" dirty="0"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without</a:t>
            </a:r>
            <a:r>
              <a:rPr sz="12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FF0000"/>
                </a:solidFill>
                <a:latin typeface="Calibri"/>
                <a:cs typeface="Calibri"/>
              </a:rPr>
              <a:t>any</a:t>
            </a:r>
            <a:r>
              <a:rPr sz="12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FF0000"/>
                </a:solidFill>
                <a:latin typeface="Calibri"/>
                <a:cs typeface="Calibri"/>
              </a:rPr>
              <a:t>direct</a:t>
            </a:r>
            <a:r>
              <a:rPr sz="12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involvement</a:t>
            </a:r>
            <a:r>
              <a:rPr sz="1200" spc="2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by</a:t>
            </a:r>
            <a:r>
              <a:rPr sz="12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r>
              <a:rPr sz="12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operations</a:t>
            </a:r>
            <a:r>
              <a:rPr sz="12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team</a:t>
            </a:r>
            <a:r>
              <a:rPr sz="800" spc="-10" dirty="0">
                <a:latin typeface="Calibri"/>
                <a:cs typeface="Calibri"/>
              </a:rPr>
              <a:t>.</a:t>
            </a:r>
            <a:endParaRPr sz="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8095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46050" y="253364"/>
            <a:ext cx="31413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Arial"/>
                <a:cs typeface="Arial"/>
              </a:rPr>
              <a:t>DevOps–</a:t>
            </a:r>
            <a:r>
              <a:rPr sz="1800" b="1" spc="5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Cloud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as</a:t>
            </a:r>
            <a:r>
              <a:rPr sz="1800" b="1" spc="1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a</a:t>
            </a:r>
            <a:r>
              <a:rPr sz="1800" b="1" spc="-10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catalyst</a:t>
            </a:r>
            <a:endParaRPr sz="18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95300" y="800099"/>
            <a:ext cx="3619500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84602" y="3307460"/>
            <a:ext cx="2251710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b="1" dirty="0">
                <a:solidFill>
                  <a:srgbClr val="0F1141"/>
                </a:solidFill>
                <a:latin typeface="Arial"/>
                <a:cs typeface="Arial"/>
              </a:rPr>
              <a:t>BITS</a:t>
            </a:r>
            <a:r>
              <a:rPr sz="550" b="1" spc="5" dirty="0">
                <a:solidFill>
                  <a:srgbClr val="0F1141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Pilani, Deemed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to</a:t>
            </a:r>
            <a:r>
              <a:rPr sz="550" spc="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be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University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 under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Section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3</a:t>
            </a:r>
            <a:r>
              <a:rPr sz="550" spc="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of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UGC</a:t>
            </a:r>
            <a:r>
              <a:rPr sz="550" spc="15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dirty="0">
                <a:solidFill>
                  <a:srgbClr val="0F1141"/>
                </a:solidFill>
                <a:latin typeface="Arial MT"/>
                <a:cs typeface="Arial MT"/>
              </a:rPr>
              <a:t>Act,</a:t>
            </a:r>
            <a:r>
              <a:rPr sz="550" spc="-10" dirty="0">
                <a:solidFill>
                  <a:srgbClr val="0F1141"/>
                </a:solidFill>
                <a:latin typeface="Arial MT"/>
                <a:cs typeface="Arial MT"/>
              </a:rPr>
              <a:t> </a:t>
            </a:r>
            <a:r>
              <a:rPr sz="550" spc="-20" dirty="0">
                <a:solidFill>
                  <a:srgbClr val="0F1141"/>
                </a:solidFill>
                <a:latin typeface="Arial MT"/>
                <a:cs typeface="Arial MT"/>
              </a:rPr>
              <a:t>1956</a:t>
            </a:r>
            <a:endParaRPr sz="55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10863" y="2818510"/>
            <a:ext cx="58419" cy="565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425"/>
              </a:lnSpc>
            </a:pPr>
            <a:r>
              <a:rPr sz="450" spc="-25" dirty="0">
                <a:solidFill>
                  <a:srgbClr val="888888"/>
                </a:solidFill>
                <a:latin typeface="Calibri"/>
                <a:cs typeface="Calibri"/>
              </a:rPr>
              <a:t>40</a:t>
            </a:r>
            <a:endParaRPr sz="45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DevOps–</a:t>
            </a:r>
            <a:r>
              <a:rPr spc="175" dirty="0"/>
              <a:t> </a:t>
            </a:r>
            <a:r>
              <a:rPr dirty="0"/>
              <a:t>Tools/technology</a:t>
            </a:r>
            <a:r>
              <a:rPr spc="229" dirty="0"/>
              <a:t> </a:t>
            </a:r>
            <a:r>
              <a:rPr spc="-25" dirty="0"/>
              <a:t>as</a:t>
            </a: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pc="-10" dirty="0"/>
              <a:t>enablers</a:t>
            </a:r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246634" y="756919"/>
          <a:ext cx="4208145" cy="22853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601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1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6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3675">
                <a:tc>
                  <a:txBody>
                    <a:bodyPr/>
                    <a:lstStyle/>
                    <a:p>
                      <a:pPr marL="3810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9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Phase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635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5882DB"/>
                    </a:solidFill>
                  </a:tcPr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9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Purpose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635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5882DB"/>
                    </a:solidFill>
                  </a:tcPr>
                </a:tc>
                <a:tc>
                  <a:txBody>
                    <a:bodyPr/>
                    <a:lstStyle/>
                    <a:p>
                      <a:pPr marL="3873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900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Tools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635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19050">
                      <a:solidFill>
                        <a:srgbClr val="FFFFFF"/>
                      </a:solidFill>
                      <a:prstDash val="solid"/>
                    </a:lnB>
                    <a:solidFill>
                      <a:srgbClr val="5882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38100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900" spc="-10" dirty="0">
                          <a:latin typeface="Calibri"/>
                          <a:cs typeface="Calibri"/>
                        </a:rPr>
                        <a:t>Development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190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D1D7EF"/>
                    </a:solidFill>
                  </a:tcPr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900" spc="-20" dirty="0">
                          <a:latin typeface="Calibri"/>
                          <a:cs typeface="Calibri"/>
                        </a:rPr>
                        <a:t>Source</a:t>
                      </a:r>
                      <a:r>
                        <a:rPr sz="9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control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190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D1D7EF"/>
                    </a:solidFill>
                  </a:tcPr>
                </a:tc>
                <a:tc>
                  <a:txBody>
                    <a:bodyPr/>
                    <a:lstStyle/>
                    <a:p>
                      <a:pPr marL="38735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900" spc="-10" dirty="0">
                          <a:latin typeface="Calibri"/>
                          <a:cs typeface="Calibri"/>
                        </a:rPr>
                        <a:t>Git,</a:t>
                      </a:r>
                      <a:r>
                        <a:rPr sz="9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SVN,</a:t>
                      </a:r>
                      <a:r>
                        <a:rPr sz="9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CVS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190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D1D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900" spc="-20" dirty="0">
                          <a:latin typeface="Calibri"/>
                          <a:cs typeface="Calibri"/>
                        </a:rPr>
                        <a:t>Static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Code</a:t>
                      </a:r>
                      <a:r>
                        <a:rPr sz="9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Analysis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900" spc="-20" dirty="0">
                          <a:latin typeface="Calibri"/>
                          <a:cs typeface="Calibri"/>
                        </a:rPr>
                        <a:t>SonarQube,</a:t>
                      </a:r>
                      <a:r>
                        <a:rPr sz="900" spc="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FindBugs,</a:t>
                      </a:r>
                      <a:r>
                        <a:rPr sz="900" spc="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CheckStyle,PMD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D1D7EF"/>
                    </a:solidFill>
                  </a:tcPr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900" spc="-25" dirty="0">
                          <a:latin typeface="Calibri"/>
                          <a:cs typeface="Calibri"/>
                        </a:rPr>
                        <a:t>CI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D1D7EF"/>
                    </a:solidFill>
                  </a:tcPr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900" spc="-25" dirty="0">
                          <a:latin typeface="Calibri"/>
                          <a:cs typeface="Calibri"/>
                        </a:rPr>
                        <a:t>Jenkins,</a:t>
                      </a:r>
                      <a:r>
                        <a:rPr sz="9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35" dirty="0">
                          <a:latin typeface="Calibri"/>
                          <a:cs typeface="Calibri"/>
                        </a:rPr>
                        <a:t>pupper,</a:t>
                      </a:r>
                      <a:r>
                        <a:rPr sz="9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cruise</a:t>
                      </a:r>
                      <a:r>
                        <a:rPr sz="900" spc="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control,Anthil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D1D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734">
                <a:tc>
                  <a:txBody>
                    <a:bodyPr/>
                    <a:lstStyle/>
                    <a:p>
                      <a:pPr marL="3810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900" spc="-10" dirty="0">
                          <a:latin typeface="Calibri"/>
                          <a:cs typeface="Calibri"/>
                        </a:rPr>
                        <a:t>Testing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635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900" dirty="0">
                          <a:latin typeface="Calibri"/>
                          <a:cs typeface="Calibri"/>
                        </a:rPr>
                        <a:t>Unit</a:t>
                      </a:r>
                      <a:r>
                        <a:rPr sz="9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and</a:t>
                      </a:r>
                      <a:r>
                        <a:rPr sz="9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Performance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635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 marL="36830" marR="297815" indent="1270">
                        <a:lnSpc>
                          <a:spcPct val="100000"/>
                        </a:lnSpc>
                      </a:pPr>
                      <a:r>
                        <a:rPr sz="900" spc="-10" dirty="0">
                          <a:latin typeface="Calibri"/>
                          <a:cs typeface="Calibri"/>
                        </a:rPr>
                        <a:t>Junit,</a:t>
                      </a:r>
                      <a:r>
                        <a:rPr sz="900" spc="5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30" dirty="0">
                          <a:latin typeface="Calibri"/>
                          <a:cs typeface="Calibri"/>
                        </a:rPr>
                        <a:t>TestNG,Jmeter,Selenium,cucumber,</a:t>
                      </a:r>
                      <a:r>
                        <a:rPr sz="900" spc="5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SOAP</a:t>
                      </a:r>
                      <a:r>
                        <a:rPr sz="900" spc="9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UI,HtmlUnit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D1D7EF"/>
                    </a:solidFill>
                  </a:tcPr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900" dirty="0">
                          <a:latin typeface="Calibri"/>
                          <a:cs typeface="Calibri"/>
                        </a:rPr>
                        <a:t>Code</a:t>
                      </a:r>
                      <a:r>
                        <a:rPr sz="9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Coverage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D1D7EF"/>
                    </a:solidFill>
                  </a:tcPr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900" spc="-25" dirty="0">
                          <a:latin typeface="Calibri"/>
                          <a:cs typeface="Calibri"/>
                        </a:rPr>
                        <a:t>Jacaco,</a:t>
                      </a:r>
                      <a:r>
                        <a:rPr sz="900" spc="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Cobertura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D1D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pPr marL="38100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900" spc="-10" dirty="0">
                          <a:latin typeface="Calibri"/>
                          <a:cs typeface="Calibri"/>
                        </a:rPr>
                        <a:t>Release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900" dirty="0">
                          <a:latin typeface="Calibri"/>
                          <a:cs typeface="Calibri"/>
                        </a:rPr>
                        <a:t>Build</a:t>
                      </a:r>
                      <a:r>
                        <a:rPr sz="9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and</a:t>
                      </a:r>
                      <a:r>
                        <a:rPr sz="9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Release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 marL="38735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900" spc="-20" dirty="0">
                          <a:latin typeface="Calibri"/>
                          <a:cs typeface="Calibri"/>
                        </a:rPr>
                        <a:t>ANT,</a:t>
                      </a:r>
                      <a:r>
                        <a:rPr sz="900" spc="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Maven,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Gradle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38100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900" spc="-10" dirty="0">
                          <a:latin typeface="Calibri"/>
                          <a:cs typeface="Calibri"/>
                        </a:rPr>
                        <a:t>Deployment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D1D7EF"/>
                    </a:solidFill>
                  </a:tcPr>
                </a:tc>
                <a:tc>
                  <a:txBody>
                    <a:bodyPr/>
                    <a:lstStyle/>
                    <a:p>
                      <a:pPr marL="36830" marR="495934">
                        <a:lnSpc>
                          <a:spcPct val="100000"/>
                        </a:lnSpc>
                      </a:pPr>
                      <a:r>
                        <a:rPr sz="900" spc="-10" dirty="0">
                          <a:latin typeface="Calibri"/>
                          <a:cs typeface="Calibri"/>
                        </a:rPr>
                        <a:t>Deployment</a:t>
                      </a:r>
                      <a:r>
                        <a:rPr sz="900" spc="5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Automation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D1D7EF"/>
                    </a:solidFill>
                  </a:tcPr>
                </a:tc>
                <a:tc>
                  <a:txBody>
                    <a:bodyPr/>
                    <a:lstStyle/>
                    <a:p>
                      <a:pPr marL="38735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900" spc="-25" dirty="0">
                          <a:latin typeface="Calibri"/>
                          <a:cs typeface="Calibri"/>
                        </a:rPr>
                        <a:t>Jenkins</a:t>
                      </a:r>
                      <a:r>
                        <a:rPr sz="9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plugin,deployment</a:t>
                      </a:r>
                      <a:r>
                        <a:rPr sz="900" spc="7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scripts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D1D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734">
                <a:tc>
                  <a:txBody>
                    <a:bodyPr/>
                    <a:lstStyle/>
                    <a:p>
                      <a:pPr marL="38100" marR="502920">
                        <a:lnSpc>
                          <a:spcPct val="100000"/>
                        </a:lnSpc>
                      </a:pPr>
                      <a:r>
                        <a:rPr sz="900" spc="-10" dirty="0">
                          <a:latin typeface="Calibri"/>
                          <a:cs typeface="Calibri"/>
                        </a:rPr>
                        <a:t>Monitoring</a:t>
                      </a:r>
                      <a:r>
                        <a:rPr sz="900" spc="5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and</a:t>
                      </a:r>
                      <a:r>
                        <a:rPr sz="900" spc="5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Maintenance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r>
                        <a:rPr sz="900" spc="-10" dirty="0">
                          <a:latin typeface="Calibri"/>
                          <a:cs typeface="Calibri"/>
                        </a:rPr>
                        <a:t>Continuous</a:t>
                      </a:r>
                      <a:r>
                        <a:rPr sz="900" spc="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monitor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127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 marL="36830" marR="226695">
                        <a:lnSpc>
                          <a:spcPct val="100000"/>
                        </a:lnSpc>
                      </a:pPr>
                      <a:r>
                        <a:rPr sz="900" spc="-55" dirty="0">
                          <a:latin typeface="Calibri"/>
                          <a:cs typeface="Calibri"/>
                        </a:rPr>
                        <a:t>Web</a:t>
                      </a:r>
                      <a:r>
                        <a:rPr sz="9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analytics</a:t>
                      </a:r>
                      <a:r>
                        <a:rPr sz="9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scripts,</a:t>
                      </a:r>
                      <a:r>
                        <a:rPr sz="900" spc="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health</a:t>
                      </a:r>
                      <a:r>
                        <a:rPr sz="900" spc="5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monitoring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tools,</a:t>
                      </a:r>
                      <a:r>
                        <a:rPr sz="900" spc="2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server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 monitoring</a:t>
                      </a:r>
                      <a:r>
                        <a:rPr sz="900" spc="5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tools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3678</Words>
  <Application>Microsoft Office PowerPoint</Application>
  <PresentationFormat>Custom</PresentationFormat>
  <Paragraphs>342</Paragraphs>
  <Slides>57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2" baseType="lpstr">
      <vt:lpstr>Arial</vt:lpstr>
      <vt:lpstr>Arial MT</vt:lpstr>
      <vt:lpstr>Calibri</vt:lpstr>
      <vt:lpstr>Times New Roman</vt:lpstr>
      <vt:lpstr>Office Theme</vt:lpstr>
      <vt:lpstr>DevOps</vt:lpstr>
      <vt:lpstr>Dimensions of DevOps</vt:lpstr>
      <vt:lpstr>DevOps– People</vt:lpstr>
      <vt:lpstr>DevOps– People</vt:lpstr>
      <vt:lpstr>DevOps– People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Infra evolution</vt:lpstr>
      <vt:lpstr>PowerPoint Presentation</vt:lpstr>
      <vt:lpstr>PowerPoint Presentation</vt:lpstr>
      <vt:lpstr>Squad</vt:lpstr>
      <vt:lpstr>DevOps – Roles &amp; Responsibilities</vt:lpstr>
      <vt:lpstr>DevOps– People</vt:lpstr>
      <vt:lpstr>DevOps– Tools</vt:lpstr>
      <vt:lpstr>DevOps - Tools</vt:lpstr>
      <vt:lpstr>DevOps - Tools</vt:lpstr>
      <vt:lpstr>DevOps - Tools</vt:lpstr>
      <vt:lpstr>DevOps - Tools</vt:lpstr>
      <vt:lpstr>DevOps - Tools</vt:lpstr>
      <vt:lpstr>PowerPoint Presentation</vt:lpstr>
      <vt:lpstr>PowerPoint Presentation</vt:lpstr>
      <vt:lpstr>PowerPoint Presentation</vt:lpstr>
      <vt:lpstr>DevOps - Tools</vt:lpstr>
      <vt:lpstr>DevOps - Tools</vt:lpstr>
      <vt:lpstr>DevOps - Tools</vt:lpstr>
      <vt:lpstr>DevOps - Tools</vt:lpstr>
      <vt:lpstr>DevOps - Tools</vt:lpstr>
      <vt:lpstr>DevOps - Tools</vt:lpstr>
      <vt:lpstr>DevOps - Tools</vt:lpstr>
      <vt:lpstr>DevOps - Tools</vt:lpstr>
      <vt:lpstr>DevOps - Tools</vt:lpstr>
      <vt:lpstr>DevOps - Tools</vt:lpstr>
      <vt:lpstr>DevOps– Infrastructure as Code</vt:lpstr>
      <vt:lpstr>DevOps– Delivery pipeline</vt:lpstr>
      <vt:lpstr>DevOps– Delivery pipeline</vt:lpstr>
      <vt:lpstr>DevOps– Delivery pipeline</vt:lpstr>
      <vt:lpstr>DevOps– Delivery pipeline</vt:lpstr>
      <vt:lpstr>DevOps– Delivery pipeline</vt:lpstr>
      <vt:lpstr>DevOps– Delivery pipeline</vt:lpstr>
      <vt:lpstr>DevOps– Delivery pipeline</vt:lpstr>
      <vt:lpstr>DevOps– Deployment automation and release management</vt:lpstr>
      <vt:lpstr>DevOps– Deployment automation and release management</vt:lpstr>
      <vt:lpstr>DevOps– Cloud as a catalyst</vt:lpstr>
      <vt:lpstr>DevOps– Cloud as a catalyst</vt:lpstr>
      <vt:lpstr>Virtualization</vt:lpstr>
      <vt:lpstr>Container</vt:lpstr>
      <vt:lpstr>DevOps– Cloud as a catalyst</vt:lpstr>
      <vt:lpstr>DevOps– Cloud as a catalyst</vt:lpstr>
      <vt:lpstr>PowerPoint Presentation</vt:lpstr>
      <vt:lpstr>DevOps– Tools/technology as enablers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</dc:creator>
  <cp:lastModifiedBy>Abid AK</cp:lastModifiedBy>
  <cp:revision>1</cp:revision>
  <dcterms:created xsi:type="dcterms:W3CDTF">2025-04-18T12:07:31Z</dcterms:created>
  <dcterms:modified xsi:type="dcterms:W3CDTF">2025-04-18T12:22:06Z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2025-04-12T00:00:00Z</vt:filetime>
  </property>
  <property fmtid="{D5CDD505-2E9C-101B-9397-08002B2CF9AE}" pid="3" name="Creator">
    <vt:lpwstr>Microsoft® PowerPoint® 2019</vt:lpwstr>
  </property>
  <property fmtid="{D5CDD505-2E9C-101B-9397-08002B2CF9AE}" pid="4" name="LastSaved">
    <vt:filetime>2025-04-18T00:00:00Z</vt:filetime>
  </property>
  <property fmtid="{D5CDD505-2E9C-101B-9397-08002B2CF9AE}" pid="5" name="Producer">
    <vt:lpwstr>Microsoft® PowerPoint® 2019</vt:lpwstr>
  </property>
</Properties>
</file>