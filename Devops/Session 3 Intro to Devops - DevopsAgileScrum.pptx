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x="6858000" cy="9144000"/>
  <p:notesSz cx="6858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900" y="365760"/>
            <a:ext cx="61722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96633" y="8932951"/>
            <a:ext cx="2190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hyperlink" Target="mailto:mailtoudhay@gmail.com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jenkins.io/" TargetMode="External"/><Relationship Id="rId3" Type="http://schemas.openxmlformats.org/officeDocument/2006/relationships/hyperlink" Target="https://xebialabs.com/solutions/devops/" TargetMode="External"/><Relationship Id="rId4" Type="http://schemas.openxmlformats.org/officeDocument/2006/relationships/hyperlink" Target="https://www.ibm.com/ibm/devops/us/en/casestudies/#all" TargetMode="External"/><Relationship Id="rId5" Type="http://schemas.openxmlformats.org/officeDocument/2006/relationships/hyperlink" Target="https://git-scm.com/" TargetMode="External"/><Relationship Id="rId6" Type="http://schemas.openxmlformats.org/officeDocument/2006/relationships/hyperlink" Target="https://hub.docker.com/" TargetMode="External"/><Relationship Id="rId7" Type="http://schemas.openxmlformats.org/officeDocument/2006/relationships/hyperlink" Target="https://www.atlassian.com/git/tutorials/comparing-workflows" TargetMode="External"/><Relationship Id="rId8" Type="http://schemas.openxmlformats.org/officeDocument/2006/relationships/hyperlink" Target="https://www.tutorialspoint.com/puppet/" TargetMode="External"/><Relationship Id="rId9" Type="http://schemas.openxmlformats.org/officeDocument/2006/relationships/hyperlink" Target="http://www.tutorialspoint.com/chef/" TargetMode="External"/><Relationship Id="rId10" Type="http://schemas.openxmlformats.org/officeDocument/2006/relationships/image" Target="../media/image5.jpg"/><Relationship Id="rId11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16.jpg"/><Relationship Id="rId4" Type="http://schemas.openxmlformats.org/officeDocument/2006/relationships/image" Target="../media/image8.png"/><Relationship Id="rId5" Type="http://schemas.openxmlformats.org/officeDocument/2006/relationships/image" Target="../media/image1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hyperlink" Target="https://www.digite.com/agile/agile-methodology/" TargetMode="External"/><Relationship Id="rId5" Type="http://schemas.openxmlformats.org/officeDocument/2006/relationships/image" Target="../media/image19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hyperlink" Target="https://www.digite.com/agile/agile-methodology/#agile-principles" TargetMode="External"/><Relationship Id="rId5" Type="http://schemas.openxmlformats.org/officeDocument/2006/relationships/image" Target="../media/image20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2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24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25.jpg"/><Relationship Id="rId4" Type="http://schemas.openxmlformats.org/officeDocument/2006/relationships/image" Target="../media/image8.png"/><Relationship Id="rId5" Type="http://schemas.openxmlformats.org/officeDocument/2006/relationships/image" Target="../media/image26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7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8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9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Relationship Id="rId17" Type="http://schemas.openxmlformats.org/officeDocument/2006/relationships/image" Target="../media/image43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3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hyperlink" Target="http://www.agil8.com/blog/component-teams-vs-feature-teams/" TargetMode="Externa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4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5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6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7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hyperlink" Target="http://agilemodeling.com/" TargetMode="Externa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8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59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6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1000" y="868680"/>
            <a:ext cx="6096000" cy="2433320"/>
            <a:chOff x="381000" y="868680"/>
            <a:chExt cx="6096000" cy="2433320"/>
          </a:xfrm>
        </p:grpSpPr>
        <p:sp>
          <p:nvSpPr>
            <p:cNvPr id="4" name="object 4" descr=""/>
            <p:cNvSpPr/>
            <p:nvPr/>
          </p:nvSpPr>
          <p:spPr>
            <a:xfrm>
              <a:off x="381000" y="868680"/>
              <a:ext cx="6096000" cy="2433320"/>
            </a:xfrm>
            <a:custGeom>
              <a:avLst/>
              <a:gdLst/>
              <a:ahLst/>
              <a:cxnLst/>
              <a:rect l="l" t="t" r="r" b="b"/>
              <a:pathLst>
                <a:path w="6096000" h="2433320">
                  <a:moveTo>
                    <a:pt x="6096000" y="0"/>
                  </a:moveTo>
                  <a:lnTo>
                    <a:pt x="0" y="0"/>
                  </a:lnTo>
                  <a:lnTo>
                    <a:pt x="0" y="2433193"/>
                  </a:lnTo>
                  <a:lnTo>
                    <a:pt x="6096000" y="2433193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400" y="958850"/>
              <a:ext cx="4192016" cy="2209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381000" y="3552761"/>
            <a:ext cx="6096000" cy="568960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93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dirty="0" sz="750" spc="-25">
                <a:solidFill>
                  <a:srgbClr val="FFFFFF"/>
                </a:solidFill>
                <a:latin typeface="Segoe UI Light"/>
                <a:cs typeface="Segoe UI Light"/>
              </a:rPr>
              <a:t>Dr. </a:t>
            </a:r>
            <a:r>
              <a:rPr dirty="0" sz="750" spc="-10">
                <a:solidFill>
                  <a:srgbClr val="FFFFFF"/>
                </a:solidFill>
                <a:latin typeface="Segoe UI Light"/>
                <a:cs typeface="Segoe UI Light"/>
              </a:rPr>
              <a:t>S.Udhayakumar</a:t>
            </a:r>
            <a:endParaRPr sz="750">
              <a:latin typeface="Segoe UI Light"/>
              <a:cs typeface="Segoe UI Light"/>
            </a:endParaRPr>
          </a:p>
          <a:p>
            <a:pPr algn="ctr" marL="1833880" marR="1827530">
              <a:lnSpc>
                <a:spcPct val="163000"/>
              </a:lnSpc>
              <a:spcBef>
                <a:spcPts val="10"/>
              </a:spcBef>
            </a:pPr>
            <a:r>
              <a:rPr dirty="0" sz="750" spc="-20">
                <a:solidFill>
                  <a:srgbClr val="FFFFFF"/>
                </a:solidFill>
                <a:latin typeface="Segoe UI Light"/>
                <a:cs typeface="Segoe UI Light"/>
              </a:rPr>
              <a:t>Professor,</a:t>
            </a:r>
            <a:r>
              <a:rPr dirty="0" sz="750" spc="-2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750">
                <a:solidFill>
                  <a:srgbClr val="FFFFFF"/>
                </a:solidFill>
                <a:latin typeface="Segoe UI Light"/>
                <a:cs typeface="Segoe UI Light"/>
              </a:rPr>
              <a:t>Department</a:t>
            </a:r>
            <a:r>
              <a:rPr dirty="0" sz="750" spc="-2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750">
                <a:solidFill>
                  <a:srgbClr val="FFFFFF"/>
                </a:solidFill>
                <a:latin typeface="Segoe UI Light"/>
                <a:cs typeface="Segoe UI Light"/>
              </a:rPr>
              <a:t>of Computer</a:t>
            </a:r>
            <a:r>
              <a:rPr dirty="0" sz="750" spc="-2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750">
                <a:solidFill>
                  <a:srgbClr val="FFFFFF"/>
                </a:solidFill>
                <a:latin typeface="Segoe UI Light"/>
                <a:cs typeface="Segoe UI Light"/>
              </a:rPr>
              <a:t>Science</a:t>
            </a:r>
            <a:r>
              <a:rPr dirty="0" sz="750" spc="-2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75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dirty="0" sz="750" spc="-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Segoe UI Light"/>
                <a:cs typeface="Segoe UI Light"/>
              </a:rPr>
              <a:t>Engineering</a:t>
            </a:r>
            <a:r>
              <a:rPr dirty="0" sz="750" spc="50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Segoe UI Light"/>
                <a:cs typeface="Segoe UI Light"/>
                <a:hlinkClick r:id="rId3"/>
              </a:rPr>
              <a:t>mailtoudhay@gmail.com</a:t>
            </a:r>
            <a:endParaRPr sz="750">
              <a:latin typeface="Segoe UI Light"/>
              <a:cs typeface="Segoe UI 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Course</a:t>
            </a:r>
            <a:r>
              <a:rPr dirty="0" sz="18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Objectives</a:t>
            </a:r>
            <a:endParaRPr sz="1800">
              <a:latin typeface="Segoe UI Light"/>
              <a:cs typeface="Segoe UI Ligh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85717" y="7261402"/>
            <a:ext cx="1280160" cy="72007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41189" y="7261402"/>
            <a:ext cx="1280160" cy="720077"/>
          </a:xfrm>
          <a:prstGeom prst="rect">
            <a:avLst/>
          </a:prstGeom>
        </p:spPr>
      </p:pic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680046" y="6030214"/>
          <a:ext cx="2858770" cy="1445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970"/>
                <a:gridCol w="2507615"/>
              </a:tblGrid>
              <a:tr h="144780">
                <a:tc>
                  <a:txBody>
                    <a:bodyPr/>
                    <a:lstStyle/>
                    <a:p>
                      <a:pPr algn="ctr" marR="12509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No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550" spc="-10">
                          <a:latin typeface="Segoe UI"/>
                          <a:cs typeface="Segoe UI"/>
                        </a:rPr>
                        <a:t>Objective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351155">
                <a:tc>
                  <a:txBody>
                    <a:bodyPr/>
                    <a:lstStyle/>
                    <a:p>
                      <a:pPr algn="ctr" marR="831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CO1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20955" marR="13335">
                        <a:lnSpc>
                          <a:spcPct val="114999"/>
                        </a:lnSpc>
                        <a:spcBef>
                          <a:spcPts val="95"/>
                        </a:spcBef>
                      </a:pPr>
                      <a:r>
                        <a:rPr dirty="0" sz="60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600" spc="2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learn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key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ideas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2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techniques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bring</a:t>
                      </a:r>
                      <a:r>
                        <a:rPr dirty="0" sz="600" spc="2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development</a:t>
                      </a:r>
                      <a:r>
                        <a:rPr dirty="0" sz="600" spc="2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25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operations</a:t>
                      </a:r>
                      <a:r>
                        <a:rPr dirty="0" sz="600" spc="1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together</a:t>
                      </a:r>
                      <a:r>
                        <a:rPr dirty="0" sz="600" spc="1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600" spc="1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produce</a:t>
                      </a:r>
                      <a:r>
                        <a:rPr dirty="0" sz="600" spc="1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higher-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quality</a:t>
                      </a:r>
                      <a:r>
                        <a:rPr dirty="0" sz="600" spc="1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software</a:t>
                      </a:r>
                      <a:r>
                        <a:rPr dirty="0" sz="600" spc="1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1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deliver</a:t>
                      </a:r>
                      <a:r>
                        <a:rPr dirty="0" sz="600" spc="1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25">
                          <a:latin typeface="Segoe UI"/>
                          <a:cs typeface="Segoe UI"/>
                        </a:rPr>
                        <a:t>it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more</a:t>
                      </a:r>
                      <a:r>
                        <a:rPr dirty="0" sz="600" spc="-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quickly.</a:t>
                      </a:r>
                      <a:endParaRPr sz="600">
                        <a:latin typeface="Segoe UI"/>
                        <a:cs typeface="Segoe UI"/>
                      </a:endParaRPr>
                    </a:p>
                  </a:txBody>
                  <a:tcPr marL="0" marR="0" marB="0" marT="1206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 marR="831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CO2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4604">
                        <a:lnSpc>
                          <a:spcPct val="114999"/>
                        </a:lnSpc>
                        <a:spcBef>
                          <a:spcPts val="90"/>
                        </a:spcBef>
                      </a:pPr>
                      <a:r>
                        <a:rPr dirty="0" sz="600" spc="-2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learn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60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core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principles, business</a:t>
                      </a:r>
                      <a:r>
                        <a:rPr dirty="0" sz="60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technical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terms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used</a:t>
                      </a:r>
                      <a:r>
                        <a:rPr dirty="0" sz="60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in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DevOps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from</a:t>
                      </a:r>
                      <a:r>
                        <a:rPr dirty="0" sz="60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perspective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600" spc="-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business</a:t>
                      </a:r>
                      <a:r>
                        <a:rPr dirty="0" sz="60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IT</a:t>
                      </a:r>
                      <a:r>
                        <a:rPr dirty="0" sz="60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teams</a:t>
                      </a:r>
                      <a:endParaRPr sz="600">
                        <a:latin typeface="Segoe UI"/>
                        <a:cs typeface="Segoe UI"/>
                      </a:endParaRPr>
                    </a:p>
                  </a:txBody>
                  <a:tcPr marL="0" marR="0" marB="0" marT="114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algn="ctr" marR="831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CO3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20955" marR="14604">
                        <a:lnSpc>
                          <a:spcPct val="115100"/>
                        </a:lnSpc>
                        <a:spcBef>
                          <a:spcPts val="90"/>
                        </a:spcBef>
                      </a:pPr>
                      <a:r>
                        <a:rPr dirty="0" sz="60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600" spc="19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gain</a:t>
                      </a:r>
                      <a:r>
                        <a:rPr dirty="0" sz="600" spc="2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knowledge</a:t>
                      </a:r>
                      <a:r>
                        <a:rPr dirty="0" sz="600" spc="2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600" spc="2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600" spc="2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Principles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2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practices</a:t>
                      </a:r>
                      <a:r>
                        <a:rPr dirty="0" sz="600" spc="24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600" spc="2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600" spc="2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DevOps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Lifecycle</a:t>
                      </a:r>
                      <a:r>
                        <a:rPr dirty="0" sz="600" spc="3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including</a:t>
                      </a:r>
                      <a:r>
                        <a:rPr dirty="0" sz="600" spc="35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dirty="0" sz="600" spc="36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Integration,</a:t>
                      </a:r>
                      <a:r>
                        <a:rPr dirty="0" sz="600" spc="36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dirty="0" sz="600" spc="36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Inspection,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delivery,</a:t>
                      </a:r>
                      <a:r>
                        <a:rPr dirty="0" sz="600" spc="225">
                          <a:latin typeface="Segoe UI"/>
                          <a:cs typeface="Segoe UI"/>
                        </a:rPr>
                        <a:t> 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deployment</a:t>
                      </a:r>
                      <a:r>
                        <a:rPr dirty="0" sz="600" spc="225">
                          <a:latin typeface="Segoe UI"/>
                          <a:cs typeface="Segoe UI"/>
                        </a:rPr>
                        <a:t> 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monitoring.</a:t>
                      </a:r>
                      <a:endParaRPr sz="600">
                        <a:latin typeface="Segoe UI"/>
                        <a:cs typeface="Segoe UI"/>
                      </a:endParaRPr>
                    </a:p>
                  </a:txBody>
                  <a:tcPr marL="0" marR="0" marB="0" marT="114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 marR="831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CO4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2700">
                        <a:lnSpc>
                          <a:spcPct val="114999"/>
                        </a:lnSpc>
                        <a:spcBef>
                          <a:spcPts val="90"/>
                        </a:spcBef>
                      </a:pPr>
                      <a:r>
                        <a:rPr dirty="0" sz="60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600" spc="38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understand</a:t>
                      </a:r>
                      <a:r>
                        <a:rPr dirty="0" sz="600" spc="38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600" spc="38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usage</a:t>
                      </a:r>
                      <a:r>
                        <a:rPr dirty="0" sz="600" spc="38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600" spc="38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tools</a:t>
                      </a:r>
                      <a:r>
                        <a:rPr dirty="0" sz="600" spc="38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38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technologies</a:t>
                      </a:r>
                      <a:r>
                        <a:rPr dirty="0" sz="600" spc="38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used</a:t>
                      </a:r>
                      <a:r>
                        <a:rPr dirty="0" sz="600" spc="38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25"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implementing</a:t>
                      </a:r>
                      <a:r>
                        <a:rPr dirty="0" sz="600" spc="-4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DevOps.</a:t>
                      </a:r>
                      <a:endParaRPr sz="600">
                        <a:latin typeface="Segoe UI"/>
                        <a:cs typeface="Segoe UI"/>
                      </a:endParaRPr>
                    </a:p>
                  </a:txBody>
                  <a:tcPr marL="0" marR="0" marB="0" marT="114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88028" y="5821235"/>
            <a:ext cx="1966849" cy="1204912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5"/>
              </a:spcBef>
            </a:pPr>
            <a:r>
              <a:rPr dirty="0" sz="1800" spc="-70">
                <a:solidFill>
                  <a:srgbClr val="FFFFFF"/>
                </a:solidFill>
                <a:latin typeface="Segoe UI Light"/>
                <a:cs typeface="Segoe UI Light"/>
              </a:rPr>
              <a:t>Text</a:t>
            </a:r>
            <a:r>
              <a:rPr dirty="0" sz="1800" spc="-5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books</a:t>
            </a:r>
            <a:r>
              <a:rPr dirty="0" sz="18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dirty="0" sz="1800" spc="-6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References</a:t>
            </a:r>
            <a:endParaRPr sz="1800">
              <a:latin typeface="Segoe UI Light"/>
              <a:cs typeface="Segoe UI Light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80046" y="1786001"/>
          <a:ext cx="3183255" cy="462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885"/>
                <a:gridCol w="2750185"/>
              </a:tblGrid>
              <a:tr h="90170">
                <a:tc>
                  <a:txBody>
                    <a:bodyPr/>
                    <a:lstStyle/>
                    <a:p>
                      <a:pPr marL="13970">
                        <a:lnSpc>
                          <a:spcPts val="595"/>
                        </a:lnSpc>
                        <a:spcBef>
                          <a:spcPts val="15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No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595"/>
                        </a:lnSpc>
                        <a:spcBef>
                          <a:spcPts val="15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Author(s),</a:t>
                      </a:r>
                      <a:r>
                        <a:rPr dirty="0" sz="550" spc="-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Title,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Edition,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Publishing</a:t>
                      </a:r>
                      <a:r>
                        <a:rPr dirty="0" sz="550" spc="-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House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8605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T1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 spc="-10">
                          <a:latin typeface="Segoe UI"/>
                          <a:cs typeface="Segoe UI"/>
                        </a:rPr>
                        <a:t>DevOps: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 Software</a:t>
                      </a:r>
                      <a:r>
                        <a:rPr dirty="0" sz="550" spc="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Architect's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Perspective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(SEI Series in Software</a:t>
                      </a:r>
                      <a:r>
                        <a:rPr dirty="0" sz="550" spc="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Engineering)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3970">
                        <a:lnSpc>
                          <a:spcPts val="585"/>
                        </a:lnSpc>
                        <a:spcBef>
                          <a:spcPts val="110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by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Len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Bass,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Ingo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Weber,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Liming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Zhu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,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Publisher: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Addison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Wesley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(18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May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2015).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8605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T2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dirty="0" sz="550" spc="4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Delivery:</a:t>
                      </a:r>
                      <a:r>
                        <a:rPr dirty="0" sz="550" spc="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Reliable</a:t>
                      </a:r>
                      <a:r>
                        <a:rPr dirty="0" sz="550" spc="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Software</a:t>
                      </a:r>
                      <a:r>
                        <a:rPr dirty="0" sz="550" spc="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Releases</a:t>
                      </a:r>
                      <a:r>
                        <a:rPr dirty="0" sz="550" spc="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through</a:t>
                      </a:r>
                      <a:r>
                        <a:rPr dirty="0" sz="550" spc="4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Build,</a:t>
                      </a:r>
                      <a:r>
                        <a:rPr dirty="0" sz="550" spc="5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Test,</a:t>
                      </a:r>
                      <a:r>
                        <a:rPr dirty="0" sz="550" spc="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550" spc="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Deployment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3970">
                        <a:lnSpc>
                          <a:spcPts val="585"/>
                        </a:lnSpc>
                        <a:spcBef>
                          <a:spcPts val="110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Automation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by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Jez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Humble,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David Farley.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Publisher: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Addison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Wesley,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2011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80046" y="2498598"/>
          <a:ext cx="3183255" cy="1397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885"/>
                <a:gridCol w="2750185"/>
              </a:tblGrid>
              <a:tr h="90170">
                <a:tc>
                  <a:txBody>
                    <a:bodyPr/>
                    <a:lstStyle/>
                    <a:p>
                      <a:pPr marL="13970">
                        <a:lnSpc>
                          <a:spcPts val="590"/>
                        </a:lnSpc>
                        <a:spcBef>
                          <a:spcPts val="15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No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590"/>
                        </a:lnSpc>
                        <a:spcBef>
                          <a:spcPts val="15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Author(s),</a:t>
                      </a:r>
                      <a:r>
                        <a:rPr dirty="0" sz="550" spc="-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Title,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Edition,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Publishing</a:t>
                      </a:r>
                      <a:r>
                        <a:rPr dirty="0" sz="550" spc="-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House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8605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R1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Effective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DevOps: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Building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 Culture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of Collaboration,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Affinity,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and Tooling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at Scale 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by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3970">
                        <a:lnSpc>
                          <a:spcPts val="580"/>
                        </a:lnSpc>
                        <a:spcBef>
                          <a:spcPts val="110"/>
                        </a:spcBef>
                      </a:pPr>
                      <a:r>
                        <a:rPr dirty="0" sz="550" spc="-10">
                          <a:latin typeface="Segoe UI"/>
                          <a:cs typeface="Segoe UI"/>
                        </a:rPr>
                        <a:t>Jennifer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Davis</a:t>
                      </a:r>
                      <a:r>
                        <a:rPr dirty="0" sz="550" spc="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, Ryn</a:t>
                      </a:r>
                      <a:r>
                        <a:rPr dirty="0" sz="550" spc="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Daniels.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Publisher: O'Reilly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Media,</a:t>
                      </a:r>
                      <a:r>
                        <a:rPr dirty="0" sz="550" spc="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June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2016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R2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54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DevOPS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Handbook: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How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550" spc="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Create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World-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Class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Agility,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Reliability,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Security</a:t>
                      </a:r>
                      <a:r>
                        <a:rPr dirty="0" sz="550" spc="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in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3970" marR="55880">
                        <a:lnSpc>
                          <a:spcPct val="114500"/>
                        </a:lnSpc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Technology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Organizations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by Gene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Kim,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Patrick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Debois,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John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Willis,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Jez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Humble,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John</a:t>
                      </a:r>
                      <a:r>
                        <a:rPr dirty="0" sz="55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Allspaw.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Publisher: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IT</a:t>
                      </a:r>
                      <a:r>
                        <a:rPr dirty="0" sz="550" spc="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Revolution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Press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 (October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6,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2016)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54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83883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R3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600">
                          <a:latin typeface="Segoe UI"/>
                          <a:cs typeface="Segoe UI"/>
                        </a:rPr>
                        <a:t>Web</a:t>
                      </a:r>
                      <a:r>
                        <a:rPr dirty="0" sz="600" spc="-4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Resources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: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spcBef>
                          <a:spcPts val="570"/>
                        </a:spcBef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2"/>
                        </a:rPr>
                        <a:t>https://jenkins.io/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3"/>
                        </a:rPr>
                        <a:t>https://xebialabs.com/solutions/devops/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4"/>
                        </a:rPr>
                        <a:t>https://www.ibm.com/ibm/devops/us/en/casestudies/#all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5"/>
                        </a:rPr>
                        <a:t>https://git-scm.com/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6"/>
                        </a:rPr>
                        <a:t>https://hub.docker.com/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7"/>
                        </a:rPr>
                        <a:t>https://www.atlassian.com/git/tutorials/comparing-workflows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ts val="655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8"/>
                        </a:rPr>
                        <a:t>https://www.tutorialspoint.com/puppet/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ts val="575"/>
                        </a:lnSpc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sz="550" spc="-10">
                          <a:latin typeface="Segoe UI"/>
                          <a:cs typeface="Segoe UI"/>
                        </a:rPr>
                        <a:t>https:</a:t>
                      </a:r>
                      <a:r>
                        <a:rPr dirty="0" sz="550" spc="-10">
                          <a:latin typeface="Segoe UI"/>
                          <a:cs typeface="Segoe UI"/>
                          <a:hlinkClick r:id="rId9"/>
                        </a:rPr>
                        <a:t>//www.tutorialspoint.com/chef/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317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16053" y="2111501"/>
            <a:ext cx="2537805" cy="149343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Module</a:t>
            </a:r>
            <a:r>
              <a:rPr dirty="0" sz="1800" spc="-5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2:</a:t>
            </a:r>
            <a:r>
              <a:rPr dirty="0" sz="1800" spc="-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DevOps</a:t>
            </a:r>
            <a:r>
              <a:rPr dirty="0" sz="18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Dimensions</a:t>
            </a:r>
            <a:endParaRPr sz="1800">
              <a:latin typeface="Segoe UI Light"/>
              <a:cs typeface="Segoe UI Ligh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26237" y="5757633"/>
            <a:ext cx="1918970" cy="2176145"/>
            <a:chOff x="626237" y="5757633"/>
            <a:chExt cx="1918970" cy="2176145"/>
          </a:xfrm>
        </p:grpSpPr>
        <p:sp>
          <p:nvSpPr>
            <p:cNvPr id="9" name="object 9" descr=""/>
            <p:cNvSpPr/>
            <p:nvPr/>
          </p:nvSpPr>
          <p:spPr>
            <a:xfrm>
              <a:off x="626237" y="5757633"/>
              <a:ext cx="1918970" cy="2176145"/>
            </a:xfrm>
            <a:custGeom>
              <a:avLst/>
              <a:gdLst/>
              <a:ahLst/>
              <a:cxnLst/>
              <a:rect l="l" t="t" r="r" b="b"/>
              <a:pathLst>
                <a:path w="1918970" h="2176145">
                  <a:moveTo>
                    <a:pt x="1918462" y="0"/>
                  </a:moveTo>
                  <a:lnTo>
                    <a:pt x="0" y="0"/>
                  </a:lnTo>
                  <a:lnTo>
                    <a:pt x="0" y="2175637"/>
                  </a:lnTo>
                  <a:lnTo>
                    <a:pt x="1918462" y="2175637"/>
                  </a:lnTo>
                  <a:lnTo>
                    <a:pt x="191846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2084" y="5773800"/>
              <a:ext cx="70103" cy="9296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2084" y="5941440"/>
              <a:ext cx="70103" cy="92963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2084" y="6947661"/>
              <a:ext cx="70103" cy="9296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2084" y="7534401"/>
              <a:ext cx="70103" cy="9296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2084" y="7701737"/>
              <a:ext cx="70103" cy="93268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626237" y="5757633"/>
            <a:ext cx="1918970" cy="21761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45720" marR="220345" indent="457200">
              <a:lnSpc>
                <a:spcPct val="100000"/>
              </a:lnSpc>
              <a:spcBef>
                <a:spcPts val="175"/>
              </a:spcBef>
            </a:pP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Three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dimensions</a:t>
            </a:r>
            <a:r>
              <a:rPr dirty="0" sz="55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dirty="0" sz="550" spc="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dirty="0" sz="55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–</a:t>
            </a:r>
            <a:r>
              <a:rPr dirty="0" sz="55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People,</a:t>
            </a:r>
            <a:r>
              <a:rPr dirty="0" sz="550" spc="5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Process,</a:t>
            </a:r>
            <a:r>
              <a:rPr dirty="0" sz="550" spc="4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Technology/Tools</a:t>
            </a:r>
            <a:endParaRPr sz="550">
              <a:latin typeface="Segoe UI"/>
              <a:cs typeface="Segoe UI"/>
            </a:endParaRPr>
          </a:p>
          <a:p>
            <a:pPr marL="502920">
              <a:lnSpc>
                <a:spcPct val="100000"/>
              </a:lnSpc>
            </a:pP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DevOps-</a:t>
            </a:r>
            <a:r>
              <a:rPr dirty="0" sz="550" spc="-3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Process</a:t>
            </a:r>
            <a:endParaRPr sz="550">
              <a:latin typeface="Segoe UI"/>
              <a:cs typeface="Segoe UI"/>
            </a:endParaRPr>
          </a:p>
          <a:p>
            <a:pPr marL="502920" indent="-457200">
              <a:lnSpc>
                <a:spcPct val="100000"/>
              </a:lnSpc>
              <a:buChar char="•"/>
              <a:tabLst>
                <a:tab pos="502920" algn="l"/>
              </a:tabLst>
            </a:pP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dirty="0" sz="55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dirty="0" sz="550" spc="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Agile</a:t>
            </a:r>
            <a:endParaRPr sz="550">
              <a:latin typeface="Segoe UI"/>
              <a:cs typeface="Segoe UI"/>
            </a:endParaRPr>
          </a:p>
          <a:p>
            <a:pPr marL="45720" marR="444500" indent="457200">
              <a:lnSpc>
                <a:spcPct val="100000"/>
              </a:lnSpc>
              <a:spcBef>
                <a:spcPts val="5"/>
              </a:spcBef>
              <a:buChar char="•"/>
              <a:tabLst>
                <a:tab pos="502920" algn="l"/>
              </a:tabLst>
            </a:pP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Agile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methodology</a:t>
            </a:r>
            <a:r>
              <a:rPr dirty="0" sz="550" spc="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for</a:t>
            </a:r>
            <a:r>
              <a:rPr dirty="0" sz="550" spc="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dirty="0" sz="550" spc="5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Effectiveness</a:t>
            </a:r>
            <a:endParaRPr sz="550">
              <a:latin typeface="Segoe UI"/>
              <a:cs typeface="Segoe UI"/>
            </a:endParaRPr>
          </a:p>
          <a:p>
            <a:pPr marL="502920" indent="-457200">
              <a:lnSpc>
                <a:spcPct val="100000"/>
              </a:lnSpc>
              <a:buChar char="•"/>
              <a:tabLst>
                <a:tab pos="502920" algn="l"/>
              </a:tabLst>
            </a:pP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Flow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Vs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 Non-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Flow based</a:t>
            </a:r>
            <a:r>
              <a:rPr dirty="0" sz="55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Agile</a:t>
            </a:r>
            <a:r>
              <a:rPr dirty="0" sz="55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processes</a:t>
            </a:r>
            <a:endParaRPr sz="550">
              <a:latin typeface="Segoe UI"/>
              <a:cs typeface="Segoe UI"/>
            </a:endParaRPr>
          </a:p>
          <a:p>
            <a:pPr marL="45720" marR="129539" indent="457200">
              <a:lnSpc>
                <a:spcPct val="100000"/>
              </a:lnSpc>
              <a:buChar char="•"/>
              <a:tabLst>
                <a:tab pos="502920" algn="l"/>
              </a:tabLst>
            </a:pP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Choosing</a:t>
            </a:r>
            <a:r>
              <a:rPr dirty="0" sz="55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appropriate</a:t>
            </a:r>
            <a:r>
              <a:rPr dirty="0" sz="550" spc="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team</a:t>
            </a:r>
            <a:r>
              <a:rPr dirty="0" sz="55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structure:</a:t>
            </a:r>
            <a:r>
              <a:rPr dirty="0" sz="550" spc="5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Feature</a:t>
            </a:r>
            <a:r>
              <a:rPr dirty="0" sz="550" spc="-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Vs</a:t>
            </a:r>
            <a:r>
              <a:rPr dirty="0" sz="55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Component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 teams</a:t>
            </a:r>
            <a:endParaRPr sz="550">
              <a:latin typeface="Segoe UI"/>
              <a:cs typeface="Segoe UI"/>
            </a:endParaRPr>
          </a:p>
          <a:p>
            <a:pPr marL="45720" marR="248285" indent="457200">
              <a:lnSpc>
                <a:spcPct val="100000"/>
              </a:lnSpc>
              <a:buChar char="•"/>
              <a:tabLst>
                <a:tab pos="502920" algn="l"/>
              </a:tabLst>
            </a:pP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Enterprise</a:t>
            </a:r>
            <a:r>
              <a:rPr dirty="0" sz="55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Agile frameworks</a:t>
            </a:r>
            <a:r>
              <a:rPr dirty="0" sz="550" spc="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dirty="0" sz="550" spc="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Segoe UI"/>
                <a:cs typeface="Segoe UI"/>
              </a:rPr>
              <a:t>their</a:t>
            </a:r>
            <a:r>
              <a:rPr dirty="0" sz="550" spc="5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relevance</a:t>
            </a:r>
            <a:r>
              <a:rPr dirty="0" sz="55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to</a:t>
            </a:r>
            <a:r>
              <a:rPr dirty="0" sz="550" spc="-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endParaRPr sz="550">
              <a:latin typeface="Segoe UI"/>
              <a:cs typeface="Segoe UI"/>
            </a:endParaRPr>
          </a:p>
          <a:p>
            <a:pPr marL="45720" marR="198755" indent="457200">
              <a:lnSpc>
                <a:spcPct val="100000"/>
              </a:lnSpc>
              <a:buChar char="•"/>
              <a:tabLst>
                <a:tab pos="502920" algn="l"/>
              </a:tabLst>
            </a:pP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Behaviour</a:t>
            </a:r>
            <a:r>
              <a:rPr dirty="0" sz="550" spc="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driven</a:t>
            </a:r>
            <a:r>
              <a:rPr dirty="0" sz="550" spc="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development,</a:t>
            </a:r>
            <a:r>
              <a:rPr dirty="0" sz="55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Feature</a:t>
            </a:r>
            <a:r>
              <a:rPr dirty="0" sz="550" spc="5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driven</a:t>
            </a:r>
            <a:r>
              <a:rPr dirty="0" sz="55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Development</a:t>
            </a:r>
            <a:endParaRPr sz="550">
              <a:latin typeface="Segoe UI"/>
              <a:cs typeface="Segoe UI"/>
            </a:endParaRPr>
          </a:p>
          <a:p>
            <a:pPr marL="502920" marR="466090" indent="-457200">
              <a:lnSpc>
                <a:spcPct val="100000"/>
              </a:lnSpc>
              <a:buChar char="•"/>
              <a:tabLst>
                <a:tab pos="502920" algn="l"/>
              </a:tabLst>
            </a:pP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Cloud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as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catalyst for</a:t>
            </a:r>
            <a:r>
              <a:rPr dirty="0" sz="550" spc="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dirty="0" sz="550" spc="5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dirty="0" sz="55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–</a:t>
            </a:r>
            <a:r>
              <a:rPr dirty="0" sz="55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People</a:t>
            </a:r>
            <a:endParaRPr sz="550">
              <a:latin typeface="Segoe UI"/>
              <a:cs typeface="Segoe UI"/>
            </a:endParaRPr>
          </a:p>
          <a:p>
            <a:pPr marL="502920" indent="-457200">
              <a:lnSpc>
                <a:spcPct val="100000"/>
              </a:lnSpc>
              <a:buChar char="•"/>
              <a:tabLst>
                <a:tab pos="502920" algn="l"/>
              </a:tabLst>
            </a:pP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Team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structure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in a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endParaRPr sz="550">
              <a:latin typeface="Segoe UI"/>
              <a:cs typeface="Segoe UI"/>
            </a:endParaRPr>
          </a:p>
          <a:p>
            <a:pPr marL="45720" marR="261620" indent="457200">
              <a:lnSpc>
                <a:spcPct val="100000"/>
              </a:lnSpc>
              <a:buChar char="•"/>
              <a:tabLst>
                <a:tab pos="502920" algn="l"/>
              </a:tabLst>
            </a:pP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Transformation</a:t>
            </a:r>
            <a:r>
              <a:rPr dirty="0" sz="550" spc="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to</a:t>
            </a:r>
            <a:r>
              <a:rPr dirty="0" sz="550" spc="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Enterprise</a:t>
            </a:r>
            <a:r>
              <a:rPr dirty="0" sz="550" spc="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dirty="0" sz="550" spc="5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culture</a:t>
            </a:r>
            <a:endParaRPr sz="550">
              <a:latin typeface="Segoe UI"/>
              <a:cs typeface="Segoe UI"/>
            </a:endParaRPr>
          </a:p>
          <a:p>
            <a:pPr marL="45720" marR="386715" indent="457200">
              <a:lnSpc>
                <a:spcPct val="100000"/>
              </a:lnSpc>
              <a:buChar char="•"/>
              <a:tabLst>
                <a:tab pos="502920" algn="l"/>
              </a:tabLst>
            </a:pP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Building</a:t>
            </a:r>
            <a:r>
              <a:rPr dirty="0" sz="550" spc="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competencies,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Full</a:t>
            </a:r>
            <a:r>
              <a:rPr dirty="0" sz="550" spc="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Segoe UI"/>
                <a:cs typeface="Segoe UI"/>
              </a:rPr>
              <a:t>Stack</a:t>
            </a:r>
            <a:r>
              <a:rPr dirty="0" sz="550" spc="5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Developers</a:t>
            </a:r>
            <a:endParaRPr sz="550">
              <a:latin typeface="Segoe UI"/>
              <a:cs typeface="Segoe UI"/>
            </a:endParaRPr>
          </a:p>
          <a:p>
            <a:pPr marL="502920" marR="123825" indent="-457200">
              <a:lnSpc>
                <a:spcPct val="100000"/>
              </a:lnSpc>
              <a:buChar char="•"/>
              <a:tabLst>
                <a:tab pos="502920" algn="l"/>
              </a:tabLst>
            </a:pP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Self-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organized</a:t>
            </a:r>
            <a:r>
              <a:rPr dirty="0" sz="550" spc="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teams,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Intrinsic</a:t>
            </a:r>
            <a:r>
              <a:rPr dirty="0" sz="55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Motivation</a:t>
            </a:r>
            <a:r>
              <a:rPr dirty="0" sz="550" spc="5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Technology</a:t>
            </a:r>
            <a:r>
              <a:rPr dirty="0" sz="550" spc="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in</a:t>
            </a:r>
            <a:r>
              <a:rPr dirty="0" sz="550" spc="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DevOps(Infrastructure </a:t>
            </a:r>
            <a:r>
              <a:rPr dirty="0" sz="550" spc="-25">
                <a:solidFill>
                  <a:srgbClr val="FFFFFF"/>
                </a:solidFill>
                <a:latin typeface="Segoe UI"/>
                <a:cs typeface="Segoe UI"/>
              </a:rPr>
              <a:t>as</a:t>
            </a:r>
            <a:endParaRPr sz="550">
              <a:latin typeface="Segoe UI"/>
              <a:cs typeface="Segoe UI"/>
            </a:endParaRPr>
          </a:p>
          <a:p>
            <a:pPr marL="45720">
              <a:lnSpc>
                <a:spcPct val="100000"/>
              </a:lnSpc>
            </a:pP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code,</a:t>
            </a:r>
            <a:r>
              <a:rPr dirty="0" sz="55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Delivery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Pipeline,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Release</a:t>
            </a:r>
            <a:r>
              <a:rPr dirty="0" sz="55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Management)</a:t>
            </a:r>
            <a:endParaRPr sz="550">
              <a:latin typeface="Segoe UI"/>
              <a:cs typeface="Segoe UI"/>
            </a:endParaRPr>
          </a:p>
          <a:p>
            <a:pPr marL="502920">
              <a:lnSpc>
                <a:spcPct val="100000"/>
              </a:lnSpc>
            </a:pP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Tools/technology</a:t>
            </a:r>
            <a:r>
              <a:rPr dirty="0" sz="55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as</a:t>
            </a:r>
            <a:r>
              <a:rPr dirty="0" sz="550" spc="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enablers</a:t>
            </a:r>
            <a:r>
              <a:rPr dirty="0" sz="550" spc="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>
                <a:solidFill>
                  <a:srgbClr val="FFFFFF"/>
                </a:solidFill>
                <a:latin typeface="Segoe UI"/>
                <a:cs typeface="Segoe UI"/>
              </a:rPr>
              <a:t>for</a:t>
            </a:r>
            <a:r>
              <a:rPr dirty="0" sz="550" spc="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endParaRPr sz="550">
              <a:latin typeface="Segoe UI"/>
              <a:cs typeface="Segoe UI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233166" y="5757633"/>
            <a:ext cx="2917825" cy="2176145"/>
          </a:xfrm>
          <a:custGeom>
            <a:avLst/>
            <a:gdLst/>
            <a:ahLst/>
            <a:cxnLst/>
            <a:rect l="l" t="t" r="r" b="b"/>
            <a:pathLst>
              <a:path w="2917825" h="2176145">
                <a:moveTo>
                  <a:pt x="2917571" y="0"/>
                </a:moveTo>
                <a:lnTo>
                  <a:pt x="0" y="0"/>
                </a:lnTo>
                <a:lnTo>
                  <a:pt x="0" y="2175637"/>
                </a:lnTo>
                <a:lnTo>
                  <a:pt x="2917571" y="2175637"/>
                </a:lnTo>
                <a:lnTo>
                  <a:pt x="2917571" y="0"/>
                </a:lnTo>
                <a:close/>
              </a:path>
            </a:pathLst>
          </a:custGeom>
          <a:solidFill>
            <a:srgbClr val="D5DC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3266947" y="5750433"/>
            <a:ext cx="2555875" cy="222059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RL2.1</a:t>
            </a:r>
            <a:r>
              <a:rPr dirty="0" sz="600" spc="-3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Pillars</a:t>
            </a:r>
            <a:r>
              <a:rPr dirty="0" sz="600" spc="-2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of</a:t>
            </a:r>
            <a:r>
              <a:rPr dirty="0" sz="600" spc="-3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DevOps</a:t>
            </a:r>
            <a:endParaRPr sz="600">
              <a:latin typeface="Segoe UI"/>
              <a:cs typeface="Segoe UI"/>
            </a:endParaRPr>
          </a:p>
          <a:p>
            <a:pPr marL="12700" marR="102235">
              <a:lnSpc>
                <a:spcPts val="1080"/>
              </a:lnSpc>
              <a:spcBef>
                <a:spcPts val="95"/>
              </a:spcBef>
            </a:pP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RL2.1.1</a:t>
            </a:r>
            <a:r>
              <a:rPr dirty="0" sz="600" spc="-3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Three</a:t>
            </a:r>
            <a:r>
              <a:rPr dirty="0" sz="600" spc="-2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dimensions of</a:t>
            </a:r>
            <a:r>
              <a:rPr dirty="0" sz="600" spc="-2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DevOps</a:t>
            </a:r>
            <a:r>
              <a:rPr dirty="0" sz="600" spc="-2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–</a:t>
            </a:r>
            <a:r>
              <a:rPr dirty="0" sz="600" spc="-3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People,</a:t>
            </a:r>
            <a:r>
              <a:rPr dirty="0" sz="600" spc="-1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Process,</a:t>
            </a:r>
            <a:r>
              <a:rPr dirty="0" sz="600" spc="-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Technology/Tools</a:t>
            </a:r>
            <a:r>
              <a:rPr dirty="0" sz="600" spc="50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RL2.1.2</a:t>
            </a:r>
            <a:r>
              <a:rPr dirty="0" sz="600" spc="-2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DevOps</a:t>
            </a:r>
            <a:r>
              <a:rPr dirty="0" sz="600" spc="13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Misconception</a:t>
            </a:r>
            <a:endParaRPr sz="600">
              <a:latin typeface="Segoe UI"/>
              <a:cs typeface="Segoe UI"/>
            </a:endParaRPr>
          </a:p>
          <a:p>
            <a:pPr marL="12700" marR="1347470">
              <a:lnSpc>
                <a:spcPts val="1080"/>
              </a:lnSpc>
            </a:pP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RL2.1.3</a:t>
            </a:r>
            <a:r>
              <a:rPr dirty="0" sz="600" spc="-2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Agile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Methodology</a:t>
            </a:r>
            <a:r>
              <a:rPr dirty="0" sz="600" spc="1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-</a:t>
            </a:r>
            <a:r>
              <a:rPr dirty="0" sz="600" spc="-20">
                <a:solidFill>
                  <a:srgbClr val="7E7E7E"/>
                </a:solidFill>
                <a:latin typeface="Segoe UI"/>
                <a:cs typeface="Segoe UI"/>
              </a:rPr>
              <a:t> Scrum</a:t>
            </a:r>
            <a:r>
              <a:rPr dirty="0" sz="600" spc="50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RL2.2</a:t>
            </a:r>
            <a:r>
              <a:rPr dirty="0" sz="600" spc="-2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DevOps-</a:t>
            </a:r>
            <a:r>
              <a:rPr dirty="0" sz="600" spc="-2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Process</a:t>
            </a:r>
            <a:endParaRPr sz="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RL2.2.1</a:t>
            </a:r>
            <a:r>
              <a:rPr dirty="0" sz="600" spc="-2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DevOps</a:t>
            </a:r>
            <a:r>
              <a:rPr dirty="0" sz="600" spc="-2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and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 Agile</a:t>
            </a:r>
            <a:endParaRPr sz="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RL2.2.2</a:t>
            </a:r>
            <a:r>
              <a:rPr dirty="0" sz="600" spc="-2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Agile</a:t>
            </a:r>
            <a:r>
              <a:rPr dirty="0" sz="600" spc="-1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methodology for</a:t>
            </a:r>
            <a:r>
              <a:rPr dirty="0" sz="600" spc="-1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DevOps</a:t>
            </a:r>
            <a:r>
              <a:rPr dirty="0" sz="600" spc="-3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Effectiveness</a:t>
            </a:r>
            <a:endParaRPr sz="60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</a:pP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Behavior</a:t>
            </a:r>
            <a:r>
              <a:rPr dirty="0" sz="600" spc="-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Driven</a:t>
            </a:r>
            <a:r>
              <a:rPr dirty="0" sz="600" spc="-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Development,</a:t>
            </a:r>
            <a:r>
              <a:rPr dirty="0" sz="600" spc="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Feature</a:t>
            </a:r>
            <a:r>
              <a:rPr dirty="0" sz="600" spc="1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Driven</a:t>
            </a:r>
            <a:r>
              <a:rPr dirty="0" sz="600" spc="-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Development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 and</a:t>
            </a:r>
            <a:r>
              <a:rPr dirty="0" sz="600" spc="-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Test</a:t>
            </a:r>
            <a:r>
              <a:rPr dirty="0" sz="600" spc="2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Driven</a:t>
            </a:r>
            <a:r>
              <a:rPr dirty="0" sz="600" spc="50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Development</a:t>
            </a:r>
            <a:endParaRPr sz="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RL2.3</a:t>
            </a:r>
            <a:r>
              <a:rPr dirty="0" sz="600" spc="29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DevOps</a:t>
            </a:r>
            <a:r>
              <a:rPr dirty="0" sz="600" spc="-2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–</a:t>
            </a:r>
            <a:r>
              <a:rPr dirty="0" sz="600" spc="-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People</a:t>
            </a:r>
            <a:endParaRPr sz="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RL2.3.1</a:t>
            </a:r>
            <a:r>
              <a:rPr dirty="0" sz="600" spc="-2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20">
                <a:solidFill>
                  <a:srgbClr val="7E7E7E"/>
                </a:solidFill>
                <a:latin typeface="Segoe UI"/>
                <a:cs typeface="Segoe UI"/>
              </a:rPr>
              <a:t>Team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structure in</a:t>
            </a:r>
            <a:r>
              <a:rPr dirty="0" sz="600" spc="-1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a</a:t>
            </a:r>
            <a:r>
              <a:rPr dirty="0" sz="600" spc="-1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DevOps</a:t>
            </a:r>
            <a:endParaRPr sz="600">
              <a:latin typeface="Segoe UI"/>
              <a:cs typeface="Segoe UI"/>
            </a:endParaRPr>
          </a:p>
          <a:p>
            <a:pPr marL="12700" marR="792480">
              <a:lnSpc>
                <a:spcPct val="150000"/>
              </a:lnSpc>
            </a:pP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RL2.3.2</a:t>
            </a:r>
            <a:r>
              <a:rPr dirty="0" sz="600" spc="-2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Transformation</a:t>
            </a:r>
            <a:r>
              <a:rPr dirty="0" sz="600" spc="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to</a:t>
            </a:r>
            <a:r>
              <a:rPr dirty="0" sz="600" spc="-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Enterprise</a:t>
            </a:r>
            <a:r>
              <a:rPr dirty="0" sz="600" spc="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DevOps</a:t>
            </a:r>
            <a:r>
              <a:rPr dirty="0" sz="600" spc="-1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culture</a:t>
            </a:r>
            <a:r>
              <a:rPr dirty="0" sz="600" spc="50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RL2.3.3</a:t>
            </a:r>
            <a:r>
              <a:rPr dirty="0" sz="600" spc="-2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DevOps</a:t>
            </a:r>
            <a:r>
              <a:rPr dirty="0" sz="600" spc="-3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Culture</a:t>
            </a:r>
            <a:endParaRPr sz="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RL2.4</a:t>
            </a:r>
            <a:r>
              <a:rPr dirty="0" sz="600" spc="3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DevOps-Tools</a:t>
            </a:r>
            <a:endParaRPr sz="600">
              <a:latin typeface="Segoe UI"/>
              <a:cs typeface="Segoe UI"/>
            </a:endParaRPr>
          </a:p>
          <a:p>
            <a:pPr marL="12700" marR="1188720">
              <a:lnSpc>
                <a:spcPct val="150000"/>
              </a:lnSpc>
              <a:spcBef>
                <a:spcPts val="5"/>
              </a:spcBef>
            </a:pP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RL2.4.1</a:t>
            </a:r>
            <a:r>
              <a:rPr dirty="0" sz="600" spc="-1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20">
                <a:solidFill>
                  <a:srgbClr val="7E7E7E"/>
                </a:solidFill>
                <a:latin typeface="Segoe UI"/>
                <a:cs typeface="Segoe UI"/>
              </a:rPr>
              <a:t>Tools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and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Technology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 in</a:t>
            </a:r>
            <a:r>
              <a:rPr dirty="0" sz="600" spc="-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DevOps</a:t>
            </a:r>
            <a:r>
              <a:rPr dirty="0" sz="600" spc="50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RL2.4.2</a:t>
            </a:r>
            <a:r>
              <a:rPr dirty="0" sz="600" spc="-2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Cloud</a:t>
            </a:r>
            <a:r>
              <a:rPr dirty="0" sz="600" spc="-1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as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a</a:t>
            </a:r>
            <a:r>
              <a:rPr dirty="0" sz="600" spc="-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catalyst</a:t>
            </a:r>
            <a:r>
              <a:rPr dirty="0" sz="600" spc="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>
                <a:solidFill>
                  <a:srgbClr val="7E7E7E"/>
                </a:solidFill>
                <a:latin typeface="Segoe UI"/>
                <a:cs typeface="Segoe UI"/>
              </a:rPr>
              <a:t>for</a:t>
            </a:r>
            <a:r>
              <a:rPr dirty="0" sz="600" spc="-15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dirty="0" sz="600" spc="-10">
                <a:solidFill>
                  <a:srgbClr val="7E7E7E"/>
                </a:solidFill>
                <a:latin typeface="Segoe UI"/>
                <a:cs typeface="Segoe UI"/>
              </a:rPr>
              <a:t>DevOps</a:t>
            </a:r>
            <a:endParaRPr sz="600">
              <a:latin typeface="Segoe UI"/>
              <a:cs typeface="Segoe UI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78916" y="1345616"/>
            <a:ext cx="2512695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Misconceptions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and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Dimensions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Misconceptions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Antipatterns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Three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Dimensions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DevOps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33424" y="1001014"/>
            <a:ext cx="762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23793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Misconceptions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4920615" cy="142621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Only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Involves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Developers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and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System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Administrators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name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indicates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Operations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900" b="1">
                <a:latin typeface="Arial"/>
                <a:cs typeface="Arial"/>
              </a:rPr>
              <a:t>However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the</a:t>
            </a:r>
            <a:r>
              <a:rPr dirty="0" sz="900" spc="-10" b="1">
                <a:latin typeface="Arial"/>
                <a:cs typeface="Arial"/>
              </a:rPr>
              <a:t> Truth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is:</a:t>
            </a:r>
            <a:endParaRPr sz="9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tagline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bring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operations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together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concepts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ideas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 include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within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organization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definitive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list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which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individuals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involved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Any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considered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candidate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DevOps,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may </a:t>
            </a:r>
            <a:r>
              <a:rPr dirty="0" sz="900">
                <a:latin typeface="Arial MT"/>
                <a:cs typeface="Arial MT"/>
              </a:rPr>
              <a:t>include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security, </a:t>
            </a:r>
            <a:r>
              <a:rPr dirty="0" sz="900">
                <a:latin typeface="Arial MT"/>
                <a:cs typeface="Arial MT"/>
              </a:rPr>
              <a:t>QA, support,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legal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1324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Misconceptions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221605" cy="142621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is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Team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Creating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called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DevOps,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OR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Renaming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existing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neither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necessary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sufficient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creating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DevOps culture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900" b="1">
                <a:latin typeface="Arial"/>
                <a:cs typeface="Arial"/>
              </a:rPr>
              <a:t>However</a:t>
            </a:r>
            <a:r>
              <a:rPr dirty="0" sz="900" spc="-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truth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is:</a:t>
            </a:r>
            <a:endParaRPr sz="9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An </a:t>
            </a:r>
            <a:r>
              <a:rPr dirty="0" sz="900" spc="-10">
                <a:latin typeface="Arial MT"/>
                <a:cs typeface="Arial MT"/>
              </a:rPr>
              <a:t>additional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likely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cause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communication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issues,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fewer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operations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must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connect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frequently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 </a:t>
            </a:r>
            <a:r>
              <a:rPr dirty="0" sz="900" spc="-10">
                <a:latin typeface="Arial MT"/>
                <a:cs typeface="Arial MT"/>
              </a:rPr>
              <a:t>together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startup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environment,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single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encompasses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both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functions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work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31324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Misconceptions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4838700" cy="159067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is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Job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Title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“DevOps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engineer”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job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title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started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controversial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debate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job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title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been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described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various</a:t>
            </a:r>
            <a:r>
              <a:rPr dirty="0" sz="900" spc="-20">
                <a:latin typeface="Arial MT"/>
                <a:cs typeface="Arial MT"/>
              </a:rPr>
              <a:t> ways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system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administrator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who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also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knows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how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write </a:t>
            </a:r>
            <a:r>
              <a:rPr dirty="0" sz="900" spc="-20">
                <a:latin typeface="Arial MT"/>
                <a:cs typeface="Arial MT"/>
              </a:rPr>
              <a:t>code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knows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basics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system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administration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900" b="1">
                <a:latin typeface="Arial"/>
                <a:cs typeface="Arial"/>
              </a:rPr>
              <a:t>However</a:t>
            </a:r>
            <a:r>
              <a:rPr dirty="0" sz="900" spc="-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truth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is:</a:t>
            </a:r>
            <a:endParaRPr sz="9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 it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sense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people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become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specialized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their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job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role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  <a:tab pos="422909" algn="l"/>
              </a:tabLst>
            </a:pPr>
            <a:r>
              <a:rPr dirty="0" sz="900">
                <a:latin typeface="Arial MT"/>
                <a:cs typeface="Arial MT"/>
              </a:rPr>
              <a:t>	DevOps 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 cultural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movement,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ideas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principles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need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used </a:t>
            </a:r>
            <a:r>
              <a:rPr dirty="0" sz="900">
                <a:latin typeface="Arial MT"/>
                <a:cs typeface="Arial MT"/>
              </a:rPr>
              <a:t>throughout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entire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order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effective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1324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Misconceptions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167630" cy="10972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You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Need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Certification</a:t>
            </a:r>
            <a:endParaRPr sz="1000">
              <a:latin typeface="Arial"/>
              <a:cs typeface="Arial"/>
            </a:endParaRPr>
          </a:p>
          <a:p>
            <a:pPr marL="391160" marR="5080" indent="-114300">
              <a:lnSpc>
                <a:spcPts val="969"/>
              </a:lnSpc>
              <a:spcBef>
                <a:spcPts val="7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Certification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exams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knowledge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clear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right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wrong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answers,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which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generally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have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900" b="1">
                <a:latin typeface="Arial"/>
                <a:cs typeface="Arial"/>
              </a:rPr>
              <a:t>However</a:t>
            </a:r>
            <a:r>
              <a:rPr dirty="0" sz="900" spc="-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truth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is:</a:t>
            </a:r>
            <a:endParaRPr sz="9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significant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 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about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culture: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how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certify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culture?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doesn’t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required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technology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one-</a:t>
            </a:r>
            <a:r>
              <a:rPr dirty="0" sz="900" spc="-10">
                <a:latin typeface="Arial MT"/>
                <a:cs typeface="Arial MT"/>
              </a:rPr>
              <a:t>size-fits-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solutions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31324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Misconceptions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203190" cy="15494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Means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Doing</a:t>
            </a:r>
            <a:r>
              <a:rPr dirty="0" sz="1000" spc="-4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All</a:t>
            </a:r>
            <a:r>
              <a:rPr dirty="0" sz="1000" spc="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Work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with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Half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People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ts val="1025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Get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both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developer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system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administrator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person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 one</a:t>
            </a:r>
            <a:r>
              <a:rPr dirty="0" sz="900" spc="-10">
                <a:latin typeface="Arial MT"/>
                <a:cs typeface="Arial MT"/>
              </a:rPr>
              <a:t> person’s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30"/>
              </a:lnSpc>
            </a:pPr>
            <a:r>
              <a:rPr dirty="0" sz="900" spc="-10">
                <a:latin typeface="Arial MT"/>
                <a:cs typeface="Arial MT"/>
              </a:rPr>
              <a:t>salary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900" b="1">
                <a:latin typeface="Arial"/>
                <a:cs typeface="Arial"/>
              </a:rPr>
              <a:t>However</a:t>
            </a:r>
            <a:r>
              <a:rPr dirty="0" sz="900" spc="-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truth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is:</a:t>
            </a:r>
            <a:endParaRPr sz="9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only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above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perception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incorrect,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often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harmful</a:t>
            </a:r>
            <a:endParaRPr sz="900">
              <a:latin typeface="Arial MT"/>
              <a:cs typeface="Arial MT"/>
            </a:endParaRPr>
          </a:p>
          <a:p>
            <a:pPr marL="391160" marR="1016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At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startups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offering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perks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such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meals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day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office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on-site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laundry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way of</a:t>
            </a:r>
            <a:r>
              <a:rPr dirty="0" sz="900" spc="-10">
                <a:latin typeface="Arial MT"/>
                <a:cs typeface="Arial MT"/>
              </a:rPr>
              <a:t> encouraging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doesn’t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money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halving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number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company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needs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Rather,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allows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increase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quality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efficiency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their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work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1324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Misconceptions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226050" cy="17970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Is</a:t>
            </a:r>
            <a:r>
              <a:rPr dirty="0" sz="1000" spc="-6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About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Automation</a:t>
            </a:r>
            <a:endParaRPr sz="1000">
              <a:latin typeface="Arial"/>
              <a:cs typeface="Arial"/>
            </a:endParaRPr>
          </a:p>
          <a:p>
            <a:pPr marL="391160" marR="231775" indent="-114300">
              <a:lnSpc>
                <a:spcPts val="969"/>
              </a:lnSpc>
              <a:spcBef>
                <a:spcPts val="7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Many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innovations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DevOps-adjacent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help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codify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understanding,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bridging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gaps </a:t>
            </a:r>
            <a:r>
              <a:rPr dirty="0" sz="900">
                <a:latin typeface="Arial MT"/>
                <a:cs typeface="Arial MT"/>
              </a:rPr>
              <a:t>between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increasing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velocity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through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automation</a:t>
            </a:r>
            <a:endParaRPr sz="900">
              <a:latin typeface="Arial MT"/>
              <a:cs typeface="Arial MT"/>
            </a:endParaRPr>
          </a:p>
          <a:p>
            <a:pPr marL="391160" marR="102235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Practitioners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focused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eliminate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tasks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boring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repetitive,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such</a:t>
            </a:r>
            <a:r>
              <a:rPr dirty="0" sz="900" spc="-25">
                <a:latin typeface="Arial MT"/>
                <a:cs typeface="Arial MT"/>
              </a:rPr>
              <a:t> as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infrastructure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automation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continuous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integration.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900" b="1">
                <a:latin typeface="Arial"/>
                <a:cs typeface="Arial"/>
              </a:rPr>
              <a:t>However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truth </a:t>
            </a:r>
            <a:r>
              <a:rPr dirty="0" sz="900" spc="-25" b="1">
                <a:latin typeface="Arial"/>
                <a:cs typeface="Arial"/>
              </a:rPr>
              <a:t>is:</a:t>
            </a:r>
            <a:endParaRPr sz="9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both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these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above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cases,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result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technology</a:t>
            </a:r>
            <a:endParaRPr sz="900">
              <a:latin typeface="Arial MT"/>
              <a:cs typeface="Arial MT"/>
            </a:endParaRPr>
          </a:p>
          <a:p>
            <a:pPr marL="391160" marR="45656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Automating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repetitive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tasks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help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human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them,</a:t>
            </a:r>
            <a:r>
              <a:rPr dirty="0" sz="900" spc="-20">
                <a:latin typeface="Arial MT"/>
                <a:cs typeface="Arial MT"/>
              </a:rPr>
              <a:t> that </a:t>
            </a:r>
            <a:r>
              <a:rPr dirty="0" sz="900">
                <a:latin typeface="Arial MT"/>
                <a:cs typeface="Arial MT"/>
              </a:rPr>
              <a:t>automation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helps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person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 more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efficiently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25"/>
              </a:spcBef>
              <a:buChar char="•"/>
              <a:tabLst>
                <a:tab pos="391160" algn="l"/>
              </a:tabLst>
            </a:pPr>
            <a:r>
              <a:rPr dirty="0" sz="900" spc="-10">
                <a:latin typeface="Arial MT"/>
                <a:cs typeface="Arial MT"/>
              </a:rPr>
              <a:t>Example: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server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builds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saves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hours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server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 a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system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administrator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 </a:t>
            </a:r>
            <a:r>
              <a:rPr dirty="0" sz="900" spc="-20">
                <a:latin typeface="Arial MT"/>
                <a:cs typeface="Arial MT"/>
              </a:rPr>
              <a:t>then </a:t>
            </a:r>
            <a:r>
              <a:rPr dirty="0" sz="900">
                <a:latin typeface="Arial MT"/>
                <a:cs typeface="Arial MT"/>
              </a:rPr>
              <a:t>spend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interesting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challenging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work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31324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Misconceptions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220970" cy="195707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Is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FAD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It’s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Buzzword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Market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Just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new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word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place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900" b="1">
                <a:latin typeface="Arial"/>
                <a:cs typeface="Arial"/>
              </a:rPr>
              <a:t>However</a:t>
            </a:r>
            <a:r>
              <a:rPr dirty="0" sz="900" spc="-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truth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is:</a:t>
            </a:r>
            <a:endParaRPr sz="900">
              <a:latin typeface="Arial"/>
              <a:cs typeface="Arial"/>
            </a:endParaRPr>
          </a:p>
          <a:p>
            <a:pPr marL="391160" marR="30543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specific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 </a:t>
            </a:r>
            <a:r>
              <a:rPr dirty="0" sz="900" spc="-10">
                <a:latin typeface="Arial MT"/>
                <a:cs typeface="Arial MT"/>
              </a:rPr>
              <a:t>technology,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tool,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however, </a:t>
            </a:r>
            <a:r>
              <a:rPr dirty="0" sz="900">
                <a:latin typeface="Arial MT"/>
                <a:cs typeface="Arial MT"/>
              </a:rPr>
              <a:t>It 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movement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about </a:t>
            </a:r>
            <a:r>
              <a:rPr dirty="0" sz="900">
                <a:latin typeface="Arial MT"/>
                <a:cs typeface="Arial MT"/>
              </a:rPr>
              <a:t>improving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organizational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effectiveness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individual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employee</a:t>
            </a:r>
            <a:r>
              <a:rPr dirty="0" sz="900" spc="-10">
                <a:latin typeface="Arial MT"/>
                <a:cs typeface="Arial MT"/>
              </a:rPr>
              <a:t> happiness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primary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differences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between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methodologies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like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ITIL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is: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does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have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strict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definition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DevOps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movement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defined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stories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ideas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individuals,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teams,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0">
                <a:latin typeface="Arial MT"/>
                <a:cs typeface="Arial MT"/>
              </a:rPr>
              <a:t> organizations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DevOps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evolution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0">
                <a:latin typeface="Arial MT"/>
                <a:cs typeface="Arial MT"/>
              </a:rPr>
              <a:t> processes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ideas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lead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growth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change</a:t>
            </a:r>
            <a:endParaRPr sz="800">
              <a:latin typeface="Arial MT"/>
              <a:cs typeface="Arial MT"/>
            </a:endParaRPr>
          </a:p>
          <a:p>
            <a:pPr lvl="1" marL="619760" marR="5080" indent="-114300">
              <a:lnSpc>
                <a:spcPts val="860"/>
              </a:lnSpc>
              <a:spcBef>
                <a:spcPts val="300"/>
              </a:spcBef>
              <a:buChar char="•"/>
              <a:tabLst>
                <a:tab pos="619760" algn="l"/>
              </a:tabLst>
            </a:pPr>
            <a:r>
              <a:rPr dirty="0" sz="800" spc="-10">
                <a:latin typeface="Arial MT"/>
                <a:cs typeface="Arial MT"/>
              </a:rPr>
              <a:t>Harnessing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leveraging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effective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DevOps will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lead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growth 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evolution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tools,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technology,</a:t>
            </a:r>
            <a:r>
              <a:rPr dirty="0" sz="800" spc="-25">
                <a:latin typeface="Arial MT"/>
                <a:cs typeface="Arial MT"/>
              </a:rPr>
              <a:t> and</a:t>
            </a:r>
            <a:r>
              <a:rPr dirty="0" sz="800" spc="-10">
                <a:latin typeface="Arial MT"/>
                <a:cs typeface="Arial MT"/>
              </a:rPr>
              <a:t> processes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your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organization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78679" y="4844770"/>
            <a:ext cx="1798320" cy="1067587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4277390"/>
              <a:ext cx="6096000" cy="2028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948905"/>
              <a:ext cx="5334000" cy="3821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868680"/>
              <a:ext cx="6096000" cy="3397123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21075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Anti-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Patterns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843178" y="5611148"/>
            <a:ext cx="4918075" cy="171005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320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Blame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Culture</a:t>
            </a:r>
            <a:endParaRPr sz="900">
              <a:latin typeface="Arial MT"/>
              <a:cs typeface="Arial MT"/>
            </a:endParaRPr>
          </a:p>
          <a:p>
            <a:pPr lvl="1" marL="355600" marR="184785" indent="-114300">
              <a:lnSpc>
                <a:spcPts val="860"/>
              </a:lnSpc>
              <a:spcBef>
                <a:spcPts val="310"/>
              </a:spcBef>
              <a:buChar char="•"/>
              <a:tabLst>
                <a:tab pos="355600" algn="l"/>
              </a:tabLst>
            </a:pPr>
            <a:r>
              <a:rPr dirty="0" sz="800" spc="-10">
                <a:latin typeface="Arial MT"/>
                <a:cs typeface="Arial MT"/>
              </a:rPr>
              <a:t>A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blame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culture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tends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toward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blaming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punishing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people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when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mistakes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made, </a:t>
            </a:r>
            <a:r>
              <a:rPr dirty="0" sz="800">
                <a:latin typeface="Arial MT"/>
                <a:cs typeface="Arial MT"/>
              </a:rPr>
              <a:t>either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 </a:t>
            </a:r>
            <a:r>
              <a:rPr dirty="0" sz="800" spc="-10">
                <a:latin typeface="Arial MT"/>
                <a:cs typeface="Arial MT"/>
              </a:rPr>
              <a:t>individual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 </a:t>
            </a:r>
            <a:r>
              <a:rPr dirty="0" sz="800" spc="-10">
                <a:latin typeface="Arial MT"/>
                <a:cs typeface="Arial MT"/>
              </a:rPr>
              <a:t>organizational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level</a:t>
            </a:r>
            <a:endParaRPr sz="8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126364" algn="l"/>
              </a:tabLst>
            </a:pPr>
            <a:r>
              <a:rPr dirty="0" sz="900" spc="-10">
                <a:latin typeface="Arial MT"/>
                <a:cs typeface="Arial MT"/>
              </a:rPr>
              <a:t>Silos</a:t>
            </a:r>
            <a:endParaRPr sz="900">
              <a:latin typeface="Arial MT"/>
              <a:cs typeface="Arial MT"/>
            </a:endParaRPr>
          </a:p>
          <a:p>
            <a:pPr lvl="1" marL="355600" marR="408305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355600" algn="l"/>
              </a:tabLst>
            </a:pPr>
            <a:r>
              <a:rPr dirty="0" sz="800" spc="-10">
                <a:latin typeface="Arial MT"/>
                <a:cs typeface="Arial MT"/>
              </a:rPr>
              <a:t>A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departmental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 </a:t>
            </a:r>
            <a:r>
              <a:rPr dirty="0" sz="800" spc="-10">
                <a:latin typeface="Arial MT"/>
                <a:cs typeface="Arial MT"/>
              </a:rPr>
              <a:t>organizational</a:t>
            </a:r>
            <a:r>
              <a:rPr dirty="0" sz="800">
                <a:latin typeface="Arial MT"/>
                <a:cs typeface="Arial MT"/>
              </a:rPr>
              <a:t> silo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describes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mentality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 teams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do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share </a:t>
            </a:r>
            <a:r>
              <a:rPr dirty="0" sz="800" spc="-10">
                <a:latin typeface="Arial MT"/>
                <a:cs typeface="Arial MT"/>
              </a:rPr>
              <a:t>their knowledge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other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same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company</a:t>
            </a:r>
            <a:endParaRPr sz="8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Root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Cause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Analysis</a:t>
            </a:r>
            <a:endParaRPr sz="900">
              <a:latin typeface="Arial MT"/>
              <a:cs typeface="Arial MT"/>
            </a:endParaRPr>
          </a:p>
          <a:p>
            <a:pPr lvl="1" marL="355600" marR="118110" indent="-114300">
              <a:lnSpc>
                <a:spcPts val="860"/>
              </a:lnSpc>
              <a:spcBef>
                <a:spcPts val="310"/>
              </a:spcBef>
              <a:buChar char="•"/>
              <a:tabLst>
                <a:tab pos="355600" algn="l"/>
              </a:tabLst>
            </a:pPr>
            <a:r>
              <a:rPr dirty="0" sz="800">
                <a:latin typeface="Arial MT"/>
                <a:cs typeface="Arial MT"/>
              </a:rPr>
              <a:t>Root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cause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analysis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(RCA)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method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identify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contributing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“root”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causes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events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near- misses/close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calls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 </a:t>
            </a:r>
            <a:r>
              <a:rPr dirty="0" sz="800" spc="-10">
                <a:latin typeface="Arial MT"/>
                <a:cs typeface="Arial MT"/>
              </a:rPr>
              <a:t>appropriate </a:t>
            </a:r>
            <a:r>
              <a:rPr dirty="0" sz="800">
                <a:latin typeface="Arial MT"/>
                <a:cs typeface="Arial MT"/>
              </a:rPr>
              <a:t>actions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 prevent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recurrence</a:t>
            </a:r>
            <a:endParaRPr sz="8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Human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Errors</a:t>
            </a:r>
            <a:endParaRPr sz="900">
              <a:latin typeface="Arial MT"/>
              <a:cs typeface="Arial MT"/>
            </a:endParaRPr>
          </a:p>
          <a:p>
            <a:pPr lvl="1" marL="355600" marR="5080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355600" algn="l"/>
              </a:tabLst>
            </a:pPr>
            <a:r>
              <a:rPr dirty="0" sz="800">
                <a:latin typeface="Arial MT"/>
                <a:cs typeface="Arial MT"/>
              </a:rPr>
              <a:t>Human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error,</a:t>
            </a:r>
            <a:r>
              <a:rPr dirty="0" sz="800">
                <a:latin typeface="Arial MT"/>
                <a:cs typeface="Arial MT"/>
              </a:rPr>
              <a:t> 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idea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human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being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made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mistake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directly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caused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failure,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often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cited </a:t>
            </a:r>
            <a:r>
              <a:rPr dirty="0" sz="800">
                <a:latin typeface="Arial MT"/>
                <a:cs typeface="Arial MT"/>
              </a:rPr>
              <a:t>as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root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cause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root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cause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analysis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855" y="958916"/>
            <a:ext cx="4277123" cy="313367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33424" y="4977460"/>
            <a:ext cx="28270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Three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dimensions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8916" y="5322934"/>
            <a:ext cx="1344295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3-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People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Process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20">
                <a:latin typeface="Arial MT"/>
                <a:cs typeface="Arial MT"/>
              </a:rPr>
              <a:t>Tools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/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Technology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45163" y="5753861"/>
            <a:ext cx="2550988" cy="240938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608321" y="6161278"/>
            <a:ext cx="8223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latin typeface="Segoe UI"/>
                <a:cs typeface="Segoe UI"/>
              </a:rPr>
              <a:t>People</a:t>
            </a:r>
            <a:endParaRPr sz="2100">
              <a:latin typeface="Segoe UI"/>
              <a:cs typeface="Segoe U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395340" y="7284466"/>
            <a:ext cx="62992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35">
                <a:latin typeface="Segoe UI"/>
                <a:cs typeface="Segoe UI"/>
              </a:rPr>
              <a:t>Tools</a:t>
            </a:r>
            <a:endParaRPr sz="2100">
              <a:latin typeface="Segoe UI"/>
              <a:cs typeface="Segoe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72610" y="7284466"/>
            <a:ext cx="9105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latin typeface="Segoe UI"/>
                <a:cs typeface="Segoe UI"/>
              </a:rPr>
              <a:t>Process</a:t>
            </a:r>
            <a:endParaRPr sz="2100">
              <a:latin typeface="Segoe UI"/>
              <a:cs typeface="Segoe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935367" y="7314448"/>
            <a:ext cx="139700" cy="544195"/>
          </a:xfrm>
          <a:prstGeom prst="rect">
            <a:avLst/>
          </a:prstGeom>
        </p:spPr>
        <p:txBody>
          <a:bodyPr wrap="square" lIns="0" tIns="31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10">
                <a:solidFill>
                  <a:srgbClr val="538235"/>
                </a:solidFill>
                <a:latin typeface="Arial MT"/>
                <a:cs typeface="Arial MT"/>
              </a:rPr>
              <a:t>Automation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90008" y="7090029"/>
            <a:ext cx="3016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001F5F"/>
                </a:solidFill>
                <a:latin typeface="Arial MT"/>
                <a:cs typeface="Arial MT"/>
              </a:rPr>
              <a:t>DevOps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4039" y="879602"/>
            <a:ext cx="5127116" cy="341807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33424" y="4977460"/>
            <a:ext cx="25279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dirty="0" sz="16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Agile</a:t>
            </a:r>
            <a:r>
              <a:rPr dirty="0" sz="16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Methodology?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 descr=""/>
          <p:cNvSpPr txBox="1"/>
          <p:nvPr/>
        </p:nvSpPr>
        <p:spPr>
          <a:xfrm>
            <a:off x="843178" y="5605866"/>
            <a:ext cx="5068570" cy="75819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5095" indent="-112395">
              <a:lnSpc>
                <a:spcPct val="100000"/>
              </a:lnSpc>
              <a:spcBef>
                <a:spcPts val="345"/>
              </a:spcBef>
              <a:buChar char="•"/>
              <a:tabLst>
                <a:tab pos="125095" algn="l"/>
              </a:tabLst>
            </a:pPr>
            <a:r>
              <a:rPr dirty="0" sz="1000">
                <a:latin typeface="Arial MT"/>
                <a:cs typeface="Arial MT"/>
              </a:rPr>
              <a:t>An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agile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methodology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iterative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approach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software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development.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4"/>
              </a:spcBef>
              <a:buChar char="•"/>
              <a:tabLst>
                <a:tab pos="125730" algn="l"/>
              </a:tabLst>
            </a:pPr>
            <a:r>
              <a:rPr dirty="0" sz="1000">
                <a:latin typeface="Arial MT"/>
                <a:cs typeface="Arial MT"/>
              </a:rPr>
              <a:t>Each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iteration 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agile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methodology takes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short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time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interval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4</a:t>
            </a:r>
            <a:r>
              <a:rPr dirty="0" sz="1000" spc="-10">
                <a:latin typeface="Arial MT"/>
                <a:cs typeface="Arial MT"/>
              </a:rPr>
              <a:t> weeks.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agile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development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process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aligned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deliver the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changing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business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requirement.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dirty="0" sz="1000">
                <a:latin typeface="Arial MT"/>
                <a:cs typeface="Arial MT"/>
              </a:rPr>
              <a:t>It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distributes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software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with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faster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fewer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changes.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43178" y="6369558"/>
            <a:ext cx="698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69886" y="6394703"/>
            <a:ext cx="3499485" cy="1422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single-</a:t>
            </a:r>
            <a:r>
              <a:rPr dirty="0" sz="1000">
                <a:latin typeface="Arial MT"/>
                <a:cs typeface="Arial MT"/>
              </a:rPr>
              <a:t>phase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software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development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takes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6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18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months.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43178" y="6552438"/>
            <a:ext cx="5283200" cy="6807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5730" marR="107950" indent="-113030">
              <a:lnSpc>
                <a:spcPts val="1080"/>
              </a:lnSpc>
              <a:spcBef>
                <a:spcPts val="229"/>
              </a:spcBef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single-</a:t>
            </a:r>
            <a:r>
              <a:rPr dirty="0" sz="1000">
                <a:latin typeface="Arial MT"/>
                <a:cs typeface="Arial MT"/>
              </a:rPr>
              <a:t>phase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development,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all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requirement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gathering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risks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management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factors </a:t>
            </a:r>
            <a:r>
              <a:rPr dirty="0" sz="1000" spc="-1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are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predicted</a:t>
            </a:r>
            <a:r>
              <a:rPr dirty="0" sz="1000" spc="-10">
                <a:latin typeface="Arial MT"/>
                <a:cs typeface="Arial MT"/>
              </a:rPr>
              <a:t> initially.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25"/>
              </a:spcBef>
              <a:buChar char="•"/>
              <a:tabLst>
                <a:tab pos="125730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agile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software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development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process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frequently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takes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feedback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workable</a:t>
            </a:r>
            <a:r>
              <a:rPr dirty="0" sz="1000" spc="-10">
                <a:latin typeface="Arial MT"/>
                <a:cs typeface="Arial MT"/>
              </a:rPr>
              <a:t> product.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workable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product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delivered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within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4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weeks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iteration.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266" y="986049"/>
            <a:ext cx="3829724" cy="32319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33424" y="4977460"/>
            <a:ext cx="29400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Roles</a:t>
            </a:r>
            <a:r>
              <a:rPr dirty="0" sz="16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6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Agile: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Scrum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 descr=""/>
          <p:cNvSpPr txBox="1"/>
          <p:nvPr/>
        </p:nvSpPr>
        <p:spPr>
          <a:xfrm>
            <a:off x="578916" y="5409057"/>
            <a:ext cx="5474335" cy="2341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There</a:t>
            </a:r>
            <a:r>
              <a:rPr dirty="0" sz="950" spc="10">
                <a:solidFill>
                  <a:srgbClr val="1C157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are two</a:t>
            </a:r>
            <a:r>
              <a:rPr dirty="0" sz="950" spc="-10">
                <a:solidFill>
                  <a:srgbClr val="1C157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different</a:t>
            </a:r>
            <a:r>
              <a:rPr dirty="0" sz="950" spc="-25">
                <a:solidFill>
                  <a:srgbClr val="1C157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roles</a:t>
            </a:r>
            <a:r>
              <a:rPr dirty="0" sz="950" spc="10">
                <a:solidFill>
                  <a:srgbClr val="1C157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in</a:t>
            </a:r>
            <a:r>
              <a:rPr dirty="0" sz="950" spc="-10">
                <a:solidFill>
                  <a:srgbClr val="1C157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a</a:t>
            </a:r>
            <a:r>
              <a:rPr dirty="0" sz="950" spc="-65">
                <a:solidFill>
                  <a:srgbClr val="1C157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Agile</a:t>
            </a:r>
            <a:r>
              <a:rPr dirty="0" sz="950" spc="-10">
                <a:solidFill>
                  <a:srgbClr val="1C1573"/>
                </a:solidFill>
                <a:latin typeface="Arial MT"/>
                <a:cs typeface="Arial MT"/>
              </a:rPr>
              <a:t> methodology.</a:t>
            </a:r>
            <a:r>
              <a:rPr dirty="0" sz="950" spc="5">
                <a:solidFill>
                  <a:srgbClr val="1C157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These</a:t>
            </a:r>
            <a:r>
              <a:rPr dirty="0" sz="950" spc="5">
                <a:solidFill>
                  <a:srgbClr val="1C157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are the</a:t>
            </a:r>
            <a:r>
              <a:rPr dirty="0" sz="950" spc="-10">
                <a:solidFill>
                  <a:srgbClr val="1C157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Scrum</a:t>
            </a:r>
            <a:r>
              <a:rPr dirty="0" sz="950" spc="-5">
                <a:solidFill>
                  <a:srgbClr val="1C157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Master</a:t>
            </a:r>
            <a:r>
              <a:rPr dirty="0" sz="950" spc="15">
                <a:solidFill>
                  <a:srgbClr val="1C157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and</a:t>
            </a:r>
            <a:r>
              <a:rPr dirty="0" sz="950" spc="5">
                <a:solidFill>
                  <a:srgbClr val="1C157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573"/>
                </a:solidFill>
                <a:latin typeface="Arial MT"/>
                <a:cs typeface="Arial MT"/>
              </a:rPr>
              <a:t>Product</a:t>
            </a:r>
            <a:r>
              <a:rPr dirty="0" sz="950" spc="-10">
                <a:solidFill>
                  <a:srgbClr val="1C1573"/>
                </a:solidFill>
                <a:latin typeface="Arial MT"/>
                <a:cs typeface="Arial MT"/>
              </a:rPr>
              <a:t> Owner.</a:t>
            </a:r>
            <a:endParaRPr sz="950">
              <a:latin typeface="Arial MT"/>
              <a:cs typeface="Arial MT"/>
            </a:endParaRPr>
          </a:p>
          <a:p>
            <a:pPr marL="391160" marR="353060" indent="-114300">
              <a:lnSpc>
                <a:spcPct val="90100"/>
              </a:lnSpc>
              <a:spcBef>
                <a:spcPts val="78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Scrum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Master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leader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facility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who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helps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member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follow </a:t>
            </a: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practices,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member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meets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their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commitments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customers requirements.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scrum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master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plays the following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responsibilities: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They enable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close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co-operation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between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functions.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remove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blocks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which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occur.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safeguard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disturbances.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track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progress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company.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ensure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that</a:t>
            </a:r>
            <a:r>
              <a:rPr dirty="0" sz="900" spc="-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Inspect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&amp;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Adapt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processes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leveraged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correctly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which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includes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20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Planned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meetings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Daily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stand-</a:t>
            </a:r>
            <a:r>
              <a:rPr dirty="0" sz="800" spc="-25">
                <a:latin typeface="Arial MT"/>
                <a:cs typeface="Arial MT"/>
              </a:rPr>
              <a:t>ups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20">
                <a:latin typeface="Arial MT"/>
                <a:cs typeface="Arial MT"/>
              </a:rPr>
              <a:t>Demo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Review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Retrospective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meetings,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and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Facilitate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meetings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decision-making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process.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9959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Roles</a:t>
            </a:r>
            <a:r>
              <a:rPr dirty="0" sz="16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6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Agile: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dirty="0" sz="1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Owner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33424" y="1501266"/>
            <a:ext cx="5201920" cy="13030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5730" marR="5080" indent="-113030">
              <a:lnSpc>
                <a:spcPts val="1080"/>
              </a:lnSpc>
              <a:spcBef>
                <a:spcPts val="229"/>
              </a:spcBef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Product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Owner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one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runs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product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business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perspective.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Product </a:t>
            </a:r>
            <a:r>
              <a:rPr dirty="0" sz="1000" spc="-1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Owner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plays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following</a:t>
            </a:r>
            <a:r>
              <a:rPr dirty="0" sz="1000" spc="-10">
                <a:latin typeface="Arial MT"/>
                <a:cs typeface="Arial MT"/>
              </a:rPr>
              <a:t> responsibilities:</a:t>
            </a:r>
            <a:endParaRPr sz="1000">
              <a:latin typeface="Arial MT"/>
              <a:cs typeface="Arial MT"/>
            </a:endParaRPr>
          </a:p>
          <a:p>
            <a:pPr lvl="1" marL="35496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54965" algn="l"/>
              </a:tabLst>
            </a:pPr>
            <a:r>
              <a:rPr dirty="0" sz="900">
                <a:latin typeface="Arial MT"/>
                <a:cs typeface="Arial MT"/>
              </a:rPr>
              <a:t>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defines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requirements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prioritizes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their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values.</a:t>
            </a:r>
            <a:endParaRPr sz="900">
              <a:latin typeface="Arial MT"/>
              <a:cs typeface="Arial MT"/>
            </a:endParaRPr>
          </a:p>
          <a:p>
            <a:pPr lvl="1" marL="35496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54965" algn="l"/>
              </a:tabLst>
            </a:pPr>
            <a:r>
              <a:rPr dirty="0" sz="900">
                <a:latin typeface="Arial MT"/>
                <a:cs typeface="Arial MT"/>
              </a:rPr>
              <a:t>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sets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release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date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contents.</a:t>
            </a:r>
            <a:endParaRPr sz="900">
              <a:latin typeface="Arial MT"/>
              <a:cs typeface="Arial MT"/>
            </a:endParaRPr>
          </a:p>
          <a:p>
            <a:pPr lvl="1" marL="354965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354965" algn="l"/>
              </a:tabLst>
            </a:pPr>
            <a:r>
              <a:rPr dirty="0" sz="900">
                <a:latin typeface="Arial MT"/>
                <a:cs typeface="Arial MT"/>
              </a:rPr>
              <a:t>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takes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active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iteration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releasing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planning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meetings.</a:t>
            </a:r>
            <a:endParaRPr sz="900">
              <a:latin typeface="Arial MT"/>
              <a:cs typeface="Arial MT"/>
            </a:endParaRPr>
          </a:p>
          <a:p>
            <a:pPr lvl="1" marL="35496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54965" algn="l"/>
              </a:tabLst>
            </a:pPr>
            <a:r>
              <a:rPr dirty="0" sz="900">
                <a:latin typeface="Arial MT"/>
                <a:cs typeface="Arial MT"/>
              </a:rPr>
              <a:t>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ensures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most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valued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requirement.</a:t>
            </a:r>
            <a:endParaRPr sz="900">
              <a:latin typeface="Arial MT"/>
              <a:cs typeface="Arial MT"/>
            </a:endParaRPr>
          </a:p>
          <a:p>
            <a:pPr lvl="1" marL="35496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54965" algn="l"/>
              </a:tabLst>
            </a:pPr>
            <a:r>
              <a:rPr dirty="0" sz="900">
                <a:latin typeface="Arial MT"/>
                <a:cs typeface="Arial MT"/>
              </a:rPr>
              <a:t>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represents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voice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customer.</a:t>
            </a:r>
            <a:endParaRPr sz="900">
              <a:latin typeface="Arial MT"/>
              <a:cs typeface="Arial MT"/>
            </a:endParaRPr>
          </a:p>
          <a:p>
            <a:pPr lvl="1" marL="35496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54965" algn="l"/>
              </a:tabLst>
            </a:pPr>
            <a:r>
              <a:rPr dirty="0" sz="900">
                <a:latin typeface="Arial MT"/>
                <a:cs typeface="Arial MT"/>
              </a:rPr>
              <a:t>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accepts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stories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meet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definition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 done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defined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acceptance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criteria.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19989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Cross-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functional</a:t>
            </a:r>
            <a:r>
              <a:rPr dirty="0" sz="16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0427" y="5866257"/>
            <a:ext cx="2384425" cy="152082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0" marR="241935" indent="-114300">
              <a:lnSpc>
                <a:spcPts val="969"/>
              </a:lnSpc>
              <a:spcBef>
                <a:spcPts val="225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Every agile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contains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self-</a:t>
            </a:r>
            <a:r>
              <a:rPr dirty="0" sz="900" spc="-10">
                <a:latin typeface="Arial MT"/>
                <a:cs typeface="Arial MT"/>
              </a:rPr>
              <a:t>sufficient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5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9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members.</a:t>
            </a:r>
            <a:endParaRPr sz="900">
              <a:latin typeface="Arial MT"/>
              <a:cs typeface="Arial MT"/>
            </a:endParaRPr>
          </a:p>
          <a:p>
            <a:pPr marL="127000" marR="160020" indent="-114300">
              <a:lnSpc>
                <a:spcPts val="969"/>
              </a:lnSpc>
              <a:spcBef>
                <a:spcPts val="325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average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experience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member </a:t>
            </a:r>
            <a:r>
              <a:rPr dirty="0" sz="900">
                <a:latin typeface="Arial MT"/>
                <a:cs typeface="Arial MT"/>
              </a:rPr>
              <a:t>ranges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6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10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years.</a:t>
            </a:r>
            <a:endParaRPr sz="900">
              <a:latin typeface="Arial MT"/>
              <a:cs typeface="Arial MT"/>
            </a:endParaRPr>
          </a:p>
          <a:p>
            <a:pPr marL="127000" marR="5080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contains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3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4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developers,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50">
                <a:latin typeface="Arial MT"/>
                <a:cs typeface="Arial MT"/>
              </a:rPr>
              <a:t>1</a:t>
            </a:r>
            <a:r>
              <a:rPr dirty="0" sz="900" spc="-10">
                <a:latin typeface="Arial MT"/>
                <a:cs typeface="Arial MT"/>
              </a:rPr>
              <a:t> tester,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 technical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lead,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scrum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master</a:t>
            </a:r>
            <a:r>
              <a:rPr dirty="0" sz="900" spc="-25">
                <a:latin typeface="Arial MT"/>
                <a:cs typeface="Arial MT"/>
              </a:rPr>
              <a:t> and </a:t>
            </a:r>
            <a:r>
              <a:rPr dirty="0" sz="900">
                <a:latin typeface="Arial MT"/>
                <a:cs typeface="Arial MT"/>
              </a:rPr>
              <a:t>1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product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owner.</a:t>
            </a:r>
            <a:endParaRPr sz="900">
              <a:latin typeface="Arial MT"/>
              <a:cs typeface="Arial MT"/>
            </a:endParaRPr>
          </a:p>
          <a:p>
            <a:pPr algn="just" marL="127000" marR="85725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Scrum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master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Product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owner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are </a:t>
            </a:r>
            <a:r>
              <a:rPr dirty="0" sz="900">
                <a:latin typeface="Arial MT"/>
                <a:cs typeface="Arial MT"/>
              </a:rPr>
              <a:t>considered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Team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Interface,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on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other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hand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remaining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members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part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Technical</a:t>
            </a:r>
            <a:r>
              <a:rPr dirty="0" sz="900" spc="-10">
                <a:latin typeface="Arial MT"/>
                <a:cs typeface="Arial MT"/>
              </a:rPr>
              <a:t> Interface.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44529" y="5406933"/>
            <a:ext cx="2942051" cy="2293802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1000" y="3048507"/>
            <a:ext cx="6096000" cy="1249680"/>
            <a:chOff x="381000" y="3048507"/>
            <a:chExt cx="6096000" cy="12496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4277390"/>
              <a:ext cx="6096000" cy="2028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0053" y="3048507"/>
              <a:ext cx="2194814" cy="1249171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33424" y="1001014"/>
            <a:ext cx="32442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16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Agile</a:t>
            </a:r>
            <a:r>
              <a:rPr dirty="0" sz="16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r>
              <a:rPr dirty="0" sz="16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plan</a:t>
            </a:r>
            <a:r>
              <a:rPr dirty="0" sz="16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dirty="0" sz="16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work?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16381" y="1451610"/>
            <a:ext cx="4894580" cy="15951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5730" marR="19685" indent="-113030">
              <a:lnSpc>
                <a:spcPts val="1080"/>
              </a:lnSpc>
              <a:spcBef>
                <a:spcPts val="229"/>
              </a:spcBef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An</a:t>
            </a:r>
            <a:r>
              <a:rPr dirty="0" sz="1000" spc="-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Agile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methodology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not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specific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ceremonies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specific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development </a:t>
            </a:r>
            <a:r>
              <a:rPr dirty="0" sz="1000" spc="-1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techniques.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Rather,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group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methodologies that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demonstrate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commitment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to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tight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feedback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cycles and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continuous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improvement.</a:t>
            </a:r>
            <a:endParaRPr sz="1000">
              <a:latin typeface="Arial MT"/>
              <a:cs typeface="Arial MT"/>
            </a:endParaRPr>
          </a:p>
          <a:p>
            <a:pPr marL="125730" marR="306705" indent="-113030">
              <a:lnSpc>
                <a:spcPts val="1080"/>
              </a:lnSpc>
              <a:spcBef>
                <a:spcPts val="365"/>
              </a:spcBef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An</a:t>
            </a:r>
            <a:r>
              <a:rPr dirty="0" sz="1000" spc="-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Agile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team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works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iterations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deliver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customer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requirement,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each </a:t>
            </a:r>
            <a:r>
              <a:rPr dirty="0" sz="1000" spc="-2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iteration takes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10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15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days.</a:t>
            </a:r>
            <a:endParaRPr sz="1000">
              <a:latin typeface="Arial MT"/>
              <a:cs typeface="Arial MT"/>
            </a:endParaRPr>
          </a:p>
          <a:p>
            <a:pPr marL="125730" marR="5080" indent="-113030">
              <a:lnSpc>
                <a:spcPts val="1080"/>
              </a:lnSpc>
              <a:spcBef>
                <a:spcPts val="355"/>
              </a:spcBef>
              <a:buChar char="•"/>
              <a:tabLst>
                <a:tab pos="127000" algn="l"/>
              </a:tabLst>
            </a:pPr>
            <a:r>
              <a:rPr dirty="0" sz="1000" spc="-10">
                <a:latin typeface="Arial MT"/>
                <a:cs typeface="Arial MT"/>
              </a:rPr>
              <a:t>However,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original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Agile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Manifesto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didn't set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time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period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two-</a:t>
            </a:r>
            <a:r>
              <a:rPr dirty="0" sz="1000">
                <a:latin typeface="Arial MT"/>
                <a:cs typeface="Arial MT"/>
              </a:rPr>
              <a:t>week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iterations </a:t>
            </a:r>
            <a:r>
              <a:rPr dirty="0" sz="1000" spc="-1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or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ideal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team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size.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25"/>
              </a:spcBef>
              <a:buChar char="•"/>
              <a:tabLst>
                <a:tab pos="125730" algn="l"/>
              </a:tabLst>
            </a:pPr>
            <a:r>
              <a:rPr dirty="0" sz="1000">
                <a:latin typeface="Arial MT"/>
                <a:cs typeface="Arial MT"/>
              </a:rPr>
              <a:t>Each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user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requirement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planned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based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their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backlog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prioritization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0">
                <a:latin typeface="Arial MT"/>
                <a:cs typeface="Arial MT"/>
              </a:rPr>
              <a:t> size.</a:t>
            </a:r>
            <a:endParaRPr sz="1000">
              <a:latin typeface="Arial MT"/>
              <a:cs typeface="Arial MT"/>
            </a:endParaRPr>
          </a:p>
          <a:p>
            <a:pPr marL="125730" marR="138430" indent="-113030">
              <a:lnSpc>
                <a:spcPts val="1080"/>
              </a:lnSpc>
              <a:spcBef>
                <a:spcPts val="375"/>
              </a:spcBef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team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decides, how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much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scope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they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have and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how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many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hours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available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with </a:t>
            </a:r>
            <a:r>
              <a:rPr dirty="0" sz="1000" spc="-2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each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team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perform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their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planed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task.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81000" y="6365227"/>
            <a:ext cx="6096000" cy="1908810"/>
            <a:chOff x="381000" y="6365227"/>
            <a:chExt cx="6096000" cy="190881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8253506"/>
              <a:ext cx="6096000" cy="202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63734" y="6365227"/>
              <a:ext cx="2338387" cy="1866900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667308" y="4977460"/>
            <a:ext cx="4830445" cy="1156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dirty="0" sz="16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dirty="0" sz="16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requirement?</a:t>
            </a:r>
            <a:endParaRPr sz="1600">
              <a:latin typeface="Arial MT"/>
              <a:cs typeface="Arial MT"/>
            </a:endParaRPr>
          </a:p>
          <a:p>
            <a:pPr marL="127000" marR="5080" indent="-114300">
              <a:lnSpc>
                <a:spcPts val="1300"/>
              </a:lnSpc>
              <a:spcBef>
                <a:spcPts val="1520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requirement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defines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requirements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terms</a:t>
            </a:r>
            <a:r>
              <a:rPr dirty="0" sz="1200" spc="-25">
                <a:latin typeface="Arial MT"/>
                <a:cs typeface="Arial MT"/>
              </a:rPr>
              <a:t> of </a:t>
            </a:r>
            <a:r>
              <a:rPr dirty="0" sz="1200" spc="-10">
                <a:latin typeface="Arial MT"/>
                <a:cs typeface="Arial MT"/>
              </a:rPr>
              <a:t>functionalities.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 of two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type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10">
                <a:latin typeface="Arial MT"/>
                <a:cs typeface="Arial MT"/>
              </a:rPr>
              <a:t>functionality.</a:t>
            </a:r>
            <a:endParaRPr sz="1200">
              <a:latin typeface="Arial MT"/>
              <a:cs typeface="Arial MT"/>
            </a:endParaRPr>
          </a:p>
          <a:p>
            <a:pPr lvl="1" marL="412115" indent="-170815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412115" algn="l"/>
              </a:tabLst>
            </a:pP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As</a:t>
            </a:r>
            <a:r>
              <a:rPr dirty="0" sz="1000" spc="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000" spc="-1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&lt;User</a:t>
            </a:r>
            <a:r>
              <a:rPr dirty="0" sz="100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Role&gt;</a:t>
            </a:r>
            <a:r>
              <a:rPr dirty="0" sz="1000" spc="-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dirty="0" sz="1000" spc="-1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want</a:t>
            </a:r>
            <a:r>
              <a:rPr dirty="0" sz="10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C00000"/>
                </a:solidFill>
                <a:latin typeface="Arial"/>
                <a:cs typeface="Arial"/>
              </a:rPr>
              <a:t>&lt;Functionality&gt;</a:t>
            </a:r>
            <a:r>
              <a:rPr dirty="0" sz="100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so</a:t>
            </a:r>
            <a:r>
              <a:rPr dirty="0" sz="1000" spc="-1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that</a:t>
            </a:r>
            <a:r>
              <a:rPr dirty="0" sz="1000" spc="-1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&lt;Business</a:t>
            </a:r>
            <a:r>
              <a:rPr dirty="0" sz="100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C00000"/>
                </a:solidFill>
                <a:latin typeface="Arial"/>
                <a:cs typeface="Arial"/>
              </a:rPr>
              <a:t>Value&gt;</a:t>
            </a:r>
            <a:endParaRPr sz="1000">
              <a:latin typeface="Arial"/>
              <a:cs typeface="Arial"/>
            </a:endParaRPr>
          </a:p>
          <a:p>
            <a:pPr lvl="1" marL="412115" indent="-170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12115" algn="l"/>
              </a:tabLst>
            </a:pP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dirty="0" sz="10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order</a:t>
            </a:r>
            <a:r>
              <a:rPr dirty="0" sz="1000" spc="-1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10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&lt;Business</a:t>
            </a:r>
            <a:r>
              <a:rPr dirty="0" sz="1000" spc="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value&gt;</a:t>
            </a:r>
            <a:r>
              <a:rPr dirty="0" sz="10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as</a:t>
            </a:r>
            <a:r>
              <a:rPr dirty="0" sz="1000" spc="-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0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&lt;User Role&gt;</a:t>
            </a:r>
            <a:r>
              <a:rPr dirty="0" sz="1000" spc="-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dirty="0" sz="10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00000"/>
                </a:solidFill>
                <a:latin typeface="Arial"/>
                <a:cs typeface="Arial"/>
              </a:rPr>
              <a:t>want</a:t>
            </a:r>
            <a:r>
              <a:rPr dirty="0" sz="10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C00000"/>
                </a:solidFill>
                <a:latin typeface="Arial"/>
                <a:cs typeface="Arial"/>
              </a:rPr>
              <a:t>&lt;Functionality&gt;.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4867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dirty="0" sz="16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dirty="0" sz="16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Software</a:t>
            </a:r>
            <a:r>
              <a:rPr dirty="0" sz="16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Acceptance</a:t>
            </a:r>
            <a:r>
              <a:rPr dirty="0" sz="16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Criteria?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09866" y="1668729"/>
            <a:ext cx="5080000" cy="94932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20320" rIns="0" bIns="0" rtlCol="0" vert="horz">
            <a:spAutoFit/>
          </a:bodyPr>
          <a:lstStyle/>
          <a:p>
            <a:pPr marL="160020" marR="594995" indent="-114300">
              <a:lnSpc>
                <a:spcPts val="1300"/>
              </a:lnSpc>
              <a:spcBef>
                <a:spcPts val="160"/>
              </a:spcBef>
              <a:buChar char="•"/>
              <a:tabLst>
                <a:tab pos="160020" algn="l"/>
              </a:tabLst>
            </a:pPr>
            <a:r>
              <a:rPr dirty="0" sz="1200">
                <a:latin typeface="Arial MT"/>
                <a:cs typeface="Arial MT"/>
              </a:rPr>
              <a:t>Acceptance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Criteria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defined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functionality,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behavior,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performance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required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product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owner.</a:t>
            </a:r>
            <a:endParaRPr sz="1200">
              <a:latin typeface="Arial MT"/>
              <a:cs typeface="Arial MT"/>
            </a:endParaRPr>
          </a:p>
          <a:p>
            <a:pPr marL="160020" indent="-114300">
              <a:lnSpc>
                <a:spcPts val="1370"/>
              </a:lnSpc>
              <a:spcBef>
                <a:spcPts val="265"/>
              </a:spcBef>
              <a:buChar char="•"/>
              <a:tabLst>
                <a:tab pos="160020" algn="l"/>
              </a:tabLst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defines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done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developer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knows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user</a:t>
            </a:r>
            <a:endParaRPr sz="1200">
              <a:latin typeface="Arial MT"/>
              <a:cs typeface="Arial MT"/>
            </a:endParaRPr>
          </a:p>
          <a:p>
            <a:pPr marL="160020">
              <a:lnSpc>
                <a:spcPts val="1370"/>
              </a:lnSpc>
            </a:pPr>
            <a:r>
              <a:rPr dirty="0" sz="1200">
                <a:latin typeface="Arial MT"/>
                <a:cs typeface="Arial MT"/>
              </a:rPr>
              <a:t>requirement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complete.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381000" y="4925021"/>
            <a:ext cx="6076950" cy="3251200"/>
            <a:chOff x="381000" y="4925021"/>
            <a:chExt cx="6076950" cy="3251200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4925021"/>
              <a:ext cx="5334000" cy="38218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4925123"/>
              <a:ext cx="6076569" cy="3250946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78916" y="1001014"/>
            <a:ext cx="5496560" cy="2674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Methodology</a:t>
            </a:r>
            <a:r>
              <a:rPr dirty="0" sz="1000" spc="-6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SCRUM</a:t>
            </a:r>
            <a:endParaRPr sz="1000">
              <a:latin typeface="Arial"/>
              <a:cs typeface="Arial"/>
            </a:endParaRPr>
          </a:p>
          <a:p>
            <a:pPr marL="391160" marR="222250" indent="-114300">
              <a:lnSpc>
                <a:spcPts val="1300"/>
              </a:lnSpc>
              <a:spcBef>
                <a:spcPts val="730"/>
              </a:spcBef>
              <a:buChar char="•"/>
              <a:tabLst>
                <a:tab pos="391160" algn="l"/>
              </a:tabLst>
            </a:pPr>
            <a:r>
              <a:rPr dirty="0" sz="1200">
                <a:latin typeface="Arial MT"/>
                <a:cs typeface="Arial MT"/>
              </a:rPr>
              <a:t>Scrum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agile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development</a:t>
            </a:r>
            <a:r>
              <a:rPr dirty="0" u="sng" sz="1200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methodology</a:t>
            </a:r>
            <a:r>
              <a:rPr dirty="0" sz="1200" spc="-10">
                <a:solidFill>
                  <a:srgbClr val="0462C1"/>
                </a:solidFill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development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Software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based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iterative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incremental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processes.</a:t>
            </a:r>
            <a:endParaRPr sz="1200">
              <a:latin typeface="Arial MT"/>
              <a:cs typeface="Arial MT"/>
            </a:endParaRPr>
          </a:p>
          <a:p>
            <a:pPr marL="391160" marR="209550" indent="-114300">
              <a:lnSpc>
                <a:spcPct val="90100"/>
              </a:lnSpc>
              <a:spcBef>
                <a:spcPts val="405"/>
              </a:spcBef>
              <a:buChar char="•"/>
              <a:tabLst>
                <a:tab pos="391160" algn="l"/>
              </a:tabLst>
            </a:pPr>
            <a:r>
              <a:rPr dirty="0" sz="1200">
                <a:latin typeface="Arial MT"/>
                <a:cs typeface="Arial MT"/>
              </a:rPr>
              <a:t>Scrum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adaptable,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fast,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flexible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effective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agile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framework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designed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deliver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value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customer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throughout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development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project.</a:t>
            </a:r>
            <a:endParaRPr sz="1200">
              <a:latin typeface="Arial MT"/>
              <a:cs typeface="Arial MT"/>
            </a:endParaRPr>
          </a:p>
          <a:p>
            <a:pPr algn="just" marL="391160" marR="5080" indent="-114300">
              <a:lnSpc>
                <a:spcPts val="1300"/>
              </a:lnSpc>
              <a:spcBef>
                <a:spcPts val="450"/>
              </a:spcBef>
              <a:buChar char="•"/>
              <a:tabLst>
                <a:tab pos="391160" algn="l"/>
              </a:tabLst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primary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objective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Scrum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satisfy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customer’s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need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through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an </a:t>
            </a:r>
            <a:r>
              <a:rPr dirty="0" sz="1200">
                <a:latin typeface="Arial MT"/>
                <a:cs typeface="Arial MT"/>
              </a:rPr>
              <a:t>environment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transparency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communication,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collective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responsibility</a:t>
            </a:r>
            <a:r>
              <a:rPr dirty="0" sz="1200" spc="-25">
                <a:latin typeface="Arial MT"/>
                <a:cs typeface="Arial MT"/>
              </a:rPr>
              <a:t> and </a:t>
            </a:r>
            <a:r>
              <a:rPr dirty="0" sz="1200">
                <a:latin typeface="Arial MT"/>
                <a:cs typeface="Arial MT"/>
              </a:rPr>
              <a:t>continuous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progress.</a:t>
            </a:r>
            <a:endParaRPr sz="1200">
              <a:latin typeface="Arial MT"/>
              <a:cs typeface="Arial MT"/>
            </a:endParaRPr>
          </a:p>
          <a:p>
            <a:pPr marL="391160" marR="13970" indent="-114300">
              <a:lnSpc>
                <a:spcPts val="1300"/>
              </a:lnSpc>
              <a:spcBef>
                <a:spcPts val="420"/>
              </a:spcBef>
              <a:buChar char="•"/>
              <a:tabLst>
                <a:tab pos="391160" algn="l"/>
              </a:tabLst>
            </a:pP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The</a:t>
            </a:r>
            <a:r>
              <a:rPr dirty="0" sz="1200" spc="-3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development</a:t>
            </a:r>
            <a:r>
              <a:rPr dirty="0" sz="1200" spc="-3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starts</a:t>
            </a:r>
            <a:r>
              <a:rPr dirty="0" sz="1200" spc="-2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from</a:t>
            </a:r>
            <a:r>
              <a:rPr dirty="0" sz="1200" spc="-2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a</a:t>
            </a:r>
            <a:r>
              <a:rPr dirty="0" sz="1200" spc="-1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general</a:t>
            </a:r>
            <a:r>
              <a:rPr dirty="0" sz="1200" spc="-1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idea</a:t>
            </a:r>
            <a:r>
              <a:rPr dirty="0" sz="1200" spc="-2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of</a:t>
            </a:r>
            <a:r>
              <a:rPr dirty="0" sz="1200" spc="-2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what</a:t>
            </a:r>
            <a:r>
              <a:rPr dirty="0" sz="1200" spc="-1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needs</a:t>
            </a:r>
            <a:r>
              <a:rPr dirty="0" sz="1200" spc="-1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to</a:t>
            </a:r>
            <a:r>
              <a:rPr dirty="0" sz="1200" spc="-3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be</a:t>
            </a:r>
            <a:r>
              <a:rPr dirty="0" sz="1200" spc="-10">
                <a:solidFill>
                  <a:srgbClr val="C00000"/>
                </a:solidFill>
                <a:latin typeface="Arial MT"/>
                <a:cs typeface="Arial MT"/>
              </a:rPr>
              <a:t> built,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elaborating</a:t>
            </a:r>
            <a:r>
              <a:rPr dirty="0" sz="1200" spc="-3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a</a:t>
            </a:r>
            <a:r>
              <a:rPr dirty="0" sz="1200" spc="-2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list</a:t>
            </a:r>
            <a:r>
              <a:rPr dirty="0" sz="1200" spc="-1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of</a:t>
            </a:r>
            <a:r>
              <a:rPr dirty="0" sz="1200" spc="-2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characteristics</a:t>
            </a:r>
            <a:r>
              <a:rPr dirty="0" sz="1200" spc="-2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ordered</a:t>
            </a:r>
            <a:r>
              <a:rPr dirty="0" sz="1200" spc="-2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by</a:t>
            </a:r>
            <a:r>
              <a:rPr dirty="0" sz="1200" spc="-3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priority</a:t>
            </a:r>
            <a:r>
              <a:rPr dirty="0" sz="1200" spc="-1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(product</a:t>
            </a:r>
            <a:r>
              <a:rPr dirty="0" sz="1200" spc="-2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backlog)</a:t>
            </a:r>
            <a:r>
              <a:rPr dirty="0" sz="1200" spc="-1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C00000"/>
                </a:solidFill>
                <a:latin typeface="Arial MT"/>
                <a:cs typeface="Arial MT"/>
              </a:rPr>
              <a:t>that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the</a:t>
            </a:r>
            <a:r>
              <a:rPr dirty="0" sz="1200" spc="-2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owner</a:t>
            </a:r>
            <a:r>
              <a:rPr dirty="0" sz="1200" spc="-1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of</a:t>
            </a:r>
            <a:r>
              <a:rPr dirty="0" sz="1200" spc="-2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the</a:t>
            </a:r>
            <a:r>
              <a:rPr dirty="0" sz="1200" spc="-2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product</a:t>
            </a:r>
            <a:r>
              <a:rPr dirty="0" sz="1200" spc="-3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wants</a:t>
            </a:r>
            <a:r>
              <a:rPr dirty="0" sz="1200" spc="-1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00000"/>
                </a:solidFill>
                <a:latin typeface="Arial MT"/>
                <a:cs typeface="Arial MT"/>
              </a:rPr>
              <a:t>to</a:t>
            </a:r>
            <a:r>
              <a:rPr dirty="0" sz="1200" spc="-1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00000"/>
                </a:solidFill>
                <a:latin typeface="Arial MT"/>
                <a:cs typeface="Arial MT"/>
              </a:rPr>
              <a:t>obtain.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1145" y="5202644"/>
            <a:ext cx="4442030" cy="2835606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8111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Scrum</a:t>
            </a:r>
            <a:r>
              <a:rPr dirty="0" sz="16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Methodology</a:t>
            </a:r>
            <a:r>
              <a:rPr dirty="0" sz="16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6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94131" y="1499575"/>
            <a:ext cx="5309870" cy="169989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5095" indent="-112395">
              <a:lnSpc>
                <a:spcPct val="100000"/>
              </a:lnSpc>
              <a:spcBef>
                <a:spcPts val="345"/>
              </a:spcBef>
              <a:buChar char="•"/>
              <a:tabLst>
                <a:tab pos="125095" algn="l"/>
              </a:tabLst>
            </a:pPr>
            <a:r>
              <a:rPr dirty="0" sz="1000">
                <a:latin typeface="Arial MT"/>
                <a:cs typeface="Arial MT"/>
              </a:rPr>
              <a:t>Scrum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precisely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evolution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Agile</a:t>
            </a:r>
            <a:r>
              <a:rPr dirty="0" sz="1000" spc="-10">
                <a:latin typeface="Arial MT"/>
                <a:cs typeface="Arial MT"/>
              </a:rPr>
              <a:t> Management.</a:t>
            </a:r>
            <a:endParaRPr sz="1000">
              <a:latin typeface="Arial MT"/>
              <a:cs typeface="Arial MT"/>
            </a:endParaRPr>
          </a:p>
          <a:p>
            <a:pPr marL="125730" marR="357505" indent="-113030">
              <a:lnSpc>
                <a:spcPts val="1080"/>
              </a:lnSpc>
              <a:spcBef>
                <a:spcPts val="380"/>
              </a:spcBef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Scrum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methodology is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based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very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defined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practices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roles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that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must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be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involved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during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software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development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process.</a:t>
            </a:r>
            <a:endParaRPr sz="1000">
              <a:latin typeface="Arial MT"/>
              <a:cs typeface="Arial MT"/>
            </a:endParaRPr>
          </a:p>
          <a:p>
            <a:pPr marL="125730" marR="5080" indent="-113030">
              <a:lnSpc>
                <a:spcPts val="1080"/>
              </a:lnSpc>
              <a:spcBef>
                <a:spcPts val="360"/>
              </a:spcBef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It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flexible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methodology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that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rewards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application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u="sng" sz="10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12</a:t>
            </a:r>
            <a:r>
              <a:rPr dirty="0" u="sng" sz="1000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dirty="0" u="sng" sz="10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agile</a:t>
            </a:r>
            <a:r>
              <a:rPr dirty="0" u="sng" sz="10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dirty="0" u="sng" sz="10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principles</a:t>
            </a:r>
            <a:r>
              <a:rPr dirty="0" sz="1000" spc="20">
                <a:solidFill>
                  <a:srgbClr val="0462C1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context </a:t>
            </a:r>
            <a:r>
              <a:rPr dirty="0" sz="1000" spc="-1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agreed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all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team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members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product.</a:t>
            </a:r>
            <a:endParaRPr sz="1000">
              <a:latin typeface="Arial MT"/>
              <a:cs typeface="Arial MT"/>
            </a:endParaRPr>
          </a:p>
          <a:p>
            <a:pPr marL="125730" marR="103505" indent="-113030">
              <a:lnSpc>
                <a:spcPct val="91900"/>
              </a:lnSpc>
              <a:spcBef>
                <a:spcPts val="440"/>
              </a:spcBef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Scrum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executed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temporary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blocks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that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are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short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periodic, called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00000"/>
                </a:solidFill>
                <a:latin typeface="Arial MT"/>
                <a:cs typeface="Arial MT"/>
              </a:rPr>
              <a:t>Sprints</a:t>
            </a:r>
            <a:r>
              <a:rPr dirty="0" sz="1000">
                <a:latin typeface="Arial MT"/>
                <a:cs typeface="Arial MT"/>
              </a:rPr>
              <a:t>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which </a:t>
            </a:r>
            <a:r>
              <a:rPr dirty="0" sz="1000" spc="-1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usually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range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4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weeks,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which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term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feedback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0">
                <a:latin typeface="Arial MT"/>
                <a:cs typeface="Arial MT"/>
              </a:rPr>
              <a:t> reflection.</a:t>
            </a:r>
            <a:endParaRPr sz="1000">
              <a:latin typeface="Arial MT"/>
              <a:cs typeface="Arial MT"/>
            </a:endParaRPr>
          </a:p>
          <a:p>
            <a:pPr marL="125730" marR="117475" indent="-113030">
              <a:lnSpc>
                <a:spcPts val="1080"/>
              </a:lnSpc>
              <a:spcBef>
                <a:spcPts val="375"/>
              </a:spcBef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Each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Sprint is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entity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itself,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that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provides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complete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result,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variation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final </a:t>
            </a:r>
            <a:r>
              <a:rPr dirty="0" sz="1000" spc="-1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product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that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must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able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delivered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client with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least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possible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effort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when </a:t>
            </a:r>
            <a:r>
              <a:rPr dirty="0" sz="1000" spc="-20">
                <a:latin typeface="Arial MT"/>
                <a:cs typeface="Arial MT"/>
              </a:rPr>
              <a:t>	</a:t>
            </a:r>
            <a:r>
              <a:rPr dirty="0" sz="1000" spc="-10">
                <a:latin typeface="Arial MT"/>
                <a:cs typeface="Arial MT"/>
              </a:rPr>
              <a:t>requested.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8903" y="4844796"/>
            <a:ext cx="5321554" cy="3334272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86536" y="1005331"/>
            <a:ext cx="16160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dirty="0" sz="16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dirty="0" sz="16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sprints?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1802" y="1605533"/>
            <a:ext cx="2631440" cy="23304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0" marR="351790" indent="-114300">
              <a:lnSpc>
                <a:spcPct val="88100"/>
              </a:lnSpc>
              <a:spcBef>
                <a:spcPts val="225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scrum,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product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built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 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series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of </a:t>
            </a:r>
            <a:r>
              <a:rPr dirty="0" sz="900">
                <a:latin typeface="Arial MT"/>
                <a:cs typeface="Arial MT"/>
              </a:rPr>
              <a:t>repetition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called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1400" spc="-10" b="1">
                <a:solidFill>
                  <a:srgbClr val="C00000"/>
                </a:solidFill>
                <a:latin typeface="Arial"/>
                <a:cs typeface="Arial"/>
              </a:rPr>
              <a:t>sprints</a:t>
            </a:r>
            <a:r>
              <a:rPr dirty="0" sz="900" spc="-10">
                <a:latin typeface="Arial MT"/>
                <a:cs typeface="Arial MT"/>
              </a:rPr>
              <a:t>.</a:t>
            </a:r>
            <a:endParaRPr sz="900">
              <a:latin typeface="Arial MT"/>
              <a:cs typeface="Arial MT"/>
            </a:endParaRPr>
          </a:p>
          <a:p>
            <a:pPr marL="127000" marR="5080" indent="-114300">
              <a:lnSpc>
                <a:spcPts val="969"/>
              </a:lnSpc>
              <a:spcBef>
                <a:spcPts val="360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breaks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down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big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complex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projects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bite-</a:t>
            </a:r>
            <a:r>
              <a:rPr dirty="0" sz="900" spc="-20">
                <a:latin typeface="Arial MT"/>
                <a:cs typeface="Arial MT"/>
              </a:rPr>
              <a:t>size </a:t>
            </a:r>
            <a:r>
              <a:rPr dirty="0" sz="900" spc="-10">
                <a:latin typeface="Arial MT"/>
                <a:cs typeface="Arial MT"/>
              </a:rPr>
              <a:t>pieces.</a:t>
            </a:r>
            <a:endParaRPr sz="900">
              <a:latin typeface="Arial MT"/>
              <a:cs typeface="Arial MT"/>
            </a:endParaRPr>
          </a:p>
          <a:p>
            <a:pPr marL="127000" marR="55244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projects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manageable,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allows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ship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high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quality, </a:t>
            </a:r>
            <a:r>
              <a:rPr dirty="0" sz="900">
                <a:latin typeface="Arial MT"/>
                <a:cs typeface="Arial MT"/>
              </a:rPr>
              <a:t>work </a:t>
            </a:r>
            <a:r>
              <a:rPr dirty="0" sz="900" spc="-10">
                <a:latin typeface="Arial MT"/>
                <a:cs typeface="Arial MT"/>
              </a:rPr>
              <a:t>faster,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more </a:t>
            </a:r>
            <a:r>
              <a:rPr dirty="0" sz="900" spc="-10">
                <a:latin typeface="Arial MT"/>
                <a:cs typeface="Arial MT"/>
              </a:rPr>
              <a:t>frequently.</a:t>
            </a:r>
            <a:endParaRPr sz="900">
              <a:latin typeface="Arial MT"/>
              <a:cs typeface="Arial MT"/>
            </a:endParaRPr>
          </a:p>
          <a:p>
            <a:pPr marL="127000" marR="80010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sprints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give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flexibility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adapt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to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changes.</a:t>
            </a:r>
            <a:endParaRPr sz="900">
              <a:latin typeface="Arial MT"/>
              <a:cs typeface="Arial MT"/>
            </a:endParaRPr>
          </a:p>
          <a:p>
            <a:pPr marL="127000" marR="58419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Sprints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short,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time-boxed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period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Scrum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works 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complete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 set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amount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of </a:t>
            </a:r>
            <a:r>
              <a:rPr dirty="0" sz="900" spc="-10">
                <a:latin typeface="Arial MT"/>
                <a:cs typeface="Arial MT"/>
              </a:rPr>
              <a:t>work.</a:t>
            </a:r>
            <a:endParaRPr sz="900">
              <a:latin typeface="Arial MT"/>
              <a:cs typeface="Arial MT"/>
            </a:endParaRPr>
          </a:p>
          <a:p>
            <a:pPr marL="127000" marR="192405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Sprints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component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Scrum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methodology.</a:t>
            </a:r>
            <a:endParaRPr sz="900">
              <a:latin typeface="Arial MT"/>
              <a:cs typeface="Arial MT"/>
            </a:endParaRPr>
          </a:p>
          <a:p>
            <a:pPr marL="127000" marR="116205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right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sprints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help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ship </a:t>
            </a:r>
            <a:r>
              <a:rPr dirty="0" sz="900">
                <a:latin typeface="Arial MT"/>
                <a:cs typeface="Arial MT"/>
              </a:rPr>
              <a:t>better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software.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92020" y="1518087"/>
            <a:ext cx="2792582" cy="223227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33424" y="4977460"/>
            <a:ext cx="14465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Scrum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master: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94791" y="5559678"/>
            <a:ext cx="2614295" cy="123253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0" marR="49530" indent="-114300">
              <a:lnSpc>
                <a:spcPts val="969"/>
              </a:lnSpc>
              <a:spcBef>
                <a:spcPts val="225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 sz="900" b="1">
                <a:latin typeface="Arial"/>
                <a:cs typeface="Arial"/>
              </a:rPr>
              <a:t>Scrum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master:</a:t>
            </a:r>
            <a:r>
              <a:rPr dirty="0" sz="900" spc="-4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person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who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leads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team </a:t>
            </a:r>
            <a:r>
              <a:rPr dirty="0" sz="900">
                <a:latin typeface="Arial MT"/>
                <a:cs typeface="Arial MT"/>
              </a:rPr>
              <a:t>guiding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them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comply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 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rules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>
                <a:latin typeface="Arial MT"/>
                <a:cs typeface="Arial MT"/>
              </a:rPr>
              <a:t>processes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methodology.</a:t>
            </a:r>
            <a:endParaRPr sz="900">
              <a:latin typeface="Arial MT"/>
              <a:cs typeface="Arial MT"/>
            </a:endParaRPr>
          </a:p>
          <a:p>
            <a:pPr marL="127000" marR="162560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Scrum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master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reduction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of </a:t>
            </a:r>
            <a:r>
              <a:rPr dirty="0" sz="900">
                <a:latin typeface="Arial MT"/>
                <a:cs typeface="Arial MT"/>
              </a:rPr>
              <a:t>impediments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project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Product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Owner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maximize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ROI.</a:t>
            </a:r>
            <a:endParaRPr sz="900">
              <a:latin typeface="Arial MT"/>
              <a:cs typeface="Arial MT"/>
            </a:endParaRPr>
          </a:p>
          <a:p>
            <a:pPr marL="127000" marR="5080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Scrum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Master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charge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keeping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Scrum </a:t>
            </a:r>
            <a:r>
              <a:rPr dirty="0" sz="900">
                <a:latin typeface="Arial MT"/>
                <a:cs typeface="Arial MT"/>
              </a:rPr>
              <a:t>up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date,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coaching,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mentoring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>
                <a:latin typeface="Arial MT"/>
                <a:cs typeface="Arial MT"/>
              </a:rPr>
              <a:t>training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case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needs</a:t>
            </a:r>
            <a:r>
              <a:rPr dirty="0" sz="900" spc="-25">
                <a:latin typeface="Arial MT"/>
                <a:cs typeface="Arial MT"/>
              </a:rPr>
              <a:t> it.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44798" y="5416308"/>
            <a:ext cx="3001518" cy="2570594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9964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owner</a:t>
            </a:r>
            <a:r>
              <a:rPr dirty="0" sz="16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(PO):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49630" y="1639315"/>
            <a:ext cx="2697480" cy="15494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125730" marR="5080" indent="-113030">
              <a:lnSpc>
                <a:spcPts val="1080"/>
              </a:lnSpc>
              <a:spcBef>
                <a:spcPts val="229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 sz="1000" b="1">
                <a:latin typeface="Arial"/>
                <a:cs typeface="Arial"/>
              </a:rPr>
              <a:t>Product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owner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(PO):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representative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of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stakeholders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 customers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who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use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the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 spc="-10">
                <a:latin typeface="Arial MT"/>
                <a:cs typeface="Arial MT"/>
              </a:rPr>
              <a:t>software.</a:t>
            </a:r>
            <a:endParaRPr sz="1000">
              <a:latin typeface="Arial MT"/>
              <a:cs typeface="Arial MT"/>
            </a:endParaRPr>
          </a:p>
          <a:p>
            <a:pPr algn="just" marL="125730" marR="385445" indent="-113030">
              <a:lnSpc>
                <a:spcPts val="1080"/>
              </a:lnSpc>
              <a:spcBef>
                <a:spcPts val="360"/>
              </a:spcBef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They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focus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on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business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part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is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responsible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ROI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project.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125730" marR="26034" indent="-113030">
              <a:lnSpc>
                <a:spcPts val="1080"/>
              </a:lnSpc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They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Translate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vision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project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the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team,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validate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benefits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stories 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be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incorporated into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Product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Backlog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and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prioritize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them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regular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basis.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6721" y="1831085"/>
            <a:ext cx="2558796" cy="219151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33424" y="4977460"/>
            <a:ext cx="6070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Team: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43178" y="5637352"/>
            <a:ext cx="2345690" cy="72707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5095" marR="5080" indent="-112395">
              <a:lnSpc>
                <a:spcPct val="90100"/>
              </a:lnSpc>
              <a:spcBef>
                <a:spcPts val="215"/>
              </a:spcBef>
              <a:buChar char="•"/>
              <a:tabLst>
                <a:tab pos="127000" algn="l"/>
              </a:tabLst>
            </a:pPr>
            <a:r>
              <a:rPr dirty="0" sz="1000" spc="-30">
                <a:solidFill>
                  <a:srgbClr val="C00000"/>
                </a:solidFill>
                <a:latin typeface="Arial MT"/>
                <a:cs typeface="Arial MT"/>
              </a:rPr>
              <a:t>Team:</a:t>
            </a:r>
            <a:r>
              <a:rPr dirty="0" sz="1000" spc="-9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group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professionals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with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the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necessary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technical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knowledge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who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develop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project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jointly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carrying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out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stories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they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commit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start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 spc="50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each </a:t>
            </a:r>
            <a:r>
              <a:rPr dirty="0" sz="1000" spc="-10">
                <a:latin typeface="Arial MT"/>
                <a:cs typeface="Arial MT"/>
              </a:rPr>
              <a:t>sprint.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93490" y="6023178"/>
            <a:ext cx="2466720" cy="2112644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381000" y="948905"/>
            <a:ext cx="5521325" cy="2881630"/>
            <a:chOff x="381000" y="948905"/>
            <a:chExt cx="5521325" cy="288163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948905"/>
              <a:ext cx="5334000" cy="3821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372" y="1233424"/>
              <a:ext cx="5157470" cy="2596896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381000" y="4925021"/>
            <a:ext cx="6096000" cy="3255645"/>
            <a:chOff x="381000" y="4925021"/>
            <a:chExt cx="6096000" cy="325564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4925021"/>
              <a:ext cx="5334000" cy="38218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000" y="4938064"/>
              <a:ext cx="6096000" cy="3242437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1000" y="1904619"/>
            <a:ext cx="6096000" cy="2393315"/>
            <a:chOff x="381000" y="1904619"/>
            <a:chExt cx="6096000" cy="23933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4277390"/>
              <a:ext cx="6096000" cy="2028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1904619"/>
              <a:ext cx="4262120" cy="2382011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33424" y="1001014"/>
            <a:ext cx="41033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Zoho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Sprint-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Perform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Workspace</a:t>
            </a:r>
            <a:r>
              <a:rPr dirty="0" sz="16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config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33424" y="4977460"/>
            <a:ext cx="32238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Manage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dirty="0" sz="160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dirty="0" sz="16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Roles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000" y="5613984"/>
            <a:ext cx="4984623" cy="2433180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892" y="1440180"/>
            <a:ext cx="2315083" cy="266928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33424" y="4977460"/>
            <a:ext cx="3059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https://youtu.be/GWxMTvRGIpc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1178" y="5636162"/>
            <a:ext cx="5042916" cy="2456746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78916" y="1345616"/>
            <a:ext cx="2983230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and</a:t>
            </a:r>
            <a:r>
              <a:rPr dirty="0" sz="1000" spc="-5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Relationship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practices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 agile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practices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Practices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over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Agile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Traditional,</a:t>
            </a:r>
            <a:r>
              <a:rPr dirty="0" sz="900" spc="-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–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comparison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33424" y="1001014"/>
            <a:ext cx="762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17481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 and</a:t>
            </a:r>
            <a:r>
              <a:rPr dirty="0" sz="16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036185" cy="9321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Relationship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practices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to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practices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ts val="1025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One 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characterizations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 DevOps emphasizes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relationship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 DevOps practices</a:t>
            </a:r>
            <a:r>
              <a:rPr dirty="0" sz="900" spc="-25">
                <a:latin typeface="Arial MT"/>
                <a:cs typeface="Arial MT"/>
              </a:rPr>
              <a:t> to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30"/>
              </a:lnSpc>
            </a:pP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practices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focus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what 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added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DevOps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interpret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transition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deployment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1187" y="6543105"/>
            <a:ext cx="3649391" cy="1205192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5063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181600" cy="230886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Practices over</a:t>
            </a:r>
            <a:r>
              <a:rPr dirty="0" sz="1000" spc="-6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 practices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impact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phases</a:t>
            </a:r>
            <a:endParaRPr sz="900">
              <a:latin typeface="Arial MT"/>
              <a:cs typeface="Arial MT"/>
            </a:endParaRPr>
          </a:p>
          <a:p>
            <a:pPr marL="391160" marR="410209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Inception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phase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: During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inception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phase,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release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planning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initial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requirements </a:t>
            </a:r>
            <a:r>
              <a:rPr dirty="0" sz="900">
                <a:latin typeface="Arial MT"/>
                <a:cs typeface="Arial MT"/>
              </a:rPr>
              <a:t>specification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done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Considerations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Ops will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add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some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requirements </a:t>
            </a:r>
            <a:r>
              <a:rPr dirty="0" sz="800">
                <a:latin typeface="Arial MT"/>
                <a:cs typeface="Arial MT"/>
              </a:rPr>
              <a:t>for the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developers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ts val="915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Release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planning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includes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feature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prioritization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but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also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includes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coordination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 </a:t>
            </a:r>
            <a:r>
              <a:rPr dirty="0" sz="800" spc="-10">
                <a:latin typeface="Arial MT"/>
                <a:cs typeface="Arial MT"/>
              </a:rPr>
              <a:t>operations</a:t>
            </a:r>
            <a:endParaRPr sz="800">
              <a:latin typeface="Arial MT"/>
              <a:cs typeface="Arial MT"/>
            </a:endParaRPr>
          </a:p>
          <a:p>
            <a:pPr marL="619760">
              <a:lnSpc>
                <a:spcPts val="915"/>
              </a:lnSpc>
            </a:pPr>
            <a:r>
              <a:rPr dirty="0" sz="800" spc="-10">
                <a:latin typeface="Arial MT"/>
                <a:cs typeface="Arial MT"/>
              </a:rPr>
              <a:t>personnel</a:t>
            </a:r>
            <a:endParaRPr sz="800">
              <a:latin typeface="Arial MT"/>
              <a:cs typeface="Arial MT"/>
            </a:endParaRPr>
          </a:p>
          <a:p>
            <a:pPr marL="391160" marR="38100" indent="-114300">
              <a:lnSpc>
                <a:spcPts val="969"/>
              </a:lnSpc>
              <a:spcBef>
                <a:spcPts val="335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Construction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phase: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During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construction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phase,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key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elements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practices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are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management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code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branches,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use of</a:t>
            </a:r>
            <a:r>
              <a:rPr dirty="0" sz="800" spc="-10">
                <a:latin typeface="Arial MT"/>
                <a:cs typeface="Arial MT"/>
              </a:rPr>
              <a:t> continuous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integration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continuous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deployment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incorporation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cases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automated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testing</a:t>
            </a:r>
            <a:endParaRPr sz="800">
              <a:latin typeface="Arial MT"/>
              <a:cs typeface="Arial MT"/>
            </a:endParaRPr>
          </a:p>
          <a:p>
            <a:pPr algn="just" marL="391160" marR="5080" indent="-114300">
              <a:lnSpc>
                <a:spcPts val="969"/>
              </a:lnSpc>
              <a:spcBef>
                <a:spcPts val="335"/>
              </a:spcBef>
              <a:buChar char="•"/>
              <a:tabLst>
                <a:tab pos="391160" algn="l"/>
              </a:tabLst>
            </a:pPr>
            <a:r>
              <a:rPr dirty="0" sz="900" spc="-10">
                <a:latin typeface="Arial MT"/>
                <a:cs typeface="Arial MT"/>
              </a:rPr>
              <a:t>Transition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phase: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transition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phase,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solution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deployed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is </a:t>
            </a:r>
            <a:r>
              <a:rPr dirty="0" sz="900">
                <a:latin typeface="Arial MT"/>
                <a:cs typeface="Arial MT"/>
              </a:rPr>
              <a:t>responsible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deployment,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monitoring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deployment,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deciding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whether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to </a:t>
            </a:r>
            <a:r>
              <a:rPr dirty="0" sz="900">
                <a:latin typeface="Arial MT"/>
                <a:cs typeface="Arial MT"/>
              </a:rPr>
              <a:t>roll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back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when,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monitoring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execution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after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deployment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25063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080000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Traditional,</a:t>
            </a:r>
            <a:r>
              <a:rPr dirty="0" sz="1000" spc="-5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r>
              <a:rPr dirty="0" sz="1000" spc="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and</a:t>
            </a:r>
            <a:r>
              <a:rPr dirty="0" sz="1000" spc="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 –</a:t>
            </a:r>
            <a:r>
              <a:rPr dirty="0" sz="1000" spc="-4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5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comparison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breaks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between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Business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team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breaks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between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Operations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team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centers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 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concept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sharing: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sharing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ideas,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issues,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processes,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goals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40447" y="6497446"/>
            <a:ext cx="990600" cy="304800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260985">
              <a:lnSpc>
                <a:spcPct val="100000"/>
              </a:lnSpc>
              <a:spcBef>
                <a:spcPts val="645"/>
              </a:spcBef>
            </a:pPr>
            <a:r>
              <a:rPr dirty="0" sz="900" spc="-10">
                <a:latin typeface="Arial MT"/>
                <a:cs typeface="Arial MT"/>
              </a:rPr>
              <a:t>Business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235200" y="6323965"/>
            <a:ext cx="1677670" cy="654050"/>
            <a:chOff x="2235200" y="6323965"/>
            <a:chExt cx="1677670" cy="654050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38375" y="6327140"/>
              <a:ext cx="107671" cy="64770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238375" y="6327140"/>
              <a:ext cx="107950" cy="647700"/>
            </a:xfrm>
            <a:custGeom>
              <a:avLst/>
              <a:gdLst/>
              <a:ahLst/>
              <a:cxnLst/>
              <a:rect l="l" t="t" r="r" b="b"/>
              <a:pathLst>
                <a:path w="107950" h="647700">
                  <a:moveTo>
                    <a:pt x="0" y="647700"/>
                  </a:moveTo>
                  <a:lnTo>
                    <a:pt x="107671" y="647700"/>
                  </a:lnTo>
                  <a:lnTo>
                    <a:pt x="107671" y="0"/>
                  </a:lnTo>
                  <a:lnTo>
                    <a:pt x="0" y="0"/>
                  </a:lnTo>
                  <a:lnTo>
                    <a:pt x="0" y="647700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6291" y="6438506"/>
              <a:ext cx="95492" cy="422668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836291" y="6438506"/>
              <a:ext cx="95885" cy="422909"/>
            </a:xfrm>
            <a:custGeom>
              <a:avLst/>
              <a:gdLst/>
              <a:ahLst/>
              <a:cxnLst/>
              <a:rect l="l" t="t" r="r" b="b"/>
              <a:pathLst>
                <a:path w="95885" h="422909">
                  <a:moveTo>
                    <a:pt x="0" y="422668"/>
                  </a:moveTo>
                  <a:lnTo>
                    <a:pt x="95492" y="422668"/>
                  </a:lnTo>
                  <a:lnTo>
                    <a:pt x="95492" y="0"/>
                  </a:lnTo>
                  <a:lnTo>
                    <a:pt x="0" y="0"/>
                  </a:lnTo>
                  <a:lnTo>
                    <a:pt x="0" y="422668"/>
                  </a:lnTo>
                  <a:close/>
                </a:path>
              </a:pathLst>
            </a:custGeom>
            <a:ln w="634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1999" y="6327140"/>
              <a:ext cx="107092" cy="64770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801999" y="6327140"/>
              <a:ext cx="107314" cy="647700"/>
            </a:xfrm>
            <a:custGeom>
              <a:avLst/>
              <a:gdLst/>
              <a:ahLst/>
              <a:cxnLst/>
              <a:rect l="l" t="t" r="r" b="b"/>
              <a:pathLst>
                <a:path w="107314" h="647700">
                  <a:moveTo>
                    <a:pt x="0" y="647700"/>
                  </a:moveTo>
                  <a:lnTo>
                    <a:pt x="107092" y="647700"/>
                  </a:lnTo>
                  <a:lnTo>
                    <a:pt x="107092" y="0"/>
                  </a:lnTo>
                  <a:lnTo>
                    <a:pt x="0" y="0"/>
                  </a:lnTo>
                  <a:lnTo>
                    <a:pt x="0" y="647700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23336" y="6438506"/>
              <a:ext cx="75172" cy="422668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323336" y="6438506"/>
              <a:ext cx="75565" cy="422909"/>
            </a:xfrm>
            <a:custGeom>
              <a:avLst/>
              <a:gdLst/>
              <a:ahLst/>
              <a:cxnLst/>
              <a:rect l="l" t="t" r="r" b="b"/>
              <a:pathLst>
                <a:path w="75564" h="422909">
                  <a:moveTo>
                    <a:pt x="0" y="422668"/>
                  </a:moveTo>
                  <a:lnTo>
                    <a:pt x="75172" y="422668"/>
                  </a:lnTo>
                  <a:lnTo>
                    <a:pt x="75172" y="0"/>
                  </a:lnTo>
                  <a:lnTo>
                    <a:pt x="0" y="0"/>
                  </a:lnTo>
                  <a:lnTo>
                    <a:pt x="0" y="422668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352420" y="6519392"/>
              <a:ext cx="466725" cy="274320"/>
            </a:xfrm>
            <a:custGeom>
              <a:avLst/>
              <a:gdLst/>
              <a:ahLst/>
              <a:cxnLst/>
              <a:rect l="l" t="t" r="r" b="b"/>
              <a:pathLst>
                <a:path w="466725" h="274320">
                  <a:moveTo>
                    <a:pt x="0" y="273837"/>
                  </a:moveTo>
                  <a:lnTo>
                    <a:pt x="466255" y="273837"/>
                  </a:lnTo>
                  <a:lnTo>
                    <a:pt x="466255" y="0"/>
                  </a:lnTo>
                  <a:lnTo>
                    <a:pt x="0" y="0"/>
                  </a:lnTo>
                  <a:lnTo>
                    <a:pt x="0" y="27383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349221" y="6573139"/>
            <a:ext cx="4756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Design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2941066" y="6512915"/>
            <a:ext cx="382905" cy="274320"/>
          </a:xfrm>
          <a:custGeom>
            <a:avLst/>
            <a:gdLst/>
            <a:ahLst/>
            <a:cxnLst/>
            <a:rect l="l" t="t" r="r" b="b"/>
            <a:pathLst>
              <a:path w="382904" h="274320">
                <a:moveTo>
                  <a:pt x="0" y="273837"/>
                </a:moveTo>
                <a:lnTo>
                  <a:pt x="382320" y="273837"/>
                </a:lnTo>
                <a:lnTo>
                  <a:pt x="382320" y="0"/>
                </a:lnTo>
                <a:lnTo>
                  <a:pt x="0" y="0"/>
                </a:lnTo>
                <a:lnTo>
                  <a:pt x="0" y="273837"/>
                </a:lnTo>
                <a:close/>
              </a:path>
            </a:pathLst>
          </a:custGeom>
          <a:ln w="6350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982595" y="6566661"/>
            <a:ext cx="2997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Arial MT"/>
                <a:cs typeface="Arial MT"/>
              </a:rPr>
              <a:t>Code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3407917" y="6519392"/>
            <a:ext cx="382905" cy="274320"/>
          </a:xfrm>
          <a:custGeom>
            <a:avLst/>
            <a:gdLst/>
            <a:ahLst/>
            <a:cxnLst/>
            <a:rect l="l" t="t" r="r" b="b"/>
            <a:pathLst>
              <a:path w="382904" h="274320">
                <a:moveTo>
                  <a:pt x="0" y="273837"/>
                </a:moveTo>
                <a:lnTo>
                  <a:pt x="382320" y="273837"/>
                </a:lnTo>
                <a:lnTo>
                  <a:pt x="382320" y="0"/>
                </a:lnTo>
                <a:lnTo>
                  <a:pt x="0" y="0"/>
                </a:lnTo>
                <a:lnTo>
                  <a:pt x="0" y="273837"/>
                </a:lnTo>
                <a:close/>
              </a:path>
            </a:pathLst>
          </a:custGeom>
          <a:ln w="6350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3504438" y="6573139"/>
            <a:ext cx="189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Arial MT"/>
                <a:cs typeface="Arial MT"/>
              </a:rPr>
              <a:t>QA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114165" y="6497446"/>
            <a:ext cx="990600" cy="304800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214629">
              <a:lnSpc>
                <a:spcPct val="100000"/>
              </a:lnSpc>
              <a:spcBef>
                <a:spcPts val="645"/>
              </a:spcBef>
            </a:pPr>
            <a:r>
              <a:rPr dirty="0" sz="900" spc="-10">
                <a:latin typeface="Arial MT"/>
                <a:cs typeface="Arial MT"/>
              </a:rPr>
              <a:t>Operations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684212" y="7047674"/>
            <a:ext cx="3432175" cy="464820"/>
            <a:chOff x="684212" y="7047674"/>
            <a:chExt cx="3432175" cy="464820"/>
          </a:xfrm>
        </p:grpSpPr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800" y="7049261"/>
              <a:ext cx="3429000" cy="461518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685800" y="7049261"/>
              <a:ext cx="3429000" cy="461645"/>
            </a:xfrm>
            <a:custGeom>
              <a:avLst/>
              <a:gdLst/>
              <a:ahLst/>
              <a:cxnLst/>
              <a:rect l="l" t="t" r="r" b="b"/>
              <a:pathLst>
                <a:path w="3429000" h="461645">
                  <a:moveTo>
                    <a:pt x="0" y="115316"/>
                  </a:moveTo>
                  <a:lnTo>
                    <a:pt x="3198241" y="115316"/>
                  </a:lnTo>
                  <a:lnTo>
                    <a:pt x="3198241" y="0"/>
                  </a:lnTo>
                  <a:lnTo>
                    <a:pt x="3429000" y="230759"/>
                  </a:lnTo>
                  <a:lnTo>
                    <a:pt x="3198241" y="461518"/>
                  </a:lnTo>
                  <a:lnTo>
                    <a:pt x="3198241" y="346075"/>
                  </a:lnTo>
                  <a:lnTo>
                    <a:pt x="0" y="346075"/>
                  </a:lnTo>
                  <a:lnTo>
                    <a:pt x="0" y="115316"/>
                  </a:lnTo>
                  <a:close/>
                </a:path>
              </a:pathLst>
            </a:custGeom>
            <a:ln w="317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735888" y="7204709"/>
            <a:ext cx="4406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 MT"/>
                <a:cs typeface="Arial MT"/>
              </a:rPr>
              <a:t>Inception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650619" y="7204709"/>
            <a:ext cx="5410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 MT"/>
                <a:cs typeface="Arial MT"/>
              </a:rPr>
              <a:t>Elaboration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565019" y="7204709"/>
            <a:ext cx="59880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 MT"/>
                <a:cs typeface="Arial MT"/>
              </a:rPr>
              <a:t>Construction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479672" y="7204709"/>
            <a:ext cx="4711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 MT"/>
                <a:cs typeface="Arial MT"/>
              </a:rPr>
              <a:t>Transition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682432" y="7466520"/>
            <a:ext cx="3423920" cy="464820"/>
            <a:chOff x="1682432" y="7466520"/>
            <a:chExt cx="3423920" cy="464820"/>
          </a:xfrm>
        </p:grpSpPr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84020" y="7468107"/>
              <a:ext cx="3420745" cy="461454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684020" y="7468107"/>
              <a:ext cx="3420745" cy="461645"/>
            </a:xfrm>
            <a:custGeom>
              <a:avLst/>
              <a:gdLst/>
              <a:ahLst/>
              <a:cxnLst/>
              <a:rect l="l" t="t" r="r" b="b"/>
              <a:pathLst>
                <a:path w="3420745" h="461645">
                  <a:moveTo>
                    <a:pt x="0" y="115316"/>
                  </a:moveTo>
                  <a:lnTo>
                    <a:pt x="3190113" y="115316"/>
                  </a:lnTo>
                  <a:lnTo>
                    <a:pt x="3190113" y="0"/>
                  </a:lnTo>
                  <a:lnTo>
                    <a:pt x="3420745" y="230759"/>
                  </a:lnTo>
                  <a:lnTo>
                    <a:pt x="3190113" y="461454"/>
                  </a:lnTo>
                  <a:lnTo>
                    <a:pt x="3190113" y="346075"/>
                  </a:lnTo>
                  <a:lnTo>
                    <a:pt x="0" y="346075"/>
                  </a:lnTo>
                  <a:lnTo>
                    <a:pt x="0" y="115316"/>
                  </a:lnTo>
                  <a:close/>
                </a:path>
              </a:pathLst>
            </a:custGeom>
            <a:ln w="31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769110" y="7623429"/>
            <a:ext cx="5429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 MT"/>
                <a:cs typeface="Arial MT"/>
              </a:rPr>
              <a:t>Elaboration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2712847" y="7623429"/>
            <a:ext cx="59880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 MT"/>
                <a:cs typeface="Arial MT"/>
              </a:rPr>
              <a:t>Construction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625977" y="7623429"/>
            <a:ext cx="4711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 MT"/>
                <a:cs typeface="Arial MT"/>
              </a:rPr>
              <a:t>Transition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4381101" y="7623429"/>
            <a:ext cx="52324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 MT"/>
                <a:cs typeface="Arial MT"/>
              </a:rPr>
              <a:t>Operations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5256263" y="6449567"/>
            <a:ext cx="829944" cy="90805"/>
            <a:chOff x="5256263" y="6449567"/>
            <a:chExt cx="829944" cy="90805"/>
          </a:xfrm>
        </p:grpSpPr>
        <p:pic>
          <p:nvPicPr>
            <p:cNvPr id="43" name="object 4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56263" y="6449567"/>
              <a:ext cx="829830" cy="9071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58435" y="6451726"/>
              <a:ext cx="818388" cy="83185"/>
            </a:xfrm>
            <a:prstGeom prst="rect">
              <a:avLst/>
            </a:prstGeom>
          </p:spPr>
        </p:pic>
      </p:grpSp>
      <p:grpSp>
        <p:nvGrpSpPr>
          <p:cNvPr id="45" name="object 45" descr=""/>
          <p:cNvGrpSpPr/>
          <p:nvPr/>
        </p:nvGrpSpPr>
        <p:grpSpPr>
          <a:xfrm>
            <a:off x="5262367" y="6586727"/>
            <a:ext cx="758190" cy="90805"/>
            <a:chOff x="5262367" y="6586727"/>
            <a:chExt cx="758190" cy="90805"/>
          </a:xfrm>
        </p:grpSpPr>
        <p:pic>
          <p:nvPicPr>
            <p:cNvPr id="46" name="object 4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62367" y="6586727"/>
              <a:ext cx="758194" cy="90714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64277" y="6588887"/>
              <a:ext cx="747140" cy="83185"/>
            </a:xfrm>
            <a:prstGeom prst="rect">
              <a:avLst/>
            </a:prstGeom>
          </p:spPr>
        </p:pic>
      </p:grpSp>
      <p:grpSp>
        <p:nvGrpSpPr>
          <p:cNvPr id="48" name="object 48" descr=""/>
          <p:cNvGrpSpPr/>
          <p:nvPr/>
        </p:nvGrpSpPr>
        <p:grpSpPr>
          <a:xfrm>
            <a:off x="5257776" y="6722166"/>
            <a:ext cx="718820" cy="92710"/>
            <a:chOff x="5257776" y="6722166"/>
            <a:chExt cx="718820" cy="92710"/>
          </a:xfrm>
        </p:grpSpPr>
        <p:pic>
          <p:nvPicPr>
            <p:cNvPr id="49" name="object 4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57776" y="6722166"/>
              <a:ext cx="718613" cy="92563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60086" y="6724649"/>
              <a:ext cx="710691" cy="84708"/>
            </a:xfrm>
            <a:prstGeom prst="rect">
              <a:avLst/>
            </a:prstGeom>
          </p:spPr>
        </p:pic>
      </p:grpSp>
      <p:pic>
        <p:nvPicPr>
          <p:cNvPr id="51" name="object 5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256288" y="7171951"/>
            <a:ext cx="678548" cy="242689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265458" y="7673461"/>
            <a:ext cx="401154" cy="108462"/>
          </a:xfrm>
          <a:prstGeom prst="rect">
            <a:avLst/>
          </a:prstGeom>
        </p:spPr>
      </p:pic>
      <p:sp>
        <p:nvSpPr>
          <p:cNvPr id="53" name="object 5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78916" y="1345616"/>
            <a:ext cx="3079750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r>
              <a:rPr dirty="0" sz="1000" spc="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methodology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for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Effectiveness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Why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Process?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 Process: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Flow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vs Non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flow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based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Process: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Component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vs Feature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Team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33424" y="1001014"/>
            <a:ext cx="762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16383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258435" cy="21710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Why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Process?</a:t>
            </a:r>
            <a:endParaRPr sz="1000">
              <a:latin typeface="Arial"/>
              <a:cs typeface="Arial"/>
            </a:endParaRPr>
          </a:p>
          <a:p>
            <a:pPr marL="391160" marR="5080" indent="-114300">
              <a:lnSpc>
                <a:spcPct val="90100"/>
              </a:lnSpc>
              <a:spcBef>
                <a:spcPts val="72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We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policies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things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proper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way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standardized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across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projects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sequence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 operations,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constraints,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rules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well defined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measure success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processes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following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things:</a:t>
            </a:r>
            <a:endParaRPr sz="900">
              <a:latin typeface="Arial MT"/>
              <a:cs typeface="Arial MT"/>
            </a:endParaRPr>
          </a:p>
          <a:p>
            <a:pPr lvl="1" marL="6184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618490" algn="l"/>
              </a:tabLst>
            </a:pPr>
            <a:r>
              <a:rPr dirty="0" sz="1000">
                <a:latin typeface="Arial MT"/>
                <a:cs typeface="Arial MT"/>
              </a:rPr>
              <a:t>Agile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planning</a:t>
            </a:r>
            <a:endParaRPr sz="1000">
              <a:latin typeface="Arial MT"/>
              <a:cs typeface="Arial MT"/>
            </a:endParaRPr>
          </a:p>
          <a:p>
            <a:pPr lvl="1" marL="6184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618490" algn="l"/>
              </a:tabLst>
            </a:pPr>
            <a:r>
              <a:rPr dirty="0" sz="1000">
                <a:latin typeface="Arial MT"/>
                <a:cs typeface="Arial MT"/>
              </a:rPr>
              <a:t>Resource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planning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provisioning</a:t>
            </a:r>
            <a:endParaRPr sz="1000">
              <a:latin typeface="Arial MT"/>
              <a:cs typeface="Arial MT"/>
            </a:endParaRPr>
          </a:p>
          <a:p>
            <a:pPr lvl="1" marL="6184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618490" algn="l"/>
              </a:tabLst>
            </a:pPr>
            <a:r>
              <a:rPr dirty="0" sz="1000">
                <a:latin typeface="Arial MT"/>
                <a:cs typeface="Arial MT"/>
              </a:rPr>
              <a:t>Configuration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management</a:t>
            </a:r>
            <a:endParaRPr sz="1000">
              <a:latin typeface="Arial MT"/>
              <a:cs typeface="Arial MT"/>
            </a:endParaRPr>
          </a:p>
          <a:p>
            <a:pPr lvl="1" marL="6184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618490" algn="l"/>
              </a:tabLst>
            </a:pPr>
            <a:r>
              <a:rPr dirty="0" sz="1000" spc="-10">
                <a:latin typeface="Arial MT"/>
                <a:cs typeface="Arial MT"/>
              </a:rPr>
              <a:t>Role-</a:t>
            </a:r>
            <a:r>
              <a:rPr dirty="0" sz="1000">
                <a:latin typeface="Arial MT"/>
                <a:cs typeface="Arial MT"/>
              </a:rPr>
              <a:t>based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access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control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cloud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resources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other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tools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used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0">
                <a:latin typeface="Arial MT"/>
                <a:cs typeface="Arial MT"/>
              </a:rPr>
              <a:t> automation</a:t>
            </a:r>
            <a:endParaRPr sz="1000">
              <a:latin typeface="Arial MT"/>
              <a:cs typeface="Arial MT"/>
            </a:endParaRPr>
          </a:p>
          <a:p>
            <a:pPr lvl="1" marL="6184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618490" algn="l"/>
              </a:tabLst>
            </a:pPr>
            <a:r>
              <a:rPr dirty="0" sz="1000">
                <a:latin typeface="Arial MT"/>
                <a:cs typeface="Arial MT"/>
              </a:rPr>
              <a:t>Static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code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analysis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–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rules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programming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languages</a:t>
            </a:r>
            <a:endParaRPr sz="1000">
              <a:latin typeface="Arial MT"/>
              <a:cs typeface="Arial MT"/>
            </a:endParaRPr>
          </a:p>
          <a:p>
            <a:pPr lvl="1" marL="6184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618490" algn="l"/>
              </a:tabLst>
            </a:pPr>
            <a:r>
              <a:rPr dirty="0" sz="1000" spc="-20">
                <a:latin typeface="Arial MT"/>
                <a:cs typeface="Arial MT"/>
              </a:rPr>
              <a:t>Testing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methodology and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tools</a:t>
            </a:r>
            <a:endParaRPr sz="1000">
              <a:latin typeface="Arial MT"/>
              <a:cs typeface="Arial MT"/>
            </a:endParaRPr>
          </a:p>
          <a:p>
            <a:pPr lvl="1" marL="6184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618490" algn="l"/>
              </a:tabLst>
            </a:pPr>
            <a:r>
              <a:rPr dirty="0" sz="1000">
                <a:latin typeface="Arial MT"/>
                <a:cs typeface="Arial MT"/>
              </a:rPr>
              <a:t>Release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management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359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Effectiveness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432305"/>
            <a:ext cx="19469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Flow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based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and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Non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flow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based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188464" y="1894204"/>
            <a:ext cx="634365" cy="654050"/>
            <a:chOff x="2188464" y="1894204"/>
            <a:chExt cx="634365" cy="654050"/>
          </a:xfrm>
        </p:grpSpPr>
        <p:sp>
          <p:nvSpPr>
            <p:cNvPr id="8" name="object 8" descr=""/>
            <p:cNvSpPr/>
            <p:nvPr/>
          </p:nvSpPr>
          <p:spPr>
            <a:xfrm>
              <a:off x="2191639" y="1897379"/>
              <a:ext cx="628015" cy="647700"/>
            </a:xfrm>
            <a:custGeom>
              <a:avLst/>
              <a:gdLst/>
              <a:ahLst/>
              <a:cxnLst/>
              <a:rect l="l" t="t" r="r" b="b"/>
              <a:pathLst>
                <a:path w="628014" h="647700">
                  <a:moveTo>
                    <a:pt x="313944" y="0"/>
                  </a:moveTo>
                  <a:lnTo>
                    <a:pt x="267558" y="3509"/>
                  </a:lnTo>
                  <a:lnTo>
                    <a:pt x="223284" y="13703"/>
                  </a:lnTo>
                  <a:lnTo>
                    <a:pt x="181606" y="30080"/>
                  </a:lnTo>
                  <a:lnTo>
                    <a:pt x="143012" y="52140"/>
                  </a:lnTo>
                  <a:lnTo>
                    <a:pt x="107986" y="79382"/>
                  </a:lnTo>
                  <a:lnTo>
                    <a:pt x="77015" y="111304"/>
                  </a:lnTo>
                  <a:lnTo>
                    <a:pt x="50586" y="147407"/>
                  </a:lnTo>
                  <a:lnTo>
                    <a:pt x="29183" y="187188"/>
                  </a:lnTo>
                  <a:lnTo>
                    <a:pt x="13294" y="230147"/>
                  </a:lnTo>
                  <a:lnTo>
                    <a:pt x="3404" y="275783"/>
                  </a:lnTo>
                  <a:lnTo>
                    <a:pt x="0" y="323596"/>
                  </a:lnTo>
                  <a:lnTo>
                    <a:pt x="3404" y="371436"/>
                  </a:lnTo>
                  <a:lnTo>
                    <a:pt x="13294" y="417090"/>
                  </a:lnTo>
                  <a:lnTo>
                    <a:pt x="29183" y="460058"/>
                  </a:lnTo>
                  <a:lnTo>
                    <a:pt x="50586" y="499841"/>
                  </a:lnTo>
                  <a:lnTo>
                    <a:pt x="77015" y="535938"/>
                  </a:lnTo>
                  <a:lnTo>
                    <a:pt x="107986" y="567852"/>
                  </a:lnTo>
                  <a:lnTo>
                    <a:pt x="143012" y="595083"/>
                  </a:lnTo>
                  <a:lnTo>
                    <a:pt x="181606" y="617132"/>
                  </a:lnTo>
                  <a:lnTo>
                    <a:pt x="223284" y="633499"/>
                  </a:lnTo>
                  <a:lnTo>
                    <a:pt x="267558" y="643685"/>
                  </a:lnTo>
                  <a:lnTo>
                    <a:pt x="313944" y="647192"/>
                  </a:lnTo>
                  <a:lnTo>
                    <a:pt x="360326" y="643685"/>
                  </a:lnTo>
                  <a:lnTo>
                    <a:pt x="404592" y="633499"/>
                  </a:lnTo>
                  <a:lnTo>
                    <a:pt x="446258" y="617132"/>
                  </a:lnTo>
                  <a:lnTo>
                    <a:pt x="484837" y="595083"/>
                  </a:lnTo>
                  <a:lnTo>
                    <a:pt x="519846" y="567852"/>
                  </a:lnTo>
                  <a:lnTo>
                    <a:pt x="550800" y="535938"/>
                  </a:lnTo>
                  <a:lnTo>
                    <a:pt x="577212" y="499841"/>
                  </a:lnTo>
                  <a:lnTo>
                    <a:pt x="598600" y="460058"/>
                  </a:lnTo>
                  <a:lnTo>
                    <a:pt x="614477" y="417090"/>
                  </a:lnTo>
                  <a:lnTo>
                    <a:pt x="624359" y="371436"/>
                  </a:lnTo>
                  <a:lnTo>
                    <a:pt x="627761" y="323596"/>
                  </a:lnTo>
                  <a:lnTo>
                    <a:pt x="624359" y="275783"/>
                  </a:lnTo>
                  <a:lnTo>
                    <a:pt x="614477" y="230147"/>
                  </a:lnTo>
                  <a:lnTo>
                    <a:pt x="598600" y="187188"/>
                  </a:lnTo>
                  <a:lnTo>
                    <a:pt x="577212" y="147407"/>
                  </a:lnTo>
                  <a:lnTo>
                    <a:pt x="550800" y="111304"/>
                  </a:lnTo>
                  <a:lnTo>
                    <a:pt x="519846" y="79382"/>
                  </a:lnTo>
                  <a:lnTo>
                    <a:pt x="484837" y="52140"/>
                  </a:lnTo>
                  <a:lnTo>
                    <a:pt x="446258" y="30080"/>
                  </a:lnTo>
                  <a:lnTo>
                    <a:pt x="404592" y="13703"/>
                  </a:lnTo>
                  <a:lnTo>
                    <a:pt x="360326" y="3509"/>
                  </a:lnTo>
                  <a:lnTo>
                    <a:pt x="31394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191639" y="1897379"/>
              <a:ext cx="628015" cy="647700"/>
            </a:xfrm>
            <a:custGeom>
              <a:avLst/>
              <a:gdLst/>
              <a:ahLst/>
              <a:cxnLst/>
              <a:rect l="l" t="t" r="r" b="b"/>
              <a:pathLst>
                <a:path w="628014" h="647700">
                  <a:moveTo>
                    <a:pt x="0" y="323596"/>
                  </a:moveTo>
                  <a:lnTo>
                    <a:pt x="3404" y="275783"/>
                  </a:lnTo>
                  <a:lnTo>
                    <a:pt x="13294" y="230147"/>
                  </a:lnTo>
                  <a:lnTo>
                    <a:pt x="29183" y="187188"/>
                  </a:lnTo>
                  <a:lnTo>
                    <a:pt x="50586" y="147407"/>
                  </a:lnTo>
                  <a:lnTo>
                    <a:pt x="77015" y="111304"/>
                  </a:lnTo>
                  <a:lnTo>
                    <a:pt x="107986" y="79382"/>
                  </a:lnTo>
                  <a:lnTo>
                    <a:pt x="143012" y="52140"/>
                  </a:lnTo>
                  <a:lnTo>
                    <a:pt x="181606" y="30080"/>
                  </a:lnTo>
                  <a:lnTo>
                    <a:pt x="223284" y="13703"/>
                  </a:lnTo>
                  <a:lnTo>
                    <a:pt x="267558" y="3509"/>
                  </a:lnTo>
                  <a:lnTo>
                    <a:pt x="313944" y="0"/>
                  </a:lnTo>
                  <a:lnTo>
                    <a:pt x="360326" y="3509"/>
                  </a:lnTo>
                  <a:lnTo>
                    <a:pt x="404592" y="13703"/>
                  </a:lnTo>
                  <a:lnTo>
                    <a:pt x="446258" y="30080"/>
                  </a:lnTo>
                  <a:lnTo>
                    <a:pt x="484837" y="52140"/>
                  </a:lnTo>
                  <a:lnTo>
                    <a:pt x="519846" y="79382"/>
                  </a:lnTo>
                  <a:lnTo>
                    <a:pt x="550800" y="111304"/>
                  </a:lnTo>
                  <a:lnTo>
                    <a:pt x="577212" y="147407"/>
                  </a:lnTo>
                  <a:lnTo>
                    <a:pt x="598600" y="187188"/>
                  </a:lnTo>
                  <a:lnTo>
                    <a:pt x="614477" y="230147"/>
                  </a:lnTo>
                  <a:lnTo>
                    <a:pt x="624359" y="275783"/>
                  </a:lnTo>
                  <a:lnTo>
                    <a:pt x="627761" y="323596"/>
                  </a:lnTo>
                  <a:lnTo>
                    <a:pt x="624359" y="371436"/>
                  </a:lnTo>
                  <a:lnTo>
                    <a:pt x="614477" y="417090"/>
                  </a:lnTo>
                  <a:lnTo>
                    <a:pt x="598600" y="460058"/>
                  </a:lnTo>
                  <a:lnTo>
                    <a:pt x="577212" y="499841"/>
                  </a:lnTo>
                  <a:lnTo>
                    <a:pt x="550800" y="535938"/>
                  </a:lnTo>
                  <a:lnTo>
                    <a:pt x="519846" y="567852"/>
                  </a:lnTo>
                  <a:lnTo>
                    <a:pt x="484837" y="595083"/>
                  </a:lnTo>
                  <a:lnTo>
                    <a:pt x="446258" y="617132"/>
                  </a:lnTo>
                  <a:lnTo>
                    <a:pt x="404592" y="633499"/>
                  </a:lnTo>
                  <a:lnTo>
                    <a:pt x="360326" y="643685"/>
                  </a:lnTo>
                  <a:lnTo>
                    <a:pt x="313944" y="647192"/>
                  </a:lnTo>
                  <a:lnTo>
                    <a:pt x="267558" y="643685"/>
                  </a:lnTo>
                  <a:lnTo>
                    <a:pt x="223284" y="633499"/>
                  </a:lnTo>
                  <a:lnTo>
                    <a:pt x="181606" y="617132"/>
                  </a:lnTo>
                  <a:lnTo>
                    <a:pt x="143012" y="595083"/>
                  </a:lnTo>
                  <a:lnTo>
                    <a:pt x="107986" y="567852"/>
                  </a:lnTo>
                  <a:lnTo>
                    <a:pt x="77015" y="535938"/>
                  </a:lnTo>
                  <a:lnTo>
                    <a:pt x="50586" y="499841"/>
                  </a:lnTo>
                  <a:lnTo>
                    <a:pt x="29183" y="460058"/>
                  </a:lnTo>
                  <a:lnTo>
                    <a:pt x="13294" y="417090"/>
                  </a:lnTo>
                  <a:lnTo>
                    <a:pt x="3404" y="371436"/>
                  </a:lnTo>
                  <a:lnTo>
                    <a:pt x="0" y="323596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317242" y="2115693"/>
            <a:ext cx="354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Non-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Flow</a:t>
            </a:r>
            <a:r>
              <a:rPr dirty="0"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184396" y="1885695"/>
            <a:ext cx="692150" cy="622935"/>
            <a:chOff x="4184396" y="1885695"/>
            <a:chExt cx="692150" cy="622935"/>
          </a:xfrm>
        </p:grpSpPr>
        <p:sp>
          <p:nvSpPr>
            <p:cNvPr id="12" name="object 12" descr=""/>
            <p:cNvSpPr/>
            <p:nvPr/>
          </p:nvSpPr>
          <p:spPr>
            <a:xfrm>
              <a:off x="4187571" y="1888870"/>
              <a:ext cx="685800" cy="616585"/>
            </a:xfrm>
            <a:custGeom>
              <a:avLst/>
              <a:gdLst/>
              <a:ahLst/>
              <a:cxnLst/>
              <a:rect l="l" t="t" r="r" b="b"/>
              <a:pathLst>
                <a:path w="685800" h="616585">
                  <a:moveTo>
                    <a:pt x="342900" y="0"/>
                  </a:moveTo>
                  <a:lnTo>
                    <a:pt x="292204" y="3343"/>
                  </a:lnTo>
                  <a:lnTo>
                    <a:pt x="243827" y="13054"/>
                  </a:lnTo>
                  <a:lnTo>
                    <a:pt x="198296" y="28658"/>
                  </a:lnTo>
                  <a:lnTo>
                    <a:pt x="156140" y="49676"/>
                  </a:lnTo>
                  <a:lnTo>
                    <a:pt x="117889" y="75632"/>
                  </a:lnTo>
                  <a:lnTo>
                    <a:pt x="84071" y="106049"/>
                  </a:lnTo>
                  <a:lnTo>
                    <a:pt x="55216" y="140449"/>
                  </a:lnTo>
                  <a:lnTo>
                    <a:pt x="31852" y="178357"/>
                  </a:lnTo>
                  <a:lnTo>
                    <a:pt x="14509" y="219296"/>
                  </a:lnTo>
                  <a:lnTo>
                    <a:pt x="3715" y="262787"/>
                  </a:lnTo>
                  <a:lnTo>
                    <a:pt x="0" y="308355"/>
                  </a:lnTo>
                  <a:lnTo>
                    <a:pt x="3715" y="353892"/>
                  </a:lnTo>
                  <a:lnTo>
                    <a:pt x="14509" y="397358"/>
                  </a:lnTo>
                  <a:lnTo>
                    <a:pt x="31852" y="438275"/>
                  </a:lnTo>
                  <a:lnTo>
                    <a:pt x="55216" y="476167"/>
                  </a:lnTo>
                  <a:lnTo>
                    <a:pt x="84071" y="510556"/>
                  </a:lnTo>
                  <a:lnTo>
                    <a:pt x="117889" y="540964"/>
                  </a:lnTo>
                  <a:lnTo>
                    <a:pt x="156140" y="566914"/>
                  </a:lnTo>
                  <a:lnTo>
                    <a:pt x="198296" y="587929"/>
                  </a:lnTo>
                  <a:lnTo>
                    <a:pt x="243827" y="603530"/>
                  </a:lnTo>
                  <a:lnTo>
                    <a:pt x="292204" y="613241"/>
                  </a:lnTo>
                  <a:lnTo>
                    <a:pt x="342900" y="616584"/>
                  </a:lnTo>
                  <a:lnTo>
                    <a:pt x="393566" y="613241"/>
                  </a:lnTo>
                  <a:lnTo>
                    <a:pt x="441926" y="603530"/>
                  </a:lnTo>
                  <a:lnTo>
                    <a:pt x="487448" y="587929"/>
                  </a:lnTo>
                  <a:lnTo>
                    <a:pt x="529603" y="566914"/>
                  </a:lnTo>
                  <a:lnTo>
                    <a:pt x="567858" y="540964"/>
                  </a:lnTo>
                  <a:lnTo>
                    <a:pt x="601685" y="510556"/>
                  </a:lnTo>
                  <a:lnTo>
                    <a:pt x="630551" y="476167"/>
                  </a:lnTo>
                  <a:lnTo>
                    <a:pt x="653926" y="438275"/>
                  </a:lnTo>
                  <a:lnTo>
                    <a:pt x="671280" y="397358"/>
                  </a:lnTo>
                  <a:lnTo>
                    <a:pt x="682081" y="353892"/>
                  </a:lnTo>
                  <a:lnTo>
                    <a:pt x="685800" y="308355"/>
                  </a:lnTo>
                  <a:lnTo>
                    <a:pt x="682081" y="262787"/>
                  </a:lnTo>
                  <a:lnTo>
                    <a:pt x="671280" y="219296"/>
                  </a:lnTo>
                  <a:lnTo>
                    <a:pt x="653926" y="178357"/>
                  </a:lnTo>
                  <a:lnTo>
                    <a:pt x="630551" y="140449"/>
                  </a:lnTo>
                  <a:lnTo>
                    <a:pt x="601685" y="106049"/>
                  </a:lnTo>
                  <a:lnTo>
                    <a:pt x="567858" y="75632"/>
                  </a:lnTo>
                  <a:lnTo>
                    <a:pt x="529603" y="49676"/>
                  </a:lnTo>
                  <a:lnTo>
                    <a:pt x="487448" y="28658"/>
                  </a:lnTo>
                  <a:lnTo>
                    <a:pt x="441926" y="13054"/>
                  </a:lnTo>
                  <a:lnTo>
                    <a:pt x="393566" y="3343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187571" y="1888870"/>
              <a:ext cx="685800" cy="616585"/>
            </a:xfrm>
            <a:custGeom>
              <a:avLst/>
              <a:gdLst/>
              <a:ahLst/>
              <a:cxnLst/>
              <a:rect l="l" t="t" r="r" b="b"/>
              <a:pathLst>
                <a:path w="685800" h="616585">
                  <a:moveTo>
                    <a:pt x="0" y="308355"/>
                  </a:moveTo>
                  <a:lnTo>
                    <a:pt x="3715" y="262787"/>
                  </a:lnTo>
                  <a:lnTo>
                    <a:pt x="14509" y="219296"/>
                  </a:lnTo>
                  <a:lnTo>
                    <a:pt x="31852" y="178357"/>
                  </a:lnTo>
                  <a:lnTo>
                    <a:pt x="55216" y="140449"/>
                  </a:lnTo>
                  <a:lnTo>
                    <a:pt x="84071" y="106049"/>
                  </a:lnTo>
                  <a:lnTo>
                    <a:pt x="117889" y="75632"/>
                  </a:lnTo>
                  <a:lnTo>
                    <a:pt x="156140" y="49676"/>
                  </a:lnTo>
                  <a:lnTo>
                    <a:pt x="198296" y="28658"/>
                  </a:lnTo>
                  <a:lnTo>
                    <a:pt x="243827" y="13054"/>
                  </a:lnTo>
                  <a:lnTo>
                    <a:pt x="292204" y="3343"/>
                  </a:lnTo>
                  <a:lnTo>
                    <a:pt x="342900" y="0"/>
                  </a:lnTo>
                  <a:lnTo>
                    <a:pt x="393566" y="3343"/>
                  </a:lnTo>
                  <a:lnTo>
                    <a:pt x="441926" y="13054"/>
                  </a:lnTo>
                  <a:lnTo>
                    <a:pt x="487448" y="28658"/>
                  </a:lnTo>
                  <a:lnTo>
                    <a:pt x="529603" y="49676"/>
                  </a:lnTo>
                  <a:lnTo>
                    <a:pt x="567858" y="75632"/>
                  </a:lnTo>
                  <a:lnTo>
                    <a:pt x="601685" y="106049"/>
                  </a:lnTo>
                  <a:lnTo>
                    <a:pt x="630551" y="140449"/>
                  </a:lnTo>
                  <a:lnTo>
                    <a:pt x="653926" y="178357"/>
                  </a:lnTo>
                  <a:lnTo>
                    <a:pt x="671280" y="219296"/>
                  </a:lnTo>
                  <a:lnTo>
                    <a:pt x="682081" y="262787"/>
                  </a:lnTo>
                  <a:lnTo>
                    <a:pt x="685800" y="308355"/>
                  </a:lnTo>
                  <a:lnTo>
                    <a:pt x="682081" y="353892"/>
                  </a:lnTo>
                  <a:lnTo>
                    <a:pt x="671280" y="397358"/>
                  </a:lnTo>
                  <a:lnTo>
                    <a:pt x="653926" y="438275"/>
                  </a:lnTo>
                  <a:lnTo>
                    <a:pt x="630551" y="476167"/>
                  </a:lnTo>
                  <a:lnTo>
                    <a:pt x="601685" y="510556"/>
                  </a:lnTo>
                  <a:lnTo>
                    <a:pt x="567858" y="540964"/>
                  </a:lnTo>
                  <a:lnTo>
                    <a:pt x="529603" y="566914"/>
                  </a:lnTo>
                  <a:lnTo>
                    <a:pt x="487448" y="587929"/>
                  </a:lnTo>
                  <a:lnTo>
                    <a:pt x="441926" y="603530"/>
                  </a:lnTo>
                  <a:lnTo>
                    <a:pt x="393566" y="613241"/>
                  </a:lnTo>
                  <a:lnTo>
                    <a:pt x="342900" y="616584"/>
                  </a:lnTo>
                  <a:lnTo>
                    <a:pt x="292204" y="613241"/>
                  </a:lnTo>
                  <a:lnTo>
                    <a:pt x="243827" y="603530"/>
                  </a:lnTo>
                  <a:lnTo>
                    <a:pt x="198296" y="587929"/>
                  </a:lnTo>
                  <a:lnTo>
                    <a:pt x="156140" y="566914"/>
                  </a:lnTo>
                  <a:lnTo>
                    <a:pt x="117889" y="540964"/>
                  </a:lnTo>
                  <a:lnTo>
                    <a:pt x="84071" y="510556"/>
                  </a:lnTo>
                  <a:lnTo>
                    <a:pt x="55216" y="476167"/>
                  </a:lnTo>
                  <a:lnTo>
                    <a:pt x="31852" y="438275"/>
                  </a:lnTo>
                  <a:lnTo>
                    <a:pt x="14509" y="397358"/>
                  </a:lnTo>
                  <a:lnTo>
                    <a:pt x="3715" y="353892"/>
                  </a:lnTo>
                  <a:lnTo>
                    <a:pt x="0" y="308355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410583" y="2096516"/>
            <a:ext cx="241935" cy="226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7305">
              <a:lnSpc>
                <a:spcPct val="110000"/>
              </a:lnSpc>
              <a:spcBef>
                <a:spcPts val="100"/>
              </a:spcBef>
            </a:pP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Flow</a:t>
            </a:r>
            <a:r>
              <a:rPr dirty="0"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409700" y="2640329"/>
            <a:ext cx="1028700" cy="450215"/>
          </a:xfrm>
          <a:custGeom>
            <a:avLst/>
            <a:gdLst/>
            <a:ahLst/>
            <a:cxnLst/>
            <a:rect l="l" t="t" r="r" b="b"/>
            <a:pathLst>
              <a:path w="1028700" h="450214">
                <a:moveTo>
                  <a:pt x="0" y="75057"/>
                </a:moveTo>
                <a:lnTo>
                  <a:pt x="5887" y="45809"/>
                </a:lnTo>
                <a:lnTo>
                  <a:pt x="21955" y="21955"/>
                </a:lnTo>
                <a:lnTo>
                  <a:pt x="45809" y="5887"/>
                </a:lnTo>
                <a:lnTo>
                  <a:pt x="75056" y="0"/>
                </a:lnTo>
                <a:lnTo>
                  <a:pt x="953643" y="0"/>
                </a:lnTo>
                <a:lnTo>
                  <a:pt x="982890" y="5887"/>
                </a:lnTo>
                <a:lnTo>
                  <a:pt x="1006744" y="21955"/>
                </a:lnTo>
                <a:lnTo>
                  <a:pt x="1022812" y="45809"/>
                </a:lnTo>
                <a:lnTo>
                  <a:pt x="1028700" y="75057"/>
                </a:lnTo>
                <a:lnTo>
                  <a:pt x="1028700" y="375031"/>
                </a:lnTo>
                <a:lnTo>
                  <a:pt x="1022812" y="404225"/>
                </a:lnTo>
                <a:lnTo>
                  <a:pt x="1006744" y="428085"/>
                </a:lnTo>
                <a:lnTo>
                  <a:pt x="982890" y="444182"/>
                </a:lnTo>
                <a:lnTo>
                  <a:pt x="953643" y="450088"/>
                </a:lnTo>
                <a:lnTo>
                  <a:pt x="75056" y="450088"/>
                </a:lnTo>
                <a:lnTo>
                  <a:pt x="45809" y="444182"/>
                </a:lnTo>
                <a:lnTo>
                  <a:pt x="21955" y="428085"/>
                </a:lnTo>
                <a:lnTo>
                  <a:pt x="5887" y="404225"/>
                </a:lnTo>
                <a:lnTo>
                  <a:pt x="0" y="375031"/>
                </a:lnTo>
                <a:lnTo>
                  <a:pt x="0" y="75057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565910" y="2713101"/>
            <a:ext cx="7150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Extreme Programming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2523870" y="2638805"/>
            <a:ext cx="1028700" cy="450215"/>
          </a:xfrm>
          <a:custGeom>
            <a:avLst/>
            <a:gdLst/>
            <a:ahLst/>
            <a:cxnLst/>
            <a:rect l="l" t="t" r="r" b="b"/>
            <a:pathLst>
              <a:path w="1028700" h="450214">
                <a:moveTo>
                  <a:pt x="0" y="75057"/>
                </a:moveTo>
                <a:lnTo>
                  <a:pt x="5905" y="45862"/>
                </a:lnTo>
                <a:lnTo>
                  <a:pt x="22002" y="22002"/>
                </a:lnTo>
                <a:lnTo>
                  <a:pt x="45862" y="5905"/>
                </a:lnTo>
                <a:lnTo>
                  <a:pt x="75056" y="0"/>
                </a:lnTo>
                <a:lnTo>
                  <a:pt x="953643" y="0"/>
                </a:lnTo>
                <a:lnTo>
                  <a:pt x="982890" y="5905"/>
                </a:lnTo>
                <a:lnTo>
                  <a:pt x="1006744" y="22002"/>
                </a:lnTo>
                <a:lnTo>
                  <a:pt x="1022812" y="45862"/>
                </a:lnTo>
                <a:lnTo>
                  <a:pt x="1028700" y="75057"/>
                </a:lnTo>
                <a:lnTo>
                  <a:pt x="1028700" y="375031"/>
                </a:lnTo>
                <a:lnTo>
                  <a:pt x="1022812" y="404278"/>
                </a:lnTo>
                <a:lnTo>
                  <a:pt x="1006744" y="428132"/>
                </a:lnTo>
                <a:lnTo>
                  <a:pt x="982890" y="444200"/>
                </a:lnTo>
                <a:lnTo>
                  <a:pt x="953643" y="450088"/>
                </a:lnTo>
                <a:lnTo>
                  <a:pt x="75056" y="450088"/>
                </a:lnTo>
                <a:lnTo>
                  <a:pt x="45862" y="444200"/>
                </a:lnTo>
                <a:lnTo>
                  <a:pt x="22002" y="428132"/>
                </a:lnTo>
                <a:lnTo>
                  <a:pt x="5905" y="404278"/>
                </a:lnTo>
                <a:lnTo>
                  <a:pt x="0" y="375031"/>
                </a:lnTo>
                <a:lnTo>
                  <a:pt x="0" y="75057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2817367" y="2780157"/>
            <a:ext cx="4445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SCRUM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409700" y="3160776"/>
            <a:ext cx="1028700" cy="450215"/>
          </a:xfrm>
          <a:custGeom>
            <a:avLst/>
            <a:gdLst/>
            <a:ahLst/>
            <a:cxnLst/>
            <a:rect l="l" t="t" r="r" b="b"/>
            <a:pathLst>
              <a:path w="1028700" h="450214">
                <a:moveTo>
                  <a:pt x="0" y="75057"/>
                </a:moveTo>
                <a:lnTo>
                  <a:pt x="5887" y="45809"/>
                </a:lnTo>
                <a:lnTo>
                  <a:pt x="21955" y="21955"/>
                </a:lnTo>
                <a:lnTo>
                  <a:pt x="45809" y="5887"/>
                </a:lnTo>
                <a:lnTo>
                  <a:pt x="75056" y="0"/>
                </a:lnTo>
                <a:lnTo>
                  <a:pt x="953643" y="0"/>
                </a:lnTo>
                <a:lnTo>
                  <a:pt x="982890" y="5887"/>
                </a:lnTo>
                <a:lnTo>
                  <a:pt x="1006744" y="21955"/>
                </a:lnTo>
                <a:lnTo>
                  <a:pt x="1022812" y="45809"/>
                </a:lnTo>
                <a:lnTo>
                  <a:pt x="1028700" y="75057"/>
                </a:lnTo>
                <a:lnTo>
                  <a:pt x="1028700" y="375031"/>
                </a:lnTo>
                <a:lnTo>
                  <a:pt x="1022812" y="404225"/>
                </a:lnTo>
                <a:lnTo>
                  <a:pt x="1006744" y="428085"/>
                </a:lnTo>
                <a:lnTo>
                  <a:pt x="982890" y="444182"/>
                </a:lnTo>
                <a:lnTo>
                  <a:pt x="953643" y="450088"/>
                </a:lnTo>
                <a:lnTo>
                  <a:pt x="75056" y="450088"/>
                </a:lnTo>
                <a:lnTo>
                  <a:pt x="45809" y="444182"/>
                </a:lnTo>
                <a:lnTo>
                  <a:pt x="21955" y="428085"/>
                </a:lnTo>
                <a:lnTo>
                  <a:pt x="5887" y="404225"/>
                </a:lnTo>
                <a:lnTo>
                  <a:pt x="0" y="375031"/>
                </a:lnTo>
                <a:lnTo>
                  <a:pt x="0" y="75057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533905" y="3233420"/>
            <a:ext cx="7810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69" marR="5080" indent="-40005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Driven Development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4038600" y="2641345"/>
            <a:ext cx="1028700" cy="450215"/>
          </a:xfrm>
          <a:custGeom>
            <a:avLst/>
            <a:gdLst/>
            <a:ahLst/>
            <a:cxnLst/>
            <a:rect l="l" t="t" r="r" b="b"/>
            <a:pathLst>
              <a:path w="1028700" h="450214">
                <a:moveTo>
                  <a:pt x="0" y="75056"/>
                </a:moveTo>
                <a:lnTo>
                  <a:pt x="5887" y="45862"/>
                </a:lnTo>
                <a:lnTo>
                  <a:pt x="21955" y="22002"/>
                </a:lnTo>
                <a:lnTo>
                  <a:pt x="45809" y="5905"/>
                </a:lnTo>
                <a:lnTo>
                  <a:pt x="75057" y="0"/>
                </a:lnTo>
                <a:lnTo>
                  <a:pt x="953642" y="0"/>
                </a:lnTo>
                <a:lnTo>
                  <a:pt x="982890" y="5905"/>
                </a:lnTo>
                <a:lnTo>
                  <a:pt x="1006744" y="22002"/>
                </a:lnTo>
                <a:lnTo>
                  <a:pt x="1022812" y="45862"/>
                </a:lnTo>
                <a:lnTo>
                  <a:pt x="1028700" y="75056"/>
                </a:lnTo>
                <a:lnTo>
                  <a:pt x="1028700" y="375157"/>
                </a:lnTo>
                <a:lnTo>
                  <a:pt x="1022812" y="404332"/>
                </a:lnTo>
                <a:lnTo>
                  <a:pt x="1006744" y="428148"/>
                </a:lnTo>
                <a:lnTo>
                  <a:pt x="982890" y="444202"/>
                </a:lnTo>
                <a:lnTo>
                  <a:pt x="953642" y="450088"/>
                </a:lnTo>
                <a:lnTo>
                  <a:pt x="75057" y="450088"/>
                </a:lnTo>
                <a:lnTo>
                  <a:pt x="45809" y="444202"/>
                </a:lnTo>
                <a:lnTo>
                  <a:pt x="21955" y="428148"/>
                </a:lnTo>
                <a:lnTo>
                  <a:pt x="5887" y="404332"/>
                </a:lnTo>
                <a:lnTo>
                  <a:pt x="0" y="375157"/>
                </a:lnTo>
                <a:lnTo>
                  <a:pt x="0" y="75056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4306570" y="2782570"/>
            <a:ext cx="495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KANBAN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4038600" y="3172332"/>
            <a:ext cx="1028700" cy="450215"/>
          </a:xfrm>
          <a:custGeom>
            <a:avLst/>
            <a:gdLst/>
            <a:ahLst/>
            <a:cxnLst/>
            <a:rect l="l" t="t" r="r" b="b"/>
            <a:pathLst>
              <a:path w="1028700" h="450214">
                <a:moveTo>
                  <a:pt x="0" y="75056"/>
                </a:moveTo>
                <a:lnTo>
                  <a:pt x="5887" y="45862"/>
                </a:lnTo>
                <a:lnTo>
                  <a:pt x="21955" y="22002"/>
                </a:lnTo>
                <a:lnTo>
                  <a:pt x="45809" y="5905"/>
                </a:lnTo>
                <a:lnTo>
                  <a:pt x="75057" y="0"/>
                </a:lnTo>
                <a:lnTo>
                  <a:pt x="953642" y="0"/>
                </a:lnTo>
                <a:lnTo>
                  <a:pt x="982890" y="5905"/>
                </a:lnTo>
                <a:lnTo>
                  <a:pt x="1006744" y="22002"/>
                </a:lnTo>
                <a:lnTo>
                  <a:pt x="1022812" y="45862"/>
                </a:lnTo>
                <a:lnTo>
                  <a:pt x="1028700" y="75056"/>
                </a:lnTo>
                <a:lnTo>
                  <a:pt x="1028700" y="375030"/>
                </a:lnTo>
                <a:lnTo>
                  <a:pt x="1022812" y="404278"/>
                </a:lnTo>
                <a:lnTo>
                  <a:pt x="1006744" y="428132"/>
                </a:lnTo>
                <a:lnTo>
                  <a:pt x="982890" y="444200"/>
                </a:lnTo>
                <a:lnTo>
                  <a:pt x="953642" y="450088"/>
                </a:lnTo>
                <a:lnTo>
                  <a:pt x="75057" y="450088"/>
                </a:lnTo>
                <a:lnTo>
                  <a:pt x="45809" y="444200"/>
                </a:lnTo>
                <a:lnTo>
                  <a:pt x="21955" y="428132"/>
                </a:lnTo>
                <a:lnTo>
                  <a:pt x="5887" y="404278"/>
                </a:lnTo>
                <a:lnTo>
                  <a:pt x="0" y="375030"/>
                </a:lnTo>
                <a:lnTo>
                  <a:pt x="0" y="75056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4234688" y="3313557"/>
            <a:ext cx="637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Hybrid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Agile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415665" y="2145030"/>
            <a:ext cx="177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Arial MT"/>
                <a:cs typeface="Arial MT"/>
              </a:rPr>
              <a:t>VS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833424" y="4977460"/>
            <a:ext cx="16383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9" name="object 29" descr=""/>
          <p:cNvSpPr txBox="1"/>
          <p:nvPr/>
        </p:nvSpPr>
        <p:spPr>
          <a:xfrm>
            <a:off x="578916" y="5322934"/>
            <a:ext cx="3320415" cy="4794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Selecting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Teams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Structure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Choosing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appropriate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structure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(Resource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planning)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764410" y="6288900"/>
            <a:ext cx="3176905" cy="551815"/>
          </a:xfrm>
          <a:prstGeom prst="rect">
            <a:avLst/>
          </a:prstGeom>
          <a:solidFill>
            <a:srgbClr val="5B9BD4"/>
          </a:solidFill>
        </p:spPr>
        <p:txBody>
          <a:bodyPr wrap="square" lIns="0" tIns="10541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830"/>
              </a:spcBef>
            </a:pPr>
            <a:r>
              <a:rPr dirty="0" sz="1950">
                <a:solidFill>
                  <a:srgbClr val="FFFFFF"/>
                </a:solidFill>
                <a:latin typeface="Arial MT"/>
                <a:cs typeface="Arial MT"/>
              </a:rPr>
              <a:t>Component</a:t>
            </a:r>
            <a:r>
              <a:rPr dirty="0" sz="1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45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r>
              <a:rPr dirty="0" sz="195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Arial MT"/>
                <a:cs typeface="Arial MT"/>
              </a:rPr>
              <a:t>Structure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749679" y="6935711"/>
            <a:ext cx="3200400" cy="551815"/>
          </a:xfrm>
          <a:prstGeom prst="rect">
            <a:avLst/>
          </a:prstGeom>
          <a:solidFill>
            <a:srgbClr val="5B9BD4"/>
          </a:solidFill>
        </p:spPr>
        <p:txBody>
          <a:bodyPr wrap="square" lIns="0" tIns="105410" rIns="0" bIns="0" rtlCol="0" vert="horz">
            <a:spAutoFit/>
          </a:bodyPr>
          <a:lstStyle/>
          <a:p>
            <a:pPr marL="231140">
              <a:lnSpc>
                <a:spcPct val="100000"/>
              </a:lnSpc>
              <a:spcBef>
                <a:spcPts val="830"/>
              </a:spcBef>
            </a:pPr>
            <a:r>
              <a:rPr dirty="0" sz="1950">
                <a:solidFill>
                  <a:srgbClr val="FFFFFF"/>
                </a:solidFill>
                <a:latin typeface="Arial MT"/>
                <a:cs typeface="Arial MT"/>
              </a:rPr>
              <a:t>Featured</a:t>
            </a:r>
            <a:r>
              <a:rPr dirty="0" sz="1950" spc="-50">
                <a:solidFill>
                  <a:srgbClr val="FFFFFF"/>
                </a:solidFill>
                <a:latin typeface="Arial MT"/>
                <a:cs typeface="Arial MT"/>
              </a:rPr>
              <a:t> Team</a:t>
            </a:r>
            <a:r>
              <a:rPr dirty="0" sz="1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Arial MT"/>
                <a:cs typeface="Arial MT"/>
              </a:rPr>
              <a:t>Structure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63766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251896" y="2338641"/>
            <a:ext cx="1636395" cy="1028065"/>
            <a:chOff x="4251896" y="2338641"/>
            <a:chExt cx="1636395" cy="1028065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3484" y="2936621"/>
              <a:ext cx="1632839" cy="42811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253484" y="2936621"/>
              <a:ext cx="1633220" cy="428625"/>
            </a:xfrm>
            <a:custGeom>
              <a:avLst/>
              <a:gdLst/>
              <a:ahLst/>
              <a:cxnLst/>
              <a:rect l="l" t="t" r="r" b="b"/>
              <a:pathLst>
                <a:path w="1633220" h="428625">
                  <a:moveTo>
                    <a:pt x="1632839" y="71374"/>
                  </a:moveTo>
                  <a:lnTo>
                    <a:pt x="1600230" y="91393"/>
                  </a:lnTo>
                  <a:lnTo>
                    <a:pt x="1545109" y="103573"/>
                  </a:lnTo>
                  <a:lnTo>
                    <a:pt x="1466474" y="114540"/>
                  </a:lnTo>
                  <a:lnTo>
                    <a:pt x="1419194" y="119493"/>
                  </a:lnTo>
                  <a:lnTo>
                    <a:pt x="1367062" y="124053"/>
                  </a:lnTo>
                  <a:lnTo>
                    <a:pt x="1310419" y="128189"/>
                  </a:lnTo>
                  <a:lnTo>
                    <a:pt x="1249608" y="131871"/>
                  </a:lnTo>
                  <a:lnTo>
                    <a:pt x="1184970" y="135069"/>
                  </a:lnTo>
                  <a:lnTo>
                    <a:pt x="1116848" y="137753"/>
                  </a:lnTo>
                  <a:lnTo>
                    <a:pt x="1045584" y="139893"/>
                  </a:lnTo>
                  <a:lnTo>
                    <a:pt x="971519" y="141459"/>
                  </a:lnTo>
                  <a:lnTo>
                    <a:pt x="894995" y="142420"/>
                  </a:lnTo>
                  <a:lnTo>
                    <a:pt x="816355" y="142748"/>
                  </a:lnTo>
                  <a:lnTo>
                    <a:pt x="737737" y="142420"/>
                  </a:lnTo>
                  <a:lnTo>
                    <a:pt x="661232" y="141459"/>
                  </a:lnTo>
                  <a:lnTo>
                    <a:pt x="587183" y="139893"/>
                  </a:lnTo>
                  <a:lnTo>
                    <a:pt x="515933" y="137753"/>
                  </a:lnTo>
                  <a:lnTo>
                    <a:pt x="447823" y="135069"/>
                  </a:lnTo>
                  <a:lnTo>
                    <a:pt x="383195" y="131871"/>
                  </a:lnTo>
                  <a:lnTo>
                    <a:pt x="322393" y="128189"/>
                  </a:lnTo>
                  <a:lnTo>
                    <a:pt x="265757" y="124053"/>
                  </a:lnTo>
                  <a:lnTo>
                    <a:pt x="213630" y="119493"/>
                  </a:lnTo>
                  <a:lnTo>
                    <a:pt x="166355" y="114540"/>
                  </a:lnTo>
                  <a:lnTo>
                    <a:pt x="124273" y="109223"/>
                  </a:lnTo>
                  <a:lnTo>
                    <a:pt x="57057" y="97620"/>
                  </a:lnTo>
                  <a:lnTo>
                    <a:pt x="14720" y="84923"/>
                  </a:lnTo>
                  <a:lnTo>
                    <a:pt x="3737" y="78240"/>
                  </a:lnTo>
                  <a:lnTo>
                    <a:pt x="0" y="71374"/>
                  </a:lnTo>
                </a:path>
                <a:path w="1633220" h="428625">
                  <a:moveTo>
                    <a:pt x="0" y="71374"/>
                  </a:moveTo>
                  <a:lnTo>
                    <a:pt x="32607" y="51309"/>
                  </a:lnTo>
                  <a:lnTo>
                    <a:pt x="87726" y="39118"/>
                  </a:lnTo>
                  <a:lnTo>
                    <a:pt x="166355" y="28153"/>
                  </a:lnTo>
                  <a:lnTo>
                    <a:pt x="213630" y="23203"/>
                  </a:lnTo>
                  <a:lnTo>
                    <a:pt x="265757" y="18649"/>
                  </a:lnTo>
                  <a:lnTo>
                    <a:pt x="322393" y="14520"/>
                  </a:lnTo>
                  <a:lnTo>
                    <a:pt x="383195" y="10846"/>
                  </a:lnTo>
                  <a:lnTo>
                    <a:pt x="447823" y="7655"/>
                  </a:lnTo>
                  <a:lnTo>
                    <a:pt x="515933" y="4978"/>
                  </a:lnTo>
                  <a:lnTo>
                    <a:pt x="587183" y="2844"/>
                  </a:lnTo>
                  <a:lnTo>
                    <a:pt x="661232" y="1284"/>
                  </a:lnTo>
                  <a:lnTo>
                    <a:pt x="737737" y="325"/>
                  </a:lnTo>
                  <a:lnTo>
                    <a:pt x="816355" y="0"/>
                  </a:lnTo>
                  <a:lnTo>
                    <a:pt x="894995" y="325"/>
                  </a:lnTo>
                  <a:lnTo>
                    <a:pt x="971519" y="1284"/>
                  </a:lnTo>
                  <a:lnTo>
                    <a:pt x="1045584" y="2844"/>
                  </a:lnTo>
                  <a:lnTo>
                    <a:pt x="1116848" y="4978"/>
                  </a:lnTo>
                  <a:lnTo>
                    <a:pt x="1184970" y="7655"/>
                  </a:lnTo>
                  <a:lnTo>
                    <a:pt x="1249608" y="10846"/>
                  </a:lnTo>
                  <a:lnTo>
                    <a:pt x="1310419" y="14520"/>
                  </a:lnTo>
                  <a:lnTo>
                    <a:pt x="1367062" y="18649"/>
                  </a:lnTo>
                  <a:lnTo>
                    <a:pt x="1419194" y="23203"/>
                  </a:lnTo>
                  <a:lnTo>
                    <a:pt x="1466474" y="28153"/>
                  </a:lnTo>
                  <a:lnTo>
                    <a:pt x="1508560" y="33467"/>
                  </a:lnTo>
                  <a:lnTo>
                    <a:pt x="1575780" y="45075"/>
                  </a:lnTo>
                  <a:lnTo>
                    <a:pt x="1618118" y="57789"/>
                  </a:lnTo>
                  <a:lnTo>
                    <a:pt x="1632839" y="71374"/>
                  </a:lnTo>
                  <a:lnTo>
                    <a:pt x="1632839" y="356742"/>
                  </a:lnTo>
                  <a:lnTo>
                    <a:pt x="1600230" y="376807"/>
                  </a:lnTo>
                  <a:lnTo>
                    <a:pt x="1545109" y="388998"/>
                  </a:lnTo>
                  <a:lnTo>
                    <a:pt x="1466474" y="399963"/>
                  </a:lnTo>
                  <a:lnTo>
                    <a:pt x="1419194" y="404913"/>
                  </a:lnTo>
                  <a:lnTo>
                    <a:pt x="1367062" y="409467"/>
                  </a:lnTo>
                  <a:lnTo>
                    <a:pt x="1310419" y="413596"/>
                  </a:lnTo>
                  <a:lnTo>
                    <a:pt x="1249608" y="417270"/>
                  </a:lnTo>
                  <a:lnTo>
                    <a:pt x="1184970" y="420461"/>
                  </a:lnTo>
                  <a:lnTo>
                    <a:pt x="1116848" y="423138"/>
                  </a:lnTo>
                  <a:lnTo>
                    <a:pt x="1045584" y="425272"/>
                  </a:lnTo>
                  <a:lnTo>
                    <a:pt x="971519" y="426832"/>
                  </a:lnTo>
                  <a:lnTo>
                    <a:pt x="894995" y="427791"/>
                  </a:lnTo>
                  <a:lnTo>
                    <a:pt x="816355" y="428116"/>
                  </a:lnTo>
                  <a:lnTo>
                    <a:pt x="737737" y="427791"/>
                  </a:lnTo>
                  <a:lnTo>
                    <a:pt x="661232" y="426832"/>
                  </a:lnTo>
                  <a:lnTo>
                    <a:pt x="587183" y="425272"/>
                  </a:lnTo>
                  <a:lnTo>
                    <a:pt x="515933" y="423138"/>
                  </a:lnTo>
                  <a:lnTo>
                    <a:pt x="447823" y="420461"/>
                  </a:lnTo>
                  <a:lnTo>
                    <a:pt x="383195" y="417270"/>
                  </a:lnTo>
                  <a:lnTo>
                    <a:pt x="322393" y="413596"/>
                  </a:lnTo>
                  <a:lnTo>
                    <a:pt x="265757" y="409467"/>
                  </a:lnTo>
                  <a:lnTo>
                    <a:pt x="213630" y="404913"/>
                  </a:lnTo>
                  <a:lnTo>
                    <a:pt x="166355" y="399963"/>
                  </a:lnTo>
                  <a:lnTo>
                    <a:pt x="124273" y="394649"/>
                  </a:lnTo>
                  <a:lnTo>
                    <a:pt x="57057" y="383041"/>
                  </a:lnTo>
                  <a:lnTo>
                    <a:pt x="14720" y="370327"/>
                  </a:lnTo>
                  <a:lnTo>
                    <a:pt x="0" y="356742"/>
                  </a:lnTo>
                  <a:lnTo>
                    <a:pt x="0" y="71374"/>
                  </a:lnTo>
                  <a:close/>
                </a:path>
              </a:pathLst>
            </a:custGeom>
            <a:ln w="31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3484" y="2638425"/>
              <a:ext cx="1632839" cy="42824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253484" y="2638425"/>
              <a:ext cx="1633220" cy="428625"/>
            </a:xfrm>
            <a:custGeom>
              <a:avLst/>
              <a:gdLst/>
              <a:ahLst/>
              <a:cxnLst/>
              <a:rect l="l" t="t" r="r" b="b"/>
              <a:pathLst>
                <a:path w="1633220" h="428625">
                  <a:moveTo>
                    <a:pt x="1632839" y="71374"/>
                  </a:moveTo>
                  <a:lnTo>
                    <a:pt x="1600230" y="91393"/>
                  </a:lnTo>
                  <a:lnTo>
                    <a:pt x="1545109" y="103573"/>
                  </a:lnTo>
                  <a:lnTo>
                    <a:pt x="1466474" y="114540"/>
                  </a:lnTo>
                  <a:lnTo>
                    <a:pt x="1419194" y="119493"/>
                  </a:lnTo>
                  <a:lnTo>
                    <a:pt x="1367062" y="124053"/>
                  </a:lnTo>
                  <a:lnTo>
                    <a:pt x="1310419" y="128189"/>
                  </a:lnTo>
                  <a:lnTo>
                    <a:pt x="1249608" y="131871"/>
                  </a:lnTo>
                  <a:lnTo>
                    <a:pt x="1184970" y="135069"/>
                  </a:lnTo>
                  <a:lnTo>
                    <a:pt x="1116848" y="137753"/>
                  </a:lnTo>
                  <a:lnTo>
                    <a:pt x="1045584" y="139893"/>
                  </a:lnTo>
                  <a:lnTo>
                    <a:pt x="971519" y="141459"/>
                  </a:lnTo>
                  <a:lnTo>
                    <a:pt x="894995" y="142420"/>
                  </a:lnTo>
                  <a:lnTo>
                    <a:pt x="816355" y="142748"/>
                  </a:lnTo>
                  <a:lnTo>
                    <a:pt x="737737" y="142420"/>
                  </a:lnTo>
                  <a:lnTo>
                    <a:pt x="661232" y="141459"/>
                  </a:lnTo>
                  <a:lnTo>
                    <a:pt x="587183" y="139893"/>
                  </a:lnTo>
                  <a:lnTo>
                    <a:pt x="515933" y="137753"/>
                  </a:lnTo>
                  <a:lnTo>
                    <a:pt x="447823" y="135069"/>
                  </a:lnTo>
                  <a:lnTo>
                    <a:pt x="383195" y="131871"/>
                  </a:lnTo>
                  <a:lnTo>
                    <a:pt x="322393" y="128189"/>
                  </a:lnTo>
                  <a:lnTo>
                    <a:pt x="265757" y="124053"/>
                  </a:lnTo>
                  <a:lnTo>
                    <a:pt x="213630" y="119493"/>
                  </a:lnTo>
                  <a:lnTo>
                    <a:pt x="166355" y="114540"/>
                  </a:lnTo>
                  <a:lnTo>
                    <a:pt x="124273" y="109223"/>
                  </a:lnTo>
                  <a:lnTo>
                    <a:pt x="57057" y="97620"/>
                  </a:lnTo>
                  <a:lnTo>
                    <a:pt x="14720" y="84923"/>
                  </a:lnTo>
                  <a:lnTo>
                    <a:pt x="3737" y="78240"/>
                  </a:lnTo>
                  <a:lnTo>
                    <a:pt x="0" y="71374"/>
                  </a:lnTo>
                </a:path>
                <a:path w="1633220" h="428625">
                  <a:moveTo>
                    <a:pt x="0" y="71374"/>
                  </a:moveTo>
                  <a:lnTo>
                    <a:pt x="32607" y="51354"/>
                  </a:lnTo>
                  <a:lnTo>
                    <a:pt x="87726" y="39174"/>
                  </a:lnTo>
                  <a:lnTo>
                    <a:pt x="166355" y="28207"/>
                  </a:lnTo>
                  <a:lnTo>
                    <a:pt x="213630" y="23254"/>
                  </a:lnTo>
                  <a:lnTo>
                    <a:pt x="265757" y="18694"/>
                  </a:lnTo>
                  <a:lnTo>
                    <a:pt x="322393" y="14558"/>
                  </a:lnTo>
                  <a:lnTo>
                    <a:pt x="383195" y="10876"/>
                  </a:lnTo>
                  <a:lnTo>
                    <a:pt x="447823" y="7678"/>
                  </a:lnTo>
                  <a:lnTo>
                    <a:pt x="515933" y="4994"/>
                  </a:lnTo>
                  <a:lnTo>
                    <a:pt x="587183" y="2854"/>
                  </a:lnTo>
                  <a:lnTo>
                    <a:pt x="661232" y="1288"/>
                  </a:lnTo>
                  <a:lnTo>
                    <a:pt x="737737" y="327"/>
                  </a:lnTo>
                  <a:lnTo>
                    <a:pt x="816355" y="0"/>
                  </a:lnTo>
                  <a:lnTo>
                    <a:pt x="894995" y="327"/>
                  </a:lnTo>
                  <a:lnTo>
                    <a:pt x="971519" y="1288"/>
                  </a:lnTo>
                  <a:lnTo>
                    <a:pt x="1045584" y="2854"/>
                  </a:lnTo>
                  <a:lnTo>
                    <a:pt x="1116848" y="4994"/>
                  </a:lnTo>
                  <a:lnTo>
                    <a:pt x="1184970" y="7678"/>
                  </a:lnTo>
                  <a:lnTo>
                    <a:pt x="1249608" y="10876"/>
                  </a:lnTo>
                  <a:lnTo>
                    <a:pt x="1310419" y="14558"/>
                  </a:lnTo>
                  <a:lnTo>
                    <a:pt x="1367062" y="18694"/>
                  </a:lnTo>
                  <a:lnTo>
                    <a:pt x="1419194" y="23254"/>
                  </a:lnTo>
                  <a:lnTo>
                    <a:pt x="1466474" y="28207"/>
                  </a:lnTo>
                  <a:lnTo>
                    <a:pt x="1508560" y="33524"/>
                  </a:lnTo>
                  <a:lnTo>
                    <a:pt x="1575780" y="45127"/>
                  </a:lnTo>
                  <a:lnTo>
                    <a:pt x="1618118" y="57824"/>
                  </a:lnTo>
                  <a:lnTo>
                    <a:pt x="1632839" y="71374"/>
                  </a:lnTo>
                  <a:lnTo>
                    <a:pt x="1632839" y="356870"/>
                  </a:lnTo>
                  <a:lnTo>
                    <a:pt x="1600230" y="376889"/>
                  </a:lnTo>
                  <a:lnTo>
                    <a:pt x="1545109" y="389069"/>
                  </a:lnTo>
                  <a:lnTo>
                    <a:pt x="1466474" y="400036"/>
                  </a:lnTo>
                  <a:lnTo>
                    <a:pt x="1419194" y="404989"/>
                  </a:lnTo>
                  <a:lnTo>
                    <a:pt x="1367062" y="409549"/>
                  </a:lnTo>
                  <a:lnTo>
                    <a:pt x="1310419" y="413685"/>
                  </a:lnTo>
                  <a:lnTo>
                    <a:pt x="1249608" y="417367"/>
                  </a:lnTo>
                  <a:lnTo>
                    <a:pt x="1184970" y="420565"/>
                  </a:lnTo>
                  <a:lnTo>
                    <a:pt x="1116848" y="423249"/>
                  </a:lnTo>
                  <a:lnTo>
                    <a:pt x="1045584" y="425389"/>
                  </a:lnTo>
                  <a:lnTo>
                    <a:pt x="971519" y="426955"/>
                  </a:lnTo>
                  <a:lnTo>
                    <a:pt x="894995" y="427916"/>
                  </a:lnTo>
                  <a:lnTo>
                    <a:pt x="816355" y="428244"/>
                  </a:lnTo>
                  <a:lnTo>
                    <a:pt x="737737" y="427916"/>
                  </a:lnTo>
                  <a:lnTo>
                    <a:pt x="661232" y="426955"/>
                  </a:lnTo>
                  <a:lnTo>
                    <a:pt x="587183" y="425389"/>
                  </a:lnTo>
                  <a:lnTo>
                    <a:pt x="515933" y="423249"/>
                  </a:lnTo>
                  <a:lnTo>
                    <a:pt x="447823" y="420565"/>
                  </a:lnTo>
                  <a:lnTo>
                    <a:pt x="383195" y="417367"/>
                  </a:lnTo>
                  <a:lnTo>
                    <a:pt x="322393" y="413685"/>
                  </a:lnTo>
                  <a:lnTo>
                    <a:pt x="265757" y="409549"/>
                  </a:lnTo>
                  <a:lnTo>
                    <a:pt x="213630" y="404989"/>
                  </a:lnTo>
                  <a:lnTo>
                    <a:pt x="166355" y="400036"/>
                  </a:lnTo>
                  <a:lnTo>
                    <a:pt x="124273" y="394719"/>
                  </a:lnTo>
                  <a:lnTo>
                    <a:pt x="57057" y="383116"/>
                  </a:lnTo>
                  <a:lnTo>
                    <a:pt x="14720" y="370419"/>
                  </a:lnTo>
                  <a:lnTo>
                    <a:pt x="0" y="356870"/>
                  </a:lnTo>
                  <a:lnTo>
                    <a:pt x="0" y="71374"/>
                  </a:lnTo>
                  <a:close/>
                </a:path>
              </a:pathLst>
            </a:custGeom>
            <a:ln w="317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3484" y="2340229"/>
              <a:ext cx="1632839" cy="42824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253484" y="2340229"/>
              <a:ext cx="1633220" cy="428625"/>
            </a:xfrm>
            <a:custGeom>
              <a:avLst/>
              <a:gdLst/>
              <a:ahLst/>
              <a:cxnLst/>
              <a:rect l="l" t="t" r="r" b="b"/>
              <a:pathLst>
                <a:path w="1633220" h="428625">
                  <a:moveTo>
                    <a:pt x="1632839" y="71374"/>
                  </a:moveTo>
                  <a:lnTo>
                    <a:pt x="1600230" y="91438"/>
                  </a:lnTo>
                  <a:lnTo>
                    <a:pt x="1545109" y="103629"/>
                  </a:lnTo>
                  <a:lnTo>
                    <a:pt x="1466474" y="114594"/>
                  </a:lnTo>
                  <a:lnTo>
                    <a:pt x="1419194" y="119544"/>
                  </a:lnTo>
                  <a:lnTo>
                    <a:pt x="1367062" y="124098"/>
                  </a:lnTo>
                  <a:lnTo>
                    <a:pt x="1310419" y="128227"/>
                  </a:lnTo>
                  <a:lnTo>
                    <a:pt x="1249608" y="131901"/>
                  </a:lnTo>
                  <a:lnTo>
                    <a:pt x="1184970" y="135092"/>
                  </a:lnTo>
                  <a:lnTo>
                    <a:pt x="1116848" y="137769"/>
                  </a:lnTo>
                  <a:lnTo>
                    <a:pt x="1045584" y="139903"/>
                  </a:lnTo>
                  <a:lnTo>
                    <a:pt x="971519" y="141463"/>
                  </a:lnTo>
                  <a:lnTo>
                    <a:pt x="894995" y="142422"/>
                  </a:lnTo>
                  <a:lnTo>
                    <a:pt x="816355" y="142748"/>
                  </a:lnTo>
                  <a:lnTo>
                    <a:pt x="737737" y="142422"/>
                  </a:lnTo>
                  <a:lnTo>
                    <a:pt x="661232" y="141463"/>
                  </a:lnTo>
                  <a:lnTo>
                    <a:pt x="587183" y="139903"/>
                  </a:lnTo>
                  <a:lnTo>
                    <a:pt x="515933" y="137769"/>
                  </a:lnTo>
                  <a:lnTo>
                    <a:pt x="447823" y="135092"/>
                  </a:lnTo>
                  <a:lnTo>
                    <a:pt x="383195" y="131901"/>
                  </a:lnTo>
                  <a:lnTo>
                    <a:pt x="322393" y="128227"/>
                  </a:lnTo>
                  <a:lnTo>
                    <a:pt x="265757" y="124098"/>
                  </a:lnTo>
                  <a:lnTo>
                    <a:pt x="213630" y="119544"/>
                  </a:lnTo>
                  <a:lnTo>
                    <a:pt x="166355" y="114594"/>
                  </a:lnTo>
                  <a:lnTo>
                    <a:pt x="124273" y="109280"/>
                  </a:lnTo>
                  <a:lnTo>
                    <a:pt x="57057" y="97672"/>
                  </a:lnTo>
                  <a:lnTo>
                    <a:pt x="14720" y="84958"/>
                  </a:lnTo>
                  <a:lnTo>
                    <a:pt x="3737" y="78260"/>
                  </a:lnTo>
                  <a:lnTo>
                    <a:pt x="0" y="71374"/>
                  </a:lnTo>
                </a:path>
                <a:path w="1633220" h="428625">
                  <a:moveTo>
                    <a:pt x="0" y="71374"/>
                  </a:moveTo>
                  <a:lnTo>
                    <a:pt x="32607" y="51354"/>
                  </a:lnTo>
                  <a:lnTo>
                    <a:pt x="87726" y="39174"/>
                  </a:lnTo>
                  <a:lnTo>
                    <a:pt x="166355" y="28207"/>
                  </a:lnTo>
                  <a:lnTo>
                    <a:pt x="213630" y="23254"/>
                  </a:lnTo>
                  <a:lnTo>
                    <a:pt x="265757" y="18694"/>
                  </a:lnTo>
                  <a:lnTo>
                    <a:pt x="322393" y="14558"/>
                  </a:lnTo>
                  <a:lnTo>
                    <a:pt x="383195" y="10876"/>
                  </a:lnTo>
                  <a:lnTo>
                    <a:pt x="447823" y="7678"/>
                  </a:lnTo>
                  <a:lnTo>
                    <a:pt x="515933" y="4994"/>
                  </a:lnTo>
                  <a:lnTo>
                    <a:pt x="587183" y="2854"/>
                  </a:lnTo>
                  <a:lnTo>
                    <a:pt x="661232" y="1288"/>
                  </a:lnTo>
                  <a:lnTo>
                    <a:pt x="737737" y="327"/>
                  </a:lnTo>
                  <a:lnTo>
                    <a:pt x="816355" y="0"/>
                  </a:lnTo>
                  <a:lnTo>
                    <a:pt x="894995" y="327"/>
                  </a:lnTo>
                  <a:lnTo>
                    <a:pt x="971519" y="1288"/>
                  </a:lnTo>
                  <a:lnTo>
                    <a:pt x="1045584" y="2854"/>
                  </a:lnTo>
                  <a:lnTo>
                    <a:pt x="1116848" y="4994"/>
                  </a:lnTo>
                  <a:lnTo>
                    <a:pt x="1184970" y="7678"/>
                  </a:lnTo>
                  <a:lnTo>
                    <a:pt x="1249608" y="10876"/>
                  </a:lnTo>
                  <a:lnTo>
                    <a:pt x="1310419" y="14558"/>
                  </a:lnTo>
                  <a:lnTo>
                    <a:pt x="1367062" y="18694"/>
                  </a:lnTo>
                  <a:lnTo>
                    <a:pt x="1419194" y="23254"/>
                  </a:lnTo>
                  <a:lnTo>
                    <a:pt x="1466474" y="28207"/>
                  </a:lnTo>
                  <a:lnTo>
                    <a:pt x="1508560" y="33524"/>
                  </a:lnTo>
                  <a:lnTo>
                    <a:pt x="1575780" y="45127"/>
                  </a:lnTo>
                  <a:lnTo>
                    <a:pt x="1618118" y="57824"/>
                  </a:lnTo>
                  <a:lnTo>
                    <a:pt x="1632839" y="71374"/>
                  </a:lnTo>
                  <a:lnTo>
                    <a:pt x="1632839" y="356870"/>
                  </a:lnTo>
                  <a:lnTo>
                    <a:pt x="1600230" y="376889"/>
                  </a:lnTo>
                  <a:lnTo>
                    <a:pt x="1545109" y="389069"/>
                  </a:lnTo>
                  <a:lnTo>
                    <a:pt x="1466474" y="400036"/>
                  </a:lnTo>
                  <a:lnTo>
                    <a:pt x="1419194" y="404989"/>
                  </a:lnTo>
                  <a:lnTo>
                    <a:pt x="1367062" y="409549"/>
                  </a:lnTo>
                  <a:lnTo>
                    <a:pt x="1310419" y="413685"/>
                  </a:lnTo>
                  <a:lnTo>
                    <a:pt x="1249608" y="417367"/>
                  </a:lnTo>
                  <a:lnTo>
                    <a:pt x="1184970" y="420565"/>
                  </a:lnTo>
                  <a:lnTo>
                    <a:pt x="1116848" y="423249"/>
                  </a:lnTo>
                  <a:lnTo>
                    <a:pt x="1045584" y="425389"/>
                  </a:lnTo>
                  <a:lnTo>
                    <a:pt x="971519" y="426955"/>
                  </a:lnTo>
                  <a:lnTo>
                    <a:pt x="894995" y="427916"/>
                  </a:lnTo>
                  <a:lnTo>
                    <a:pt x="816355" y="428244"/>
                  </a:lnTo>
                  <a:lnTo>
                    <a:pt x="737737" y="427916"/>
                  </a:lnTo>
                  <a:lnTo>
                    <a:pt x="661232" y="426955"/>
                  </a:lnTo>
                  <a:lnTo>
                    <a:pt x="587183" y="425389"/>
                  </a:lnTo>
                  <a:lnTo>
                    <a:pt x="515933" y="423249"/>
                  </a:lnTo>
                  <a:lnTo>
                    <a:pt x="447823" y="420565"/>
                  </a:lnTo>
                  <a:lnTo>
                    <a:pt x="383195" y="417367"/>
                  </a:lnTo>
                  <a:lnTo>
                    <a:pt x="322393" y="413685"/>
                  </a:lnTo>
                  <a:lnTo>
                    <a:pt x="265757" y="409549"/>
                  </a:lnTo>
                  <a:lnTo>
                    <a:pt x="213630" y="404989"/>
                  </a:lnTo>
                  <a:lnTo>
                    <a:pt x="166355" y="400036"/>
                  </a:lnTo>
                  <a:lnTo>
                    <a:pt x="124273" y="394719"/>
                  </a:lnTo>
                  <a:lnTo>
                    <a:pt x="57057" y="383116"/>
                  </a:lnTo>
                  <a:lnTo>
                    <a:pt x="14720" y="370419"/>
                  </a:lnTo>
                  <a:lnTo>
                    <a:pt x="0" y="356870"/>
                  </a:lnTo>
                  <a:lnTo>
                    <a:pt x="0" y="71374"/>
                  </a:lnTo>
                  <a:close/>
                </a:path>
              </a:pathLst>
            </a:custGeom>
            <a:ln w="31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78916" y="1345616"/>
            <a:ext cx="5264150" cy="22790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Component</a:t>
            </a:r>
            <a:r>
              <a:rPr dirty="0" sz="1000" spc="-5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teams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Made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up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experts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specialize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specific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domain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Architecture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diagram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represented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layer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system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Advantages: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work is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always done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people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specifically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qualified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work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work is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done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efficiently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low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defect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density</a:t>
            </a:r>
            <a:endParaRPr sz="800">
              <a:latin typeface="Arial MT"/>
              <a:cs typeface="Arial MT"/>
            </a:endParaRPr>
          </a:p>
          <a:p>
            <a:pPr algn="ctr" marL="3716654">
              <a:lnSpc>
                <a:spcPct val="100000"/>
              </a:lnSpc>
              <a:spcBef>
                <a:spcPts val="660"/>
              </a:spcBef>
            </a:pP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Team1</a:t>
            </a:r>
            <a:r>
              <a:rPr dirty="0" sz="900" spc="-20">
                <a:solidFill>
                  <a:srgbClr val="FFFFFF"/>
                </a:solidFill>
                <a:latin typeface="Segoe UI"/>
                <a:cs typeface="Segoe UI"/>
              </a:rPr>
              <a:t> (UI)</a:t>
            </a:r>
            <a:endParaRPr sz="900">
              <a:latin typeface="Segoe UI"/>
              <a:cs typeface="Segoe UI"/>
            </a:endParaRPr>
          </a:p>
          <a:p>
            <a:pPr algn="ctr" marL="3928745" marR="202565">
              <a:lnSpc>
                <a:spcPct val="217300"/>
              </a:lnSpc>
              <a:spcBef>
                <a:spcPts val="5"/>
              </a:spcBef>
            </a:pP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Team2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(Business</a:t>
            </a:r>
            <a:r>
              <a:rPr dirty="0" sz="900" spc="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logic) 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Team3</a:t>
            </a:r>
            <a:r>
              <a:rPr dirty="0" sz="900" spc="-20">
                <a:solidFill>
                  <a:srgbClr val="FFFFFF"/>
                </a:solidFill>
                <a:latin typeface="Segoe UI"/>
                <a:cs typeface="Segoe UI"/>
              </a:rPr>
              <a:t> (DB)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900">
              <a:latin typeface="Segoe UI"/>
              <a:cs typeface="Segoe UI"/>
            </a:endParaRPr>
          </a:p>
          <a:p>
            <a:pPr algn="r" marR="5080">
              <a:lnSpc>
                <a:spcPct val="100000"/>
              </a:lnSpc>
            </a:pPr>
            <a:r>
              <a:rPr dirty="0" sz="1100" b="1">
                <a:latin typeface="Segoe UI"/>
                <a:cs typeface="Segoe UI"/>
              </a:rPr>
              <a:t>Architecture</a:t>
            </a:r>
            <a:r>
              <a:rPr dirty="0" sz="1100" spc="-60" b="1">
                <a:latin typeface="Segoe UI"/>
                <a:cs typeface="Segoe UI"/>
              </a:rPr>
              <a:t> </a:t>
            </a:r>
            <a:r>
              <a:rPr dirty="0" sz="1100" spc="-10" b="1">
                <a:latin typeface="Segoe UI"/>
                <a:cs typeface="Segoe UI"/>
              </a:rPr>
              <a:t>diagram</a:t>
            </a:r>
            <a:endParaRPr sz="1100">
              <a:latin typeface="Segoe UI"/>
              <a:cs typeface="Segoe UI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833424" y="4977460"/>
            <a:ext cx="16383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78916" y="5322934"/>
            <a:ext cx="3547110" cy="16681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Component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teams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Disadvantages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ts val="1025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Working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Component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Teams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increases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amount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-25">
                <a:latin typeface="Arial MT"/>
                <a:cs typeface="Arial MT"/>
              </a:rPr>
              <a:t> it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30"/>
              </a:lnSpc>
            </a:pPr>
            <a:r>
              <a:rPr dirty="0" sz="900">
                <a:latin typeface="Arial MT"/>
                <a:cs typeface="Arial MT"/>
              </a:rPr>
              <a:t>takes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deliver</a:t>
            </a:r>
            <a:endParaRPr sz="900">
              <a:latin typeface="Arial MT"/>
              <a:cs typeface="Arial MT"/>
            </a:endParaRPr>
          </a:p>
          <a:p>
            <a:pPr marL="391160" marR="15049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working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Component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Teams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negative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effect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on </a:t>
            </a:r>
            <a:r>
              <a:rPr dirty="0" sz="900">
                <a:latin typeface="Arial MT"/>
                <a:cs typeface="Arial MT"/>
              </a:rPr>
              <a:t>productivity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cannot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emphasized</a:t>
            </a:r>
            <a:endParaRPr sz="900">
              <a:latin typeface="Arial MT"/>
              <a:cs typeface="Arial MT"/>
            </a:endParaRPr>
          </a:p>
          <a:p>
            <a:pPr lvl="1" marL="619760" marR="123189" indent="-114300">
              <a:lnSpc>
                <a:spcPts val="860"/>
              </a:lnSpc>
              <a:spcBef>
                <a:spcPts val="29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(Example: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if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business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logic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starts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piece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work,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For</a:t>
            </a:r>
            <a:r>
              <a:rPr dirty="0" sz="800">
                <a:latin typeface="Arial MT"/>
                <a:cs typeface="Arial MT"/>
              </a:rPr>
              <a:t> them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complete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work,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need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define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interface between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their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layer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other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layers)</a:t>
            </a:r>
            <a:endParaRPr sz="800">
              <a:latin typeface="Arial MT"/>
              <a:cs typeface="Arial MT"/>
            </a:endParaRPr>
          </a:p>
          <a:p>
            <a:pPr marL="391160" marR="135890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Running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Component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Teams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leaves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vulnerable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risk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perform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non-optimum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expense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items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valuable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business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335335" y="6904799"/>
            <a:ext cx="1636395" cy="431800"/>
            <a:chOff x="4335335" y="6904799"/>
            <a:chExt cx="1636395" cy="431800"/>
          </a:xfrm>
        </p:grpSpPr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36922" y="6906386"/>
              <a:ext cx="1632839" cy="428244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4336922" y="6906386"/>
              <a:ext cx="1633220" cy="428625"/>
            </a:xfrm>
            <a:custGeom>
              <a:avLst/>
              <a:gdLst/>
              <a:ahLst/>
              <a:cxnLst/>
              <a:rect l="l" t="t" r="r" b="b"/>
              <a:pathLst>
                <a:path w="1633220" h="428625">
                  <a:moveTo>
                    <a:pt x="1632839" y="71374"/>
                  </a:moveTo>
                  <a:lnTo>
                    <a:pt x="1600230" y="91438"/>
                  </a:lnTo>
                  <a:lnTo>
                    <a:pt x="1545109" y="103629"/>
                  </a:lnTo>
                  <a:lnTo>
                    <a:pt x="1466474" y="114594"/>
                  </a:lnTo>
                  <a:lnTo>
                    <a:pt x="1419194" y="119544"/>
                  </a:lnTo>
                  <a:lnTo>
                    <a:pt x="1367062" y="124098"/>
                  </a:lnTo>
                  <a:lnTo>
                    <a:pt x="1310419" y="128227"/>
                  </a:lnTo>
                  <a:lnTo>
                    <a:pt x="1249608" y="131901"/>
                  </a:lnTo>
                  <a:lnTo>
                    <a:pt x="1184970" y="135092"/>
                  </a:lnTo>
                  <a:lnTo>
                    <a:pt x="1116848" y="137769"/>
                  </a:lnTo>
                  <a:lnTo>
                    <a:pt x="1045584" y="139903"/>
                  </a:lnTo>
                  <a:lnTo>
                    <a:pt x="971519" y="141463"/>
                  </a:lnTo>
                  <a:lnTo>
                    <a:pt x="894995" y="142422"/>
                  </a:lnTo>
                  <a:lnTo>
                    <a:pt x="816355" y="142748"/>
                  </a:lnTo>
                  <a:lnTo>
                    <a:pt x="737737" y="142422"/>
                  </a:lnTo>
                  <a:lnTo>
                    <a:pt x="661232" y="141463"/>
                  </a:lnTo>
                  <a:lnTo>
                    <a:pt x="587183" y="139903"/>
                  </a:lnTo>
                  <a:lnTo>
                    <a:pt x="515933" y="137769"/>
                  </a:lnTo>
                  <a:lnTo>
                    <a:pt x="447823" y="135092"/>
                  </a:lnTo>
                  <a:lnTo>
                    <a:pt x="383195" y="131901"/>
                  </a:lnTo>
                  <a:lnTo>
                    <a:pt x="322393" y="128227"/>
                  </a:lnTo>
                  <a:lnTo>
                    <a:pt x="265757" y="124098"/>
                  </a:lnTo>
                  <a:lnTo>
                    <a:pt x="213630" y="119544"/>
                  </a:lnTo>
                  <a:lnTo>
                    <a:pt x="166355" y="114594"/>
                  </a:lnTo>
                  <a:lnTo>
                    <a:pt x="124273" y="109280"/>
                  </a:lnTo>
                  <a:lnTo>
                    <a:pt x="57057" y="97672"/>
                  </a:lnTo>
                  <a:lnTo>
                    <a:pt x="14720" y="84958"/>
                  </a:lnTo>
                  <a:lnTo>
                    <a:pt x="3737" y="78260"/>
                  </a:lnTo>
                  <a:lnTo>
                    <a:pt x="0" y="71374"/>
                  </a:lnTo>
                </a:path>
                <a:path w="1633220" h="428625">
                  <a:moveTo>
                    <a:pt x="0" y="71374"/>
                  </a:moveTo>
                  <a:lnTo>
                    <a:pt x="32607" y="51354"/>
                  </a:lnTo>
                  <a:lnTo>
                    <a:pt x="87726" y="39174"/>
                  </a:lnTo>
                  <a:lnTo>
                    <a:pt x="166355" y="28207"/>
                  </a:lnTo>
                  <a:lnTo>
                    <a:pt x="213630" y="23254"/>
                  </a:lnTo>
                  <a:lnTo>
                    <a:pt x="265757" y="18694"/>
                  </a:lnTo>
                  <a:lnTo>
                    <a:pt x="322393" y="14558"/>
                  </a:lnTo>
                  <a:lnTo>
                    <a:pt x="383195" y="10876"/>
                  </a:lnTo>
                  <a:lnTo>
                    <a:pt x="447823" y="7678"/>
                  </a:lnTo>
                  <a:lnTo>
                    <a:pt x="515933" y="4994"/>
                  </a:lnTo>
                  <a:lnTo>
                    <a:pt x="587183" y="2854"/>
                  </a:lnTo>
                  <a:lnTo>
                    <a:pt x="661232" y="1288"/>
                  </a:lnTo>
                  <a:lnTo>
                    <a:pt x="737737" y="327"/>
                  </a:lnTo>
                  <a:lnTo>
                    <a:pt x="816355" y="0"/>
                  </a:lnTo>
                  <a:lnTo>
                    <a:pt x="894995" y="327"/>
                  </a:lnTo>
                  <a:lnTo>
                    <a:pt x="971519" y="1288"/>
                  </a:lnTo>
                  <a:lnTo>
                    <a:pt x="1045584" y="2854"/>
                  </a:lnTo>
                  <a:lnTo>
                    <a:pt x="1116848" y="4994"/>
                  </a:lnTo>
                  <a:lnTo>
                    <a:pt x="1184970" y="7678"/>
                  </a:lnTo>
                  <a:lnTo>
                    <a:pt x="1249608" y="10876"/>
                  </a:lnTo>
                  <a:lnTo>
                    <a:pt x="1310419" y="14558"/>
                  </a:lnTo>
                  <a:lnTo>
                    <a:pt x="1367062" y="18694"/>
                  </a:lnTo>
                  <a:lnTo>
                    <a:pt x="1419194" y="23254"/>
                  </a:lnTo>
                  <a:lnTo>
                    <a:pt x="1466474" y="28207"/>
                  </a:lnTo>
                  <a:lnTo>
                    <a:pt x="1508560" y="33524"/>
                  </a:lnTo>
                  <a:lnTo>
                    <a:pt x="1575780" y="45127"/>
                  </a:lnTo>
                  <a:lnTo>
                    <a:pt x="1618118" y="57824"/>
                  </a:lnTo>
                  <a:lnTo>
                    <a:pt x="1632839" y="71374"/>
                  </a:lnTo>
                  <a:lnTo>
                    <a:pt x="1632839" y="356870"/>
                  </a:lnTo>
                  <a:lnTo>
                    <a:pt x="1600230" y="376889"/>
                  </a:lnTo>
                  <a:lnTo>
                    <a:pt x="1545109" y="389069"/>
                  </a:lnTo>
                  <a:lnTo>
                    <a:pt x="1466474" y="400036"/>
                  </a:lnTo>
                  <a:lnTo>
                    <a:pt x="1419194" y="404989"/>
                  </a:lnTo>
                  <a:lnTo>
                    <a:pt x="1367062" y="409549"/>
                  </a:lnTo>
                  <a:lnTo>
                    <a:pt x="1310419" y="413685"/>
                  </a:lnTo>
                  <a:lnTo>
                    <a:pt x="1249608" y="417367"/>
                  </a:lnTo>
                  <a:lnTo>
                    <a:pt x="1184970" y="420565"/>
                  </a:lnTo>
                  <a:lnTo>
                    <a:pt x="1116848" y="423249"/>
                  </a:lnTo>
                  <a:lnTo>
                    <a:pt x="1045584" y="425389"/>
                  </a:lnTo>
                  <a:lnTo>
                    <a:pt x="971519" y="426955"/>
                  </a:lnTo>
                  <a:lnTo>
                    <a:pt x="894995" y="427916"/>
                  </a:lnTo>
                  <a:lnTo>
                    <a:pt x="816355" y="428244"/>
                  </a:lnTo>
                  <a:lnTo>
                    <a:pt x="737737" y="427916"/>
                  </a:lnTo>
                  <a:lnTo>
                    <a:pt x="661232" y="426955"/>
                  </a:lnTo>
                  <a:lnTo>
                    <a:pt x="587183" y="425389"/>
                  </a:lnTo>
                  <a:lnTo>
                    <a:pt x="515933" y="423249"/>
                  </a:lnTo>
                  <a:lnTo>
                    <a:pt x="447823" y="420565"/>
                  </a:lnTo>
                  <a:lnTo>
                    <a:pt x="383195" y="417367"/>
                  </a:lnTo>
                  <a:lnTo>
                    <a:pt x="322393" y="413685"/>
                  </a:lnTo>
                  <a:lnTo>
                    <a:pt x="265757" y="409549"/>
                  </a:lnTo>
                  <a:lnTo>
                    <a:pt x="213630" y="404989"/>
                  </a:lnTo>
                  <a:lnTo>
                    <a:pt x="166355" y="400036"/>
                  </a:lnTo>
                  <a:lnTo>
                    <a:pt x="124273" y="394719"/>
                  </a:lnTo>
                  <a:lnTo>
                    <a:pt x="57057" y="383116"/>
                  </a:lnTo>
                  <a:lnTo>
                    <a:pt x="14720" y="370419"/>
                  </a:lnTo>
                  <a:lnTo>
                    <a:pt x="0" y="356870"/>
                  </a:lnTo>
                  <a:lnTo>
                    <a:pt x="0" y="71374"/>
                  </a:lnTo>
                  <a:close/>
                </a:path>
              </a:pathLst>
            </a:custGeom>
            <a:ln w="31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854321" y="7073265"/>
            <a:ext cx="597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Team3</a:t>
            </a:r>
            <a:r>
              <a:rPr dirty="0" sz="900" spc="-20">
                <a:solidFill>
                  <a:srgbClr val="FFFFFF"/>
                </a:solidFill>
                <a:latin typeface="Segoe UI"/>
                <a:cs typeface="Segoe UI"/>
              </a:rPr>
              <a:t> (DB)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335335" y="6606730"/>
            <a:ext cx="1636395" cy="431800"/>
            <a:chOff x="4335335" y="6606730"/>
            <a:chExt cx="1636395" cy="431800"/>
          </a:xfrm>
        </p:grpSpPr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36922" y="6608318"/>
              <a:ext cx="1632839" cy="428117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4336922" y="6608318"/>
              <a:ext cx="1633220" cy="428625"/>
            </a:xfrm>
            <a:custGeom>
              <a:avLst/>
              <a:gdLst/>
              <a:ahLst/>
              <a:cxnLst/>
              <a:rect l="l" t="t" r="r" b="b"/>
              <a:pathLst>
                <a:path w="1633220" h="428625">
                  <a:moveTo>
                    <a:pt x="1632839" y="71373"/>
                  </a:moveTo>
                  <a:lnTo>
                    <a:pt x="1600230" y="91393"/>
                  </a:lnTo>
                  <a:lnTo>
                    <a:pt x="1545109" y="103573"/>
                  </a:lnTo>
                  <a:lnTo>
                    <a:pt x="1466474" y="114540"/>
                  </a:lnTo>
                  <a:lnTo>
                    <a:pt x="1419194" y="119493"/>
                  </a:lnTo>
                  <a:lnTo>
                    <a:pt x="1367062" y="124053"/>
                  </a:lnTo>
                  <a:lnTo>
                    <a:pt x="1310419" y="128189"/>
                  </a:lnTo>
                  <a:lnTo>
                    <a:pt x="1249608" y="131871"/>
                  </a:lnTo>
                  <a:lnTo>
                    <a:pt x="1184970" y="135069"/>
                  </a:lnTo>
                  <a:lnTo>
                    <a:pt x="1116848" y="137753"/>
                  </a:lnTo>
                  <a:lnTo>
                    <a:pt x="1045584" y="139893"/>
                  </a:lnTo>
                  <a:lnTo>
                    <a:pt x="971519" y="141459"/>
                  </a:lnTo>
                  <a:lnTo>
                    <a:pt x="894995" y="142420"/>
                  </a:lnTo>
                  <a:lnTo>
                    <a:pt x="816355" y="142747"/>
                  </a:lnTo>
                  <a:lnTo>
                    <a:pt x="737737" y="142420"/>
                  </a:lnTo>
                  <a:lnTo>
                    <a:pt x="661232" y="141459"/>
                  </a:lnTo>
                  <a:lnTo>
                    <a:pt x="587183" y="139893"/>
                  </a:lnTo>
                  <a:lnTo>
                    <a:pt x="515933" y="137753"/>
                  </a:lnTo>
                  <a:lnTo>
                    <a:pt x="447823" y="135069"/>
                  </a:lnTo>
                  <a:lnTo>
                    <a:pt x="383195" y="131871"/>
                  </a:lnTo>
                  <a:lnTo>
                    <a:pt x="322393" y="128189"/>
                  </a:lnTo>
                  <a:lnTo>
                    <a:pt x="265757" y="124053"/>
                  </a:lnTo>
                  <a:lnTo>
                    <a:pt x="213630" y="119493"/>
                  </a:lnTo>
                  <a:lnTo>
                    <a:pt x="166355" y="114540"/>
                  </a:lnTo>
                  <a:lnTo>
                    <a:pt x="124273" y="109223"/>
                  </a:lnTo>
                  <a:lnTo>
                    <a:pt x="57057" y="97620"/>
                  </a:lnTo>
                  <a:lnTo>
                    <a:pt x="14720" y="84923"/>
                  </a:lnTo>
                  <a:lnTo>
                    <a:pt x="3737" y="78240"/>
                  </a:lnTo>
                  <a:lnTo>
                    <a:pt x="0" y="71373"/>
                  </a:lnTo>
                </a:path>
                <a:path w="1633220" h="428625">
                  <a:moveTo>
                    <a:pt x="0" y="71373"/>
                  </a:moveTo>
                  <a:lnTo>
                    <a:pt x="32607" y="51309"/>
                  </a:lnTo>
                  <a:lnTo>
                    <a:pt x="87726" y="39118"/>
                  </a:lnTo>
                  <a:lnTo>
                    <a:pt x="166355" y="28153"/>
                  </a:lnTo>
                  <a:lnTo>
                    <a:pt x="213630" y="23203"/>
                  </a:lnTo>
                  <a:lnTo>
                    <a:pt x="265757" y="18649"/>
                  </a:lnTo>
                  <a:lnTo>
                    <a:pt x="322393" y="14520"/>
                  </a:lnTo>
                  <a:lnTo>
                    <a:pt x="383195" y="10846"/>
                  </a:lnTo>
                  <a:lnTo>
                    <a:pt x="447823" y="7655"/>
                  </a:lnTo>
                  <a:lnTo>
                    <a:pt x="515933" y="4978"/>
                  </a:lnTo>
                  <a:lnTo>
                    <a:pt x="587183" y="2844"/>
                  </a:lnTo>
                  <a:lnTo>
                    <a:pt x="661232" y="1284"/>
                  </a:lnTo>
                  <a:lnTo>
                    <a:pt x="737737" y="325"/>
                  </a:lnTo>
                  <a:lnTo>
                    <a:pt x="816355" y="0"/>
                  </a:lnTo>
                  <a:lnTo>
                    <a:pt x="894995" y="325"/>
                  </a:lnTo>
                  <a:lnTo>
                    <a:pt x="971519" y="1284"/>
                  </a:lnTo>
                  <a:lnTo>
                    <a:pt x="1045584" y="2844"/>
                  </a:lnTo>
                  <a:lnTo>
                    <a:pt x="1116848" y="4978"/>
                  </a:lnTo>
                  <a:lnTo>
                    <a:pt x="1184970" y="7655"/>
                  </a:lnTo>
                  <a:lnTo>
                    <a:pt x="1249608" y="10846"/>
                  </a:lnTo>
                  <a:lnTo>
                    <a:pt x="1310419" y="14520"/>
                  </a:lnTo>
                  <a:lnTo>
                    <a:pt x="1367062" y="18649"/>
                  </a:lnTo>
                  <a:lnTo>
                    <a:pt x="1419194" y="23203"/>
                  </a:lnTo>
                  <a:lnTo>
                    <a:pt x="1466474" y="28153"/>
                  </a:lnTo>
                  <a:lnTo>
                    <a:pt x="1508560" y="33467"/>
                  </a:lnTo>
                  <a:lnTo>
                    <a:pt x="1575780" y="45075"/>
                  </a:lnTo>
                  <a:lnTo>
                    <a:pt x="1618118" y="57789"/>
                  </a:lnTo>
                  <a:lnTo>
                    <a:pt x="1632839" y="71373"/>
                  </a:lnTo>
                  <a:lnTo>
                    <a:pt x="1632839" y="356742"/>
                  </a:lnTo>
                  <a:lnTo>
                    <a:pt x="1600230" y="376807"/>
                  </a:lnTo>
                  <a:lnTo>
                    <a:pt x="1545109" y="388998"/>
                  </a:lnTo>
                  <a:lnTo>
                    <a:pt x="1466474" y="399963"/>
                  </a:lnTo>
                  <a:lnTo>
                    <a:pt x="1419194" y="404913"/>
                  </a:lnTo>
                  <a:lnTo>
                    <a:pt x="1367062" y="409467"/>
                  </a:lnTo>
                  <a:lnTo>
                    <a:pt x="1310419" y="413596"/>
                  </a:lnTo>
                  <a:lnTo>
                    <a:pt x="1249608" y="417270"/>
                  </a:lnTo>
                  <a:lnTo>
                    <a:pt x="1184970" y="420461"/>
                  </a:lnTo>
                  <a:lnTo>
                    <a:pt x="1116848" y="423138"/>
                  </a:lnTo>
                  <a:lnTo>
                    <a:pt x="1045584" y="425272"/>
                  </a:lnTo>
                  <a:lnTo>
                    <a:pt x="971519" y="426832"/>
                  </a:lnTo>
                  <a:lnTo>
                    <a:pt x="894995" y="427791"/>
                  </a:lnTo>
                  <a:lnTo>
                    <a:pt x="816355" y="428116"/>
                  </a:lnTo>
                  <a:lnTo>
                    <a:pt x="737737" y="427791"/>
                  </a:lnTo>
                  <a:lnTo>
                    <a:pt x="661232" y="426832"/>
                  </a:lnTo>
                  <a:lnTo>
                    <a:pt x="587183" y="425272"/>
                  </a:lnTo>
                  <a:lnTo>
                    <a:pt x="515933" y="423138"/>
                  </a:lnTo>
                  <a:lnTo>
                    <a:pt x="447823" y="420461"/>
                  </a:lnTo>
                  <a:lnTo>
                    <a:pt x="383195" y="417270"/>
                  </a:lnTo>
                  <a:lnTo>
                    <a:pt x="322393" y="413596"/>
                  </a:lnTo>
                  <a:lnTo>
                    <a:pt x="265757" y="409467"/>
                  </a:lnTo>
                  <a:lnTo>
                    <a:pt x="213630" y="404913"/>
                  </a:lnTo>
                  <a:lnTo>
                    <a:pt x="166355" y="399963"/>
                  </a:lnTo>
                  <a:lnTo>
                    <a:pt x="124273" y="394649"/>
                  </a:lnTo>
                  <a:lnTo>
                    <a:pt x="57057" y="383041"/>
                  </a:lnTo>
                  <a:lnTo>
                    <a:pt x="14720" y="370327"/>
                  </a:lnTo>
                  <a:lnTo>
                    <a:pt x="0" y="356742"/>
                  </a:lnTo>
                  <a:lnTo>
                    <a:pt x="0" y="71373"/>
                  </a:lnTo>
                  <a:close/>
                </a:path>
              </a:pathLst>
            </a:custGeom>
            <a:ln w="317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4578477" y="6774942"/>
            <a:ext cx="11506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Team2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(Business</a:t>
            </a:r>
            <a:r>
              <a:rPr dirty="0" sz="900" spc="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logic)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4335335" y="6308534"/>
            <a:ext cx="1636395" cy="431800"/>
            <a:chOff x="4335335" y="6308534"/>
            <a:chExt cx="1636395" cy="431800"/>
          </a:xfrm>
        </p:grpSpPr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36922" y="6310121"/>
              <a:ext cx="1632839" cy="428116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4336922" y="6310121"/>
              <a:ext cx="1633220" cy="428625"/>
            </a:xfrm>
            <a:custGeom>
              <a:avLst/>
              <a:gdLst/>
              <a:ahLst/>
              <a:cxnLst/>
              <a:rect l="l" t="t" r="r" b="b"/>
              <a:pathLst>
                <a:path w="1633220" h="428625">
                  <a:moveTo>
                    <a:pt x="1632839" y="71373"/>
                  </a:moveTo>
                  <a:lnTo>
                    <a:pt x="1600230" y="91393"/>
                  </a:lnTo>
                  <a:lnTo>
                    <a:pt x="1545109" y="103573"/>
                  </a:lnTo>
                  <a:lnTo>
                    <a:pt x="1466474" y="114540"/>
                  </a:lnTo>
                  <a:lnTo>
                    <a:pt x="1419194" y="119493"/>
                  </a:lnTo>
                  <a:lnTo>
                    <a:pt x="1367062" y="124053"/>
                  </a:lnTo>
                  <a:lnTo>
                    <a:pt x="1310419" y="128189"/>
                  </a:lnTo>
                  <a:lnTo>
                    <a:pt x="1249608" y="131871"/>
                  </a:lnTo>
                  <a:lnTo>
                    <a:pt x="1184970" y="135069"/>
                  </a:lnTo>
                  <a:lnTo>
                    <a:pt x="1116848" y="137753"/>
                  </a:lnTo>
                  <a:lnTo>
                    <a:pt x="1045584" y="139893"/>
                  </a:lnTo>
                  <a:lnTo>
                    <a:pt x="971519" y="141459"/>
                  </a:lnTo>
                  <a:lnTo>
                    <a:pt x="894995" y="142420"/>
                  </a:lnTo>
                  <a:lnTo>
                    <a:pt x="816355" y="142747"/>
                  </a:lnTo>
                  <a:lnTo>
                    <a:pt x="737737" y="142420"/>
                  </a:lnTo>
                  <a:lnTo>
                    <a:pt x="661232" y="141459"/>
                  </a:lnTo>
                  <a:lnTo>
                    <a:pt x="587183" y="139893"/>
                  </a:lnTo>
                  <a:lnTo>
                    <a:pt x="515933" y="137753"/>
                  </a:lnTo>
                  <a:lnTo>
                    <a:pt x="447823" y="135069"/>
                  </a:lnTo>
                  <a:lnTo>
                    <a:pt x="383195" y="131871"/>
                  </a:lnTo>
                  <a:lnTo>
                    <a:pt x="322393" y="128189"/>
                  </a:lnTo>
                  <a:lnTo>
                    <a:pt x="265757" y="124053"/>
                  </a:lnTo>
                  <a:lnTo>
                    <a:pt x="213630" y="119493"/>
                  </a:lnTo>
                  <a:lnTo>
                    <a:pt x="166355" y="114540"/>
                  </a:lnTo>
                  <a:lnTo>
                    <a:pt x="124273" y="109223"/>
                  </a:lnTo>
                  <a:lnTo>
                    <a:pt x="57057" y="97620"/>
                  </a:lnTo>
                  <a:lnTo>
                    <a:pt x="14720" y="84923"/>
                  </a:lnTo>
                  <a:lnTo>
                    <a:pt x="3737" y="78240"/>
                  </a:lnTo>
                  <a:lnTo>
                    <a:pt x="0" y="71373"/>
                  </a:lnTo>
                </a:path>
                <a:path w="1633220" h="428625">
                  <a:moveTo>
                    <a:pt x="0" y="71373"/>
                  </a:moveTo>
                  <a:lnTo>
                    <a:pt x="32607" y="51354"/>
                  </a:lnTo>
                  <a:lnTo>
                    <a:pt x="87726" y="39174"/>
                  </a:lnTo>
                  <a:lnTo>
                    <a:pt x="166355" y="28207"/>
                  </a:lnTo>
                  <a:lnTo>
                    <a:pt x="213630" y="23254"/>
                  </a:lnTo>
                  <a:lnTo>
                    <a:pt x="265757" y="18694"/>
                  </a:lnTo>
                  <a:lnTo>
                    <a:pt x="322393" y="14558"/>
                  </a:lnTo>
                  <a:lnTo>
                    <a:pt x="383195" y="10876"/>
                  </a:lnTo>
                  <a:lnTo>
                    <a:pt x="447823" y="7678"/>
                  </a:lnTo>
                  <a:lnTo>
                    <a:pt x="515933" y="4994"/>
                  </a:lnTo>
                  <a:lnTo>
                    <a:pt x="587183" y="2854"/>
                  </a:lnTo>
                  <a:lnTo>
                    <a:pt x="661232" y="1288"/>
                  </a:lnTo>
                  <a:lnTo>
                    <a:pt x="737737" y="327"/>
                  </a:lnTo>
                  <a:lnTo>
                    <a:pt x="816355" y="0"/>
                  </a:lnTo>
                  <a:lnTo>
                    <a:pt x="894995" y="327"/>
                  </a:lnTo>
                  <a:lnTo>
                    <a:pt x="971519" y="1288"/>
                  </a:lnTo>
                  <a:lnTo>
                    <a:pt x="1045584" y="2854"/>
                  </a:lnTo>
                  <a:lnTo>
                    <a:pt x="1116848" y="4994"/>
                  </a:lnTo>
                  <a:lnTo>
                    <a:pt x="1184970" y="7678"/>
                  </a:lnTo>
                  <a:lnTo>
                    <a:pt x="1249608" y="10876"/>
                  </a:lnTo>
                  <a:lnTo>
                    <a:pt x="1310419" y="14558"/>
                  </a:lnTo>
                  <a:lnTo>
                    <a:pt x="1367062" y="18694"/>
                  </a:lnTo>
                  <a:lnTo>
                    <a:pt x="1419194" y="23254"/>
                  </a:lnTo>
                  <a:lnTo>
                    <a:pt x="1466474" y="28207"/>
                  </a:lnTo>
                  <a:lnTo>
                    <a:pt x="1508560" y="33524"/>
                  </a:lnTo>
                  <a:lnTo>
                    <a:pt x="1575780" y="45127"/>
                  </a:lnTo>
                  <a:lnTo>
                    <a:pt x="1618118" y="57824"/>
                  </a:lnTo>
                  <a:lnTo>
                    <a:pt x="1632839" y="71373"/>
                  </a:lnTo>
                  <a:lnTo>
                    <a:pt x="1632839" y="356742"/>
                  </a:lnTo>
                  <a:lnTo>
                    <a:pt x="1600230" y="376807"/>
                  </a:lnTo>
                  <a:lnTo>
                    <a:pt x="1545109" y="388998"/>
                  </a:lnTo>
                  <a:lnTo>
                    <a:pt x="1466474" y="399963"/>
                  </a:lnTo>
                  <a:lnTo>
                    <a:pt x="1419194" y="404913"/>
                  </a:lnTo>
                  <a:lnTo>
                    <a:pt x="1367062" y="409467"/>
                  </a:lnTo>
                  <a:lnTo>
                    <a:pt x="1310419" y="413596"/>
                  </a:lnTo>
                  <a:lnTo>
                    <a:pt x="1249608" y="417270"/>
                  </a:lnTo>
                  <a:lnTo>
                    <a:pt x="1184970" y="420461"/>
                  </a:lnTo>
                  <a:lnTo>
                    <a:pt x="1116848" y="423138"/>
                  </a:lnTo>
                  <a:lnTo>
                    <a:pt x="1045584" y="425272"/>
                  </a:lnTo>
                  <a:lnTo>
                    <a:pt x="971519" y="426832"/>
                  </a:lnTo>
                  <a:lnTo>
                    <a:pt x="894995" y="427791"/>
                  </a:lnTo>
                  <a:lnTo>
                    <a:pt x="816355" y="428116"/>
                  </a:lnTo>
                  <a:lnTo>
                    <a:pt x="737737" y="427791"/>
                  </a:lnTo>
                  <a:lnTo>
                    <a:pt x="661232" y="426832"/>
                  </a:lnTo>
                  <a:lnTo>
                    <a:pt x="587183" y="425272"/>
                  </a:lnTo>
                  <a:lnTo>
                    <a:pt x="515933" y="423138"/>
                  </a:lnTo>
                  <a:lnTo>
                    <a:pt x="447823" y="420461"/>
                  </a:lnTo>
                  <a:lnTo>
                    <a:pt x="383195" y="417270"/>
                  </a:lnTo>
                  <a:lnTo>
                    <a:pt x="322393" y="413596"/>
                  </a:lnTo>
                  <a:lnTo>
                    <a:pt x="265757" y="409467"/>
                  </a:lnTo>
                  <a:lnTo>
                    <a:pt x="213630" y="404913"/>
                  </a:lnTo>
                  <a:lnTo>
                    <a:pt x="166355" y="399963"/>
                  </a:lnTo>
                  <a:lnTo>
                    <a:pt x="124273" y="394649"/>
                  </a:lnTo>
                  <a:lnTo>
                    <a:pt x="57057" y="383041"/>
                  </a:lnTo>
                  <a:lnTo>
                    <a:pt x="14720" y="370327"/>
                  </a:lnTo>
                  <a:lnTo>
                    <a:pt x="0" y="356742"/>
                  </a:lnTo>
                  <a:lnTo>
                    <a:pt x="0" y="71373"/>
                  </a:lnTo>
                  <a:close/>
                </a:path>
              </a:pathLst>
            </a:custGeom>
            <a:ln w="31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4872609" y="6476745"/>
            <a:ext cx="5607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Team1</a:t>
            </a:r>
            <a:r>
              <a:rPr dirty="0" sz="900" spc="-20">
                <a:solidFill>
                  <a:srgbClr val="FFFFFF"/>
                </a:solidFill>
                <a:latin typeface="Segoe UI"/>
                <a:cs typeface="Segoe UI"/>
              </a:rPr>
              <a:t> (UI)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4267200" y="6620509"/>
            <a:ext cx="974725" cy="1190625"/>
            <a:chOff x="4267200" y="6620509"/>
            <a:chExt cx="974725" cy="1190625"/>
          </a:xfrm>
        </p:grpSpPr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11241" y="6620509"/>
              <a:ext cx="130556" cy="187325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11241" y="6925944"/>
              <a:ext cx="130556" cy="208661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4434078" y="6742556"/>
              <a:ext cx="706120" cy="883919"/>
            </a:xfrm>
            <a:custGeom>
              <a:avLst/>
              <a:gdLst/>
              <a:ahLst/>
              <a:cxnLst/>
              <a:rect l="l" t="t" r="r" b="b"/>
              <a:pathLst>
                <a:path w="706120" h="883920">
                  <a:moveTo>
                    <a:pt x="680338" y="0"/>
                  </a:moveTo>
                  <a:lnTo>
                    <a:pt x="0" y="883539"/>
                  </a:lnTo>
                </a:path>
                <a:path w="706120" h="883920">
                  <a:moveTo>
                    <a:pt x="705738" y="287655"/>
                  </a:moveTo>
                  <a:lnTo>
                    <a:pt x="0" y="877316"/>
                  </a:lnTo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67200" y="7626083"/>
              <a:ext cx="909332" cy="184670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4267200" y="7626083"/>
            <a:ext cx="909955" cy="184785"/>
          </a:xfrm>
          <a:prstGeom prst="rect">
            <a:avLst/>
          </a:prstGeom>
          <a:ln w="3175">
            <a:solidFill>
              <a:srgbClr val="EC7C3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165"/>
              </a:spcBef>
            </a:pP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Interface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63766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180330" cy="10560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Feature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Teams</a:t>
            </a:r>
            <a:endParaRPr sz="1000">
              <a:latin typeface="Arial"/>
              <a:cs typeface="Arial"/>
            </a:endParaRPr>
          </a:p>
          <a:p>
            <a:pPr marL="391160" marR="5080" indent="-114300">
              <a:lnSpc>
                <a:spcPts val="969"/>
              </a:lnSpc>
              <a:spcBef>
                <a:spcPts val="7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Teams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contain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multi-</a:t>
            </a:r>
            <a:r>
              <a:rPr dirty="0" sz="900" spc="-10">
                <a:latin typeface="Arial MT"/>
                <a:cs typeface="Arial MT"/>
              </a:rPr>
              <a:t>disciplined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individuals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ability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freedom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 work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in </a:t>
            </a:r>
            <a:r>
              <a:rPr dirty="0" sz="900">
                <a:latin typeface="Arial MT"/>
                <a:cs typeface="Arial MT"/>
              </a:rPr>
              <a:t>any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system</a:t>
            </a:r>
            <a:endParaRPr sz="900">
              <a:latin typeface="Arial MT"/>
              <a:cs typeface="Arial MT"/>
            </a:endParaRPr>
          </a:p>
          <a:p>
            <a:pPr marL="391160" marR="50800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Team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usually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least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member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specialist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knowledge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layer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 spc="-10">
                <a:latin typeface="Arial MT"/>
                <a:cs typeface="Arial MT"/>
              </a:rPr>
              <a:t>system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allows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Teams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what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known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‘vertical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slices’</a:t>
            </a:r>
            <a:r>
              <a:rPr dirty="0" sz="900" spc="-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architecture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43095" y="2773743"/>
            <a:ext cx="1701038" cy="110750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33424" y="4977460"/>
            <a:ext cx="16383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 descr=""/>
          <p:cNvSpPr txBox="1"/>
          <p:nvPr/>
        </p:nvSpPr>
        <p:spPr>
          <a:xfrm>
            <a:off x="578916" y="5322934"/>
            <a:ext cx="5153025" cy="15494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The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characteristics</a:t>
            </a:r>
            <a:r>
              <a:rPr dirty="0" sz="1000" spc="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feature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team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ts val="1025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long-lived—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stays together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 they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 ‘jell’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higher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performance;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they take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on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30"/>
              </a:lnSpc>
            </a:pPr>
            <a:r>
              <a:rPr dirty="0" sz="900">
                <a:latin typeface="Arial MT"/>
                <a:cs typeface="Arial MT"/>
              </a:rPr>
              <a:t>new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time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cross-functional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cross-</a:t>
            </a:r>
            <a:r>
              <a:rPr dirty="0" sz="900" spc="-10">
                <a:latin typeface="Arial MT"/>
                <a:cs typeface="Arial MT"/>
              </a:rPr>
              <a:t>component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co-</a:t>
            </a:r>
            <a:r>
              <a:rPr dirty="0" sz="900" spc="-10">
                <a:latin typeface="Arial MT"/>
                <a:cs typeface="Arial MT"/>
              </a:rPr>
              <a:t>located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work 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complete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customer-centric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across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components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disciplines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(analysis, </a:t>
            </a:r>
            <a:r>
              <a:rPr dirty="0" sz="900">
                <a:latin typeface="Arial MT"/>
                <a:cs typeface="Arial MT"/>
              </a:rPr>
              <a:t>programming,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testing,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…)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composed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generalizing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specialists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Scrum,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typically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7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±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people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63766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109845" cy="7677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Feature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Team</a:t>
            </a:r>
            <a:r>
              <a:rPr dirty="0" sz="1000" spc="-4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Disadvantages</a:t>
            </a:r>
            <a:endParaRPr sz="1000">
              <a:latin typeface="Arial"/>
              <a:cs typeface="Arial"/>
            </a:endParaRPr>
          </a:p>
          <a:p>
            <a:pPr marL="391160" marR="5080" indent="-114300">
              <a:lnSpc>
                <a:spcPts val="969"/>
              </a:lnSpc>
              <a:spcBef>
                <a:spcPts val="7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What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untrained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inexperienced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employee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deliver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poorly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designed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piece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50">
                <a:latin typeface="Arial MT"/>
                <a:cs typeface="Arial MT"/>
              </a:rPr>
              <a:t>a</a:t>
            </a:r>
            <a:r>
              <a:rPr dirty="0" sz="900">
                <a:latin typeface="Arial MT"/>
                <a:cs typeface="Arial MT"/>
              </a:rPr>
              <a:t> live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environment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Where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get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personnel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(‘generalizing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specialists’)?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16383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559941" y="5792215"/>
            <a:ext cx="1111250" cy="768350"/>
            <a:chOff x="1559941" y="5792215"/>
            <a:chExt cx="1111250" cy="768350"/>
          </a:xfrm>
        </p:grpSpPr>
        <p:sp>
          <p:nvSpPr>
            <p:cNvPr id="11" name="object 11" descr=""/>
            <p:cNvSpPr/>
            <p:nvPr/>
          </p:nvSpPr>
          <p:spPr>
            <a:xfrm>
              <a:off x="1563116" y="5795390"/>
              <a:ext cx="1104900" cy="762000"/>
            </a:xfrm>
            <a:custGeom>
              <a:avLst/>
              <a:gdLst/>
              <a:ahLst/>
              <a:cxnLst/>
              <a:rect l="l" t="t" r="r" b="b"/>
              <a:pathLst>
                <a:path w="1104900" h="762000">
                  <a:moveTo>
                    <a:pt x="552450" y="0"/>
                  </a:moveTo>
                  <a:lnTo>
                    <a:pt x="495974" y="1966"/>
                  </a:lnTo>
                  <a:lnTo>
                    <a:pt x="441128" y="7739"/>
                  </a:lnTo>
                  <a:lnTo>
                    <a:pt x="388188" y="17127"/>
                  </a:lnTo>
                  <a:lnTo>
                    <a:pt x="337435" y="29938"/>
                  </a:lnTo>
                  <a:lnTo>
                    <a:pt x="289144" y="45980"/>
                  </a:lnTo>
                  <a:lnTo>
                    <a:pt x="243594" y="65063"/>
                  </a:lnTo>
                  <a:lnTo>
                    <a:pt x="201063" y="86995"/>
                  </a:lnTo>
                  <a:lnTo>
                    <a:pt x="161829" y="111585"/>
                  </a:lnTo>
                  <a:lnTo>
                    <a:pt x="126170" y="138640"/>
                  </a:lnTo>
                  <a:lnTo>
                    <a:pt x="94364" y="167971"/>
                  </a:lnTo>
                  <a:lnTo>
                    <a:pt x="66688" y="199384"/>
                  </a:lnTo>
                  <a:lnTo>
                    <a:pt x="43422" y="232689"/>
                  </a:lnTo>
                  <a:lnTo>
                    <a:pt x="24841" y="267695"/>
                  </a:lnTo>
                  <a:lnTo>
                    <a:pt x="11226" y="304209"/>
                  </a:lnTo>
                  <a:lnTo>
                    <a:pt x="2852" y="342041"/>
                  </a:lnTo>
                  <a:lnTo>
                    <a:pt x="0" y="381000"/>
                  </a:lnTo>
                  <a:lnTo>
                    <a:pt x="2852" y="419958"/>
                  </a:lnTo>
                  <a:lnTo>
                    <a:pt x="11226" y="457790"/>
                  </a:lnTo>
                  <a:lnTo>
                    <a:pt x="24841" y="494304"/>
                  </a:lnTo>
                  <a:lnTo>
                    <a:pt x="43422" y="529310"/>
                  </a:lnTo>
                  <a:lnTo>
                    <a:pt x="66688" y="562615"/>
                  </a:lnTo>
                  <a:lnTo>
                    <a:pt x="94364" y="594028"/>
                  </a:lnTo>
                  <a:lnTo>
                    <a:pt x="126170" y="623359"/>
                  </a:lnTo>
                  <a:lnTo>
                    <a:pt x="161829" y="650414"/>
                  </a:lnTo>
                  <a:lnTo>
                    <a:pt x="201063" y="675004"/>
                  </a:lnTo>
                  <a:lnTo>
                    <a:pt x="243594" y="696936"/>
                  </a:lnTo>
                  <a:lnTo>
                    <a:pt x="289144" y="716019"/>
                  </a:lnTo>
                  <a:lnTo>
                    <a:pt x="337435" y="732061"/>
                  </a:lnTo>
                  <a:lnTo>
                    <a:pt x="388188" y="744872"/>
                  </a:lnTo>
                  <a:lnTo>
                    <a:pt x="441128" y="754260"/>
                  </a:lnTo>
                  <a:lnTo>
                    <a:pt x="495974" y="760033"/>
                  </a:lnTo>
                  <a:lnTo>
                    <a:pt x="552450" y="762000"/>
                  </a:lnTo>
                  <a:lnTo>
                    <a:pt x="608946" y="760033"/>
                  </a:lnTo>
                  <a:lnTo>
                    <a:pt x="663808" y="754260"/>
                  </a:lnTo>
                  <a:lnTo>
                    <a:pt x="716758" y="744872"/>
                  </a:lnTo>
                  <a:lnTo>
                    <a:pt x="767518" y="732061"/>
                  </a:lnTo>
                  <a:lnTo>
                    <a:pt x="815812" y="716019"/>
                  </a:lnTo>
                  <a:lnTo>
                    <a:pt x="861361" y="696936"/>
                  </a:lnTo>
                  <a:lnTo>
                    <a:pt x="903889" y="675004"/>
                  </a:lnTo>
                  <a:lnTo>
                    <a:pt x="943117" y="650414"/>
                  </a:lnTo>
                  <a:lnTo>
                    <a:pt x="978770" y="623359"/>
                  </a:lnTo>
                  <a:lnTo>
                    <a:pt x="1010569" y="594028"/>
                  </a:lnTo>
                  <a:lnTo>
                    <a:pt x="1038236" y="562615"/>
                  </a:lnTo>
                  <a:lnTo>
                    <a:pt x="1061495" y="529310"/>
                  </a:lnTo>
                  <a:lnTo>
                    <a:pt x="1080069" y="494304"/>
                  </a:lnTo>
                  <a:lnTo>
                    <a:pt x="1093679" y="457790"/>
                  </a:lnTo>
                  <a:lnTo>
                    <a:pt x="1102048" y="419958"/>
                  </a:lnTo>
                  <a:lnTo>
                    <a:pt x="1104900" y="381000"/>
                  </a:lnTo>
                  <a:lnTo>
                    <a:pt x="1102048" y="342041"/>
                  </a:lnTo>
                  <a:lnTo>
                    <a:pt x="1093679" y="304209"/>
                  </a:lnTo>
                  <a:lnTo>
                    <a:pt x="1080069" y="267695"/>
                  </a:lnTo>
                  <a:lnTo>
                    <a:pt x="1061495" y="232689"/>
                  </a:lnTo>
                  <a:lnTo>
                    <a:pt x="1038236" y="199384"/>
                  </a:lnTo>
                  <a:lnTo>
                    <a:pt x="1010569" y="167971"/>
                  </a:lnTo>
                  <a:lnTo>
                    <a:pt x="978770" y="138640"/>
                  </a:lnTo>
                  <a:lnTo>
                    <a:pt x="943117" y="111585"/>
                  </a:lnTo>
                  <a:lnTo>
                    <a:pt x="903889" y="86995"/>
                  </a:lnTo>
                  <a:lnTo>
                    <a:pt x="861361" y="65063"/>
                  </a:lnTo>
                  <a:lnTo>
                    <a:pt x="815812" y="45980"/>
                  </a:lnTo>
                  <a:lnTo>
                    <a:pt x="767518" y="29938"/>
                  </a:lnTo>
                  <a:lnTo>
                    <a:pt x="716758" y="17127"/>
                  </a:lnTo>
                  <a:lnTo>
                    <a:pt x="663808" y="7739"/>
                  </a:lnTo>
                  <a:lnTo>
                    <a:pt x="608946" y="1966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63116" y="5795390"/>
              <a:ext cx="1104900" cy="762000"/>
            </a:xfrm>
            <a:custGeom>
              <a:avLst/>
              <a:gdLst/>
              <a:ahLst/>
              <a:cxnLst/>
              <a:rect l="l" t="t" r="r" b="b"/>
              <a:pathLst>
                <a:path w="1104900" h="762000">
                  <a:moveTo>
                    <a:pt x="0" y="381000"/>
                  </a:moveTo>
                  <a:lnTo>
                    <a:pt x="2852" y="342041"/>
                  </a:lnTo>
                  <a:lnTo>
                    <a:pt x="11226" y="304209"/>
                  </a:lnTo>
                  <a:lnTo>
                    <a:pt x="24841" y="267695"/>
                  </a:lnTo>
                  <a:lnTo>
                    <a:pt x="43422" y="232689"/>
                  </a:lnTo>
                  <a:lnTo>
                    <a:pt x="66688" y="199384"/>
                  </a:lnTo>
                  <a:lnTo>
                    <a:pt x="94364" y="167971"/>
                  </a:lnTo>
                  <a:lnTo>
                    <a:pt x="126170" y="138640"/>
                  </a:lnTo>
                  <a:lnTo>
                    <a:pt x="161829" y="111585"/>
                  </a:lnTo>
                  <a:lnTo>
                    <a:pt x="201063" y="86995"/>
                  </a:lnTo>
                  <a:lnTo>
                    <a:pt x="243594" y="65063"/>
                  </a:lnTo>
                  <a:lnTo>
                    <a:pt x="289144" y="45980"/>
                  </a:lnTo>
                  <a:lnTo>
                    <a:pt x="337435" y="29938"/>
                  </a:lnTo>
                  <a:lnTo>
                    <a:pt x="388188" y="17127"/>
                  </a:lnTo>
                  <a:lnTo>
                    <a:pt x="441128" y="7739"/>
                  </a:lnTo>
                  <a:lnTo>
                    <a:pt x="495974" y="1966"/>
                  </a:lnTo>
                  <a:lnTo>
                    <a:pt x="552450" y="0"/>
                  </a:lnTo>
                  <a:lnTo>
                    <a:pt x="608946" y="1966"/>
                  </a:lnTo>
                  <a:lnTo>
                    <a:pt x="663808" y="7739"/>
                  </a:lnTo>
                  <a:lnTo>
                    <a:pt x="716758" y="17127"/>
                  </a:lnTo>
                  <a:lnTo>
                    <a:pt x="767518" y="29938"/>
                  </a:lnTo>
                  <a:lnTo>
                    <a:pt x="815812" y="45980"/>
                  </a:lnTo>
                  <a:lnTo>
                    <a:pt x="861361" y="65063"/>
                  </a:lnTo>
                  <a:lnTo>
                    <a:pt x="903889" y="86995"/>
                  </a:lnTo>
                  <a:lnTo>
                    <a:pt x="943117" y="111585"/>
                  </a:lnTo>
                  <a:lnTo>
                    <a:pt x="978770" y="138640"/>
                  </a:lnTo>
                  <a:lnTo>
                    <a:pt x="1010569" y="167971"/>
                  </a:lnTo>
                  <a:lnTo>
                    <a:pt x="1038236" y="199384"/>
                  </a:lnTo>
                  <a:lnTo>
                    <a:pt x="1061495" y="232689"/>
                  </a:lnTo>
                  <a:lnTo>
                    <a:pt x="1080069" y="267695"/>
                  </a:lnTo>
                  <a:lnTo>
                    <a:pt x="1093679" y="304209"/>
                  </a:lnTo>
                  <a:lnTo>
                    <a:pt x="1102048" y="342041"/>
                  </a:lnTo>
                  <a:lnTo>
                    <a:pt x="1104900" y="381000"/>
                  </a:lnTo>
                  <a:lnTo>
                    <a:pt x="1102048" y="419958"/>
                  </a:lnTo>
                  <a:lnTo>
                    <a:pt x="1093679" y="457790"/>
                  </a:lnTo>
                  <a:lnTo>
                    <a:pt x="1080069" y="494304"/>
                  </a:lnTo>
                  <a:lnTo>
                    <a:pt x="1061495" y="529310"/>
                  </a:lnTo>
                  <a:lnTo>
                    <a:pt x="1038236" y="562615"/>
                  </a:lnTo>
                  <a:lnTo>
                    <a:pt x="1010569" y="594028"/>
                  </a:lnTo>
                  <a:lnTo>
                    <a:pt x="978770" y="623359"/>
                  </a:lnTo>
                  <a:lnTo>
                    <a:pt x="943117" y="650414"/>
                  </a:lnTo>
                  <a:lnTo>
                    <a:pt x="903889" y="675004"/>
                  </a:lnTo>
                  <a:lnTo>
                    <a:pt x="861361" y="696936"/>
                  </a:lnTo>
                  <a:lnTo>
                    <a:pt x="815812" y="716019"/>
                  </a:lnTo>
                  <a:lnTo>
                    <a:pt x="767518" y="732061"/>
                  </a:lnTo>
                  <a:lnTo>
                    <a:pt x="716758" y="744872"/>
                  </a:lnTo>
                  <a:lnTo>
                    <a:pt x="663808" y="754260"/>
                  </a:lnTo>
                  <a:lnTo>
                    <a:pt x="608946" y="760033"/>
                  </a:lnTo>
                  <a:lnTo>
                    <a:pt x="552450" y="762000"/>
                  </a:lnTo>
                  <a:lnTo>
                    <a:pt x="495974" y="760033"/>
                  </a:lnTo>
                  <a:lnTo>
                    <a:pt x="441128" y="754260"/>
                  </a:lnTo>
                  <a:lnTo>
                    <a:pt x="388188" y="744872"/>
                  </a:lnTo>
                  <a:lnTo>
                    <a:pt x="337435" y="732061"/>
                  </a:lnTo>
                  <a:lnTo>
                    <a:pt x="289144" y="716019"/>
                  </a:lnTo>
                  <a:lnTo>
                    <a:pt x="243594" y="696936"/>
                  </a:lnTo>
                  <a:lnTo>
                    <a:pt x="201063" y="675004"/>
                  </a:lnTo>
                  <a:lnTo>
                    <a:pt x="161829" y="650414"/>
                  </a:lnTo>
                  <a:lnTo>
                    <a:pt x="126170" y="623359"/>
                  </a:lnTo>
                  <a:lnTo>
                    <a:pt x="94364" y="594028"/>
                  </a:lnTo>
                  <a:lnTo>
                    <a:pt x="66688" y="562615"/>
                  </a:lnTo>
                  <a:lnTo>
                    <a:pt x="43422" y="529310"/>
                  </a:lnTo>
                  <a:lnTo>
                    <a:pt x="24841" y="494304"/>
                  </a:lnTo>
                  <a:lnTo>
                    <a:pt x="11226" y="457790"/>
                  </a:lnTo>
                  <a:lnTo>
                    <a:pt x="2852" y="419958"/>
                  </a:lnTo>
                  <a:lnTo>
                    <a:pt x="0" y="381000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805685" y="6024753"/>
            <a:ext cx="621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4305" marR="5080" indent="-14224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Component Teams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674236" y="5794883"/>
            <a:ext cx="1111250" cy="768350"/>
            <a:chOff x="3674236" y="5794883"/>
            <a:chExt cx="1111250" cy="768350"/>
          </a:xfrm>
        </p:grpSpPr>
        <p:sp>
          <p:nvSpPr>
            <p:cNvPr id="15" name="object 15" descr=""/>
            <p:cNvSpPr/>
            <p:nvPr/>
          </p:nvSpPr>
          <p:spPr>
            <a:xfrm>
              <a:off x="3677411" y="5798058"/>
              <a:ext cx="1104900" cy="762000"/>
            </a:xfrm>
            <a:custGeom>
              <a:avLst/>
              <a:gdLst/>
              <a:ahLst/>
              <a:cxnLst/>
              <a:rect l="l" t="t" r="r" b="b"/>
              <a:pathLst>
                <a:path w="1104900" h="762000">
                  <a:moveTo>
                    <a:pt x="552450" y="0"/>
                  </a:moveTo>
                  <a:lnTo>
                    <a:pt x="495974" y="1966"/>
                  </a:lnTo>
                  <a:lnTo>
                    <a:pt x="441128" y="7739"/>
                  </a:lnTo>
                  <a:lnTo>
                    <a:pt x="388188" y="17127"/>
                  </a:lnTo>
                  <a:lnTo>
                    <a:pt x="337435" y="29938"/>
                  </a:lnTo>
                  <a:lnTo>
                    <a:pt x="289144" y="45980"/>
                  </a:lnTo>
                  <a:lnTo>
                    <a:pt x="243594" y="65063"/>
                  </a:lnTo>
                  <a:lnTo>
                    <a:pt x="201063" y="86995"/>
                  </a:lnTo>
                  <a:lnTo>
                    <a:pt x="161829" y="111585"/>
                  </a:lnTo>
                  <a:lnTo>
                    <a:pt x="126170" y="138640"/>
                  </a:lnTo>
                  <a:lnTo>
                    <a:pt x="94364" y="167971"/>
                  </a:lnTo>
                  <a:lnTo>
                    <a:pt x="66688" y="199384"/>
                  </a:lnTo>
                  <a:lnTo>
                    <a:pt x="43422" y="232689"/>
                  </a:lnTo>
                  <a:lnTo>
                    <a:pt x="24841" y="267695"/>
                  </a:lnTo>
                  <a:lnTo>
                    <a:pt x="11226" y="304209"/>
                  </a:lnTo>
                  <a:lnTo>
                    <a:pt x="2852" y="342041"/>
                  </a:lnTo>
                  <a:lnTo>
                    <a:pt x="0" y="380999"/>
                  </a:lnTo>
                  <a:lnTo>
                    <a:pt x="2852" y="419958"/>
                  </a:lnTo>
                  <a:lnTo>
                    <a:pt x="11226" y="457790"/>
                  </a:lnTo>
                  <a:lnTo>
                    <a:pt x="24841" y="494304"/>
                  </a:lnTo>
                  <a:lnTo>
                    <a:pt x="43422" y="529310"/>
                  </a:lnTo>
                  <a:lnTo>
                    <a:pt x="66688" y="562615"/>
                  </a:lnTo>
                  <a:lnTo>
                    <a:pt x="94364" y="594028"/>
                  </a:lnTo>
                  <a:lnTo>
                    <a:pt x="126170" y="623359"/>
                  </a:lnTo>
                  <a:lnTo>
                    <a:pt x="161829" y="650414"/>
                  </a:lnTo>
                  <a:lnTo>
                    <a:pt x="201063" y="675004"/>
                  </a:lnTo>
                  <a:lnTo>
                    <a:pt x="243594" y="696936"/>
                  </a:lnTo>
                  <a:lnTo>
                    <a:pt x="289144" y="716019"/>
                  </a:lnTo>
                  <a:lnTo>
                    <a:pt x="337435" y="732061"/>
                  </a:lnTo>
                  <a:lnTo>
                    <a:pt x="388188" y="744872"/>
                  </a:lnTo>
                  <a:lnTo>
                    <a:pt x="441128" y="754260"/>
                  </a:lnTo>
                  <a:lnTo>
                    <a:pt x="495974" y="760033"/>
                  </a:lnTo>
                  <a:lnTo>
                    <a:pt x="552450" y="761999"/>
                  </a:lnTo>
                  <a:lnTo>
                    <a:pt x="608946" y="760033"/>
                  </a:lnTo>
                  <a:lnTo>
                    <a:pt x="663808" y="754260"/>
                  </a:lnTo>
                  <a:lnTo>
                    <a:pt x="716758" y="744872"/>
                  </a:lnTo>
                  <a:lnTo>
                    <a:pt x="767518" y="732061"/>
                  </a:lnTo>
                  <a:lnTo>
                    <a:pt x="815812" y="716019"/>
                  </a:lnTo>
                  <a:lnTo>
                    <a:pt x="861361" y="696936"/>
                  </a:lnTo>
                  <a:lnTo>
                    <a:pt x="903889" y="675004"/>
                  </a:lnTo>
                  <a:lnTo>
                    <a:pt x="943117" y="650414"/>
                  </a:lnTo>
                  <a:lnTo>
                    <a:pt x="978770" y="623359"/>
                  </a:lnTo>
                  <a:lnTo>
                    <a:pt x="1010569" y="594028"/>
                  </a:lnTo>
                  <a:lnTo>
                    <a:pt x="1038236" y="562615"/>
                  </a:lnTo>
                  <a:lnTo>
                    <a:pt x="1061495" y="529310"/>
                  </a:lnTo>
                  <a:lnTo>
                    <a:pt x="1080069" y="494304"/>
                  </a:lnTo>
                  <a:lnTo>
                    <a:pt x="1093679" y="457790"/>
                  </a:lnTo>
                  <a:lnTo>
                    <a:pt x="1102048" y="419958"/>
                  </a:lnTo>
                  <a:lnTo>
                    <a:pt x="1104900" y="380999"/>
                  </a:lnTo>
                  <a:lnTo>
                    <a:pt x="1102048" y="342041"/>
                  </a:lnTo>
                  <a:lnTo>
                    <a:pt x="1093679" y="304209"/>
                  </a:lnTo>
                  <a:lnTo>
                    <a:pt x="1080069" y="267695"/>
                  </a:lnTo>
                  <a:lnTo>
                    <a:pt x="1061495" y="232689"/>
                  </a:lnTo>
                  <a:lnTo>
                    <a:pt x="1038236" y="199384"/>
                  </a:lnTo>
                  <a:lnTo>
                    <a:pt x="1010569" y="167971"/>
                  </a:lnTo>
                  <a:lnTo>
                    <a:pt x="978770" y="138640"/>
                  </a:lnTo>
                  <a:lnTo>
                    <a:pt x="943117" y="111585"/>
                  </a:lnTo>
                  <a:lnTo>
                    <a:pt x="903889" y="86995"/>
                  </a:lnTo>
                  <a:lnTo>
                    <a:pt x="861361" y="65063"/>
                  </a:lnTo>
                  <a:lnTo>
                    <a:pt x="815812" y="45980"/>
                  </a:lnTo>
                  <a:lnTo>
                    <a:pt x="767518" y="29938"/>
                  </a:lnTo>
                  <a:lnTo>
                    <a:pt x="716758" y="17127"/>
                  </a:lnTo>
                  <a:lnTo>
                    <a:pt x="663808" y="7739"/>
                  </a:lnTo>
                  <a:lnTo>
                    <a:pt x="608946" y="1966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77411" y="5798058"/>
              <a:ext cx="1104900" cy="762000"/>
            </a:xfrm>
            <a:custGeom>
              <a:avLst/>
              <a:gdLst/>
              <a:ahLst/>
              <a:cxnLst/>
              <a:rect l="l" t="t" r="r" b="b"/>
              <a:pathLst>
                <a:path w="1104900" h="762000">
                  <a:moveTo>
                    <a:pt x="0" y="380999"/>
                  </a:moveTo>
                  <a:lnTo>
                    <a:pt x="2852" y="342041"/>
                  </a:lnTo>
                  <a:lnTo>
                    <a:pt x="11226" y="304209"/>
                  </a:lnTo>
                  <a:lnTo>
                    <a:pt x="24841" y="267695"/>
                  </a:lnTo>
                  <a:lnTo>
                    <a:pt x="43422" y="232689"/>
                  </a:lnTo>
                  <a:lnTo>
                    <a:pt x="66688" y="199384"/>
                  </a:lnTo>
                  <a:lnTo>
                    <a:pt x="94364" y="167971"/>
                  </a:lnTo>
                  <a:lnTo>
                    <a:pt x="126170" y="138640"/>
                  </a:lnTo>
                  <a:lnTo>
                    <a:pt x="161829" y="111585"/>
                  </a:lnTo>
                  <a:lnTo>
                    <a:pt x="201063" y="86995"/>
                  </a:lnTo>
                  <a:lnTo>
                    <a:pt x="243594" y="65063"/>
                  </a:lnTo>
                  <a:lnTo>
                    <a:pt x="289144" y="45980"/>
                  </a:lnTo>
                  <a:lnTo>
                    <a:pt x="337435" y="29938"/>
                  </a:lnTo>
                  <a:lnTo>
                    <a:pt x="388188" y="17127"/>
                  </a:lnTo>
                  <a:lnTo>
                    <a:pt x="441128" y="7739"/>
                  </a:lnTo>
                  <a:lnTo>
                    <a:pt x="495974" y="1966"/>
                  </a:lnTo>
                  <a:lnTo>
                    <a:pt x="552450" y="0"/>
                  </a:lnTo>
                  <a:lnTo>
                    <a:pt x="608946" y="1966"/>
                  </a:lnTo>
                  <a:lnTo>
                    <a:pt x="663808" y="7739"/>
                  </a:lnTo>
                  <a:lnTo>
                    <a:pt x="716758" y="17127"/>
                  </a:lnTo>
                  <a:lnTo>
                    <a:pt x="767518" y="29938"/>
                  </a:lnTo>
                  <a:lnTo>
                    <a:pt x="815812" y="45980"/>
                  </a:lnTo>
                  <a:lnTo>
                    <a:pt x="861361" y="65063"/>
                  </a:lnTo>
                  <a:lnTo>
                    <a:pt x="903889" y="86995"/>
                  </a:lnTo>
                  <a:lnTo>
                    <a:pt x="943117" y="111585"/>
                  </a:lnTo>
                  <a:lnTo>
                    <a:pt x="978770" y="138640"/>
                  </a:lnTo>
                  <a:lnTo>
                    <a:pt x="1010569" y="167971"/>
                  </a:lnTo>
                  <a:lnTo>
                    <a:pt x="1038236" y="199384"/>
                  </a:lnTo>
                  <a:lnTo>
                    <a:pt x="1061495" y="232689"/>
                  </a:lnTo>
                  <a:lnTo>
                    <a:pt x="1080069" y="267695"/>
                  </a:lnTo>
                  <a:lnTo>
                    <a:pt x="1093679" y="304209"/>
                  </a:lnTo>
                  <a:lnTo>
                    <a:pt x="1102048" y="342041"/>
                  </a:lnTo>
                  <a:lnTo>
                    <a:pt x="1104900" y="380999"/>
                  </a:lnTo>
                  <a:lnTo>
                    <a:pt x="1102048" y="419958"/>
                  </a:lnTo>
                  <a:lnTo>
                    <a:pt x="1093679" y="457790"/>
                  </a:lnTo>
                  <a:lnTo>
                    <a:pt x="1080069" y="494304"/>
                  </a:lnTo>
                  <a:lnTo>
                    <a:pt x="1061495" y="529310"/>
                  </a:lnTo>
                  <a:lnTo>
                    <a:pt x="1038236" y="562615"/>
                  </a:lnTo>
                  <a:lnTo>
                    <a:pt x="1010569" y="594028"/>
                  </a:lnTo>
                  <a:lnTo>
                    <a:pt x="978770" y="623359"/>
                  </a:lnTo>
                  <a:lnTo>
                    <a:pt x="943117" y="650414"/>
                  </a:lnTo>
                  <a:lnTo>
                    <a:pt x="903889" y="675004"/>
                  </a:lnTo>
                  <a:lnTo>
                    <a:pt x="861361" y="696936"/>
                  </a:lnTo>
                  <a:lnTo>
                    <a:pt x="815812" y="716019"/>
                  </a:lnTo>
                  <a:lnTo>
                    <a:pt x="767518" y="732061"/>
                  </a:lnTo>
                  <a:lnTo>
                    <a:pt x="716758" y="744872"/>
                  </a:lnTo>
                  <a:lnTo>
                    <a:pt x="663808" y="754260"/>
                  </a:lnTo>
                  <a:lnTo>
                    <a:pt x="608946" y="760033"/>
                  </a:lnTo>
                  <a:lnTo>
                    <a:pt x="552450" y="761999"/>
                  </a:lnTo>
                  <a:lnTo>
                    <a:pt x="495974" y="760033"/>
                  </a:lnTo>
                  <a:lnTo>
                    <a:pt x="441128" y="754260"/>
                  </a:lnTo>
                  <a:lnTo>
                    <a:pt x="388188" y="744872"/>
                  </a:lnTo>
                  <a:lnTo>
                    <a:pt x="337435" y="732061"/>
                  </a:lnTo>
                  <a:lnTo>
                    <a:pt x="289144" y="716019"/>
                  </a:lnTo>
                  <a:lnTo>
                    <a:pt x="243594" y="696936"/>
                  </a:lnTo>
                  <a:lnTo>
                    <a:pt x="201063" y="675004"/>
                  </a:lnTo>
                  <a:lnTo>
                    <a:pt x="161829" y="650414"/>
                  </a:lnTo>
                  <a:lnTo>
                    <a:pt x="126170" y="623359"/>
                  </a:lnTo>
                  <a:lnTo>
                    <a:pt x="94364" y="594028"/>
                  </a:lnTo>
                  <a:lnTo>
                    <a:pt x="66688" y="562615"/>
                  </a:lnTo>
                  <a:lnTo>
                    <a:pt x="43422" y="529310"/>
                  </a:lnTo>
                  <a:lnTo>
                    <a:pt x="24841" y="494304"/>
                  </a:lnTo>
                  <a:lnTo>
                    <a:pt x="11226" y="457790"/>
                  </a:lnTo>
                  <a:lnTo>
                    <a:pt x="2852" y="419958"/>
                  </a:lnTo>
                  <a:lnTo>
                    <a:pt x="0" y="380999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031741" y="6027166"/>
            <a:ext cx="3994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Feature</a:t>
            </a:r>
            <a:endParaRPr sz="900">
              <a:latin typeface="Segoe UI"/>
              <a:cs typeface="Segoe UI"/>
            </a:endParaRPr>
          </a:p>
          <a:p>
            <a:pPr marL="4318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Teams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93850" y="6605778"/>
            <a:ext cx="1315720" cy="124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5575" marR="308610" indent="-143510">
              <a:lnSpc>
                <a:spcPct val="100000"/>
              </a:lnSpc>
              <a:spcBef>
                <a:spcPts val="100"/>
              </a:spcBef>
              <a:buChar char="•"/>
              <a:tabLst>
                <a:tab pos="155575" algn="l"/>
              </a:tabLst>
            </a:pPr>
            <a:r>
              <a:rPr dirty="0" sz="800" spc="-10">
                <a:latin typeface="Arial MT"/>
                <a:cs typeface="Arial MT"/>
              </a:rPr>
              <a:t>Component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Based structure</a:t>
            </a:r>
            <a:endParaRPr sz="800">
              <a:latin typeface="Arial MT"/>
              <a:cs typeface="Arial MT"/>
            </a:endParaRPr>
          </a:p>
          <a:p>
            <a:pPr marL="155575" marR="329565" indent="-143510">
              <a:lnSpc>
                <a:spcPct val="100000"/>
              </a:lnSpc>
              <a:spcBef>
                <a:spcPts val="5"/>
              </a:spcBef>
              <a:buChar char="•"/>
              <a:tabLst>
                <a:tab pos="155575" algn="l"/>
              </a:tabLst>
            </a:pPr>
            <a:r>
              <a:rPr dirty="0" sz="800">
                <a:latin typeface="Arial MT"/>
                <a:cs typeface="Arial MT"/>
              </a:rPr>
              <a:t>Mostly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aligned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technology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cluster</a:t>
            </a:r>
            <a:endParaRPr sz="800">
              <a:latin typeface="Arial MT"/>
              <a:cs typeface="Arial MT"/>
            </a:endParaRPr>
          </a:p>
          <a:p>
            <a:pPr marL="155575" marR="329565" indent="-143510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 sz="800">
                <a:latin typeface="Arial MT"/>
                <a:cs typeface="Arial MT"/>
              </a:rPr>
              <a:t>Faster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component Development</a:t>
            </a:r>
            <a:endParaRPr sz="800">
              <a:latin typeface="Arial MT"/>
              <a:cs typeface="Arial MT"/>
            </a:endParaRPr>
          </a:p>
          <a:p>
            <a:pPr marL="156845" indent="-144145">
              <a:lnSpc>
                <a:spcPct val="100000"/>
              </a:lnSpc>
              <a:buChar char="•"/>
              <a:tabLst>
                <a:tab pos="156845" algn="l"/>
              </a:tabLst>
            </a:pPr>
            <a:r>
              <a:rPr dirty="0" sz="800">
                <a:latin typeface="Arial MT"/>
                <a:cs typeface="Arial MT"/>
              </a:rPr>
              <a:t>Slower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feature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realization</a:t>
            </a:r>
            <a:endParaRPr sz="800">
              <a:latin typeface="Arial MT"/>
              <a:cs typeface="Arial MT"/>
            </a:endParaRPr>
          </a:p>
          <a:p>
            <a:pPr marL="156845" indent="-144145">
              <a:lnSpc>
                <a:spcPct val="100000"/>
              </a:lnSpc>
              <a:buChar char="•"/>
              <a:tabLst>
                <a:tab pos="156845" algn="l"/>
              </a:tabLst>
            </a:pPr>
            <a:r>
              <a:rPr dirty="0" sz="800" spc="-10">
                <a:latin typeface="Arial MT"/>
                <a:cs typeface="Arial MT"/>
              </a:rPr>
              <a:t>Integration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nightmare</a:t>
            </a:r>
            <a:endParaRPr sz="800">
              <a:latin typeface="Arial MT"/>
              <a:cs typeface="Arial MT"/>
            </a:endParaRPr>
          </a:p>
          <a:p>
            <a:pPr marL="155575" marR="240665" indent="-143510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 sz="800">
                <a:latin typeface="Arial MT"/>
                <a:cs typeface="Arial MT"/>
              </a:rPr>
              <a:t>Suitable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platform teams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693921" y="6605778"/>
            <a:ext cx="1293495" cy="124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5575" marR="22225" indent="-143510">
              <a:lnSpc>
                <a:spcPct val="100000"/>
              </a:lnSpc>
              <a:spcBef>
                <a:spcPts val="100"/>
              </a:spcBef>
              <a:buChar char="•"/>
              <a:tabLst>
                <a:tab pos="155575" algn="l"/>
              </a:tabLst>
            </a:pPr>
            <a:r>
              <a:rPr dirty="0" sz="800" spc="-10">
                <a:latin typeface="Arial MT"/>
                <a:cs typeface="Arial MT"/>
              </a:rPr>
              <a:t>Business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Feature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Based </a:t>
            </a:r>
            <a:r>
              <a:rPr dirty="0" sz="800" spc="-10">
                <a:latin typeface="Arial MT"/>
                <a:cs typeface="Arial MT"/>
              </a:rPr>
              <a:t>structure</a:t>
            </a:r>
            <a:endParaRPr sz="800">
              <a:latin typeface="Arial MT"/>
              <a:cs typeface="Arial MT"/>
            </a:endParaRPr>
          </a:p>
          <a:p>
            <a:pPr marL="155575" marR="259079" indent="-143510">
              <a:lnSpc>
                <a:spcPct val="100000"/>
              </a:lnSpc>
              <a:spcBef>
                <a:spcPts val="5"/>
              </a:spcBef>
              <a:buChar char="•"/>
              <a:tabLst>
                <a:tab pos="155575" algn="l"/>
              </a:tabLst>
            </a:pPr>
            <a:r>
              <a:rPr dirty="0" sz="800">
                <a:latin typeface="Arial MT"/>
                <a:cs typeface="Arial MT"/>
              </a:rPr>
              <a:t>aligned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business domains</a:t>
            </a:r>
            <a:endParaRPr sz="800">
              <a:latin typeface="Arial MT"/>
              <a:cs typeface="Arial MT"/>
            </a:endParaRPr>
          </a:p>
          <a:p>
            <a:pPr marL="156845" indent="-144145">
              <a:lnSpc>
                <a:spcPct val="100000"/>
              </a:lnSpc>
              <a:buChar char="•"/>
              <a:tabLst>
                <a:tab pos="156845" algn="l"/>
              </a:tabLst>
            </a:pPr>
            <a:r>
              <a:rPr dirty="0" sz="800">
                <a:latin typeface="Arial MT"/>
                <a:cs typeface="Arial MT"/>
              </a:rPr>
              <a:t>Faster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feature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realization</a:t>
            </a:r>
            <a:endParaRPr sz="800">
              <a:latin typeface="Arial MT"/>
              <a:cs typeface="Arial MT"/>
            </a:endParaRPr>
          </a:p>
          <a:p>
            <a:pPr algn="just" marL="155575" marR="22860" indent="-143510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 sz="800" spc="-10">
                <a:latin typeface="Arial MT"/>
                <a:cs typeface="Arial MT"/>
              </a:rPr>
              <a:t>Scale-</a:t>
            </a:r>
            <a:r>
              <a:rPr dirty="0" sz="800">
                <a:latin typeface="Arial MT"/>
                <a:cs typeface="Arial MT"/>
              </a:rPr>
              <a:t>up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problem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due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to</a:t>
            </a:r>
            <a:r>
              <a:rPr dirty="0" sz="800">
                <a:latin typeface="Arial MT"/>
                <a:cs typeface="Arial MT"/>
              </a:rPr>
              <a:t> need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 </a:t>
            </a:r>
            <a:r>
              <a:rPr dirty="0" sz="800" spc="-10">
                <a:latin typeface="Arial MT"/>
                <a:cs typeface="Arial MT"/>
              </a:rPr>
              <a:t>cross-functional </a:t>
            </a:r>
            <a:r>
              <a:rPr dirty="0" sz="800" spc="-20">
                <a:latin typeface="Arial MT"/>
                <a:cs typeface="Arial MT"/>
              </a:rPr>
              <a:t>team</a:t>
            </a:r>
            <a:endParaRPr sz="800">
              <a:latin typeface="Arial MT"/>
              <a:cs typeface="Arial MT"/>
            </a:endParaRPr>
          </a:p>
          <a:p>
            <a:pPr algn="just" marL="156845" indent="-144145">
              <a:lnSpc>
                <a:spcPct val="100000"/>
              </a:lnSpc>
              <a:buChar char="•"/>
              <a:tabLst>
                <a:tab pos="156845" algn="l"/>
              </a:tabLst>
            </a:pPr>
            <a:r>
              <a:rPr dirty="0" sz="800" spc="-10">
                <a:latin typeface="Arial MT"/>
                <a:cs typeface="Arial MT"/>
              </a:rPr>
              <a:t>Full-</a:t>
            </a:r>
            <a:r>
              <a:rPr dirty="0" sz="800">
                <a:latin typeface="Arial MT"/>
                <a:cs typeface="Arial MT"/>
              </a:rPr>
              <a:t>stack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engineer</a:t>
            </a:r>
            <a:endParaRPr sz="800">
              <a:latin typeface="Arial MT"/>
              <a:cs typeface="Arial MT"/>
            </a:endParaRPr>
          </a:p>
          <a:p>
            <a:pPr algn="just" marL="156845" indent="-144145">
              <a:lnSpc>
                <a:spcPct val="100000"/>
              </a:lnSpc>
              <a:buChar char="•"/>
              <a:tabLst>
                <a:tab pos="156845" algn="l"/>
              </a:tabLst>
            </a:pPr>
            <a:r>
              <a:rPr dirty="0" sz="800">
                <a:latin typeface="Arial MT"/>
                <a:cs typeface="Arial MT"/>
              </a:rPr>
              <a:t>Lower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hand-</a:t>
            </a:r>
            <a:r>
              <a:rPr dirty="0" sz="800" spc="-25">
                <a:latin typeface="Arial MT"/>
                <a:cs typeface="Arial MT"/>
              </a:rPr>
              <a:t>off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689602" y="5609082"/>
            <a:ext cx="840740" cy="499745"/>
            <a:chOff x="4689602" y="5609082"/>
            <a:chExt cx="840740" cy="499745"/>
          </a:xfrm>
        </p:grpSpPr>
        <p:sp>
          <p:nvSpPr>
            <p:cNvPr id="21" name="object 21" descr=""/>
            <p:cNvSpPr/>
            <p:nvPr/>
          </p:nvSpPr>
          <p:spPr>
            <a:xfrm>
              <a:off x="4692777" y="5612257"/>
              <a:ext cx="834390" cy="493395"/>
            </a:xfrm>
            <a:custGeom>
              <a:avLst/>
              <a:gdLst/>
              <a:ahLst/>
              <a:cxnLst/>
              <a:rect l="l" t="t" r="r" b="b"/>
              <a:pathLst>
                <a:path w="834389" h="493395">
                  <a:moveTo>
                    <a:pt x="560577" y="0"/>
                  </a:moveTo>
                  <a:lnTo>
                    <a:pt x="416940" y="132460"/>
                  </a:lnTo>
                  <a:lnTo>
                    <a:pt x="322452" y="52450"/>
                  </a:lnTo>
                  <a:lnTo>
                    <a:pt x="282194" y="144398"/>
                  </a:lnTo>
                  <a:lnTo>
                    <a:pt x="14224" y="52450"/>
                  </a:lnTo>
                  <a:lnTo>
                    <a:pt x="178562" y="173989"/>
                  </a:lnTo>
                  <a:lnTo>
                    <a:pt x="0" y="196722"/>
                  </a:lnTo>
                  <a:lnTo>
                    <a:pt x="143637" y="268985"/>
                  </a:lnTo>
                  <a:lnTo>
                    <a:pt x="5207" y="333247"/>
                  </a:lnTo>
                  <a:lnTo>
                    <a:pt x="218694" y="318388"/>
                  </a:lnTo>
                  <a:lnTo>
                    <a:pt x="183769" y="402462"/>
                  </a:lnTo>
                  <a:lnTo>
                    <a:pt x="297814" y="356996"/>
                  </a:lnTo>
                  <a:lnTo>
                    <a:pt x="327533" y="493394"/>
                  </a:lnTo>
                  <a:lnTo>
                    <a:pt x="406526" y="341121"/>
                  </a:lnTo>
                  <a:lnTo>
                    <a:pt x="511428" y="450849"/>
                  </a:lnTo>
                  <a:lnTo>
                    <a:pt x="541274" y="330199"/>
                  </a:lnTo>
                  <a:lnTo>
                    <a:pt x="700532" y="413384"/>
                  </a:lnTo>
                  <a:lnTo>
                    <a:pt x="649986" y="295655"/>
                  </a:lnTo>
                  <a:lnTo>
                    <a:pt x="833882" y="303529"/>
                  </a:lnTo>
                  <a:lnTo>
                    <a:pt x="679703" y="239267"/>
                  </a:lnTo>
                  <a:lnTo>
                    <a:pt x="814451" y="185927"/>
                  </a:lnTo>
                  <a:lnTo>
                    <a:pt x="644778" y="167131"/>
                  </a:lnTo>
                  <a:lnTo>
                    <a:pt x="709549" y="101853"/>
                  </a:lnTo>
                  <a:lnTo>
                    <a:pt x="546481" y="121665"/>
                  </a:lnTo>
                  <a:lnTo>
                    <a:pt x="5605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692777" y="5612257"/>
              <a:ext cx="834390" cy="493395"/>
            </a:xfrm>
            <a:custGeom>
              <a:avLst/>
              <a:gdLst/>
              <a:ahLst/>
              <a:cxnLst/>
              <a:rect l="l" t="t" r="r" b="b"/>
              <a:pathLst>
                <a:path w="834389" h="493395">
                  <a:moveTo>
                    <a:pt x="416940" y="132460"/>
                  </a:moveTo>
                  <a:lnTo>
                    <a:pt x="560577" y="0"/>
                  </a:lnTo>
                  <a:lnTo>
                    <a:pt x="546481" y="121665"/>
                  </a:lnTo>
                  <a:lnTo>
                    <a:pt x="709549" y="101853"/>
                  </a:lnTo>
                  <a:lnTo>
                    <a:pt x="644778" y="167131"/>
                  </a:lnTo>
                  <a:lnTo>
                    <a:pt x="814451" y="185927"/>
                  </a:lnTo>
                  <a:lnTo>
                    <a:pt x="679703" y="239267"/>
                  </a:lnTo>
                  <a:lnTo>
                    <a:pt x="833882" y="303529"/>
                  </a:lnTo>
                  <a:lnTo>
                    <a:pt x="649986" y="295655"/>
                  </a:lnTo>
                  <a:lnTo>
                    <a:pt x="700532" y="413384"/>
                  </a:lnTo>
                  <a:lnTo>
                    <a:pt x="541274" y="330199"/>
                  </a:lnTo>
                  <a:lnTo>
                    <a:pt x="511428" y="450849"/>
                  </a:lnTo>
                  <a:lnTo>
                    <a:pt x="406526" y="341121"/>
                  </a:lnTo>
                  <a:lnTo>
                    <a:pt x="327533" y="493394"/>
                  </a:lnTo>
                  <a:lnTo>
                    <a:pt x="297814" y="356996"/>
                  </a:lnTo>
                  <a:lnTo>
                    <a:pt x="183769" y="402462"/>
                  </a:lnTo>
                  <a:lnTo>
                    <a:pt x="218694" y="318388"/>
                  </a:lnTo>
                  <a:lnTo>
                    <a:pt x="5207" y="333247"/>
                  </a:lnTo>
                  <a:lnTo>
                    <a:pt x="143637" y="268985"/>
                  </a:lnTo>
                  <a:lnTo>
                    <a:pt x="0" y="196722"/>
                  </a:lnTo>
                  <a:lnTo>
                    <a:pt x="178562" y="173989"/>
                  </a:lnTo>
                  <a:lnTo>
                    <a:pt x="14224" y="52450"/>
                  </a:lnTo>
                  <a:lnTo>
                    <a:pt x="282194" y="144398"/>
                  </a:lnTo>
                  <a:lnTo>
                    <a:pt x="322452" y="52450"/>
                  </a:lnTo>
                  <a:lnTo>
                    <a:pt x="416940" y="132460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78916" y="5409057"/>
            <a:ext cx="4723130" cy="499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–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Process: Summary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on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How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do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you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structure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your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teams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700" spc="-10">
                <a:latin typeface="Arial MT"/>
                <a:cs typeface="Arial MT"/>
              </a:rPr>
              <a:t>Preferred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118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References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43178" y="1681428"/>
            <a:ext cx="337121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0"/>
              </a:spcBef>
              <a:buChar char="•"/>
              <a:tabLst>
                <a:tab pos="126364" algn="l"/>
              </a:tabLst>
            </a:pPr>
            <a:r>
              <a:rPr dirty="0" sz="900" spc="-10">
                <a:latin typeface="Arial MT"/>
                <a:cs typeface="Arial MT"/>
              </a:rPr>
              <a:t>https://</a:t>
            </a:r>
            <a:r>
              <a:rPr dirty="0" sz="900" spc="-10">
                <a:latin typeface="Arial MT"/>
                <a:cs typeface="Arial MT"/>
                <a:hlinkClick r:id="rId4"/>
              </a:rPr>
              <a:t>www.agil8.com/blog/component-teams-vs-feature-teams/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8916" y="5322934"/>
            <a:ext cx="1923414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Methodologies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20">
                <a:latin typeface="Arial MT"/>
                <a:cs typeface="Arial MT"/>
              </a:rPr>
              <a:t>Test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Driven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Development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Driven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Development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Behavior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Driven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Development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833424" y="4977460"/>
            <a:ext cx="762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425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180965" cy="10560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TDD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Introduction</a:t>
            </a:r>
            <a:endParaRPr sz="1000">
              <a:latin typeface="Arial"/>
              <a:cs typeface="Arial"/>
            </a:endParaRPr>
          </a:p>
          <a:p>
            <a:pPr marL="391160" marR="5080" indent="-114300">
              <a:lnSpc>
                <a:spcPts val="969"/>
              </a:lnSpc>
              <a:spcBef>
                <a:spcPts val="7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Kent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Beck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said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“Test-</a:t>
            </a:r>
            <a:r>
              <a:rPr dirty="0" sz="900">
                <a:latin typeface="Arial MT"/>
                <a:cs typeface="Arial MT"/>
              </a:rPr>
              <a:t>first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code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tends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cohesive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less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coupled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code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0">
                <a:latin typeface="Arial MT"/>
                <a:cs typeface="Arial MT"/>
              </a:rPr>
              <a:t> which </a:t>
            </a:r>
            <a:r>
              <a:rPr dirty="0" sz="900">
                <a:latin typeface="Arial MT"/>
                <a:cs typeface="Arial MT"/>
              </a:rPr>
              <a:t>testing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isn’t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intimate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coding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cycle”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Font typeface="Arial MT"/>
              <a:buChar char="•"/>
            </a:pP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ts val="1025"/>
              </a:lnSpc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“If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can’t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write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what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about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code,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shouldn’t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even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thinking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25"/>
              </a:lnSpc>
            </a:pPr>
            <a:r>
              <a:rPr dirty="0" sz="900">
                <a:latin typeface="Arial MT"/>
                <a:cs typeface="Arial MT"/>
              </a:rPr>
              <a:t>about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coding”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9902" y="5409057"/>
            <a:ext cx="2531110" cy="1204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TDD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Three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steps</a:t>
            </a:r>
            <a:endParaRPr sz="1000">
              <a:latin typeface="Arial"/>
              <a:cs typeface="Arial"/>
            </a:endParaRPr>
          </a:p>
          <a:p>
            <a:pPr marL="127000" indent="-114300">
              <a:lnSpc>
                <a:spcPct val="100000"/>
              </a:lnSpc>
              <a:spcBef>
                <a:spcPts val="950"/>
              </a:spcBef>
              <a:buChar char="•"/>
              <a:tabLst>
                <a:tab pos="127000" algn="l"/>
              </a:tabLst>
            </a:pPr>
            <a:r>
              <a:rPr dirty="0" sz="900" spc="-25">
                <a:latin typeface="Arial MT"/>
                <a:cs typeface="Arial MT"/>
              </a:rPr>
              <a:t>RED</a:t>
            </a:r>
            <a:endParaRPr sz="900">
              <a:latin typeface="Arial MT"/>
              <a:cs typeface="Arial MT"/>
            </a:endParaRPr>
          </a:p>
          <a:p>
            <a:pPr lvl="1" marL="35623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356235" algn="l"/>
              </a:tabLst>
            </a:pPr>
            <a:r>
              <a:rPr dirty="0" sz="800">
                <a:latin typeface="Arial MT"/>
                <a:cs typeface="Arial MT"/>
              </a:rPr>
              <a:t>Write</a:t>
            </a:r>
            <a:r>
              <a:rPr dirty="0" sz="800" spc="-6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new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which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fails</a:t>
            </a:r>
            <a:endParaRPr sz="8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15"/>
              </a:spcBef>
              <a:buChar char="•"/>
              <a:tabLst>
                <a:tab pos="127000" algn="l"/>
              </a:tabLst>
            </a:pPr>
            <a:r>
              <a:rPr dirty="0" sz="900" spc="-10">
                <a:latin typeface="Arial MT"/>
                <a:cs typeface="Arial MT"/>
              </a:rPr>
              <a:t>GREEN</a:t>
            </a:r>
            <a:endParaRPr sz="900">
              <a:latin typeface="Arial MT"/>
              <a:cs typeface="Arial MT"/>
            </a:endParaRPr>
          </a:p>
          <a:p>
            <a:pPr lvl="1" marL="35623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356235" algn="l"/>
              </a:tabLst>
            </a:pPr>
            <a:r>
              <a:rPr dirty="0" sz="800">
                <a:latin typeface="Arial MT"/>
                <a:cs typeface="Arial MT"/>
              </a:rPr>
              <a:t>Write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simplest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possible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code to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make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succeed</a:t>
            </a:r>
            <a:endParaRPr sz="8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15"/>
              </a:spcBef>
              <a:buChar char="•"/>
              <a:tabLst>
                <a:tab pos="127000" algn="l"/>
              </a:tabLst>
            </a:pPr>
            <a:r>
              <a:rPr dirty="0" sz="900" spc="-10">
                <a:latin typeface="Arial MT"/>
                <a:cs typeface="Arial MT"/>
              </a:rPr>
              <a:t>REFACTOR</a:t>
            </a:r>
            <a:endParaRPr sz="900">
              <a:latin typeface="Arial MT"/>
              <a:cs typeface="Arial MT"/>
            </a:endParaRPr>
          </a:p>
          <a:p>
            <a:pPr lvl="1" marL="35623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356235" algn="l"/>
              </a:tabLst>
            </a:pPr>
            <a:r>
              <a:rPr dirty="0" sz="800">
                <a:latin typeface="Arial MT"/>
                <a:cs typeface="Arial MT"/>
              </a:rPr>
              <a:t>Refactor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code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(including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</a:t>
            </a:r>
            <a:r>
              <a:rPr dirty="0" sz="800" spc="-10">
                <a:latin typeface="Arial MT"/>
                <a:cs typeface="Arial MT"/>
              </a:rPr>
              <a:t> code)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6857" y="5994019"/>
            <a:ext cx="3378580" cy="1910714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425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269865" cy="4794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TDD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Technique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TDD 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 technique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whereby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write your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cases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before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write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implementation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code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409057"/>
            <a:ext cx="887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TDD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Overview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164839" y="5806821"/>
            <a:ext cx="488950" cy="488950"/>
          </a:xfrm>
          <a:custGeom>
            <a:avLst/>
            <a:gdLst/>
            <a:ahLst/>
            <a:cxnLst/>
            <a:rect l="l" t="t" r="r" b="b"/>
            <a:pathLst>
              <a:path w="488950" h="488950">
                <a:moveTo>
                  <a:pt x="244221" y="0"/>
                </a:moveTo>
                <a:lnTo>
                  <a:pt x="195003" y="4967"/>
                </a:lnTo>
                <a:lnTo>
                  <a:pt x="149161" y="19212"/>
                </a:lnTo>
                <a:lnTo>
                  <a:pt x="107677" y="41750"/>
                </a:lnTo>
                <a:lnTo>
                  <a:pt x="71532" y="71596"/>
                </a:lnTo>
                <a:lnTo>
                  <a:pt x="41710" y="107763"/>
                </a:lnTo>
                <a:lnTo>
                  <a:pt x="19192" y="149268"/>
                </a:lnTo>
                <a:lnTo>
                  <a:pt x="4961" y="195125"/>
                </a:lnTo>
                <a:lnTo>
                  <a:pt x="0" y="244347"/>
                </a:lnTo>
                <a:lnTo>
                  <a:pt x="4961" y="293607"/>
                </a:lnTo>
                <a:lnTo>
                  <a:pt x="19192" y="339480"/>
                </a:lnTo>
                <a:lnTo>
                  <a:pt x="41710" y="380987"/>
                </a:lnTo>
                <a:lnTo>
                  <a:pt x="71532" y="417147"/>
                </a:lnTo>
                <a:lnTo>
                  <a:pt x="107677" y="446978"/>
                </a:lnTo>
                <a:lnTo>
                  <a:pt x="149161" y="469501"/>
                </a:lnTo>
                <a:lnTo>
                  <a:pt x="195003" y="483733"/>
                </a:lnTo>
                <a:lnTo>
                  <a:pt x="244221" y="488695"/>
                </a:lnTo>
                <a:lnTo>
                  <a:pt x="293480" y="483733"/>
                </a:lnTo>
                <a:lnTo>
                  <a:pt x="339353" y="469501"/>
                </a:lnTo>
                <a:lnTo>
                  <a:pt x="380860" y="446978"/>
                </a:lnTo>
                <a:lnTo>
                  <a:pt x="417020" y="417147"/>
                </a:lnTo>
                <a:lnTo>
                  <a:pt x="446851" y="380987"/>
                </a:lnTo>
                <a:lnTo>
                  <a:pt x="469374" y="339480"/>
                </a:lnTo>
                <a:lnTo>
                  <a:pt x="483606" y="293607"/>
                </a:lnTo>
                <a:lnTo>
                  <a:pt x="488569" y="244347"/>
                </a:lnTo>
                <a:lnTo>
                  <a:pt x="483606" y="195125"/>
                </a:lnTo>
                <a:lnTo>
                  <a:pt x="469374" y="149268"/>
                </a:lnTo>
                <a:lnTo>
                  <a:pt x="446851" y="107763"/>
                </a:lnTo>
                <a:lnTo>
                  <a:pt x="417020" y="71596"/>
                </a:lnTo>
                <a:lnTo>
                  <a:pt x="380860" y="41750"/>
                </a:lnTo>
                <a:lnTo>
                  <a:pt x="339353" y="19212"/>
                </a:lnTo>
                <a:lnTo>
                  <a:pt x="293480" y="4967"/>
                </a:lnTo>
                <a:lnTo>
                  <a:pt x="24422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235832" y="5916295"/>
            <a:ext cx="346075" cy="2533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90170" marR="5080" indent="-78105">
              <a:lnSpc>
                <a:spcPts val="830"/>
              </a:lnSpc>
              <a:spcBef>
                <a:spcPts val="240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Write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5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 test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691763" y="6190488"/>
            <a:ext cx="1000125" cy="405130"/>
            <a:chOff x="3691763" y="6190488"/>
            <a:chExt cx="1000125" cy="405130"/>
          </a:xfrm>
        </p:grpSpPr>
        <p:sp>
          <p:nvSpPr>
            <p:cNvPr id="14" name="object 14" descr=""/>
            <p:cNvSpPr/>
            <p:nvPr/>
          </p:nvSpPr>
          <p:spPr>
            <a:xfrm>
              <a:off x="3691763" y="6190488"/>
              <a:ext cx="260350" cy="210820"/>
            </a:xfrm>
            <a:custGeom>
              <a:avLst/>
              <a:gdLst/>
              <a:ahLst/>
              <a:cxnLst/>
              <a:rect l="l" t="t" r="r" b="b"/>
              <a:pathLst>
                <a:path w="260350" h="210820">
                  <a:moveTo>
                    <a:pt x="50291" y="0"/>
                  </a:moveTo>
                  <a:lnTo>
                    <a:pt x="0" y="85217"/>
                  </a:lnTo>
                  <a:lnTo>
                    <a:pt x="163702" y="181991"/>
                  </a:lnTo>
                  <a:lnTo>
                    <a:pt x="146938" y="210312"/>
                  </a:lnTo>
                  <a:lnTo>
                    <a:pt x="259841" y="181356"/>
                  </a:lnTo>
                  <a:lnTo>
                    <a:pt x="230886" y="68325"/>
                  </a:lnTo>
                  <a:lnTo>
                    <a:pt x="214122" y="96774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B5CA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695700" y="6434455"/>
              <a:ext cx="995680" cy="160655"/>
            </a:xfrm>
            <a:custGeom>
              <a:avLst/>
              <a:gdLst/>
              <a:ahLst/>
              <a:cxnLst/>
              <a:rect l="l" t="t" r="r" b="b"/>
              <a:pathLst>
                <a:path w="995679" h="160654">
                  <a:moveTo>
                    <a:pt x="968883" y="0"/>
                  </a:moveTo>
                  <a:lnTo>
                    <a:pt x="26797" y="0"/>
                  </a:lnTo>
                  <a:lnTo>
                    <a:pt x="16341" y="2097"/>
                  </a:lnTo>
                  <a:lnTo>
                    <a:pt x="7826" y="7826"/>
                  </a:lnTo>
                  <a:lnTo>
                    <a:pt x="2097" y="16341"/>
                  </a:lnTo>
                  <a:lnTo>
                    <a:pt x="0" y="26797"/>
                  </a:lnTo>
                  <a:lnTo>
                    <a:pt x="0" y="133858"/>
                  </a:lnTo>
                  <a:lnTo>
                    <a:pt x="2097" y="144313"/>
                  </a:lnTo>
                  <a:lnTo>
                    <a:pt x="7826" y="152828"/>
                  </a:lnTo>
                  <a:lnTo>
                    <a:pt x="16341" y="158557"/>
                  </a:lnTo>
                  <a:lnTo>
                    <a:pt x="26797" y="160655"/>
                  </a:lnTo>
                  <a:lnTo>
                    <a:pt x="968883" y="160655"/>
                  </a:lnTo>
                  <a:lnTo>
                    <a:pt x="979338" y="158557"/>
                  </a:lnTo>
                  <a:lnTo>
                    <a:pt x="987853" y="152828"/>
                  </a:lnTo>
                  <a:lnTo>
                    <a:pt x="993582" y="144313"/>
                  </a:lnTo>
                  <a:lnTo>
                    <a:pt x="995679" y="133858"/>
                  </a:lnTo>
                  <a:lnTo>
                    <a:pt x="995679" y="26797"/>
                  </a:lnTo>
                  <a:lnTo>
                    <a:pt x="993582" y="16341"/>
                  </a:lnTo>
                  <a:lnTo>
                    <a:pt x="987853" y="7826"/>
                  </a:lnTo>
                  <a:lnTo>
                    <a:pt x="979338" y="2097"/>
                  </a:lnTo>
                  <a:lnTo>
                    <a:pt x="96888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994530" y="6447790"/>
            <a:ext cx="4006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Compile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710432" y="6602603"/>
            <a:ext cx="973455" cy="473709"/>
            <a:chOff x="3710432" y="6602603"/>
            <a:chExt cx="973455" cy="473709"/>
          </a:xfrm>
        </p:grpSpPr>
        <p:sp>
          <p:nvSpPr>
            <p:cNvPr id="18" name="object 18" descr=""/>
            <p:cNvSpPr/>
            <p:nvPr/>
          </p:nvSpPr>
          <p:spPr>
            <a:xfrm>
              <a:off x="4113149" y="6602603"/>
              <a:ext cx="165100" cy="276860"/>
            </a:xfrm>
            <a:custGeom>
              <a:avLst/>
              <a:gdLst/>
              <a:ahLst/>
              <a:cxnLst/>
              <a:rect l="l" t="t" r="r" b="b"/>
              <a:pathLst>
                <a:path w="165100" h="276859">
                  <a:moveTo>
                    <a:pt x="130555" y="0"/>
                  </a:moveTo>
                  <a:lnTo>
                    <a:pt x="31623" y="762"/>
                  </a:lnTo>
                  <a:lnTo>
                    <a:pt x="33020" y="194310"/>
                  </a:lnTo>
                  <a:lnTo>
                    <a:pt x="0" y="194564"/>
                  </a:lnTo>
                  <a:lnTo>
                    <a:pt x="83058" y="276479"/>
                  </a:lnTo>
                  <a:lnTo>
                    <a:pt x="164973" y="193421"/>
                  </a:lnTo>
                  <a:lnTo>
                    <a:pt x="131952" y="193675"/>
                  </a:lnTo>
                  <a:lnTo>
                    <a:pt x="130555" y="0"/>
                  </a:lnTo>
                  <a:close/>
                </a:path>
              </a:pathLst>
            </a:custGeom>
            <a:solidFill>
              <a:srgbClr val="B5CA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710432" y="6895973"/>
              <a:ext cx="973455" cy="180340"/>
            </a:xfrm>
            <a:custGeom>
              <a:avLst/>
              <a:gdLst/>
              <a:ahLst/>
              <a:cxnLst/>
              <a:rect l="l" t="t" r="r" b="b"/>
              <a:pathLst>
                <a:path w="973454" h="180340">
                  <a:moveTo>
                    <a:pt x="943228" y="0"/>
                  </a:moveTo>
                  <a:lnTo>
                    <a:pt x="29971" y="0"/>
                  </a:lnTo>
                  <a:lnTo>
                    <a:pt x="18323" y="2361"/>
                  </a:lnTo>
                  <a:lnTo>
                    <a:pt x="8794" y="8794"/>
                  </a:lnTo>
                  <a:lnTo>
                    <a:pt x="2361" y="18323"/>
                  </a:lnTo>
                  <a:lnTo>
                    <a:pt x="0" y="29971"/>
                  </a:lnTo>
                  <a:lnTo>
                    <a:pt x="0" y="149987"/>
                  </a:lnTo>
                  <a:lnTo>
                    <a:pt x="2361" y="161688"/>
                  </a:lnTo>
                  <a:lnTo>
                    <a:pt x="8794" y="171211"/>
                  </a:lnTo>
                  <a:lnTo>
                    <a:pt x="18323" y="177615"/>
                  </a:lnTo>
                  <a:lnTo>
                    <a:pt x="29971" y="179958"/>
                  </a:lnTo>
                  <a:lnTo>
                    <a:pt x="943228" y="179958"/>
                  </a:lnTo>
                  <a:lnTo>
                    <a:pt x="954877" y="177615"/>
                  </a:lnTo>
                  <a:lnTo>
                    <a:pt x="964406" y="171211"/>
                  </a:lnTo>
                  <a:lnTo>
                    <a:pt x="970839" y="161688"/>
                  </a:lnTo>
                  <a:lnTo>
                    <a:pt x="973201" y="149987"/>
                  </a:lnTo>
                  <a:lnTo>
                    <a:pt x="973201" y="29971"/>
                  </a:lnTo>
                  <a:lnTo>
                    <a:pt x="970839" y="18323"/>
                  </a:lnTo>
                  <a:lnTo>
                    <a:pt x="964406" y="8794"/>
                  </a:lnTo>
                  <a:lnTo>
                    <a:pt x="954877" y="2361"/>
                  </a:lnTo>
                  <a:lnTo>
                    <a:pt x="94322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3792092" y="6919086"/>
            <a:ext cx="8121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Fix</a:t>
            </a:r>
            <a:r>
              <a:rPr dirty="0" sz="80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Compile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error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725164" y="7096125"/>
            <a:ext cx="934085" cy="485140"/>
            <a:chOff x="3725164" y="7096125"/>
            <a:chExt cx="934085" cy="485140"/>
          </a:xfrm>
        </p:grpSpPr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1752" y="7096125"/>
              <a:ext cx="164973" cy="253873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3725164" y="7379843"/>
              <a:ext cx="934085" cy="201295"/>
            </a:xfrm>
            <a:custGeom>
              <a:avLst/>
              <a:gdLst/>
              <a:ahLst/>
              <a:cxnLst/>
              <a:rect l="l" t="t" r="r" b="b"/>
              <a:pathLst>
                <a:path w="934085" h="201295">
                  <a:moveTo>
                    <a:pt x="900302" y="0"/>
                  </a:moveTo>
                  <a:lnTo>
                    <a:pt x="33527" y="0"/>
                  </a:lnTo>
                  <a:lnTo>
                    <a:pt x="20520" y="2631"/>
                  </a:lnTo>
                  <a:lnTo>
                    <a:pt x="9858" y="9810"/>
                  </a:lnTo>
                  <a:lnTo>
                    <a:pt x="2649" y="20466"/>
                  </a:lnTo>
                  <a:lnTo>
                    <a:pt x="0" y="33527"/>
                  </a:lnTo>
                  <a:lnTo>
                    <a:pt x="0" y="167512"/>
                  </a:lnTo>
                  <a:lnTo>
                    <a:pt x="2649" y="180574"/>
                  </a:lnTo>
                  <a:lnTo>
                    <a:pt x="9858" y="191230"/>
                  </a:lnTo>
                  <a:lnTo>
                    <a:pt x="20520" y="198409"/>
                  </a:lnTo>
                  <a:lnTo>
                    <a:pt x="33527" y="201040"/>
                  </a:lnTo>
                  <a:lnTo>
                    <a:pt x="900302" y="201040"/>
                  </a:lnTo>
                  <a:lnTo>
                    <a:pt x="913364" y="198409"/>
                  </a:lnTo>
                  <a:lnTo>
                    <a:pt x="924020" y="191230"/>
                  </a:lnTo>
                  <a:lnTo>
                    <a:pt x="931199" y="180574"/>
                  </a:lnTo>
                  <a:lnTo>
                    <a:pt x="933831" y="167512"/>
                  </a:lnTo>
                  <a:lnTo>
                    <a:pt x="933831" y="33527"/>
                  </a:lnTo>
                  <a:lnTo>
                    <a:pt x="931199" y="20466"/>
                  </a:lnTo>
                  <a:lnTo>
                    <a:pt x="924020" y="9810"/>
                  </a:lnTo>
                  <a:lnTo>
                    <a:pt x="913364" y="2631"/>
                  </a:lnTo>
                  <a:lnTo>
                    <a:pt x="90030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789679" y="7345426"/>
            <a:ext cx="804545" cy="2533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37185" marR="5080" indent="-325120">
              <a:lnSpc>
                <a:spcPts val="830"/>
              </a:lnSpc>
              <a:spcBef>
                <a:spcPts val="240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Run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test,</a:t>
            </a:r>
            <a:r>
              <a:rPr dirty="0" sz="8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watch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it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 fail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054225" y="7396733"/>
            <a:ext cx="1619250" cy="210185"/>
            <a:chOff x="2054225" y="7396733"/>
            <a:chExt cx="1619250" cy="210185"/>
          </a:xfrm>
        </p:grpSpPr>
        <p:sp>
          <p:nvSpPr>
            <p:cNvPr id="26" name="object 26" descr=""/>
            <p:cNvSpPr/>
            <p:nvPr/>
          </p:nvSpPr>
          <p:spPr>
            <a:xfrm>
              <a:off x="3087116" y="7441691"/>
              <a:ext cx="586740" cy="165100"/>
            </a:xfrm>
            <a:custGeom>
              <a:avLst/>
              <a:gdLst/>
              <a:ahLst/>
              <a:cxnLst/>
              <a:rect l="l" t="t" r="r" b="b"/>
              <a:pathLst>
                <a:path w="586739" h="165100">
                  <a:moveTo>
                    <a:pt x="81152" y="0"/>
                  </a:moveTo>
                  <a:lnTo>
                    <a:pt x="0" y="83819"/>
                  </a:lnTo>
                  <a:lnTo>
                    <a:pt x="83692" y="164972"/>
                  </a:lnTo>
                  <a:lnTo>
                    <a:pt x="83184" y="131952"/>
                  </a:lnTo>
                  <a:lnTo>
                    <a:pt x="586232" y="124078"/>
                  </a:lnTo>
                  <a:lnTo>
                    <a:pt x="584707" y="25145"/>
                  </a:lnTo>
                  <a:lnTo>
                    <a:pt x="81660" y="33019"/>
                  </a:lnTo>
                  <a:lnTo>
                    <a:pt x="81152" y="0"/>
                  </a:lnTo>
                  <a:close/>
                </a:path>
              </a:pathLst>
            </a:custGeom>
            <a:solidFill>
              <a:srgbClr val="B5CA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054225" y="7396733"/>
              <a:ext cx="1016000" cy="202565"/>
            </a:xfrm>
            <a:custGeom>
              <a:avLst/>
              <a:gdLst/>
              <a:ahLst/>
              <a:cxnLst/>
              <a:rect l="l" t="t" r="r" b="b"/>
              <a:pathLst>
                <a:path w="1016000" h="202565">
                  <a:moveTo>
                    <a:pt x="981963" y="0"/>
                  </a:moveTo>
                  <a:lnTo>
                    <a:pt x="33781" y="0"/>
                  </a:lnTo>
                  <a:lnTo>
                    <a:pt x="20627" y="2633"/>
                  </a:lnTo>
                  <a:lnTo>
                    <a:pt x="9890" y="9826"/>
                  </a:lnTo>
                  <a:lnTo>
                    <a:pt x="2653" y="20520"/>
                  </a:lnTo>
                  <a:lnTo>
                    <a:pt x="0" y="33655"/>
                  </a:lnTo>
                  <a:lnTo>
                    <a:pt x="0" y="168402"/>
                  </a:lnTo>
                  <a:lnTo>
                    <a:pt x="2653" y="181556"/>
                  </a:lnTo>
                  <a:lnTo>
                    <a:pt x="9890" y="192293"/>
                  </a:lnTo>
                  <a:lnTo>
                    <a:pt x="20627" y="199530"/>
                  </a:lnTo>
                  <a:lnTo>
                    <a:pt x="33781" y="202184"/>
                  </a:lnTo>
                  <a:lnTo>
                    <a:pt x="981963" y="202184"/>
                  </a:lnTo>
                  <a:lnTo>
                    <a:pt x="995044" y="199530"/>
                  </a:lnTo>
                  <a:lnTo>
                    <a:pt x="1005744" y="192293"/>
                  </a:lnTo>
                  <a:lnTo>
                    <a:pt x="1012967" y="181556"/>
                  </a:lnTo>
                  <a:lnTo>
                    <a:pt x="1015619" y="168402"/>
                  </a:lnTo>
                  <a:lnTo>
                    <a:pt x="1015619" y="33655"/>
                  </a:lnTo>
                  <a:lnTo>
                    <a:pt x="1012967" y="20520"/>
                  </a:lnTo>
                  <a:lnTo>
                    <a:pt x="1005744" y="9826"/>
                  </a:lnTo>
                  <a:lnTo>
                    <a:pt x="995044" y="2633"/>
                  </a:lnTo>
                  <a:lnTo>
                    <a:pt x="98196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2307463" y="7415530"/>
            <a:ext cx="51054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Write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code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2083689" y="6914388"/>
            <a:ext cx="1046480" cy="481965"/>
            <a:chOff x="2083689" y="6914388"/>
            <a:chExt cx="1046480" cy="481965"/>
          </a:xfrm>
        </p:grpSpPr>
        <p:sp>
          <p:nvSpPr>
            <p:cNvPr id="30" name="object 30" descr=""/>
            <p:cNvSpPr/>
            <p:nvPr/>
          </p:nvSpPr>
          <p:spPr>
            <a:xfrm>
              <a:off x="2501773" y="7111365"/>
              <a:ext cx="165100" cy="285115"/>
            </a:xfrm>
            <a:custGeom>
              <a:avLst/>
              <a:gdLst/>
              <a:ahLst/>
              <a:cxnLst/>
              <a:rect l="l" t="t" r="r" b="b"/>
              <a:pathLst>
                <a:path w="165100" h="285115">
                  <a:moveTo>
                    <a:pt x="82550" y="0"/>
                  </a:moveTo>
                  <a:lnTo>
                    <a:pt x="0" y="82549"/>
                  </a:lnTo>
                  <a:lnTo>
                    <a:pt x="33019" y="82549"/>
                  </a:lnTo>
                  <a:lnTo>
                    <a:pt x="33019" y="284987"/>
                  </a:lnTo>
                  <a:lnTo>
                    <a:pt x="131952" y="284987"/>
                  </a:lnTo>
                  <a:lnTo>
                    <a:pt x="131952" y="82549"/>
                  </a:lnTo>
                  <a:lnTo>
                    <a:pt x="164972" y="82549"/>
                  </a:lnTo>
                  <a:lnTo>
                    <a:pt x="82550" y="0"/>
                  </a:lnTo>
                  <a:close/>
                </a:path>
              </a:pathLst>
            </a:custGeom>
            <a:solidFill>
              <a:srgbClr val="B5CA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083689" y="6914388"/>
              <a:ext cx="1046480" cy="187960"/>
            </a:xfrm>
            <a:custGeom>
              <a:avLst/>
              <a:gdLst/>
              <a:ahLst/>
              <a:cxnLst/>
              <a:rect l="l" t="t" r="r" b="b"/>
              <a:pathLst>
                <a:path w="1046480" h="187959">
                  <a:moveTo>
                    <a:pt x="1014730" y="0"/>
                  </a:moveTo>
                  <a:lnTo>
                    <a:pt x="31368" y="0"/>
                  </a:lnTo>
                  <a:lnTo>
                    <a:pt x="19127" y="2452"/>
                  </a:lnTo>
                  <a:lnTo>
                    <a:pt x="9159" y="9143"/>
                  </a:lnTo>
                  <a:lnTo>
                    <a:pt x="2454" y="19073"/>
                  </a:lnTo>
                  <a:lnTo>
                    <a:pt x="0" y="31241"/>
                  </a:lnTo>
                  <a:lnTo>
                    <a:pt x="0" y="156590"/>
                  </a:lnTo>
                  <a:lnTo>
                    <a:pt x="2454" y="168779"/>
                  </a:lnTo>
                  <a:lnTo>
                    <a:pt x="9159" y="178752"/>
                  </a:lnTo>
                  <a:lnTo>
                    <a:pt x="19127" y="185487"/>
                  </a:lnTo>
                  <a:lnTo>
                    <a:pt x="31368" y="187959"/>
                  </a:lnTo>
                  <a:lnTo>
                    <a:pt x="1014730" y="187959"/>
                  </a:lnTo>
                  <a:lnTo>
                    <a:pt x="1026898" y="185487"/>
                  </a:lnTo>
                  <a:lnTo>
                    <a:pt x="1036828" y="178752"/>
                  </a:lnTo>
                  <a:lnTo>
                    <a:pt x="1043519" y="168779"/>
                  </a:lnTo>
                  <a:lnTo>
                    <a:pt x="1045972" y="156590"/>
                  </a:lnTo>
                  <a:lnTo>
                    <a:pt x="1045972" y="31241"/>
                  </a:lnTo>
                  <a:lnTo>
                    <a:pt x="1043519" y="19073"/>
                  </a:lnTo>
                  <a:lnTo>
                    <a:pt x="1036828" y="9143"/>
                  </a:lnTo>
                  <a:lnTo>
                    <a:pt x="1026898" y="2452"/>
                  </a:lnTo>
                  <a:lnTo>
                    <a:pt x="101473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2096770" y="6926071"/>
            <a:ext cx="10191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Run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test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watch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pass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2027301" y="6454013"/>
            <a:ext cx="1153795" cy="462280"/>
            <a:chOff x="2027301" y="6454013"/>
            <a:chExt cx="1153795" cy="462280"/>
          </a:xfrm>
        </p:grpSpPr>
        <p:sp>
          <p:nvSpPr>
            <p:cNvPr id="34" name="object 34" descr=""/>
            <p:cNvSpPr/>
            <p:nvPr/>
          </p:nvSpPr>
          <p:spPr>
            <a:xfrm>
              <a:off x="2522601" y="6631432"/>
              <a:ext cx="165100" cy="285115"/>
            </a:xfrm>
            <a:custGeom>
              <a:avLst/>
              <a:gdLst/>
              <a:ahLst/>
              <a:cxnLst/>
              <a:rect l="l" t="t" r="r" b="b"/>
              <a:pathLst>
                <a:path w="165100" h="285115">
                  <a:moveTo>
                    <a:pt x="81915" y="0"/>
                  </a:moveTo>
                  <a:lnTo>
                    <a:pt x="0" y="82931"/>
                  </a:lnTo>
                  <a:lnTo>
                    <a:pt x="32893" y="82677"/>
                  </a:lnTo>
                  <a:lnTo>
                    <a:pt x="34036" y="284861"/>
                  </a:lnTo>
                  <a:lnTo>
                    <a:pt x="132969" y="284226"/>
                  </a:lnTo>
                  <a:lnTo>
                    <a:pt x="131825" y="82169"/>
                  </a:lnTo>
                  <a:lnTo>
                    <a:pt x="164846" y="81915"/>
                  </a:lnTo>
                  <a:lnTo>
                    <a:pt x="81915" y="0"/>
                  </a:lnTo>
                  <a:close/>
                </a:path>
              </a:pathLst>
            </a:custGeom>
            <a:solidFill>
              <a:srgbClr val="B5CA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027301" y="6454013"/>
              <a:ext cx="1153795" cy="170815"/>
            </a:xfrm>
            <a:custGeom>
              <a:avLst/>
              <a:gdLst/>
              <a:ahLst/>
              <a:cxnLst/>
              <a:rect l="l" t="t" r="r" b="b"/>
              <a:pathLst>
                <a:path w="1153795" h="170815">
                  <a:moveTo>
                    <a:pt x="1124966" y="0"/>
                  </a:moveTo>
                  <a:lnTo>
                    <a:pt x="28448" y="0"/>
                  </a:lnTo>
                  <a:lnTo>
                    <a:pt x="17359" y="2230"/>
                  </a:lnTo>
                  <a:lnTo>
                    <a:pt x="8318" y="8318"/>
                  </a:lnTo>
                  <a:lnTo>
                    <a:pt x="2230" y="17359"/>
                  </a:lnTo>
                  <a:lnTo>
                    <a:pt x="0" y="28448"/>
                  </a:lnTo>
                  <a:lnTo>
                    <a:pt x="0" y="141986"/>
                  </a:lnTo>
                  <a:lnTo>
                    <a:pt x="2230" y="153001"/>
                  </a:lnTo>
                  <a:lnTo>
                    <a:pt x="8318" y="162004"/>
                  </a:lnTo>
                  <a:lnTo>
                    <a:pt x="17359" y="168078"/>
                  </a:lnTo>
                  <a:lnTo>
                    <a:pt x="28448" y="170306"/>
                  </a:lnTo>
                  <a:lnTo>
                    <a:pt x="1124966" y="170306"/>
                  </a:lnTo>
                  <a:lnTo>
                    <a:pt x="1136054" y="168078"/>
                  </a:lnTo>
                  <a:lnTo>
                    <a:pt x="1145095" y="162004"/>
                  </a:lnTo>
                  <a:lnTo>
                    <a:pt x="1151183" y="153001"/>
                  </a:lnTo>
                  <a:lnTo>
                    <a:pt x="1153414" y="141986"/>
                  </a:lnTo>
                  <a:lnTo>
                    <a:pt x="1153414" y="28448"/>
                  </a:lnTo>
                  <a:lnTo>
                    <a:pt x="1151183" y="17359"/>
                  </a:lnTo>
                  <a:lnTo>
                    <a:pt x="1145095" y="8318"/>
                  </a:lnTo>
                  <a:lnTo>
                    <a:pt x="1136054" y="2230"/>
                  </a:lnTo>
                  <a:lnTo>
                    <a:pt x="112496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2190369" y="6456934"/>
            <a:ext cx="8286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Refactor</a:t>
            </a:r>
            <a:r>
              <a:rPr dirty="0" sz="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code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2619755" y="6058153"/>
            <a:ext cx="499745" cy="379730"/>
          </a:xfrm>
          <a:custGeom>
            <a:avLst/>
            <a:gdLst/>
            <a:ahLst/>
            <a:cxnLst/>
            <a:rect l="l" t="t" r="r" b="b"/>
            <a:pathLst>
              <a:path w="499744" h="379729">
                <a:moveTo>
                  <a:pt x="385318" y="0"/>
                </a:moveTo>
                <a:lnTo>
                  <a:pt x="403606" y="27432"/>
                </a:lnTo>
                <a:lnTo>
                  <a:pt x="0" y="297180"/>
                </a:lnTo>
                <a:lnTo>
                  <a:pt x="54991" y="379476"/>
                </a:lnTo>
                <a:lnTo>
                  <a:pt x="458596" y="109728"/>
                </a:lnTo>
                <a:lnTo>
                  <a:pt x="476885" y="137160"/>
                </a:lnTo>
                <a:lnTo>
                  <a:pt x="499618" y="22733"/>
                </a:lnTo>
                <a:lnTo>
                  <a:pt x="385318" y="0"/>
                </a:lnTo>
                <a:close/>
              </a:path>
            </a:pathLst>
          </a:custGeom>
          <a:solidFill>
            <a:srgbClr val="B5CA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425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4170679" cy="26377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TDD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Overview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Contd..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How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0">
                <a:latin typeface="Arial MT"/>
                <a:cs typeface="Arial MT"/>
              </a:rPr>
              <a:t> Works: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Add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20">
                <a:latin typeface="Arial MT"/>
                <a:cs typeface="Arial MT"/>
              </a:rPr>
              <a:t> Test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Use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Cases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/ User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Stories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used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understand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requirement clearly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Run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new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fail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20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Ensures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harness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working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correctly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Ensures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does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mistakenly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pass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Write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some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code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Only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code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designed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pass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test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No </a:t>
            </a:r>
            <a:r>
              <a:rPr dirty="0" sz="800" spc="-10">
                <a:latin typeface="Arial MT"/>
                <a:cs typeface="Arial MT"/>
              </a:rPr>
              <a:t>additional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functionality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should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included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because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 be </a:t>
            </a:r>
            <a:r>
              <a:rPr dirty="0" sz="800" spc="-10">
                <a:latin typeface="Arial MT"/>
                <a:cs typeface="Arial MT"/>
              </a:rPr>
              <a:t>untested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Run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automated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them</a:t>
            </a:r>
            <a:r>
              <a:rPr dirty="0" sz="900" spc="-10">
                <a:latin typeface="Arial MT"/>
                <a:cs typeface="Arial MT"/>
              </a:rPr>
              <a:t> succeed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If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pass,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programmer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confident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code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meets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all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tested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requirements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Refactor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code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Cleanup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 </a:t>
            </a:r>
            <a:r>
              <a:rPr dirty="0" sz="800" spc="-20">
                <a:latin typeface="Arial MT"/>
                <a:cs typeface="Arial MT"/>
              </a:rPr>
              <a:t>code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Rerun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ensure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cleanup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did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break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anything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Repeat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229225" cy="1650364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TDD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Overview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Contd..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Extreme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Programming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Explored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Green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Book),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Bill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Wake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describes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/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code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cycle:</a:t>
            </a:r>
            <a:endParaRPr sz="900">
              <a:latin typeface="Arial MT"/>
              <a:cs typeface="Arial MT"/>
            </a:endParaRPr>
          </a:p>
          <a:p>
            <a:pPr lvl="1" marL="678180" indent="-172720">
              <a:lnSpc>
                <a:spcPct val="100000"/>
              </a:lnSpc>
              <a:spcBef>
                <a:spcPts val="200"/>
              </a:spcBef>
              <a:buAutoNum type="arabicPeriod"/>
              <a:tabLst>
                <a:tab pos="678180" algn="l"/>
              </a:tabLst>
            </a:pPr>
            <a:r>
              <a:rPr dirty="0" sz="800">
                <a:latin typeface="Arial MT"/>
                <a:cs typeface="Arial MT"/>
              </a:rPr>
              <a:t>Write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single</a:t>
            </a:r>
            <a:r>
              <a:rPr dirty="0" sz="800" spc="-20">
                <a:latin typeface="Arial MT"/>
                <a:cs typeface="Arial MT"/>
              </a:rPr>
              <a:t> test</a:t>
            </a:r>
            <a:endParaRPr sz="800">
              <a:latin typeface="Arial MT"/>
              <a:cs typeface="Arial MT"/>
            </a:endParaRPr>
          </a:p>
          <a:p>
            <a:pPr lvl="1" marL="678180" indent="-17272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678180" algn="l"/>
              </a:tabLst>
            </a:pPr>
            <a:r>
              <a:rPr dirty="0" sz="800">
                <a:latin typeface="Arial MT"/>
                <a:cs typeface="Arial MT"/>
              </a:rPr>
              <a:t>Compile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it.</a:t>
            </a:r>
            <a:r>
              <a:rPr dirty="0" sz="800" spc="2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 </a:t>
            </a:r>
            <a:r>
              <a:rPr dirty="0" sz="800" spc="-10">
                <a:latin typeface="Arial MT"/>
                <a:cs typeface="Arial MT"/>
              </a:rPr>
              <a:t>shouldn’t </a:t>
            </a:r>
            <a:r>
              <a:rPr dirty="0" sz="800">
                <a:latin typeface="Arial MT"/>
                <a:cs typeface="Arial MT"/>
              </a:rPr>
              <a:t>compile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because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you’ve not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written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implementation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code</a:t>
            </a:r>
            <a:endParaRPr sz="800">
              <a:latin typeface="Arial MT"/>
              <a:cs typeface="Arial MT"/>
            </a:endParaRPr>
          </a:p>
          <a:p>
            <a:pPr lvl="1" marL="678180" indent="-17272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678180" algn="l"/>
              </a:tabLst>
            </a:pPr>
            <a:r>
              <a:rPr dirty="0" sz="800">
                <a:latin typeface="Arial MT"/>
                <a:cs typeface="Arial MT"/>
              </a:rPr>
              <a:t>Implement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just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enough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code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get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compile</a:t>
            </a:r>
            <a:endParaRPr sz="800">
              <a:latin typeface="Arial MT"/>
              <a:cs typeface="Arial MT"/>
            </a:endParaRPr>
          </a:p>
          <a:p>
            <a:pPr lvl="1" marL="678180" indent="-1727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678180" algn="l"/>
              </a:tabLst>
            </a:pPr>
            <a:r>
              <a:rPr dirty="0" sz="800">
                <a:latin typeface="Arial MT"/>
                <a:cs typeface="Arial MT"/>
              </a:rPr>
              <a:t>Run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-20">
                <a:latin typeface="Arial MT"/>
                <a:cs typeface="Arial MT"/>
              </a:rPr>
              <a:t> fail</a:t>
            </a:r>
            <a:endParaRPr sz="800">
              <a:latin typeface="Arial MT"/>
              <a:cs typeface="Arial MT"/>
            </a:endParaRPr>
          </a:p>
          <a:p>
            <a:pPr lvl="1" marL="678180" indent="-17272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678180" algn="l"/>
              </a:tabLst>
            </a:pPr>
            <a:r>
              <a:rPr dirty="0" sz="800">
                <a:latin typeface="Arial MT"/>
                <a:cs typeface="Arial MT"/>
              </a:rPr>
              <a:t>Implement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just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enough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code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get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pass</a:t>
            </a:r>
            <a:endParaRPr sz="800">
              <a:latin typeface="Arial MT"/>
              <a:cs typeface="Arial MT"/>
            </a:endParaRPr>
          </a:p>
          <a:p>
            <a:pPr lvl="1" marL="678180" indent="-1727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678180" algn="l"/>
              </a:tabLst>
            </a:pPr>
            <a:r>
              <a:rPr dirty="0" sz="800">
                <a:latin typeface="Arial MT"/>
                <a:cs typeface="Arial MT"/>
              </a:rPr>
              <a:t>Run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-20">
                <a:latin typeface="Arial MT"/>
                <a:cs typeface="Arial MT"/>
              </a:rPr>
              <a:t> pass</a:t>
            </a:r>
            <a:endParaRPr sz="800">
              <a:latin typeface="Arial MT"/>
              <a:cs typeface="Arial MT"/>
            </a:endParaRPr>
          </a:p>
          <a:p>
            <a:pPr lvl="1" marL="678180" indent="-17272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678180" algn="l"/>
              </a:tabLst>
            </a:pPr>
            <a:r>
              <a:rPr dirty="0" sz="800">
                <a:latin typeface="Arial MT"/>
                <a:cs typeface="Arial MT"/>
              </a:rPr>
              <a:t>Refactor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clarity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“once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only</a:t>
            </a:r>
            <a:r>
              <a:rPr dirty="0" sz="800" spc="-20">
                <a:latin typeface="Arial MT"/>
                <a:cs typeface="Arial MT"/>
              </a:rPr>
              <a:t> once”</a:t>
            </a:r>
            <a:endParaRPr sz="800">
              <a:latin typeface="Arial MT"/>
              <a:cs typeface="Arial MT"/>
            </a:endParaRPr>
          </a:p>
          <a:p>
            <a:pPr lvl="1" marL="678180" indent="-17272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678180" algn="l"/>
              </a:tabLst>
            </a:pPr>
            <a:r>
              <a:rPr dirty="0" sz="800" spc="-10">
                <a:latin typeface="Arial MT"/>
                <a:cs typeface="Arial MT"/>
              </a:rPr>
              <a:t>Repeat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425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3671570" cy="113855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Why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TDD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TDD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lead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modularized,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flexible,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extensible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code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Clean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code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Leads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better</a:t>
            </a:r>
            <a:r>
              <a:rPr dirty="0" sz="900" spc="-10">
                <a:latin typeface="Arial MT"/>
                <a:cs typeface="Arial MT"/>
              </a:rPr>
              <a:t> design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Better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code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documentation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productive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409057"/>
            <a:ext cx="13792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Test</a:t>
            </a:r>
            <a:r>
              <a:rPr dirty="0" sz="1000" spc="-4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First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vs.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Test</a:t>
            </a:r>
            <a:r>
              <a:rPr dirty="0" sz="1000" spc="-4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Last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83791" y="6006998"/>
            <a:ext cx="87376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290"/>
              </a:spcBef>
            </a:pPr>
            <a:r>
              <a:rPr dirty="0" sz="700" spc="-10">
                <a:latin typeface="Arial MT"/>
                <a:cs typeface="Arial MT"/>
              </a:rPr>
              <a:t>Understand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92733" y="6353835"/>
            <a:ext cx="1056005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290"/>
              </a:spcBef>
            </a:pPr>
            <a:r>
              <a:rPr dirty="0" sz="700">
                <a:latin typeface="Arial MT"/>
                <a:cs typeface="Arial MT"/>
              </a:rPr>
              <a:t>Add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test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case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183576" y="6632727"/>
            <a:ext cx="1273810" cy="182245"/>
          </a:xfrm>
          <a:custGeom>
            <a:avLst/>
            <a:gdLst/>
            <a:ahLst/>
            <a:cxnLst/>
            <a:rect l="l" t="t" r="r" b="b"/>
            <a:pathLst>
              <a:path w="1273810" h="182245">
                <a:moveTo>
                  <a:pt x="0" y="182219"/>
                </a:moveTo>
                <a:lnTo>
                  <a:pt x="1273810" y="182219"/>
                </a:lnTo>
                <a:lnTo>
                  <a:pt x="1273810" y="0"/>
                </a:lnTo>
                <a:lnTo>
                  <a:pt x="0" y="0"/>
                </a:lnTo>
                <a:lnTo>
                  <a:pt x="0" y="182219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598167" y="6657593"/>
            <a:ext cx="4464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Arial MT"/>
                <a:cs typeface="Arial MT"/>
              </a:rPr>
              <a:t>Write</a:t>
            </a:r>
            <a:r>
              <a:rPr dirty="0" sz="700" spc="-45"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code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01952" y="6911619"/>
            <a:ext cx="87376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193675">
              <a:lnSpc>
                <a:spcPct val="100000"/>
              </a:lnSpc>
              <a:spcBef>
                <a:spcPts val="290"/>
              </a:spcBef>
            </a:pPr>
            <a:r>
              <a:rPr dirty="0" sz="700">
                <a:latin typeface="Arial MT"/>
                <a:cs typeface="Arial MT"/>
              </a:rPr>
              <a:t>Run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all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tests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401952" y="7226300"/>
            <a:ext cx="837565" cy="326390"/>
          </a:xfrm>
          <a:custGeom>
            <a:avLst/>
            <a:gdLst/>
            <a:ahLst/>
            <a:cxnLst/>
            <a:rect l="l" t="t" r="r" b="b"/>
            <a:pathLst>
              <a:path w="837564" h="326390">
                <a:moveTo>
                  <a:pt x="0" y="162941"/>
                </a:moveTo>
                <a:lnTo>
                  <a:pt x="418465" y="0"/>
                </a:lnTo>
                <a:lnTo>
                  <a:pt x="837057" y="162941"/>
                </a:lnTo>
                <a:lnTo>
                  <a:pt x="418465" y="325881"/>
                </a:lnTo>
                <a:lnTo>
                  <a:pt x="0" y="162941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658239" y="7322946"/>
            <a:ext cx="3251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Arial MT"/>
                <a:cs typeface="Arial MT"/>
              </a:rPr>
              <a:t>Result?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74065" y="7135266"/>
            <a:ext cx="65532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290"/>
              </a:spcBef>
            </a:pPr>
            <a:r>
              <a:rPr dirty="0" sz="700" spc="-10">
                <a:latin typeface="Arial MT"/>
                <a:cs typeface="Arial MT"/>
              </a:rPr>
              <a:t>Rework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078863" y="7455154"/>
            <a:ext cx="1036955" cy="414655"/>
            <a:chOff x="2078863" y="7455154"/>
            <a:chExt cx="1036955" cy="414655"/>
          </a:xfrm>
        </p:grpSpPr>
        <p:sp>
          <p:nvSpPr>
            <p:cNvPr id="20" name="object 20" descr=""/>
            <p:cNvSpPr/>
            <p:nvPr/>
          </p:nvSpPr>
          <p:spPr>
            <a:xfrm>
              <a:off x="2082038" y="7458329"/>
              <a:ext cx="1030605" cy="408305"/>
            </a:xfrm>
            <a:custGeom>
              <a:avLst/>
              <a:gdLst/>
              <a:ahLst/>
              <a:cxnLst/>
              <a:rect l="l" t="t" r="r" b="b"/>
              <a:pathLst>
                <a:path w="1030605" h="408304">
                  <a:moveTo>
                    <a:pt x="515238" y="0"/>
                  </a:moveTo>
                  <a:lnTo>
                    <a:pt x="0" y="203835"/>
                  </a:lnTo>
                  <a:lnTo>
                    <a:pt x="515238" y="407797"/>
                  </a:lnTo>
                  <a:lnTo>
                    <a:pt x="1030478" y="203835"/>
                  </a:lnTo>
                  <a:lnTo>
                    <a:pt x="515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082038" y="7458329"/>
              <a:ext cx="1030605" cy="408305"/>
            </a:xfrm>
            <a:custGeom>
              <a:avLst/>
              <a:gdLst/>
              <a:ahLst/>
              <a:cxnLst/>
              <a:rect l="l" t="t" r="r" b="b"/>
              <a:pathLst>
                <a:path w="1030605" h="408304">
                  <a:moveTo>
                    <a:pt x="0" y="203835"/>
                  </a:moveTo>
                  <a:lnTo>
                    <a:pt x="515238" y="0"/>
                  </a:lnTo>
                  <a:lnTo>
                    <a:pt x="1030478" y="203835"/>
                  </a:lnTo>
                  <a:lnTo>
                    <a:pt x="515238" y="407797"/>
                  </a:lnTo>
                  <a:lnTo>
                    <a:pt x="0" y="203835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387345" y="7557896"/>
            <a:ext cx="4197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795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Arial MT"/>
                <a:cs typeface="Arial MT"/>
              </a:rPr>
              <a:t>Story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10">
                <a:latin typeface="Arial MT"/>
                <a:cs typeface="Arial MT"/>
              </a:rPr>
              <a:t>completed?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801367" y="6189217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8100" h="165100">
                <a:moveTo>
                  <a:pt x="17525" y="126491"/>
                </a:moveTo>
                <a:lnTo>
                  <a:pt x="0" y="126491"/>
                </a:lnTo>
                <a:lnTo>
                  <a:pt x="19050" y="164591"/>
                </a:lnTo>
                <a:lnTo>
                  <a:pt x="34925" y="132841"/>
                </a:lnTo>
                <a:lnTo>
                  <a:pt x="17525" y="132841"/>
                </a:lnTo>
                <a:lnTo>
                  <a:pt x="17525" y="126491"/>
                </a:lnTo>
                <a:close/>
              </a:path>
              <a:path w="38100" h="165100">
                <a:moveTo>
                  <a:pt x="20700" y="0"/>
                </a:moveTo>
                <a:lnTo>
                  <a:pt x="17525" y="0"/>
                </a:lnTo>
                <a:lnTo>
                  <a:pt x="17525" y="132841"/>
                </a:lnTo>
                <a:lnTo>
                  <a:pt x="20700" y="132841"/>
                </a:lnTo>
                <a:lnTo>
                  <a:pt x="20700" y="0"/>
                </a:lnTo>
                <a:close/>
              </a:path>
              <a:path w="38100" h="165100">
                <a:moveTo>
                  <a:pt x="38100" y="126491"/>
                </a:moveTo>
                <a:lnTo>
                  <a:pt x="20700" y="126491"/>
                </a:lnTo>
                <a:lnTo>
                  <a:pt x="20700" y="132841"/>
                </a:lnTo>
                <a:lnTo>
                  <a:pt x="34925" y="132841"/>
                </a:lnTo>
                <a:lnTo>
                  <a:pt x="38100" y="1264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1000058" y="6427089"/>
            <a:ext cx="2113280" cy="1478280"/>
            <a:chOff x="1000058" y="6427089"/>
            <a:chExt cx="2113280" cy="1478280"/>
          </a:xfrm>
        </p:grpSpPr>
        <p:sp>
          <p:nvSpPr>
            <p:cNvPr id="25" name="object 25" descr=""/>
            <p:cNvSpPr/>
            <p:nvPr/>
          </p:nvSpPr>
          <p:spPr>
            <a:xfrm>
              <a:off x="1000048" y="6427088"/>
              <a:ext cx="2113280" cy="1236980"/>
            </a:xfrm>
            <a:custGeom>
              <a:avLst/>
              <a:gdLst/>
              <a:ahLst/>
              <a:cxnLst/>
              <a:rect l="l" t="t" r="r" b="b"/>
              <a:pathLst>
                <a:path w="2113280" h="1236979">
                  <a:moveTo>
                    <a:pt x="183527" y="296799"/>
                  </a:moveTo>
                  <a:lnTo>
                    <a:pt x="141592" y="289306"/>
                  </a:lnTo>
                  <a:lnTo>
                    <a:pt x="146786" y="306933"/>
                  </a:lnTo>
                  <a:lnTo>
                    <a:pt x="140436" y="309753"/>
                  </a:lnTo>
                  <a:lnTo>
                    <a:pt x="107543" y="339979"/>
                  </a:lnTo>
                  <a:lnTo>
                    <a:pt x="84645" y="371856"/>
                  </a:lnTo>
                  <a:lnTo>
                    <a:pt x="63512" y="410464"/>
                  </a:lnTo>
                  <a:lnTo>
                    <a:pt x="44691" y="454787"/>
                  </a:lnTo>
                  <a:lnTo>
                    <a:pt x="23964" y="521208"/>
                  </a:lnTo>
                  <a:lnTo>
                    <a:pt x="8978" y="593598"/>
                  </a:lnTo>
                  <a:lnTo>
                    <a:pt x="1054" y="669798"/>
                  </a:lnTo>
                  <a:lnTo>
                    <a:pt x="0" y="708279"/>
                  </a:lnTo>
                  <a:lnTo>
                    <a:pt x="3187" y="708279"/>
                  </a:lnTo>
                  <a:lnTo>
                    <a:pt x="4229" y="669798"/>
                  </a:lnTo>
                  <a:lnTo>
                    <a:pt x="7264" y="631571"/>
                  </a:lnTo>
                  <a:lnTo>
                    <a:pt x="18770" y="557530"/>
                  </a:lnTo>
                  <a:lnTo>
                    <a:pt x="36728" y="488061"/>
                  </a:lnTo>
                  <a:lnTo>
                    <a:pt x="53632" y="440690"/>
                  </a:lnTo>
                  <a:lnTo>
                    <a:pt x="73190" y="398399"/>
                  </a:lnTo>
                  <a:lnTo>
                    <a:pt x="94703" y="362331"/>
                  </a:lnTo>
                  <a:lnTo>
                    <a:pt x="125793" y="325374"/>
                  </a:lnTo>
                  <a:lnTo>
                    <a:pt x="147675" y="309943"/>
                  </a:lnTo>
                  <a:lnTo>
                    <a:pt x="147269" y="308584"/>
                  </a:lnTo>
                  <a:lnTo>
                    <a:pt x="147624" y="309753"/>
                  </a:lnTo>
                  <a:lnTo>
                    <a:pt x="147675" y="309943"/>
                  </a:lnTo>
                  <a:lnTo>
                    <a:pt x="152400" y="325882"/>
                  </a:lnTo>
                  <a:lnTo>
                    <a:pt x="175361" y="304419"/>
                  </a:lnTo>
                  <a:lnTo>
                    <a:pt x="183527" y="296799"/>
                  </a:lnTo>
                  <a:close/>
                </a:path>
                <a:path w="2113280" h="1236979">
                  <a:moveTo>
                    <a:pt x="401904" y="960628"/>
                  </a:moveTo>
                  <a:lnTo>
                    <a:pt x="327355" y="958977"/>
                  </a:lnTo>
                  <a:lnTo>
                    <a:pt x="255117" y="954405"/>
                  </a:lnTo>
                  <a:lnTo>
                    <a:pt x="187553" y="947420"/>
                  </a:lnTo>
                  <a:lnTo>
                    <a:pt x="141312" y="940689"/>
                  </a:lnTo>
                  <a:lnTo>
                    <a:pt x="100152" y="932942"/>
                  </a:lnTo>
                  <a:lnTo>
                    <a:pt x="54660" y="921512"/>
                  </a:lnTo>
                  <a:lnTo>
                    <a:pt x="32550" y="912799"/>
                  </a:lnTo>
                  <a:lnTo>
                    <a:pt x="35420" y="909320"/>
                  </a:lnTo>
                  <a:lnTo>
                    <a:pt x="43103" y="900049"/>
                  </a:lnTo>
                  <a:lnTo>
                    <a:pt x="1600" y="890397"/>
                  </a:lnTo>
                  <a:lnTo>
                    <a:pt x="18821" y="929386"/>
                  </a:lnTo>
                  <a:lnTo>
                    <a:pt x="30378" y="915416"/>
                  </a:lnTo>
                  <a:lnTo>
                    <a:pt x="30772" y="915416"/>
                  </a:lnTo>
                  <a:lnTo>
                    <a:pt x="75120" y="930402"/>
                  </a:lnTo>
                  <a:lnTo>
                    <a:pt x="112649" y="938784"/>
                  </a:lnTo>
                  <a:lnTo>
                    <a:pt x="155765" y="946150"/>
                  </a:lnTo>
                  <a:lnTo>
                    <a:pt x="220230" y="954405"/>
                  </a:lnTo>
                  <a:lnTo>
                    <a:pt x="290525" y="960247"/>
                  </a:lnTo>
                  <a:lnTo>
                    <a:pt x="364439" y="963422"/>
                  </a:lnTo>
                  <a:lnTo>
                    <a:pt x="401904" y="963803"/>
                  </a:lnTo>
                  <a:lnTo>
                    <a:pt x="401904" y="960628"/>
                  </a:lnTo>
                  <a:close/>
                </a:path>
                <a:path w="2113280" h="1236979">
                  <a:moveTo>
                    <a:pt x="839419" y="761111"/>
                  </a:moveTo>
                  <a:lnTo>
                    <a:pt x="822020" y="761111"/>
                  </a:lnTo>
                  <a:lnTo>
                    <a:pt x="822020" y="666750"/>
                  </a:lnTo>
                  <a:lnTo>
                    <a:pt x="818845" y="666750"/>
                  </a:lnTo>
                  <a:lnTo>
                    <a:pt x="818845" y="761111"/>
                  </a:lnTo>
                  <a:lnTo>
                    <a:pt x="801319" y="761111"/>
                  </a:lnTo>
                  <a:lnTo>
                    <a:pt x="820369" y="799211"/>
                  </a:lnTo>
                  <a:lnTo>
                    <a:pt x="836244" y="767461"/>
                  </a:lnTo>
                  <a:lnTo>
                    <a:pt x="839419" y="761111"/>
                  </a:lnTo>
                  <a:close/>
                </a:path>
                <a:path w="2113280" h="1236979">
                  <a:moveTo>
                    <a:pt x="839419" y="446405"/>
                  </a:moveTo>
                  <a:lnTo>
                    <a:pt x="822020" y="446405"/>
                  </a:lnTo>
                  <a:lnTo>
                    <a:pt x="822020" y="387858"/>
                  </a:lnTo>
                  <a:lnTo>
                    <a:pt x="818845" y="387858"/>
                  </a:lnTo>
                  <a:lnTo>
                    <a:pt x="818845" y="446405"/>
                  </a:lnTo>
                  <a:lnTo>
                    <a:pt x="801319" y="446405"/>
                  </a:lnTo>
                  <a:lnTo>
                    <a:pt x="820369" y="484505"/>
                  </a:lnTo>
                  <a:lnTo>
                    <a:pt x="836244" y="452755"/>
                  </a:lnTo>
                  <a:lnTo>
                    <a:pt x="839419" y="446405"/>
                  </a:lnTo>
                  <a:close/>
                </a:path>
                <a:path w="2113280" h="1236979">
                  <a:moveTo>
                    <a:pt x="839419" y="167513"/>
                  </a:moveTo>
                  <a:lnTo>
                    <a:pt x="822020" y="167513"/>
                  </a:lnTo>
                  <a:lnTo>
                    <a:pt x="822020" y="108966"/>
                  </a:lnTo>
                  <a:lnTo>
                    <a:pt x="818845" y="108966"/>
                  </a:lnTo>
                  <a:lnTo>
                    <a:pt x="818845" y="167513"/>
                  </a:lnTo>
                  <a:lnTo>
                    <a:pt x="801319" y="167513"/>
                  </a:lnTo>
                  <a:lnTo>
                    <a:pt x="820369" y="205613"/>
                  </a:lnTo>
                  <a:lnTo>
                    <a:pt x="836244" y="173863"/>
                  </a:lnTo>
                  <a:lnTo>
                    <a:pt x="839419" y="167513"/>
                  </a:lnTo>
                  <a:close/>
                </a:path>
                <a:path w="2113280" h="1236979">
                  <a:moveTo>
                    <a:pt x="1597228" y="1031240"/>
                  </a:moveTo>
                  <a:lnTo>
                    <a:pt x="1588998" y="1012063"/>
                  </a:lnTo>
                  <a:lnTo>
                    <a:pt x="1580464" y="992124"/>
                  </a:lnTo>
                  <a:lnTo>
                    <a:pt x="1568894" y="1005789"/>
                  </a:lnTo>
                  <a:lnTo>
                    <a:pt x="1531569" y="992632"/>
                  </a:lnTo>
                  <a:lnTo>
                    <a:pt x="1485595" y="982218"/>
                  </a:lnTo>
                  <a:lnTo>
                    <a:pt x="1431366" y="973455"/>
                  </a:lnTo>
                  <a:lnTo>
                    <a:pt x="1370660" y="966597"/>
                  </a:lnTo>
                  <a:lnTo>
                    <a:pt x="1305890" y="962152"/>
                  </a:lnTo>
                  <a:lnTo>
                    <a:pt x="1238961" y="960628"/>
                  </a:lnTo>
                  <a:lnTo>
                    <a:pt x="1238961" y="963803"/>
                  </a:lnTo>
                  <a:lnTo>
                    <a:pt x="1272489" y="964184"/>
                  </a:lnTo>
                  <a:lnTo>
                    <a:pt x="1305763" y="965327"/>
                  </a:lnTo>
                  <a:lnTo>
                    <a:pt x="1370406" y="969645"/>
                  </a:lnTo>
                  <a:lnTo>
                    <a:pt x="1430858" y="976503"/>
                  </a:lnTo>
                  <a:lnTo>
                    <a:pt x="1484845" y="985253"/>
                  </a:lnTo>
                  <a:lnTo>
                    <a:pt x="1530680" y="995807"/>
                  </a:lnTo>
                  <a:lnTo>
                    <a:pt x="1565846" y="1007364"/>
                  </a:lnTo>
                  <a:lnTo>
                    <a:pt x="1565643" y="1007364"/>
                  </a:lnTo>
                  <a:lnTo>
                    <a:pt x="1566824" y="1008227"/>
                  </a:lnTo>
                  <a:lnTo>
                    <a:pt x="1555826" y="1021207"/>
                  </a:lnTo>
                  <a:lnTo>
                    <a:pt x="1597228" y="1031240"/>
                  </a:lnTo>
                  <a:close/>
                </a:path>
                <a:path w="2113280" h="1236979">
                  <a:moveTo>
                    <a:pt x="2113102" y="1233678"/>
                  </a:moveTo>
                  <a:lnTo>
                    <a:pt x="2112340" y="1233297"/>
                  </a:lnTo>
                  <a:lnTo>
                    <a:pt x="2111756" y="1233017"/>
                  </a:lnTo>
                  <a:lnTo>
                    <a:pt x="2111616" y="1232789"/>
                  </a:lnTo>
                  <a:lnTo>
                    <a:pt x="2110181" y="1230642"/>
                  </a:lnTo>
                  <a:lnTo>
                    <a:pt x="2110092" y="1230515"/>
                  </a:lnTo>
                  <a:lnTo>
                    <a:pt x="2108403" y="1226426"/>
                  </a:lnTo>
                  <a:lnTo>
                    <a:pt x="2106879" y="1220978"/>
                  </a:lnTo>
                  <a:lnTo>
                    <a:pt x="2105101" y="1213612"/>
                  </a:lnTo>
                  <a:lnTo>
                    <a:pt x="2103424" y="1205230"/>
                  </a:lnTo>
                  <a:lnTo>
                    <a:pt x="2103323" y="1204722"/>
                  </a:lnTo>
                  <a:lnTo>
                    <a:pt x="2101748" y="1194816"/>
                  </a:lnTo>
                  <a:lnTo>
                    <a:pt x="2101646" y="1194308"/>
                  </a:lnTo>
                  <a:lnTo>
                    <a:pt x="2099945" y="1183005"/>
                  </a:lnTo>
                  <a:lnTo>
                    <a:pt x="2094966" y="1139698"/>
                  </a:lnTo>
                  <a:lnTo>
                    <a:pt x="2090381" y="1085989"/>
                  </a:lnTo>
                  <a:lnTo>
                    <a:pt x="2087575" y="1044956"/>
                  </a:lnTo>
                  <a:lnTo>
                    <a:pt x="2085035" y="1000506"/>
                  </a:lnTo>
                  <a:lnTo>
                    <a:pt x="2082622" y="952881"/>
                  </a:lnTo>
                  <a:lnTo>
                    <a:pt x="2080717" y="902589"/>
                  </a:lnTo>
                  <a:lnTo>
                    <a:pt x="2078939" y="850011"/>
                  </a:lnTo>
                  <a:lnTo>
                    <a:pt x="2077542" y="795655"/>
                  </a:lnTo>
                  <a:lnTo>
                    <a:pt x="2076526" y="740029"/>
                  </a:lnTo>
                  <a:lnTo>
                    <a:pt x="2075764" y="683387"/>
                  </a:lnTo>
                  <a:lnTo>
                    <a:pt x="2075637" y="626491"/>
                  </a:lnTo>
                  <a:lnTo>
                    <a:pt x="2074621" y="598043"/>
                  </a:lnTo>
                  <a:lnTo>
                    <a:pt x="2071497" y="569722"/>
                  </a:lnTo>
                  <a:lnTo>
                    <a:pt x="2071446" y="569214"/>
                  </a:lnTo>
                  <a:lnTo>
                    <a:pt x="2066493" y="541553"/>
                  </a:lnTo>
                  <a:lnTo>
                    <a:pt x="2050364" y="484505"/>
                  </a:lnTo>
                  <a:lnTo>
                    <a:pt x="2027123" y="429260"/>
                  </a:lnTo>
                  <a:lnTo>
                    <a:pt x="1997278" y="375666"/>
                  </a:lnTo>
                  <a:lnTo>
                    <a:pt x="1961337" y="324104"/>
                  </a:lnTo>
                  <a:lnTo>
                    <a:pt x="1919808" y="274955"/>
                  </a:lnTo>
                  <a:lnTo>
                    <a:pt x="1873199" y="228727"/>
                  </a:lnTo>
                  <a:lnTo>
                    <a:pt x="1822145" y="185928"/>
                  </a:lnTo>
                  <a:lnTo>
                    <a:pt x="1767027" y="146939"/>
                  </a:lnTo>
                  <a:lnTo>
                    <a:pt x="1708480" y="112014"/>
                  </a:lnTo>
                  <a:lnTo>
                    <a:pt x="1646885" y="81915"/>
                  </a:lnTo>
                  <a:lnTo>
                    <a:pt x="1583131" y="56896"/>
                  </a:lnTo>
                  <a:lnTo>
                    <a:pt x="1517218" y="37465"/>
                  </a:lnTo>
                  <a:lnTo>
                    <a:pt x="1450162" y="24130"/>
                  </a:lnTo>
                  <a:lnTo>
                    <a:pt x="1386255" y="17716"/>
                  </a:lnTo>
                  <a:lnTo>
                    <a:pt x="1386268" y="17272"/>
                  </a:lnTo>
                  <a:lnTo>
                    <a:pt x="1386789" y="0"/>
                  </a:lnTo>
                  <a:lnTo>
                    <a:pt x="1348181" y="17907"/>
                  </a:lnTo>
                  <a:lnTo>
                    <a:pt x="1385646" y="38100"/>
                  </a:lnTo>
                  <a:lnTo>
                    <a:pt x="1385785" y="33147"/>
                  </a:lnTo>
                  <a:lnTo>
                    <a:pt x="1385874" y="30099"/>
                  </a:lnTo>
                  <a:lnTo>
                    <a:pt x="1385963" y="27305"/>
                  </a:lnTo>
                  <a:lnTo>
                    <a:pt x="1386065" y="24130"/>
                  </a:lnTo>
                  <a:lnTo>
                    <a:pt x="1386154" y="20904"/>
                  </a:lnTo>
                  <a:lnTo>
                    <a:pt x="1449654" y="27305"/>
                  </a:lnTo>
                  <a:lnTo>
                    <a:pt x="1516456" y="40640"/>
                  </a:lnTo>
                  <a:lnTo>
                    <a:pt x="1581988" y="59817"/>
                  </a:lnTo>
                  <a:lnTo>
                    <a:pt x="1645615" y="84836"/>
                  </a:lnTo>
                  <a:lnTo>
                    <a:pt x="1706956" y="114808"/>
                  </a:lnTo>
                  <a:lnTo>
                    <a:pt x="1765249" y="149479"/>
                  </a:lnTo>
                  <a:lnTo>
                    <a:pt x="1820113" y="188341"/>
                  </a:lnTo>
                  <a:lnTo>
                    <a:pt x="1871040" y="231140"/>
                  </a:lnTo>
                  <a:lnTo>
                    <a:pt x="1917522" y="277114"/>
                  </a:lnTo>
                  <a:lnTo>
                    <a:pt x="1958530" y="325666"/>
                  </a:lnTo>
                  <a:lnTo>
                    <a:pt x="1994611" y="377317"/>
                  </a:lnTo>
                  <a:lnTo>
                    <a:pt x="2024329" y="430657"/>
                  </a:lnTo>
                  <a:lnTo>
                    <a:pt x="2047316" y="485521"/>
                  </a:lnTo>
                  <a:lnTo>
                    <a:pt x="2063115" y="540766"/>
                  </a:lnTo>
                  <a:lnTo>
                    <a:pt x="2063216" y="541553"/>
                  </a:lnTo>
                  <a:lnTo>
                    <a:pt x="2068169" y="569214"/>
                  </a:lnTo>
                  <a:lnTo>
                    <a:pt x="2068271" y="569722"/>
                  </a:lnTo>
                  <a:lnTo>
                    <a:pt x="2071446" y="598043"/>
                  </a:lnTo>
                  <a:lnTo>
                    <a:pt x="2072462" y="626491"/>
                  </a:lnTo>
                  <a:lnTo>
                    <a:pt x="2072589" y="683387"/>
                  </a:lnTo>
                  <a:lnTo>
                    <a:pt x="2073351" y="740029"/>
                  </a:lnTo>
                  <a:lnTo>
                    <a:pt x="2074367" y="795655"/>
                  </a:lnTo>
                  <a:lnTo>
                    <a:pt x="2075764" y="850011"/>
                  </a:lnTo>
                  <a:lnTo>
                    <a:pt x="2077542" y="902589"/>
                  </a:lnTo>
                  <a:lnTo>
                    <a:pt x="2079574" y="952881"/>
                  </a:lnTo>
                  <a:lnTo>
                    <a:pt x="2081860" y="1000506"/>
                  </a:lnTo>
                  <a:lnTo>
                    <a:pt x="2084527" y="1044956"/>
                  </a:lnTo>
                  <a:lnTo>
                    <a:pt x="2085797" y="1065911"/>
                  </a:lnTo>
                  <a:lnTo>
                    <a:pt x="2088692" y="1104646"/>
                  </a:lnTo>
                  <a:lnTo>
                    <a:pt x="2093379" y="1155065"/>
                  </a:lnTo>
                  <a:lnTo>
                    <a:pt x="2098408" y="1194308"/>
                  </a:lnTo>
                  <a:lnTo>
                    <a:pt x="2107387" y="1232281"/>
                  </a:lnTo>
                  <a:lnTo>
                    <a:pt x="2111705" y="1236599"/>
                  </a:lnTo>
                  <a:lnTo>
                    <a:pt x="2113102" y="12336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1505" y="7660640"/>
              <a:ext cx="200659" cy="244538"/>
            </a:xfrm>
            <a:prstGeom prst="rect">
              <a:avLst/>
            </a:prstGeom>
          </p:spPr>
        </p:pic>
      </p:grpSp>
      <p:sp>
        <p:nvSpPr>
          <p:cNvPr id="27" name="object 27" descr=""/>
          <p:cNvSpPr/>
          <p:nvPr/>
        </p:nvSpPr>
        <p:spPr>
          <a:xfrm>
            <a:off x="1801367" y="5869178"/>
            <a:ext cx="38100" cy="138430"/>
          </a:xfrm>
          <a:custGeom>
            <a:avLst/>
            <a:gdLst/>
            <a:ahLst/>
            <a:cxnLst/>
            <a:rect l="l" t="t" r="r" b="b"/>
            <a:pathLst>
              <a:path w="38100" h="138429">
                <a:moveTo>
                  <a:pt x="17525" y="99822"/>
                </a:moveTo>
                <a:lnTo>
                  <a:pt x="0" y="99822"/>
                </a:lnTo>
                <a:lnTo>
                  <a:pt x="19050" y="137922"/>
                </a:lnTo>
                <a:lnTo>
                  <a:pt x="34925" y="106172"/>
                </a:lnTo>
                <a:lnTo>
                  <a:pt x="17525" y="106172"/>
                </a:lnTo>
                <a:lnTo>
                  <a:pt x="17525" y="99822"/>
                </a:lnTo>
                <a:close/>
              </a:path>
              <a:path w="38100" h="138429">
                <a:moveTo>
                  <a:pt x="20700" y="0"/>
                </a:moveTo>
                <a:lnTo>
                  <a:pt x="17525" y="0"/>
                </a:lnTo>
                <a:lnTo>
                  <a:pt x="17525" y="106172"/>
                </a:lnTo>
                <a:lnTo>
                  <a:pt x="20700" y="106172"/>
                </a:lnTo>
                <a:lnTo>
                  <a:pt x="20700" y="0"/>
                </a:lnTo>
                <a:close/>
              </a:path>
              <a:path w="38100" h="138429">
                <a:moveTo>
                  <a:pt x="38100" y="99822"/>
                </a:moveTo>
                <a:lnTo>
                  <a:pt x="20700" y="99822"/>
                </a:lnTo>
                <a:lnTo>
                  <a:pt x="20700" y="106172"/>
                </a:lnTo>
                <a:lnTo>
                  <a:pt x="34925" y="106172"/>
                </a:lnTo>
                <a:lnTo>
                  <a:pt x="38100" y="998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606422" y="5782183"/>
            <a:ext cx="4432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Arial MT"/>
                <a:cs typeface="Arial MT"/>
              </a:rPr>
              <a:t>User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Story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152550" y="7413497"/>
            <a:ext cx="800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Arial MT"/>
                <a:cs typeface="Arial MT"/>
              </a:rPr>
              <a:t>F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345182" y="7271766"/>
            <a:ext cx="844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Arial MT"/>
                <a:cs typeface="Arial MT"/>
              </a:rPr>
              <a:t>P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933192" y="7468361"/>
            <a:ext cx="1390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latin typeface="Arial MT"/>
                <a:cs typeface="Arial MT"/>
              </a:rPr>
              <a:t>No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700910" y="7741666"/>
            <a:ext cx="460375" cy="338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353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latin typeface="Arial MT"/>
                <a:cs typeface="Arial MT"/>
              </a:rPr>
              <a:t>Yes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700">
                <a:latin typeface="Arial MT"/>
                <a:cs typeface="Arial MT"/>
              </a:rPr>
              <a:t>Next</a:t>
            </a:r>
            <a:r>
              <a:rPr dirty="0" sz="700" spc="-10">
                <a:latin typeface="Arial MT"/>
                <a:cs typeface="Arial MT"/>
              </a:rPr>
              <a:t> story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240529" y="6027826"/>
            <a:ext cx="87376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209550">
              <a:lnSpc>
                <a:spcPct val="100000"/>
              </a:lnSpc>
              <a:spcBef>
                <a:spcPts val="290"/>
              </a:spcBef>
            </a:pPr>
            <a:r>
              <a:rPr dirty="0" sz="700" spc="-10">
                <a:latin typeface="Arial MT"/>
                <a:cs typeface="Arial MT"/>
              </a:rPr>
              <a:t>Understand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4149597" y="6374536"/>
            <a:ext cx="1056005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226060">
              <a:lnSpc>
                <a:spcPct val="100000"/>
              </a:lnSpc>
              <a:spcBef>
                <a:spcPts val="290"/>
              </a:spcBef>
            </a:pPr>
            <a:r>
              <a:rPr dirty="0" sz="700" spc="-10">
                <a:latin typeface="Arial MT"/>
                <a:cs typeface="Arial MT"/>
              </a:rPr>
              <a:t>Implementation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040378" y="6653428"/>
            <a:ext cx="127381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290"/>
              </a:spcBef>
            </a:pPr>
            <a:r>
              <a:rPr dirty="0" sz="700">
                <a:latin typeface="Arial MT"/>
                <a:cs typeface="Arial MT"/>
              </a:rPr>
              <a:t>Write</a:t>
            </a:r>
            <a:r>
              <a:rPr dirty="0" sz="700" spc="-5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the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tests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for</a:t>
            </a:r>
            <a:r>
              <a:rPr dirty="0" sz="700" spc="-20">
                <a:latin typeface="Arial MT"/>
                <a:cs typeface="Arial MT"/>
              </a:rPr>
              <a:t> story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258817" y="6932320"/>
            <a:ext cx="87376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194310">
              <a:lnSpc>
                <a:spcPct val="100000"/>
              </a:lnSpc>
              <a:spcBef>
                <a:spcPts val="290"/>
              </a:spcBef>
            </a:pPr>
            <a:r>
              <a:rPr dirty="0" sz="700">
                <a:latin typeface="Arial MT"/>
                <a:cs typeface="Arial MT"/>
              </a:rPr>
              <a:t>Run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all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tests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4258817" y="7247001"/>
            <a:ext cx="837565" cy="326390"/>
          </a:xfrm>
          <a:custGeom>
            <a:avLst/>
            <a:gdLst/>
            <a:ahLst/>
            <a:cxnLst/>
            <a:rect l="l" t="t" r="r" b="b"/>
            <a:pathLst>
              <a:path w="837564" h="326390">
                <a:moveTo>
                  <a:pt x="0" y="162941"/>
                </a:moveTo>
                <a:lnTo>
                  <a:pt x="418465" y="0"/>
                </a:lnTo>
                <a:lnTo>
                  <a:pt x="837057" y="162941"/>
                </a:lnTo>
                <a:lnTo>
                  <a:pt x="418465" y="325882"/>
                </a:lnTo>
                <a:lnTo>
                  <a:pt x="0" y="162941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4515739" y="7343647"/>
            <a:ext cx="3251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Arial MT"/>
                <a:cs typeface="Arial MT"/>
              </a:rPr>
              <a:t>Result?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530853" y="7155967"/>
            <a:ext cx="65532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290"/>
              </a:spcBef>
            </a:pPr>
            <a:r>
              <a:rPr dirty="0" sz="700" spc="-10">
                <a:latin typeface="Arial MT"/>
                <a:cs typeface="Arial MT"/>
              </a:rPr>
              <a:t>Rework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4658233" y="6209919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8100" h="165100">
                <a:moveTo>
                  <a:pt x="17525" y="126491"/>
                </a:moveTo>
                <a:lnTo>
                  <a:pt x="0" y="126491"/>
                </a:lnTo>
                <a:lnTo>
                  <a:pt x="19050" y="164591"/>
                </a:lnTo>
                <a:lnTo>
                  <a:pt x="34925" y="132841"/>
                </a:lnTo>
                <a:lnTo>
                  <a:pt x="17525" y="132841"/>
                </a:lnTo>
                <a:lnTo>
                  <a:pt x="17525" y="126491"/>
                </a:lnTo>
                <a:close/>
              </a:path>
              <a:path w="38100" h="165100">
                <a:moveTo>
                  <a:pt x="20700" y="0"/>
                </a:moveTo>
                <a:lnTo>
                  <a:pt x="17525" y="0"/>
                </a:lnTo>
                <a:lnTo>
                  <a:pt x="17525" y="132841"/>
                </a:lnTo>
                <a:lnTo>
                  <a:pt x="20700" y="132841"/>
                </a:lnTo>
                <a:lnTo>
                  <a:pt x="20700" y="0"/>
                </a:lnTo>
                <a:close/>
              </a:path>
              <a:path w="38100" h="165100">
                <a:moveTo>
                  <a:pt x="38100" y="126491"/>
                </a:moveTo>
                <a:lnTo>
                  <a:pt x="20700" y="126491"/>
                </a:lnTo>
                <a:lnTo>
                  <a:pt x="20700" y="132841"/>
                </a:lnTo>
                <a:lnTo>
                  <a:pt x="34925" y="132841"/>
                </a:lnTo>
                <a:lnTo>
                  <a:pt x="38100" y="1264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4658233" y="6556756"/>
            <a:ext cx="38100" cy="97155"/>
          </a:xfrm>
          <a:custGeom>
            <a:avLst/>
            <a:gdLst/>
            <a:ahLst/>
            <a:cxnLst/>
            <a:rect l="l" t="t" r="r" b="b"/>
            <a:pathLst>
              <a:path w="38100" h="97154">
                <a:moveTo>
                  <a:pt x="17525" y="58547"/>
                </a:moveTo>
                <a:lnTo>
                  <a:pt x="0" y="58547"/>
                </a:lnTo>
                <a:lnTo>
                  <a:pt x="19050" y="96647"/>
                </a:lnTo>
                <a:lnTo>
                  <a:pt x="34925" y="64897"/>
                </a:lnTo>
                <a:lnTo>
                  <a:pt x="17525" y="64897"/>
                </a:lnTo>
                <a:lnTo>
                  <a:pt x="17525" y="58547"/>
                </a:lnTo>
                <a:close/>
              </a:path>
              <a:path w="38100" h="97154">
                <a:moveTo>
                  <a:pt x="20700" y="0"/>
                </a:moveTo>
                <a:lnTo>
                  <a:pt x="17525" y="0"/>
                </a:lnTo>
                <a:lnTo>
                  <a:pt x="17525" y="64897"/>
                </a:lnTo>
                <a:lnTo>
                  <a:pt x="20700" y="64897"/>
                </a:lnTo>
                <a:lnTo>
                  <a:pt x="20700" y="0"/>
                </a:lnTo>
                <a:close/>
              </a:path>
              <a:path w="38100" h="97154">
                <a:moveTo>
                  <a:pt x="38100" y="58547"/>
                </a:moveTo>
                <a:lnTo>
                  <a:pt x="20700" y="58547"/>
                </a:lnTo>
                <a:lnTo>
                  <a:pt x="20700" y="64897"/>
                </a:lnTo>
                <a:lnTo>
                  <a:pt x="34925" y="64897"/>
                </a:lnTo>
                <a:lnTo>
                  <a:pt x="38100" y="585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4658233" y="6835647"/>
            <a:ext cx="38100" cy="97155"/>
          </a:xfrm>
          <a:custGeom>
            <a:avLst/>
            <a:gdLst/>
            <a:ahLst/>
            <a:cxnLst/>
            <a:rect l="l" t="t" r="r" b="b"/>
            <a:pathLst>
              <a:path w="38100" h="97154">
                <a:moveTo>
                  <a:pt x="17525" y="58546"/>
                </a:moveTo>
                <a:lnTo>
                  <a:pt x="0" y="58546"/>
                </a:lnTo>
                <a:lnTo>
                  <a:pt x="19050" y="96646"/>
                </a:lnTo>
                <a:lnTo>
                  <a:pt x="34925" y="64896"/>
                </a:lnTo>
                <a:lnTo>
                  <a:pt x="17525" y="64896"/>
                </a:lnTo>
                <a:lnTo>
                  <a:pt x="17525" y="58546"/>
                </a:lnTo>
                <a:close/>
              </a:path>
              <a:path w="38100" h="97154">
                <a:moveTo>
                  <a:pt x="20700" y="0"/>
                </a:moveTo>
                <a:lnTo>
                  <a:pt x="17525" y="0"/>
                </a:lnTo>
                <a:lnTo>
                  <a:pt x="17525" y="64896"/>
                </a:lnTo>
                <a:lnTo>
                  <a:pt x="20700" y="64896"/>
                </a:lnTo>
                <a:lnTo>
                  <a:pt x="20700" y="0"/>
                </a:lnTo>
                <a:close/>
              </a:path>
              <a:path w="38100" h="97154">
                <a:moveTo>
                  <a:pt x="38100" y="58546"/>
                </a:moveTo>
                <a:lnTo>
                  <a:pt x="20700" y="58546"/>
                </a:lnTo>
                <a:lnTo>
                  <a:pt x="20700" y="64896"/>
                </a:lnTo>
                <a:lnTo>
                  <a:pt x="34925" y="64896"/>
                </a:lnTo>
                <a:lnTo>
                  <a:pt x="38100" y="585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3853053" y="7009383"/>
            <a:ext cx="1601470" cy="469900"/>
          </a:xfrm>
          <a:custGeom>
            <a:avLst/>
            <a:gdLst/>
            <a:ahLst/>
            <a:cxnLst/>
            <a:rect l="l" t="t" r="r" b="b"/>
            <a:pathLst>
              <a:path w="1601470" h="469900">
                <a:moveTo>
                  <a:pt x="401828" y="18288"/>
                </a:moveTo>
                <a:lnTo>
                  <a:pt x="399681" y="17272"/>
                </a:lnTo>
                <a:lnTo>
                  <a:pt x="363347" y="0"/>
                </a:lnTo>
                <a:lnTo>
                  <a:pt x="363689" y="17272"/>
                </a:lnTo>
                <a:lnTo>
                  <a:pt x="363689" y="17640"/>
                </a:lnTo>
                <a:lnTo>
                  <a:pt x="327025" y="19685"/>
                </a:lnTo>
                <a:lnTo>
                  <a:pt x="290449" y="23241"/>
                </a:lnTo>
                <a:lnTo>
                  <a:pt x="219964" y="34036"/>
                </a:lnTo>
                <a:lnTo>
                  <a:pt x="155448" y="49149"/>
                </a:lnTo>
                <a:lnTo>
                  <a:pt x="112268" y="62865"/>
                </a:lnTo>
                <a:lnTo>
                  <a:pt x="74803" y="78232"/>
                </a:lnTo>
                <a:lnTo>
                  <a:pt x="34925" y="100838"/>
                </a:lnTo>
                <a:lnTo>
                  <a:pt x="5207" y="131445"/>
                </a:lnTo>
                <a:lnTo>
                  <a:pt x="0" y="150622"/>
                </a:lnTo>
                <a:lnTo>
                  <a:pt x="3048" y="150876"/>
                </a:lnTo>
                <a:lnTo>
                  <a:pt x="3619" y="145275"/>
                </a:lnTo>
                <a:lnTo>
                  <a:pt x="5257" y="139065"/>
                </a:lnTo>
                <a:lnTo>
                  <a:pt x="29210" y="109220"/>
                </a:lnTo>
                <a:lnTo>
                  <a:pt x="62560" y="87833"/>
                </a:lnTo>
                <a:lnTo>
                  <a:pt x="65214" y="86525"/>
                </a:lnTo>
                <a:lnTo>
                  <a:pt x="76073" y="81153"/>
                </a:lnTo>
                <a:lnTo>
                  <a:pt x="87757" y="75946"/>
                </a:lnTo>
                <a:lnTo>
                  <a:pt x="100330" y="70739"/>
                </a:lnTo>
                <a:lnTo>
                  <a:pt x="108000" y="67843"/>
                </a:lnTo>
                <a:lnTo>
                  <a:pt x="113715" y="65811"/>
                </a:lnTo>
                <a:lnTo>
                  <a:pt x="127000" y="61087"/>
                </a:lnTo>
                <a:lnTo>
                  <a:pt x="188226" y="44157"/>
                </a:lnTo>
                <a:lnTo>
                  <a:pt x="255016" y="31115"/>
                </a:lnTo>
                <a:lnTo>
                  <a:pt x="290703" y="26441"/>
                </a:lnTo>
                <a:lnTo>
                  <a:pt x="290537" y="26441"/>
                </a:lnTo>
                <a:lnTo>
                  <a:pt x="327279" y="22733"/>
                </a:lnTo>
                <a:lnTo>
                  <a:pt x="363753" y="20802"/>
                </a:lnTo>
                <a:lnTo>
                  <a:pt x="363791" y="22733"/>
                </a:lnTo>
                <a:lnTo>
                  <a:pt x="363905" y="28067"/>
                </a:lnTo>
                <a:lnTo>
                  <a:pt x="364020" y="34036"/>
                </a:lnTo>
                <a:lnTo>
                  <a:pt x="364109" y="38100"/>
                </a:lnTo>
                <a:lnTo>
                  <a:pt x="401828" y="18288"/>
                </a:lnTo>
                <a:close/>
              </a:path>
              <a:path w="1601470" h="469900">
                <a:moveTo>
                  <a:pt x="405765" y="399034"/>
                </a:moveTo>
                <a:lnTo>
                  <a:pt x="331457" y="397395"/>
                </a:lnTo>
                <a:lnTo>
                  <a:pt x="258953" y="392811"/>
                </a:lnTo>
                <a:lnTo>
                  <a:pt x="191262" y="385826"/>
                </a:lnTo>
                <a:lnTo>
                  <a:pt x="130810" y="376555"/>
                </a:lnTo>
                <a:lnTo>
                  <a:pt x="91440" y="368554"/>
                </a:lnTo>
                <a:lnTo>
                  <a:pt x="46088" y="355803"/>
                </a:lnTo>
                <a:lnTo>
                  <a:pt x="36423" y="351231"/>
                </a:lnTo>
                <a:lnTo>
                  <a:pt x="39319" y="347726"/>
                </a:lnTo>
                <a:lnTo>
                  <a:pt x="46990" y="338455"/>
                </a:lnTo>
                <a:lnTo>
                  <a:pt x="5461" y="328803"/>
                </a:lnTo>
                <a:lnTo>
                  <a:pt x="22733" y="367792"/>
                </a:lnTo>
                <a:lnTo>
                  <a:pt x="34277" y="353822"/>
                </a:lnTo>
                <a:lnTo>
                  <a:pt x="34607" y="353822"/>
                </a:lnTo>
                <a:lnTo>
                  <a:pt x="78994" y="368808"/>
                </a:lnTo>
                <a:lnTo>
                  <a:pt x="130175" y="379730"/>
                </a:lnTo>
                <a:lnTo>
                  <a:pt x="190881" y="388874"/>
                </a:lnTo>
                <a:lnTo>
                  <a:pt x="225120" y="392811"/>
                </a:lnTo>
                <a:lnTo>
                  <a:pt x="225348" y="392811"/>
                </a:lnTo>
                <a:lnTo>
                  <a:pt x="258699" y="395986"/>
                </a:lnTo>
                <a:lnTo>
                  <a:pt x="294386" y="398653"/>
                </a:lnTo>
                <a:lnTo>
                  <a:pt x="330962" y="400558"/>
                </a:lnTo>
                <a:lnTo>
                  <a:pt x="368173" y="401828"/>
                </a:lnTo>
                <a:lnTo>
                  <a:pt x="405765" y="402209"/>
                </a:lnTo>
                <a:lnTo>
                  <a:pt x="405765" y="399034"/>
                </a:lnTo>
                <a:close/>
              </a:path>
              <a:path w="1601470" h="469900">
                <a:moveTo>
                  <a:pt x="843280" y="199517"/>
                </a:moveTo>
                <a:lnTo>
                  <a:pt x="825881" y="199517"/>
                </a:lnTo>
                <a:lnTo>
                  <a:pt x="825881" y="105156"/>
                </a:lnTo>
                <a:lnTo>
                  <a:pt x="822706" y="105156"/>
                </a:lnTo>
                <a:lnTo>
                  <a:pt x="822706" y="199517"/>
                </a:lnTo>
                <a:lnTo>
                  <a:pt x="805180" y="199517"/>
                </a:lnTo>
                <a:lnTo>
                  <a:pt x="824230" y="237617"/>
                </a:lnTo>
                <a:lnTo>
                  <a:pt x="840105" y="205867"/>
                </a:lnTo>
                <a:lnTo>
                  <a:pt x="843280" y="199517"/>
                </a:lnTo>
                <a:close/>
              </a:path>
              <a:path w="1601470" h="469900">
                <a:moveTo>
                  <a:pt x="1601089" y="469646"/>
                </a:moveTo>
                <a:lnTo>
                  <a:pt x="1592859" y="450469"/>
                </a:lnTo>
                <a:lnTo>
                  <a:pt x="1584325" y="430530"/>
                </a:lnTo>
                <a:lnTo>
                  <a:pt x="1572793" y="444144"/>
                </a:lnTo>
                <a:lnTo>
                  <a:pt x="1535430" y="431165"/>
                </a:lnTo>
                <a:lnTo>
                  <a:pt x="1489456" y="420624"/>
                </a:lnTo>
                <a:lnTo>
                  <a:pt x="1435100" y="411734"/>
                </a:lnTo>
                <a:lnTo>
                  <a:pt x="1374521" y="404876"/>
                </a:lnTo>
                <a:lnTo>
                  <a:pt x="1344193" y="402590"/>
                </a:lnTo>
                <a:lnTo>
                  <a:pt x="1344688" y="402590"/>
                </a:lnTo>
                <a:lnTo>
                  <a:pt x="1309751" y="400558"/>
                </a:lnTo>
                <a:lnTo>
                  <a:pt x="1276350" y="399415"/>
                </a:lnTo>
                <a:lnTo>
                  <a:pt x="1242822" y="399034"/>
                </a:lnTo>
                <a:lnTo>
                  <a:pt x="1242822" y="402209"/>
                </a:lnTo>
                <a:lnTo>
                  <a:pt x="1276350" y="402590"/>
                </a:lnTo>
                <a:lnTo>
                  <a:pt x="1309624" y="403733"/>
                </a:lnTo>
                <a:lnTo>
                  <a:pt x="1374127" y="408051"/>
                </a:lnTo>
                <a:lnTo>
                  <a:pt x="1434719" y="414909"/>
                </a:lnTo>
                <a:lnTo>
                  <a:pt x="1488821" y="423799"/>
                </a:lnTo>
                <a:lnTo>
                  <a:pt x="1534541" y="434213"/>
                </a:lnTo>
                <a:lnTo>
                  <a:pt x="1569720" y="445770"/>
                </a:lnTo>
                <a:lnTo>
                  <a:pt x="1569339" y="445643"/>
                </a:lnTo>
                <a:lnTo>
                  <a:pt x="1570672" y="446646"/>
                </a:lnTo>
                <a:lnTo>
                  <a:pt x="1559687" y="459613"/>
                </a:lnTo>
                <a:lnTo>
                  <a:pt x="1601089" y="469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4658233" y="5889878"/>
            <a:ext cx="38100" cy="138430"/>
          </a:xfrm>
          <a:custGeom>
            <a:avLst/>
            <a:gdLst/>
            <a:ahLst/>
            <a:cxnLst/>
            <a:rect l="l" t="t" r="r" b="b"/>
            <a:pathLst>
              <a:path w="38100" h="138429">
                <a:moveTo>
                  <a:pt x="17525" y="99822"/>
                </a:moveTo>
                <a:lnTo>
                  <a:pt x="0" y="99822"/>
                </a:lnTo>
                <a:lnTo>
                  <a:pt x="19050" y="137922"/>
                </a:lnTo>
                <a:lnTo>
                  <a:pt x="34925" y="106172"/>
                </a:lnTo>
                <a:lnTo>
                  <a:pt x="17525" y="106172"/>
                </a:lnTo>
                <a:lnTo>
                  <a:pt x="17525" y="99822"/>
                </a:lnTo>
                <a:close/>
              </a:path>
              <a:path w="38100" h="138429">
                <a:moveTo>
                  <a:pt x="20700" y="0"/>
                </a:moveTo>
                <a:lnTo>
                  <a:pt x="17525" y="0"/>
                </a:lnTo>
                <a:lnTo>
                  <a:pt x="17525" y="106172"/>
                </a:lnTo>
                <a:lnTo>
                  <a:pt x="20700" y="106172"/>
                </a:lnTo>
                <a:lnTo>
                  <a:pt x="20700" y="0"/>
                </a:lnTo>
                <a:close/>
              </a:path>
              <a:path w="38100" h="138429">
                <a:moveTo>
                  <a:pt x="38100" y="99822"/>
                </a:moveTo>
                <a:lnTo>
                  <a:pt x="20700" y="99822"/>
                </a:lnTo>
                <a:lnTo>
                  <a:pt x="20700" y="106172"/>
                </a:lnTo>
                <a:lnTo>
                  <a:pt x="34925" y="106172"/>
                </a:lnTo>
                <a:lnTo>
                  <a:pt x="38100" y="998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4463541" y="5802884"/>
            <a:ext cx="4445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Arial MT"/>
                <a:cs typeface="Arial MT"/>
              </a:rPr>
              <a:t>User</a:t>
            </a:r>
            <a:r>
              <a:rPr dirty="0" sz="700" spc="-10">
                <a:latin typeface="Arial MT"/>
                <a:cs typeface="Arial MT"/>
              </a:rPr>
              <a:t> Story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9" name="object 4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6" name="object 46" descr=""/>
          <p:cNvSpPr txBox="1"/>
          <p:nvPr/>
        </p:nvSpPr>
        <p:spPr>
          <a:xfrm>
            <a:off x="4009771" y="7434198"/>
            <a:ext cx="800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Arial MT"/>
                <a:cs typeface="Arial MT"/>
              </a:rPr>
              <a:t>F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202682" y="7292467"/>
            <a:ext cx="844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Arial MT"/>
                <a:cs typeface="Arial MT"/>
              </a:rPr>
              <a:t>P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301741" y="7511033"/>
            <a:ext cx="4235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Arial MT"/>
                <a:cs typeface="Arial MT"/>
              </a:rPr>
              <a:t>Next</a:t>
            </a:r>
            <a:r>
              <a:rPr dirty="0" sz="700" spc="-10">
                <a:latin typeface="Arial MT"/>
                <a:cs typeface="Arial MT"/>
              </a:rPr>
              <a:t> story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7692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Feature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Driven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2801620" cy="15049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FDD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History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Original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Creator: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Jeff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Luca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Singapore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late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1997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FDD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evolved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actual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project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Bank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Loan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Automation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Luca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was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Project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manager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50 member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developer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team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Peter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Coad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: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Chief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Architect</a:t>
            </a:r>
            <a:endParaRPr sz="8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5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1990’s</a:t>
            </a:r>
            <a:r>
              <a:rPr dirty="0" sz="700" spc="-3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object-</a:t>
            </a:r>
            <a:r>
              <a:rPr dirty="0" sz="700">
                <a:latin typeface="Arial MT"/>
                <a:cs typeface="Arial MT"/>
              </a:rPr>
              <a:t>oriented analysis and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design</a:t>
            </a:r>
            <a:r>
              <a:rPr dirty="0" sz="700" spc="-3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expert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FDD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3314700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What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is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Feature?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Definition: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small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function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expressed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client-valued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terms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Arial MT"/>
              <a:buChar char="•"/>
            </a:pP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FDD’s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form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customer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requirement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425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FDD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059680" cy="223583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FDD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Primary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Roles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Project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Manager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Chief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Architect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Manager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Domain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Experts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Class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Owners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This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concept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differs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FDD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over</a:t>
            </a:r>
            <a:r>
              <a:rPr dirty="0" sz="800" spc="-25">
                <a:latin typeface="Arial MT"/>
                <a:cs typeface="Arial MT"/>
              </a:rPr>
              <a:t> XP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Benefits</a:t>
            </a:r>
            <a:endParaRPr sz="8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Someone</a:t>
            </a:r>
            <a:r>
              <a:rPr dirty="0" sz="700" spc="-4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responsible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for</a:t>
            </a:r>
            <a:r>
              <a:rPr dirty="0" sz="700" spc="-3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integrity</a:t>
            </a:r>
            <a:r>
              <a:rPr dirty="0" sz="700" spc="-3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of</a:t>
            </a:r>
            <a:r>
              <a:rPr dirty="0" sz="700" spc="-3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each</a:t>
            </a:r>
            <a:r>
              <a:rPr dirty="0" sz="700" spc="-3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class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Each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class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will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have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an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expert </a:t>
            </a:r>
            <a:r>
              <a:rPr dirty="0" sz="700" spc="-10">
                <a:latin typeface="Arial MT"/>
                <a:cs typeface="Arial MT"/>
              </a:rPr>
              <a:t>available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65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Class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owners</a:t>
            </a:r>
            <a:r>
              <a:rPr dirty="0" sz="700" spc="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can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make</a:t>
            </a:r>
            <a:r>
              <a:rPr dirty="0" sz="700" spc="-4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changes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much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quicker,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if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needed</a:t>
            </a:r>
            <a:r>
              <a:rPr dirty="0" sz="700" spc="-10">
                <a:latin typeface="Arial MT"/>
                <a:cs typeface="Arial MT"/>
              </a:rPr>
              <a:t> anytime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Easily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lends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to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notion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of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code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ownership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65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Assists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in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FDD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scaling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to</a:t>
            </a:r>
            <a:r>
              <a:rPr dirty="0" sz="700" spc="-4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larger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teams,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as</a:t>
            </a:r>
            <a:r>
              <a:rPr dirty="0" sz="700" spc="-3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we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have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one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person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available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for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complete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ownership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of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feature.</a:t>
            </a:r>
            <a:endParaRPr sz="7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Chief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Programmers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FDD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1486535" cy="16319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FDD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Supporting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Roles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Release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Manager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Language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Guru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Build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Engineer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Toolsmith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System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Administrator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Tester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Deployers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20">
                <a:latin typeface="Arial MT"/>
                <a:cs typeface="Arial MT"/>
              </a:rPr>
              <a:t>Technical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Writer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425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FDD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207000" cy="230949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Feature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Driven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Development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#1: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Overall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Model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#2: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Build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List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#3: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Plan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-10">
                <a:latin typeface="Arial MT"/>
                <a:cs typeface="Arial MT"/>
              </a:rPr>
              <a:t> Feature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ts val="91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Constructing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initial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schedule, </a:t>
            </a:r>
            <a:r>
              <a:rPr dirty="0" sz="800">
                <a:latin typeface="Arial MT"/>
                <a:cs typeface="Arial MT"/>
              </a:rPr>
              <a:t>Forming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level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individual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features,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Prioritizing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business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value </a:t>
            </a:r>
            <a:r>
              <a:rPr dirty="0" sz="800" spc="-50">
                <a:latin typeface="Arial MT"/>
                <a:cs typeface="Arial MT"/>
              </a:rPr>
              <a:t>,</a:t>
            </a:r>
            <a:endParaRPr sz="800">
              <a:latin typeface="Arial MT"/>
              <a:cs typeface="Arial MT"/>
            </a:endParaRPr>
          </a:p>
          <a:p>
            <a:pPr marL="619760">
              <a:lnSpc>
                <a:spcPts val="910"/>
              </a:lnSpc>
            </a:pPr>
            <a:r>
              <a:rPr dirty="0" sz="800">
                <a:latin typeface="Arial MT"/>
                <a:cs typeface="Arial MT"/>
              </a:rPr>
              <a:t>As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work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above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factors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we do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consider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dependencies,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difficulty,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risks.</a:t>
            </a:r>
            <a:endParaRPr sz="800">
              <a:latin typeface="Arial MT"/>
              <a:cs typeface="Arial MT"/>
            </a:endParaRPr>
          </a:p>
          <a:p>
            <a:pPr lvl="1" marL="619760" marR="5080" indent="-114300">
              <a:lnSpc>
                <a:spcPts val="860"/>
              </a:lnSpc>
              <a:spcBef>
                <a:spcPts val="309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These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factors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help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us </a:t>
            </a:r>
            <a:r>
              <a:rPr dirty="0" sz="800" spc="-10">
                <a:latin typeface="Arial MT"/>
                <a:cs typeface="Arial MT"/>
              </a:rPr>
              <a:t>on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Assigning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responsibilities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members,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Determining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Class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Owners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,</a:t>
            </a:r>
            <a:r>
              <a:rPr dirty="0" sz="800" spc="-10">
                <a:latin typeface="Arial MT"/>
                <a:cs typeface="Arial MT"/>
              </a:rPr>
              <a:t> Assigning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feature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sets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chief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programmers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#4: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Design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-10">
                <a:latin typeface="Arial MT"/>
                <a:cs typeface="Arial MT"/>
              </a:rPr>
              <a:t> Feature</a:t>
            </a:r>
            <a:endParaRPr sz="900">
              <a:latin typeface="Arial MT"/>
              <a:cs typeface="Arial MT"/>
            </a:endParaRPr>
          </a:p>
          <a:p>
            <a:pPr lvl="1" marL="619760" marR="20955" indent="-114300">
              <a:lnSpc>
                <a:spcPts val="860"/>
              </a:lnSpc>
              <a:spcBef>
                <a:spcPts val="310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Goal: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design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system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entirety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but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instead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just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enough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initial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design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are</a:t>
            </a:r>
            <a:r>
              <a:rPr dirty="0" sz="800">
                <a:latin typeface="Arial MT"/>
                <a:cs typeface="Arial MT"/>
              </a:rPr>
              <a:t> able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build</a:t>
            </a:r>
            <a:r>
              <a:rPr dirty="0" sz="800" spc="-25">
                <a:latin typeface="Arial MT"/>
                <a:cs typeface="Arial MT"/>
              </a:rPr>
              <a:t> on</a:t>
            </a:r>
            <a:endParaRPr sz="800">
              <a:latin typeface="Arial MT"/>
              <a:cs typeface="Arial MT"/>
            </a:endParaRPr>
          </a:p>
          <a:p>
            <a:pPr lvl="1" marL="619760" marR="300355" indent="-114300">
              <a:lnSpc>
                <a:spcPts val="860"/>
              </a:lnSpc>
              <a:spcBef>
                <a:spcPts val="29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This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 more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about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Form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Feature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Teams: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Where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 members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collaborate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 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full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low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level </a:t>
            </a:r>
            <a:r>
              <a:rPr dirty="0" sz="800">
                <a:latin typeface="Arial MT"/>
                <a:cs typeface="Arial MT"/>
              </a:rPr>
              <a:t>analysis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design.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#5: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Build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Feature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Goal: Deliver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real, </a:t>
            </a:r>
            <a:r>
              <a:rPr dirty="0" sz="800" spc="-10">
                <a:latin typeface="Arial MT"/>
                <a:cs typeface="Arial MT"/>
              </a:rPr>
              <a:t>completed,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client-valued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function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as often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as </a:t>
            </a:r>
            <a:r>
              <a:rPr dirty="0" sz="800" spc="-10">
                <a:latin typeface="Arial MT"/>
                <a:cs typeface="Arial MT"/>
              </a:rPr>
              <a:t>possible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FDD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409057"/>
            <a:ext cx="27470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Feature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Driven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Development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Process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Contd..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8653" y="5780564"/>
            <a:ext cx="3814549" cy="2123053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9044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Behavior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Driven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118735" cy="151828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BDD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Introduction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Behavior-</a:t>
            </a:r>
            <a:r>
              <a:rPr dirty="0" sz="900">
                <a:latin typeface="Arial MT"/>
                <a:cs typeface="Arial MT"/>
              </a:rPr>
              <a:t>Driven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(BDD)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process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BDD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considered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effective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technical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practice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especially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"problem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space"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business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 </a:t>
            </a:r>
            <a:r>
              <a:rPr dirty="0" sz="900" spc="-10">
                <a:latin typeface="Arial MT"/>
                <a:cs typeface="Arial MT"/>
              </a:rPr>
              <a:t>complex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What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 </a:t>
            </a:r>
            <a:r>
              <a:rPr dirty="0" sz="900" spc="-10">
                <a:latin typeface="Arial MT"/>
                <a:cs typeface="Arial MT"/>
              </a:rPr>
              <a:t>BDD?: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20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General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Technique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TDD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Follows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same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principle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TDD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Shared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tools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Shared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Process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4648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BDD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2143125" cy="113792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BDD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Focus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Where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start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process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What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what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test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How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much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go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What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call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tests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How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understand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why 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fails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212463" y="6540754"/>
            <a:ext cx="486409" cy="2235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88900" marR="5080" indent="-76200">
              <a:lnSpc>
                <a:spcPts val="720"/>
              </a:lnSpc>
              <a:spcBef>
                <a:spcPts val="220"/>
              </a:spcBef>
            </a:pPr>
            <a:r>
              <a:rPr dirty="0" sz="700">
                <a:latin typeface="Arial MT"/>
                <a:cs typeface="Arial MT"/>
              </a:rPr>
              <a:t>Write</a:t>
            </a:r>
            <a:r>
              <a:rPr dirty="0" sz="700" spc="-4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failing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unit</a:t>
            </a:r>
            <a:r>
              <a:rPr dirty="0" sz="700" spc="-20">
                <a:latin typeface="Arial MT"/>
                <a:cs typeface="Arial MT"/>
              </a:rPr>
              <a:t> test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229608" y="6980555"/>
            <a:ext cx="361950" cy="586105"/>
          </a:xfrm>
          <a:custGeom>
            <a:avLst/>
            <a:gdLst/>
            <a:ahLst/>
            <a:cxnLst/>
            <a:rect l="l" t="t" r="r" b="b"/>
            <a:pathLst>
              <a:path w="361950" h="586104">
                <a:moveTo>
                  <a:pt x="236092" y="0"/>
                </a:moveTo>
                <a:lnTo>
                  <a:pt x="232949" y="51343"/>
                </a:lnTo>
                <a:lnTo>
                  <a:pt x="225131" y="101796"/>
                </a:lnTo>
                <a:lnTo>
                  <a:pt x="212772" y="151064"/>
                </a:lnTo>
                <a:lnTo>
                  <a:pt x="196003" y="198848"/>
                </a:lnTo>
                <a:lnTo>
                  <a:pt x="174958" y="244852"/>
                </a:lnTo>
                <a:lnTo>
                  <a:pt x="149770" y="288779"/>
                </a:lnTo>
                <a:lnTo>
                  <a:pt x="120571" y="330332"/>
                </a:lnTo>
                <a:lnTo>
                  <a:pt x="87494" y="369214"/>
                </a:lnTo>
                <a:lnTo>
                  <a:pt x="50672" y="405130"/>
                </a:lnTo>
                <a:lnTo>
                  <a:pt x="8127" y="334264"/>
                </a:lnTo>
                <a:lnTo>
                  <a:pt x="0" y="520065"/>
                </a:lnTo>
                <a:lnTo>
                  <a:pt x="158876" y="585597"/>
                </a:lnTo>
                <a:lnTo>
                  <a:pt x="116204" y="514477"/>
                </a:lnTo>
                <a:lnTo>
                  <a:pt x="153103" y="481556"/>
                </a:lnTo>
                <a:lnTo>
                  <a:pt x="187288" y="446283"/>
                </a:lnTo>
                <a:lnTo>
                  <a:pt x="218678" y="408828"/>
                </a:lnTo>
                <a:lnTo>
                  <a:pt x="247189" y="369363"/>
                </a:lnTo>
                <a:lnTo>
                  <a:pt x="272738" y="328057"/>
                </a:lnTo>
                <a:lnTo>
                  <a:pt x="295243" y="285083"/>
                </a:lnTo>
                <a:lnTo>
                  <a:pt x="314620" y="240611"/>
                </a:lnTo>
                <a:lnTo>
                  <a:pt x="330787" y="194813"/>
                </a:lnTo>
                <a:lnTo>
                  <a:pt x="343662" y="147859"/>
                </a:lnTo>
                <a:lnTo>
                  <a:pt x="353159" y="99921"/>
                </a:lnTo>
                <a:lnTo>
                  <a:pt x="359198" y="51171"/>
                </a:lnTo>
                <a:lnTo>
                  <a:pt x="361695" y="1778"/>
                </a:lnTo>
                <a:lnTo>
                  <a:pt x="23609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659251" y="7480172"/>
            <a:ext cx="509270" cy="2235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58750" marR="5080" indent="-146685">
              <a:lnSpc>
                <a:spcPts val="720"/>
              </a:lnSpc>
              <a:spcBef>
                <a:spcPts val="220"/>
              </a:spcBef>
            </a:pPr>
            <a:r>
              <a:rPr dirty="0" sz="700">
                <a:latin typeface="Arial MT"/>
                <a:cs typeface="Arial MT"/>
              </a:rPr>
              <a:t>Refactor</a:t>
            </a:r>
            <a:r>
              <a:rPr dirty="0" sz="700" spc="-35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the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code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160522" y="6981443"/>
            <a:ext cx="467995" cy="573405"/>
          </a:xfrm>
          <a:custGeom>
            <a:avLst/>
            <a:gdLst/>
            <a:ahLst/>
            <a:cxnLst/>
            <a:rect l="l" t="t" r="r" b="b"/>
            <a:pathLst>
              <a:path w="467995" h="573404">
                <a:moveTo>
                  <a:pt x="136525" y="0"/>
                </a:moveTo>
                <a:lnTo>
                  <a:pt x="0" y="104647"/>
                </a:lnTo>
                <a:lnTo>
                  <a:pt x="82930" y="103377"/>
                </a:lnTo>
                <a:lnTo>
                  <a:pt x="92888" y="151807"/>
                </a:lnTo>
                <a:lnTo>
                  <a:pt x="106241" y="199073"/>
                </a:lnTo>
                <a:lnTo>
                  <a:pt x="122884" y="245018"/>
                </a:lnTo>
                <a:lnTo>
                  <a:pt x="142710" y="289484"/>
                </a:lnTo>
                <a:lnTo>
                  <a:pt x="165612" y="332313"/>
                </a:lnTo>
                <a:lnTo>
                  <a:pt x="191484" y="373348"/>
                </a:lnTo>
                <a:lnTo>
                  <a:pt x="220218" y="412430"/>
                </a:lnTo>
                <a:lnTo>
                  <a:pt x="251709" y="449401"/>
                </a:lnTo>
                <a:lnTo>
                  <a:pt x="285849" y="484104"/>
                </a:lnTo>
                <a:lnTo>
                  <a:pt x="322531" y="516380"/>
                </a:lnTo>
                <a:lnTo>
                  <a:pt x="361650" y="546073"/>
                </a:lnTo>
                <a:lnTo>
                  <a:pt x="403098" y="573023"/>
                </a:lnTo>
                <a:lnTo>
                  <a:pt x="467740" y="465327"/>
                </a:lnTo>
                <a:lnTo>
                  <a:pt x="424916" y="436849"/>
                </a:lnTo>
                <a:lnTo>
                  <a:pt x="385214" y="404762"/>
                </a:lnTo>
                <a:lnTo>
                  <a:pt x="348821" y="369334"/>
                </a:lnTo>
                <a:lnTo>
                  <a:pt x="315925" y="330834"/>
                </a:lnTo>
                <a:lnTo>
                  <a:pt x="286712" y="289527"/>
                </a:lnTo>
                <a:lnTo>
                  <a:pt x="261370" y="245683"/>
                </a:lnTo>
                <a:lnTo>
                  <a:pt x="240086" y="199569"/>
                </a:lnTo>
                <a:lnTo>
                  <a:pt x="223046" y="151452"/>
                </a:lnTo>
                <a:lnTo>
                  <a:pt x="210438" y="101599"/>
                </a:lnTo>
                <a:lnTo>
                  <a:pt x="293242" y="100329"/>
                </a:lnTo>
                <a:lnTo>
                  <a:pt x="1365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046602" y="6540754"/>
            <a:ext cx="647700" cy="2235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 indent="80645">
              <a:lnSpc>
                <a:spcPts val="720"/>
              </a:lnSpc>
              <a:spcBef>
                <a:spcPts val="220"/>
              </a:spcBef>
            </a:pPr>
            <a:r>
              <a:rPr dirty="0" sz="700">
                <a:latin typeface="Arial MT"/>
                <a:cs typeface="Arial MT"/>
              </a:rPr>
              <a:t>Write</a:t>
            </a:r>
            <a:r>
              <a:rPr dirty="0" sz="700" spc="-4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failing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acceptance</a:t>
            </a:r>
            <a:r>
              <a:rPr dirty="0" sz="700" spc="50"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test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674236" y="6230873"/>
            <a:ext cx="455295" cy="274955"/>
          </a:xfrm>
          <a:custGeom>
            <a:avLst/>
            <a:gdLst/>
            <a:ahLst/>
            <a:cxnLst/>
            <a:rect l="l" t="t" r="r" b="b"/>
            <a:pathLst>
              <a:path w="455295" h="274954">
                <a:moveTo>
                  <a:pt x="407542" y="0"/>
                </a:moveTo>
                <a:lnTo>
                  <a:pt x="378333" y="77596"/>
                </a:lnTo>
                <a:lnTo>
                  <a:pt x="330786" y="69355"/>
                </a:lnTo>
                <a:lnTo>
                  <a:pt x="282946" y="64527"/>
                </a:lnTo>
                <a:lnTo>
                  <a:pt x="234995" y="63099"/>
                </a:lnTo>
                <a:lnTo>
                  <a:pt x="187118" y="65055"/>
                </a:lnTo>
                <a:lnTo>
                  <a:pt x="139497" y="70381"/>
                </a:lnTo>
                <a:lnTo>
                  <a:pt x="92315" y="79061"/>
                </a:lnTo>
                <a:lnTo>
                  <a:pt x="45754" y="91081"/>
                </a:lnTo>
                <a:lnTo>
                  <a:pt x="0" y="106425"/>
                </a:lnTo>
                <a:lnTo>
                  <a:pt x="44068" y="224027"/>
                </a:lnTo>
                <a:lnTo>
                  <a:pt x="90820" y="208803"/>
                </a:lnTo>
                <a:lnTo>
                  <a:pt x="138552" y="197823"/>
                </a:lnTo>
                <a:lnTo>
                  <a:pt x="186975" y="191119"/>
                </a:lnTo>
                <a:lnTo>
                  <a:pt x="235801" y="188721"/>
                </a:lnTo>
                <a:lnTo>
                  <a:pt x="284739" y="190664"/>
                </a:lnTo>
                <a:lnTo>
                  <a:pt x="333501" y="196976"/>
                </a:lnTo>
                <a:lnTo>
                  <a:pt x="304418" y="274446"/>
                </a:lnTo>
                <a:lnTo>
                  <a:pt x="455040" y="165226"/>
                </a:lnTo>
                <a:lnTo>
                  <a:pt x="40754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5161026" y="6518529"/>
            <a:ext cx="654685" cy="2235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255904" marR="5080" indent="-243840">
              <a:lnSpc>
                <a:spcPts val="720"/>
              </a:lnSpc>
              <a:spcBef>
                <a:spcPts val="220"/>
              </a:spcBef>
            </a:pPr>
            <a:r>
              <a:rPr dirty="0" sz="700">
                <a:latin typeface="Arial MT"/>
                <a:cs typeface="Arial MT"/>
              </a:rPr>
              <a:t>Write</a:t>
            </a:r>
            <a:r>
              <a:rPr dirty="0" sz="700" spc="-5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failing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unit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test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443346" y="6908545"/>
            <a:ext cx="295910" cy="435609"/>
          </a:xfrm>
          <a:custGeom>
            <a:avLst/>
            <a:gdLst/>
            <a:ahLst/>
            <a:cxnLst/>
            <a:rect l="l" t="t" r="r" b="b"/>
            <a:pathLst>
              <a:path w="295910" h="435609">
                <a:moveTo>
                  <a:pt x="169163" y="0"/>
                </a:moveTo>
                <a:lnTo>
                  <a:pt x="160154" y="47523"/>
                </a:lnTo>
                <a:lnTo>
                  <a:pt x="146318" y="93594"/>
                </a:lnTo>
                <a:lnTo>
                  <a:pt x="127825" y="137858"/>
                </a:lnTo>
                <a:lnTo>
                  <a:pt x="104845" y="179963"/>
                </a:lnTo>
                <a:lnTo>
                  <a:pt x="77547" y="219557"/>
                </a:lnTo>
                <a:lnTo>
                  <a:pt x="46100" y="256285"/>
                </a:lnTo>
                <a:lnTo>
                  <a:pt x="0" y="186308"/>
                </a:lnTo>
                <a:lnTo>
                  <a:pt x="1015" y="376808"/>
                </a:lnTo>
                <a:lnTo>
                  <a:pt x="164211" y="435482"/>
                </a:lnTo>
                <a:lnTo>
                  <a:pt x="117982" y="365251"/>
                </a:lnTo>
                <a:lnTo>
                  <a:pt x="152787" y="329234"/>
                </a:lnTo>
                <a:lnTo>
                  <a:pt x="184253" y="290589"/>
                </a:lnTo>
                <a:lnTo>
                  <a:pt x="212253" y="249561"/>
                </a:lnTo>
                <a:lnTo>
                  <a:pt x="236664" y="206390"/>
                </a:lnTo>
                <a:lnTo>
                  <a:pt x="257360" y="161321"/>
                </a:lnTo>
                <a:lnTo>
                  <a:pt x="274216" y="114595"/>
                </a:lnTo>
                <a:lnTo>
                  <a:pt x="287108" y="66455"/>
                </a:lnTo>
                <a:lnTo>
                  <a:pt x="295910" y="17144"/>
                </a:lnTo>
                <a:lnTo>
                  <a:pt x="16916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786629" y="7392416"/>
            <a:ext cx="510540" cy="2235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59385" marR="5080" indent="-146685">
              <a:lnSpc>
                <a:spcPts val="720"/>
              </a:lnSpc>
              <a:spcBef>
                <a:spcPts val="220"/>
              </a:spcBef>
            </a:pPr>
            <a:r>
              <a:rPr dirty="0" sz="700">
                <a:latin typeface="Arial MT"/>
                <a:cs typeface="Arial MT"/>
              </a:rPr>
              <a:t>Refactor</a:t>
            </a:r>
            <a:r>
              <a:rPr dirty="0" sz="700" spc="-25">
                <a:latin typeface="Arial MT"/>
                <a:cs typeface="Arial MT"/>
              </a:rPr>
              <a:t> the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code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475226" y="6087011"/>
            <a:ext cx="1056640" cy="392430"/>
          </a:xfrm>
          <a:custGeom>
            <a:avLst/>
            <a:gdLst/>
            <a:ahLst/>
            <a:cxnLst/>
            <a:rect l="l" t="t" r="r" b="b"/>
            <a:pathLst>
              <a:path w="1056639" h="392429">
                <a:moveTo>
                  <a:pt x="557480" y="100"/>
                </a:moveTo>
                <a:lnTo>
                  <a:pt x="511689" y="0"/>
                </a:lnTo>
                <a:lnTo>
                  <a:pt x="466256" y="3439"/>
                </a:lnTo>
                <a:lnTo>
                  <a:pt x="421382" y="10347"/>
                </a:lnTo>
                <a:lnTo>
                  <a:pt x="377270" y="20650"/>
                </a:lnTo>
                <a:lnTo>
                  <a:pt x="334121" y="34277"/>
                </a:lnTo>
                <a:lnTo>
                  <a:pt x="292136" y="51154"/>
                </a:lnTo>
                <a:lnTo>
                  <a:pt x="251518" y="71210"/>
                </a:lnTo>
                <a:lnTo>
                  <a:pt x="212469" y="94372"/>
                </a:lnTo>
                <a:lnTo>
                  <a:pt x="175191" y="120568"/>
                </a:lnTo>
                <a:lnTo>
                  <a:pt x="139884" y="149725"/>
                </a:lnTo>
                <a:lnTo>
                  <a:pt x="106752" y="181773"/>
                </a:lnTo>
                <a:lnTo>
                  <a:pt x="75995" y="216637"/>
                </a:lnTo>
                <a:lnTo>
                  <a:pt x="47816" y="254246"/>
                </a:lnTo>
                <a:lnTo>
                  <a:pt x="22417" y="294528"/>
                </a:lnTo>
                <a:lnTo>
                  <a:pt x="0" y="337410"/>
                </a:lnTo>
                <a:lnTo>
                  <a:pt x="115697" y="392020"/>
                </a:lnTo>
                <a:lnTo>
                  <a:pt x="136267" y="353412"/>
                </a:lnTo>
                <a:lnTo>
                  <a:pt x="160337" y="316994"/>
                </a:lnTo>
                <a:lnTo>
                  <a:pt x="187741" y="283006"/>
                </a:lnTo>
                <a:lnTo>
                  <a:pt x="218312" y="251685"/>
                </a:lnTo>
                <a:lnTo>
                  <a:pt x="254451" y="221241"/>
                </a:lnTo>
                <a:lnTo>
                  <a:pt x="292736" y="195102"/>
                </a:lnTo>
                <a:lnTo>
                  <a:pt x="332839" y="173256"/>
                </a:lnTo>
                <a:lnTo>
                  <a:pt x="374431" y="155691"/>
                </a:lnTo>
                <a:lnTo>
                  <a:pt x="417186" y="142394"/>
                </a:lnTo>
                <a:lnTo>
                  <a:pt x="460776" y="133355"/>
                </a:lnTo>
                <a:lnTo>
                  <a:pt x="504872" y="128562"/>
                </a:lnTo>
                <a:lnTo>
                  <a:pt x="549148" y="128003"/>
                </a:lnTo>
                <a:lnTo>
                  <a:pt x="593274" y="131665"/>
                </a:lnTo>
                <a:lnTo>
                  <a:pt x="636924" y="139539"/>
                </a:lnTo>
                <a:lnTo>
                  <a:pt x="679769" y="151611"/>
                </a:lnTo>
                <a:lnTo>
                  <a:pt x="721483" y="167871"/>
                </a:lnTo>
                <a:lnTo>
                  <a:pt x="761736" y="188305"/>
                </a:lnTo>
                <a:lnTo>
                  <a:pt x="800201" y="212904"/>
                </a:lnTo>
                <a:lnTo>
                  <a:pt x="836551" y="241654"/>
                </a:lnTo>
                <a:lnTo>
                  <a:pt x="870458" y="274545"/>
                </a:lnTo>
                <a:lnTo>
                  <a:pt x="797813" y="316455"/>
                </a:lnTo>
                <a:lnTo>
                  <a:pt x="988060" y="326742"/>
                </a:lnTo>
                <a:lnTo>
                  <a:pt x="1056513" y="167230"/>
                </a:lnTo>
                <a:lnTo>
                  <a:pt x="983614" y="209267"/>
                </a:lnTo>
                <a:lnTo>
                  <a:pt x="949300" y="172003"/>
                </a:lnTo>
                <a:lnTo>
                  <a:pt x="912035" y="137897"/>
                </a:lnTo>
                <a:lnTo>
                  <a:pt x="872039" y="107119"/>
                </a:lnTo>
                <a:lnTo>
                  <a:pt x="829532" y="79840"/>
                </a:lnTo>
                <a:lnTo>
                  <a:pt x="784733" y="56232"/>
                </a:lnTo>
                <a:lnTo>
                  <a:pt x="740182" y="37347"/>
                </a:lnTo>
                <a:lnTo>
                  <a:pt x="694979" y="22363"/>
                </a:lnTo>
                <a:lnTo>
                  <a:pt x="649327" y="11209"/>
                </a:lnTo>
                <a:lnTo>
                  <a:pt x="603426" y="3812"/>
                </a:lnTo>
                <a:lnTo>
                  <a:pt x="557480" y="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4594859" y="6927850"/>
            <a:ext cx="401320" cy="490220"/>
          </a:xfrm>
          <a:custGeom>
            <a:avLst/>
            <a:gdLst/>
            <a:ahLst/>
            <a:cxnLst/>
            <a:rect l="l" t="t" r="r" b="b"/>
            <a:pathLst>
              <a:path w="401320" h="490220">
                <a:moveTo>
                  <a:pt x="89280" y="0"/>
                </a:moveTo>
                <a:lnTo>
                  <a:pt x="0" y="204469"/>
                </a:lnTo>
                <a:lnTo>
                  <a:pt x="80010" y="193929"/>
                </a:lnTo>
                <a:lnTo>
                  <a:pt x="101813" y="238392"/>
                </a:lnTo>
                <a:lnTo>
                  <a:pt x="126660" y="281007"/>
                </a:lnTo>
                <a:lnTo>
                  <a:pt x="154427" y="321627"/>
                </a:lnTo>
                <a:lnTo>
                  <a:pt x="184991" y="360108"/>
                </a:lnTo>
                <a:lnTo>
                  <a:pt x="218227" y="396303"/>
                </a:lnTo>
                <a:lnTo>
                  <a:pt x="254013" y="430065"/>
                </a:lnTo>
                <a:lnTo>
                  <a:pt x="292225" y="461250"/>
                </a:lnTo>
                <a:lnTo>
                  <a:pt x="332739" y="489712"/>
                </a:lnTo>
                <a:lnTo>
                  <a:pt x="400812" y="384175"/>
                </a:lnTo>
                <a:lnTo>
                  <a:pt x="362169" y="356605"/>
                </a:lnTo>
                <a:lnTo>
                  <a:pt x="326112" y="325966"/>
                </a:lnTo>
                <a:lnTo>
                  <a:pt x="292814" y="292449"/>
                </a:lnTo>
                <a:lnTo>
                  <a:pt x="262447" y="256243"/>
                </a:lnTo>
                <a:lnTo>
                  <a:pt x="235185" y="217540"/>
                </a:lnTo>
                <a:lnTo>
                  <a:pt x="211200" y="176530"/>
                </a:lnTo>
                <a:lnTo>
                  <a:pt x="290575" y="165988"/>
                </a:lnTo>
                <a:lnTo>
                  <a:pt x="8928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3766565" y="7794752"/>
            <a:ext cx="2921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000099"/>
                </a:solidFill>
                <a:latin typeface="Arial MT"/>
                <a:cs typeface="Arial MT"/>
              </a:rPr>
              <a:t>BDD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3" name="object 23" descr=""/>
          <p:cNvSpPr txBox="1"/>
          <p:nvPr/>
        </p:nvSpPr>
        <p:spPr>
          <a:xfrm>
            <a:off x="5054600" y="7794752"/>
            <a:ext cx="2876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000099"/>
                </a:solidFill>
                <a:latin typeface="Arial MT"/>
                <a:cs typeface="Arial MT"/>
              </a:rPr>
              <a:t>TDD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648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BDD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2880995" cy="16510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BDD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Basic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structure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BDD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consists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steps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follow.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Identify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business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feature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Identify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scenarios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under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selected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feature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Define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steps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each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scenario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Run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feature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fail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Write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code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 make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steps</a:t>
            </a:r>
            <a:r>
              <a:rPr dirty="0" sz="800" spc="-20">
                <a:latin typeface="Arial MT"/>
                <a:cs typeface="Arial MT"/>
              </a:rPr>
              <a:t> pass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Refactor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code,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Create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reusable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automation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library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Run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feature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pass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Generate</a:t>
            </a:r>
            <a:r>
              <a:rPr dirty="0" sz="800">
                <a:latin typeface="Arial MT"/>
                <a:cs typeface="Arial MT"/>
              </a:rPr>
              <a:t> test</a:t>
            </a:r>
            <a:r>
              <a:rPr dirty="0" sz="800" spc="-10">
                <a:latin typeface="Arial MT"/>
                <a:cs typeface="Arial MT"/>
              </a:rPr>
              <a:t> reports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4648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BDD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2187575" cy="8909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BDD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User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story: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someone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interested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Mobile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want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sign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up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in </a:t>
            </a:r>
            <a:r>
              <a:rPr dirty="0" sz="900">
                <a:latin typeface="Arial MT"/>
                <a:cs typeface="Arial MT"/>
              </a:rPr>
              <a:t>app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enjoy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</a:t>
            </a:r>
            <a:r>
              <a:rPr dirty="0" sz="900" spc="-10">
                <a:latin typeface="Arial MT"/>
                <a:cs typeface="Arial MT"/>
              </a:rPr>
              <a:t> membership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43554" y="5558154"/>
            <a:ext cx="3173730" cy="140081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495"/>
              </a:spcBef>
              <a:buChar char="•"/>
              <a:tabLst>
                <a:tab pos="126364" algn="l"/>
              </a:tabLst>
            </a:pPr>
            <a:r>
              <a:rPr dirty="0" sz="900" spc="-10">
                <a:latin typeface="Arial MT"/>
                <a:cs typeface="Arial MT"/>
              </a:rPr>
              <a:t>Mobile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 </a:t>
            </a:r>
            <a:r>
              <a:rPr dirty="0" sz="900" spc="-10">
                <a:latin typeface="Arial MT"/>
                <a:cs typeface="Arial MT"/>
              </a:rPr>
              <a:t>Signup: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39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Scenario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1:</a:t>
            </a:r>
            <a:endParaRPr sz="900">
              <a:latin typeface="Arial MT"/>
              <a:cs typeface="Arial MT"/>
            </a:endParaRPr>
          </a:p>
          <a:p>
            <a:pPr lvl="1" marL="355600" indent="-114935">
              <a:lnSpc>
                <a:spcPct val="100000"/>
              </a:lnSpc>
              <a:spcBef>
                <a:spcPts val="150"/>
              </a:spcBef>
              <a:buChar char="•"/>
              <a:tabLst>
                <a:tab pos="355600" algn="l"/>
              </a:tabLst>
            </a:pPr>
            <a:r>
              <a:rPr dirty="0" sz="800">
                <a:latin typeface="Arial MT"/>
                <a:cs typeface="Arial MT"/>
              </a:rPr>
              <a:t>Given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am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app's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"Create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new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account"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screen</a:t>
            </a:r>
            <a:endParaRPr sz="800">
              <a:latin typeface="Arial MT"/>
              <a:cs typeface="Arial MT"/>
            </a:endParaRPr>
          </a:p>
          <a:p>
            <a:pPr lvl="1" marL="355600" indent="-114935">
              <a:lnSpc>
                <a:spcPct val="100000"/>
              </a:lnSpc>
              <a:spcBef>
                <a:spcPts val="155"/>
              </a:spcBef>
              <a:buChar char="•"/>
              <a:tabLst>
                <a:tab pos="355600" algn="l"/>
              </a:tabLst>
            </a:pPr>
            <a:r>
              <a:rPr dirty="0" sz="800">
                <a:latin typeface="Arial MT"/>
                <a:cs typeface="Arial MT"/>
              </a:rPr>
              <a:t>Then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should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"Sign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up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using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Facebook"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button</a:t>
            </a:r>
            <a:endParaRPr sz="800">
              <a:latin typeface="Arial MT"/>
              <a:cs typeface="Arial MT"/>
            </a:endParaRPr>
          </a:p>
          <a:p>
            <a:pPr lvl="1" marL="355600" indent="-114935">
              <a:lnSpc>
                <a:spcPct val="100000"/>
              </a:lnSpc>
              <a:spcBef>
                <a:spcPts val="155"/>
              </a:spcBef>
              <a:buChar char="•"/>
              <a:tabLst>
                <a:tab pos="355600" algn="l"/>
              </a:tabLst>
            </a:pP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should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"Sign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up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using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Twitter"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button</a:t>
            </a:r>
            <a:endParaRPr sz="800">
              <a:latin typeface="Arial MT"/>
              <a:cs typeface="Arial MT"/>
            </a:endParaRPr>
          </a:p>
          <a:p>
            <a:pPr lvl="1" marL="355600" indent="-114935">
              <a:lnSpc>
                <a:spcPct val="100000"/>
              </a:lnSpc>
              <a:spcBef>
                <a:spcPts val="155"/>
              </a:spcBef>
              <a:buChar char="•"/>
              <a:tabLst>
                <a:tab pos="355600" algn="l"/>
              </a:tabLst>
            </a:pP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should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"Sign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up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email"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form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field</a:t>
            </a:r>
            <a:endParaRPr sz="800">
              <a:latin typeface="Arial MT"/>
              <a:cs typeface="Arial MT"/>
            </a:endParaRPr>
          </a:p>
          <a:p>
            <a:pPr marL="127000" marR="5080" indent="-114300">
              <a:lnSpc>
                <a:spcPct val="90100"/>
              </a:lnSpc>
              <a:spcBef>
                <a:spcPts val="500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Then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new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screen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asks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permission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use </a:t>
            </a:r>
            <a:r>
              <a:rPr dirty="0" sz="900">
                <a:latin typeface="Arial MT"/>
                <a:cs typeface="Arial MT"/>
              </a:rPr>
              <a:t>my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Facebook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account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data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create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new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Mobile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app </a:t>
            </a:r>
            <a:r>
              <a:rPr dirty="0" sz="900" spc="-10">
                <a:latin typeface="Arial MT"/>
                <a:cs typeface="Arial MT"/>
              </a:rPr>
              <a:t>account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648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BDD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160010" cy="122047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BDD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Sign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Use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Functional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Documentation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terms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Stories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&amp;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Executable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Scenarios</a:t>
            </a:r>
            <a:endParaRPr sz="900">
              <a:latin typeface="Arial MT"/>
              <a:cs typeface="Arial MT"/>
            </a:endParaRPr>
          </a:p>
          <a:p>
            <a:pPr marL="391160" marR="53276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Instead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referring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"tests",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BDD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practitioner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prefer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terms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"scenario"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 spc="-10">
                <a:latin typeface="Arial MT"/>
                <a:cs typeface="Arial MT"/>
              </a:rPr>
              <a:t>"specification"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ts val="1025"/>
              </a:lnSpc>
              <a:spcBef>
                <a:spcPts val="20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Rather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refer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"functional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tests",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preferred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term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 be </a:t>
            </a:r>
            <a:r>
              <a:rPr dirty="0" sz="900" spc="-10">
                <a:latin typeface="Arial MT"/>
                <a:cs typeface="Arial MT"/>
              </a:rPr>
              <a:t>"specifications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product's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25"/>
              </a:lnSpc>
            </a:pPr>
            <a:r>
              <a:rPr dirty="0" sz="900" spc="-10">
                <a:latin typeface="Arial MT"/>
                <a:cs typeface="Arial MT"/>
              </a:rPr>
              <a:t>behavior"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Specification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Names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10">
                <a:latin typeface="Arial MT"/>
                <a:cs typeface="Arial MT"/>
              </a:rPr>
              <a:t> expressive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1118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References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843178" y="5638876"/>
            <a:ext cx="141414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0"/>
              </a:spcBef>
              <a:buChar char="•"/>
              <a:tabLst>
                <a:tab pos="126364" algn="l"/>
              </a:tabLst>
            </a:pPr>
            <a:r>
              <a:rPr dirty="0" sz="900" spc="-10">
                <a:latin typeface="Arial MT"/>
                <a:cs typeface="Arial MT"/>
                <a:hlinkClick r:id="rId4"/>
              </a:rPr>
              <a:t>http://agilemodeling.com/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78916" y="1345616"/>
            <a:ext cx="1623060" cy="6445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–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People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Team </a:t>
            </a:r>
            <a:r>
              <a:rPr dirty="0" sz="900" spc="-10">
                <a:latin typeface="Arial MT"/>
                <a:cs typeface="Arial MT"/>
              </a:rPr>
              <a:t>Structure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25">
                <a:latin typeface="Arial MT"/>
                <a:cs typeface="Arial MT"/>
              </a:rPr>
              <a:t>Team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Coordination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33424" y="1001014"/>
            <a:ext cx="762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14979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4907915" cy="23456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Team</a:t>
            </a:r>
            <a:r>
              <a:rPr dirty="0" sz="1000" spc="-5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Size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size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relatively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small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Amazon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“two pizza</a:t>
            </a:r>
            <a:r>
              <a:rPr dirty="0" sz="900" spc="-20">
                <a:latin typeface="Arial MT"/>
                <a:cs typeface="Arial MT"/>
              </a:rPr>
              <a:t> rule”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is,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larger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two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pizzas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  <a:buFont typeface="Arial MT"/>
              <a:buChar char="•"/>
            </a:pP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advantages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small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25">
                <a:latin typeface="Arial MT"/>
                <a:cs typeface="Arial MT"/>
              </a:rPr>
              <a:t> are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They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make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decisions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quickly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easier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individuals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express an</a:t>
            </a:r>
            <a:r>
              <a:rPr dirty="0" sz="800" spc="-10">
                <a:latin typeface="Arial MT"/>
                <a:cs typeface="Arial MT"/>
              </a:rPr>
              <a:t> opinion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easier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10">
                <a:latin typeface="Arial MT"/>
                <a:cs typeface="Arial MT"/>
              </a:rPr>
              <a:t> individuals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express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idea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front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small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group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front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large</a:t>
            </a:r>
            <a:r>
              <a:rPr dirty="0" sz="800" spc="-25">
                <a:latin typeface="Arial MT"/>
                <a:cs typeface="Arial MT"/>
              </a:rPr>
              <a:t> one</a:t>
            </a:r>
            <a:endParaRPr sz="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90"/>
              </a:spcBef>
              <a:buFont typeface="Arial MT"/>
              <a:buChar char="•"/>
            </a:pP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disadvantage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Some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tasks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larger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accomplished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small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number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0">
                <a:latin typeface="Arial MT"/>
                <a:cs typeface="Arial MT"/>
              </a:rPr>
              <a:t> individuals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20">
                <a:latin typeface="Arial MT"/>
                <a:cs typeface="Arial MT"/>
              </a:rPr>
              <a:t>Task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has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broken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up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into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smaller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pieces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A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small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team,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necessity,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works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small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amount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code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4973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4917440" cy="249237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Team</a:t>
            </a:r>
            <a:r>
              <a:rPr dirty="0" sz="1000" spc="-5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Roles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 study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Scott</a:t>
            </a:r>
            <a:r>
              <a:rPr dirty="0" sz="900" spc="-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Ambler’s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description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20">
                <a:latin typeface="Arial MT"/>
                <a:cs typeface="Arial MT"/>
              </a:rPr>
              <a:t> team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25">
                <a:latin typeface="Arial MT"/>
                <a:cs typeface="Arial MT"/>
              </a:rPr>
              <a:t>Team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lead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50">
                <a:latin typeface="Arial MT"/>
                <a:cs typeface="Arial MT"/>
              </a:rPr>
              <a:t>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This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role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relate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“Scrum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Master”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SCRUM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TEAM.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Also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relate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Project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Lead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0">
                <a:latin typeface="Arial MT"/>
                <a:cs typeface="Arial MT"/>
              </a:rPr>
              <a:t> responsible:</a:t>
            </a:r>
            <a:endParaRPr sz="8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5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For </a:t>
            </a:r>
            <a:r>
              <a:rPr dirty="0" sz="700" spc="-10">
                <a:latin typeface="Arial MT"/>
                <a:cs typeface="Arial MT"/>
              </a:rPr>
              <a:t>facilitating</a:t>
            </a:r>
            <a:r>
              <a:rPr dirty="0" sz="700" spc="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the </a:t>
            </a:r>
            <a:r>
              <a:rPr dirty="0" sz="700" spc="-20">
                <a:latin typeface="Arial MT"/>
                <a:cs typeface="Arial MT"/>
              </a:rPr>
              <a:t>team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65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Obtaining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resources </a:t>
            </a:r>
            <a:r>
              <a:rPr dirty="0" sz="700">
                <a:latin typeface="Arial MT"/>
                <a:cs typeface="Arial MT"/>
              </a:rPr>
              <a:t>for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it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And</a:t>
            </a:r>
            <a:r>
              <a:rPr dirty="0" sz="700" spc="-10">
                <a:latin typeface="Arial MT"/>
                <a:cs typeface="Arial MT"/>
              </a:rPr>
              <a:t> protecting</a:t>
            </a:r>
            <a:r>
              <a:rPr dirty="0" sz="700" spc="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it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from</a:t>
            </a:r>
            <a:r>
              <a:rPr dirty="0" sz="700" spc="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problems</a:t>
            </a:r>
            <a:endParaRPr sz="700">
              <a:latin typeface="Arial MT"/>
              <a:cs typeface="Arial MT"/>
            </a:endParaRPr>
          </a:p>
          <a:p>
            <a:pPr lvl="1" marL="619760" marR="5080" indent="-114300">
              <a:lnSpc>
                <a:spcPts val="860"/>
              </a:lnSpc>
              <a:spcBef>
                <a:spcPts val="300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This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role </a:t>
            </a:r>
            <a:r>
              <a:rPr dirty="0" sz="800" spc="-10">
                <a:latin typeface="Arial MT"/>
                <a:cs typeface="Arial MT"/>
              </a:rPr>
              <a:t>encompasses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soft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skills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project</a:t>
            </a:r>
            <a:r>
              <a:rPr dirty="0" sz="800" spc="-10">
                <a:latin typeface="Arial MT"/>
                <a:cs typeface="Arial MT"/>
              </a:rPr>
              <a:t> management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but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 </a:t>
            </a:r>
            <a:r>
              <a:rPr dirty="0" sz="800" spc="-10">
                <a:latin typeface="Arial MT"/>
                <a:cs typeface="Arial MT"/>
              </a:rPr>
              <a:t>technical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ones such</a:t>
            </a:r>
            <a:r>
              <a:rPr dirty="0" sz="800" spc="-25">
                <a:latin typeface="Arial MT"/>
                <a:cs typeface="Arial MT"/>
              </a:rPr>
              <a:t> as</a:t>
            </a:r>
            <a:r>
              <a:rPr dirty="0" sz="800" spc="-10">
                <a:latin typeface="Arial MT"/>
                <a:cs typeface="Arial MT"/>
              </a:rPr>
              <a:t> planning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scheduling,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activities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which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better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left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0">
                <a:latin typeface="Arial MT"/>
                <a:cs typeface="Arial MT"/>
              </a:rPr>
              <a:t> whole.</a:t>
            </a:r>
            <a:endParaRPr sz="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80"/>
              </a:spcBef>
              <a:buFont typeface="Arial MT"/>
              <a:buChar char="•"/>
            </a:pP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buChar char="•"/>
              <a:tabLst>
                <a:tab pos="390525" algn="l"/>
              </a:tabLst>
            </a:pPr>
            <a:r>
              <a:rPr dirty="0" sz="900" spc="-25">
                <a:latin typeface="Arial MT"/>
                <a:cs typeface="Arial MT"/>
              </a:rPr>
              <a:t>Team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member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This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role,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sometimes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referred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developer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-10">
                <a:latin typeface="Arial MT"/>
                <a:cs typeface="Arial MT"/>
              </a:rPr>
              <a:t> programmer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0">
                <a:latin typeface="Arial MT"/>
                <a:cs typeface="Arial MT"/>
              </a:rPr>
              <a:t> responsible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creation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delivery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system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includes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modeling,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programming,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testing,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 release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activities,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well as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others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14979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1530985" cy="97345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Additional</a:t>
            </a:r>
            <a:r>
              <a:rPr dirty="0" sz="1000" spc="-4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roles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Service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owner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Reliability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engineer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Gatekeeper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 </a:t>
            </a:r>
            <a:r>
              <a:rPr dirty="0" sz="900" spc="-10">
                <a:latin typeface="Arial MT"/>
                <a:cs typeface="Arial MT"/>
              </a:rPr>
              <a:t>engineer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4973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264150" cy="174243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Service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Owner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responsible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outside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coordination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service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owner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participates: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System-wide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requirements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activities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Prioritizes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work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items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team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ts val="915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provides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information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both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from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clients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team’s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service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about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services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provided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5">
                <a:latin typeface="Arial MT"/>
                <a:cs typeface="Arial MT"/>
              </a:rPr>
              <a:t> the</a:t>
            </a:r>
            <a:endParaRPr sz="800">
              <a:latin typeface="Arial MT"/>
              <a:cs typeface="Arial MT"/>
            </a:endParaRPr>
          </a:p>
          <a:p>
            <a:pPr marL="619760">
              <a:lnSpc>
                <a:spcPts val="915"/>
              </a:lnSpc>
            </a:pPr>
            <a:r>
              <a:rPr dirty="0" sz="800" spc="-10">
                <a:latin typeface="Arial MT"/>
                <a:cs typeface="Arial MT"/>
              </a:rPr>
              <a:t>team.</a:t>
            </a:r>
            <a:endParaRPr sz="800">
              <a:latin typeface="Arial MT"/>
              <a:cs typeface="Arial MT"/>
            </a:endParaRPr>
          </a:p>
          <a:p>
            <a:pPr lvl="1" marL="619760" marR="143510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requirements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gathering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release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planning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activities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next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iteration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occur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parallel </a:t>
            </a:r>
            <a:r>
              <a:rPr dirty="0" sz="800">
                <a:latin typeface="Arial MT"/>
                <a:cs typeface="Arial MT"/>
              </a:rPr>
              <a:t>with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conception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phase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current</a:t>
            </a:r>
            <a:r>
              <a:rPr dirty="0" sz="800" spc="-10">
                <a:latin typeface="Arial MT"/>
                <a:cs typeface="Arial MT"/>
              </a:rPr>
              <a:t> iteration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service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owner maintains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communicates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vision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service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is,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vision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involves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architecture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overall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system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team’s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role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architecture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14979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179695" cy="208407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Reliability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Engineer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ts val="1025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Reliability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monitors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service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period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immediately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subsequent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30"/>
              </a:lnSpc>
            </a:pPr>
            <a:r>
              <a:rPr dirty="0" sz="900" spc="-10">
                <a:latin typeface="Arial MT"/>
                <a:cs typeface="Arial MT"/>
              </a:rPr>
              <a:t>deployment</a:t>
            </a:r>
            <a:endParaRPr sz="900">
              <a:latin typeface="Arial MT"/>
              <a:cs typeface="Arial MT"/>
            </a:endParaRPr>
          </a:p>
          <a:p>
            <a:pPr marL="391160" marR="132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Second,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reliability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point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contact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problems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service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during</a:t>
            </a:r>
            <a:r>
              <a:rPr dirty="0" sz="900" spc="-25">
                <a:latin typeface="Arial MT"/>
                <a:cs typeface="Arial MT"/>
              </a:rPr>
              <a:t> its </a:t>
            </a:r>
            <a:r>
              <a:rPr dirty="0" sz="900" spc="-1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Google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calls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“Site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Reliability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Engineer.”</a:t>
            </a:r>
            <a:endParaRPr sz="900">
              <a:latin typeface="Arial MT"/>
              <a:cs typeface="Arial MT"/>
            </a:endParaRPr>
          </a:p>
          <a:p>
            <a:pPr marL="391160" marR="28765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Once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problem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occurs,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reliability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performs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short-term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analysis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diagnose, </a:t>
            </a:r>
            <a:r>
              <a:rPr dirty="0" sz="900">
                <a:latin typeface="Arial MT"/>
                <a:cs typeface="Arial MT"/>
              </a:rPr>
              <a:t>mitigate,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repair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problem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case,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reliability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excellent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troubleshooting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diagnosis</a:t>
            </a:r>
            <a:endParaRPr sz="900">
              <a:latin typeface="Arial MT"/>
              <a:cs typeface="Arial MT"/>
            </a:endParaRPr>
          </a:p>
          <a:p>
            <a:pPr marL="391160" marR="13144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reliability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discover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 with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discover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root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cause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5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problem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ts val="1025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Increasingly,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reliability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 competent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developers,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need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write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high-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25"/>
              </a:lnSpc>
            </a:pPr>
            <a:r>
              <a:rPr dirty="0" sz="900">
                <a:latin typeface="Arial MT"/>
                <a:cs typeface="Arial MT"/>
              </a:rPr>
              <a:t>quality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programs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repetitive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diagnosis,</a:t>
            </a:r>
            <a:r>
              <a:rPr dirty="0" sz="900" spc="-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mitigation,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repair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4973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432305"/>
            <a:ext cx="7150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Gatekeeper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3136" y="1973579"/>
            <a:ext cx="4054657" cy="189649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33424" y="4977460"/>
            <a:ext cx="14979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 descr=""/>
          <p:cNvSpPr txBox="1"/>
          <p:nvPr/>
        </p:nvSpPr>
        <p:spPr>
          <a:xfrm>
            <a:off x="578916" y="5322934"/>
            <a:ext cx="5099685" cy="16319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Engineer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ts val="1025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responsible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feeding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various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used</a:t>
            </a:r>
            <a:r>
              <a:rPr dirty="0" sz="900" spc="-25">
                <a:latin typeface="Arial MT"/>
                <a:cs typeface="Arial MT"/>
              </a:rPr>
              <a:t> in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30"/>
              </a:lnSpc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 tool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chain</a:t>
            </a:r>
            <a:endParaRPr sz="900">
              <a:latin typeface="Arial MT"/>
              <a:cs typeface="Arial MT"/>
            </a:endParaRPr>
          </a:p>
          <a:p>
            <a:pPr marL="391160" marR="19431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engineer’s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tailoring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 spc="-10">
                <a:latin typeface="Arial MT"/>
                <a:cs typeface="Arial MT"/>
              </a:rPr>
              <a:t>monitoring</a:t>
            </a:r>
            <a:endParaRPr sz="900">
              <a:latin typeface="Arial MT"/>
              <a:cs typeface="Arial MT"/>
            </a:endParaRPr>
          </a:p>
          <a:p>
            <a:pPr marL="391160" marR="213995" indent="-114300">
              <a:lnSpc>
                <a:spcPts val="969"/>
              </a:lnSpc>
              <a:spcBef>
                <a:spcPts val="325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engineering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inherent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automating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deployment pipeline</a:t>
            </a:r>
            <a:endParaRPr sz="900">
              <a:latin typeface="Arial MT"/>
              <a:cs typeface="Arial MT"/>
            </a:endParaRPr>
          </a:p>
          <a:p>
            <a:pPr marL="391160" marR="169545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also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deals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configuration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managements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which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like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Puppet, </a:t>
            </a:r>
            <a:r>
              <a:rPr dirty="0" sz="900">
                <a:latin typeface="Arial MT"/>
                <a:cs typeface="Arial MT"/>
              </a:rPr>
              <a:t>Ansible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Chef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etc.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These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configuration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solutions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source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code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 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service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Coordination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255260" cy="214058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Forms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Coordination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goal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 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minimize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coordination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order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reduce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market</a:t>
            </a:r>
            <a:endParaRPr sz="900">
              <a:latin typeface="Arial MT"/>
              <a:cs typeface="Arial MT"/>
            </a:endParaRPr>
          </a:p>
          <a:p>
            <a:pPr marL="391160" marR="15557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 spc="-10">
                <a:latin typeface="Arial MT"/>
                <a:cs typeface="Arial MT"/>
              </a:rPr>
              <a:t>Two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reasons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coordinate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first,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pieces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various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teams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 together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second,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avoid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duplication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effort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Forms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Coordination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20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Direct—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individuals coordinating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know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each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other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(e.g.,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members)</a:t>
            </a:r>
            <a:endParaRPr sz="800">
              <a:latin typeface="Arial MT"/>
              <a:cs typeface="Arial MT"/>
            </a:endParaRPr>
          </a:p>
          <a:p>
            <a:pPr lvl="1" marL="619760" marR="45085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dirty="0" sz="800" spc="-10">
                <a:latin typeface="Arial MT"/>
                <a:cs typeface="Arial MT"/>
              </a:rPr>
              <a:t>Indirect—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coordination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mechanism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aimed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audience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known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only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its</a:t>
            </a:r>
            <a:r>
              <a:rPr dirty="0" sz="800" spc="-10">
                <a:latin typeface="Arial MT"/>
                <a:cs typeface="Arial MT"/>
              </a:rPr>
              <a:t> characterization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(e.g. Operators)</a:t>
            </a:r>
            <a:endParaRPr sz="800">
              <a:latin typeface="Arial MT"/>
              <a:cs typeface="Arial MT"/>
            </a:endParaRPr>
          </a:p>
          <a:p>
            <a:pPr lvl="1" marL="619760" marR="442595" indent="-114300">
              <a:lnSpc>
                <a:spcPts val="860"/>
              </a:lnSpc>
              <a:spcBef>
                <a:spcPts val="295"/>
              </a:spcBef>
              <a:buChar char="•"/>
              <a:tabLst>
                <a:tab pos="619760" algn="l"/>
              </a:tabLst>
            </a:pPr>
            <a:r>
              <a:rPr dirty="0" sz="800" spc="-10">
                <a:latin typeface="Arial MT"/>
                <a:cs typeface="Arial MT"/>
              </a:rPr>
              <a:t>Persistent—the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coordination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artifacts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available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after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 moment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 </a:t>
            </a:r>
            <a:r>
              <a:rPr dirty="0" sz="800" spc="-10">
                <a:latin typeface="Arial MT"/>
                <a:cs typeface="Arial MT"/>
              </a:rPr>
              <a:t>coordination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(e.g., documents,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e-</a:t>
            </a:r>
            <a:r>
              <a:rPr dirty="0" sz="800">
                <a:latin typeface="Arial MT"/>
                <a:cs typeface="Arial MT"/>
              </a:rPr>
              <a:t>mail,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bulletin </a:t>
            </a:r>
            <a:r>
              <a:rPr dirty="0" sz="800" spc="-10">
                <a:latin typeface="Arial MT"/>
                <a:cs typeface="Arial MT"/>
              </a:rPr>
              <a:t>boards)</a:t>
            </a:r>
            <a:endParaRPr sz="800">
              <a:latin typeface="Arial MT"/>
              <a:cs typeface="Arial MT"/>
            </a:endParaRPr>
          </a:p>
          <a:p>
            <a:pPr lvl="1" marL="619760" marR="5080" indent="-114300">
              <a:lnSpc>
                <a:spcPts val="860"/>
              </a:lnSpc>
              <a:spcBef>
                <a:spcPts val="295"/>
              </a:spcBef>
              <a:buChar char="•"/>
              <a:tabLst>
                <a:tab pos="619760" algn="l"/>
              </a:tabLst>
            </a:pPr>
            <a:r>
              <a:rPr dirty="0" sz="800" spc="-10">
                <a:latin typeface="Arial MT"/>
                <a:cs typeface="Arial MT"/>
              </a:rPr>
              <a:t>Ephemeral—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coordination,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per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se,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produces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artifacts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(e.g.,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face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face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meetings,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conversations, telephone/video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conferencing)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Synchronous—individuals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coordinating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real time,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(e.g., face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face)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Asynchronous—individuals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not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coordinating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real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time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(e.g.,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documents,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e-</a:t>
            </a:r>
            <a:r>
              <a:rPr dirty="0" sz="800" spc="-10">
                <a:latin typeface="Arial MT"/>
                <a:cs typeface="Arial MT"/>
              </a:rPr>
              <a:t>mail)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Coordination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074920" cy="18973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Team</a:t>
            </a:r>
            <a:r>
              <a:rPr dirty="0" sz="1000" spc="-6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coordination</a:t>
            </a:r>
            <a:r>
              <a:rPr dirty="0" sz="1000" spc="-5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mechanisms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25">
                <a:latin typeface="Arial MT"/>
                <a:cs typeface="Arial MT"/>
              </a:rPr>
              <a:t>Team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coordination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mechanisms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two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types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20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Human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Processes </a:t>
            </a:r>
            <a:r>
              <a:rPr dirty="0" sz="800" spc="-25">
                <a:latin typeface="Arial MT"/>
                <a:cs typeface="Arial MT"/>
              </a:rPr>
              <a:t>and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Automated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Processes</a:t>
            </a:r>
            <a:endParaRPr sz="8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35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 human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processes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adopted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designed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high- </a:t>
            </a:r>
            <a:r>
              <a:rPr dirty="0" sz="900">
                <a:latin typeface="Arial MT"/>
                <a:cs typeface="Arial MT"/>
              </a:rPr>
              <a:t>bandwidth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coordination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limited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persistence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Examples: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Stand-</a:t>
            </a:r>
            <a:r>
              <a:rPr dirty="0" sz="800">
                <a:latin typeface="Arial MT"/>
                <a:cs typeface="Arial MT"/>
              </a:rPr>
              <a:t>up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meetings</a:t>
            </a:r>
            <a:endParaRPr sz="800">
              <a:latin typeface="Arial MT"/>
              <a:cs typeface="Arial MT"/>
            </a:endParaRPr>
          </a:p>
          <a:p>
            <a:pPr marL="391160" marR="261620" indent="-114300">
              <a:lnSpc>
                <a:spcPts val="969"/>
              </a:lnSpc>
              <a:spcBef>
                <a:spcPts val="335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Automated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coordination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mechanisms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designed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protect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members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from </a:t>
            </a:r>
            <a:r>
              <a:rPr dirty="0" sz="900">
                <a:latin typeface="Arial MT"/>
                <a:cs typeface="Arial MT"/>
              </a:rPr>
              <a:t>interference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their 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others’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activities: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dirty="0" sz="800" spc="-5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automate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repetitive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tasks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(continuous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integration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 </a:t>
            </a:r>
            <a:r>
              <a:rPr dirty="0" sz="800" spc="-10">
                <a:latin typeface="Arial MT"/>
                <a:cs typeface="Arial MT"/>
              </a:rPr>
              <a:t>deployment),</a:t>
            </a:r>
            <a:endParaRPr sz="800">
              <a:latin typeface="Arial MT"/>
              <a:cs typeface="Arial MT"/>
            </a:endParaRPr>
          </a:p>
          <a:p>
            <a:pPr lvl="1" marL="619760" marR="148590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speed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up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error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detection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reporting </a:t>
            </a:r>
            <a:r>
              <a:rPr dirty="0" sz="800" spc="-10">
                <a:latin typeface="Arial MT"/>
                <a:cs typeface="Arial MT"/>
              </a:rPr>
              <a:t>(automated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unit,</a:t>
            </a:r>
            <a:r>
              <a:rPr dirty="0" sz="800" spc="-10">
                <a:latin typeface="Arial MT"/>
                <a:cs typeface="Arial MT"/>
              </a:rPr>
              <a:t> integration,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acceptance,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live </a:t>
            </a:r>
            <a:r>
              <a:rPr dirty="0" sz="800" spc="-10">
                <a:latin typeface="Arial MT"/>
                <a:cs typeface="Arial MT"/>
              </a:rPr>
              <a:t>production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tests)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Coordination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022850" cy="178816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Cross-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team</a:t>
            </a:r>
            <a:r>
              <a:rPr dirty="0" sz="1000" spc="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Coordination</a:t>
            </a:r>
            <a:endParaRPr sz="1000">
              <a:latin typeface="Arial"/>
              <a:cs typeface="Arial"/>
            </a:endParaRPr>
          </a:p>
          <a:p>
            <a:pPr marL="391160" marR="7620" indent="-114300">
              <a:lnSpc>
                <a:spcPts val="969"/>
              </a:lnSpc>
              <a:spcBef>
                <a:spcPts val="7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Coordination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must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occur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customers,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stakeholders,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other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>
                <a:latin typeface="Arial MT"/>
                <a:cs typeface="Arial MT"/>
              </a:rPr>
              <a:t>operations.</a:t>
            </a:r>
            <a:r>
              <a:rPr dirty="0" sz="900" spc="-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Therefore,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 processes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attempt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minimize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coordination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much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as </a:t>
            </a:r>
            <a:r>
              <a:rPr dirty="0" sz="900" spc="-10">
                <a:latin typeface="Arial MT"/>
                <a:cs typeface="Arial MT"/>
              </a:rPr>
              <a:t>possible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types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cross-team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coordination: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Upstream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Coordination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[with</a:t>
            </a:r>
            <a:r>
              <a:rPr dirty="0" sz="800" spc="-10">
                <a:latin typeface="Arial MT"/>
                <a:cs typeface="Arial MT"/>
              </a:rPr>
              <a:t> stakeholders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0">
                <a:latin typeface="Arial MT"/>
                <a:cs typeface="Arial MT"/>
              </a:rPr>
              <a:t> customers]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Downstream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Coordination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[with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operations]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Cross-</a:t>
            </a:r>
            <a:r>
              <a:rPr dirty="0" sz="800">
                <a:latin typeface="Arial MT"/>
                <a:cs typeface="Arial MT"/>
              </a:rPr>
              <a:t>Stream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Coordination </a:t>
            </a:r>
            <a:r>
              <a:rPr dirty="0" sz="800">
                <a:latin typeface="Arial MT"/>
                <a:cs typeface="Arial MT"/>
              </a:rPr>
              <a:t>[with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other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development teams]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two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reasons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coordinate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other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teams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5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ensure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code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developed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works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well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code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developed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another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avoid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duplication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0">
                <a:latin typeface="Arial MT"/>
                <a:cs typeface="Arial MT"/>
              </a:rPr>
              <a:t> effort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8916" y="5322934"/>
            <a:ext cx="2668270" cy="4794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People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Transformation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Enterprise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culture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833424" y="4977460"/>
            <a:ext cx="762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364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Transformation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culture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3519804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Constraints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Large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Enterprise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::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Transformation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Organization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Structure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Legacy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Technology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Stack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Organization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Culture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4364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Transformation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culture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271135" cy="198818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Concepts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Executives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like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terms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such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“Transformation”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Somehow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often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interpreted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as: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Cost </a:t>
            </a:r>
            <a:r>
              <a:rPr dirty="0" sz="800" spc="-10">
                <a:latin typeface="Arial MT"/>
                <a:cs typeface="Arial MT"/>
              </a:rPr>
              <a:t>Cutting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or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Resource </a:t>
            </a:r>
            <a:r>
              <a:rPr dirty="0" sz="800" spc="-10">
                <a:latin typeface="Arial MT"/>
                <a:cs typeface="Arial MT"/>
              </a:rPr>
              <a:t>Realignment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or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Outsourcing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Why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pushing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 </a:t>
            </a:r>
            <a:r>
              <a:rPr dirty="0" sz="900" spc="-10">
                <a:latin typeface="Arial MT"/>
                <a:cs typeface="Arial MT"/>
              </a:rPr>
              <a:t>DevOps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intent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transform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way solutions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delivered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today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faster,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cheaper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better</a:t>
            </a:r>
            <a:endParaRPr sz="900">
              <a:latin typeface="Arial MT"/>
              <a:cs typeface="Arial MT"/>
            </a:endParaRPr>
          </a:p>
          <a:p>
            <a:pPr marL="391160" marR="184785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techniques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 have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been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successfully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implemented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large</a:t>
            </a:r>
            <a:r>
              <a:rPr dirty="0" sz="900" spc="-25">
                <a:latin typeface="Arial MT"/>
                <a:cs typeface="Arial MT"/>
              </a:rPr>
              <a:t> and </a:t>
            </a:r>
            <a:r>
              <a:rPr dirty="0" sz="900">
                <a:latin typeface="Arial MT"/>
                <a:cs typeface="Arial MT"/>
              </a:rPr>
              <a:t>small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enable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those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outcomes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Look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229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approach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worked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quite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well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most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enterprises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364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Transformation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culture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040630" cy="9321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Initial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Planning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for</a:t>
            </a:r>
            <a:r>
              <a:rPr dirty="0" sz="1000" spc="-4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Enterprise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Readiness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Participants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absolutely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include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towers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up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solution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delivery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Design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Thinking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: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great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method;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leverages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expertise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stakeholders,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enables </a:t>
            </a:r>
            <a:r>
              <a:rPr dirty="0" sz="900">
                <a:latin typeface="Arial MT"/>
                <a:cs typeface="Arial MT"/>
              </a:rPr>
              <a:t>them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common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understanding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High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Level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Output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185" y="2712720"/>
            <a:ext cx="1585331" cy="640461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388110" y="2796920"/>
            <a:ext cx="897255" cy="438784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09855" marR="5080" indent="-97790">
              <a:lnSpc>
                <a:spcPts val="1510"/>
              </a:lnSpc>
              <a:spcBef>
                <a:spcPts val="340"/>
              </a:spcBef>
            </a:pPr>
            <a:r>
              <a:rPr dirty="0" sz="1450" spc="-10">
                <a:solidFill>
                  <a:srgbClr val="FFFFFF"/>
                </a:solidFill>
                <a:latin typeface="Arial MT"/>
                <a:cs typeface="Arial MT"/>
              </a:rPr>
              <a:t>Participant </a:t>
            </a:r>
            <a:r>
              <a:rPr dirty="0" sz="145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4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Arial MT"/>
                <a:cs typeface="Arial MT"/>
              </a:rPr>
              <a:t>Inputs</a:t>
            </a:r>
            <a:endParaRPr sz="145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47544" y="2712720"/>
            <a:ext cx="1589912" cy="64046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902076" y="2796920"/>
            <a:ext cx="721360" cy="438784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 indent="60960">
              <a:lnSpc>
                <a:spcPts val="1510"/>
              </a:lnSpc>
              <a:spcBef>
                <a:spcPts val="340"/>
              </a:spcBef>
            </a:pPr>
            <a:r>
              <a:rPr dirty="0" sz="1450" spc="-10">
                <a:solidFill>
                  <a:srgbClr val="FFFFFF"/>
                </a:solidFill>
                <a:latin typeface="Arial MT"/>
                <a:cs typeface="Arial MT"/>
              </a:rPr>
              <a:t>Design Thinking</a:t>
            </a:r>
            <a:endParaRPr sz="145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72484" y="2712720"/>
            <a:ext cx="1589913" cy="640461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4242053" y="2796920"/>
            <a:ext cx="894715" cy="438784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2555" marR="5080" indent="-110489">
              <a:lnSpc>
                <a:spcPts val="1510"/>
              </a:lnSpc>
              <a:spcBef>
                <a:spcPts val="340"/>
              </a:spcBef>
            </a:pPr>
            <a:r>
              <a:rPr dirty="0" sz="145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dirty="0" sz="14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Arial MT"/>
                <a:cs typeface="Arial MT"/>
              </a:rPr>
              <a:t>Level Outputs</a:t>
            </a:r>
            <a:endParaRPr sz="1450">
              <a:latin typeface="Arial MT"/>
              <a:cs typeface="Arial MT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833424" y="4977460"/>
            <a:ext cx="4364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Transformation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culture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8916" y="5322934"/>
            <a:ext cx="5219065" cy="122047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Establish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Center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Excellence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At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 right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organizational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level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enterprise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authority</a:t>
            </a:r>
            <a:endParaRPr sz="900">
              <a:latin typeface="Arial MT"/>
              <a:cs typeface="Arial MT"/>
            </a:endParaRPr>
          </a:p>
          <a:p>
            <a:pPr marL="391160" marR="4953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Create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Face: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enterprise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leader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who has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support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buy-in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all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towers</a:t>
            </a:r>
            <a:endParaRPr sz="900">
              <a:latin typeface="Arial MT"/>
              <a:cs typeface="Arial MT"/>
            </a:endParaRPr>
          </a:p>
          <a:p>
            <a:pPr marL="416559" indent="-139700">
              <a:lnSpc>
                <a:spcPct val="100000"/>
              </a:lnSpc>
              <a:spcBef>
                <a:spcPts val="204"/>
              </a:spcBef>
              <a:buChar char="•"/>
              <a:tabLst>
                <a:tab pos="416559" algn="l"/>
              </a:tabLst>
            </a:pPr>
            <a:r>
              <a:rPr dirty="0" sz="900">
                <a:latin typeface="Arial MT"/>
                <a:cs typeface="Arial MT"/>
              </a:rPr>
              <a:t>Active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Participant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from</a:t>
            </a:r>
            <a:r>
              <a:rPr dirty="0" sz="900" spc="-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Towers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Delivery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&amp;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Participants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must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chosen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wisely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These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phases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help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concrete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vision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strategies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help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setup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best </a:t>
            </a:r>
            <a:r>
              <a:rPr dirty="0" sz="900">
                <a:latin typeface="Arial MT"/>
                <a:cs typeface="Arial MT"/>
              </a:rPr>
              <a:t>practices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support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cultural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movement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3865" y="6940295"/>
            <a:ext cx="1585331" cy="640461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509775" y="7100061"/>
            <a:ext cx="880744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FFFFFF"/>
                </a:solidFill>
                <a:latin typeface="Arial MT"/>
                <a:cs typeface="Arial MT"/>
              </a:rPr>
              <a:t>Authority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54223" y="6940295"/>
            <a:ext cx="1589913" cy="640461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2946019" y="6988302"/>
            <a:ext cx="854710" cy="5080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86055" marR="5080" indent="-173990">
              <a:lnSpc>
                <a:spcPts val="1750"/>
              </a:lnSpc>
              <a:spcBef>
                <a:spcPts val="400"/>
              </a:spcBef>
            </a:pPr>
            <a:r>
              <a:rPr dirty="0" sz="1700">
                <a:solidFill>
                  <a:srgbClr val="FFFFFF"/>
                </a:solidFill>
                <a:latin typeface="Arial MT"/>
                <a:cs typeface="Arial MT"/>
              </a:rPr>
              <a:t>Create</a:t>
            </a:r>
            <a:r>
              <a:rPr dirty="0" sz="17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-5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dirty="0" sz="1700" spc="-20">
                <a:solidFill>
                  <a:srgbClr val="FFFFFF"/>
                </a:solidFill>
                <a:latin typeface="Arial MT"/>
                <a:cs typeface="Arial MT"/>
              </a:rPr>
              <a:t>Face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79164" y="6940295"/>
            <a:ext cx="1589913" cy="640461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4443221" y="6988302"/>
            <a:ext cx="711200" cy="5080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33045" marR="5080" indent="-220979">
              <a:lnSpc>
                <a:spcPts val="1750"/>
              </a:lnSpc>
              <a:spcBef>
                <a:spcPts val="400"/>
              </a:spcBef>
            </a:pPr>
            <a:r>
              <a:rPr dirty="0" sz="1700" spc="-10">
                <a:solidFill>
                  <a:srgbClr val="FFFFFF"/>
                </a:solidFill>
                <a:latin typeface="Arial MT"/>
                <a:cs typeface="Arial MT"/>
              </a:rPr>
              <a:t>Involve </a:t>
            </a:r>
            <a:r>
              <a:rPr dirty="0" sz="1700" spc="-25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364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Transformation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culture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4352925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Establish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Program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Governance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DevOps,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practitioners’</a:t>
            </a:r>
            <a:r>
              <a:rPr dirty="0" sz="900" spc="-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 responsibilities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change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Need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awareness,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enablement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empowerment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succeed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KPIs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must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shift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individual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metrics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holistic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customer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business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outcomes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827" y="2542032"/>
            <a:ext cx="1589912" cy="63893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264158" y="2631693"/>
            <a:ext cx="908050" cy="43942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ctr" marL="12065" marR="5080">
              <a:lnSpc>
                <a:spcPts val="1030"/>
              </a:lnSpc>
              <a:spcBef>
                <a:spcPts val="27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Create Communication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Plan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4767" y="2542032"/>
            <a:ext cx="1589912" cy="63893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792983" y="2697225"/>
            <a:ext cx="701040" cy="308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15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Enablement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ts val="1115"/>
              </a:lnSpc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Program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59708" y="2542032"/>
            <a:ext cx="1589913" cy="638936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4149978" y="2697225"/>
            <a:ext cx="838835" cy="308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">
              <a:lnSpc>
                <a:spcPts val="1115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Establish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ts val="1115"/>
              </a:lnSpc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Program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KPI’s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833424" y="4977460"/>
            <a:ext cx="4364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Transformation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culture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8916" y="5322934"/>
            <a:ext cx="3476625" cy="97345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Establish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Project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In-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take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SME’s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conduct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in-take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workshops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Scrum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Teams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Automation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scripts,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Infrastructure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assets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35">
                <a:latin typeface="Arial MT"/>
                <a:cs typeface="Arial MT"/>
              </a:rPr>
              <a:t>Test</a:t>
            </a:r>
            <a:r>
              <a:rPr dirty="0" sz="900" spc="-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Automation,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Branching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Merging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&amp; Lessons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Learned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Fit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purpose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selection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Application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Criticality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4993" y="6825995"/>
            <a:ext cx="1585331" cy="640461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385442" y="6898005"/>
            <a:ext cx="883285" cy="48704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35890" marR="5080" indent="-123825">
              <a:lnSpc>
                <a:spcPts val="1720"/>
              </a:lnSpc>
              <a:spcBef>
                <a:spcPts val="320"/>
              </a:spcBef>
            </a:pP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Reusable Assets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35351" y="6825995"/>
            <a:ext cx="1589913" cy="640461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2821685" y="6890131"/>
            <a:ext cx="861060" cy="47942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 marR="5080" indent="214629">
              <a:lnSpc>
                <a:spcPts val="1660"/>
              </a:lnSpc>
              <a:spcBef>
                <a:spcPts val="365"/>
              </a:spcBef>
            </a:pP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Best 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Practices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60291" y="6825995"/>
            <a:ext cx="1589913" cy="640461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4387341" y="6890131"/>
            <a:ext cx="579755" cy="47942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 marR="5080" indent="40640">
              <a:lnSpc>
                <a:spcPts val="1660"/>
              </a:lnSpc>
              <a:spcBef>
                <a:spcPts val="365"/>
              </a:spcBef>
            </a:pP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Right Sizing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4364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Transformation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culture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4170679" cy="93726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Identify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and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Initiate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Pilots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Value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stream-</a:t>
            </a:r>
            <a:r>
              <a:rPr dirty="0" sz="900">
                <a:latin typeface="Arial MT"/>
                <a:cs typeface="Arial MT"/>
              </a:rPr>
              <a:t>mapping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exercise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Level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detail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necessary: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5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identify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end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end</a:t>
            </a:r>
            <a:r>
              <a:rPr dirty="0" sz="800" spc="-10">
                <a:latin typeface="Arial MT"/>
                <a:cs typeface="Arial MT"/>
              </a:rPr>
              <a:t> as-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process,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tooling,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manual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0">
                <a:latin typeface="Arial MT"/>
                <a:cs typeface="Arial MT"/>
              </a:rPr>
              <a:t> automated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processes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skills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people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4364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Transformation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culture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2054225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Scale Out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Program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Onboard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Parallel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Release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Trains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Apply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Intake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Process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Support,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Monitor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Manage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118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References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43178" y="1634998"/>
            <a:ext cx="3796029" cy="35496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3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I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would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like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thank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Mr.</a:t>
            </a:r>
            <a:r>
              <a:rPr dirty="0" sz="900">
                <a:latin typeface="Arial MT"/>
                <a:cs typeface="Arial MT"/>
              </a:rPr>
              <a:t> Sunil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Joshi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dirty="0" sz="900" spc="-10">
                <a:latin typeface="Arial MT"/>
                <a:cs typeface="Arial MT"/>
              </a:rPr>
              <a:t>https://devops.com/six-</a:t>
            </a:r>
            <a:r>
              <a:rPr dirty="0" sz="900">
                <a:latin typeface="Arial MT"/>
                <a:cs typeface="Arial MT"/>
              </a:rPr>
              <a:t>step-</a:t>
            </a:r>
            <a:r>
              <a:rPr dirty="0" sz="900" spc="-10">
                <a:latin typeface="Arial MT"/>
                <a:cs typeface="Arial MT"/>
              </a:rPr>
              <a:t>approach-enterprise-devops-transformation/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26060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People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Dimension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38073"/>
            <a:ext cx="5258435" cy="236474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is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culture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50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People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0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DevOps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cultural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movement;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it’s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all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about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people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Building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DevOps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culture,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therefore,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core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DevOps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adoption</a:t>
            </a:r>
            <a:endParaRPr sz="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90"/>
              </a:spcBef>
              <a:buFont typeface="Arial MT"/>
              <a:buChar char="•"/>
            </a:pPr>
            <a:endParaRPr sz="800">
              <a:latin typeface="Arial MT"/>
              <a:cs typeface="Arial MT"/>
            </a:endParaRPr>
          </a:p>
          <a:p>
            <a:pPr marL="391160" marR="34925" indent="-114300">
              <a:lnSpc>
                <a:spcPct val="80000"/>
              </a:lnSpc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adopt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most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efficient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processes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possible,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they’re </a:t>
            </a:r>
            <a:r>
              <a:rPr dirty="0" sz="900">
                <a:latin typeface="Arial MT"/>
                <a:cs typeface="Arial MT"/>
              </a:rPr>
              <a:t>useless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without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people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who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eventually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must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execute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those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processes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those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tools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  <a:buFont typeface="Arial MT"/>
              <a:buChar char="•"/>
            </a:pPr>
            <a:endParaRPr sz="900">
              <a:latin typeface="Arial MT"/>
              <a:cs typeface="Arial MT"/>
            </a:endParaRPr>
          </a:p>
          <a:p>
            <a:pPr marL="391160" marR="170815" indent="-114300">
              <a:lnSpc>
                <a:spcPct val="80000"/>
              </a:lnSpc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culture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 </a:t>
            </a:r>
            <a:r>
              <a:rPr dirty="0" sz="900" spc="-10">
                <a:latin typeface="Arial MT"/>
                <a:cs typeface="Arial MT"/>
              </a:rPr>
              <a:t>characterized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high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degree 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collaboration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across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roles,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focus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on </a:t>
            </a:r>
            <a:r>
              <a:rPr dirty="0" sz="900">
                <a:latin typeface="Arial MT"/>
                <a:cs typeface="Arial MT"/>
              </a:rPr>
              <a:t>business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instead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departmental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objectives,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trust,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high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value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placed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learning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through experimentation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11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Building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culture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isn’t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like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adopting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 </a:t>
            </a:r>
            <a:r>
              <a:rPr dirty="0" sz="900" spc="-20">
                <a:latin typeface="Arial MT"/>
                <a:cs typeface="Arial MT"/>
              </a:rPr>
              <a:t>tool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ts val="969"/>
              </a:lnSpc>
              <a:spcBef>
                <a:spcPts val="10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requires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social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engineering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people,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unique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predispositions,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experiences,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969"/>
              </a:lnSpc>
            </a:pP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biases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11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diversity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culture-building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challenging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difficult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11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Lean 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agile </a:t>
            </a:r>
            <a:r>
              <a:rPr dirty="0" sz="900" spc="-10">
                <a:latin typeface="Arial MT"/>
                <a:cs typeface="Arial MT"/>
              </a:rPr>
              <a:t>transformation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practices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at the core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 </a:t>
            </a:r>
            <a:r>
              <a:rPr dirty="0" sz="900" spc="-10">
                <a:latin typeface="Arial MT"/>
                <a:cs typeface="Arial MT"/>
              </a:rPr>
              <a:t>DevOps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6060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People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Dimension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234305" cy="233172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Managing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People,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Not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Resources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“Managing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would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easy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wasn’t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people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deal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with”</a:t>
            </a:r>
            <a:endParaRPr sz="900">
              <a:latin typeface="Arial MT"/>
              <a:cs typeface="Arial MT"/>
            </a:endParaRPr>
          </a:p>
          <a:p>
            <a:pPr marL="391160" marR="39941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Some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people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react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allergically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people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resources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talk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about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managing resources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resource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something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 can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without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much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tailoring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ts val="1025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Example: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sand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like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next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comes</a:t>
            </a:r>
            <a:r>
              <a:rPr dirty="0" sz="900" spc="-25">
                <a:latin typeface="Arial MT"/>
                <a:cs typeface="Arial MT"/>
              </a:rPr>
              <a:t> to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25"/>
              </a:lnSpc>
            </a:pPr>
            <a:r>
              <a:rPr dirty="0" sz="900">
                <a:latin typeface="Arial MT"/>
                <a:cs typeface="Arial MT"/>
              </a:rPr>
              <a:t>making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dikes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people,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never </a:t>
            </a:r>
            <a:r>
              <a:rPr dirty="0" sz="900" spc="-20">
                <a:latin typeface="Arial MT"/>
                <a:cs typeface="Arial MT"/>
              </a:rPr>
              <a:t>true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Example: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probably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been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planning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projects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creating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plan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that </a:t>
            </a:r>
            <a:r>
              <a:rPr dirty="0" sz="900">
                <a:latin typeface="Arial MT"/>
                <a:cs typeface="Arial MT"/>
              </a:rPr>
              <a:t>includes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certain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amount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“anonymous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full-time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equivalents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(FTEs).”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bit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later,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start </a:t>
            </a:r>
            <a:r>
              <a:rPr dirty="0" sz="900">
                <a:latin typeface="Arial MT"/>
                <a:cs typeface="Arial MT"/>
              </a:rPr>
              <a:t>putting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names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realize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 need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less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effort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 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actual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people</a:t>
            </a:r>
            <a:r>
              <a:rPr dirty="0" sz="900" spc="-25">
                <a:latin typeface="Arial MT"/>
                <a:cs typeface="Arial MT"/>
              </a:rPr>
              <a:t> we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available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project</a:t>
            </a:r>
            <a:endParaRPr sz="900">
              <a:latin typeface="Arial MT"/>
              <a:cs typeface="Arial MT"/>
            </a:endParaRPr>
          </a:p>
          <a:p>
            <a:pPr marL="391160" marR="66675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Java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just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another;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honestly,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would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never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consider </a:t>
            </a:r>
            <a:r>
              <a:rPr dirty="0" sz="900">
                <a:latin typeface="Arial MT"/>
                <a:cs typeface="Arial MT"/>
              </a:rPr>
              <a:t>ourselves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just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resource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whose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job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someone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else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could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efficiency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 spc="-10">
                <a:latin typeface="Arial MT"/>
                <a:cs typeface="Arial MT"/>
              </a:rPr>
              <a:t>effectiveness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26060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People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Dimension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178425" cy="10966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Don’t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change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Organization;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Change</a:t>
            </a:r>
            <a:r>
              <a:rPr dirty="0" sz="1000" spc="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yourself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30">
                <a:latin typeface="Arial MT"/>
                <a:cs typeface="Arial MT"/>
              </a:rPr>
              <a:t>You</a:t>
            </a:r>
            <a:r>
              <a:rPr dirty="0" sz="900">
                <a:latin typeface="Arial MT"/>
                <a:cs typeface="Arial MT"/>
              </a:rPr>
              <a:t> will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able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get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organization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change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But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what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change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organization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Manage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way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would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like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treated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climb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higher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hierarchy,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influence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 increase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and,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that,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larger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larger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way you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would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like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to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6060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People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Dimension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4751070" cy="130302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Identifying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Business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Objective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Getting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everyone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headed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direction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toward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goal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“Identify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Common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Business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Objective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5">
                <a:latin typeface="Arial MT"/>
                <a:cs typeface="Arial MT"/>
              </a:rPr>
              <a:t> Team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Organization”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Incent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entire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business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outcomes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versus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conflicting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incentives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Easy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measure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progress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goal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organization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DevOps isn’t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goal.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helps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reach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goals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26060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People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Dimension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227320" cy="247396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Effective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Management</a:t>
            </a:r>
            <a:r>
              <a:rPr dirty="0" sz="1000" spc="-4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People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One-On-</a:t>
            </a:r>
            <a:r>
              <a:rPr dirty="0" sz="900" spc="-20">
                <a:latin typeface="Arial MT"/>
                <a:cs typeface="Arial MT"/>
              </a:rPr>
              <a:t>Ones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20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Regular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one-on-</a:t>
            </a:r>
            <a:r>
              <a:rPr dirty="0" sz="800">
                <a:latin typeface="Arial MT"/>
                <a:cs typeface="Arial MT"/>
              </a:rPr>
              <a:t>one</a:t>
            </a:r>
            <a:r>
              <a:rPr dirty="0" sz="800" spc="-10">
                <a:latin typeface="Arial MT"/>
                <a:cs typeface="Arial MT"/>
              </a:rPr>
              <a:t> meetings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people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who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report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directly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you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Don’t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be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Anonymous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Having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open-</a:t>
            </a:r>
            <a:r>
              <a:rPr dirty="0" sz="800">
                <a:latin typeface="Arial MT"/>
                <a:cs typeface="Arial MT"/>
              </a:rPr>
              <a:t>door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policy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same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as</a:t>
            </a:r>
            <a:r>
              <a:rPr dirty="0" sz="800" spc="-10">
                <a:latin typeface="Arial MT"/>
                <a:cs typeface="Arial MT"/>
              </a:rPr>
              <a:t> setting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up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one-on-</a:t>
            </a:r>
            <a:r>
              <a:rPr dirty="0" sz="800" spc="-20">
                <a:latin typeface="Arial MT"/>
                <a:cs typeface="Arial MT"/>
              </a:rPr>
              <a:t>ones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Let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feel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people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important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you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30">
                <a:latin typeface="Arial MT"/>
                <a:cs typeface="Arial MT"/>
              </a:rPr>
              <a:t>You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making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time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them</a:t>
            </a:r>
            <a:endParaRPr sz="800">
              <a:latin typeface="Arial MT"/>
              <a:cs typeface="Arial MT"/>
            </a:endParaRPr>
          </a:p>
          <a:p>
            <a:pPr lvl="1" marL="619760" marR="5080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Best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Practices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: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have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weekly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bi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weekly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30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minutes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one-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–one,</a:t>
            </a:r>
            <a:r>
              <a:rPr dirty="0" sz="800" spc="19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learn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more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about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person,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let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them </a:t>
            </a:r>
            <a:r>
              <a:rPr dirty="0" sz="800">
                <a:latin typeface="Arial MT"/>
                <a:cs typeface="Arial MT"/>
              </a:rPr>
              <a:t>raise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first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provide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your</a:t>
            </a:r>
            <a:r>
              <a:rPr dirty="0" sz="800" spc="-10">
                <a:latin typeface="Arial MT"/>
                <a:cs typeface="Arial MT"/>
              </a:rPr>
              <a:t> updates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Benefit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Manager?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Benefit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Employee?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Feedback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Everyone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would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like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get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more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feedback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from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her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boss</a:t>
            </a:r>
            <a:endParaRPr sz="800">
              <a:latin typeface="Arial MT"/>
              <a:cs typeface="Arial MT"/>
            </a:endParaRPr>
          </a:p>
          <a:p>
            <a:pPr lvl="1" marL="619760" marR="110489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Dan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Pink’s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mastery,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autonomy,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purpose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: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“When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x,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happens,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which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optimal.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Can</a:t>
            </a:r>
            <a:r>
              <a:rPr dirty="0" sz="800">
                <a:latin typeface="Arial MT"/>
                <a:cs typeface="Arial MT"/>
              </a:rPr>
              <a:t> you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find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way 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-10">
                <a:latin typeface="Arial MT"/>
                <a:cs typeface="Arial MT"/>
              </a:rPr>
              <a:t> differently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next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time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lead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better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outcome?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“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Focus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10">
                <a:latin typeface="Arial MT"/>
                <a:cs typeface="Arial MT"/>
              </a:rPr>
              <a:t> feedback?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6060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People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Dimension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212715" cy="214503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Effective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Management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People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Contd..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Delegation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Feel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10">
                <a:latin typeface="Arial MT"/>
                <a:cs typeface="Arial MT"/>
              </a:rPr>
              <a:t> delegation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 JOB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others?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Managerial</a:t>
            </a:r>
            <a:r>
              <a:rPr dirty="0" sz="800" spc="6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Economics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101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Creating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Blameless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Culture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Who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being </a:t>
            </a:r>
            <a:r>
              <a:rPr dirty="0" sz="800" spc="-10">
                <a:latin typeface="Arial MT"/>
                <a:cs typeface="Arial MT"/>
              </a:rPr>
              <a:t>blamed?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30">
                <a:latin typeface="Arial MT"/>
                <a:cs typeface="Arial MT"/>
              </a:rPr>
              <a:t>You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have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cover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without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delegating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blame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person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who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responsible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appreciate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this</a:t>
            </a:r>
            <a:endParaRPr sz="800">
              <a:latin typeface="Arial MT"/>
              <a:cs typeface="Arial MT"/>
            </a:endParaRPr>
          </a:p>
          <a:p>
            <a:pPr lvl="1" marL="619760" marR="92710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more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share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rest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organization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positive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impact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member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has</a:t>
            </a:r>
            <a:r>
              <a:rPr dirty="0" sz="800">
                <a:latin typeface="Arial MT"/>
                <a:cs typeface="Arial MT"/>
              </a:rPr>
              <a:t> made,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better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look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too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These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two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practices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empower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people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do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best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job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you</a:t>
            </a:r>
            <a:endParaRPr sz="800">
              <a:latin typeface="Arial MT"/>
              <a:cs typeface="Arial MT"/>
            </a:endParaRPr>
          </a:p>
          <a:p>
            <a:pPr lvl="1" marL="619760" marR="5080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Whenever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have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failures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problems,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your</a:t>
            </a:r>
            <a:r>
              <a:rPr dirty="0" sz="800" spc="-10">
                <a:latin typeface="Arial MT"/>
                <a:cs typeface="Arial MT"/>
              </a:rPr>
              <a:t> root-</a:t>
            </a:r>
            <a:r>
              <a:rPr dirty="0" sz="800">
                <a:latin typeface="Arial MT"/>
                <a:cs typeface="Arial MT"/>
              </a:rPr>
              <a:t>cause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analysis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should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focus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who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did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what </a:t>
            </a:r>
            <a:r>
              <a:rPr dirty="0" sz="800">
                <a:latin typeface="Arial MT"/>
                <a:cs typeface="Arial MT"/>
              </a:rPr>
              <a:t>but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how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need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change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system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so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next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person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able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avoid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making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mistake again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26060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People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Dimension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4784090" cy="236347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Effective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Management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People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Contd..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Measuring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Your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Organizational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Culture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20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There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few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different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ways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measure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culture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Westrum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survey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measures</a:t>
            </a:r>
            <a:endParaRPr sz="8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On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my</a:t>
            </a:r>
            <a:r>
              <a:rPr dirty="0" sz="700" spc="-10">
                <a:latin typeface="Arial MT"/>
                <a:cs typeface="Arial MT"/>
              </a:rPr>
              <a:t> team, information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is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actively</a:t>
            </a:r>
            <a:r>
              <a:rPr dirty="0" sz="700" spc="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sought.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On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my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team,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failures</a:t>
            </a:r>
            <a:r>
              <a:rPr dirty="0" sz="700" spc="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are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learning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opportunities,</a:t>
            </a:r>
            <a:r>
              <a:rPr dirty="0" sz="700" spc="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and</a:t>
            </a:r>
            <a:r>
              <a:rPr dirty="0" sz="700" spc="-10">
                <a:latin typeface="Arial MT"/>
                <a:cs typeface="Arial MT"/>
              </a:rPr>
              <a:t> messengers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of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them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are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not</a:t>
            </a:r>
            <a:r>
              <a:rPr dirty="0" sz="700" spc="-10">
                <a:latin typeface="Arial MT"/>
                <a:cs typeface="Arial MT"/>
              </a:rPr>
              <a:t> punished.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On my </a:t>
            </a:r>
            <a:r>
              <a:rPr dirty="0" sz="700" spc="-10">
                <a:latin typeface="Arial MT"/>
                <a:cs typeface="Arial MT"/>
              </a:rPr>
              <a:t>team,</a:t>
            </a:r>
            <a:r>
              <a:rPr dirty="0" sz="70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responsibilities</a:t>
            </a:r>
            <a:r>
              <a:rPr dirty="0" sz="700" spc="3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are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shared.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65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On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my</a:t>
            </a:r>
            <a:r>
              <a:rPr dirty="0" sz="700" spc="-10">
                <a:latin typeface="Arial MT"/>
                <a:cs typeface="Arial MT"/>
              </a:rPr>
              <a:t> team, cross-</a:t>
            </a:r>
            <a:r>
              <a:rPr dirty="0" sz="700">
                <a:latin typeface="Arial MT"/>
                <a:cs typeface="Arial MT"/>
              </a:rPr>
              <a:t>functional</a:t>
            </a:r>
            <a:r>
              <a:rPr dirty="0" sz="700" spc="2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collaboration</a:t>
            </a:r>
            <a:r>
              <a:rPr dirty="0" sz="700" spc="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is</a:t>
            </a:r>
            <a:r>
              <a:rPr dirty="0" sz="700" spc="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encouraged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and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rewarded.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On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my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team,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failure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causes </a:t>
            </a:r>
            <a:r>
              <a:rPr dirty="0" sz="700" spc="-10">
                <a:latin typeface="Arial MT"/>
                <a:cs typeface="Arial MT"/>
              </a:rPr>
              <a:t>inquiry.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65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On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my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team,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new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ideas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are</a:t>
            </a:r>
            <a:r>
              <a:rPr dirty="0" sz="700" spc="-10">
                <a:latin typeface="Arial MT"/>
                <a:cs typeface="Arial MT"/>
              </a:rPr>
              <a:t> welcomed</a:t>
            </a:r>
            <a:endParaRPr sz="7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There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few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more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suggestions:</a:t>
            </a:r>
            <a:endParaRPr sz="8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I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would</a:t>
            </a:r>
            <a:r>
              <a:rPr dirty="0" sz="700" spc="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recommend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the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team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to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my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friends as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good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place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to</a:t>
            </a:r>
            <a:r>
              <a:rPr dirty="0" sz="700" spc="-20">
                <a:latin typeface="Arial MT"/>
                <a:cs typeface="Arial MT"/>
              </a:rPr>
              <a:t> work.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I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have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the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tools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and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resources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to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do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my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role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well.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I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rarely think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about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leaving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this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team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or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my</a:t>
            </a:r>
            <a:r>
              <a:rPr dirty="0" sz="700" spc="-3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company.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My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role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makes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good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use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of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my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skills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and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abilities.</a:t>
            </a:r>
            <a:endParaRPr sz="7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Remember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advice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stated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before: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only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control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organization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6060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People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Dimension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3755390" cy="13398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Effective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Management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People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: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Lets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Summarize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Measuring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Your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Organizational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Culture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Provide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your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employees:</a:t>
            </a:r>
            <a:endParaRPr sz="8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An</a:t>
            </a:r>
            <a:r>
              <a:rPr dirty="0" sz="700" spc="1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organizational</a:t>
            </a:r>
            <a:r>
              <a:rPr dirty="0" sz="700" spc="6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structure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The</a:t>
            </a:r>
            <a:r>
              <a:rPr dirty="0" sz="700" spc="-4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business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context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and</a:t>
            </a:r>
            <a:endParaRPr sz="7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65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The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necessary</a:t>
            </a:r>
            <a:r>
              <a:rPr dirty="0" sz="700" spc="2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feedback</a:t>
            </a:r>
            <a:endParaRPr sz="7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People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factor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transformation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succeed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fail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Spend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enough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effort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People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during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transformation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8916" y="5322934"/>
            <a:ext cx="2056764" cy="14668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Tools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and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Technology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in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What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20">
                <a:latin typeface="Arial MT"/>
                <a:cs typeface="Arial MT"/>
              </a:rPr>
              <a:t> Tools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Local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Environment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Version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Control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Artifact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Management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Automation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Monitoring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Evolution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Ecosystem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833424" y="4977460"/>
            <a:ext cx="762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372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116830" cy="180657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What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is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Tools: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What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Tools: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20">
                <a:latin typeface="Arial MT"/>
                <a:cs typeface="Arial MT"/>
              </a:rPr>
              <a:t>Tools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maintain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various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aspects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culture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help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programming,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documenting,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testing,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>
                <a:latin typeface="Arial MT"/>
                <a:cs typeface="Arial MT"/>
              </a:rPr>
              <a:t>fixing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bugs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applications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services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ts val="1025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restricted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specific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roles,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these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important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anyone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in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25"/>
              </a:lnSpc>
            </a:pPr>
            <a:r>
              <a:rPr dirty="0" sz="900">
                <a:latin typeface="Arial MT"/>
                <a:cs typeface="Arial MT"/>
              </a:rPr>
              <a:t>some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capacity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Local </a:t>
            </a:r>
            <a:r>
              <a:rPr dirty="0" sz="800" spc="-10">
                <a:latin typeface="Arial MT"/>
                <a:cs typeface="Arial MT"/>
              </a:rPr>
              <a:t>development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environment,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Version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control,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Artifact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Management,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Automation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Monitoring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1372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224780" cy="22904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Local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Development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Environment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ts val="1025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consistent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local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environment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quickly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get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employees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started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30"/>
              </a:lnSpc>
            </a:pPr>
            <a:r>
              <a:rPr dirty="0" sz="900">
                <a:latin typeface="Arial MT"/>
                <a:cs typeface="Arial MT"/>
              </a:rPr>
              <a:t>contributing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product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Don’t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Consider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limitation: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This 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individuals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locked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single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standard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editor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</a:t>
            </a:r>
            <a:r>
              <a:rPr dirty="0" sz="900" spc="-10">
                <a:latin typeface="Arial MT"/>
                <a:cs typeface="Arial MT"/>
              </a:rPr>
              <a:t> flexibility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customization,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rather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ensuring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needed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get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their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jobs </a:t>
            </a:r>
            <a:r>
              <a:rPr dirty="0" sz="900">
                <a:latin typeface="Arial MT"/>
                <a:cs typeface="Arial MT"/>
              </a:rPr>
              <a:t>done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effectively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Minimal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requirements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vary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your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environment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depending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individual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preferences: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Multiple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Displays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High-</a:t>
            </a:r>
            <a:r>
              <a:rPr dirty="0" sz="900">
                <a:latin typeface="Arial MT"/>
                <a:cs typeface="Arial MT"/>
              </a:rPr>
              <a:t>Resolution </a:t>
            </a:r>
            <a:r>
              <a:rPr dirty="0" sz="900" spc="-10">
                <a:latin typeface="Arial MT"/>
                <a:cs typeface="Arial MT"/>
              </a:rPr>
              <a:t>Displays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Specific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Keyboards,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Mice,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other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Input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Devices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Identify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shared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documenting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local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environment</a:t>
            </a:r>
            <a:endParaRPr sz="900">
              <a:latin typeface="Arial MT"/>
              <a:cs typeface="Arial MT"/>
            </a:endParaRPr>
          </a:p>
          <a:p>
            <a:pPr marL="391160" marR="26098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Documentation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stored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within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version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control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repository,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internal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wiki,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even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50">
                <a:latin typeface="Arial MT"/>
                <a:cs typeface="Arial MT"/>
              </a:rPr>
              <a:t>a</a:t>
            </a:r>
            <a:r>
              <a:rPr dirty="0" sz="900">
                <a:latin typeface="Arial MT"/>
                <a:cs typeface="Arial MT"/>
              </a:rPr>
              <a:t> Google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Doc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372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238115" cy="23463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Version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Control</a:t>
            </a:r>
            <a:endParaRPr sz="1000">
              <a:latin typeface="Arial"/>
              <a:cs typeface="Arial"/>
            </a:endParaRPr>
          </a:p>
          <a:p>
            <a:pPr marL="391160" marR="341630" indent="-114300">
              <a:lnSpc>
                <a:spcPts val="969"/>
              </a:lnSpc>
              <a:spcBef>
                <a:spcPts val="7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Having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ability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commit,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compare,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merge,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restore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past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revisions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objects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repository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allows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richer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cooperation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collaboration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between</a:t>
            </a:r>
            <a:r>
              <a:rPr dirty="0" sz="900" spc="-10">
                <a:latin typeface="Arial MT"/>
                <a:cs typeface="Arial MT"/>
              </a:rPr>
              <a:t> teams</a:t>
            </a:r>
            <a:endParaRPr sz="900">
              <a:latin typeface="Arial MT"/>
              <a:cs typeface="Arial MT"/>
            </a:endParaRPr>
          </a:p>
          <a:p>
            <a:pPr marL="391160" marR="27940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391160" algn="l"/>
              </a:tabLst>
            </a:pPr>
            <a:r>
              <a:rPr dirty="0" sz="900" spc="-10">
                <a:latin typeface="Arial MT"/>
                <a:cs typeface="Arial MT"/>
              </a:rPr>
              <a:t>Version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control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enables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deal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conflicts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result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multiple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people </a:t>
            </a:r>
            <a:r>
              <a:rPr dirty="0" sz="900">
                <a:latin typeface="Arial MT"/>
                <a:cs typeface="Arial MT"/>
              </a:rPr>
              <a:t>working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project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safe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way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changes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roll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back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necessary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34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choosing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appropriate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version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control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system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(VCS)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environment,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look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one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encourages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sort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 </a:t>
            </a:r>
            <a:r>
              <a:rPr dirty="0" sz="900" spc="-10">
                <a:latin typeface="Arial MT"/>
                <a:cs typeface="Arial MT"/>
              </a:rPr>
              <a:t>collaboration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want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see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Opening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forking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repositories;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Contributing </a:t>
            </a:r>
            <a:r>
              <a:rPr dirty="0" sz="800">
                <a:latin typeface="Arial MT"/>
                <a:cs typeface="Arial MT"/>
              </a:rPr>
              <a:t>back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repositories;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Curating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contributions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your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own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repositories;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Defining </a:t>
            </a:r>
            <a:r>
              <a:rPr dirty="0" sz="800" spc="-10">
                <a:latin typeface="Arial MT"/>
                <a:cs typeface="Arial MT"/>
              </a:rPr>
              <a:t>processes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contributing;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and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Sharing</a:t>
            </a:r>
            <a:r>
              <a:rPr dirty="0" sz="800">
                <a:latin typeface="Arial MT"/>
                <a:cs typeface="Arial MT"/>
              </a:rPr>
              <a:t> commit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rights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0"/>
              </a:spcBef>
              <a:buChar char="•"/>
              <a:tabLst>
                <a:tab pos="390525" algn="l"/>
              </a:tabLst>
            </a:pPr>
            <a:r>
              <a:rPr dirty="0" sz="900" spc="-20">
                <a:latin typeface="Arial MT"/>
                <a:cs typeface="Arial MT"/>
              </a:rPr>
              <a:t>Your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Wrong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Ways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be: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20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Lines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code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</a:t>
            </a:r>
            <a:r>
              <a:rPr dirty="0" sz="800" spc="-10">
                <a:latin typeface="Arial MT"/>
                <a:cs typeface="Arial MT"/>
              </a:rPr>
              <a:t> accurate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measure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value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65510" y="3436738"/>
            <a:ext cx="314855" cy="44540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33424" y="4977460"/>
            <a:ext cx="1372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8916" y="5322934"/>
            <a:ext cx="5068570" cy="195198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Artifact</a:t>
            </a:r>
            <a:r>
              <a:rPr dirty="0" sz="1000" spc="-4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Management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artifact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output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step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process</a:t>
            </a:r>
            <a:endParaRPr sz="900">
              <a:latin typeface="Arial MT"/>
              <a:cs typeface="Arial MT"/>
            </a:endParaRPr>
          </a:p>
          <a:p>
            <a:pPr marL="391160" marR="9969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choosing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between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simple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repository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complex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feature-full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repository, </a:t>
            </a:r>
            <a:r>
              <a:rPr dirty="0" sz="900">
                <a:latin typeface="Arial MT"/>
                <a:cs typeface="Arial MT"/>
              </a:rPr>
              <a:t>understand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cost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supporting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additional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services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well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inherent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security</a:t>
            </a:r>
            <a:r>
              <a:rPr dirty="0" sz="900" spc="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concerns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artifact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repository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25">
                <a:latin typeface="Arial MT"/>
                <a:cs typeface="Arial MT"/>
              </a:rPr>
              <a:t> be: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Secure;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Trusted;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Stable;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Accessible;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and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Versioned</a:t>
            </a:r>
            <a:endParaRPr sz="8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35"/>
              </a:spcBef>
              <a:buChar char="•"/>
              <a:tabLst>
                <a:tab pos="391160" algn="l"/>
              </a:tabLst>
            </a:pPr>
            <a:r>
              <a:rPr dirty="0" sz="900" spc="-20">
                <a:latin typeface="Arial MT"/>
                <a:cs typeface="Arial MT"/>
              </a:rPr>
              <a:t>You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store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versioned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common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library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artifact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separate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version </a:t>
            </a:r>
            <a:r>
              <a:rPr dirty="0" sz="900">
                <a:latin typeface="Arial MT"/>
                <a:cs typeface="Arial MT"/>
              </a:rPr>
              <a:t>control,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allowing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exact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shared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library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65510" y="7412854"/>
            <a:ext cx="314855" cy="445405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372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093970" cy="257937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Automation</a:t>
            </a:r>
            <a:endParaRPr sz="1000">
              <a:latin typeface="Arial"/>
              <a:cs typeface="Arial"/>
            </a:endParaRPr>
          </a:p>
          <a:p>
            <a:pPr marL="391160" marR="5080" indent="-114300">
              <a:lnSpc>
                <a:spcPts val="969"/>
              </a:lnSpc>
              <a:spcBef>
                <a:spcPts val="7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Automation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reduce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labor,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energy, </a:t>
            </a:r>
            <a:r>
              <a:rPr dirty="0" sz="900">
                <a:latin typeface="Arial MT"/>
                <a:cs typeface="Arial MT"/>
              </a:rPr>
              <a:t>and/or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materials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goal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quality, </a:t>
            </a:r>
            <a:r>
              <a:rPr dirty="0" sz="900">
                <a:latin typeface="Arial MT"/>
                <a:cs typeface="Arial MT"/>
              </a:rPr>
              <a:t>precision,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accuracy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outcomes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Server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Installation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Server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installation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automation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configuring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setting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up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individual servers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Infrastructure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Automation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20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Configuration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Management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Capacity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Management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System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Provisioning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 spc="-20">
                <a:latin typeface="Arial MT"/>
                <a:cs typeface="Arial MT"/>
              </a:rPr>
              <a:t>Test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Build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Automation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On-</a:t>
            </a:r>
            <a:r>
              <a:rPr dirty="0" sz="800">
                <a:latin typeface="Arial MT"/>
                <a:cs typeface="Arial MT"/>
              </a:rPr>
              <a:t>demand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automation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Scheduled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automation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Triggered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automation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Smoke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testing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Regression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testing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Usability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testing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1372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267960" cy="223583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Monitoring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Metrics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20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Metrics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collection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qualitative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quantitative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measurements</a:t>
            </a:r>
            <a:endParaRPr sz="800">
              <a:latin typeface="Arial MT"/>
              <a:cs typeface="Arial MT"/>
            </a:endParaRPr>
          </a:p>
          <a:p>
            <a:pPr lvl="1" marL="619760" marR="92075" indent="-114300">
              <a:lnSpc>
                <a:spcPts val="860"/>
              </a:lnSpc>
              <a:spcBef>
                <a:spcPts val="300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Generally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compared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against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some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benchmark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established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standard,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tracked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analytics,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tracked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historical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purposes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Logging</a:t>
            </a:r>
            <a:endParaRPr sz="900">
              <a:latin typeface="Arial MT"/>
              <a:cs typeface="Arial MT"/>
            </a:endParaRPr>
          </a:p>
          <a:p>
            <a:pPr lvl="1" marL="619760" marR="212090" indent="-114300">
              <a:lnSpc>
                <a:spcPts val="860"/>
              </a:lnSpc>
              <a:spcBef>
                <a:spcPts val="310"/>
              </a:spcBef>
              <a:buChar char="•"/>
              <a:tabLst>
                <a:tab pos="619760" algn="l"/>
              </a:tabLst>
            </a:pPr>
            <a:r>
              <a:rPr dirty="0" sz="800" spc="-10">
                <a:latin typeface="Arial MT"/>
                <a:cs typeface="Arial MT"/>
              </a:rPr>
              <a:t>Logging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generation,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filtering,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recording,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analysis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events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occur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system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due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operating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system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software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messages</a:t>
            </a:r>
            <a:endParaRPr sz="800">
              <a:latin typeface="Arial MT"/>
              <a:cs typeface="Arial MT"/>
            </a:endParaRPr>
          </a:p>
          <a:p>
            <a:pPr lvl="1" marL="619760" marR="57150" indent="-114300">
              <a:lnSpc>
                <a:spcPts val="860"/>
              </a:lnSpc>
              <a:spcBef>
                <a:spcPts val="29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When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tracking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down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source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software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issue,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first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things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engineers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often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to</a:t>
            </a:r>
            <a:r>
              <a:rPr dirty="0" sz="800">
                <a:latin typeface="Arial MT"/>
                <a:cs typeface="Arial MT"/>
              </a:rPr>
              <a:t> check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logs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any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relevant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error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messages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A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single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system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generate hundreds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even</a:t>
            </a:r>
            <a:r>
              <a:rPr dirty="0" sz="800" spc="-10">
                <a:latin typeface="Arial MT"/>
                <a:cs typeface="Arial MT"/>
              </a:rPr>
              <a:t> thousands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 lines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logs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day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0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Alerting</a:t>
            </a:r>
            <a:endParaRPr sz="900">
              <a:latin typeface="Arial MT"/>
              <a:cs typeface="Arial MT"/>
            </a:endParaRPr>
          </a:p>
          <a:p>
            <a:pPr lvl="1" marL="619760" marR="5080" indent="-114300">
              <a:lnSpc>
                <a:spcPct val="90100"/>
              </a:lnSpc>
              <a:spcBef>
                <a:spcPts val="290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Monitoring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alerting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important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not only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from a </a:t>
            </a:r>
            <a:r>
              <a:rPr dirty="0" sz="800" spc="-10">
                <a:latin typeface="Arial MT"/>
                <a:cs typeface="Arial MT"/>
              </a:rPr>
              <a:t>performance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perspective,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but also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from </a:t>
            </a:r>
            <a:r>
              <a:rPr dirty="0" sz="800" spc="-50">
                <a:latin typeface="Arial MT"/>
                <a:cs typeface="Arial MT"/>
              </a:rPr>
              <a:t>a</a:t>
            </a:r>
            <a:r>
              <a:rPr dirty="0" sz="800" spc="-10">
                <a:latin typeface="Arial MT"/>
                <a:cs typeface="Arial MT"/>
              </a:rPr>
              <a:t> preventative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one,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help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find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out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about</a:t>
            </a:r>
            <a:r>
              <a:rPr dirty="0" sz="800" spc="-10">
                <a:latin typeface="Arial MT"/>
                <a:cs typeface="Arial MT"/>
              </a:rPr>
              <a:t> potential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issues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before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become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actual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issues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customers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372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065395" cy="15411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Monitoring</a:t>
            </a:r>
            <a:r>
              <a:rPr dirty="0" sz="1000" spc="-6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Contd..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Events</a:t>
            </a:r>
            <a:endParaRPr sz="900">
              <a:latin typeface="Arial MT"/>
              <a:cs typeface="Arial MT"/>
            </a:endParaRPr>
          </a:p>
          <a:p>
            <a:pPr lvl="1" marL="619760" marR="5080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Event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management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element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monitoring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acts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10">
                <a:latin typeface="Arial MT"/>
                <a:cs typeface="Arial MT"/>
              </a:rPr>
              <a:t> existing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knowledge </a:t>
            </a:r>
            <a:r>
              <a:rPr dirty="0" sz="800">
                <a:latin typeface="Arial MT"/>
                <a:cs typeface="Arial MT"/>
              </a:rPr>
              <a:t>around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impacts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to</a:t>
            </a:r>
            <a:r>
              <a:rPr dirty="0" sz="800">
                <a:latin typeface="Arial MT"/>
                <a:cs typeface="Arial MT"/>
              </a:rPr>
              <a:t> systems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services</a:t>
            </a:r>
            <a:endParaRPr sz="800">
              <a:latin typeface="Arial MT"/>
              <a:cs typeface="Arial MT"/>
            </a:endParaRPr>
          </a:p>
          <a:p>
            <a:pPr lvl="1" marL="619760" marR="250825" indent="-114300">
              <a:lnSpc>
                <a:spcPts val="860"/>
              </a:lnSpc>
              <a:spcBef>
                <a:spcPts val="29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This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generally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reflects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need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real-</a:t>
            </a:r>
            <a:r>
              <a:rPr dirty="0" sz="800">
                <a:latin typeface="Arial MT"/>
                <a:cs typeface="Arial MT"/>
              </a:rPr>
              <a:t>time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information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about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status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all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different components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infrastructure</a:t>
            </a:r>
            <a:endParaRPr sz="800">
              <a:latin typeface="Arial MT"/>
              <a:cs typeface="Arial MT"/>
            </a:endParaRPr>
          </a:p>
          <a:p>
            <a:pPr lvl="1" marL="619760" marR="10795" indent="-114300">
              <a:lnSpc>
                <a:spcPts val="860"/>
              </a:lnSpc>
              <a:spcBef>
                <a:spcPts val="300"/>
              </a:spcBef>
              <a:buChar char="•"/>
              <a:tabLst>
                <a:tab pos="619760" algn="l"/>
              </a:tabLst>
            </a:pPr>
            <a:r>
              <a:rPr dirty="0" sz="800" spc="-10">
                <a:latin typeface="Arial MT"/>
                <a:cs typeface="Arial MT"/>
              </a:rPr>
              <a:t>A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system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configured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monitor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specific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metric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log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based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defined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event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signal</a:t>
            </a:r>
            <a:r>
              <a:rPr dirty="0" sz="800" spc="-25">
                <a:latin typeface="Arial MT"/>
                <a:cs typeface="Arial MT"/>
              </a:rPr>
              <a:t> or</a:t>
            </a:r>
            <a:r>
              <a:rPr dirty="0" sz="800">
                <a:latin typeface="Arial MT"/>
                <a:cs typeface="Arial MT"/>
              </a:rPr>
              <a:t> alert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if a</a:t>
            </a:r>
            <a:r>
              <a:rPr dirty="0" sz="800" spc="-10">
                <a:latin typeface="Arial MT"/>
                <a:cs typeface="Arial MT"/>
              </a:rPr>
              <a:t> threshold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crossed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alert</a:t>
            </a:r>
            <a:r>
              <a:rPr dirty="0" sz="800" spc="-10">
                <a:latin typeface="Arial MT"/>
                <a:cs typeface="Arial MT"/>
              </a:rPr>
              <a:t> condition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has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been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met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Many </a:t>
            </a:r>
            <a:r>
              <a:rPr dirty="0" sz="800" spc="-10">
                <a:latin typeface="Arial MT"/>
                <a:cs typeface="Arial MT"/>
              </a:rPr>
              <a:t>alerting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monitoring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systems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have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built-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ways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automatically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respond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given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event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Nagios,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Zabbix,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etc.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1372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189220" cy="167258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Evolution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Ecosystem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simplify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remove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repetitive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tasks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subject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human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error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added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different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environment,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new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patterns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discovered</a:t>
            </a:r>
            <a:endParaRPr sz="900">
              <a:latin typeface="Arial MT"/>
              <a:cs typeface="Arial MT"/>
            </a:endParaRPr>
          </a:p>
          <a:p>
            <a:pPr marL="391160" marR="33210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Continuous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delivery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continuous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deployment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freed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humans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up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focus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what </a:t>
            </a:r>
            <a:r>
              <a:rPr dirty="0" sz="900" spc="-10">
                <a:latin typeface="Arial MT"/>
                <a:cs typeface="Arial MT"/>
              </a:rPr>
              <a:t>matters</a:t>
            </a:r>
            <a:endParaRPr sz="900">
              <a:latin typeface="Arial MT"/>
              <a:cs typeface="Arial MT"/>
            </a:endParaRPr>
          </a:p>
          <a:p>
            <a:pPr marL="391160" marR="144780" indent="-114300">
              <a:lnSpc>
                <a:spcPts val="969"/>
              </a:lnSpc>
              <a:spcBef>
                <a:spcPts val="325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Automated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shortened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feedback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through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build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give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</a:t>
            </a:r>
            <a:r>
              <a:rPr dirty="0" sz="900" spc="-10">
                <a:latin typeface="Arial MT"/>
                <a:cs typeface="Arial MT"/>
              </a:rPr>
              <a:t> additional </a:t>
            </a:r>
            <a:r>
              <a:rPr dirty="0" sz="900">
                <a:latin typeface="Arial MT"/>
                <a:cs typeface="Arial MT"/>
              </a:rPr>
              <a:t>confidence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insight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our </a:t>
            </a:r>
            <a:r>
              <a:rPr dirty="0" sz="900" spc="-10">
                <a:latin typeface="Arial MT"/>
                <a:cs typeface="Arial MT"/>
              </a:rPr>
              <a:t>systems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ecosystem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continue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evolve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application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adopts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increased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operability</a:t>
            </a:r>
            <a:endParaRPr sz="900">
              <a:latin typeface="Arial MT"/>
              <a:cs typeface="Arial MT"/>
            </a:endParaRPr>
          </a:p>
          <a:p>
            <a:pPr marL="391160" marR="11747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These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trends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bring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focus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stress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“we” over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“me,”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building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understanding </a:t>
            </a:r>
            <a:r>
              <a:rPr dirty="0" sz="900">
                <a:latin typeface="Arial MT"/>
                <a:cs typeface="Arial MT"/>
              </a:rPr>
              <a:t>across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encouraging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spent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valuable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outcomes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372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047615" cy="150876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Summarize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been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through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overview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current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ecosystem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tools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How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used,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ease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which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used,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impacts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acceptance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>
                <a:latin typeface="Arial MT"/>
                <a:cs typeface="Arial MT"/>
              </a:rPr>
              <a:t>proliferation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specific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aspects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culture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DevOps culture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collaboration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across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industries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ts val="1025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solutions,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important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think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about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their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impact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25"/>
              </a:lnSpc>
            </a:pPr>
            <a:r>
              <a:rPr dirty="0" sz="900">
                <a:latin typeface="Arial MT"/>
                <a:cs typeface="Arial MT"/>
              </a:rPr>
              <a:t>organizations,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just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individuals</a:t>
            </a:r>
            <a:endParaRPr sz="900">
              <a:latin typeface="Arial MT"/>
              <a:cs typeface="Arial MT"/>
            </a:endParaRPr>
          </a:p>
          <a:p>
            <a:pPr marL="391160" marR="23177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DevOps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stress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“we”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“me”;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allow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build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mutual </a:t>
            </a:r>
            <a:r>
              <a:rPr dirty="0" sz="900">
                <a:latin typeface="Arial MT"/>
                <a:cs typeface="Arial MT"/>
              </a:rPr>
              <a:t>understanding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get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done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8916" y="5322934"/>
            <a:ext cx="1892935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Cloud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as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catalyst</a:t>
            </a:r>
            <a:r>
              <a:rPr dirty="0" sz="1000" spc="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for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DevOps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Introduction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Characterization</a:t>
            </a:r>
            <a:r>
              <a:rPr dirty="0" sz="900">
                <a:latin typeface="Arial MT"/>
                <a:cs typeface="Arial MT"/>
              </a:rPr>
              <a:t> of</a:t>
            </a:r>
            <a:r>
              <a:rPr dirty="0" sz="900" spc="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cloud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Cloud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services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833424" y="4977460"/>
            <a:ext cx="762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0403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Catalyst for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60795"/>
            <a:ext cx="5170805" cy="223012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Introduction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50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Unfortunately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organizations,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cloud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still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somewhat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mysterious</a:t>
            </a:r>
            <a:endParaRPr sz="900">
              <a:latin typeface="Arial MT"/>
              <a:cs typeface="Arial MT"/>
            </a:endParaRPr>
          </a:p>
          <a:p>
            <a:pPr marL="391160" marR="173355" indent="-114300">
              <a:lnSpc>
                <a:spcPts val="860"/>
              </a:lnSpc>
              <a:spcBef>
                <a:spcPts val="32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concept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cloud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why they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seeing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benefits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were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promised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to </a:t>
            </a:r>
            <a:r>
              <a:rPr dirty="0" sz="900" spc="-20">
                <a:latin typeface="Arial MT"/>
                <a:cs typeface="Arial MT"/>
              </a:rPr>
              <a:t>them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1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focus</a:t>
            </a:r>
            <a:r>
              <a:rPr dirty="0" sz="900" spc="254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 adopting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cloud-based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infrastructure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 managing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it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869"/>
              </a:lnSpc>
              <a:spcBef>
                <a:spcPts val="315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While</a:t>
            </a:r>
            <a:r>
              <a:rPr dirty="0" sz="900" spc="-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discuss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cost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benefits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primarily,</a:t>
            </a:r>
            <a:r>
              <a:rPr dirty="0" sz="900" spc="2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forget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other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benefits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risks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cloud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110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Benefits: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0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Redundancy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resilience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 </a:t>
            </a:r>
            <a:r>
              <a:rPr dirty="0" sz="800" spc="-10">
                <a:latin typeface="Arial MT"/>
                <a:cs typeface="Arial MT"/>
              </a:rPr>
              <a:t>scalability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resources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strong </a:t>
            </a:r>
            <a:r>
              <a:rPr dirty="0" sz="800" spc="-10">
                <a:latin typeface="Arial MT"/>
                <a:cs typeface="Arial MT"/>
              </a:rPr>
              <a:t>ecosystem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related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10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Risks: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0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dependency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 </a:t>
            </a:r>
            <a:r>
              <a:rPr dirty="0" sz="800" spc="-10">
                <a:latin typeface="Arial MT"/>
                <a:cs typeface="Arial MT"/>
              </a:rPr>
              <a:t>third-</a:t>
            </a:r>
            <a:r>
              <a:rPr dirty="0" sz="800">
                <a:latin typeface="Arial MT"/>
                <a:cs typeface="Arial MT"/>
              </a:rPr>
              <a:t>party</a:t>
            </a:r>
            <a:r>
              <a:rPr dirty="0" sz="800" spc="-10">
                <a:latin typeface="Arial MT"/>
                <a:cs typeface="Arial MT"/>
              </a:rPr>
              <a:t> provider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challenges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data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sovereignty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Risk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being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attacked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because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popular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platform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30403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Catalyst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4766945" cy="17970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Characterization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4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the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cloud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Characterization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cloud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 National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Institute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Standards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Technology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(NIST)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20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On-</a:t>
            </a:r>
            <a:r>
              <a:rPr dirty="0" sz="800">
                <a:latin typeface="Arial MT"/>
                <a:cs typeface="Arial MT"/>
              </a:rPr>
              <a:t>demand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self-service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Broad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network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access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Resource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pooling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Rapid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elasticity</a:t>
            </a:r>
            <a:endParaRPr sz="800">
              <a:latin typeface="Arial MT"/>
              <a:cs typeface="Arial MT"/>
            </a:endParaRPr>
          </a:p>
          <a:p>
            <a:pPr lvl="2" marL="849630" indent="-115570">
              <a:lnSpc>
                <a:spcPct val="100000"/>
              </a:lnSpc>
              <a:spcBef>
                <a:spcPts val="170"/>
              </a:spcBef>
              <a:buChar char="•"/>
              <a:tabLst>
                <a:tab pos="849630" algn="l"/>
              </a:tabLst>
            </a:pPr>
            <a:r>
              <a:rPr dirty="0" sz="700">
                <a:latin typeface="Arial MT"/>
                <a:cs typeface="Arial MT"/>
              </a:rPr>
              <a:t>It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is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the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Capabilities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can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be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elastically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provisioned</a:t>
            </a:r>
            <a:r>
              <a:rPr dirty="0" sz="700" spc="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and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released</a:t>
            </a:r>
            <a:endParaRPr sz="7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Measured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service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Software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Service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(SaaS)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Platform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Service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(PaaS)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Infrastructure</a:t>
            </a:r>
            <a:r>
              <a:rPr dirty="0" sz="800">
                <a:latin typeface="Arial MT"/>
                <a:cs typeface="Arial MT"/>
              </a:rPr>
              <a:t> as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 Service </a:t>
            </a:r>
            <a:r>
              <a:rPr dirty="0" sz="800" spc="-10">
                <a:latin typeface="Arial MT"/>
                <a:cs typeface="Arial MT"/>
              </a:rPr>
              <a:t>(IaaS)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0403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Catalyst for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220335" cy="146748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Software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as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Service</a:t>
            </a:r>
            <a:r>
              <a:rPr dirty="0" sz="1000" spc="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(SaaS)</a:t>
            </a:r>
            <a:endParaRPr sz="1000">
              <a:latin typeface="Arial"/>
              <a:cs typeface="Arial"/>
            </a:endParaRPr>
          </a:p>
          <a:p>
            <a:pPr marL="391160" marR="152400" indent="-114300">
              <a:lnSpc>
                <a:spcPts val="969"/>
              </a:lnSpc>
              <a:spcBef>
                <a:spcPts val="7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consumer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capability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provider’s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applications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running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50">
                <a:latin typeface="Arial MT"/>
                <a:cs typeface="Arial MT"/>
              </a:rPr>
              <a:t>a</a:t>
            </a:r>
            <a:r>
              <a:rPr dirty="0" sz="900">
                <a:latin typeface="Arial MT"/>
                <a:cs typeface="Arial MT"/>
              </a:rPr>
              <a:t> cloud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infrastructure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applications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accessible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various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client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devices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through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either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client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interface, </a:t>
            </a:r>
            <a:r>
              <a:rPr dirty="0" sz="900">
                <a:latin typeface="Arial MT"/>
                <a:cs typeface="Arial MT"/>
              </a:rPr>
              <a:t>such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web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browser (e.g.,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web-based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e-mail)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application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interface.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ts val="1025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consumer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control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underlying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cloud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infrastructure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including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25"/>
              </a:lnSpc>
            </a:pPr>
            <a:r>
              <a:rPr dirty="0" sz="900">
                <a:latin typeface="Arial MT"/>
                <a:cs typeface="Arial MT"/>
              </a:rPr>
              <a:t>networks,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servers,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operating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systems,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storage.</a:t>
            </a:r>
            <a:endParaRPr sz="900">
              <a:latin typeface="Arial MT"/>
              <a:cs typeface="Arial MT"/>
            </a:endParaRPr>
          </a:p>
          <a:p>
            <a:pPr marL="391160" marR="14732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example,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relate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google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apps,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Cisco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WebEx,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Service,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Office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365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service, </a:t>
            </a:r>
            <a:r>
              <a:rPr dirty="0" sz="900">
                <a:latin typeface="Arial MT"/>
                <a:cs typeface="Arial MT"/>
              </a:rPr>
              <a:t>where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Provider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deals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licensing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software’s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30403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Catalyst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198745" cy="130238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Platform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as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Service</a:t>
            </a:r>
            <a:r>
              <a:rPr dirty="0" sz="1000" spc="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(PaaS)</a:t>
            </a:r>
            <a:endParaRPr sz="1000">
              <a:latin typeface="Arial"/>
              <a:cs typeface="Arial"/>
            </a:endParaRPr>
          </a:p>
          <a:p>
            <a:pPr marL="391160" marR="5080" indent="-114300">
              <a:lnSpc>
                <a:spcPct val="90100"/>
              </a:lnSpc>
              <a:spcBef>
                <a:spcPts val="72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consumer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provided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capability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deploy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onto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cloud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infrastructure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consumer- </a:t>
            </a:r>
            <a:r>
              <a:rPr dirty="0" sz="900">
                <a:latin typeface="Arial MT"/>
                <a:cs typeface="Arial MT"/>
              </a:rPr>
              <a:t>created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acquired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applications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created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programming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languages,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libraries,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services,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>
                <a:latin typeface="Arial MT"/>
                <a:cs typeface="Arial MT"/>
              </a:rPr>
              <a:t>tools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supported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provider</a:t>
            </a:r>
            <a:endParaRPr sz="900">
              <a:latin typeface="Arial MT"/>
              <a:cs typeface="Arial MT"/>
            </a:endParaRPr>
          </a:p>
          <a:p>
            <a:pPr marL="391160" marR="5270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consumer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does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 manage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control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underlying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cloud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infrastructure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including </a:t>
            </a:r>
            <a:r>
              <a:rPr dirty="0" sz="900">
                <a:latin typeface="Arial MT"/>
                <a:cs typeface="Arial MT"/>
              </a:rPr>
              <a:t>networks,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servers,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operating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systems,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storage,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consumer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control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deployed </a:t>
            </a:r>
            <a:r>
              <a:rPr dirty="0" sz="900">
                <a:latin typeface="Arial MT"/>
                <a:cs typeface="Arial MT"/>
              </a:rPr>
              <a:t>applications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possibly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configuration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settings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 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application-hosting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environment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Example: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.NET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platform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considered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platform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0403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Catalyst for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242560" cy="12617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Infrastructure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as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Service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(IaaS),</a:t>
            </a:r>
            <a:endParaRPr sz="1000">
              <a:latin typeface="Arial"/>
              <a:cs typeface="Arial"/>
            </a:endParaRPr>
          </a:p>
          <a:p>
            <a:pPr marL="391160" marR="123825" indent="-114300">
              <a:lnSpc>
                <a:spcPts val="969"/>
              </a:lnSpc>
              <a:spcBef>
                <a:spcPts val="7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consumer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capability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provision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processing,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storage,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networks,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other </a:t>
            </a:r>
            <a:r>
              <a:rPr dirty="0" sz="900">
                <a:latin typeface="Arial MT"/>
                <a:cs typeface="Arial MT"/>
              </a:rPr>
              <a:t>fundamental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computing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resources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where 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consumer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able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deploy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run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arbitrary </a:t>
            </a:r>
            <a:r>
              <a:rPr dirty="0" sz="900">
                <a:latin typeface="Arial MT"/>
                <a:cs typeface="Arial MT"/>
              </a:rPr>
              <a:t>software,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which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include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operating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systems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applications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ct val="90100"/>
              </a:lnSpc>
              <a:spcBef>
                <a:spcPts val="315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consumer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does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control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underlying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cloud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infrastructure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consumer</a:t>
            </a:r>
            <a:r>
              <a:rPr dirty="0" sz="900" spc="-25">
                <a:latin typeface="Arial MT"/>
                <a:cs typeface="Arial MT"/>
              </a:rPr>
              <a:t> has </a:t>
            </a:r>
            <a:r>
              <a:rPr dirty="0" sz="900">
                <a:latin typeface="Arial MT"/>
                <a:cs typeface="Arial MT"/>
              </a:rPr>
              <a:t>control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operating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systems,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storage,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deployed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applications;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possibly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limited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control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select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networking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components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(e.g.,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host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firewalls).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consider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Server </a:t>
            </a:r>
            <a:r>
              <a:rPr dirty="0" sz="900">
                <a:latin typeface="Arial MT"/>
                <a:cs typeface="Arial MT"/>
              </a:rPr>
              <a:t>Provisioning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IaaS,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30403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Catalyst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216525" cy="14668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Summary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cloud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emerged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major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during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years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Its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characteristics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include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metered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usage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(pay-</a:t>
            </a:r>
            <a:r>
              <a:rPr dirty="0" sz="900" spc="-10">
                <a:latin typeface="Arial MT"/>
                <a:cs typeface="Arial MT"/>
              </a:rPr>
              <a:t>per-</a:t>
            </a:r>
            <a:r>
              <a:rPr dirty="0" sz="900">
                <a:latin typeface="Arial MT"/>
                <a:cs typeface="Arial MT"/>
              </a:rPr>
              <a:t>use)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rapid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elasticity,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allowing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scaling </a:t>
            </a:r>
            <a:r>
              <a:rPr dirty="0" sz="900">
                <a:latin typeface="Arial MT"/>
                <a:cs typeface="Arial MT"/>
              </a:rPr>
              <a:t>out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application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virtually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infinite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numbers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VMs</a:t>
            </a:r>
            <a:endParaRPr sz="900">
              <a:latin typeface="Arial MT"/>
              <a:cs typeface="Arial MT"/>
            </a:endParaRPr>
          </a:p>
          <a:p>
            <a:pPr marL="391160" marR="192405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 cloud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rests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platform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inherently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distributed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exploits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virtualization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allow </a:t>
            </a:r>
            <a:r>
              <a:rPr dirty="0" sz="900">
                <a:latin typeface="Arial MT"/>
                <a:cs typeface="Arial MT"/>
              </a:rPr>
              <a:t>rapid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expansion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contraction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resources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available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given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user</a:t>
            </a:r>
            <a:endParaRPr sz="900">
              <a:latin typeface="Arial MT"/>
              <a:cs typeface="Arial MT"/>
            </a:endParaRPr>
          </a:p>
          <a:p>
            <a:pPr marL="391160" marR="28575" indent="-114300">
              <a:lnSpc>
                <a:spcPts val="969"/>
              </a:lnSpc>
              <a:spcBef>
                <a:spcPts val="33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operational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perspective,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controlling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VMs, managing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different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database </a:t>
            </a:r>
            <a:r>
              <a:rPr dirty="0" sz="900">
                <a:latin typeface="Arial MT"/>
                <a:cs typeface="Arial MT"/>
              </a:rPr>
              <a:t>management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systems,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ensuring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environments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meet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needs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>
                <a:latin typeface="Arial MT"/>
                <a:cs typeface="Arial MT"/>
              </a:rPr>
              <a:t>operations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tasks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new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considerations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associated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 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cloud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UDHAYAKUMAR S</dc:creator>
  <dc:title>PowerPoint Presentation</dc:title>
  <dcterms:created xsi:type="dcterms:W3CDTF">2025-04-18T12:05:41Z</dcterms:created>
  <dcterms:modified xsi:type="dcterms:W3CDTF">2025-04-18T12:05:41Z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2025-04-18T00:00:00Z</vt:filetime>
  </property>
  <property fmtid="{D5CDD505-2E9C-101B-9397-08002B2CF9AE}" pid="5" name="Producer">
    <vt:lpwstr>Microsoft® PowerPoint® 2019</vt:lpwstr>
  </property>
</Properties>
</file>