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2" r:id="rId3"/>
    <p:sldMasterId id="2147483678" r:id="rId4"/>
  </p:sldMasterIdLst>
  <p:notesMasterIdLst>
    <p:notesMasterId r:id="rId184"/>
  </p:notesMasterIdLst>
  <p:sldIdLst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56" r:id="rId37"/>
    <p:sldId id="257" r:id="rId38"/>
    <p:sldId id="258" r:id="rId39"/>
    <p:sldId id="259" r:id="rId40"/>
    <p:sldId id="260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  <p:sldId id="372" r:id="rId121"/>
    <p:sldId id="373" r:id="rId122"/>
    <p:sldId id="374" r:id="rId123"/>
    <p:sldId id="375" r:id="rId124"/>
    <p:sldId id="376" r:id="rId125"/>
    <p:sldId id="377" r:id="rId126"/>
    <p:sldId id="378" r:id="rId127"/>
    <p:sldId id="379" r:id="rId128"/>
    <p:sldId id="380" r:id="rId129"/>
    <p:sldId id="381" r:id="rId130"/>
    <p:sldId id="382" r:id="rId131"/>
    <p:sldId id="383" r:id="rId132"/>
    <p:sldId id="384" r:id="rId133"/>
    <p:sldId id="385" r:id="rId134"/>
    <p:sldId id="386" r:id="rId135"/>
    <p:sldId id="387" r:id="rId136"/>
    <p:sldId id="388" r:id="rId137"/>
    <p:sldId id="389" r:id="rId138"/>
    <p:sldId id="390" r:id="rId139"/>
    <p:sldId id="391" r:id="rId140"/>
    <p:sldId id="392" r:id="rId141"/>
    <p:sldId id="393" r:id="rId142"/>
    <p:sldId id="394" r:id="rId143"/>
    <p:sldId id="395" r:id="rId144"/>
    <p:sldId id="396" r:id="rId145"/>
    <p:sldId id="397" r:id="rId146"/>
    <p:sldId id="398" r:id="rId147"/>
    <p:sldId id="399" r:id="rId148"/>
    <p:sldId id="400" r:id="rId149"/>
    <p:sldId id="401" r:id="rId150"/>
    <p:sldId id="402" r:id="rId151"/>
    <p:sldId id="403" r:id="rId152"/>
    <p:sldId id="404" r:id="rId153"/>
    <p:sldId id="405" r:id="rId154"/>
    <p:sldId id="406" r:id="rId155"/>
    <p:sldId id="407" r:id="rId156"/>
    <p:sldId id="408" r:id="rId157"/>
    <p:sldId id="409" r:id="rId158"/>
    <p:sldId id="410" r:id="rId159"/>
    <p:sldId id="411" r:id="rId160"/>
    <p:sldId id="412" r:id="rId161"/>
    <p:sldId id="413" r:id="rId162"/>
    <p:sldId id="414" r:id="rId163"/>
    <p:sldId id="415" r:id="rId164"/>
    <p:sldId id="416" r:id="rId165"/>
    <p:sldId id="417" r:id="rId166"/>
    <p:sldId id="418" r:id="rId167"/>
    <p:sldId id="419" r:id="rId168"/>
    <p:sldId id="420" r:id="rId169"/>
    <p:sldId id="421" r:id="rId170"/>
    <p:sldId id="422" r:id="rId171"/>
    <p:sldId id="423" r:id="rId172"/>
    <p:sldId id="424" r:id="rId173"/>
    <p:sldId id="425" r:id="rId174"/>
    <p:sldId id="426" r:id="rId175"/>
    <p:sldId id="427" r:id="rId176"/>
    <p:sldId id="428" r:id="rId177"/>
    <p:sldId id="429" r:id="rId178"/>
    <p:sldId id="430" r:id="rId179"/>
    <p:sldId id="431" r:id="rId180"/>
    <p:sldId id="432" r:id="rId181"/>
    <p:sldId id="433" r:id="rId182"/>
    <p:sldId id="434" r:id="rId183"/>
  </p:sldIdLst>
  <p:sldSz cx="6858000" cy="9144000" type="screen4x3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4606" autoAdjust="0"/>
  </p:normalViewPr>
  <p:slideViewPr>
    <p:cSldViewPr>
      <p:cViewPr>
        <p:scale>
          <a:sx n="70" d="100"/>
          <a:sy n="70" d="100"/>
        </p:scale>
        <p:origin x="2314" y="-600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329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59" Type="http://schemas.openxmlformats.org/officeDocument/2006/relationships/slide" Target="slides/slide155.xml"/><Relationship Id="rId170" Type="http://schemas.openxmlformats.org/officeDocument/2006/relationships/slide" Target="slides/slide166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181" Type="http://schemas.openxmlformats.org/officeDocument/2006/relationships/slide" Target="slides/slide177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71" Type="http://schemas.openxmlformats.org/officeDocument/2006/relationships/slide" Target="slides/slide167.xml"/><Relationship Id="rId12" Type="http://schemas.openxmlformats.org/officeDocument/2006/relationships/slide" Target="slides/slide8.xml"/><Relationship Id="rId33" Type="http://schemas.openxmlformats.org/officeDocument/2006/relationships/slide" Target="slides/slide29.xml"/><Relationship Id="rId108" Type="http://schemas.openxmlformats.org/officeDocument/2006/relationships/slide" Target="slides/slide104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5" Type="http://schemas.openxmlformats.org/officeDocument/2006/relationships/slide" Target="slides/slide71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61" Type="http://schemas.openxmlformats.org/officeDocument/2006/relationships/slide" Target="slides/slide157.xml"/><Relationship Id="rId182" Type="http://schemas.openxmlformats.org/officeDocument/2006/relationships/slide" Target="slides/slide178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5" Type="http://schemas.openxmlformats.org/officeDocument/2006/relationships/slide" Target="slides/slide61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51" Type="http://schemas.openxmlformats.org/officeDocument/2006/relationships/slide" Target="slides/slide147.xml"/><Relationship Id="rId172" Type="http://schemas.openxmlformats.org/officeDocument/2006/relationships/slide" Target="slides/slide168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188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162" Type="http://schemas.openxmlformats.org/officeDocument/2006/relationships/slide" Target="slides/slide158.xml"/><Relationship Id="rId183" Type="http://schemas.openxmlformats.org/officeDocument/2006/relationships/slide" Target="slides/slide17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slide" Target="slides/slide174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schemas.openxmlformats.org/officeDocument/2006/relationships/slide" Target="slides/slide148.xml"/><Relationship Id="rId173" Type="http://schemas.openxmlformats.org/officeDocument/2006/relationships/slide" Target="slides/slide169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184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74" Type="http://schemas.openxmlformats.org/officeDocument/2006/relationships/slide" Target="slides/slide170.xml"/><Relationship Id="rId179" Type="http://schemas.openxmlformats.org/officeDocument/2006/relationships/slide" Target="slides/slide175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164" Type="http://schemas.openxmlformats.org/officeDocument/2006/relationships/slide" Target="slides/slide160.xml"/><Relationship Id="rId169" Type="http://schemas.openxmlformats.org/officeDocument/2006/relationships/slide" Target="slides/slide165.xml"/><Relationship Id="rId185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80" Type="http://schemas.openxmlformats.org/officeDocument/2006/relationships/slide" Target="slides/slide176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75" Type="http://schemas.openxmlformats.org/officeDocument/2006/relationships/slide" Target="slides/slide171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186" Type="http://schemas.openxmlformats.org/officeDocument/2006/relationships/viewProps" Target="viewProps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slide" Target="slides/slide172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8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60" Type="http://schemas.openxmlformats.org/officeDocument/2006/relationships/slide" Target="slides/slide56.xml"/><Relationship Id="rId81" Type="http://schemas.openxmlformats.org/officeDocument/2006/relationships/slide" Target="slides/slide77.xml"/><Relationship Id="rId135" Type="http://schemas.openxmlformats.org/officeDocument/2006/relationships/slide" Target="slides/slide131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9A0B3E-E1EC-4DC2-BA34-936F38C18936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8A6BA5-12A1-4049-9EF6-A81E343D77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949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A6BA5-12A1-4049-9EF6-A81E343D777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600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2834640"/>
            <a:ext cx="58293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120640"/>
            <a:ext cx="48006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2834640"/>
            <a:ext cx="58293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120640"/>
            <a:ext cx="48006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4086260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4200499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934552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369202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435236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2834640"/>
            <a:ext cx="58293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120640"/>
            <a:ext cx="48006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532989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831678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047752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3192986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37285897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2834640"/>
            <a:ext cx="58293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120640"/>
            <a:ext cx="4800600" cy="1962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75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23546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2000" y="300259"/>
            <a:ext cx="6533997" cy="369332"/>
          </a:xfrm>
        </p:spPr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42757" y="2107183"/>
            <a:ext cx="4350068" cy="196208"/>
          </a:xfrm>
        </p:spPr>
        <p:txBody>
          <a:bodyPr lIns="0" tIns="0" rIns="0" bIns="0"/>
          <a:lstStyle>
            <a:lvl1pPr>
              <a:defRPr sz="1275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867040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2000" y="300259"/>
            <a:ext cx="6533997" cy="369332"/>
          </a:xfrm>
        </p:spPr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103120"/>
            <a:ext cx="2983230" cy="130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103120"/>
            <a:ext cx="2983230" cy="130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36909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2000" y="300259"/>
            <a:ext cx="6533997" cy="369332"/>
          </a:xfrm>
        </p:spPr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11229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4029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2900" y="365760"/>
            <a:ext cx="6172200" cy="146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103120"/>
            <a:ext cx="61722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8503920"/>
            <a:ext cx="219456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71233" y="8932951"/>
            <a:ext cx="2444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6324" y="967180"/>
            <a:ext cx="3415665" cy="3314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321" y="1621663"/>
            <a:ext cx="5415280" cy="19297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8503920"/>
            <a:ext cx="219456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71233" y="8932951"/>
            <a:ext cx="2444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119984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2900" y="365760"/>
            <a:ext cx="6172200" cy="146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103120"/>
            <a:ext cx="61722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8503920"/>
            <a:ext cx="219456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96633" y="8932951"/>
            <a:ext cx="2190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  <p:extLst>
      <p:ext uri="{BB962C8B-B14F-4D97-AF65-F5344CB8AC3E}">
        <p14:creationId xmlns:p14="http://schemas.microsoft.com/office/powerpoint/2010/main" val="2654735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71650" y="1727114"/>
            <a:ext cx="1746885" cy="62653"/>
          </a:xfrm>
          <a:custGeom>
            <a:avLst/>
            <a:gdLst/>
            <a:ahLst/>
            <a:cxnLst/>
            <a:rect l="l" t="t" r="r" b="b"/>
            <a:pathLst>
              <a:path w="1164589" h="23495">
                <a:moveTo>
                  <a:pt x="1164437" y="0"/>
                </a:moveTo>
                <a:lnTo>
                  <a:pt x="0" y="0"/>
                </a:lnTo>
                <a:lnTo>
                  <a:pt x="0" y="23018"/>
                </a:lnTo>
                <a:lnTo>
                  <a:pt x="1164437" y="23018"/>
                </a:lnTo>
                <a:lnTo>
                  <a:pt x="1164437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727114"/>
            <a:ext cx="1771650" cy="62653"/>
          </a:xfrm>
          <a:custGeom>
            <a:avLst/>
            <a:gdLst/>
            <a:ahLst/>
            <a:cxnLst/>
            <a:rect l="l" t="t" r="r" b="b"/>
            <a:pathLst>
              <a:path w="1181100" h="23495">
                <a:moveTo>
                  <a:pt x="1181100" y="0"/>
                </a:moveTo>
                <a:lnTo>
                  <a:pt x="0" y="0"/>
                </a:lnTo>
                <a:lnTo>
                  <a:pt x="0" y="23018"/>
                </a:lnTo>
                <a:lnTo>
                  <a:pt x="1181100" y="23018"/>
                </a:lnTo>
                <a:lnTo>
                  <a:pt x="11811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511104" y="1727114"/>
            <a:ext cx="1746885" cy="62653"/>
          </a:xfrm>
          <a:custGeom>
            <a:avLst/>
            <a:gdLst/>
            <a:ahLst/>
            <a:cxnLst/>
            <a:rect l="l" t="t" r="r" b="b"/>
            <a:pathLst>
              <a:path w="1164589" h="23495">
                <a:moveTo>
                  <a:pt x="1164424" y="0"/>
                </a:moveTo>
                <a:lnTo>
                  <a:pt x="0" y="0"/>
                </a:lnTo>
                <a:lnTo>
                  <a:pt x="0" y="23018"/>
                </a:lnTo>
                <a:lnTo>
                  <a:pt x="1164424" y="23018"/>
                </a:lnTo>
                <a:lnTo>
                  <a:pt x="11644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71850" y="8737514"/>
            <a:ext cx="1746885" cy="62653"/>
          </a:xfrm>
          <a:custGeom>
            <a:avLst/>
            <a:gdLst/>
            <a:ahLst/>
            <a:cxnLst/>
            <a:rect l="l" t="t" r="r" b="b"/>
            <a:pathLst>
              <a:path w="1164589" h="23495">
                <a:moveTo>
                  <a:pt x="1164437" y="0"/>
                </a:moveTo>
                <a:lnTo>
                  <a:pt x="0" y="0"/>
                </a:lnTo>
                <a:lnTo>
                  <a:pt x="0" y="23018"/>
                </a:lnTo>
                <a:lnTo>
                  <a:pt x="1164437" y="23018"/>
                </a:lnTo>
                <a:lnTo>
                  <a:pt x="1164437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600200" y="8737514"/>
            <a:ext cx="1771650" cy="62653"/>
          </a:xfrm>
          <a:custGeom>
            <a:avLst/>
            <a:gdLst/>
            <a:ahLst/>
            <a:cxnLst/>
            <a:rect l="l" t="t" r="r" b="b"/>
            <a:pathLst>
              <a:path w="1181100" h="23495">
                <a:moveTo>
                  <a:pt x="1181100" y="0"/>
                </a:moveTo>
                <a:lnTo>
                  <a:pt x="0" y="0"/>
                </a:lnTo>
                <a:lnTo>
                  <a:pt x="0" y="23018"/>
                </a:lnTo>
                <a:lnTo>
                  <a:pt x="1181100" y="23018"/>
                </a:lnTo>
                <a:lnTo>
                  <a:pt x="11811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111304" y="8737514"/>
            <a:ext cx="1746885" cy="62653"/>
          </a:xfrm>
          <a:custGeom>
            <a:avLst/>
            <a:gdLst/>
            <a:ahLst/>
            <a:cxnLst/>
            <a:rect l="l" t="t" r="r" b="b"/>
            <a:pathLst>
              <a:path w="1164589" h="23495">
                <a:moveTo>
                  <a:pt x="1164424" y="0"/>
                </a:moveTo>
                <a:lnTo>
                  <a:pt x="0" y="0"/>
                </a:lnTo>
                <a:lnTo>
                  <a:pt x="0" y="23018"/>
                </a:lnTo>
                <a:lnTo>
                  <a:pt x="1164424" y="23018"/>
                </a:lnTo>
                <a:lnTo>
                  <a:pt x="11644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72050" y="1"/>
            <a:ext cx="1645443" cy="9228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2000" y="300259"/>
            <a:ext cx="6533997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42757" y="2107183"/>
            <a:ext cx="4350068" cy="130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31720" y="8503920"/>
            <a:ext cx="21945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8503920"/>
            <a:ext cx="15773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937760" y="8503920"/>
            <a:ext cx="15773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2978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85800">
        <a:defRPr>
          <a:latin typeface="+mn-lt"/>
          <a:ea typeface="+mn-ea"/>
          <a:cs typeface="+mn-cs"/>
        </a:defRPr>
      </a:lvl2pPr>
      <a:lvl3pPr marL="1371600">
        <a:defRPr>
          <a:latin typeface="+mn-lt"/>
          <a:ea typeface="+mn-ea"/>
          <a:cs typeface="+mn-cs"/>
        </a:defRPr>
      </a:lvl3pPr>
      <a:lvl4pPr marL="2057400">
        <a:defRPr>
          <a:latin typeface="+mn-lt"/>
          <a:ea typeface="+mn-ea"/>
          <a:cs typeface="+mn-cs"/>
        </a:defRPr>
      </a:lvl4pPr>
      <a:lvl5pPr marL="2743200">
        <a:defRPr>
          <a:latin typeface="+mn-lt"/>
          <a:ea typeface="+mn-ea"/>
          <a:cs typeface="+mn-cs"/>
        </a:defRPr>
      </a:lvl5pPr>
      <a:lvl6pPr marL="3429000">
        <a:defRPr>
          <a:latin typeface="+mn-lt"/>
          <a:ea typeface="+mn-ea"/>
          <a:cs typeface="+mn-cs"/>
        </a:defRPr>
      </a:lvl6pPr>
      <a:lvl7pPr marL="4114800">
        <a:defRPr>
          <a:latin typeface="+mn-lt"/>
          <a:ea typeface="+mn-ea"/>
          <a:cs typeface="+mn-cs"/>
        </a:defRPr>
      </a:lvl7pPr>
      <a:lvl8pPr marL="4800600">
        <a:defRPr>
          <a:latin typeface="+mn-lt"/>
          <a:ea typeface="+mn-ea"/>
          <a:cs typeface="+mn-cs"/>
        </a:defRPr>
      </a:lvl8pPr>
      <a:lvl9pPr marL="54864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5800">
        <a:defRPr>
          <a:latin typeface="+mn-lt"/>
          <a:ea typeface="+mn-ea"/>
          <a:cs typeface="+mn-cs"/>
        </a:defRPr>
      </a:lvl2pPr>
      <a:lvl3pPr marL="1371600">
        <a:defRPr>
          <a:latin typeface="+mn-lt"/>
          <a:ea typeface="+mn-ea"/>
          <a:cs typeface="+mn-cs"/>
        </a:defRPr>
      </a:lvl3pPr>
      <a:lvl4pPr marL="2057400">
        <a:defRPr>
          <a:latin typeface="+mn-lt"/>
          <a:ea typeface="+mn-ea"/>
          <a:cs typeface="+mn-cs"/>
        </a:defRPr>
      </a:lvl4pPr>
      <a:lvl5pPr marL="2743200">
        <a:defRPr>
          <a:latin typeface="+mn-lt"/>
          <a:ea typeface="+mn-ea"/>
          <a:cs typeface="+mn-cs"/>
        </a:defRPr>
      </a:lvl5pPr>
      <a:lvl6pPr marL="3429000">
        <a:defRPr>
          <a:latin typeface="+mn-lt"/>
          <a:ea typeface="+mn-ea"/>
          <a:cs typeface="+mn-cs"/>
        </a:defRPr>
      </a:lvl6pPr>
      <a:lvl7pPr marL="4114800">
        <a:defRPr>
          <a:latin typeface="+mn-lt"/>
          <a:ea typeface="+mn-ea"/>
          <a:cs typeface="+mn-cs"/>
        </a:defRPr>
      </a:lvl7pPr>
      <a:lvl8pPr marL="4800600">
        <a:defRPr>
          <a:latin typeface="+mn-lt"/>
          <a:ea typeface="+mn-ea"/>
          <a:cs typeface="+mn-cs"/>
        </a:defRPr>
      </a:lvl8pPr>
      <a:lvl9pPr marL="54864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mailtoudhay@gmail.com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utorialspoint.com/puppet/" TargetMode="External"/><Relationship Id="rId3" Type="http://schemas.openxmlformats.org/officeDocument/2006/relationships/hyperlink" Target="https://xebialabs.com/solutions/devops/" TargetMode="External"/><Relationship Id="rId7" Type="http://schemas.openxmlformats.org/officeDocument/2006/relationships/hyperlink" Target="https://www.atlassian.com/git/tutorials/comparing-workflows" TargetMode="External"/><Relationship Id="rId2" Type="http://schemas.openxmlformats.org/officeDocument/2006/relationships/hyperlink" Target="https://jenkins.io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hub.docker.com/" TargetMode="External"/><Relationship Id="rId5" Type="http://schemas.openxmlformats.org/officeDocument/2006/relationships/hyperlink" Target="https://git-scm.com/" TargetMode="External"/><Relationship Id="rId10" Type="http://schemas.openxmlformats.org/officeDocument/2006/relationships/image" Target="../media/image8.jpg"/><Relationship Id="rId4" Type="http://schemas.openxmlformats.org/officeDocument/2006/relationships/hyperlink" Target="https://www.ibm.com/ibm/devops/us/en/casestudies/#all" TargetMode="External"/><Relationship Id="rId9" Type="http://schemas.openxmlformats.org/officeDocument/2006/relationships/hyperlink" Target="http://www.tutorialspoint.com/chef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1.jpg"/><Relationship Id="rId4" Type="http://schemas.openxmlformats.org/officeDocument/2006/relationships/image" Target="../media/image50.jp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jpg"/><Relationship Id="rId3" Type="http://schemas.openxmlformats.org/officeDocument/2006/relationships/image" Target="../media/image53.jpg"/><Relationship Id="rId7" Type="http://schemas.openxmlformats.org/officeDocument/2006/relationships/image" Target="../media/image56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5.jpg"/><Relationship Id="rId5" Type="http://schemas.openxmlformats.org/officeDocument/2006/relationships/image" Target="../media/image54.jpg"/><Relationship Id="rId4" Type="http://schemas.openxmlformats.org/officeDocument/2006/relationships/image" Target="../media/image2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9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1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3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9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1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3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7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9.jp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jpg"/><Relationship Id="rId3" Type="http://schemas.openxmlformats.org/officeDocument/2006/relationships/image" Target="../media/image80.png"/><Relationship Id="rId7" Type="http://schemas.openxmlformats.org/officeDocument/2006/relationships/image" Target="../media/image8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3.jp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www.kovair.com/devops/" TargetMode="Externa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3.jp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4.jp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96.png"/><Relationship Id="rId4" Type="http://schemas.openxmlformats.org/officeDocument/2006/relationships/image" Target="../media/image1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9.jp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01.jpg"/><Relationship Id="rId4" Type="http://schemas.openxmlformats.org/officeDocument/2006/relationships/image" Target="../media/image1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03.jpg"/><Relationship Id="rId4" Type="http://schemas.openxmlformats.org/officeDocument/2006/relationships/hyperlink" Target="https://www.digite.com/agile/agile-methodology/" TargetMode="Externa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04.jpg"/><Relationship Id="rId4" Type="http://schemas.openxmlformats.org/officeDocument/2006/relationships/hyperlink" Target="https://www.digite.com/agile/agile-methodology/#agile-principles" TargetMode="Externa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06.jpg"/><Relationship Id="rId4" Type="http://schemas.openxmlformats.org/officeDocument/2006/relationships/image" Target="../media/image105.jp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6.jp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08.jpg"/><Relationship Id="rId4" Type="http://schemas.openxmlformats.org/officeDocument/2006/relationships/image" Target="../media/image107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0.jpg"/><Relationship Id="rId4" Type="http://schemas.openxmlformats.org/officeDocument/2006/relationships/image" Target="../media/image1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1.jp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2.jp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3.jp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3" Type="http://schemas.openxmlformats.org/officeDocument/2006/relationships/image" Target="../media/image15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17" Type="http://schemas.openxmlformats.org/officeDocument/2006/relationships/image" Target="../media/image127.png"/><Relationship Id="rId2" Type="http://schemas.openxmlformats.org/officeDocument/2006/relationships/image" Target="../media/image14.png"/><Relationship Id="rId16" Type="http://schemas.openxmlformats.org/officeDocument/2006/relationships/image" Target="../media/image126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5" Type="http://schemas.openxmlformats.org/officeDocument/2006/relationships/image" Target="../media/image125.png"/><Relationship Id="rId10" Type="http://schemas.openxmlformats.org/officeDocument/2006/relationships/image" Target="../media/image120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Relationship Id="rId14" Type="http://schemas.openxmlformats.org/officeDocument/2006/relationships/image" Target="../media/image124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5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5" Type="http://schemas.openxmlformats.org/officeDocument/2006/relationships/image" Target="../media/image129.png"/><Relationship Id="rId10" Type="http://schemas.openxmlformats.org/officeDocument/2006/relationships/image" Target="../media/image13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7.jp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hyperlink" Target="http://www.agil8.com/blog/component-teams-vs-feature-teams/" TargetMode="Externa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8.jp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39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1.jp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hyperlink" Target="http://agilemodeling.com/" TargetMode="Externa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2.jp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5.png"/><Relationship Id="rId7" Type="http://schemas.openxmlformats.org/officeDocument/2006/relationships/image" Target="../media/image14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5.png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5.png"/><Relationship Id="rId7" Type="http://schemas.openxmlformats.org/officeDocument/2006/relationships/image" Target="../media/image14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3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0.jp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162.png"/><Relationship Id="rId3" Type="http://schemas.openxmlformats.org/officeDocument/2006/relationships/image" Target="../media/image152.png"/><Relationship Id="rId7" Type="http://schemas.openxmlformats.org/officeDocument/2006/relationships/image" Target="../media/image156.png"/><Relationship Id="rId12" Type="http://schemas.openxmlformats.org/officeDocument/2006/relationships/image" Target="../media/image161.png"/><Relationship Id="rId2" Type="http://schemas.openxmlformats.org/officeDocument/2006/relationships/image" Target="../media/image151.jp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55.png"/><Relationship Id="rId11" Type="http://schemas.openxmlformats.org/officeDocument/2006/relationships/image" Target="../media/image160.png"/><Relationship Id="rId5" Type="http://schemas.openxmlformats.org/officeDocument/2006/relationships/image" Target="../media/image154.png"/><Relationship Id="rId10" Type="http://schemas.openxmlformats.org/officeDocument/2006/relationships/image" Target="../media/image159.png"/><Relationship Id="rId4" Type="http://schemas.openxmlformats.org/officeDocument/2006/relationships/image" Target="../media/image153.png"/><Relationship Id="rId9" Type="http://schemas.openxmlformats.org/officeDocument/2006/relationships/image" Target="../media/image158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65.png"/><Relationship Id="rId4" Type="http://schemas.openxmlformats.org/officeDocument/2006/relationships/image" Target="../media/image162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7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17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69.jp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0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73.jpg"/><Relationship Id="rId4" Type="http://schemas.openxmlformats.org/officeDocument/2006/relationships/image" Target="../media/image172.jp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75.jp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77.jpg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jpg"/><Relationship Id="rId1" Type="http://schemas.openxmlformats.org/officeDocument/2006/relationships/slideLayout" Target="../slideLayouts/slideLayout20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0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0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0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9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0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0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7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9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7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88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9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9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9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9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9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4.jpg"/><Relationship Id="rId1" Type="http://schemas.openxmlformats.org/officeDocument/2006/relationships/slideLayout" Target="../slideLayouts/slideLayout20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jpg"/><Relationship Id="rId1" Type="http://schemas.openxmlformats.org/officeDocument/2006/relationships/slideLayout" Target="../slideLayouts/slideLayout20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jpg"/><Relationship Id="rId1" Type="http://schemas.openxmlformats.org/officeDocument/2006/relationships/slideLayout" Target="../slideLayouts/slideLayout20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7.jpg"/><Relationship Id="rId1" Type="http://schemas.openxmlformats.org/officeDocument/2006/relationships/slideLayout" Target="../slideLayouts/slideLayout19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jpg"/><Relationship Id="rId1" Type="http://schemas.openxmlformats.org/officeDocument/2006/relationships/slideLayout" Target="../slideLayouts/slideLayout19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9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9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9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9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9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9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9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9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7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08.jp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7.xml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10.png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7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1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62.png"/><Relationship Id="rId4" Type="http://schemas.openxmlformats.org/officeDocument/2006/relationships/image" Target="../media/image163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17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jpg"/><Relationship Id="rId2" Type="http://schemas.openxmlformats.org/officeDocument/2006/relationships/image" Target="../media/image212.jp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16.jpg"/><Relationship Id="rId5" Type="http://schemas.openxmlformats.org/officeDocument/2006/relationships/image" Target="../media/image215.jpg"/><Relationship Id="rId4" Type="http://schemas.openxmlformats.org/officeDocument/2006/relationships/image" Target="../media/image214.jp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jpg"/><Relationship Id="rId2" Type="http://schemas.openxmlformats.org/officeDocument/2006/relationships/image" Target="../media/image217.jp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21.jpg"/><Relationship Id="rId5" Type="http://schemas.openxmlformats.org/officeDocument/2006/relationships/image" Target="../media/image220.jpg"/><Relationship Id="rId4" Type="http://schemas.openxmlformats.org/officeDocument/2006/relationships/image" Target="../media/image219.jpg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17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17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7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3.jpg"/><Relationship Id="rId1" Type="http://schemas.openxmlformats.org/officeDocument/2006/relationships/slideLayout" Target="../slideLayouts/slideLayout20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550" b="1" spc="-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sz="550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550" dirty="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sz="550" spc="-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550" spc="-10" dirty="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550" b="1" spc="-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sz="550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550" dirty="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sz="550" spc="-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550" spc="-10" dirty="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0" name="object 20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8" name="object 28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17321" y="4914646"/>
            <a:ext cx="255397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80"/>
              </a:lnSpc>
              <a:spcBef>
                <a:spcPts val="100"/>
              </a:spcBef>
            </a:pPr>
            <a:r>
              <a:rPr sz="1800" b="1" spc="-95" dirty="0">
                <a:latin typeface="Arial"/>
                <a:cs typeface="Arial"/>
              </a:rPr>
              <a:t>Typical</a:t>
            </a:r>
            <a:r>
              <a:rPr sz="1800" b="1" spc="-90" dirty="0">
                <a:latin typeface="Arial"/>
                <a:cs typeface="Arial"/>
              </a:rPr>
              <a:t> </a:t>
            </a:r>
            <a:r>
              <a:rPr sz="1800" b="1" spc="-75" dirty="0">
                <a:latin typeface="Arial"/>
                <a:cs typeface="Arial"/>
              </a:rPr>
              <a:t>Project</a:t>
            </a:r>
            <a:r>
              <a:rPr sz="1800" b="1" spc="-95" dirty="0">
                <a:latin typeface="Arial"/>
                <a:cs typeface="Arial"/>
              </a:rPr>
              <a:t> </a:t>
            </a:r>
            <a:r>
              <a:rPr sz="1800" b="1" spc="-85" dirty="0">
                <a:latin typeface="Arial"/>
                <a:cs typeface="Arial"/>
              </a:rPr>
              <a:t>Life-</a:t>
            </a:r>
            <a:r>
              <a:rPr sz="1800" b="1" spc="-35" dirty="0">
                <a:latin typeface="Arial"/>
                <a:cs typeface="Arial"/>
              </a:rPr>
              <a:t>Cycle</a:t>
            </a:r>
            <a:endParaRPr sz="1800">
              <a:latin typeface="Arial"/>
              <a:cs typeface="Arial"/>
            </a:endParaRPr>
          </a:p>
          <a:p>
            <a:pPr marL="927100">
              <a:lnSpc>
                <a:spcPts val="1980"/>
              </a:lnSpc>
            </a:pPr>
            <a:r>
              <a:rPr sz="1800" b="1" spc="-50" dirty="0">
                <a:latin typeface="Arial"/>
                <a:cs typeface="Arial"/>
              </a:rPr>
              <a:t>(4</a:t>
            </a:r>
            <a:r>
              <a:rPr sz="1800" b="1" spc="-1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Phases)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96029" y="5971973"/>
            <a:ext cx="3367016" cy="1981986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442974" y="7817611"/>
            <a:ext cx="6261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dirty="0">
                <a:latin typeface="Times New Roman"/>
                <a:cs typeface="Times New Roman"/>
              </a:rPr>
              <a:t>Stages</a:t>
            </a:r>
            <a:r>
              <a:rPr sz="700" b="1" spc="145" dirty="0">
                <a:latin typeface="Times New Roman"/>
                <a:cs typeface="Times New Roman"/>
              </a:rPr>
              <a:t> </a:t>
            </a:r>
            <a:r>
              <a:rPr sz="700" b="1" spc="-10" dirty="0">
                <a:latin typeface="Times New Roman"/>
                <a:cs typeface="Times New Roman"/>
              </a:rPr>
              <a:t>(Phases)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/>
        <p:txBody>
          <a:bodyPr vert="horz" wrap="square" lIns="0" tIns="0" rIns="0" bIns="0" rtlCol="0">
            <a:spAutoFit/>
          </a:bodyPr>
          <a:lstStyle/>
          <a:p>
            <a:fld id="{81D60167-4931-47E6-BA6A-407CBD079E47}" type="slidenum">
              <a:rPr lang="en-IN" dirty="0"/>
              <a:pPr/>
              <a:t>1</a:t>
            </a:fld>
            <a:endParaRPr lang="en-IN" dirty="0"/>
          </a:p>
        </p:txBody>
      </p:sp>
      <p:sp>
        <p:nvSpPr>
          <p:cNvPr id="34" name="object 34"/>
          <p:cNvSpPr txBox="1"/>
          <p:nvPr/>
        </p:nvSpPr>
        <p:spPr>
          <a:xfrm>
            <a:off x="2289357" y="7817611"/>
            <a:ext cx="603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0" dirty="0">
                <a:latin typeface="Times New Roman"/>
                <a:cs typeface="Times New Roman"/>
              </a:rPr>
              <a:t>I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789759" y="7817611"/>
            <a:ext cx="952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25" dirty="0">
                <a:latin typeface="Times New Roman"/>
                <a:cs typeface="Times New Roman"/>
              </a:rPr>
              <a:t>II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57474" y="7817611"/>
            <a:ext cx="1301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25" dirty="0">
                <a:latin typeface="Times New Roman"/>
                <a:cs typeface="Times New Roman"/>
              </a:rPr>
              <a:t>III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878704" y="7817611"/>
            <a:ext cx="1250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25" dirty="0">
                <a:latin typeface="Times New Roman"/>
                <a:cs typeface="Times New Roman"/>
              </a:rPr>
              <a:t>IV</a:t>
            </a:r>
            <a:endParaRPr sz="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868680"/>
            <a:ext cx="6096000" cy="2433320"/>
            <a:chOff x="381000" y="868680"/>
            <a:chExt cx="6096000" cy="2433320"/>
          </a:xfrm>
        </p:grpSpPr>
        <p:sp>
          <p:nvSpPr>
            <p:cNvPr id="4" name="object 4"/>
            <p:cNvSpPr/>
            <p:nvPr/>
          </p:nvSpPr>
          <p:spPr>
            <a:xfrm>
              <a:off x="381000" y="868680"/>
              <a:ext cx="6096000" cy="2433320"/>
            </a:xfrm>
            <a:custGeom>
              <a:avLst/>
              <a:gdLst/>
              <a:ahLst/>
              <a:cxnLst/>
              <a:rect l="l" t="t" r="r" b="b"/>
              <a:pathLst>
                <a:path w="6096000" h="2433320">
                  <a:moveTo>
                    <a:pt x="6096000" y="0"/>
                  </a:moveTo>
                  <a:lnTo>
                    <a:pt x="0" y="0"/>
                  </a:lnTo>
                  <a:lnTo>
                    <a:pt x="0" y="2433193"/>
                  </a:lnTo>
                  <a:lnTo>
                    <a:pt x="6096000" y="2433193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400" y="958850"/>
              <a:ext cx="4192016" cy="220992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33424" y="3450082"/>
            <a:ext cx="24523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spc="-10" dirty="0">
                <a:solidFill>
                  <a:srgbClr val="D24625"/>
                </a:solidFill>
                <a:latin typeface="Segoe UI Light"/>
                <a:cs typeface="Segoe UI Light"/>
              </a:rPr>
              <a:t>Dr.S.Udhayakumar</a:t>
            </a:r>
            <a:endParaRPr sz="750">
              <a:latin typeface="Segoe UI Light"/>
              <a:cs typeface="Segoe UI Light"/>
            </a:endParaRPr>
          </a:p>
          <a:p>
            <a:pPr marL="12700" marR="5080">
              <a:lnSpc>
                <a:spcPct val="162700"/>
              </a:lnSpc>
              <a:spcBef>
                <a:spcPts val="10"/>
              </a:spcBef>
            </a:pPr>
            <a:r>
              <a:rPr sz="750" spc="-20" dirty="0">
                <a:solidFill>
                  <a:srgbClr val="D24625"/>
                </a:solidFill>
                <a:latin typeface="Segoe UI Light"/>
                <a:cs typeface="Segoe UI Light"/>
              </a:rPr>
              <a:t>Professor,</a:t>
            </a:r>
            <a:r>
              <a:rPr sz="750" spc="-5" dirty="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sz="750" dirty="0">
                <a:solidFill>
                  <a:srgbClr val="D24625"/>
                </a:solidFill>
                <a:latin typeface="Segoe UI Light"/>
                <a:cs typeface="Segoe UI Light"/>
              </a:rPr>
              <a:t>Department</a:t>
            </a:r>
            <a:r>
              <a:rPr sz="750" spc="-25" dirty="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sz="750" dirty="0">
                <a:solidFill>
                  <a:srgbClr val="D24625"/>
                </a:solidFill>
                <a:latin typeface="Segoe UI Light"/>
                <a:cs typeface="Segoe UI Light"/>
              </a:rPr>
              <a:t>of</a:t>
            </a:r>
            <a:r>
              <a:rPr sz="750" spc="-5" dirty="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sz="750" dirty="0">
                <a:solidFill>
                  <a:srgbClr val="D24625"/>
                </a:solidFill>
                <a:latin typeface="Segoe UI Light"/>
                <a:cs typeface="Segoe UI Light"/>
              </a:rPr>
              <a:t>Computer</a:t>
            </a:r>
            <a:r>
              <a:rPr sz="750" spc="-10" dirty="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sz="750" dirty="0">
                <a:solidFill>
                  <a:srgbClr val="D24625"/>
                </a:solidFill>
                <a:latin typeface="Segoe UI Light"/>
                <a:cs typeface="Segoe UI Light"/>
              </a:rPr>
              <a:t>Science</a:t>
            </a:r>
            <a:r>
              <a:rPr sz="750" spc="-25" dirty="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sz="750" dirty="0">
                <a:solidFill>
                  <a:srgbClr val="D24625"/>
                </a:solidFill>
                <a:latin typeface="Segoe UI Light"/>
                <a:cs typeface="Segoe UI Light"/>
              </a:rPr>
              <a:t>and</a:t>
            </a:r>
            <a:r>
              <a:rPr sz="750" spc="-10" dirty="0">
                <a:solidFill>
                  <a:srgbClr val="D24625"/>
                </a:solidFill>
                <a:latin typeface="Segoe UI Light"/>
                <a:cs typeface="Segoe UI Light"/>
              </a:rPr>
              <a:t> Engineering</a:t>
            </a:r>
            <a:r>
              <a:rPr sz="750" spc="500" dirty="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sz="750" spc="-10" dirty="0">
                <a:solidFill>
                  <a:srgbClr val="D24625"/>
                </a:solidFill>
                <a:latin typeface="Segoe UI Light"/>
                <a:cs typeface="Segoe UI Light"/>
                <a:hlinkClick r:id="rId3"/>
              </a:rPr>
              <a:t>mailtoudhay@gmail.com</a:t>
            </a:r>
            <a:endParaRPr sz="750">
              <a:latin typeface="Segoe UI Light"/>
              <a:cs typeface="Segoe U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87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Course</a:t>
            </a:r>
            <a:r>
              <a:rPr sz="18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Objectives</a:t>
            </a:r>
            <a:endParaRPr sz="1800">
              <a:latin typeface="Segoe UI Light"/>
              <a:cs typeface="Segoe UI Ligh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85717" y="7261402"/>
            <a:ext cx="1280160" cy="72007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41189" y="7261402"/>
            <a:ext cx="1280160" cy="720077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80046" y="6030214"/>
          <a:ext cx="2775585" cy="1445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7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780">
                <a:tc>
                  <a:txBody>
                    <a:bodyPr/>
                    <a:lstStyle/>
                    <a:p>
                      <a:pPr marR="12509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550" spc="-25" dirty="0">
                          <a:latin typeface="Segoe UI"/>
                          <a:cs typeface="Segoe UI"/>
                        </a:rPr>
                        <a:t>No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T="2413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09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550" spc="-10" dirty="0">
                          <a:latin typeface="Segoe UI"/>
                          <a:cs typeface="Segoe UI"/>
                        </a:rPr>
                        <a:t>Objective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T="2413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R="8318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550" spc="-25" dirty="0">
                          <a:latin typeface="Segoe UI"/>
                          <a:cs typeface="Segoe UI"/>
                        </a:rPr>
                        <a:t>CO1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T="2413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13335" algn="just">
                        <a:lnSpc>
                          <a:spcPct val="114999"/>
                        </a:lnSpc>
                        <a:spcBef>
                          <a:spcPts val="95"/>
                        </a:spcBef>
                      </a:pPr>
                      <a:r>
                        <a:rPr sz="600" dirty="0">
                          <a:latin typeface="Segoe UI"/>
                          <a:cs typeface="Segoe UI"/>
                        </a:rPr>
                        <a:t>To</a:t>
                      </a:r>
                      <a:r>
                        <a:rPr sz="600" spc="2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learn</a:t>
                      </a:r>
                      <a:r>
                        <a:rPr sz="600" spc="2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600" spc="2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key</a:t>
                      </a:r>
                      <a:r>
                        <a:rPr sz="600" spc="2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ideas</a:t>
                      </a:r>
                      <a:r>
                        <a:rPr sz="600" spc="2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and</a:t>
                      </a:r>
                      <a:r>
                        <a:rPr sz="600" spc="2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techniques</a:t>
                      </a:r>
                      <a:r>
                        <a:rPr sz="600" spc="2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to</a:t>
                      </a:r>
                      <a:r>
                        <a:rPr sz="600" spc="2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bring</a:t>
                      </a:r>
                      <a:r>
                        <a:rPr sz="600" spc="2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development</a:t>
                      </a:r>
                      <a:r>
                        <a:rPr sz="600" spc="2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spc="-25" dirty="0">
                          <a:latin typeface="Segoe UI"/>
                          <a:cs typeface="Segoe UI"/>
                        </a:rPr>
                        <a:t>and</a:t>
                      </a:r>
                      <a:r>
                        <a:rPr sz="600" spc="50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operations</a:t>
                      </a:r>
                      <a:r>
                        <a:rPr sz="600" spc="1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together</a:t>
                      </a:r>
                      <a:r>
                        <a:rPr sz="600" spc="1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to</a:t>
                      </a:r>
                      <a:r>
                        <a:rPr sz="600" spc="1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produce</a:t>
                      </a:r>
                      <a:r>
                        <a:rPr sz="600" spc="1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spc="-10" dirty="0">
                          <a:latin typeface="Segoe UI"/>
                          <a:cs typeface="Segoe UI"/>
                        </a:rPr>
                        <a:t>higher-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quality</a:t>
                      </a:r>
                      <a:r>
                        <a:rPr sz="600" spc="1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software</a:t>
                      </a:r>
                      <a:r>
                        <a:rPr sz="600" spc="1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and</a:t>
                      </a:r>
                      <a:r>
                        <a:rPr sz="600" spc="1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deliver</a:t>
                      </a:r>
                      <a:r>
                        <a:rPr sz="600" spc="1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spc="-25" dirty="0">
                          <a:latin typeface="Segoe UI"/>
                          <a:cs typeface="Segoe UI"/>
                        </a:rPr>
                        <a:t>it</a:t>
                      </a:r>
                      <a:r>
                        <a:rPr sz="600" spc="50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more</a:t>
                      </a:r>
                      <a:r>
                        <a:rPr sz="60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spc="-10" dirty="0">
                          <a:latin typeface="Segoe UI"/>
                          <a:cs typeface="Segoe UI"/>
                        </a:rPr>
                        <a:t>quickly.</a:t>
                      </a:r>
                      <a:endParaRPr sz="600">
                        <a:latin typeface="Segoe UI"/>
                        <a:cs typeface="Segoe UI"/>
                      </a:endParaRPr>
                    </a:p>
                  </a:txBody>
                  <a:tcPr marL="0" marR="0" marT="1206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R="8318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550" spc="-25" dirty="0">
                          <a:latin typeface="Segoe UI"/>
                          <a:cs typeface="Segoe UI"/>
                        </a:rPr>
                        <a:t>CO2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T="2413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14604">
                        <a:lnSpc>
                          <a:spcPct val="114999"/>
                        </a:lnSpc>
                        <a:spcBef>
                          <a:spcPts val="90"/>
                        </a:spcBef>
                      </a:pPr>
                      <a:r>
                        <a:rPr sz="600" spc="-20" dirty="0">
                          <a:latin typeface="Segoe UI"/>
                          <a:cs typeface="Segoe UI"/>
                        </a:rPr>
                        <a:t>To</a:t>
                      </a:r>
                      <a:r>
                        <a:rPr sz="6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learn</a:t>
                      </a:r>
                      <a:r>
                        <a:rPr sz="6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60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core</a:t>
                      </a:r>
                      <a:r>
                        <a:rPr sz="6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principles, business</a:t>
                      </a:r>
                      <a:r>
                        <a:rPr sz="600" spc="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and</a:t>
                      </a:r>
                      <a:r>
                        <a:rPr sz="60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technical</a:t>
                      </a:r>
                      <a:r>
                        <a:rPr sz="6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terms</a:t>
                      </a:r>
                      <a:r>
                        <a:rPr sz="6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used</a:t>
                      </a:r>
                      <a:r>
                        <a:rPr sz="60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in</a:t>
                      </a:r>
                      <a:r>
                        <a:rPr sz="600" spc="-10" dirty="0">
                          <a:latin typeface="Segoe UI"/>
                          <a:cs typeface="Segoe UI"/>
                        </a:rPr>
                        <a:t> DevOps</a:t>
                      </a:r>
                      <a:r>
                        <a:rPr sz="600" spc="50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from</a:t>
                      </a:r>
                      <a:r>
                        <a:rPr sz="6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perspective</a:t>
                      </a:r>
                      <a:r>
                        <a:rPr sz="60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of</a:t>
                      </a:r>
                      <a:r>
                        <a:rPr sz="60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business</a:t>
                      </a:r>
                      <a:r>
                        <a:rPr sz="6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and</a:t>
                      </a:r>
                      <a:r>
                        <a:rPr sz="60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IT</a:t>
                      </a:r>
                      <a:r>
                        <a:rPr sz="60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spc="-10" dirty="0">
                          <a:latin typeface="Segoe UI"/>
                          <a:cs typeface="Segoe UI"/>
                        </a:rPr>
                        <a:t>teams</a:t>
                      </a:r>
                      <a:endParaRPr sz="600">
                        <a:latin typeface="Segoe UI"/>
                        <a:cs typeface="Segoe U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930">
                <a:tc>
                  <a:txBody>
                    <a:bodyPr/>
                    <a:lstStyle/>
                    <a:p>
                      <a:pPr marR="8318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550" spc="-25" dirty="0">
                          <a:latin typeface="Segoe UI"/>
                          <a:cs typeface="Segoe UI"/>
                        </a:rPr>
                        <a:t>CO3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T="2413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14604" algn="just">
                        <a:lnSpc>
                          <a:spcPct val="115100"/>
                        </a:lnSpc>
                        <a:spcBef>
                          <a:spcPts val="90"/>
                        </a:spcBef>
                      </a:pPr>
                      <a:r>
                        <a:rPr sz="600" dirty="0">
                          <a:latin typeface="Segoe UI"/>
                          <a:cs typeface="Segoe UI"/>
                        </a:rPr>
                        <a:t>To</a:t>
                      </a:r>
                      <a:r>
                        <a:rPr sz="600" spc="19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gain</a:t>
                      </a:r>
                      <a:r>
                        <a:rPr sz="600" spc="20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knowledge</a:t>
                      </a:r>
                      <a:r>
                        <a:rPr sz="600" spc="20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of</a:t>
                      </a:r>
                      <a:r>
                        <a:rPr sz="600" spc="2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600" spc="20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Principles</a:t>
                      </a:r>
                      <a:r>
                        <a:rPr sz="600" spc="2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and</a:t>
                      </a:r>
                      <a:r>
                        <a:rPr sz="600" spc="2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practices</a:t>
                      </a:r>
                      <a:r>
                        <a:rPr sz="600" spc="2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of</a:t>
                      </a:r>
                      <a:r>
                        <a:rPr sz="600" spc="2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600" spc="20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spc="-10" dirty="0">
                          <a:latin typeface="Segoe UI"/>
                          <a:cs typeface="Segoe UI"/>
                        </a:rPr>
                        <a:t>DevOps</a:t>
                      </a:r>
                      <a:r>
                        <a:rPr sz="600" spc="50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Lifecycle</a:t>
                      </a:r>
                      <a:r>
                        <a:rPr sz="600" spc="3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including</a:t>
                      </a:r>
                      <a:r>
                        <a:rPr sz="600" spc="35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Continuous</a:t>
                      </a:r>
                      <a:r>
                        <a:rPr sz="600" spc="36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Integration,</a:t>
                      </a:r>
                      <a:r>
                        <a:rPr sz="600" spc="36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Continuous</a:t>
                      </a:r>
                      <a:r>
                        <a:rPr sz="600" spc="36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spc="-10" dirty="0">
                          <a:latin typeface="Segoe UI"/>
                          <a:cs typeface="Segoe UI"/>
                        </a:rPr>
                        <a:t>Inspection,</a:t>
                      </a:r>
                      <a:r>
                        <a:rPr sz="600" spc="50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Continuous</a:t>
                      </a:r>
                      <a:r>
                        <a:rPr sz="600" spc="215" dirty="0">
                          <a:latin typeface="Segoe UI"/>
                          <a:cs typeface="Segoe UI"/>
                        </a:rPr>
                        <a:t> 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delivery,</a:t>
                      </a:r>
                      <a:r>
                        <a:rPr sz="600" spc="225" dirty="0">
                          <a:latin typeface="Segoe UI"/>
                          <a:cs typeface="Segoe UI"/>
                        </a:rPr>
                        <a:t> 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Continuous</a:t>
                      </a:r>
                      <a:r>
                        <a:rPr sz="600" spc="215" dirty="0">
                          <a:latin typeface="Segoe UI"/>
                          <a:cs typeface="Segoe UI"/>
                        </a:rPr>
                        <a:t> 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deployment</a:t>
                      </a:r>
                      <a:r>
                        <a:rPr sz="600" spc="225" dirty="0">
                          <a:latin typeface="Segoe UI"/>
                          <a:cs typeface="Segoe UI"/>
                        </a:rPr>
                        <a:t> 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and</a:t>
                      </a:r>
                      <a:r>
                        <a:rPr sz="600" spc="215" dirty="0">
                          <a:latin typeface="Segoe UI"/>
                          <a:cs typeface="Segoe UI"/>
                        </a:rPr>
                        <a:t>  </a:t>
                      </a:r>
                      <a:r>
                        <a:rPr sz="600" spc="-10" dirty="0">
                          <a:latin typeface="Segoe UI"/>
                          <a:cs typeface="Segoe UI"/>
                        </a:rPr>
                        <a:t>Continuous</a:t>
                      </a:r>
                      <a:r>
                        <a:rPr sz="600" spc="50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spc="-10" dirty="0">
                          <a:latin typeface="Segoe UI"/>
                          <a:cs typeface="Segoe UI"/>
                        </a:rPr>
                        <a:t>monitoring.</a:t>
                      </a:r>
                      <a:endParaRPr sz="600">
                        <a:latin typeface="Segoe UI"/>
                        <a:cs typeface="Segoe U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745">
                <a:tc>
                  <a:txBody>
                    <a:bodyPr/>
                    <a:lstStyle/>
                    <a:p>
                      <a:pPr marR="8318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550" spc="-25" dirty="0">
                          <a:latin typeface="Segoe UI"/>
                          <a:cs typeface="Segoe UI"/>
                        </a:rPr>
                        <a:t>CO4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T="2413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0955" marR="12700">
                        <a:lnSpc>
                          <a:spcPct val="114999"/>
                        </a:lnSpc>
                        <a:spcBef>
                          <a:spcPts val="90"/>
                        </a:spcBef>
                      </a:pPr>
                      <a:r>
                        <a:rPr sz="600" dirty="0">
                          <a:latin typeface="Segoe UI"/>
                          <a:cs typeface="Segoe UI"/>
                        </a:rPr>
                        <a:t>To</a:t>
                      </a:r>
                      <a:r>
                        <a:rPr sz="600" spc="38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understand</a:t>
                      </a:r>
                      <a:r>
                        <a:rPr sz="600" spc="38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600" spc="38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usage</a:t>
                      </a:r>
                      <a:r>
                        <a:rPr sz="600" spc="38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of</a:t>
                      </a:r>
                      <a:r>
                        <a:rPr sz="600" spc="38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tools</a:t>
                      </a:r>
                      <a:r>
                        <a:rPr sz="600" spc="38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and</a:t>
                      </a:r>
                      <a:r>
                        <a:rPr sz="600" spc="38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technologies</a:t>
                      </a:r>
                      <a:r>
                        <a:rPr sz="600" spc="38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used</a:t>
                      </a:r>
                      <a:r>
                        <a:rPr sz="600" spc="38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spc="-25" dirty="0">
                          <a:latin typeface="Segoe UI"/>
                          <a:cs typeface="Segoe UI"/>
                        </a:rPr>
                        <a:t>for</a:t>
                      </a:r>
                      <a:r>
                        <a:rPr sz="600" spc="50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dirty="0">
                          <a:latin typeface="Segoe UI"/>
                          <a:cs typeface="Segoe UI"/>
                        </a:rPr>
                        <a:t>implementing</a:t>
                      </a:r>
                      <a:r>
                        <a:rPr sz="6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spc="-10" dirty="0">
                          <a:latin typeface="Segoe UI"/>
                          <a:cs typeface="Segoe UI"/>
                        </a:rPr>
                        <a:t>DevOps.</a:t>
                      </a:r>
                      <a:endParaRPr sz="600">
                        <a:latin typeface="Segoe UI"/>
                        <a:cs typeface="Segoe UI"/>
                      </a:endParaRPr>
                    </a:p>
                  </a:txBody>
                  <a:tcPr marL="0" marR="0" marT="1143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88028" y="5821235"/>
            <a:ext cx="1966849" cy="1204912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81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  <a:spcBef>
                <a:spcPts val="5"/>
              </a:spcBef>
            </a:pPr>
            <a:r>
              <a:rPr sz="1800" spc="-70" dirty="0">
                <a:solidFill>
                  <a:srgbClr val="FFFFFF"/>
                </a:solidFill>
                <a:latin typeface="Segoe UI Light"/>
                <a:cs typeface="Segoe UI Light"/>
              </a:rPr>
              <a:t>Text</a:t>
            </a:r>
            <a:r>
              <a:rPr sz="180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books</a:t>
            </a:r>
            <a:r>
              <a:rPr sz="180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180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References</a:t>
            </a:r>
            <a:endParaRPr sz="1800">
              <a:latin typeface="Segoe UI Light"/>
              <a:cs typeface="Segoe UI Ligh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80046" y="1786001"/>
          <a:ext cx="3183255" cy="462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9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170">
                <a:tc>
                  <a:txBody>
                    <a:bodyPr/>
                    <a:lstStyle/>
                    <a:p>
                      <a:pPr marL="13970">
                        <a:lnSpc>
                          <a:spcPts val="595"/>
                        </a:lnSpc>
                        <a:spcBef>
                          <a:spcPts val="15"/>
                        </a:spcBef>
                      </a:pPr>
                      <a:r>
                        <a:rPr sz="550" spc="-25" dirty="0">
                          <a:latin typeface="Segoe UI"/>
                          <a:cs typeface="Segoe UI"/>
                        </a:rPr>
                        <a:t>No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ts val="595"/>
                        </a:lnSpc>
                        <a:spcBef>
                          <a:spcPts val="15"/>
                        </a:spcBef>
                      </a:pPr>
                      <a:r>
                        <a:rPr sz="550" dirty="0">
                          <a:latin typeface="Segoe UI"/>
                          <a:cs typeface="Segoe UI"/>
                        </a:rPr>
                        <a:t>Author(s),</a:t>
                      </a:r>
                      <a:r>
                        <a:rPr sz="55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Title,</a:t>
                      </a:r>
                      <a:r>
                        <a:rPr sz="55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Edition,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 Publishing</a:t>
                      </a:r>
                      <a:r>
                        <a:rPr sz="55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spc="-20" dirty="0">
                          <a:latin typeface="Segoe UI"/>
                          <a:cs typeface="Segoe UI"/>
                        </a:rPr>
                        <a:t>House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05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550" spc="-25" dirty="0">
                          <a:latin typeface="Segoe UI"/>
                          <a:cs typeface="Segoe UI"/>
                        </a:rPr>
                        <a:t>T1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550" spc="-10" dirty="0">
                          <a:latin typeface="Segoe UI"/>
                          <a:cs typeface="Segoe UI"/>
                        </a:rPr>
                        <a:t>DevOps:</a:t>
                      </a:r>
                      <a:r>
                        <a:rPr sz="55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A Software</a:t>
                      </a:r>
                      <a:r>
                        <a:rPr sz="550" spc="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Architect's</a:t>
                      </a:r>
                      <a:r>
                        <a:rPr sz="55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Perspective</a:t>
                      </a:r>
                      <a:r>
                        <a:rPr sz="55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(SEI Series in Software</a:t>
                      </a:r>
                      <a:r>
                        <a:rPr sz="550" spc="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Engineering)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3970">
                        <a:lnSpc>
                          <a:spcPts val="585"/>
                        </a:lnSpc>
                        <a:spcBef>
                          <a:spcPts val="110"/>
                        </a:spcBef>
                      </a:pPr>
                      <a:r>
                        <a:rPr sz="550" dirty="0">
                          <a:latin typeface="Segoe UI"/>
                          <a:cs typeface="Segoe UI"/>
                        </a:rPr>
                        <a:t>by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Len</a:t>
                      </a:r>
                      <a:r>
                        <a:rPr sz="55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Bass,</a:t>
                      </a:r>
                      <a:r>
                        <a:rPr sz="55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Ingo</a:t>
                      </a:r>
                      <a:r>
                        <a:rPr sz="55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Weber,</a:t>
                      </a:r>
                      <a:r>
                        <a:rPr sz="55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Liming</a:t>
                      </a:r>
                      <a:r>
                        <a:rPr sz="55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Zhu</a:t>
                      </a:r>
                      <a:r>
                        <a:rPr sz="55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,</a:t>
                      </a:r>
                      <a:r>
                        <a:rPr sz="55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Publisher:</a:t>
                      </a:r>
                      <a:r>
                        <a:rPr sz="55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Addison</a:t>
                      </a:r>
                      <a:r>
                        <a:rPr sz="55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Wesley</a:t>
                      </a:r>
                      <a:r>
                        <a:rPr sz="55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(18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May</a:t>
                      </a:r>
                      <a:r>
                        <a:rPr sz="55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2015).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05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550" spc="-25" dirty="0">
                          <a:latin typeface="Segoe UI"/>
                          <a:cs typeface="Segoe UI"/>
                        </a:rPr>
                        <a:t>T2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550" dirty="0">
                          <a:latin typeface="Segoe UI"/>
                          <a:cs typeface="Segoe UI"/>
                        </a:rPr>
                        <a:t>Continuous</a:t>
                      </a:r>
                      <a:r>
                        <a:rPr sz="550" spc="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Delivery:</a:t>
                      </a:r>
                      <a:r>
                        <a:rPr sz="550" spc="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Reliable</a:t>
                      </a:r>
                      <a:r>
                        <a:rPr sz="550" spc="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Software</a:t>
                      </a:r>
                      <a:r>
                        <a:rPr sz="550" spc="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Releases</a:t>
                      </a:r>
                      <a:r>
                        <a:rPr sz="550" spc="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through</a:t>
                      </a:r>
                      <a:r>
                        <a:rPr sz="550" spc="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Build,</a:t>
                      </a:r>
                      <a:r>
                        <a:rPr sz="550" spc="5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Test,</a:t>
                      </a:r>
                      <a:r>
                        <a:rPr sz="550" spc="4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and</a:t>
                      </a:r>
                      <a:r>
                        <a:rPr sz="550" spc="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Deployment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3970">
                        <a:lnSpc>
                          <a:spcPts val="585"/>
                        </a:lnSpc>
                        <a:spcBef>
                          <a:spcPts val="110"/>
                        </a:spcBef>
                      </a:pPr>
                      <a:r>
                        <a:rPr sz="550" dirty="0">
                          <a:latin typeface="Segoe UI"/>
                          <a:cs typeface="Segoe UI"/>
                        </a:rPr>
                        <a:t>Automation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by</a:t>
                      </a:r>
                      <a:r>
                        <a:rPr sz="55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Jez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 Humble,</a:t>
                      </a:r>
                      <a:r>
                        <a:rPr sz="55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David Farley.</a:t>
                      </a:r>
                      <a:r>
                        <a:rPr sz="550" spc="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Publisher:</a:t>
                      </a:r>
                      <a:r>
                        <a:rPr sz="550" spc="-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Addison</a:t>
                      </a:r>
                      <a:r>
                        <a:rPr sz="55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Wesley,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spc="-20" dirty="0">
                          <a:latin typeface="Segoe UI"/>
                          <a:cs typeface="Segoe UI"/>
                        </a:rPr>
                        <a:t>2011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80046" y="2498598"/>
          <a:ext cx="3183255" cy="1397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9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0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170">
                <a:tc>
                  <a:txBody>
                    <a:bodyPr/>
                    <a:lstStyle/>
                    <a:p>
                      <a:pPr marL="13970">
                        <a:lnSpc>
                          <a:spcPts val="590"/>
                        </a:lnSpc>
                        <a:spcBef>
                          <a:spcPts val="15"/>
                        </a:spcBef>
                      </a:pPr>
                      <a:r>
                        <a:rPr sz="550" spc="-25" dirty="0">
                          <a:latin typeface="Segoe UI"/>
                          <a:cs typeface="Segoe UI"/>
                        </a:rPr>
                        <a:t>No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ts val="590"/>
                        </a:lnSpc>
                        <a:spcBef>
                          <a:spcPts val="15"/>
                        </a:spcBef>
                      </a:pPr>
                      <a:r>
                        <a:rPr sz="550" dirty="0">
                          <a:latin typeface="Segoe UI"/>
                          <a:cs typeface="Segoe UI"/>
                        </a:rPr>
                        <a:t>Author(s),</a:t>
                      </a:r>
                      <a:r>
                        <a:rPr sz="550" spc="-3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Title,</a:t>
                      </a:r>
                      <a:r>
                        <a:rPr sz="550" spc="-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Edition,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 Publishing</a:t>
                      </a:r>
                      <a:r>
                        <a:rPr sz="550" spc="-3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spc="-20" dirty="0">
                          <a:latin typeface="Segoe UI"/>
                          <a:cs typeface="Segoe UI"/>
                        </a:rPr>
                        <a:t>House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05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550" spc="-25" dirty="0">
                          <a:latin typeface="Segoe UI"/>
                          <a:cs typeface="Segoe UI"/>
                        </a:rPr>
                        <a:t>R1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550" dirty="0">
                          <a:latin typeface="Segoe UI"/>
                          <a:cs typeface="Segoe UI"/>
                        </a:rPr>
                        <a:t>Effective</a:t>
                      </a:r>
                      <a:r>
                        <a:rPr sz="550" spc="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DevOps:</a:t>
                      </a:r>
                      <a:r>
                        <a:rPr sz="55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Building</a:t>
                      </a:r>
                      <a:r>
                        <a:rPr sz="55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A Culture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of Collaboration,</a:t>
                      </a:r>
                      <a:r>
                        <a:rPr sz="550" spc="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Affinity,</a:t>
                      </a:r>
                      <a:r>
                        <a:rPr sz="550" spc="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and Tooling</a:t>
                      </a:r>
                      <a:r>
                        <a:rPr sz="55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at Scale </a:t>
                      </a:r>
                      <a:r>
                        <a:rPr sz="550" spc="-25" dirty="0">
                          <a:latin typeface="Segoe UI"/>
                          <a:cs typeface="Segoe UI"/>
                        </a:rPr>
                        <a:t>by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3970">
                        <a:lnSpc>
                          <a:spcPts val="580"/>
                        </a:lnSpc>
                        <a:spcBef>
                          <a:spcPts val="110"/>
                        </a:spcBef>
                      </a:pPr>
                      <a:r>
                        <a:rPr sz="550" spc="-10" dirty="0">
                          <a:latin typeface="Segoe UI"/>
                          <a:cs typeface="Segoe UI"/>
                        </a:rPr>
                        <a:t>Jennifer</a:t>
                      </a:r>
                      <a:r>
                        <a:rPr sz="550" spc="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Davis</a:t>
                      </a:r>
                      <a:r>
                        <a:rPr sz="550" spc="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, Ryn</a:t>
                      </a:r>
                      <a:r>
                        <a:rPr sz="550" spc="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Daniels.</a:t>
                      </a:r>
                      <a:r>
                        <a:rPr sz="550" spc="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Publisher: O'Reilly</a:t>
                      </a:r>
                      <a:r>
                        <a:rPr sz="550" spc="-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Media,</a:t>
                      </a:r>
                      <a:r>
                        <a:rPr sz="550" spc="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June</a:t>
                      </a:r>
                      <a:r>
                        <a:rPr sz="550" spc="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spc="-20" dirty="0">
                          <a:latin typeface="Segoe UI"/>
                          <a:cs typeface="Segoe UI"/>
                        </a:rPr>
                        <a:t>2016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550" spc="-25" dirty="0">
                          <a:latin typeface="Segoe UI"/>
                          <a:cs typeface="Segoe UI"/>
                        </a:rPr>
                        <a:t>R2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T="254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550" dirty="0">
                          <a:latin typeface="Segoe UI"/>
                          <a:cs typeface="Segoe UI"/>
                        </a:rPr>
                        <a:t>The</a:t>
                      </a:r>
                      <a:r>
                        <a:rPr sz="550" spc="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DevOPS</a:t>
                      </a:r>
                      <a:r>
                        <a:rPr sz="550" spc="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Handbook:</a:t>
                      </a:r>
                      <a:r>
                        <a:rPr sz="550" spc="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How</a:t>
                      </a:r>
                      <a:r>
                        <a:rPr sz="550" spc="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to</a:t>
                      </a:r>
                      <a:r>
                        <a:rPr sz="550" spc="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Create</a:t>
                      </a:r>
                      <a:r>
                        <a:rPr sz="550" spc="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World-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Class</a:t>
                      </a:r>
                      <a:r>
                        <a:rPr sz="550" spc="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Agility,</a:t>
                      </a:r>
                      <a:r>
                        <a:rPr sz="550" spc="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Reliability,</a:t>
                      </a:r>
                      <a:r>
                        <a:rPr sz="550" spc="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and</a:t>
                      </a:r>
                      <a:r>
                        <a:rPr sz="550" spc="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Security</a:t>
                      </a:r>
                      <a:r>
                        <a:rPr sz="550" spc="2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spc="-25" dirty="0">
                          <a:latin typeface="Segoe UI"/>
                          <a:cs typeface="Segoe UI"/>
                        </a:rPr>
                        <a:t>in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3970" marR="55880">
                        <a:lnSpc>
                          <a:spcPct val="114500"/>
                        </a:lnSpc>
                      </a:pPr>
                      <a:r>
                        <a:rPr sz="550" dirty="0">
                          <a:latin typeface="Segoe UI"/>
                          <a:cs typeface="Segoe UI"/>
                        </a:rPr>
                        <a:t>Technology</a:t>
                      </a:r>
                      <a:r>
                        <a:rPr sz="550" spc="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Organizations</a:t>
                      </a:r>
                      <a:r>
                        <a:rPr sz="550" spc="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by Gene</a:t>
                      </a:r>
                      <a:r>
                        <a:rPr sz="550" spc="-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Kim,</a:t>
                      </a:r>
                      <a:r>
                        <a:rPr sz="550" spc="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Patrick</a:t>
                      </a:r>
                      <a:r>
                        <a:rPr sz="550" spc="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Debois,</a:t>
                      </a:r>
                      <a:r>
                        <a:rPr sz="550" spc="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John</a:t>
                      </a:r>
                      <a:r>
                        <a:rPr sz="550" spc="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Willis,</a:t>
                      </a:r>
                      <a:r>
                        <a:rPr sz="550" spc="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Jez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Humble,</a:t>
                      </a:r>
                      <a:r>
                        <a:rPr sz="550" spc="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spc="-20" dirty="0">
                          <a:latin typeface="Segoe UI"/>
                          <a:cs typeface="Segoe UI"/>
                        </a:rPr>
                        <a:t>John</a:t>
                      </a:r>
                      <a:r>
                        <a:rPr sz="550" spc="50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Allspaw.</a:t>
                      </a:r>
                      <a:r>
                        <a:rPr sz="550" spc="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Publisher:</a:t>
                      </a:r>
                      <a:r>
                        <a:rPr sz="550" spc="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IT</a:t>
                      </a:r>
                      <a:r>
                        <a:rPr sz="550" spc="2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Revolution</a:t>
                      </a:r>
                      <a:r>
                        <a:rPr sz="550" spc="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Press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 (October</a:t>
                      </a:r>
                      <a:r>
                        <a:rPr sz="550" spc="15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dirty="0">
                          <a:latin typeface="Segoe UI"/>
                          <a:cs typeface="Segoe UI"/>
                        </a:rPr>
                        <a:t>6,</a:t>
                      </a:r>
                      <a:r>
                        <a:rPr sz="550" spc="1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2016)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T="254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835"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550" spc="-25" dirty="0">
                          <a:latin typeface="Segoe UI"/>
                          <a:cs typeface="Segoe UI"/>
                        </a:rPr>
                        <a:t>R3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397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600" dirty="0">
                          <a:latin typeface="Segoe UI"/>
                          <a:cs typeface="Segoe UI"/>
                        </a:rPr>
                        <a:t>Web</a:t>
                      </a:r>
                      <a:r>
                        <a:rPr sz="600" spc="-40" dirty="0">
                          <a:latin typeface="Segoe UI"/>
                          <a:cs typeface="Segoe UI"/>
                        </a:rPr>
                        <a:t> </a:t>
                      </a:r>
                      <a:r>
                        <a:rPr sz="600" spc="-10" dirty="0">
                          <a:latin typeface="Segoe UI"/>
                          <a:cs typeface="Segoe UI"/>
                        </a:rPr>
                        <a:t>Resources</a:t>
                      </a:r>
                      <a:r>
                        <a:rPr sz="550" spc="-10" dirty="0">
                          <a:latin typeface="Segoe UI"/>
                          <a:cs typeface="Segoe UI"/>
                        </a:rPr>
                        <a:t>: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ct val="100000"/>
                        </a:lnSpc>
                        <a:spcBef>
                          <a:spcPts val="570"/>
                        </a:spcBef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sz="550" u="sng" spc="-10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2"/>
                        </a:rPr>
                        <a:t>https://jenkins.io/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ct val="100000"/>
                        </a:lnSpc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sz="550" u="sng" spc="-10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3"/>
                        </a:rPr>
                        <a:t>https://xebialabs.com/solutions/devops/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ct val="100000"/>
                        </a:lnSpc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sz="550" u="sng" spc="-10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4"/>
                        </a:rPr>
                        <a:t>https://www.ibm.com/ibm/devops/us/en/casestudies/#al</a:t>
                      </a:r>
                      <a:r>
                        <a:rPr sz="550" spc="-10" dirty="0">
                          <a:solidFill>
                            <a:srgbClr val="0462C1"/>
                          </a:solidFill>
                          <a:latin typeface="Segoe UI"/>
                          <a:cs typeface="Segoe UI"/>
                          <a:hlinkClick r:id="rId4"/>
                        </a:rPr>
                        <a:t>l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ct val="100000"/>
                        </a:lnSpc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sz="550" u="sng" spc="-10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5"/>
                        </a:rPr>
                        <a:t>https://git-scm.com/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ct val="100000"/>
                        </a:lnSpc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sz="550" u="sng" spc="-10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6"/>
                        </a:rPr>
                        <a:t>https://hub.docker.com/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ct val="100000"/>
                        </a:lnSpc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sz="550" u="sng" spc="-10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7"/>
                        </a:rPr>
                        <a:t>https://www.atlassian.com/git/tutorials/comparing-workflows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ts val="655"/>
                        </a:lnSpc>
                        <a:buClr>
                          <a:srgbClr val="000000"/>
                        </a:buClr>
                        <a:buAutoNum type="arabicParenR"/>
                        <a:tabLst>
                          <a:tab pos="184785" algn="l"/>
                        </a:tabLst>
                      </a:pPr>
                      <a:r>
                        <a:rPr sz="550" u="sng" spc="-10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Segoe UI"/>
                          <a:cs typeface="Segoe UI"/>
                          <a:hlinkClick r:id="rId8"/>
                        </a:rPr>
                        <a:t>https://www.tutorialspoint.com/puppet/</a:t>
                      </a:r>
                      <a:endParaRPr sz="550">
                        <a:latin typeface="Segoe UI"/>
                        <a:cs typeface="Segoe UI"/>
                      </a:endParaRPr>
                    </a:p>
                    <a:p>
                      <a:pPr marL="184785" indent="-170815">
                        <a:lnSpc>
                          <a:spcPts val="575"/>
                        </a:lnSpc>
                        <a:buAutoNum type="arabicParenR"/>
                        <a:tabLst>
                          <a:tab pos="184785" algn="l"/>
                        </a:tabLst>
                      </a:pPr>
                      <a:r>
                        <a:rPr sz="550" spc="-10" dirty="0">
                          <a:latin typeface="Segoe UI"/>
                          <a:cs typeface="Segoe UI"/>
                        </a:rPr>
                        <a:t>https:</a:t>
                      </a:r>
                      <a:r>
                        <a:rPr sz="550" spc="-10" dirty="0">
                          <a:latin typeface="Segoe UI"/>
                          <a:cs typeface="Segoe UI"/>
                          <a:hlinkClick r:id="rId9"/>
                        </a:rPr>
                        <a:t>//www.tutorialspoint.com/chef/</a:t>
                      </a:r>
                      <a:endParaRPr sz="550">
                        <a:latin typeface="Segoe UI"/>
                        <a:cs typeface="Segoe UI"/>
                      </a:endParaRPr>
                    </a:p>
                  </a:txBody>
                  <a:tcPr marL="0" marR="0" marT="317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16053" y="2111501"/>
            <a:ext cx="2537805" cy="149343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87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Module</a:t>
            </a:r>
            <a:r>
              <a:rPr sz="180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1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Why</a:t>
            </a:r>
            <a:r>
              <a:rPr sz="18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What</a:t>
            </a:r>
            <a:r>
              <a:rPr sz="18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18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DevOps?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6237" y="5757633"/>
            <a:ext cx="1918970" cy="2176145"/>
          </a:xfrm>
          <a:custGeom>
            <a:avLst/>
            <a:gdLst/>
            <a:ahLst/>
            <a:cxnLst/>
            <a:rect l="l" t="t" r="r" b="b"/>
            <a:pathLst>
              <a:path w="1918970" h="2176145">
                <a:moveTo>
                  <a:pt x="1918462" y="0"/>
                </a:moveTo>
                <a:lnTo>
                  <a:pt x="0" y="0"/>
                </a:lnTo>
                <a:lnTo>
                  <a:pt x="0" y="2175637"/>
                </a:lnTo>
                <a:lnTo>
                  <a:pt x="1918462" y="2175637"/>
                </a:lnTo>
                <a:lnTo>
                  <a:pt x="1918462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72083" y="5723001"/>
            <a:ext cx="11950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30" indent="-1130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13030" algn="l"/>
              </a:tabLst>
            </a:pP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RL1.1</a:t>
            </a:r>
            <a:r>
              <a:rPr sz="1000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Foundational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786383" y="5829680"/>
            <a:ext cx="15049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Terminology</a:t>
            </a: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 and</a:t>
            </a:r>
            <a:r>
              <a:rPr sz="1000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Concepts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2083" y="6089141"/>
            <a:ext cx="16363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30" indent="-1130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13030" algn="l"/>
              </a:tabLst>
            </a:pP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RL1.1.1</a:t>
            </a:r>
            <a:r>
              <a:rPr sz="10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Agile</a:t>
            </a:r>
            <a:r>
              <a:rPr sz="10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Methodology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2083" y="6241541"/>
            <a:ext cx="12160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30" indent="-1130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13030" algn="l"/>
              </a:tabLst>
            </a:pP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RL1.1.2</a:t>
            </a:r>
            <a:r>
              <a:rPr sz="1000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Operational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6383" y="6348222"/>
            <a:ext cx="11188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Methodologies:</a:t>
            </a:r>
            <a:r>
              <a:rPr sz="10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Segoe UI"/>
                <a:cs typeface="Segoe UI"/>
              </a:rPr>
              <a:t>ITIL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2083" y="6500622"/>
            <a:ext cx="14725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30" indent="-1130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13030" algn="l"/>
              </a:tabLst>
            </a:pP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RL</a:t>
            </a:r>
            <a:r>
              <a:rPr sz="1000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1.2</a:t>
            </a: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 Software</a:t>
            </a: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Delivery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2083" y="6759702"/>
            <a:ext cx="182498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30" indent="-1130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13030" algn="l"/>
              </a:tabLst>
            </a:pP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RL2.1.1</a:t>
            </a:r>
            <a:r>
              <a:rPr sz="1000" spc="-5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Problems</a:t>
            </a:r>
            <a:r>
              <a:rPr sz="10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of</a:t>
            </a:r>
            <a:r>
              <a:rPr sz="1000" spc="-5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Delivering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6383" y="6866381"/>
            <a:ext cx="5010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Software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2083" y="7018781"/>
            <a:ext cx="17970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3030" indent="-1130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13030" algn="l"/>
              </a:tabLst>
            </a:pP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RL</a:t>
            </a:r>
            <a:r>
              <a:rPr sz="10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2.1.2</a:t>
            </a:r>
            <a:r>
              <a:rPr sz="10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Principles</a:t>
            </a:r>
            <a:r>
              <a:rPr sz="1000" spc="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of</a:t>
            </a:r>
            <a:r>
              <a:rPr sz="10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Software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2083" y="7125461"/>
            <a:ext cx="1701800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3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Delivery</a:t>
            </a:r>
            <a:endParaRPr sz="1000">
              <a:latin typeface="Segoe UI"/>
              <a:cs typeface="Segoe UI"/>
            </a:endParaRPr>
          </a:p>
          <a:p>
            <a:pPr marL="113030" indent="-113030">
              <a:lnSpc>
                <a:spcPct val="100000"/>
              </a:lnSpc>
              <a:buFont typeface="Arial MT"/>
              <a:buChar char="•"/>
              <a:tabLst>
                <a:tab pos="113030" algn="l"/>
              </a:tabLst>
            </a:pP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RL</a:t>
            </a:r>
            <a:r>
              <a:rPr sz="10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1.3</a:t>
            </a:r>
            <a:r>
              <a:rPr sz="1000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About</a:t>
            </a:r>
            <a:r>
              <a:rPr sz="10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endParaRPr sz="1000">
              <a:latin typeface="Segoe UI"/>
              <a:cs typeface="Segoe UI"/>
            </a:endParaRPr>
          </a:p>
          <a:p>
            <a:pPr marL="113030" indent="-113030">
              <a:lnSpc>
                <a:spcPct val="100000"/>
              </a:lnSpc>
              <a:buFont typeface="Arial MT"/>
              <a:buChar char="•"/>
              <a:tabLst>
                <a:tab pos="113030" algn="l"/>
              </a:tabLst>
            </a:pP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RL2.2.1</a:t>
            </a:r>
            <a:r>
              <a:rPr sz="10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Need</a:t>
            </a: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for</a:t>
            </a:r>
            <a:r>
              <a:rPr sz="10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endParaRPr sz="1000">
              <a:latin typeface="Segoe UI"/>
              <a:cs typeface="Segoe UI"/>
            </a:endParaRPr>
          </a:p>
          <a:p>
            <a:pPr marL="112395" indent="-112395">
              <a:lnSpc>
                <a:spcPct val="100000"/>
              </a:lnSpc>
              <a:buFont typeface="Arial MT"/>
              <a:buChar char="•"/>
              <a:tabLst>
                <a:tab pos="112395" algn="l"/>
              </a:tabLst>
            </a:pP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RL2.2.2</a:t>
            </a:r>
            <a:r>
              <a:rPr sz="10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Evolution</a:t>
            </a:r>
            <a:r>
              <a:rPr sz="10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of</a:t>
            </a:r>
            <a:r>
              <a:rPr sz="10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endParaRPr sz="1000">
              <a:latin typeface="Segoe UI"/>
              <a:cs typeface="Segoe UI"/>
            </a:endParaRPr>
          </a:p>
          <a:p>
            <a:pPr marL="113030" indent="-113030">
              <a:lnSpc>
                <a:spcPct val="100000"/>
              </a:lnSpc>
              <a:buFont typeface="Arial MT"/>
              <a:buChar char="•"/>
              <a:tabLst>
                <a:tab pos="113030" algn="l"/>
              </a:tabLst>
            </a:pP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RL2.2.2</a:t>
            </a:r>
            <a:r>
              <a:rPr sz="1000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dirty="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r>
              <a:rPr sz="10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Segoe UI"/>
                <a:cs typeface="Segoe UI"/>
              </a:rPr>
              <a:t>Practices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33166" y="5757633"/>
            <a:ext cx="2917825" cy="2176145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59055" rIns="0" bIns="0" rtlCol="0">
            <a:spAutoFit/>
          </a:bodyPr>
          <a:lstStyle/>
          <a:p>
            <a:pPr marL="190500" indent="-144145">
              <a:lnSpc>
                <a:spcPct val="100000"/>
              </a:lnSpc>
              <a:spcBef>
                <a:spcPts val="465"/>
              </a:spcBef>
              <a:buFont typeface="Arial MT"/>
              <a:buChar char="•"/>
              <a:tabLst>
                <a:tab pos="190500" algn="l"/>
              </a:tabLst>
            </a:pPr>
            <a:r>
              <a:rPr sz="800" dirty="0">
                <a:solidFill>
                  <a:srgbClr val="FFFFFF"/>
                </a:solidFill>
                <a:latin typeface="Segoe UI"/>
                <a:cs typeface="Segoe UI"/>
              </a:rPr>
              <a:t>The</a:t>
            </a:r>
            <a:r>
              <a:rPr sz="800" spc="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Segoe UI"/>
                <a:cs typeface="Segoe UI"/>
              </a:rPr>
              <a:t>Waterfall</a:t>
            </a:r>
            <a:r>
              <a:rPr sz="800" spc="-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Segoe UI"/>
                <a:cs typeface="Segoe UI"/>
              </a:rPr>
              <a:t>approach</a:t>
            </a:r>
            <a:r>
              <a:rPr sz="800" spc="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Segoe UI"/>
                <a:cs typeface="Segoe UI"/>
              </a:rPr>
              <a:t>advantages</a:t>
            </a:r>
            <a:r>
              <a:rPr sz="800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FFFFFF"/>
                </a:solidFill>
                <a:latin typeface="Segoe UI"/>
                <a:cs typeface="Segoe UI"/>
              </a:rPr>
              <a:t>and</a:t>
            </a:r>
            <a:r>
              <a:rPr sz="800" spc="-10" dirty="0">
                <a:solidFill>
                  <a:srgbClr val="FFFFFF"/>
                </a:solidFill>
                <a:latin typeface="Segoe UI"/>
                <a:cs typeface="Segoe UI"/>
              </a:rPr>
              <a:t> disadvantages</a:t>
            </a:r>
            <a:endParaRPr sz="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05"/>
              </a:spcBef>
              <a:buClr>
                <a:srgbClr val="FFFFFF"/>
              </a:buClr>
              <a:buFont typeface="Arial MT"/>
              <a:buChar char="•"/>
            </a:pPr>
            <a:endParaRPr sz="800">
              <a:latin typeface="Segoe UI"/>
              <a:cs typeface="Segoe UI"/>
            </a:endParaRPr>
          </a:p>
          <a:p>
            <a:pPr marL="190500" indent="-14414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90500" algn="l"/>
              </a:tabLst>
            </a:pPr>
            <a:r>
              <a:rPr sz="800" spc="-10" dirty="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endParaRPr sz="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Arial MT"/>
              <a:buChar char="•"/>
            </a:pPr>
            <a:endParaRPr sz="800">
              <a:latin typeface="Segoe UI"/>
              <a:cs typeface="Segoe UI"/>
            </a:endParaRPr>
          </a:p>
          <a:p>
            <a:pPr marL="190500" indent="-144145">
              <a:lnSpc>
                <a:spcPct val="100000"/>
              </a:lnSpc>
              <a:buFont typeface="Arial MT"/>
              <a:buChar char="•"/>
              <a:tabLst>
                <a:tab pos="190500" algn="l"/>
              </a:tabLst>
            </a:pPr>
            <a:r>
              <a:rPr sz="800" dirty="0">
                <a:solidFill>
                  <a:srgbClr val="FFFFFF"/>
                </a:solidFill>
                <a:latin typeface="Segoe UI"/>
                <a:cs typeface="Segoe UI"/>
              </a:rPr>
              <a:t>Define</a:t>
            </a:r>
            <a:r>
              <a:rPr sz="8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FFFFFF"/>
                </a:solidFill>
                <a:latin typeface="Segoe UI"/>
                <a:cs typeface="Segoe UI"/>
              </a:rPr>
              <a:t>the</a:t>
            </a:r>
            <a:r>
              <a:rPr sz="8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FFFFFF"/>
                </a:solidFill>
                <a:latin typeface="Segoe UI"/>
                <a:cs typeface="Segoe UI"/>
              </a:rPr>
              <a:t>stages</a:t>
            </a:r>
            <a:r>
              <a:rPr sz="8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FFFFFF"/>
                </a:solidFill>
                <a:latin typeface="Segoe UI"/>
                <a:cs typeface="Segoe UI"/>
              </a:rPr>
              <a:t>of</a:t>
            </a:r>
            <a:r>
              <a:rPr sz="800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FFFFFF"/>
                </a:solidFill>
                <a:latin typeface="Segoe UI"/>
                <a:cs typeface="Segoe UI"/>
              </a:rPr>
              <a:t>a</a:t>
            </a:r>
            <a:r>
              <a:rPr sz="800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r>
              <a:rPr sz="8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Segoe UI"/>
                <a:cs typeface="Segoe UI"/>
              </a:rPr>
              <a:t>evolution</a:t>
            </a:r>
            <a:endParaRPr sz="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05"/>
              </a:spcBef>
              <a:buClr>
                <a:srgbClr val="FFFFFF"/>
              </a:buClr>
              <a:buFont typeface="Arial MT"/>
              <a:buChar char="•"/>
            </a:pPr>
            <a:endParaRPr sz="800">
              <a:latin typeface="Segoe UI"/>
              <a:cs typeface="Segoe UI"/>
            </a:endParaRPr>
          </a:p>
          <a:p>
            <a:pPr marL="190500" indent="-144145">
              <a:lnSpc>
                <a:spcPct val="100000"/>
              </a:lnSpc>
              <a:buFont typeface="Arial MT"/>
              <a:buChar char="•"/>
              <a:tabLst>
                <a:tab pos="190500" algn="l"/>
              </a:tabLst>
            </a:pPr>
            <a:r>
              <a:rPr sz="800" dirty="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r>
              <a:rPr sz="800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FFFFFF"/>
                </a:solidFill>
                <a:latin typeface="Segoe UI"/>
                <a:cs typeface="Segoe UI"/>
              </a:rPr>
              <a:t>practices</a:t>
            </a:r>
            <a:r>
              <a:rPr sz="8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FFFFFF"/>
                </a:solidFill>
                <a:latin typeface="Segoe UI"/>
                <a:cs typeface="Segoe UI"/>
              </a:rPr>
              <a:t>in</a:t>
            </a:r>
            <a:r>
              <a:rPr sz="8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Segoe UI"/>
                <a:cs typeface="Segoe UI"/>
              </a:rPr>
              <a:t>organizations</a:t>
            </a:r>
            <a:endParaRPr sz="800">
              <a:latin typeface="Segoe UI"/>
              <a:cs typeface="Segoe UI"/>
            </a:endParaRPr>
          </a:p>
          <a:p>
            <a:pPr marL="189230" marR="99060" indent="-143510">
              <a:lnSpc>
                <a:spcPct val="150000"/>
              </a:lnSpc>
              <a:spcBef>
                <a:spcPts val="890"/>
              </a:spcBef>
              <a:buFont typeface="Arial MT"/>
              <a:buChar char="•"/>
              <a:tabLst>
                <a:tab pos="189230" algn="l"/>
              </a:tabLst>
            </a:pPr>
            <a:r>
              <a:rPr sz="800" dirty="0">
                <a:solidFill>
                  <a:srgbClr val="FFFFFF"/>
                </a:solidFill>
                <a:latin typeface="Segoe UI"/>
                <a:cs typeface="Segoe UI"/>
              </a:rPr>
              <a:t>The </a:t>
            </a:r>
            <a:r>
              <a:rPr sz="800" spc="-10" dirty="0">
                <a:solidFill>
                  <a:srgbClr val="FFFFFF"/>
                </a:solidFill>
                <a:latin typeface="Segoe UI"/>
                <a:cs typeface="Segoe UI"/>
              </a:rPr>
              <a:t>Continuous</a:t>
            </a:r>
            <a:r>
              <a:rPr sz="8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FFFFFF"/>
                </a:solidFill>
                <a:latin typeface="Segoe UI"/>
                <a:cs typeface="Segoe UI"/>
              </a:rPr>
              <a:t>DevOps</a:t>
            </a:r>
            <a:r>
              <a:rPr sz="800" spc="-10" dirty="0">
                <a:solidFill>
                  <a:srgbClr val="FFFFFF"/>
                </a:solidFill>
                <a:latin typeface="Segoe UI"/>
                <a:cs typeface="Segoe UI"/>
              </a:rPr>
              <a:t> LifeCycle</a:t>
            </a:r>
            <a:r>
              <a:rPr sz="800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dirty="0">
                <a:solidFill>
                  <a:srgbClr val="FFFFFF"/>
                </a:solidFill>
                <a:latin typeface="Segoe UI"/>
                <a:cs typeface="Segoe UI"/>
              </a:rPr>
              <a:t>Process</a:t>
            </a:r>
            <a:r>
              <a:rPr sz="800" spc="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Segoe UI"/>
                <a:cs typeface="Segoe UI"/>
              </a:rPr>
              <a:t>(Continuous Integration,</a:t>
            </a:r>
            <a:r>
              <a:rPr sz="800" spc="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Segoe UI"/>
                <a:cs typeface="Segoe UI"/>
              </a:rPr>
              <a:t>Continuous</a:t>
            </a:r>
            <a:r>
              <a:rPr sz="800" spc="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Segoe UI"/>
                <a:cs typeface="Segoe UI"/>
              </a:rPr>
              <a:t>Inspection,</a:t>
            </a:r>
            <a:r>
              <a:rPr sz="800" spc="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Segoe UI"/>
                <a:cs typeface="Segoe UI"/>
              </a:rPr>
              <a:t>Continuous Deployment,</a:t>
            </a:r>
            <a:r>
              <a:rPr sz="800" spc="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Segoe UI"/>
                <a:cs typeface="Segoe UI"/>
              </a:rPr>
              <a:t>Continuous </a:t>
            </a:r>
            <a:r>
              <a:rPr sz="800" dirty="0">
                <a:solidFill>
                  <a:srgbClr val="FFFFFF"/>
                </a:solidFill>
                <a:latin typeface="Segoe UI"/>
                <a:cs typeface="Segoe UI"/>
              </a:rPr>
              <a:t>Delivery,</a:t>
            </a:r>
            <a:r>
              <a:rPr sz="800" spc="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Segoe UI"/>
                <a:cs typeface="Segoe UI"/>
              </a:rPr>
              <a:t>Continuous</a:t>
            </a:r>
            <a:r>
              <a:rPr sz="800" spc="-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Segoe UI"/>
                <a:cs typeface="Segoe UI"/>
              </a:rPr>
              <a:t>Monitoring)</a:t>
            </a:r>
            <a:endParaRPr sz="8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Clr>
                <a:srgbClr val="FFFFFF"/>
              </a:buClr>
              <a:buFont typeface="Arial MT"/>
              <a:buChar char="•"/>
            </a:pPr>
            <a:endParaRPr sz="800">
              <a:latin typeface="Segoe UI"/>
              <a:cs typeface="Segoe UI"/>
            </a:endParaRPr>
          </a:p>
          <a:p>
            <a:pPr marL="190500" indent="-14414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90500" algn="l"/>
              </a:tabLst>
            </a:pPr>
            <a:r>
              <a:rPr sz="800" dirty="0">
                <a:solidFill>
                  <a:srgbClr val="FFFFFF"/>
                </a:solidFill>
                <a:latin typeface="Segoe UI"/>
                <a:cs typeface="Segoe UI"/>
              </a:rPr>
              <a:t>Case</a:t>
            </a:r>
            <a:r>
              <a:rPr sz="800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Segoe UI"/>
                <a:cs typeface="Segoe UI"/>
              </a:rPr>
              <a:t>Study-</a:t>
            </a:r>
            <a:r>
              <a:rPr sz="8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Segoe UI"/>
                <a:cs typeface="Segoe UI"/>
              </a:rPr>
              <a:t>(IBM/Facebook/NetFlix)</a:t>
            </a:r>
            <a:endParaRPr sz="8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927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30"/>
              </a:spcBef>
            </a:pPr>
            <a:endParaRPr sz="16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  <a:spcBef>
                <a:spcPts val="5"/>
              </a:spcBef>
            </a:pPr>
            <a:r>
              <a:rPr sz="1600" spc="-105" dirty="0">
                <a:solidFill>
                  <a:srgbClr val="212121"/>
                </a:solidFill>
                <a:latin typeface="Arial Black"/>
                <a:cs typeface="Arial Black"/>
              </a:rPr>
              <a:t>Software</a:t>
            </a:r>
            <a:r>
              <a:rPr sz="1600" spc="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600" spc="-80" dirty="0">
                <a:solidFill>
                  <a:srgbClr val="212121"/>
                </a:solidFill>
                <a:latin typeface="Arial Black"/>
                <a:cs typeface="Arial Black"/>
              </a:rPr>
              <a:t>Development</a:t>
            </a:r>
            <a:r>
              <a:rPr sz="1600" spc="-3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600" spc="-95" dirty="0">
                <a:solidFill>
                  <a:srgbClr val="212121"/>
                </a:solidFill>
                <a:latin typeface="Arial Black"/>
                <a:cs typeface="Arial Black"/>
              </a:rPr>
              <a:t>Life</a:t>
            </a:r>
            <a:r>
              <a:rPr sz="1600" spc="-4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600" spc="-155" dirty="0">
                <a:solidFill>
                  <a:srgbClr val="212121"/>
                </a:solidFill>
                <a:latin typeface="Arial Black"/>
                <a:cs typeface="Arial Black"/>
              </a:rPr>
              <a:t>Cycle</a:t>
            </a:r>
            <a:r>
              <a:rPr sz="1600" spc="-2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600" dirty="0">
                <a:solidFill>
                  <a:srgbClr val="212121"/>
                </a:solidFill>
                <a:latin typeface="Tahoma"/>
                <a:cs typeface="Tahoma"/>
              </a:rPr>
              <a:t>(also called </a:t>
            </a:r>
            <a:r>
              <a:rPr sz="1600" spc="-10" dirty="0">
                <a:solidFill>
                  <a:srgbClr val="212121"/>
                </a:solidFill>
                <a:latin typeface="Tahoma"/>
                <a:cs typeface="Tahoma"/>
              </a:rPr>
              <a:t>SDLC)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0110" y="1703069"/>
            <a:ext cx="5382260" cy="190944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0" marR="380365" indent="-114300">
              <a:lnSpc>
                <a:spcPts val="1300"/>
              </a:lnSpc>
              <a:spcBef>
                <a:spcPts val="260"/>
              </a:spcBef>
              <a:buFont typeface="Arial MT"/>
              <a:buChar char="•"/>
              <a:tabLst>
                <a:tab pos="127000" algn="l"/>
              </a:tabLst>
            </a:pPr>
            <a:r>
              <a:rPr sz="1200" spc="-85" dirty="0">
                <a:solidFill>
                  <a:srgbClr val="212121"/>
                </a:solidFill>
                <a:latin typeface="Arial Black"/>
                <a:cs typeface="Arial Black"/>
              </a:rPr>
              <a:t>Software</a:t>
            </a:r>
            <a:r>
              <a:rPr sz="1200" spc="-1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Arial Black"/>
                <a:cs typeface="Arial Black"/>
              </a:rPr>
              <a:t>Development</a:t>
            </a:r>
            <a:r>
              <a:rPr sz="1200" spc="-1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Arial Black"/>
                <a:cs typeface="Arial Black"/>
              </a:rPr>
              <a:t>Life</a:t>
            </a:r>
            <a:r>
              <a:rPr sz="1200" spc="-2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200" spc="-114" dirty="0">
                <a:solidFill>
                  <a:srgbClr val="212121"/>
                </a:solidFill>
                <a:latin typeface="Arial Black"/>
                <a:cs typeface="Arial Black"/>
              </a:rPr>
              <a:t>Cycle</a:t>
            </a:r>
            <a:r>
              <a:rPr sz="1200" spc="-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Tahoma"/>
                <a:cs typeface="Tahoma"/>
              </a:rPr>
              <a:t>(SDLC)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 is</a:t>
            </a: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200" spc="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process</a:t>
            </a:r>
            <a:r>
              <a:rPr sz="1200" spc="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used</a:t>
            </a:r>
            <a:r>
              <a:rPr sz="12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by</a:t>
            </a:r>
            <a:r>
              <a:rPr sz="1200" spc="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Tahoma"/>
                <a:cs typeface="Tahoma"/>
              </a:rPr>
              <a:t>the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software</a:t>
            </a:r>
            <a:r>
              <a:rPr sz="1200" spc="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industry</a:t>
            </a:r>
            <a:r>
              <a:rPr sz="1200" spc="1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sz="1200" spc="1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design,</a:t>
            </a:r>
            <a:r>
              <a:rPr sz="1200" spc="1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develop</a:t>
            </a:r>
            <a:r>
              <a:rPr sz="1200" spc="1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1200" spc="11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test</a:t>
            </a:r>
            <a:r>
              <a:rPr sz="1200" spc="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high-quality</a:t>
            </a:r>
            <a:r>
              <a:rPr sz="1200" spc="1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Tahoma"/>
                <a:cs typeface="Tahoma"/>
              </a:rPr>
              <a:t>software’s.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buClr>
                <a:srgbClr val="212121"/>
              </a:buClr>
              <a:buFont typeface="Arial MT"/>
              <a:buChar char="•"/>
            </a:pPr>
            <a:endParaRPr sz="1200">
              <a:latin typeface="Tahoma"/>
              <a:cs typeface="Tahoma"/>
            </a:endParaRPr>
          </a:p>
          <a:p>
            <a:pPr marL="127000" marR="6985" indent="-114300" algn="just">
              <a:lnSpc>
                <a:spcPts val="1300"/>
              </a:lnSpc>
              <a:buFont typeface="Arial MT"/>
              <a:buChar char="•"/>
              <a:tabLst>
                <a:tab pos="127000" algn="l"/>
              </a:tabLst>
            </a:pP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200" spc="2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SDLC</a:t>
            </a:r>
            <a:r>
              <a:rPr sz="1200" spc="2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aims</a:t>
            </a:r>
            <a:r>
              <a:rPr sz="1200" spc="2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sz="1200" spc="25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45" dirty="0">
                <a:solidFill>
                  <a:srgbClr val="212121"/>
                </a:solidFill>
                <a:latin typeface="Tahoma"/>
                <a:cs typeface="Tahoma"/>
              </a:rPr>
              <a:t>produce</a:t>
            </a:r>
            <a:r>
              <a:rPr sz="1200" spc="2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high-quality</a:t>
            </a:r>
            <a:r>
              <a:rPr sz="1200" spc="2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software</a:t>
            </a:r>
            <a:r>
              <a:rPr sz="1200" spc="2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that</a:t>
            </a:r>
            <a:r>
              <a:rPr sz="1200" spc="2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meets</a:t>
            </a:r>
            <a:r>
              <a:rPr sz="1200" spc="2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Tahoma"/>
                <a:cs typeface="Tahoma"/>
              </a:rPr>
              <a:t>or</a:t>
            </a:r>
            <a:r>
              <a:rPr sz="1200" spc="2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Tahoma"/>
                <a:cs typeface="Tahoma"/>
              </a:rPr>
              <a:t>exceeds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customer</a:t>
            </a:r>
            <a:r>
              <a:rPr sz="1200" spc="220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expectations,</a:t>
            </a:r>
            <a:r>
              <a:rPr sz="1200" spc="229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reaches</a:t>
            </a:r>
            <a:r>
              <a:rPr sz="1200" spc="220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200" spc="45" dirty="0">
                <a:solidFill>
                  <a:srgbClr val="212121"/>
                </a:solidFill>
                <a:latin typeface="Tahoma"/>
                <a:cs typeface="Tahoma"/>
              </a:rPr>
              <a:t>completion</a:t>
            </a:r>
            <a:r>
              <a:rPr sz="1200" spc="215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within</a:t>
            </a:r>
            <a:r>
              <a:rPr sz="1200" spc="220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times</a:t>
            </a:r>
            <a:r>
              <a:rPr sz="1200" spc="225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200" spc="50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1200" spc="220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200" spc="-20" dirty="0">
                <a:solidFill>
                  <a:srgbClr val="212121"/>
                </a:solidFill>
                <a:latin typeface="Tahoma"/>
                <a:cs typeface="Tahoma"/>
              </a:rPr>
              <a:t>cost </a:t>
            </a:r>
            <a:r>
              <a:rPr sz="1200" spc="-10" dirty="0">
                <a:solidFill>
                  <a:srgbClr val="212121"/>
                </a:solidFill>
                <a:latin typeface="Tahoma"/>
                <a:cs typeface="Tahoma"/>
              </a:rPr>
              <a:t>estimates.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5"/>
              </a:spcBef>
              <a:buClr>
                <a:srgbClr val="212121"/>
              </a:buClr>
              <a:buFont typeface="Arial MT"/>
              <a:buChar char="•"/>
            </a:pPr>
            <a:endParaRPr sz="1200">
              <a:latin typeface="Tahoma"/>
              <a:cs typeface="Tahoma"/>
            </a:endParaRPr>
          </a:p>
          <a:p>
            <a:pPr marL="127000" marR="5080" indent="-114300" algn="just">
              <a:lnSpc>
                <a:spcPts val="1300"/>
              </a:lnSpc>
              <a:buFont typeface="Arial MT"/>
              <a:buChar char="•"/>
              <a:tabLst>
                <a:tab pos="127000" algn="l"/>
              </a:tabLst>
            </a:pP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System</a:t>
            </a:r>
            <a:r>
              <a:rPr sz="1200" spc="110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analysts</a:t>
            </a:r>
            <a:r>
              <a:rPr sz="1200" spc="114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can</a:t>
            </a:r>
            <a:r>
              <a:rPr sz="1200" spc="110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use</a:t>
            </a:r>
            <a:r>
              <a:rPr sz="1200" spc="114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it,</a:t>
            </a:r>
            <a:r>
              <a:rPr sz="1200" spc="110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designers</a:t>
            </a:r>
            <a:r>
              <a:rPr sz="1200" spc="125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200" spc="50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1200" spc="110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developers</a:t>
            </a:r>
            <a:r>
              <a:rPr sz="1200" spc="125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sz="1200" spc="114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plan</a:t>
            </a:r>
            <a:r>
              <a:rPr sz="1200" spc="110" dirty="0">
                <a:solidFill>
                  <a:srgbClr val="212121"/>
                </a:solidFill>
                <a:latin typeface="Tahoma"/>
                <a:cs typeface="Tahoma"/>
              </a:rPr>
              <a:t>  </a:t>
            </a:r>
            <a:r>
              <a:rPr sz="1200" spc="30" dirty="0">
                <a:solidFill>
                  <a:srgbClr val="212121"/>
                </a:solidFill>
                <a:latin typeface="Tahoma"/>
                <a:cs typeface="Tahoma"/>
              </a:rPr>
              <a:t>and </a:t>
            </a:r>
            <a:r>
              <a:rPr sz="1200" spc="50" dirty="0">
                <a:solidFill>
                  <a:srgbClr val="212121"/>
                </a:solidFill>
                <a:latin typeface="Tahoma"/>
                <a:cs typeface="Tahoma"/>
              </a:rPr>
              <a:t>implement</a:t>
            </a:r>
            <a:r>
              <a:rPr sz="1200" spc="1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200" spc="1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applications</a:t>
            </a:r>
            <a:r>
              <a:rPr sz="1200" spc="1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1200" spc="1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deliver</a:t>
            </a:r>
            <a:r>
              <a:rPr sz="1200" spc="1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200" spc="1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systems</a:t>
            </a:r>
            <a:r>
              <a:rPr sz="1200" spc="1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Tahoma"/>
                <a:cs typeface="Tahoma"/>
              </a:rPr>
              <a:t>or</a:t>
            </a:r>
            <a:r>
              <a:rPr sz="1200" spc="1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products</a:t>
            </a:r>
            <a:r>
              <a:rPr sz="1200" spc="1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Tahoma"/>
                <a:cs typeface="Tahoma"/>
              </a:rPr>
              <a:t>on</a:t>
            </a:r>
            <a:r>
              <a:rPr sz="1200" spc="1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212121"/>
                </a:solidFill>
                <a:latin typeface="Tahoma"/>
                <a:cs typeface="Tahoma"/>
              </a:rPr>
              <a:t>time </a:t>
            </a:r>
            <a:r>
              <a:rPr sz="1200" spc="50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1200" spc="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within</a:t>
            </a:r>
            <a:r>
              <a:rPr sz="12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Tahoma"/>
                <a:cs typeface="Tahoma"/>
              </a:rPr>
              <a:t>budget.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04976" y="4844796"/>
            <a:ext cx="5158105" cy="3378835"/>
            <a:chOff x="904976" y="4844796"/>
            <a:chExt cx="5158105" cy="33788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4976" y="6867029"/>
              <a:ext cx="5157597" cy="135610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8366" y="4844796"/>
              <a:ext cx="3763772" cy="211709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868616"/>
            <a:ext cx="6096000" cy="666750"/>
          </a:xfrm>
          <a:custGeom>
            <a:avLst/>
            <a:gdLst/>
            <a:ahLst/>
            <a:cxnLst/>
            <a:rect l="l" t="t" r="r" b="b"/>
            <a:pathLst>
              <a:path w="6096000" h="666750">
                <a:moveTo>
                  <a:pt x="6096000" y="0"/>
                </a:moveTo>
                <a:lnTo>
                  <a:pt x="0" y="0"/>
                </a:lnTo>
                <a:lnTo>
                  <a:pt x="0" y="666432"/>
                </a:lnTo>
                <a:lnTo>
                  <a:pt x="6096000" y="666432"/>
                </a:lnTo>
                <a:lnTo>
                  <a:pt x="6096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4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sz="1800" spc="-120" dirty="0">
                <a:solidFill>
                  <a:srgbClr val="212121"/>
                </a:solidFill>
                <a:latin typeface="Arial Black"/>
                <a:cs typeface="Arial Black"/>
              </a:rPr>
              <a:t>Project</a:t>
            </a:r>
            <a:r>
              <a:rPr sz="1800" spc="-11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Arial Black"/>
                <a:cs typeface="Arial Black"/>
              </a:rPr>
              <a:t>Initiation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6069" y="1582673"/>
            <a:ext cx="5789930" cy="2288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364" indent="-113664">
              <a:lnSpc>
                <a:spcPts val="1595"/>
              </a:lnSpc>
              <a:spcBef>
                <a:spcPts val="100"/>
              </a:spcBef>
              <a:buFont typeface="Arial MT"/>
              <a:buChar char="•"/>
              <a:tabLst>
                <a:tab pos="126364" algn="l"/>
              </a:tabLst>
            </a:pP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high-</a:t>
            </a:r>
            <a:r>
              <a:rPr sz="1400" dirty="0">
                <a:latin typeface="Segoe UI"/>
                <a:cs typeface="Segoe UI"/>
              </a:rPr>
              <a:t>level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scope,</a:t>
            </a:r>
            <a:r>
              <a:rPr sz="1400" spc="-6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problems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and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solutions</a:t>
            </a:r>
            <a:r>
              <a:rPr sz="1400" spc="-6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are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determined,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spc="-25" dirty="0">
                <a:latin typeface="Segoe UI"/>
                <a:cs typeface="Segoe UI"/>
              </a:rPr>
              <a:t>and</a:t>
            </a:r>
            <a:endParaRPr sz="1400">
              <a:latin typeface="Segoe UI"/>
              <a:cs typeface="Segoe UI"/>
            </a:endParaRPr>
          </a:p>
          <a:p>
            <a:pPr marL="127000">
              <a:lnSpc>
                <a:spcPts val="1595"/>
              </a:lnSpc>
            </a:pPr>
            <a:r>
              <a:rPr sz="1400" dirty="0">
                <a:latin typeface="Segoe UI"/>
                <a:cs typeface="Segoe UI"/>
              </a:rPr>
              <a:t>planning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is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carried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out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accordingly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for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other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stages.</a:t>
            </a:r>
            <a:endParaRPr sz="1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400">
              <a:latin typeface="Segoe UI"/>
              <a:cs typeface="Segoe UI"/>
            </a:endParaRPr>
          </a:p>
          <a:p>
            <a:pPr marL="126364" indent="-113664">
              <a:lnSpc>
                <a:spcPct val="100000"/>
              </a:lnSpc>
              <a:buFont typeface="Arial MT"/>
              <a:buChar char="•"/>
              <a:tabLst>
                <a:tab pos="126364" algn="l"/>
              </a:tabLst>
            </a:pPr>
            <a:r>
              <a:rPr sz="1400" dirty="0">
                <a:latin typeface="Segoe UI"/>
                <a:cs typeface="Segoe UI"/>
              </a:rPr>
              <a:t>Business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Analyst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Training</a:t>
            </a:r>
            <a:endParaRPr sz="1400">
              <a:latin typeface="Segoe UI"/>
              <a:cs typeface="Segoe UI"/>
            </a:endParaRPr>
          </a:p>
          <a:p>
            <a:pPr marL="125730" marR="5080" indent="-113664">
              <a:lnSpc>
                <a:spcPts val="1510"/>
              </a:lnSpc>
              <a:spcBef>
                <a:spcPts val="525"/>
              </a:spcBef>
              <a:buFont typeface="Arial MT"/>
              <a:buChar char="•"/>
              <a:tabLst>
                <a:tab pos="127000" algn="l"/>
              </a:tabLst>
            </a:pPr>
            <a:r>
              <a:rPr sz="1400" dirty="0">
                <a:latin typeface="Segoe UI"/>
                <a:cs typeface="Segoe UI"/>
              </a:rPr>
              <a:t>Other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components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that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are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be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considered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in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this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stage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are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Resources, 	</a:t>
            </a:r>
            <a:r>
              <a:rPr sz="1400" dirty="0">
                <a:latin typeface="Segoe UI"/>
                <a:cs typeface="Segoe UI"/>
              </a:rPr>
              <a:t>time/schedules,</a:t>
            </a:r>
            <a:r>
              <a:rPr sz="1400" spc="-7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milestones,</a:t>
            </a:r>
            <a:r>
              <a:rPr sz="1400" spc="-6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cost,</a:t>
            </a:r>
            <a:r>
              <a:rPr sz="1400" spc="-5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business</a:t>
            </a:r>
            <a:r>
              <a:rPr sz="1400" spc="-5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benefits</a:t>
            </a:r>
            <a:r>
              <a:rPr sz="1400" spc="-6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and</a:t>
            </a:r>
            <a:r>
              <a:rPr sz="1400" spc="-5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deadlines.</a:t>
            </a:r>
            <a:endParaRPr sz="14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40"/>
              </a:spcBef>
              <a:buFont typeface="Arial MT"/>
              <a:buChar char="•"/>
            </a:pPr>
            <a:endParaRPr sz="1400">
              <a:latin typeface="Segoe UI"/>
              <a:cs typeface="Segoe UI"/>
            </a:endParaRPr>
          </a:p>
          <a:p>
            <a:pPr marL="125730" marR="130175" indent="-113664">
              <a:lnSpc>
                <a:spcPct val="90100"/>
              </a:lnSpc>
              <a:buFont typeface="Arial MT"/>
              <a:buChar char="•"/>
              <a:tabLst>
                <a:tab pos="127000" algn="l"/>
              </a:tabLst>
            </a:pPr>
            <a:r>
              <a:rPr sz="1400" dirty="0">
                <a:latin typeface="Segoe UI"/>
                <a:cs typeface="Segoe UI"/>
              </a:rPr>
              <a:t>In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case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enhancements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existing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projects,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strengths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spc="-25" dirty="0">
                <a:latin typeface="Segoe UI"/>
                <a:cs typeface="Segoe UI"/>
              </a:rPr>
              <a:t>and 	</a:t>
            </a:r>
            <a:r>
              <a:rPr sz="1400" spc="-10" dirty="0">
                <a:latin typeface="Segoe UI"/>
                <a:cs typeface="Segoe UI"/>
              </a:rPr>
              <a:t>weaknesses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current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software</a:t>
            </a:r>
            <a:r>
              <a:rPr sz="1400" spc="-5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are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studied,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and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improvements 	</a:t>
            </a:r>
            <a:r>
              <a:rPr sz="1400" dirty="0">
                <a:latin typeface="Segoe UI"/>
                <a:cs typeface="Segoe UI"/>
              </a:rPr>
              <a:t>are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set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as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goal,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along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with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collected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requirements.</a:t>
            </a:r>
            <a:endParaRPr sz="1400">
              <a:latin typeface="Segoe UI"/>
              <a:cs typeface="Segoe U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2203" y="912558"/>
            <a:ext cx="2131949" cy="56051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81000" y="4844732"/>
            <a:ext cx="6096000" cy="3429635"/>
            <a:chOff x="381000" y="4844732"/>
            <a:chExt cx="6096000" cy="3429635"/>
          </a:xfrm>
        </p:grpSpPr>
        <p:sp>
          <p:nvSpPr>
            <p:cNvPr id="8" name="object 8"/>
            <p:cNvSpPr/>
            <p:nvPr/>
          </p:nvSpPr>
          <p:spPr>
            <a:xfrm>
              <a:off x="381000" y="4844732"/>
              <a:ext cx="6096000" cy="666750"/>
            </a:xfrm>
            <a:custGeom>
              <a:avLst/>
              <a:gdLst/>
              <a:ahLst/>
              <a:cxnLst/>
              <a:rect l="l" t="t" r="r" b="b"/>
              <a:pathLst>
                <a:path w="6096000" h="666750">
                  <a:moveTo>
                    <a:pt x="6096000" y="0"/>
                  </a:moveTo>
                  <a:lnTo>
                    <a:pt x="0" y="0"/>
                  </a:lnTo>
                  <a:lnTo>
                    <a:pt x="0" y="666432"/>
                  </a:lnTo>
                  <a:lnTo>
                    <a:pt x="6096000" y="666432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4888738"/>
              <a:ext cx="3544951" cy="338505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02659" y="4888674"/>
              <a:ext cx="2301366" cy="60509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036567" y="5565775"/>
            <a:ext cx="2238375" cy="1850389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0" marR="142240" indent="-114300" algn="just">
              <a:lnSpc>
                <a:spcPts val="969"/>
              </a:lnSpc>
              <a:spcBef>
                <a:spcPts val="225"/>
              </a:spcBef>
              <a:buClr>
                <a:srgbClr val="212121"/>
              </a:buClr>
              <a:buFont typeface="Arial MT"/>
              <a:buChar char="•"/>
              <a:tabLst>
                <a:tab pos="127000" algn="l"/>
              </a:tabLst>
            </a:pP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Business</a:t>
            </a:r>
            <a:r>
              <a:rPr sz="9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r>
              <a:rPr sz="9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are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gathered.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Meetings</a:t>
            </a:r>
            <a:r>
              <a:rPr sz="900" spc="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with</a:t>
            </a:r>
            <a:r>
              <a:rPr sz="900" spc="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project</a:t>
            </a:r>
            <a:r>
              <a:rPr sz="900" spc="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managers</a:t>
            </a:r>
            <a:r>
              <a:rPr sz="900" spc="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12121"/>
                </a:solidFill>
                <a:latin typeface="Tahoma"/>
                <a:cs typeface="Tahoma"/>
              </a:rPr>
              <a:t>and 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stakeholders.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Clr>
                <a:srgbClr val="212121"/>
              </a:buClr>
              <a:buFont typeface="Arial MT"/>
              <a:buChar char="•"/>
            </a:pPr>
            <a:endParaRPr sz="900">
              <a:latin typeface="Tahoma"/>
              <a:cs typeface="Tahoma"/>
            </a:endParaRPr>
          </a:p>
          <a:p>
            <a:pPr marL="126364" indent="-113664">
              <a:lnSpc>
                <a:spcPts val="1025"/>
              </a:lnSpc>
              <a:buFont typeface="Arial MT"/>
              <a:buChar char="•"/>
              <a:tabLst>
                <a:tab pos="126364" algn="l"/>
              </a:tabLst>
            </a:pP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Identify</a:t>
            </a:r>
            <a:endParaRPr sz="900">
              <a:latin typeface="Tahoma"/>
              <a:cs typeface="Tahoma"/>
            </a:endParaRPr>
          </a:p>
          <a:p>
            <a:pPr marL="198755" lvl="1" indent="-71755">
              <a:lnSpc>
                <a:spcPts val="969"/>
              </a:lnSpc>
              <a:buChar char="•"/>
              <a:tabLst>
                <a:tab pos="198755" algn="l"/>
              </a:tabLst>
            </a:pP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“Who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will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use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system”</a:t>
            </a:r>
            <a:endParaRPr sz="900">
              <a:latin typeface="Tahoma"/>
              <a:cs typeface="Tahoma"/>
            </a:endParaRPr>
          </a:p>
          <a:p>
            <a:pPr marL="198755" lvl="1" indent="-71755">
              <a:lnSpc>
                <a:spcPts val="969"/>
              </a:lnSpc>
              <a:buChar char="•"/>
              <a:tabLst>
                <a:tab pos="198755" algn="l"/>
              </a:tabLst>
            </a:pP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“How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system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should</a:t>
            </a:r>
            <a:r>
              <a:rPr sz="900" spc="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work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50" dirty="0">
                <a:solidFill>
                  <a:srgbClr val="212121"/>
                </a:solidFill>
                <a:latin typeface="Tahoma"/>
                <a:cs typeface="Tahoma"/>
              </a:rPr>
              <a:t>“</a:t>
            </a:r>
            <a:endParaRPr sz="900">
              <a:latin typeface="Tahoma"/>
              <a:cs typeface="Tahoma"/>
            </a:endParaRPr>
          </a:p>
          <a:p>
            <a:pPr marL="127000" marR="5080" lvl="1" indent="71755">
              <a:lnSpc>
                <a:spcPts val="969"/>
              </a:lnSpc>
              <a:spcBef>
                <a:spcPts val="70"/>
              </a:spcBef>
              <a:buChar char="•"/>
              <a:tabLst>
                <a:tab pos="198755" algn="l"/>
              </a:tabLst>
            </a:pP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“What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should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be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900" spc="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input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&amp;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output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12121"/>
                </a:solidFill>
                <a:latin typeface="Tahoma"/>
                <a:cs typeface="Tahoma"/>
              </a:rPr>
              <a:t>of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900" spc="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system”</a:t>
            </a:r>
            <a:endParaRPr sz="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95"/>
              </a:spcBef>
              <a:buClr>
                <a:srgbClr val="212121"/>
              </a:buClr>
              <a:buFont typeface="Tahoma"/>
              <a:buChar char="•"/>
            </a:pPr>
            <a:endParaRPr sz="900">
              <a:latin typeface="Tahoma"/>
              <a:cs typeface="Tahoma"/>
            </a:endParaRPr>
          </a:p>
          <a:p>
            <a:pPr marL="127000" marR="241300" indent="-114300">
              <a:lnSpc>
                <a:spcPct val="90100"/>
              </a:lnSpc>
              <a:buFont typeface="Arial MT"/>
              <a:buChar char="•"/>
              <a:tabLst>
                <a:tab pos="127000" algn="l"/>
              </a:tabLst>
            </a:pP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Analyze</a:t>
            </a:r>
            <a:r>
              <a:rPr sz="900" spc="-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r>
              <a:rPr sz="900" spc="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for validity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50" dirty="0">
                <a:solidFill>
                  <a:srgbClr val="212121"/>
                </a:solidFill>
                <a:latin typeface="Tahoma"/>
                <a:cs typeface="Tahoma"/>
              </a:rPr>
              <a:t>&amp;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incorporation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requirements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Finally,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prepare</a:t>
            </a:r>
            <a:r>
              <a:rPr sz="9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Requirement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specification</a:t>
            </a:r>
            <a:r>
              <a:rPr sz="900" spc="1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document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868616"/>
            <a:ext cx="6096000" cy="666750"/>
          </a:xfrm>
          <a:custGeom>
            <a:avLst/>
            <a:gdLst/>
            <a:ahLst/>
            <a:cxnLst/>
            <a:rect l="l" t="t" r="r" b="b"/>
            <a:pathLst>
              <a:path w="6096000" h="666750">
                <a:moveTo>
                  <a:pt x="6096000" y="0"/>
                </a:moveTo>
                <a:lnTo>
                  <a:pt x="0" y="0"/>
                </a:lnTo>
                <a:lnTo>
                  <a:pt x="0" y="666432"/>
                </a:lnTo>
                <a:lnTo>
                  <a:pt x="6096000" y="666432"/>
                </a:lnTo>
                <a:lnTo>
                  <a:pt x="6096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16381" y="1151381"/>
            <a:ext cx="2834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solidFill>
                  <a:srgbClr val="212121"/>
                </a:solidFill>
                <a:latin typeface="Arial Black"/>
                <a:cs typeface="Arial Black"/>
              </a:rPr>
              <a:t>Requirements</a:t>
            </a:r>
            <a:r>
              <a:rPr sz="1800" spc="-7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800" spc="-70" dirty="0">
                <a:solidFill>
                  <a:srgbClr val="212121"/>
                </a:solidFill>
                <a:latin typeface="Arial Black"/>
                <a:cs typeface="Arial Black"/>
              </a:rPr>
              <a:t>Gathering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6069" y="1587246"/>
            <a:ext cx="2714625" cy="1183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5730" indent="-113030">
              <a:lnSpc>
                <a:spcPts val="1140"/>
              </a:lnSpc>
              <a:spcBef>
                <a:spcPts val="95"/>
              </a:spcBef>
              <a:buFont typeface="Arial MT"/>
              <a:buChar char="•"/>
              <a:tabLst>
                <a:tab pos="125730" algn="l"/>
              </a:tabLst>
            </a:pP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000" spc="-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are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1000" spc="-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12121"/>
                </a:solidFill>
                <a:latin typeface="Tahoma"/>
                <a:cs typeface="Tahoma"/>
              </a:rPr>
              <a:t>type:</a:t>
            </a:r>
            <a:endParaRPr sz="1000">
              <a:latin typeface="Tahoma"/>
              <a:cs typeface="Tahoma"/>
            </a:endParaRPr>
          </a:p>
          <a:p>
            <a:pPr marL="207010" lvl="1" indent="-80010">
              <a:lnSpc>
                <a:spcPts val="1080"/>
              </a:lnSpc>
              <a:buChar char="•"/>
              <a:tabLst>
                <a:tab pos="207010" algn="l"/>
              </a:tabLst>
            </a:pP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Functional</a:t>
            </a:r>
            <a:r>
              <a:rPr sz="1000" spc="1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endParaRPr sz="1000">
              <a:latin typeface="Tahoma"/>
              <a:cs typeface="Tahoma"/>
            </a:endParaRPr>
          </a:p>
          <a:p>
            <a:pPr marL="207010" lvl="1" indent="-80010">
              <a:lnSpc>
                <a:spcPts val="1140"/>
              </a:lnSpc>
              <a:buChar char="•"/>
              <a:tabLst>
                <a:tab pos="207010" algn="l"/>
              </a:tabLst>
            </a:pP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Non-functional</a:t>
            </a:r>
            <a:r>
              <a:rPr sz="1000" spc="2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endParaRPr sz="10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220"/>
              </a:spcBef>
              <a:buClr>
                <a:srgbClr val="212121"/>
              </a:buClr>
              <a:buFont typeface="Tahoma"/>
              <a:buChar char="•"/>
            </a:pPr>
            <a:endParaRPr sz="1000">
              <a:latin typeface="Tahoma"/>
              <a:cs typeface="Tahoma"/>
            </a:endParaRPr>
          </a:p>
          <a:p>
            <a:pPr marL="125095" marR="5080" indent="-113030">
              <a:lnSpc>
                <a:spcPct val="90300"/>
              </a:lnSpc>
              <a:buFont typeface="Arial MT"/>
              <a:buChar char="•"/>
              <a:tabLst>
                <a:tab pos="127000" algn="l"/>
              </a:tabLst>
            </a:pP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000" spc="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end-user</a:t>
            </a:r>
            <a:r>
              <a:rPr sz="1000" spc="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r>
              <a:rPr sz="10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from</a:t>
            </a:r>
            <a:r>
              <a:rPr sz="1000" spc="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212121"/>
                </a:solidFill>
                <a:latin typeface="Tahoma"/>
                <a:cs typeface="Tahoma"/>
              </a:rPr>
              <a:t>the 	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customer</a:t>
            </a:r>
            <a:r>
              <a:rPr sz="1000" spc="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1000" spc="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other</a:t>
            </a:r>
            <a:r>
              <a:rPr sz="1000" spc="1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stakeholders 	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(salespeople,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domain/industry</a:t>
            </a:r>
            <a:r>
              <a:rPr sz="10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experts,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12121"/>
                </a:solidFill>
                <a:latin typeface="Tahoma"/>
                <a:cs typeface="Tahoma"/>
              </a:rPr>
              <a:t>etc.) 	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are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collected.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428110" y="1562100"/>
            <a:ext cx="3049270" cy="1892935"/>
          </a:xfrm>
          <a:custGeom>
            <a:avLst/>
            <a:gdLst/>
            <a:ahLst/>
            <a:cxnLst/>
            <a:rect l="l" t="t" r="r" b="b"/>
            <a:pathLst>
              <a:path w="3049270" h="1892935">
                <a:moveTo>
                  <a:pt x="3048889" y="0"/>
                </a:moveTo>
                <a:lnTo>
                  <a:pt x="0" y="0"/>
                </a:lnTo>
                <a:lnTo>
                  <a:pt x="0" y="1892808"/>
                </a:lnTo>
                <a:lnTo>
                  <a:pt x="3048889" y="1892808"/>
                </a:lnTo>
                <a:lnTo>
                  <a:pt x="3048889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62020" y="1564893"/>
            <a:ext cx="2788920" cy="18561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85"/>
              </a:spcBef>
            </a:pP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r>
              <a:rPr sz="1000" spc="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are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gathered</a:t>
            </a:r>
            <a:r>
              <a:rPr sz="10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using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following techniques:</a:t>
            </a:r>
            <a:endParaRPr sz="1000">
              <a:latin typeface="Tahoma"/>
              <a:cs typeface="Tahoma"/>
            </a:endParaRPr>
          </a:p>
          <a:p>
            <a:pPr marL="92710" indent="-80010">
              <a:lnSpc>
                <a:spcPct val="100000"/>
              </a:lnSpc>
              <a:buChar char="•"/>
              <a:tabLst>
                <a:tab pos="92710" algn="l"/>
              </a:tabLst>
            </a:pP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By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conducting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Interviews</a:t>
            </a:r>
            <a:endParaRPr sz="1000">
              <a:latin typeface="Tahoma"/>
              <a:cs typeface="Tahoma"/>
            </a:endParaRPr>
          </a:p>
          <a:p>
            <a:pPr marL="92710" indent="-80010">
              <a:lnSpc>
                <a:spcPct val="100000"/>
              </a:lnSpc>
              <a:buChar char="•"/>
              <a:tabLst>
                <a:tab pos="92710" algn="l"/>
              </a:tabLst>
            </a:pP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By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conducting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Workshops</a:t>
            </a:r>
            <a:endParaRPr sz="1000">
              <a:latin typeface="Tahoma"/>
              <a:cs typeface="Tahoma"/>
            </a:endParaRPr>
          </a:p>
          <a:p>
            <a:pPr marL="92710" indent="-80010">
              <a:lnSpc>
                <a:spcPct val="100000"/>
              </a:lnSpc>
              <a:buChar char="•"/>
              <a:tabLst>
                <a:tab pos="92710" algn="l"/>
              </a:tabLst>
            </a:pP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By</a:t>
            </a:r>
            <a:r>
              <a:rPr sz="1000" spc="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conducting</a:t>
            </a:r>
            <a:r>
              <a:rPr sz="10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Surveys</a:t>
            </a:r>
            <a:r>
              <a:rPr sz="1000" spc="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10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1000" spc="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questionnaires</a:t>
            </a:r>
            <a:endParaRPr sz="1000">
              <a:latin typeface="Tahoma"/>
              <a:cs typeface="Tahoma"/>
            </a:endParaRPr>
          </a:p>
          <a:p>
            <a:pPr marL="92710" indent="-80010">
              <a:lnSpc>
                <a:spcPct val="100000"/>
              </a:lnSpc>
              <a:buChar char="•"/>
              <a:tabLst>
                <a:tab pos="92710" algn="l"/>
              </a:tabLst>
            </a:pP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Focus</a:t>
            </a:r>
            <a:r>
              <a:rPr sz="10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Groups</a:t>
            </a:r>
            <a:endParaRPr sz="1000">
              <a:latin typeface="Tahoma"/>
              <a:cs typeface="Tahoma"/>
            </a:endParaRPr>
          </a:p>
          <a:p>
            <a:pPr marL="92710" indent="-80010">
              <a:lnSpc>
                <a:spcPct val="100000"/>
              </a:lnSpc>
              <a:buChar char="•"/>
              <a:tabLst>
                <a:tab pos="92710" algn="l"/>
              </a:tabLst>
            </a:pP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Observations</a:t>
            </a:r>
            <a:r>
              <a:rPr sz="1000" spc="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212121"/>
                </a:solidFill>
                <a:latin typeface="Tahoma"/>
                <a:cs typeface="Tahoma"/>
              </a:rPr>
              <a:t>/</a:t>
            </a:r>
            <a:r>
              <a:rPr sz="1000" spc="11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time</a:t>
            </a:r>
            <a:r>
              <a:rPr sz="1000" spc="1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12121"/>
                </a:solidFill>
                <a:latin typeface="Tahoma"/>
                <a:cs typeface="Tahoma"/>
              </a:rPr>
              <a:t>study</a:t>
            </a:r>
            <a:endParaRPr sz="1000">
              <a:latin typeface="Tahoma"/>
              <a:cs typeface="Tahoma"/>
            </a:endParaRPr>
          </a:p>
          <a:p>
            <a:pPr marL="92710" indent="-80010">
              <a:lnSpc>
                <a:spcPts val="1195"/>
              </a:lnSpc>
              <a:buChar char="•"/>
              <a:tabLst>
                <a:tab pos="92710" algn="l"/>
              </a:tabLst>
            </a:pP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By</a:t>
            </a:r>
            <a:r>
              <a:rPr sz="1000" spc="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conducting</a:t>
            </a:r>
            <a:r>
              <a:rPr sz="10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20" dirty="0">
                <a:solidFill>
                  <a:srgbClr val="212121"/>
                </a:solidFill>
                <a:latin typeface="Tahoma"/>
                <a:cs typeface="Tahoma"/>
              </a:rPr>
              <a:t>Brainstorming</a:t>
            </a:r>
            <a:r>
              <a:rPr sz="10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Sessions</a:t>
            </a:r>
            <a:endParaRPr sz="1000">
              <a:latin typeface="Tahoma"/>
              <a:cs typeface="Tahoma"/>
            </a:endParaRPr>
          </a:p>
          <a:p>
            <a:pPr marL="92710" indent="-80010">
              <a:lnSpc>
                <a:spcPts val="1195"/>
              </a:lnSpc>
              <a:buChar char="•"/>
              <a:tabLst>
                <a:tab pos="92710" algn="l"/>
              </a:tabLst>
            </a:pP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Document</a:t>
            </a:r>
            <a:r>
              <a:rPr sz="1000" spc="1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12121"/>
                </a:solidFill>
                <a:latin typeface="Tahoma"/>
                <a:cs typeface="Tahoma"/>
              </a:rPr>
              <a:t>Analysis</a:t>
            </a:r>
            <a:r>
              <a:rPr sz="1000" spc="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212121"/>
                </a:solidFill>
                <a:latin typeface="Tahoma"/>
                <a:cs typeface="Tahoma"/>
              </a:rPr>
              <a:t>(Ex:</a:t>
            </a:r>
            <a:r>
              <a:rPr sz="1000" spc="1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Regulatory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requirements)</a:t>
            </a:r>
            <a:endParaRPr sz="1000">
              <a:latin typeface="Tahoma"/>
              <a:cs typeface="Tahoma"/>
            </a:endParaRPr>
          </a:p>
          <a:p>
            <a:pPr marL="92710" indent="-80010">
              <a:lnSpc>
                <a:spcPct val="100000"/>
              </a:lnSpc>
              <a:buChar char="•"/>
              <a:tabLst>
                <a:tab pos="92710" algn="l"/>
              </a:tabLst>
            </a:pPr>
            <a:r>
              <a:rPr sz="1000" spc="60" dirty="0">
                <a:solidFill>
                  <a:srgbClr val="212121"/>
                </a:solidFill>
                <a:latin typeface="Tahoma"/>
                <a:cs typeface="Tahoma"/>
              </a:rPr>
              <a:t>Mind</a:t>
            </a:r>
            <a:r>
              <a:rPr sz="1000" spc="-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Mapping</a:t>
            </a:r>
            <a:endParaRPr sz="1000">
              <a:latin typeface="Tahoma"/>
              <a:cs typeface="Tahoma"/>
            </a:endParaRPr>
          </a:p>
          <a:p>
            <a:pPr marL="92710" indent="-80010">
              <a:lnSpc>
                <a:spcPct val="100000"/>
              </a:lnSpc>
              <a:buChar char="•"/>
              <a:tabLst>
                <a:tab pos="92710" algn="l"/>
              </a:tabLst>
            </a:pPr>
            <a:r>
              <a:rPr sz="1000" spc="-10" dirty="0">
                <a:solidFill>
                  <a:srgbClr val="212121"/>
                </a:solidFill>
                <a:latin typeface="Tahoma"/>
                <a:cs typeface="Tahoma"/>
              </a:rPr>
              <a:t>Benchmarks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2659" y="912558"/>
            <a:ext cx="2301366" cy="60509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81000" y="4844732"/>
            <a:ext cx="6096000" cy="666750"/>
          </a:xfrm>
          <a:custGeom>
            <a:avLst/>
            <a:gdLst/>
            <a:ahLst/>
            <a:cxnLst/>
            <a:rect l="l" t="t" r="r" b="b"/>
            <a:pathLst>
              <a:path w="6096000" h="666750">
                <a:moveTo>
                  <a:pt x="6096000" y="0"/>
                </a:moveTo>
                <a:lnTo>
                  <a:pt x="0" y="0"/>
                </a:lnTo>
                <a:lnTo>
                  <a:pt x="0" y="666432"/>
                </a:lnTo>
                <a:lnTo>
                  <a:pt x="6096000" y="666432"/>
                </a:lnTo>
                <a:lnTo>
                  <a:pt x="6096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sz="1800" spc="-10" dirty="0">
                <a:solidFill>
                  <a:srgbClr val="212121"/>
                </a:solidFill>
                <a:latin typeface="Arial Black"/>
                <a:cs typeface="Arial Black"/>
              </a:rPr>
              <a:t>Analysis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8769" y="5558154"/>
            <a:ext cx="5690870" cy="163703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14300" marR="75565" indent="-114935">
              <a:lnSpc>
                <a:spcPts val="1300"/>
              </a:lnSpc>
              <a:spcBef>
                <a:spcPts val="260"/>
              </a:spcBef>
              <a:buFont typeface="Arial MT"/>
              <a:buChar char="•"/>
              <a:tabLst>
                <a:tab pos="114300" algn="l"/>
              </a:tabLst>
            </a:pP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2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Analysis</a:t>
            </a:r>
            <a:r>
              <a:rPr sz="1200" spc="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Phase</a:t>
            </a:r>
            <a:r>
              <a:rPr sz="1200" spc="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sz="1200" spc="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where</a:t>
            </a:r>
            <a:r>
              <a:rPr sz="12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you</a:t>
            </a:r>
            <a:r>
              <a:rPr sz="1200" spc="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break</a:t>
            </a:r>
            <a:r>
              <a:rPr sz="12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Tahoma"/>
                <a:cs typeface="Tahoma"/>
              </a:rPr>
              <a:t>down</a:t>
            </a:r>
            <a:r>
              <a:rPr sz="12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2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deliverables</a:t>
            </a:r>
            <a:r>
              <a:rPr sz="1200" spc="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sz="12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2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high-</a:t>
            </a:r>
            <a:r>
              <a:rPr sz="1200" spc="-10" dirty="0">
                <a:solidFill>
                  <a:srgbClr val="212121"/>
                </a:solidFill>
                <a:latin typeface="Tahoma"/>
                <a:cs typeface="Tahoma"/>
              </a:rPr>
              <a:t>level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Project</a:t>
            </a:r>
            <a:r>
              <a:rPr sz="1200" spc="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Charter</a:t>
            </a:r>
            <a:r>
              <a:rPr sz="1200" spc="1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into</a:t>
            </a:r>
            <a:r>
              <a:rPr sz="1200" spc="1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200" spc="1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Tahoma"/>
                <a:cs typeface="Tahoma"/>
              </a:rPr>
              <a:t>more</a:t>
            </a:r>
            <a:r>
              <a:rPr sz="1200" spc="1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detailed</a:t>
            </a:r>
            <a:r>
              <a:rPr sz="1200" spc="1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business</a:t>
            </a:r>
            <a:r>
              <a:rPr sz="1200" spc="1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Tahoma"/>
                <a:cs typeface="Tahoma"/>
              </a:rPr>
              <a:t>requirements.</a:t>
            </a:r>
            <a:endParaRPr sz="1200">
              <a:latin typeface="Tahoma"/>
              <a:cs typeface="Tahoma"/>
            </a:endParaRPr>
          </a:p>
          <a:p>
            <a:pPr marL="114300" marR="116205" indent="-114935">
              <a:lnSpc>
                <a:spcPts val="1300"/>
              </a:lnSpc>
              <a:spcBef>
                <a:spcPts val="425"/>
              </a:spcBef>
              <a:buFont typeface="Arial MT"/>
              <a:buChar char="•"/>
              <a:tabLst>
                <a:tab pos="114300" algn="l"/>
                <a:tab pos="154305" algn="l"/>
              </a:tabLst>
            </a:pP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	A</a:t>
            </a:r>
            <a:r>
              <a:rPr sz="1200" spc="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Software</a:t>
            </a:r>
            <a:r>
              <a:rPr sz="12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Requirement</a:t>
            </a:r>
            <a:r>
              <a:rPr sz="1200" spc="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Specification</a:t>
            </a:r>
            <a:r>
              <a:rPr sz="1200" spc="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Tahoma"/>
                <a:cs typeface="Tahoma"/>
              </a:rPr>
              <a:t>(SRS)</a:t>
            </a:r>
            <a:r>
              <a:rPr sz="1200" spc="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Tahoma"/>
                <a:cs typeface="Tahoma"/>
              </a:rPr>
              <a:t>document</a:t>
            </a:r>
            <a:r>
              <a:rPr sz="1200" spc="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sz="1200" spc="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used</a:t>
            </a:r>
            <a:r>
              <a:rPr sz="1200" spc="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sz="1200" spc="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200" spc="10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Tahoma"/>
                <a:cs typeface="Tahoma"/>
              </a:rPr>
              <a:t>analysis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phase,</a:t>
            </a:r>
            <a:r>
              <a:rPr sz="1200" spc="11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which</a:t>
            </a:r>
            <a:r>
              <a:rPr sz="1200" spc="11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specifies</a:t>
            </a:r>
            <a:r>
              <a:rPr sz="1200" spc="1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1200" spc="12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software,</a:t>
            </a:r>
            <a:r>
              <a:rPr sz="1200" spc="9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hardware,</a:t>
            </a:r>
            <a:r>
              <a:rPr sz="1200" spc="9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functional,</a:t>
            </a:r>
            <a:r>
              <a:rPr sz="1200" spc="1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1200" spc="114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Tahoma"/>
                <a:cs typeface="Tahoma"/>
              </a:rPr>
              <a:t>network </a:t>
            </a:r>
            <a:r>
              <a:rPr sz="1200" spc="20" dirty="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r>
              <a:rPr sz="12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Tahoma"/>
                <a:cs typeface="Tahoma"/>
              </a:rPr>
              <a:t>the system</a:t>
            </a:r>
            <a:r>
              <a:rPr sz="1200" spc="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Tahoma"/>
                <a:cs typeface="Tahoma"/>
              </a:rPr>
              <a:t>is prepared</a:t>
            </a:r>
            <a:r>
              <a:rPr sz="1200" spc="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Tahoma"/>
                <a:cs typeface="Tahoma"/>
              </a:rPr>
              <a:t>at</a:t>
            </a:r>
            <a:r>
              <a:rPr sz="1200" spc="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Tahoma"/>
                <a:cs typeface="Tahoma"/>
              </a:rPr>
              <a:t>the end</a:t>
            </a:r>
            <a:r>
              <a:rPr sz="1200" spc="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Tahoma"/>
                <a:cs typeface="Tahoma"/>
              </a:rPr>
              <a:t>of this </a:t>
            </a:r>
            <a:r>
              <a:rPr sz="1200" spc="-10" dirty="0">
                <a:solidFill>
                  <a:srgbClr val="212121"/>
                </a:solidFill>
                <a:latin typeface="Tahoma"/>
                <a:cs typeface="Tahoma"/>
              </a:rPr>
              <a:t>phase.</a:t>
            </a:r>
            <a:endParaRPr sz="1200">
              <a:latin typeface="Tahoma"/>
              <a:cs typeface="Tahoma"/>
            </a:endParaRPr>
          </a:p>
          <a:p>
            <a:pPr>
              <a:lnSpc>
                <a:spcPts val="1350"/>
              </a:lnSpc>
              <a:spcBef>
                <a:spcPts val="295"/>
              </a:spcBef>
            </a:pPr>
            <a:r>
              <a:rPr sz="1200" spc="-50" dirty="0"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  <a:p>
            <a:pPr marL="114300" lvl="1" indent="97155">
              <a:lnSpc>
                <a:spcPct val="90500"/>
              </a:lnSpc>
              <a:spcBef>
                <a:spcPts val="45"/>
              </a:spcBef>
              <a:buChar char="•"/>
              <a:tabLst>
                <a:tab pos="211454" algn="l"/>
              </a:tabLst>
            </a:pPr>
            <a:r>
              <a:rPr sz="1200" spc="-35" dirty="0">
                <a:solidFill>
                  <a:srgbClr val="212121"/>
                </a:solidFill>
                <a:latin typeface="Tahoma"/>
                <a:cs typeface="Tahoma"/>
              </a:rPr>
              <a:t>In</a:t>
            </a:r>
            <a:r>
              <a:rPr sz="1200" spc="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this,</a:t>
            </a:r>
            <a:r>
              <a:rPr sz="1200" spc="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every</a:t>
            </a:r>
            <a:r>
              <a:rPr sz="12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achievable</a:t>
            </a:r>
            <a:r>
              <a:rPr sz="1200" spc="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requirement</a:t>
            </a:r>
            <a:r>
              <a:rPr sz="1200" spc="1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sz="1200" spc="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anlyzed</a:t>
            </a:r>
            <a:r>
              <a:rPr sz="1200" spc="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12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45" dirty="0">
                <a:solidFill>
                  <a:srgbClr val="212121"/>
                </a:solidFill>
                <a:latin typeface="Tahoma"/>
                <a:cs typeface="Tahoma"/>
              </a:rPr>
              <a:t>documented</a:t>
            </a:r>
            <a:r>
              <a:rPr sz="1200" spc="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as</a:t>
            </a:r>
            <a:r>
              <a:rPr sz="1200" spc="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Tahoma"/>
                <a:cs typeface="Tahoma"/>
              </a:rPr>
              <a:t>Software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r>
              <a:rPr sz="1200" spc="26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Specifications</a:t>
            </a:r>
            <a:r>
              <a:rPr sz="1200" spc="229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Tahoma"/>
                <a:cs typeface="Tahoma"/>
              </a:rPr>
              <a:t>(SRS)</a:t>
            </a:r>
            <a:r>
              <a:rPr sz="1200" spc="18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Tahoma"/>
                <a:cs typeface="Tahoma"/>
              </a:rPr>
              <a:t>or</a:t>
            </a:r>
            <a:r>
              <a:rPr sz="1200" spc="2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Functional</a:t>
            </a:r>
            <a:r>
              <a:rPr sz="1200" spc="2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r>
              <a:rPr sz="1200" spc="2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Tahoma"/>
                <a:cs typeface="Tahoma"/>
              </a:rPr>
              <a:t>Specifications (FRS).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2659" y="4888674"/>
            <a:ext cx="2301366" cy="605091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868616"/>
            <a:ext cx="6096000" cy="666750"/>
          </a:xfrm>
          <a:custGeom>
            <a:avLst/>
            <a:gdLst/>
            <a:ahLst/>
            <a:cxnLst/>
            <a:rect l="l" t="t" r="r" b="b"/>
            <a:pathLst>
              <a:path w="6096000" h="666750">
                <a:moveTo>
                  <a:pt x="6096000" y="0"/>
                </a:moveTo>
                <a:lnTo>
                  <a:pt x="0" y="0"/>
                </a:lnTo>
                <a:lnTo>
                  <a:pt x="0" y="666432"/>
                </a:lnTo>
                <a:lnTo>
                  <a:pt x="6096000" y="666432"/>
                </a:lnTo>
                <a:lnTo>
                  <a:pt x="6096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4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sz="1800" spc="-140" dirty="0">
                <a:solidFill>
                  <a:srgbClr val="212121"/>
                </a:solidFill>
                <a:latin typeface="Arial Black"/>
                <a:cs typeface="Arial Black"/>
              </a:rPr>
              <a:t>System</a:t>
            </a:r>
            <a:r>
              <a:rPr sz="1800" spc="-9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1800" spc="-10" dirty="0">
                <a:solidFill>
                  <a:srgbClr val="212121"/>
                </a:solidFill>
                <a:latin typeface="Arial Black"/>
                <a:cs typeface="Arial Black"/>
              </a:rPr>
              <a:t>Design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6069" y="1549522"/>
            <a:ext cx="5817870" cy="117792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0" indent="-114300">
              <a:lnSpc>
                <a:spcPct val="100000"/>
              </a:lnSpc>
              <a:spcBef>
                <a:spcPts val="385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Arial MT"/>
                <a:cs typeface="Arial MT"/>
              </a:rPr>
              <a:t>•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This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stage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which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stated,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“How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achieve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what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needed?”</a:t>
            </a:r>
            <a:endParaRPr sz="1200">
              <a:latin typeface="Arial MT"/>
              <a:cs typeface="Arial MT"/>
            </a:endParaRPr>
          </a:p>
          <a:p>
            <a:pPr marL="127000" marR="5080" indent="-114935">
              <a:lnSpc>
                <a:spcPts val="1300"/>
              </a:lnSpc>
              <a:spcBef>
                <a:spcPts val="445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Arial MT"/>
                <a:cs typeface="Arial MT"/>
              </a:rPr>
              <a:t>•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Software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Requirements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Specifications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(SRS)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are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now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transformed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system </a:t>
            </a:r>
            <a:r>
              <a:rPr sz="1200" dirty="0">
                <a:latin typeface="Arial MT"/>
                <a:cs typeface="Arial MT"/>
              </a:rPr>
              <a:t>design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plan,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which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contains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detailed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complete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specifications,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commonly </a:t>
            </a:r>
            <a:r>
              <a:rPr sz="1200" dirty="0">
                <a:latin typeface="Arial MT"/>
                <a:cs typeface="Arial MT"/>
              </a:rPr>
              <a:t>known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“Design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Specification”.</a:t>
            </a:r>
            <a:endParaRPr sz="1200">
              <a:latin typeface="Arial MT"/>
              <a:cs typeface="Arial MT"/>
            </a:endParaRPr>
          </a:p>
          <a:p>
            <a:pPr marL="127000" marR="303530" indent="-114935">
              <a:lnSpc>
                <a:spcPts val="1300"/>
              </a:lnSpc>
              <a:spcBef>
                <a:spcPts val="425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Arial MT"/>
                <a:cs typeface="Arial MT"/>
              </a:rPr>
              <a:t>•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Prepare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design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network,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databases,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application,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system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interfaces,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user </a:t>
            </a:r>
            <a:r>
              <a:rPr sz="1200" dirty="0">
                <a:latin typeface="Arial MT"/>
                <a:cs typeface="Arial MT"/>
              </a:rPr>
              <a:t>interfaces,</a:t>
            </a:r>
            <a:r>
              <a:rPr sz="1200" spc="-5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system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software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design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software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requirement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specification.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6069" y="2738120"/>
            <a:ext cx="19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•</a:t>
            </a:r>
            <a:r>
              <a:rPr sz="1200" spc="135" dirty="0">
                <a:latin typeface="Arial MT"/>
                <a:cs typeface="Arial MT"/>
              </a:rPr>
              <a:t> </a:t>
            </a:r>
            <a:r>
              <a:rPr sz="1200" spc="-60" dirty="0">
                <a:latin typeface="Arial MT"/>
                <a:cs typeface="Arial MT"/>
              </a:rPr>
              <a:t>•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9962" y="2765551"/>
            <a:ext cx="5073650" cy="1727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25"/>
              </a:lnSpc>
            </a:pPr>
            <a:r>
              <a:rPr sz="1200" dirty="0">
                <a:solidFill>
                  <a:srgbClr val="FF0000"/>
                </a:solidFill>
                <a:latin typeface="Arial MT"/>
                <a:cs typeface="Arial MT"/>
              </a:rPr>
              <a:t>All</a:t>
            </a:r>
            <a:r>
              <a:rPr sz="12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1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0000"/>
                </a:solidFill>
                <a:latin typeface="Arial MT"/>
                <a:cs typeface="Arial MT"/>
              </a:rPr>
              <a:t>technical</a:t>
            </a:r>
            <a:r>
              <a:rPr sz="1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0000"/>
                </a:solidFill>
                <a:latin typeface="Arial MT"/>
                <a:cs typeface="Arial MT"/>
              </a:rPr>
              <a:t>details</a:t>
            </a:r>
            <a:r>
              <a:rPr sz="1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0000"/>
                </a:solidFill>
                <a:latin typeface="Arial MT"/>
                <a:cs typeface="Arial MT"/>
              </a:rPr>
              <a:t>like</a:t>
            </a:r>
            <a:r>
              <a:rPr sz="12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0000"/>
                </a:solidFill>
                <a:latin typeface="Arial MT"/>
                <a:cs typeface="Arial MT"/>
              </a:rPr>
              <a:t>technologies</a:t>
            </a:r>
            <a:r>
              <a:rPr sz="1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sz="12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0000"/>
                </a:solidFill>
                <a:latin typeface="Arial MT"/>
                <a:cs typeface="Arial MT"/>
              </a:rPr>
              <a:t>use,</a:t>
            </a:r>
            <a:r>
              <a:rPr sz="1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0000"/>
                </a:solidFill>
                <a:latin typeface="Arial MT"/>
                <a:cs typeface="Arial MT"/>
              </a:rPr>
              <a:t>project</a:t>
            </a:r>
            <a:r>
              <a:rPr sz="12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0000"/>
                </a:solidFill>
                <a:latin typeface="Arial MT"/>
                <a:cs typeface="Arial MT"/>
              </a:rPr>
              <a:t>constraints,</a:t>
            </a:r>
            <a:r>
              <a:rPr sz="12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 MT"/>
                <a:cs typeface="Arial MT"/>
              </a:rPr>
              <a:t>team’s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094" y="2937764"/>
            <a:ext cx="4002404" cy="1651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5"/>
              </a:lnSpc>
            </a:pPr>
            <a:r>
              <a:rPr sz="1200" spc="-10" dirty="0">
                <a:solidFill>
                  <a:srgbClr val="FF0000"/>
                </a:solidFill>
                <a:latin typeface="Arial MT"/>
                <a:cs typeface="Arial MT"/>
              </a:rPr>
              <a:t>capability, </a:t>
            </a:r>
            <a:r>
              <a:rPr sz="1200" dirty="0">
                <a:solidFill>
                  <a:srgbClr val="FF0000"/>
                </a:solidFill>
                <a:latin typeface="Arial MT"/>
                <a:cs typeface="Arial MT"/>
              </a:rPr>
              <a:t>etc.</a:t>
            </a:r>
            <a:r>
              <a:rPr sz="12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0000"/>
                </a:solidFill>
                <a:latin typeface="Arial MT"/>
                <a:cs typeface="Arial MT"/>
              </a:rPr>
              <a:t>goes</a:t>
            </a:r>
            <a:r>
              <a:rPr sz="12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0000"/>
                </a:solidFill>
                <a:latin typeface="Arial MT"/>
                <a:cs typeface="Arial MT"/>
              </a:rPr>
              <a:t>into</a:t>
            </a:r>
            <a:r>
              <a:rPr sz="1200"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12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0000"/>
                </a:solidFill>
                <a:latin typeface="Arial MT"/>
                <a:cs typeface="Arial MT"/>
              </a:rPr>
              <a:t>design</a:t>
            </a:r>
            <a:r>
              <a:rPr sz="12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0000"/>
                </a:solidFill>
                <a:latin typeface="Arial MT"/>
                <a:cs typeface="Arial MT"/>
              </a:rPr>
              <a:t>specification</a:t>
            </a:r>
            <a:r>
              <a:rPr sz="12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Arial MT"/>
                <a:cs typeface="Arial MT"/>
              </a:rPr>
              <a:t>document.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6069" y="3122167"/>
            <a:ext cx="5500370" cy="81216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0" marR="5080" indent="-114935">
              <a:lnSpc>
                <a:spcPts val="1300"/>
              </a:lnSpc>
              <a:spcBef>
                <a:spcPts val="260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Arial MT"/>
                <a:cs typeface="Arial MT"/>
              </a:rPr>
              <a:t>•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technical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architects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developers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develop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logical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plan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of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system </a:t>
            </a:r>
            <a:r>
              <a:rPr sz="1200" dirty="0">
                <a:latin typeface="Arial MT"/>
                <a:cs typeface="Arial MT"/>
              </a:rPr>
              <a:t>which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reviewed</a:t>
            </a:r>
            <a:r>
              <a:rPr sz="1200" spc="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by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all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stakeholders.</a:t>
            </a:r>
            <a:endParaRPr sz="1200">
              <a:latin typeface="Arial MT"/>
              <a:cs typeface="Arial MT"/>
            </a:endParaRPr>
          </a:p>
          <a:p>
            <a:pPr marL="127000" indent="-114300">
              <a:lnSpc>
                <a:spcPct val="100000"/>
              </a:lnSpc>
              <a:spcBef>
                <a:spcPts val="260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Arial MT"/>
                <a:cs typeface="Arial MT"/>
              </a:rPr>
              <a:t>•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Design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contingency, </a:t>
            </a:r>
            <a:r>
              <a:rPr sz="1200" dirty="0">
                <a:latin typeface="Arial MT"/>
                <a:cs typeface="Arial MT"/>
              </a:rPr>
              <a:t>training,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maintenance,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operation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plan.</a:t>
            </a:r>
            <a:endParaRPr sz="1200">
              <a:latin typeface="Arial MT"/>
              <a:cs typeface="Arial MT"/>
            </a:endParaRPr>
          </a:p>
          <a:p>
            <a:pPr marL="127000" indent="-114300">
              <a:lnSpc>
                <a:spcPct val="100000"/>
              </a:lnSpc>
              <a:spcBef>
                <a:spcPts val="295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Arial MT"/>
                <a:cs typeface="Arial MT"/>
              </a:rPr>
              <a:t>•</a:t>
            </a:r>
            <a:r>
              <a:rPr sz="1200" spc="-8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last,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prepare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design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document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which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will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used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during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next</a:t>
            </a:r>
            <a:r>
              <a:rPr sz="1200" spc="-10" dirty="0">
                <a:latin typeface="Arial MT"/>
                <a:cs typeface="Arial MT"/>
              </a:rPr>
              <a:t> phases.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2659" y="912558"/>
            <a:ext cx="2301366" cy="605091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81000" y="4844732"/>
            <a:ext cx="6096000" cy="666750"/>
          </a:xfrm>
          <a:custGeom>
            <a:avLst/>
            <a:gdLst/>
            <a:ahLst/>
            <a:cxnLst/>
            <a:rect l="l" t="t" r="r" b="b"/>
            <a:pathLst>
              <a:path w="6096000" h="666750">
                <a:moveTo>
                  <a:pt x="6096000" y="0"/>
                </a:moveTo>
                <a:lnTo>
                  <a:pt x="0" y="0"/>
                </a:lnTo>
                <a:lnTo>
                  <a:pt x="0" y="666432"/>
                </a:lnTo>
                <a:lnTo>
                  <a:pt x="6096000" y="666432"/>
                </a:lnTo>
                <a:lnTo>
                  <a:pt x="6096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sz="1800" spc="-10" dirty="0">
                <a:solidFill>
                  <a:srgbClr val="212121"/>
                </a:solidFill>
                <a:latin typeface="Arial Black"/>
                <a:cs typeface="Arial Black"/>
              </a:rPr>
              <a:t>Development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6069" y="5552058"/>
            <a:ext cx="5779135" cy="132778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5730" marR="88900" indent="-113664">
              <a:lnSpc>
                <a:spcPts val="1510"/>
              </a:lnSpc>
              <a:spcBef>
                <a:spcPts val="295"/>
              </a:spcBef>
              <a:buFont typeface="Arial MT"/>
              <a:buChar char="•"/>
              <a:tabLst>
                <a:tab pos="127000" algn="l"/>
              </a:tabLst>
            </a:pPr>
            <a:r>
              <a:rPr sz="1400" dirty="0">
                <a:latin typeface="Calibri"/>
                <a:cs typeface="Calibri"/>
              </a:rPr>
              <a:t>When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design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process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software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0" dirty="0">
                <a:latin typeface="Calibri"/>
                <a:cs typeface="Calibri"/>
              </a:rPr>
              <a:t> over,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next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step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	</a:t>
            </a:r>
            <a:r>
              <a:rPr sz="1400" dirty="0">
                <a:latin typeface="Calibri"/>
                <a:cs typeface="Calibri"/>
              </a:rPr>
              <a:t>coding.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step,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developers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start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constructing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whole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framework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using 	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programming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language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chosen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write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code.</a:t>
            </a:r>
            <a:endParaRPr sz="1400">
              <a:latin typeface="Calibri"/>
              <a:cs typeface="Calibri"/>
            </a:endParaRPr>
          </a:p>
          <a:p>
            <a:pPr marL="125730" marR="77470" indent="-113664">
              <a:lnSpc>
                <a:spcPts val="1510"/>
              </a:lnSpc>
              <a:spcBef>
                <a:spcPts val="509"/>
              </a:spcBef>
              <a:buFont typeface="Arial MT"/>
              <a:buChar char="•"/>
              <a:tabLst>
                <a:tab pos="127000" algn="l"/>
              </a:tabLst>
            </a:pPr>
            <a:r>
              <a:rPr sz="1400" spc="-25" dirty="0">
                <a:latin typeface="Calibri"/>
                <a:cs typeface="Calibri"/>
              </a:rPr>
              <a:t>Tasks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divided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units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modules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coding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process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allocated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to 	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specific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developers.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Coding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enormous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step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SDLC.</a:t>
            </a:r>
            <a:endParaRPr sz="14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126364" algn="l"/>
              </a:tabLst>
            </a:pPr>
            <a:r>
              <a:rPr sz="1400" spc="-10" dirty="0">
                <a:latin typeface="Calibri"/>
                <a:cs typeface="Calibri"/>
              </a:rPr>
              <a:t>Developers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obey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specific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predefined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coding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guidelines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during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process.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3094" y="6851395"/>
            <a:ext cx="5003800" cy="2184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35"/>
              </a:lnSpc>
            </a:pPr>
            <a:r>
              <a:rPr sz="1400" dirty="0">
                <a:latin typeface="Calibri"/>
                <a:cs typeface="Calibri"/>
              </a:rPr>
              <a:t>They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also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programming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tools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such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compilers,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interpreters,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3094" y="7069328"/>
            <a:ext cx="2978150" cy="19240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30"/>
              </a:lnSpc>
            </a:pPr>
            <a:r>
              <a:rPr sz="1400" spc="-10" dirty="0">
                <a:latin typeface="Calibri"/>
                <a:cs typeface="Calibri"/>
              </a:rPr>
              <a:t>debuggers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build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execute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code.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2659" y="4888674"/>
            <a:ext cx="2301366" cy="605091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238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4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sz="1800" spc="-10" dirty="0">
                <a:solidFill>
                  <a:srgbClr val="0C0C0C"/>
                </a:solidFill>
                <a:latin typeface="Calibri"/>
                <a:cs typeface="Calibri"/>
              </a:rPr>
              <a:t>Testing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6069" y="1575053"/>
            <a:ext cx="5814060" cy="177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364" indent="-113664">
              <a:lnSpc>
                <a:spcPts val="1595"/>
              </a:lnSpc>
              <a:spcBef>
                <a:spcPts val="100"/>
              </a:spcBef>
              <a:buFont typeface="Arial MT"/>
              <a:buChar char="•"/>
              <a:tabLst>
                <a:tab pos="126364" algn="l"/>
              </a:tabLst>
            </a:pPr>
            <a:r>
              <a:rPr sz="1400" dirty="0">
                <a:latin typeface="Calibri"/>
                <a:cs typeface="Calibri"/>
              </a:rPr>
              <a:t>When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coding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complete,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testing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begins,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modules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released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for</a:t>
            </a:r>
            <a:endParaRPr sz="1400">
              <a:latin typeface="Calibri"/>
              <a:cs typeface="Calibri"/>
            </a:endParaRPr>
          </a:p>
          <a:p>
            <a:pPr marL="127000">
              <a:lnSpc>
                <a:spcPts val="1595"/>
              </a:lnSpc>
            </a:pPr>
            <a:r>
              <a:rPr sz="1400" spc="-20" dirty="0">
                <a:latin typeface="Calibri"/>
                <a:cs typeface="Calibri"/>
              </a:rPr>
              <a:t>evaluation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software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testing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necessary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avoid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bugs.</a:t>
            </a:r>
            <a:endParaRPr sz="1400">
              <a:latin typeface="Calibri"/>
              <a:cs typeface="Calibri"/>
            </a:endParaRPr>
          </a:p>
          <a:p>
            <a:pPr marL="125730" marR="402590" indent="-113664">
              <a:lnSpc>
                <a:spcPts val="1510"/>
              </a:lnSpc>
              <a:spcBef>
                <a:spcPts val="530"/>
              </a:spcBef>
              <a:buFont typeface="Arial MT"/>
              <a:buChar char="•"/>
              <a:tabLst>
                <a:tab pos="127000" algn="l"/>
              </a:tabLst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created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software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extensively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reviewed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during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this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process,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5" dirty="0">
                <a:latin typeface="Calibri"/>
                <a:cs typeface="Calibri"/>
              </a:rPr>
              <a:t> any 	</a:t>
            </a:r>
            <a:r>
              <a:rPr sz="1400" dirty="0">
                <a:latin typeface="Calibri"/>
                <a:cs typeface="Calibri"/>
              </a:rPr>
              <a:t>issues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found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assigned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developers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repair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them.</a:t>
            </a:r>
            <a:endParaRPr sz="1400">
              <a:latin typeface="Calibri"/>
              <a:cs typeface="Calibri"/>
            </a:endParaRPr>
          </a:p>
          <a:p>
            <a:pPr marL="125730" marR="5080" indent="-113664">
              <a:lnSpc>
                <a:spcPts val="1510"/>
              </a:lnSpc>
              <a:spcBef>
                <a:spcPts val="509"/>
              </a:spcBef>
              <a:buFont typeface="Arial MT"/>
              <a:buChar char="•"/>
              <a:tabLst>
                <a:tab pos="127000" algn="l"/>
              </a:tabLst>
            </a:pPr>
            <a:r>
              <a:rPr sz="1400" spc="-20" dirty="0">
                <a:latin typeface="Calibri"/>
                <a:cs typeface="Calibri"/>
              </a:rPr>
              <a:t>Retesting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regression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testing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conducted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until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software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planned 	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expectation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consumers.</a:t>
            </a:r>
            <a:endParaRPr sz="1400">
              <a:latin typeface="Calibri"/>
              <a:cs typeface="Calibri"/>
            </a:endParaRPr>
          </a:p>
          <a:p>
            <a:pPr marL="126364" indent="-113664">
              <a:lnSpc>
                <a:spcPts val="1595"/>
              </a:lnSpc>
              <a:spcBef>
                <a:spcPts val="315"/>
              </a:spcBef>
              <a:buFont typeface="Arial MT"/>
              <a:buChar char="•"/>
              <a:tabLst>
                <a:tab pos="126364" algn="l"/>
              </a:tabLst>
            </a:pPr>
            <a:r>
              <a:rPr sz="1400" spc="-30" dirty="0">
                <a:latin typeface="Calibri"/>
                <a:cs typeface="Calibri"/>
              </a:rPr>
              <a:t>Testers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refer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SRS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document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make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sure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software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conforms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</a:t>
            </a:r>
            <a:endParaRPr sz="1400">
              <a:latin typeface="Calibri"/>
              <a:cs typeface="Calibri"/>
            </a:endParaRPr>
          </a:p>
          <a:p>
            <a:pPr marL="127000">
              <a:lnSpc>
                <a:spcPts val="1595"/>
              </a:lnSpc>
            </a:pPr>
            <a:r>
              <a:rPr sz="1400" spc="-10" dirty="0">
                <a:latin typeface="Calibri"/>
                <a:cs typeface="Calibri"/>
              </a:rPr>
              <a:t>customer’s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standard.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3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sz="1800" dirty="0">
                <a:solidFill>
                  <a:srgbClr val="0C0C0C"/>
                </a:solidFill>
                <a:latin typeface="Calibri"/>
                <a:cs typeface="Calibri"/>
              </a:rPr>
              <a:t>Software</a:t>
            </a:r>
            <a:r>
              <a:rPr sz="1800" spc="-6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Calibri"/>
                <a:cs typeface="Calibri"/>
              </a:rPr>
              <a:t>Deployment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6069" y="5552058"/>
            <a:ext cx="5767705" cy="145605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5730" marR="5080" indent="-113664">
              <a:lnSpc>
                <a:spcPts val="1510"/>
              </a:lnSpc>
              <a:spcBef>
                <a:spcPts val="295"/>
              </a:spcBef>
              <a:buFont typeface="Arial MT"/>
              <a:buChar char="•"/>
              <a:tabLst>
                <a:tab pos="127000" algn="l"/>
              </a:tabLst>
            </a:pPr>
            <a:r>
              <a:rPr sz="1400" dirty="0">
                <a:latin typeface="Calibri"/>
                <a:cs typeface="Calibri"/>
              </a:rPr>
              <a:t>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this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phase,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goal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deploy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software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manufacturing 	environment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consumers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start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product.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Many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companies, 	</a:t>
            </a:r>
            <a:r>
              <a:rPr sz="1400" spc="-25" dirty="0">
                <a:latin typeface="Calibri"/>
                <a:cs typeface="Calibri"/>
              </a:rPr>
              <a:t>however,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prefer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push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product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across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different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delivery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environments 	</a:t>
            </a:r>
            <a:r>
              <a:rPr sz="1400" dirty="0">
                <a:latin typeface="Calibri"/>
                <a:cs typeface="Calibri"/>
              </a:rPr>
              <a:t>such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testing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staging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area.</a:t>
            </a:r>
            <a:endParaRPr sz="1400">
              <a:latin typeface="Calibri"/>
              <a:cs typeface="Calibri"/>
            </a:endParaRPr>
          </a:p>
          <a:p>
            <a:pPr marL="125730" marR="571500" indent="-113664" algn="just">
              <a:lnSpc>
                <a:spcPts val="1510"/>
              </a:lnSpc>
              <a:spcBef>
                <a:spcPts val="509"/>
              </a:spcBef>
              <a:buFont typeface="Arial MT"/>
              <a:buChar char="•"/>
              <a:tabLst>
                <a:tab pos="127000" algn="l"/>
              </a:tabLst>
            </a:pPr>
            <a:r>
              <a:rPr sz="1400" dirty="0">
                <a:latin typeface="Calibri"/>
                <a:cs typeface="Calibri"/>
              </a:rPr>
              <a:t>It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enables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every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stakeholder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play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product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safely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before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is 	</a:t>
            </a:r>
            <a:r>
              <a:rPr sz="1400" spc="-10" dirty="0">
                <a:latin typeface="Calibri"/>
                <a:cs typeface="Calibri"/>
              </a:rPr>
              <a:t>introduced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market.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Therefore,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allows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catch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final 	mistakes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before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launching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product.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238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4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sz="1800" spc="-10" dirty="0">
                <a:solidFill>
                  <a:srgbClr val="0C0C0C"/>
                </a:solidFill>
                <a:latin typeface="Calibri"/>
                <a:cs typeface="Calibri"/>
              </a:rPr>
              <a:t>Maintenance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6069" y="1575053"/>
            <a:ext cx="5755640" cy="62547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5730" marR="5080" indent="-113664">
              <a:lnSpc>
                <a:spcPct val="90400"/>
              </a:lnSpc>
              <a:spcBef>
                <a:spcPts val="265"/>
              </a:spcBef>
              <a:buFont typeface="Arial MT"/>
              <a:buChar char="•"/>
              <a:tabLst>
                <a:tab pos="127000" algn="l"/>
              </a:tabLst>
            </a:pPr>
            <a:r>
              <a:rPr sz="1400" dirty="0">
                <a:latin typeface="Calibri"/>
                <a:cs typeface="Calibri"/>
              </a:rPr>
              <a:t>When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software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passes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through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all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stages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without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complications,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a 	</a:t>
            </a:r>
            <a:r>
              <a:rPr sz="1400" spc="-10" dirty="0">
                <a:latin typeface="Calibri"/>
                <a:cs typeface="Calibri"/>
              </a:rPr>
              <a:t>maintenance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cycle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performed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which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updated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modified</a:t>
            </a:r>
            <a:r>
              <a:rPr sz="1400" spc="500" dirty="0">
                <a:latin typeface="Calibri"/>
                <a:cs typeface="Calibri"/>
              </a:rPr>
              <a:t> 	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time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time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adapt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changes.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3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60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Here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benefits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SDLC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given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below: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6069" y="5552058"/>
            <a:ext cx="5716270" cy="1647825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0" marR="142875" indent="-118110">
              <a:lnSpc>
                <a:spcPts val="1510"/>
              </a:lnSpc>
              <a:spcBef>
                <a:spcPts val="295"/>
              </a:spcBef>
              <a:buSzPct val="92857"/>
              <a:buAutoNum type="arabicPeriod"/>
              <a:tabLst>
                <a:tab pos="127000" algn="l"/>
                <a:tab pos="147320" algn="l"/>
              </a:tabLst>
            </a:pP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	Using</a:t>
            </a:r>
            <a:r>
              <a:rPr sz="1400" spc="-3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SDLC</a:t>
            </a:r>
            <a:r>
              <a:rPr sz="1400" spc="-3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it</a:t>
            </a:r>
            <a:r>
              <a:rPr sz="1400" spc="-3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is</a:t>
            </a:r>
            <a:r>
              <a:rPr sz="1400" spc="-2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libri"/>
                <a:cs typeface="Calibri"/>
              </a:rPr>
              <a:t>easy</a:t>
            </a:r>
            <a:r>
              <a:rPr sz="1400" spc="-4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to</a:t>
            </a:r>
            <a:r>
              <a:rPr sz="1400" spc="-2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libri"/>
                <a:cs typeface="Calibri"/>
              </a:rPr>
              <a:t>measure</a:t>
            </a:r>
            <a:r>
              <a:rPr sz="1400" spc="-2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growth</a:t>
            </a:r>
            <a:r>
              <a:rPr sz="1400" spc="-5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costs</a:t>
            </a:r>
            <a:r>
              <a:rPr sz="1400" spc="-2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of</a:t>
            </a:r>
            <a:r>
              <a:rPr sz="1400" spc="-3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libri"/>
                <a:cs typeface="Calibri"/>
              </a:rPr>
              <a:t>developed system</a:t>
            </a:r>
            <a:endParaRPr sz="1400">
              <a:latin typeface="Calibri"/>
              <a:cs typeface="Calibri"/>
            </a:endParaRPr>
          </a:p>
          <a:p>
            <a:pPr marL="147955" indent="-138430">
              <a:lnSpc>
                <a:spcPct val="100000"/>
              </a:lnSpc>
              <a:spcBef>
                <a:spcPts val="315"/>
              </a:spcBef>
              <a:buSzPct val="92857"/>
              <a:buAutoNum type="arabicPeriod"/>
              <a:tabLst>
                <a:tab pos="147955" algn="l"/>
              </a:tabLst>
            </a:pP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SDLC</a:t>
            </a:r>
            <a:r>
              <a:rPr sz="1400" spc="-3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libri"/>
                <a:cs typeface="Calibri"/>
              </a:rPr>
              <a:t>enhances</a:t>
            </a:r>
            <a:r>
              <a:rPr sz="1400" spc="-2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control</a:t>
            </a:r>
            <a:r>
              <a:rPr sz="1400" spc="-2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libri"/>
                <a:cs typeface="Calibri"/>
              </a:rPr>
              <a:t>monitoring</a:t>
            </a:r>
            <a:r>
              <a:rPr sz="1400" spc="-5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of</a:t>
            </a:r>
            <a:r>
              <a:rPr sz="1400" spc="-2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sz="1400" spc="-2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big</a:t>
            </a:r>
            <a:r>
              <a:rPr sz="1400" spc="-3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or</a:t>
            </a:r>
            <a:r>
              <a:rPr sz="1400" spc="-4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complex</a:t>
            </a:r>
            <a:r>
              <a:rPr sz="1400" spc="-1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libri"/>
                <a:cs typeface="Calibri"/>
              </a:rPr>
              <a:t>projects.</a:t>
            </a:r>
            <a:endParaRPr sz="1400">
              <a:latin typeface="Calibri"/>
              <a:cs typeface="Calibri"/>
            </a:endParaRPr>
          </a:p>
          <a:p>
            <a:pPr marL="147955" indent="-138430">
              <a:lnSpc>
                <a:spcPct val="100000"/>
              </a:lnSpc>
              <a:spcBef>
                <a:spcPts val="335"/>
              </a:spcBef>
              <a:buSzPct val="92857"/>
              <a:buAutoNum type="arabicPeriod"/>
              <a:tabLst>
                <a:tab pos="147955" algn="l"/>
              </a:tabLst>
            </a:pP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SDLC</a:t>
            </a:r>
            <a:r>
              <a:rPr sz="1400" spc="-4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libri"/>
                <a:cs typeface="Calibri"/>
              </a:rPr>
              <a:t>involves</a:t>
            </a:r>
            <a:r>
              <a:rPr sz="1400" spc="-5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well</a:t>
            </a:r>
            <a:r>
              <a:rPr sz="1400" spc="-4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libri"/>
                <a:cs typeface="Calibri"/>
              </a:rPr>
              <a:t>detailed</a:t>
            </a:r>
            <a:r>
              <a:rPr sz="1400" spc="-4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libri"/>
                <a:cs typeface="Calibri"/>
              </a:rPr>
              <a:t>comprehensive</a:t>
            </a:r>
            <a:r>
              <a:rPr sz="1400" spc="-3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libri"/>
                <a:cs typeface="Calibri"/>
              </a:rPr>
              <a:t>steps.</a:t>
            </a:r>
            <a:endParaRPr sz="1400">
              <a:latin typeface="Calibri"/>
              <a:cs typeface="Calibri"/>
            </a:endParaRPr>
          </a:p>
          <a:p>
            <a:pPr marL="147955" indent="-138430">
              <a:lnSpc>
                <a:spcPts val="1595"/>
              </a:lnSpc>
              <a:spcBef>
                <a:spcPts val="340"/>
              </a:spcBef>
              <a:buSzPct val="92857"/>
              <a:buAutoNum type="arabicPeriod"/>
              <a:tabLst>
                <a:tab pos="147955" algn="l"/>
              </a:tabLst>
            </a:pP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design</a:t>
            </a:r>
            <a:r>
              <a:rPr sz="1400" spc="-4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libri"/>
                <a:cs typeface="Calibri"/>
              </a:rPr>
              <a:t>reviews</a:t>
            </a:r>
            <a:r>
              <a:rPr sz="1400" spc="-4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help</a:t>
            </a:r>
            <a:r>
              <a:rPr sz="1400" spc="-3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to</a:t>
            </a:r>
            <a:r>
              <a:rPr sz="1400" spc="-3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ensure</a:t>
            </a:r>
            <a:r>
              <a:rPr sz="1400" spc="-2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libri"/>
                <a:cs typeface="Calibri"/>
              </a:rPr>
              <a:t>reliability</a:t>
            </a:r>
            <a:r>
              <a:rPr sz="1400" spc="-6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quality</a:t>
            </a:r>
            <a:r>
              <a:rPr sz="1400" spc="-3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of</a:t>
            </a:r>
            <a:r>
              <a:rPr sz="1400" spc="-3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sz="1400" spc="-3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libri"/>
                <a:cs typeface="Calibri"/>
              </a:rPr>
              <a:t>developed</a:t>
            </a:r>
            <a:endParaRPr sz="1400">
              <a:latin typeface="Calibri"/>
              <a:cs typeface="Calibri"/>
            </a:endParaRPr>
          </a:p>
          <a:p>
            <a:pPr marL="127000">
              <a:lnSpc>
                <a:spcPts val="1595"/>
              </a:lnSpc>
            </a:pPr>
            <a:r>
              <a:rPr sz="1400" spc="-10" dirty="0">
                <a:solidFill>
                  <a:srgbClr val="0C0C0C"/>
                </a:solidFill>
                <a:latin typeface="Calibri"/>
                <a:cs typeface="Calibri"/>
              </a:rPr>
              <a:t>solution.</a:t>
            </a:r>
            <a:endParaRPr sz="1400">
              <a:latin typeface="Calibri"/>
              <a:cs typeface="Calibri"/>
            </a:endParaRPr>
          </a:p>
          <a:p>
            <a:pPr marL="147955" indent="-138430">
              <a:lnSpc>
                <a:spcPct val="100000"/>
              </a:lnSpc>
              <a:spcBef>
                <a:spcPts val="335"/>
              </a:spcBef>
              <a:buSzPct val="92857"/>
              <a:buAutoNum type="arabicPeriod" startAt="5"/>
              <a:tabLst>
                <a:tab pos="147955" algn="l"/>
              </a:tabLst>
            </a:pP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SDLC</a:t>
            </a:r>
            <a:r>
              <a:rPr sz="1400" spc="-3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libri"/>
                <a:cs typeface="Calibri"/>
              </a:rPr>
              <a:t>provides</a:t>
            </a:r>
            <a:r>
              <a:rPr sz="1400" spc="-2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libri"/>
                <a:cs typeface="Calibri"/>
              </a:rPr>
              <a:t>extensive</a:t>
            </a:r>
            <a:r>
              <a:rPr sz="1400" spc="-4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libri"/>
                <a:cs typeface="Calibri"/>
              </a:rPr>
              <a:t>documentation</a:t>
            </a:r>
            <a:r>
              <a:rPr sz="1400" spc="-2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of</a:t>
            </a:r>
            <a:r>
              <a:rPr sz="1400" spc="-3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libri"/>
                <a:cs typeface="Calibri"/>
              </a:rPr>
              <a:t>system.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1652016"/>
            <a:ext cx="6096000" cy="2646045"/>
            <a:chOff x="381000" y="1652016"/>
            <a:chExt cx="6096000" cy="26460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" y="4277390"/>
              <a:ext cx="6096000" cy="2028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77060" y="2039620"/>
              <a:ext cx="372110" cy="326390"/>
            </a:xfrm>
            <a:custGeom>
              <a:avLst/>
              <a:gdLst/>
              <a:ahLst/>
              <a:cxnLst/>
              <a:rect l="l" t="t" r="r" b="b"/>
              <a:pathLst>
                <a:path w="372110" h="326389">
                  <a:moveTo>
                    <a:pt x="107187" y="0"/>
                  </a:moveTo>
                  <a:lnTo>
                    <a:pt x="0" y="0"/>
                  </a:lnTo>
                  <a:lnTo>
                    <a:pt x="0" y="298450"/>
                  </a:lnTo>
                  <a:lnTo>
                    <a:pt x="254762" y="298450"/>
                  </a:lnTo>
                  <a:lnTo>
                    <a:pt x="254762" y="326389"/>
                  </a:lnTo>
                  <a:lnTo>
                    <a:pt x="371601" y="244855"/>
                  </a:lnTo>
                  <a:lnTo>
                    <a:pt x="254762" y="163195"/>
                  </a:lnTo>
                  <a:lnTo>
                    <a:pt x="254762" y="191261"/>
                  </a:lnTo>
                  <a:lnTo>
                    <a:pt x="107187" y="191261"/>
                  </a:lnTo>
                  <a:lnTo>
                    <a:pt x="107187" y="0"/>
                  </a:lnTo>
                  <a:close/>
                </a:path>
              </a:pathLst>
            </a:custGeom>
            <a:solidFill>
              <a:srgbClr val="C4D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13178" y="1655191"/>
              <a:ext cx="549910" cy="384810"/>
            </a:xfrm>
            <a:custGeom>
              <a:avLst/>
              <a:gdLst/>
              <a:ahLst/>
              <a:cxnLst/>
              <a:rect l="l" t="t" r="r" b="b"/>
              <a:pathLst>
                <a:path w="549910" h="384810">
                  <a:moveTo>
                    <a:pt x="485266" y="0"/>
                  </a:moveTo>
                  <a:lnTo>
                    <a:pt x="64007" y="0"/>
                  </a:lnTo>
                  <a:lnTo>
                    <a:pt x="39112" y="5038"/>
                  </a:lnTo>
                  <a:lnTo>
                    <a:pt x="18764" y="18780"/>
                  </a:lnTo>
                  <a:lnTo>
                    <a:pt x="5036" y="39165"/>
                  </a:lnTo>
                  <a:lnTo>
                    <a:pt x="0" y="64134"/>
                  </a:lnTo>
                  <a:lnTo>
                    <a:pt x="0" y="320548"/>
                  </a:lnTo>
                  <a:lnTo>
                    <a:pt x="5036" y="345443"/>
                  </a:lnTo>
                  <a:lnTo>
                    <a:pt x="18764" y="365791"/>
                  </a:lnTo>
                  <a:lnTo>
                    <a:pt x="39112" y="379519"/>
                  </a:lnTo>
                  <a:lnTo>
                    <a:pt x="64007" y="384555"/>
                  </a:lnTo>
                  <a:lnTo>
                    <a:pt x="485266" y="384555"/>
                  </a:lnTo>
                  <a:lnTo>
                    <a:pt x="510236" y="379519"/>
                  </a:lnTo>
                  <a:lnTo>
                    <a:pt x="530621" y="365791"/>
                  </a:lnTo>
                  <a:lnTo>
                    <a:pt x="544363" y="345443"/>
                  </a:lnTo>
                  <a:lnTo>
                    <a:pt x="549401" y="320548"/>
                  </a:lnTo>
                  <a:lnTo>
                    <a:pt x="549401" y="64134"/>
                  </a:lnTo>
                  <a:lnTo>
                    <a:pt x="544363" y="39165"/>
                  </a:lnTo>
                  <a:lnTo>
                    <a:pt x="530621" y="18780"/>
                  </a:lnTo>
                  <a:lnTo>
                    <a:pt x="510236" y="5038"/>
                  </a:lnTo>
                  <a:lnTo>
                    <a:pt x="48526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13178" y="1655191"/>
              <a:ext cx="549910" cy="384810"/>
            </a:xfrm>
            <a:custGeom>
              <a:avLst/>
              <a:gdLst/>
              <a:ahLst/>
              <a:cxnLst/>
              <a:rect l="l" t="t" r="r" b="b"/>
              <a:pathLst>
                <a:path w="549910" h="384810">
                  <a:moveTo>
                    <a:pt x="0" y="64134"/>
                  </a:moveTo>
                  <a:lnTo>
                    <a:pt x="5036" y="39165"/>
                  </a:lnTo>
                  <a:lnTo>
                    <a:pt x="18764" y="18780"/>
                  </a:lnTo>
                  <a:lnTo>
                    <a:pt x="39112" y="5038"/>
                  </a:lnTo>
                  <a:lnTo>
                    <a:pt x="64007" y="0"/>
                  </a:lnTo>
                  <a:lnTo>
                    <a:pt x="485266" y="0"/>
                  </a:lnTo>
                  <a:lnTo>
                    <a:pt x="510236" y="5038"/>
                  </a:lnTo>
                  <a:lnTo>
                    <a:pt x="530621" y="18780"/>
                  </a:lnTo>
                  <a:lnTo>
                    <a:pt x="544363" y="39165"/>
                  </a:lnTo>
                  <a:lnTo>
                    <a:pt x="549401" y="64134"/>
                  </a:lnTo>
                  <a:lnTo>
                    <a:pt x="549401" y="320548"/>
                  </a:lnTo>
                  <a:lnTo>
                    <a:pt x="544363" y="345443"/>
                  </a:lnTo>
                  <a:lnTo>
                    <a:pt x="530621" y="365791"/>
                  </a:lnTo>
                  <a:lnTo>
                    <a:pt x="510236" y="379519"/>
                  </a:lnTo>
                  <a:lnTo>
                    <a:pt x="485266" y="384555"/>
                  </a:lnTo>
                  <a:lnTo>
                    <a:pt x="64007" y="384555"/>
                  </a:lnTo>
                  <a:lnTo>
                    <a:pt x="39112" y="379519"/>
                  </a:lnTo>
                  <a:lnTo>
                    <a:pt x="18764" y="365791"/>
                  </a:lnTo>
                  <a:lnTo>
                    <a:pt x="5036" y="345443"/>
                  </a:lnTo>
                  <a:lnTo>
                    <a:pt x="0" y="320548"/>
                  </a:lnTo>
                  <a:lnTo>
                    <a:pt x="0" y="64134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1001014"/>
            <a:ext cx="3222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Development</a:t>
            </a:r>
            <a:r>
              <a:rPr sz="16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Life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Cycle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1432305"/>
            <a:ext cx="8502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SDLC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 Phases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55977" y="1742693"/>
            <a:ext cx="462915" cy="19621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88900" marR="5080" indent="-76835">
              <a:lnSpc>
                <a:spcPts val="620"/>
              </a:lnSpc>
              <a:spcBef>
                <a:spcPts val="200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Requirement</a:t>
            </a:r>
            <a:r>
              <a:rPr sz="600" spc="5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265552" y="2084070"/>
            <a:ext cx="556260" cy="714375"/>
            <a:chOff x="2265552" y="2084070"/>
            <a:chExt cx="556260" cy="714375"/>
          </a:xfrm>
        </p:grpSpPr>
        <p:sp>
          <p:nvSpPr>
            <p:cNvPr id="13" name="object 13"/>
            <p:cNvSpPr/>
            <p:nvPr/>
          </p:nvSpPr>
          <p:spPr>
            <a:xfrm>
              <a:off x="2332608" y="2471674"/>
              <a:ext cx="372110" cy="326390"/>
            </a:xfrm>
            <a:custGeom>
              <a:avLst/>
              <a:gdLst/>
              <a:ahLst/>
              <a:cxnLst/>
              <a:rect l="l" t="t" r="r" b="b"/>
              <a:pathLst>
                <a:path w="372110" h="326389">
                  <a:moveTo>
                    <a:pt x="107188" y="0"/>
                  </a:moveTo>
                  <a:lnTo>
                    <a:pt x="0" y="0"/>
                  </a:lnTo>
                  <a:lnTo>
                    <a:pt x="0" y="298323"/>
                  </a:lnTo>
                  <a:lnTo>
                    <a:pt x="254762" y="298323"/>
                  </a:lnTo>
                  <a:lnTo>
                    <a:pt x="254762" y="326389"/>
                  </a:lnTo>
                  <a:lnTo>
                    <a:pt x="371602" y="244728"/>
                  </a:lnTo>
                  <a:lnTo>
                    <a:pt x="254762" y="163195"/>
                  </a:lnTo>
                  <a:lnTo>
                    <a:pt x="254762" y="191135"/>
                  </a:lnTo>
                  <a:lnTo>
                    <a:pt x="107188" y="191135"/>
                  </a:lnTo>
                  <a:lnTo>
                    <a:pt x="107188" y="0"/>
                  </a:lnTo>
                  <a:close/>
                </a:path>
              </a:pathLst>
            </a:custGeom>
            <a:solidFill>
              <a:srgbClr val="C4D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68727" y="2087245"/>
              <a:ext cx="549910" cy="384810"/>
            </a:xfrm>
            <a:custGeom>
              <a:avLst/>
              <a:gdLst/>
              <a:ahLst/>
              <a:cxnLst/>
              <a:rect l="l" t="t" r="r" b="b"/>
              <a:pathLst>
                <a:path w="549910" h="384810">
                  <a:moveTo>
                    <a:pt x="485267" y="0"/>
                  </a:moveTo>
                  <a:lnTo>
                    <a:pt x="64135" y="0"/>
                  </a:lnTo>
                  <a:lnTo>
                    <a:pt x="39165" y="5038"/>
                  </a:lnTo>
                  <a:lnTo>
                    <a:pt x="18780" y="18780"/>
                  </a:lnTo>
                  <a:lnTo>
                    <a:pt x="5038" y="39165"/>
                  </a:lnTo>
                  <a:lnTo>
                    <a:pt x="0" y="64134"/>
                  </a:lnTo>
                  <a:lnTo>
                    <a:pt x="0" y="320548"/>
                  </a:lnTo>
                  <a:lnTo>
                    <a:pt x="5038" y="345443"/>
                  </a:lnTo>
                  <a:lnTo>
                    <a:pt x="18780" y="365791"/>
                  </a:lnTo>
                  <a:lnTo>
                    <a:pt x="39165" y="379519"/>
                  </a:lnTo>
                  <a:lnTo>
                    <a:pt x="64135" y="384555"/>
                  </a:lnTo>
                  <a:lnTo>
                    <a:pt x="485267" y="384555"/>
                  </a:lnTo>
                  <a:lnTo>
                    <a:pt x="510236" y="379519"/>
                  </a:lnTo>
                  <a:lnTo>
                    <a:pt x="530621" y="365791"/>
                  </a:lnTo>
                  <a:lnTo>
                    <a:pt x="544363" y="345443"/>
                  </a:lnTo>
                  <a:lnTo>
                    <a:pt x="549402" y="320548"/>
                  </a:lnTo>
                  <a:lnTo>
                    <a:pt x="549402" y="64134"/>
                  </a:lnTo>
                  <a:lnTo>
                    <a:pt x="544363" y="39165"/>
                  </a:lnTo>
                  <a:lnTo>
                    <a:pt x="530621" y="18780"/>
                  </a:lnTo>
                  <a:lnTo>
                    <a:pt x="510236" y="5038"/>
                  </a:lnTo>
                  <a:lnTo>
                    <a:pt x="485267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68727" y="2087245"/>
              <a:ext cx="549910" cy="384810"/>
            </a:xfrm>
            <a:custGeom>
              <a:avLst/>
              <a:gdLst/>
              <a:ahLst/>
              <a:cxnLst/>
              <a:rect l="l" t="t" r="r" b="b"/>
              <a:pathLst>
                <a:path w="549910" h="384810">
                  <a:moveTo>
                    <a:pt x="0" y="64134"/>
                  </a:moveTo>
                  <a:lnTo>
                    <a:pt x="5038" y="39165"/>
                  </a:lnTo>
                  <a:lnTo>
                    <a:pt x="18780" y="18780"/>
                  </a:lnTo>
                  <a:lnTo>
                    <a:pt x="39165" y="5038"/>
                  </a:lnTo>
                  <a:lnTo>
                    <a:pt x="64135" y="0"/>
                  </a:lnTo>
                  <a:lnTo>
                    <a:pt x="485267" y="0"/>
                  </a:lnTo>
                  <a:lnTo>
                    <a:pt x="510236" y="5038"/>
                  </a:lnTo>
                  <a:lnTo>
                    <a:pt x="530621" y="18780"/>
                  </a:lnTo>
                  <a:lnTo>
                    <a:pt x="544363" y="39165"/>
                  </a:lnTo>
                  <a:lnTo>
                    <a:pt x="549402" y="64134"/>
                  </a:lnTo>
                  <a:lnTo>
                    <a:pt x="549402" y="320548"/>
                  </a:lnTo>
                  <a:lnTo>
                    <a:pt x="544363" y="345443"/>
                  </a:lnTo>
                  <a:lnTo>
                    <a:pt x="530621" y="365791"/>
                  </a:lnTo>
                  <a:lnTo>
                    <a:pt x="510236" y="379519"/>
                  </a:lnTo>
                  <a:lnTo>
                    <a:pt x="485267" y="384555"/>
                  </a:lnTo>
                  <a:lnTo>
                    <a:pt x="64135" y="384555"/>
                  </a:lnTo>
                  <a:lnTo>
                    <a:pt x="39165" y="379519"/>
                  </a:lnTo>
                  <a:lnTo>
                    <a:pt x="18780" y="365791"/>
                  </a:lnTo>
                  <a:lnTo>
                    <a:pt x="5038" y="345443"/>
                  </a:lnTo>
                  <a:lnTo>
                    <a:pt x="0" y="320548"/>
                  </a:lnTo>
                  <a:lnTo>
                    <a:pt x="0" y="64134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410714" y="2214118"/>
            <a:ext cx="26479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Design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743200" y="2506979"/>
            <a:ext cx="549910" cy="723265"/>
            <a:chOff x="2743200" y="2506979"/>
            <a:chExt cx="549910" cy="723265"/>
          </a:xfrm>
        </p:grpSpPr>
        <p:sp>
          <p:nvSpPr>
            <p:cNvPr id="18" name="object 18"/>
            <p:cNvSpPr/>
            <p:nvPr/>
          </p:nvSpPr>
          <p:spPr>
            <a:xfrm>
              <a:off x="2788157" y="2903727"/>
              <a:ext cx="372110" cy="326390"/>
            </a:xfrm>
            <a:custGeom>
              <a:avLst/>
              <a:gdLst/>
              <a:ahLst/>
              <a:cxnLst/>
              <a:rect l="l" t="t" r="r" b="b"/>
              <a:pathLst>
                <a:path w="372110" h="326389">
                  <a:moveTo>
                    <a:pt x="107187" y="0"/>
                  </a:moveTo>
                  <a:lnTo>
                    <a:pt x="0" y="0"/>
                  </a:lnTo>
                  <a:lnTo>
                    <a:pt x="0" y="298323"/>
                  </a:lnTo>
                  <a:lnTo>
                    <a:pt x="254762" y="298323"/>
                  </a:lnTo>
                  <a:lnTo>
                    <a:pt x="254762" y="326389"/>
                  </a:lnTo>
                  <a:lnTo>
                    <a:pt x="371602" y="244729"/>
                  </a:lnTo>
                  <a:lnTo>
                    <a:pt x="254762" y="163195"/>
                  </a:lnTo>
                  <a:lnTo>
                    <a:pt x="254762" y="191135"/>
                  </a:lnTo>
                  <a:lnTo>
                    <a:pt x="107187" y="191135"/>
                  </a:lnTo>
                  <a:lnTo>
                    <a:pt x="107187" y="0"/>
                  </a:lnTo>
                  <a:close/>
                </a:path>
              </a:pathLst>
            </a:custGeom>
            <a:solidFill>
              <a:srgbClr val="C4D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43200" y="2506979"/>
              <a:ext cx="549910" cy="384810"/>
            </a:xfrm>
            <a:custGeom>
              <a:avLst/>
              <a:gdLst/>
              <a:ahLst/>
              <a:cxnLst/>
              <a:rect l="l" t="t" r="r" b="b"/>
              <a:pathLst>
                <a:path w="549910" h="384810">
                  <a:moveTo>
                    <a:pt x="485394" y="0"/>
                  </a:moveTo>
                  <a:lnTo>
                    <a:pt x="64135" y="0"/>
                  </a:lnTo>
                  <a:lnTo>
                    <a:pt x="39165" y="5038"/>
                  </a:lnTo>
                  <a:lnTo>
                    <a:pt x="18780" y="18780"/>
                  </a:lnTo>
                  <a:lnTo>
                    <a:pt x="5038" y="39165"/>
                  </a:lnTo>
                  <a:lnTo>
                    <a:pt x="0" y="64135"/>
                  </a:lnTo>
                  <a:lnTo>
                    <a:pt x="0" y="320548"/>
                  </a:lnTo>
                  <a:lnTo>
                    <a:pt x="5038" y="345443"/>
                  </a:lnTo>
                  <a:lnTo>
                    <a:pt x="18780" y="365791"/>
                  </a:lnTo>
                  <a:lnTo>
                    <a:pt x="39165" y="379519"/>
                  </a:lnTo>
                  <a:lnTo>
                    <a:pt x="64135" y="384556"/>
                  </a:lnTo>
                  <a:lnTo>
                    <a:pt x="485394" y="384556"/>
                  </a:lnTo>
                  <a:lnTo>
                    <a:pt x="510309" y="379519"/>
                  </a:lnTo>
                  <a:lnTo>
                    <a:pt x="530701" y="365791"/>
                  </a:lnTo>
                  <a:lnTo>
                    <a:pt x="544472" y="345443"/>
                  </a:lnTo>
                  <a:lnTo>
                    <a:pt x="549528" y="320548"/>
                  </a:lnTo>
                  <a:lnTo>
                    <a:pt x="549528" y="64135"/>
                  </a:lnTo>
                  <a:lnTo>
                    <a:pt x="544472" y="39165"/>
                  </a:lnTo>
                  <a:lnTo>
                    <a:pt x="530701" y="18780"/>
                  </a:lnTo>
                  <a:lnTo>
                    <a:pt x="510309" y="5038"/>
                  </a:lnTo>
                  <a:lnTo>
                    <a:pt x="48539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780538" y="2633853"/>
            <a:ext cx="4743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Development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176651" y="2948177"/>
            <a:ext cx="556260" cy="714375"/>
            <a:chOff x="3176651" y="2948177"/>
            <a:chExt cx="556260" cy="714375"/>
          </a:xfrm>
        </p:grpSpPr>
        <p:sp>
          <p:nvSpPr>
            <p:cNvPr id="22" name="object 22"/>
            <p:cNvSpPr/>
            <p:nvPr/>
          </p:nvSpPr>
          <p:spPr>
            <a:xfrm>
              <a:off x="3243707" y="3335781"/>
              <a:ext cx="372110" cy="326390"/>
            </a:xfrm>
            <a:custGeom>
              <a:avLst/>
              <a:gdLst/>
              <a:ahLst/>
              <a:cxnLst/>
              <a:rect l="l" t="t" r="r" b="b"/>
              <a:pathLst>
                <a:path w="372110" h="326389">
                  <a:moveTo>
                    <a:pt x="107188" y="0"/>
                  </a:moveTo>
                  <a:lnTo>
                    <a:pt x="0" y="0"/>
                  </a:lnTo>
                  <a:lnTo>
                    <a:pt x="0" y="298322"/>
                  </a:lnTo>
                  <a:lnTo>
                    <a:pt x="254762" y="298322"/>
                  </a:lnTo>
                  <a:lnTo>
                    <a:pt x="254762" y="326389"/>
                  </a:lnTo>
                  <a:lnTo>
                    <a:pt x="371602" y="244728"/>
                  </a:lnTo>
                  <a:lnTo>
                    <a:pt x="254762" y="163194"/>
                  </a:lnTo>
                  <a:lnTo>
                    <a:pt x="254762" y="191134"/>
                  </a:lnTo>
                  <a:lnTo>
                    <a:pt x="107188" y="191134"/>
                  </a:lnTo>
                  <a:lnTo>
                    <a:pt x="107188" y="0"/>
                  </a:lnTo>
                  <a:close/>
                </a:path>
              </a:pathLst>
            </a:custGeom>
            <a:solidFill>
              <a:srgbClr val="C4D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79826" y="2951352"/>
              <a:ext cx="549910" cy="384810"/>
            </a:xfrm>
            <a:custGeom>
              <a:avLst/>
              <a:gdLst/>
              <a:ahLst/>
              <a:cxnLst/>
              <a:rect l="l" t="t" r="r" b="b"/>
              <a:pathLst>
                <a:path w="549910" h="384810">
                  <a:moveTo>
                    <a:pt x="485394" y="0"/>
                  </a:moveTo>
                  <a:lnTo>
                    <a:pt x="64135" y="0"/>
                  </a:lnTo>
                  <a:lnTo>
                    <a:pt x="39165" y="5038"/>
                  </a:lnTo>
                  <a:lnTo>
                    <a:pt x="18780" y="18780"/>
                  </a:lnTo>
                  <a:lnTo>
                    <a:pt x="5038" y="39165"/>
                  </a:lnTo>
                  <a:lnTo>
                    <a:pt x="0" y="64135"/>
                  </a:lnTo>
                  <a:lnTo>
                    <a:pt x="0" y="320421"/>
                  </a:lnTo>
                  <a:lnTo>
                    <a:pt x="5038" y="345390"/>
                  </a:lnTo>
                  <a:lnTo>
                    <a:pt x="18780" y="365775"/>
                  </a:lnTo>
                  <a:lnTo>
                    <a:pt x="39165" y="379517"/>
                  </a:lnTo>
                  <a:lnTo>
                    <a:pt x="64135" y="384556"/>
                  </a:lnTo>
                  <a:lnTo>
                    <a:pt x="485394" y="384556"/>
                  </a:lnTo>
                  <a:lnTo>
                    <a:pt x="510309" y="379517"/>
                  </a:lnTo>
                  <a:lnTo>
                    <a:pt x="530701" y="365775"/>
                  </a:lnTo>
                  <a:lnTo>
                    <a:pt x="544472" y="345390"/>
                  </a:lnTo>
                  <a:lnTo>
                    <a:pt x="549528" y="320421"/>
                  </a:lnTo>
                  <a:lnTo>
                    <a:pt x="549528" y="64135"/>
                  </a:lnTo>
                  <a:lnTo>
                    <a:pt x="544472" y="39165"/>
                  </a:lnTo>
                  <a:lnTo>
                    <a:pt x="530701" y="18780"/>
                  </a:lnTo>
                  <a:lnTo>
                    <a:pt x="510309" y="5038"/>
                  </a:lnTo>
                  <a:lnTo>
                    <a:pt x="48539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79826" y="2951352"/>
              <a:ext cx="549910" cy="384810"/>
            </a:xfrm>
            <a:custGeom>
              <a:avLst/>
              <a:gdLst/>
              <a:ahLst/>
              <a:cxnLst/>
              <a:rect l="l" t="t" r="r" b="b"/>
              <a:pathLst>
                <a:path w="549910" h="384810">
                  <a:moveTo>
                    <a:pt x="0" y="64135"/>
                  </a:moveTo>
                  <a:lnTo>
                    <a:pt x="5038" y="39165"/>
                  </a:lnTo>
                  <a:lnTo>
                    <a:pt x="18780" y="18780"/>
                  </a:lnTo>
                  <a:lnTo>
                    <a:pt x="39165" y="5038"/>
                  </a:lnTo>
                  <a:lnTo>
                    <a:pt x="64135" y="0"/>
                  </a:lnTo>
                  <a:lnTo>
                    <a:pt x="485394" y="0"/>
                  </a:lnTo>
                  <a:lnTo>
                    <a:pt x="510309" y="5038"/>
                  </a:lnTo>
                  <a:lnTo>
                    <a:pt x="530701" y="18780"/>
                  </a:lnTo>
                  <a:lnTo>
                    <a:pt x="544472" y="39165"/>
                  </a:lnTo>
                  <a:lnTo>
                    <a:pt x="549528" y="64135"/>
                  </a:lnTo>
                  <a:lnTo>
                    <a:pt x="549528" y="320421"/>
                  </a:lnTo>
                  <a:lnTo>
                    <a:pt x="544472" y="345390"/>
                  </a:lnTo>
                  <a:lnTo>
                    <a:pt x="530701" y="365775"/>
                  </a:lnTo>
                  <a:lnTo>
                    <a:pt x="510309" y="379517"/>
                  </a:lnTo>
                  <a:lnTo>
                    <a:pt x="485394" y="384556"/>
                  </a:lnTo>
                  <a:lnTo>
                    <a:pt x="64135" y="384556"/>
                  </a:lnTo>
                  <a:lnTo>
                    <a:pt x="39165" y="379517"/>
                  </a:lnTo>
                  <a:lnTo>
                    <a:pt x="18780" y="365775"/>
                  </a:lnTo>
                  <a:lnTo>
                    <a:pt x="5038" y="345390"/>
                  </a:lnTo>
                  <a:lnTo>
                    <a:pt x="0" y="320421"/>
                  </a:lnTo>
                  <a:lnTo>
                    <a:pt x="0" y="64135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320541" y="3078226"/>
            <a:ext cx="2692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Testing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632200" y="3380232"/>
            <a:ext cx="556260" cy="714375"/>
            <a:chOff x="3632200" y="3380232"/>
            <a:chExt cx="556260" cy="714375"/>
          </a:xfrm>
        </p:grpSpPr>
        <p:sp>
          <p:nvSpPr>
            <p:cNvPr id="27" name="object 27"/>
            <p:cNvSpPr/>
            <p:nvPr/>
          </p:nvSpPr>
          <p:spPr>
            <a:xfrm>
              <a:off x="3699256" y="3767836"/>
              <a:ext cx="372110" cy="326390"/>
            </a:xfrm>
            <a:custGeom>
              <a:avLst/>
              <a:gdLst/>
              <a:ahLst/>
              <a:cxnLst/>
              <a:rect l="l" t="t" r="r" b="b"/>
              <a:pathLst>
                <a:path w="372110" h="326389">
                  <a:moveTo>
                    <a:pt x="107188" y="0"/>
                  </a:moveTo>
                  <a:lnTo>
                    <a:pt x="0" y="0"/>
                  </a:lnTo>
                  <a:lnTo>
                    <a:pt x="0" y="298323"/>
                  </a:lnTo>
                  <a:lnTo>
                    <a:pt x="254889" y="298323"/>
                  </a:lnTo>
                  <a:lnTo>
                    <a:pt x="254889" y="326389"/>
                  </a:lnTo>
                  <a:lnTo>
                    <a:pt x="371602" y="244728"/>
                  </a:lnTo>
                  <a:lnTo>
                    <a:pt x="254889" y="163194"/>
                  </a:lnTo>
                  <a:lnTo>
                    <a:pt x="254889" y="191135"/>
                  </a:lnTo>
                  <a:lnTo>
                    <a:pt x="107188" y="191135"/>
                  </a:lnTo>
                  <a:lnTo>
                    <a:pt x="107188" y="0"/>
                  </a:lnTo>
                  <a:close/>
                </a:path>
              </a:pathLst>
            </a:custGeom>
            <a:solidFill>
              <a:srgbClr val="C4D4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635375" y="3383407"/>
              <a:ext cx="549910" cy="384810"/>
            </a:xfrm>
            <a:custGeom>
              <a:avLst/>
              <a:gdLst/>
              <a:ahLst/>
              <a:cxnLst/>
              <a:rect l="l" t="t" r="r" b="b"/>
              <a:pathLst>
                <a:path w="549910" h="384810">
                  <a:moveTo>
                    <a:pt x="485394" y="0"/>
                  </a:moveTo>
                  <a:lnTo>
                    <a:pt x="64135" y="0"/>
                  </a:lnTo>
                  <a:lnTo>
                    <a:pt x="39165" y="5038"/>
                  </a:lnTo>
                  <a:lnTo>
                    <a:pt x="18780" y="18780"/>
                  </a:lnTo>
                  <a:lnTo>
                    <a:pt x="5038" y="39165"/>
                  </a:lnTo>
                  <a:lnTo>
                    <a:pt x="0" y="64134"/>
                  </a:lnTo>
                  <a:lnTo>
                    <a:pt x="0" y="320420"/>
                  </a:lnTo>
                  <a:lnTo>
                    <a:pt x="5038" y="345390"/>
                  </a:lnTo>
                  <a:lnTo>
                    <a:pt x="18780" y="365775"/>
                  </a:lnTo>
                  <a:lnTo>
                    <a:pt x="39165" y="379517"/>
                  </a:lnTo>
                  <a:lnTo>
                    <a:pt x="64135" y="384555"/>
                  </a:lnTo>
                  <a:lnTo>
                    <a:pt x="485394" y="384555"/>
                  </a:lnTo>
                  <a:lnTo>
                    <a:pt x="510363" y="379517"/>
                  </a:lnTo>
                  <a:lnTo>
                    <a:pt x="530748" y="365775"/>
                  </a:lnTo>
                  <a:lnTo>
                    <a:pt x="544490" y="345390"/>
                  </a:lnTo>
                  <a:lnTo>
                    <a:pt x="549528" y="320420"/>
                  </a:lnTo>
                  <a:lnTo>
                    <a:pt x="549528" y="64134"/>
                  </a:lnTo>
                  <a:lnTo>
                    <a:pt x="544490" y="39165"/>
                  </a:lnTo>
                  <a:lnTo>
                    <a:pt x="530748" y="18780"/>
                  </a:lnTo>
                  <a:lnTo>
                    <a:pt x="510363" y="5038"/>
                  </a:lnTo>
                  <a:lnTo>
                    <a:pt x="48539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635375" y="3383407"/>
              <a:ext cx="549910" cy="384810"/>
            </a:xfrm>
            <a:custGeom>
              <a:avLst/>
              <a:gdLst/>
              <a:ahLst/>
              <a:cxnLst/>
              <a:rect l="l" t="t" r="r" b="b"/>
              <a:pathLst>
                <a:path w="549910" h="384810">
                  <a:moveTo>
                    <a:pt x="0" y="64134"/>
                  </a:moveTo>
                  <a:lnTo>
                    <a:pt x="5038" y="39165"/>
                  </a:lnTo>
                  <a:lnTo>
                    <a:pt x="18780" y="18780"/>
                  </a:lnTo>
                  <a:lnTo>
                    <a:pt x="39165" y="5038"/>
                  </a:lnTo>
                  <a:lnTo>
                    <a:pt x="64135" y="0"/>
                  </a:lnTo>
                  <a:lnTo>
                    <a:pt x="485394" y="0"/>
                  </a:lnTo>
                  <a:lnTo>
                    <a:pt x="510363" y="5038"/>
                  </a:lnTo>
                  <a:lnTo>
                    <a:pt x="530748" y="18780"/>
                  </a:lnTo>
                  <a:lnTo>
                    <a:pt x="544490" y="39165"/>
                  </a:lnTo>
                  <a:lnTo>
                    <a:pt x="549528" y="64134"/>
                  </a:lnTo>
                  <a:lnTo>
                    <a:pt x="549528" y="320420"/>
                  </a:lnTo>
                  <a:lnTo>
                    <a:pt x="544490" y="345390"/>
                  </a:lnTo>
                  <a:lnTo>
                    <a:pt x="530748" y="365775"/>
                  </a:lnTo>
                  <a:lnTo>
                    <a:pt x="510363" y="379517"/>
                  </a:lnTo>
                  <a:lnTo>
                    <a:pt x="485394" y="384555"/>
                  </a:lnTo>
                  <a:lnTo>
                    <a:pt x="64135" y="384555"/>
                  </a:lnTo>
                  <a:lnTo>
                    <a:pt x="39165" y="379517"/>
                  </a:lnTo>
                  <a:lnTo>
                    <a:pt x="18780" y="365775"/>
                  </a:lnTo>
                  <a:lnTo>
                    <a:pt x="5038" y="345390"/>
                  </a:lnTo>
                  <a:lnTo>
                    <a:pt x="0" y="320420"/>
                  </a:lnTo>
                  <a:lnTo>
                    <a:pt x="0" y="64134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756405" y="3510534"/>
            <a:ext cx="30734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Release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090923" y="3815460"/>
            <a:ext cx="549910" cy="384810"/>
          </a:xfrm>
          <a:custGeom>
            <a:avLst/>
            <a:gdLst/>
            <a:ahLst/>
            <a:cxnLst/>
            <a:rect l="l" t="t" r="r" b="b"/>
            <a:pathLst>
              <a:path w="549910" h="384810">
                <a:moveTo>
                  <a:pt x="485393" y="0"/>
                </a:moveTo>
                <a:lnTo>
                  <a:pt x="64135" y="0"/>
                </a:lnTo>
                <a:lnTo>
                  <a:pt x="39165" y="5036"/>
                </a:lnTo>
                <a:lnTo>
                  <a:pt x="18780" y="18764"/>
                </a:lnTo>
                <a:lnTo>
                  <a:pt x="5038" y="39112"/>
                </a:lnTo>
                <a:lnTo>
                  <a:pt x="0" y="64008"/>
                </a:lnTo>
                <a:lnTo>
                  <a:pt x="0" y="320421"/>
                </a:lnTo>
                <a:lnTo>
                  <a:pt x="5038" y="345390"/>
                </a:lnTo>
                <a:lnTo>
                  <a:pt x="18780" y="365775"/>
                </a:lnTo>
                <a:lnTo>
                  <a:pt x="39165" y="379517"/>
                </a:lnTo>
                <a:lnTo>
                  <a:pt x="64135" y="384555"/>
                </a:lnTo>
                <a:lnTo>
                  <a:pt x="485393" y="384555"/>
                </a:lnTo>
                <a:lnTo>
                  <a:pt x="510363" y="379517"/>
                </a:lnTo>
                <a:lnTo>
                  <a:pt x="530748" y="365775"/>
                </a:lnTo>
                <a:lnTo>
                  <a:pt x="544490" y="345390"/>
                </a:lnTo>
                <a:lnTo>
                  <a:pt x="549528" y="320421"/>
                </a:lnTo>
                <a:lnTo>
                  <a:pt x="549528" y="64008"/>
                </a:lnTo>
                <a:lnTo>
                  <a:pt x="544490" y="39112"/>
                </a:lnTo>
                <a:lnTo>
                  <a:pt x="530748" y="18764"/>
                </a:lnTo>
                <a:lnTo>
                  <a:pt x="510363" y="5036"/>
                </a:lnTo>
                <a:lnTo>
                  <a:pt x="485393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4134358" y="3942715"/>
            <a:ext cx="46355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Maintenance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368425" y="1743710"/>
            <a:ext cx="2711450" cy="2494280"/>
            <a:chOff x="1368425" y="1743710"/>
            <a:chExt cx="2711450" cy="2494280"/>
          </a:xfrm>
        </p:grpSpPr>
        <p:sp>
          <p:nvSpPr>
            <p:cNvPr id="34" name="object 34"/>
            <p:cNvSpPr/>
            <p:nvPr/>
          </p:nvSpPr>
          <p:spPr>
            <a:xfrm>
              <a:off x="1371600" y="1746885"/>
              <a:ext cx="429259" cy="2436495"/>
            </a:xfrm>
            <a:custGeom>
              <a:avLst/>
              <a:gdLst/>
              <a:ahLst/>
              <a:cxnLst/>
              <a:rect l="l" t="t" r="r" b="b"/>
              <a:pathLst>
                <a:path w="429260" h="2436495">
                  <a:moveTo>
                    <a:pt x="0" y="2436495"/>
                  </a:moveTo>
                  <a:lnTo>
                    <a:pt x="0" y="241300"/>
                  </a:lnTo>
                  <a:lnTo>
                    <a:pt x="6707" y="191412"/>
                  </a:lnTo>
                  <a:lnTo>
                    <a:pt x="25635" y="146576"/>
                  </a:lnTo>
                  <a:lnTo>
                    <a:pt x="54990" y="108584"/>
                  </a:lnTo>
                  <a:lnTo>
                    <a:pt x="92982" y="79229"/>
                  </a:lnTo>
                  <a:lnTo>
                    <a:pt x="137818" y="60301"/>
                  </a:lnTo>
                  <a:lnTo>
                    <a:pt x="187706" y="53594"/>
                  </a:lnTo>
                  <a:lnTo>
                    <a:pt x="321818" y="53594"/>
                  </a:lnTo>
                  <a:lnTo>
                    <a:pt x="321818" y="0"/>
                  </a:lnTo>
                  <a:lnTo>
                    <a:pt x="429132" y="107188"/>
                  </a:lnTo>
                  <a:lnTo>
                    <a:pt x="321818" y="214503"/>
                  </a:lnTo>
                  <a:lnTo>
                    <a:pt x="321818" y="160909"/>
                  </a:lnTo>
                  <a:lnTo>
                    <a:pt x="187706" y="160909"/>
                  </a:lnTo>
                  <a:lnTo>
                    <a:pt x="156392" y="167219"/>
                  </a:lnTo>
                  <a:lnTo>
                    <a:pt x="130841" y="184435"/>
                  </a:lnTo>
                  <a:lnTo>
                    <a:pt x="113625" y="209986"/>
                  </a:lnTo>
                  <a:lnTo>
                    <a:pt x="107315" y="241300"/>
                  </a:lnTo>
                  <a:lnTo>
                    <a:pt x="107315" y="2436495"/>
                  </a:lnTo>
                  <a:lnTo>
                    <a:pt x="0" y="2436495"/>
                  </a:lnTo>
                  <a:close/>
                </a:path>
              </a:pathLst>
            </a:custGeom>
            <a:ln w="6349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485900" y="4049141"/>
              <a:ext cx="2590800" cy="185420"/>
            </a:xfrm>
            <a:custGeom>
              <a:avLst/>
              <a:gdLst/>
              <a:ahLst/>
              <a:cxnLst/>
              <a:rect l="l" t="t" r="r" b="b"/>
              <a:pathLst>
                <a:path w="2590800" h="185420">
                  <a:moveTo>
                    <a:pt x="92583" y="0"/>
                  </a:moveTo>
                  <a:lnTo>
                    <a:pt x="0" y="92583"/>
                  </a:lnTo>
                  <a:lnTo>
                    <a:pt x="92583" y="185293"/>
                  </a:lnTo>
                  <a:lnTo>
                    <a:pt x="92583" y="138937"/>
                  </a:lnTo>
                  <a:lnTo>
                    <a:pt x="2590800" y="138937"/>
                  </a:lnTo>
                  <a:lnTo>
                    <a:pt x="2590800" y="46355"/>
                  </a:lnTo>
                  <a:lnTo>
                    <a:pt x="92583" y="46355"/>
                  </a:lnTo>
                  <a:lnTo>
                    <a:pt x="925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485900" y="4049141"/>
              <a:ext cx="2590800" cy="185420"/>
            </a:xfrm>
            <a:custGeom>
              <a:avLst/>
              <a:gdLst/>
              <a:ahLst/>
              <a:cxnLst/>
              <a:rect l="l" t="t" r="r" b="b"/>
              <a:pathLst>
                <a:path w="2590800" h="185420">
                  <a:moveTo>
                    <a:pt x="0" y="92583"/>
                  </a:moveTo>
                  <a:lnTo>
                    <a:pt x="92583" y="0"/>
                  </a:lnTo>
                  <a:lnTo>
                    <a:pt x="92583" y="46355"/>
                  </a:lnTo>
                  <a:lnTo>
                    <a:pt x="2590800" y="46355"/>
                  </a:lnTo>
                  <a:lnTo>
                    <a:pt x="2590800" y="138937"/>
                  </a:lnTo>
                  <a:lnTo>
                    <a:pt x="92583" y="138937"/>
                  </a:lnTo>
                  <a:lnTo>
                    <a:pt x="92583" y="185293"/>
                  </a:lnTo>
                  <a:lnTo>
                    <a:pt x="0" y="92583"/>
                  </a:lnTo>
                  <a:close/>
                </a:path>
              </a:pathLst>
            </a:custGeom>
            <a:ln w="635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2204973" y="3887851"/>
            <a:ext cx="41338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Arial MT"/>
                <a:cs typeface="Arial MT"/>
              </a:rPr>
              <a:t>Feedback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87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SDLC</a:t>
            </a:r>
            <a:r>
              <a:rPr sz="1800" spc="-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Models</a:t>
            </a:r>
            <a:endParaRPr sz="1800">
              <a:latin typeface="Segoe UI Light"/>
              <a:cs typeface="Segoe UI Light"/>
            </a:endParaRPr>
          </a:p>
        </p:txBody>
      </p:sp>
      <p:pic>
        <p:nvPicPr>
          <p:cNvPr id="39" name="object 3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0379" y="5581522"/>
            <a:ext cx="3458845" cy="2692273"/>
          </a:xfrm>
          <a:prstGeom prst="rect">
            <a:avLst/>
          </a:prstGeom>
        </p:spPr>
      </p:pic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15176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Waterfall</a:t>
            </a:r>
            <a:r>
              <a:rPr sz="16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4963160" cy="21583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Introduction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It is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also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called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classic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life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cycle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spc="-10" dirty="0">
                <a:latin typeface="Arial MT"/>
                <a:cs typeface="Arial MT"/>
              </a:rPr>
              <a:t>Waterfall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Model</a:t>
            </a:r>
            <a:r>
              <a:rPr sz="900" spc="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considered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as Black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Box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Model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One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can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not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go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back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previous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phase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Sequential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Nature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5"/>
              </a:spcBef>
              <a:buChar char="•"/>
              <a:tabLst>
                <a:tab pos="391160" algn="l"/>
              </a:tabLst>
            </a:pPr>
            <a:r>
              <a:rPr sz="900" dirty="0">
                <a:latin typeface="Arial MT"/>
                <a:cs typeface="Arial MT"/>
              </a:rPr>
              <a:t>This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suggests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systematic,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sequential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approach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software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development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that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begins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with </a:t>
            </a:r>
            <a:r>
              <a:rPr sz="900" dirty="0">
                <a:latin typeface="Arial MT"/>
                <a:cs typeface="Arial MT"/>
              </a:rPr>
              <a:t>customer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specification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-10" dirty="0">
                <a:latin typeface="Arial MT"/>
                <a:cs typeface="Arial MT"/>
              </a:rPr>
              <a:t> requirements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progresses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through</a:t>
            </a:r>
            <a:endParaRPr sz="9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sz="800" spc="-10" dirty="0">
                <a:latin typeface="Arial MT"/>
                <a:cs typeface="Arial MT"/>
              </a:rPr>
              <a:t>Planning</a:t>
            </a:r>
            <a:endParaRPr sz="8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sz="800" spc="-10" dirty="0">
                <a:latin typeface="Arial MT"/>
                <a:cs typeface="Arial MT"/>
              </a:rPr>
              <a:t>Modeling</a:t>
            </a:r>
            <a:endParaRPr sz="8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sz="800" spc="-10" dirty="0">
                <a:latin typeface="Arial MT"/>
                <a:cs typeface="Arial MT"/>
              </a:rPr>
              <a:t>Construction</a:t>
            </a:r>
            <a:endParaRPr sz="8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sz="800" spc="-10" dirty="0">
                <a:latin typeface="Arial MT"/>
                <a:cs typeface="Arial MT"/>
              </a:rPr>
              <a:t>Deployment</a:t>
            </a:r>
            <a:endParaRPr sz="8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sz="800" dirty="0">
                <a:latin typeface="Arial MT"/>
                <a:cs typeface="Arial MT"/>
              </a:rPr>
              <a:t>and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Culminating</a:t>
            </a:r>
            <a:r>
              <a:rPr sz="800" spc="-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ongoing </a:t>
            </a:r>
            <a:r>
              <a:rPr sz="800" dirty="0">
                <a:latin typeface="Arial MT"/>
                <a:cs typeface="Arial MT"/>
              </a:rPr>
              <a:t>support of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completed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software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22701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Waterfall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Contd..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409057"/>
            <a:ext cx="24917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Feedback</a:t>
            </a:r>
            <a:r>
              <a:rPr sz="1000" b="1" spc="-6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Amendment</a:t>
            </a:r>
            <a:r>
              <a:rPr sz="1000" b="1" spc="-1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in</a:t>
            </a:r>
            <a:r>
              <a:rPr sz="1000" b="1" spc="-5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Waterfall</a:t>
            </a:r>
            <a:r>
              <a:rPr sz="1000" b="1" spc="-5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1C1573"/>
                </a:solidFill>
                <a:latin typeface="Arial"/>
                <a:cs typeface="Arial"/>
              </a:rPr>
              <a:t>Model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5849" y="5778246"/>
            <a:ext cx="3990912" cy="2138362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2970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Waterfall</a:t>
            </a:r>
            <a:r>
              <a:rPr sz="16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pros</a:t>
            </a:r>
            <a:r>
              <a:rPr sz="1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6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Arial"/>
                <a:cs typeface="Arial"/>
              </a:rPr>
              <a:t>cons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2687" y="1481963"/>
            <a:ext cx="4633973" cy="258419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22701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Waterfall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Contd..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72516" y="5410580"/>
            <a:ext cx="5617845" cy="280035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126364" algn="l"/>
              </a:tabLst>
            </a:pPr>
            <a:r>
              <a:rPr sz="900" b="1" dirty="0">
                <a:latin typeface="Arial"/>
                <a:cs typeface="Arial"/>
              </a:rPr>
              <a:t>Waterfall</a:t>
            </a:r>
            <a:r>
              <a:rPr sz="900" b="1" spc="-4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Model</a:t>
            </a:r>
            <a:r>
              <a:rPr sz="900" b="1" spc="-5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Strong</a:t>
            </a:r>
            <a:r>
              <a:rPr sz="900" b="1" spc="-30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Points</a:t>
            </a:r>
            <a:endParaRPr sz="900">
              <a:latin typeface="Arial"/>
              <a:cs typeface="Arial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sz="900" dirty="0">
                <a:latin typeface="Arial MT"/>
                <a:cs typeface="Arial MT"/>
              </a:rPr>
              <a:t>Easy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understand,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easy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use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sz="900" dirty="0">
                <a:latin typeface="Arial MT"/>
                <a:cs typeface="Arial MT"/>
              </a:rPr>
              <a:t>Provides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structure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inexperienced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staff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sz="900" dirty="0">
                <a:latin typeface="Arial MT"/>
                <a:cs typeface="Arial MT"/>
              </a:rPr>
              <a:t>Milestones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are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well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understood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126364" algn="l"/>
              </a:tabLst>
            </a:pPr>
            <a:r>
              <a:rPr sz="900" dirty="0">
                <a:latin typeface="Arial MT"/>
                <a:cs typeface="Arial MT"/>
              </a:rPr>
              <a:t>Sets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requirements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stability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sz="900" dirty="0">
                <a:latin typeface="Arial MT"/>
                <a:cs typeface="Arial MT"/>
              </a:rPr>
              <a:t>Good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for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management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control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(plan,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staff,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track)</a:t>
            </a:r>
            <a:endParaRPr sz="900">
              <a:latin typeface="Arial MT"/>
              <a:cs typeface="Arial MT"/>
            </a:endParaRPr>
          </a:p>
          <a:p>
            <a:pPr marL="127000" marR="3099435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127000" algn="l"/>
              </a:tabLst>
            </a:pPr>
            <a:r>
              <a:rPr sz="900" dirty="0">
                <a:latin typeface="Arial MT"/>
                <a:cs typeface="Arial MT"/>
              </a:rPr>
              <a:t>Works</a:t>
            </a:r>
            <a:r>
              <a:rPr sz="900" spc="-5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well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when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quality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more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important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than </a:t>
            </a:r>
            <a:r>
              <a:rPr sz="900" dirty="0">
                <a:latin typeface="Arial MT"/>
                <a:cs typeface="Arial MT"/>
              </a:rPr>
              <a:t>cost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or</a:t>
            </a:r>
            <a:r>
              <a:rPr sz="900" spc="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schedule</a:t>
            </a:r>
            <a:endParaRPr sz="900">
              <a:latin typeface="Arial MT"/>
              <a:cs typeface="Arial MT"/>
            </a:endParaRPr>
          </a:p>
          <a:p>
            <a:pPr marL="2818130">
              <a:lnSpc>
                <a:spcPct val="100000"/>
              </a:lnSpc>
              <a:spcBef>
                <a:spcPts val="990"/>
              </a:spcBef>
            </a:pPr>
            <a:r>
              <a:rPr sz="900" spc="-45" dirty="0">
                <a:solidFill>
                  <a:srgbClr val="212121"/>
                </a:solidFill>
                <a:latin typeface="Arial Black"/>
                <a:cs typeface="Arial Black"/>
              </a:rPr>
              <a:t>Limitation </a:t>
            </a:r>
            <a:r>
              <a:rPr sz="900" spc="-35" dirty="0">
                <a:solidFill>
                  <a:srgbClr val="212121"/>
                </a:solidFill>
                <a:latin typeface="Arial Black"/>
                <a:cs typeface="Arial Black"/>
              </a:rPr>
              <a:t>of</a:t>
            </a:r>
            <a:r>
              <a:rPr sz="900" spc="-25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900" spc="-40" dirty="0">
                <a:solidFill>
                  <a:srgbClr val="212121"/>
                </a:solidFill>
                <a:latin typeface="Arial Black"/>
                <a:cs typeface="Arial Black"/>
              </a:rPr>
              <a:t>the</a:t>
            </a:r>
            <a:r>
              <a:rPr sz="900" spc="-3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900" spc="-40" dirty="0">
                <a:solidFill>
                  <a:srgbClr val="212121"/>
                </a:solidFill>
                <a:latin typeface="Arial Black"/>
                <a:cs typeface="Arial Black"/>
              </a:rPr>
              <a:t>Waterfall</a:t>
            </a:r>
            <a:r>
              <a:rPr sz="900" spc="-20" dirty="0">
                <a:solidFill>
                  <a:srgbClr val="212121"/>
                </a:solidFill>
                <a:latin typeface="Arial Black"/>
                <a:cs typeface="Arial Black"/>
              </a:rPr>
              <a:t> </a:t>
            </a:r>
            <a:r>
              <a:rPr sz="900" spc="-10" dirty="0">
                <a:solidFill>
                  <a:srgbClr val="212121"/>
                </a:solidFill>
                <a:latin typeface="Arial Black"/>
                <a:cs typeface="Arial Black"/>
              </a:rPr>
              <a:t>Model</a:t>
            </a:r>
            <a:endParaRPr sz="900">
              <a:latin typeface="Arial Black"/>
              <a:cs typeface="Arial Black"/>
            </a:endParaRPr>
          </a:p>
          <a:p>
            <a:pPr marL="2857500" lvl="1" indent="-47625">
              <a:lnSpc>
                <a:spcPct val="100000"/>
              </a:lnSpc>
              <a:buSzPct val="88888"/>
              <a:buFont typeface="Arial MT"/>
              <a:buChar char="•"/>
              <a:tabLst>
                <a:tab pos="2857500" algn="l"/>
              </a:tabLst>
            </a:pP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Not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suitable</a:t>
            </a:r>
            <a:r>
              <a:rPr sz="900" spc="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for</a:t>
            </a:r>
            <a:r>
              <a:rPr sz="9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900" spc="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project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where</a:t>
            </a:r>
            <a:r>
              <a:rPr sz="900" spc="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requirements</a:t>
            </a:r>
            <a:r>
              <a:rPr sz="900" spc="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12121"/>
                </a:solidFill>
                <a:latin typeface="Tahoma"/>
                <a:cs typeface="Tahoma"/>
              </a:rPr>
              <a:t>are</a:t>
            </a:r>
            <a:endParaRPr sz="900">
              <a:latin typeface="Tahoma"/>
              <a:cs typeface="Tahoma"/>
            </a:endParaRPr>
          </a:p>
          <a:p>
            <a:pPr marL="2818130">
              <a:lnSpc>
                <a:spcPct val="100000"/>
              </a:lnSpc>
            </a:pP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changing.</a:t>
            </a:r>
            <a:endParaRPr sz="900">
              <a:latin typeface="Tahoma"/>
              <a:cs typeface="Tahoma"/>
            </a:endParaRPr>
          </a:p>
          <a:p>
            <a:pPr marL="2857500" lvl="1" indent="-47625">
              <a:lnSpc>
                <a:spcPct val="100000"/>
              </a:lnSpc>
              <a:buSzPct val="88888"/>
              <a:buFont typeface="Arial MT"/>
              <a:buChar char="•"/>
              <a:tabLst>
                <a:tab pos="2857500" algn="l"/>
              </a:tabLst>
            </a:pP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high</a:t>
            </a:r>
            <a:r>
              <a:rPr sz="9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amount</a:t>
            </a:r>
            <a:r>
              <a:rPr sz="900" spc="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900" spc="4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risk</a:t>
            </a:r>
            <a:r>
              <a:rPr sz="9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900" spc="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uncertainty</a:t>
            </a:r>
            <a:endParaRPr sz="900">
              <a:latin typeface="Tahoma"/>
              <a:cs typeface="Tahoma"/>
            </a:endParaRPr>
          </a:p>
          <a:p>
            <a:pPr marL="2857500" lvl="1" indent="-47625">
              <a:lnSpc>
                <a:spcPct val="100000"/>
              </a:lnSpc>
              <a:buSzPct val="88888"/>
              <a:buFont typeface="Arial MT"/>
              <a:buChar char="•"/>
              <a:tabLst>
                <a:tab pos="2857500" algn="l"/>
              </a:tabLst>
            </a:pP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Not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good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for</a:t>
            </a:r>
            <a:r>
              <a:rPr sz="900" spc="7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object-oriented</a:t>
            </a:r>
            <a:r>
              <a:rPr sz="900" spc="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project</a:t>
            </a:r>
            <a:endParaRPr sz="900">
              <a:latin typeface="Tahoma"/>
              <a:cs typeface="Tahoma"/>
            </a:endParaRPr>
          </a:p>
          <a:p>
            <a:pPr marL="2857500" lvl="1" indent="-47625">
              <a:lnSpc>
                <a:spcPct val="100000"/>
              </a:lnSpc>
              <a:buSzPct val="88888"/>
              <a:buFont typeface="Arial MT"/>
              <a:buChar char="•"/>
              <a:tabLst>
                <a:tab pos="2857500" algn="l"/>
              </a:tabLst>
            </a:pP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Poor</a:t>
            </a:r>
            <a:r>
              <a:rPr sz="900" spc="7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model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for</a:t>
            </a:r>
            <a:r>
              <a:rPr sz="900" spc="8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long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and</a:t>
            </a:r>
            <a:r>
              <a:rPr sz="900" spc="5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ongoing</a:t>
            </a:r>
            <a:r>
              <a:rPr sz="900" spc="6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project</a:t>
            </a:r>
            <a:endParaRPr sz="900">
              <a:latin typeface="Tahoma"/>
              <a:cs typeface="Tahoma"/>
            </a:endParaRPr>
          </a:p>
          <a:p>
            <a:pPr marL="2857500" lvl="1" indent="-47625">
              <a:lnSpc>
                <a:spcPct val="100000"/>
              </a:lnSpc>
              <a:buSzPct val="88888"/>
              <a:buFont typeface="Arial MT"/>
              <a:buChar char="•"/>
              <a:tabLst>
                <a:tab pos="2857500" algn="l"/>
              </a:tabLst>
            </a:pP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Can</a:t>
            </a:r>
            <a:r>
              <a:rPr sz="900" spc="-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give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900" spc="-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false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impression</a:t>
            </a:r>
            <a:r>
              <a:rPr sz="900" spc="-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of</a:t>
            </a:r>
            <a:r>
              <a:rPr sz="900" spc="-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progress</a:t>
            </a:r>
            <a:endParaRPr sz="900">
              <a:latin typeface="Tahoma"/>
              <a:cs typeface="Tahoma"/>
            </a:endParaRPr>
          </a:p>
          <a:p>
            <a:pPr marL="2857500" lvl="1" indent="-47625">
              <a:lnSpc>
                <a:spcPct val="100000"/>
              </a:lnSpc>
              <a:buSzPct val="88888"/>
              <a:buFont typeface="Arial MT"/>
              <a:buChar char="•"/>
              <a:tabLst>
                <a:tab pos="2857500" algn="l"/>
              </a:tabLst>
            </a:pP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Integration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is</a:t>
            </a:r>
            <a:r>
              <a:rPr sz="900" spc="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one</a:t>
            </a:r>
            <a:r>
              <a:rPr sz="900" spc="4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big</a:t>
            </a:r>
            <a:r>
              <a:rPr sz="900" spc="3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bang</a:t>
            </a:r>
            <a:r>
              <a:rPr sz="900" spc="3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at</a:t>
            </a:r>
            <a:r>
              <a:rPr sz="900" spc="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900" spc="5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12121"/>
                </a:solidFill>
                <a:latin typeface="Tahoma"/>
                <a:cs typeface="Tahoma"/>
              </a:rPr>
              <a:t>end</a:t>
            </a:r>
            <a:endParaRPr sz="900">
              <a:latin typeface="Tahoma"/>
              <a:cs typeface="Tahoma"/>
            </a:endParaRPr>
          </a:p>
          <a:p>
            <a:pPr marL="2818130" marR="120650" lvl="1" indent="-8255">
              <a:lnSpc>
                <a:spcPct val="100000"/>
              </a:lnSpc>
              <a:buSzPct val="88888"/>
              <a:buFont typeface="Arial MT"/>
              <a:buChar char="•"/>
              <a:tabLst>
                <a:tab pos="2857500" algn="l"/>
              </a:tabLst>
            </a:pP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	Little</a:t>
            </a:r>
            <a:r>
              <a:rPr sz="900" spc="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opportunity</a:t>
            </a:r>
            <a:r>
              <a:rPr sz="900" spc="1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for</a:t>
            </a:r>
            <a:r>
              <a:rPr sz="900" spc="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the</a:t>
            </a:r>
            <a:r>
              <a:rPr sz="900" spc="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customer</a:t>
            </a:r>
            <a:r>
              <a:rPr sz="900" spc="-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to</a:t>
            </a:r>
            <a:r>
              <a:rPr sz="900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20" dirty="0">
                <a:solidFill>
                  <a:srgbClr val="212121"/>
                </a:solidFill>
                <a:latin typeface="Tahoma"/>
                <a:cs typeface="Tahoma"/>
              </a:rPr>
              <a:t>preview</a:t>
            </a:r>
            <a:r>
              <a:rPr sz="900" spc="1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900" spc="-25" dirty="0">
                <a:solidFill>
                  <a:srgbClr val="212121"/>
                </a:solidFill>
                <a:latin typeface="Tahoma"/>
                <a:cs typeface="Tahoma"/>
              </a:rPr>
              <a:t>the </a:t>
            </a:r>
            <a:r>
              <a:rPr sz="900" spc="-10" dirty="0">
                <a:solidFill>
                  <a:srgbClr val="212121"/>
                </a:solidFill>
                <a:latin typeface="Tahoma"/>
                <a:cs typeface="Tahoma"/>
              </a:rPr>
              <a:t>system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393890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Suitable</a:t>
            </a:r>
            <a:r>
              <a:rPr sz="16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Situation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sz="16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Waterfall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3178" y="1634998"/>
            <a:ext cx="2667635" cy="10134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315"/>
              </a:spcBef>
              <a:buChar char="•"/>
              <a:tabLst>
                <a:tab pos="126364" algn="l"/>
              </a:tabLst>
            </a:pPr>
            <a:r>
              <a:rPr sz="900" dirty="0">
                <a:latin typeface="Arial MT"/>
                <a:cs typeface="Arial MT"/>
              </a:rPr>
              <a:t>Work</a:t>
            </a:r>
            <a:r>
              <a:rPr sz="900" spc="-5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well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for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small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project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sz="900" dirty="0">
                <a:latin typeface="Arial MT"/>
                <a:cs typeface="Arial MT"/>
              </a:rPr>
              <a:t>When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Requirements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are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very well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known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sz="900" dirty="0">
                <a:latin typeface="Arial MT"/>
                <a:cs typeface="Arial MT"/>
              </a:rPr>
              <a:t>When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Product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definition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stable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sz="900" dirty="0">
                <a:latin typeface="Arial MT"/>
                <a:cs typeface="Arial MT"/>
              </a:rPr>
              <a:t>When</a:t>
            </a:r>
            <a:r>
              <a:rPr sz="900" spc="-6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Technology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understood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20"/>
              </a:spcBef>
              <a:buChar char="•"/>
              <a:tabLst>
                <a:tab pos="126364" algn="l"/>
              </a:tabLst>
            </a:pPr>
            <a:r>
              <a:rPr sz="900" dirty="0">
                <a:latin typeface="Arial MT"/>
                <a:cs typeface="Arial MT"/>
              </a:rPr>
              <a:t>When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New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version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existing</a:t>
            </a:r>
            <a:r>
              <a:rPr sz="900" spc="-10" dirty="0">
                <a:latin typeface="Arial MT"/>
                <a:cs typeface="Arial MT"/>
              </a:rPr>
              <a:t> product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sz="900" dirty="0">
                <a:latin typeface="Arial MT"/>
                <a:cs typeface="Arial MT"/>
              </a:rPr>
              <a:t>When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Porting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 current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product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new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platform.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04508" y="2680457"/>
            <a:ext cx="2194760" cy="139695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209417" y="5699633"/>
            <a:ext cx="3267710" cy="1788160"/>
            <a:chOff x="3209417" y="5699633"/>
            <a:chExt cx="3267710" cy="1788160"/>
          </a:xfrm>
        </p:grpSpPr>
        <p:sp>
          <p:nvSpPr>
            <p:cNvPr id="9" name="object 9"/>
            <p:cNvSpPr/>
            <p:nvPr/>
          </p:nvSpPr>
          <p:spPr>
            <a:xfrm>
              <a:off x="3209417" y="5699633"/>
              <a:ext cx="3267710" cy="1788160"/>
            </a:xfrm>
            <a:custGeom>
              <a:avLst/>
              <a:gdLst/>
              <a:ahLst/>
              <a:cxnLst/>
              <a:rect l="l" t="t" r="r" b="b"/>
              <a:pathLst>
                <a:path w="3267710" h="1788159">
                  <a:moveTo>
                    <a:pt x="3267582" y="0"/>
                  </a:moveTo>
                  <a:lnTo>
                    <a:pt x="0" y="0"/>
                  </a:lnTo>
                  <a:lnTo>
                    <a:pt x="0" y="1787652"/>
                  </a:lnTo>
                  <a:lnTo>
                    <a:pt x="3267582" y="1787652"/>
                  </a:lnTo>
                  <a:lnTo>
                    <a:pt x="3267582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75838" y="5793994"/>
              <a:ext cx="3138042" cy="1597533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33424" y="6421373"/>
            <a:ext cx="20656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D24625"/>
                </a:solidFill>
                <a:latin typeface="Segoe UI Light"/>
                <a:cs typeface="Segoe UI Light"/>
              </a:rPr>
              <a:t>Agile</a:t>
            </a:r>
            <a:r>
              <a:rPr sz="2000" spc="-45" dirty="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sz="2000" spc="-10" dirty="0">
                <a:solidFill>
                  <a:srgbClr val="D24625"/>
                </a:solidFill>
                <a:latin typeface="Segoe UI Light"/>
                <a:cs typeface="Segoe UI Light"/>
              </a:rPr>
              <a:t>Methodology</a:t>
            </a:r>
            <a:endParaRPr sz="2000">
              <a:latin typeface="Segoe UI Light"/>
              <a:cs typeface="Segoe UI Ligh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13074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Need</a:t>
            </a:r>
            <a:r>
              <a:rPr sz="16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Arial"/>
                <a:cs typeface="Arial"/>
              </a:rPr>
              <a:t>Agile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432305"/>
            <a:ext cx="5796280" cy="2084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Why</a:t>
            </a:r>
            <a:r>
              <a:rPr sz="1000" b="1" spc="-6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Agile?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000">
              <a:latin typeface="Arial"/>
              <a:cs typeface="Arial"/>
            </a:endParaRPr>
          </a:p>
          <a:p>
            <a:pPr marL="302895" indent="-113030">
              <a:lnSpc>
                <a:spcPct val="100000"/>
              </a:lnSpc>
              <a:buChar char="•"/>
              <a:tabLst>
                <a:tab pos="302895" algn="l"/>
              </a:tabLst>
            </a:pP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biggest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problem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with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software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development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is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changing</a:t>
            </a:r>
            <a:r>
              <a:rPr sz="1000" spc="-10" dirty="0">
                <a:latin typeface="Arial MT"/>
                <a:cs typeface="Arial MT"/>
              </a:rPr>
              <a:t> requirements</a:t>
            </a:r>
            <a:endParaRPr sz="1000">
              <a:latin typeface="Arial MT"/>
              <a:cs typeface="Arial MT"/>
            </a:endParaRPr>
          </a:p>
          <a:p>
            <a:pPr marL="302895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302895" algn="l"/>
              </a:tabLst>
            </a:pPr>
            <a:r>
              <a:rPr sz="1000" dirty="0">
                <a:latin typeface="Arial MT"/>
                <a:cs typeface="Arial MT"/>
              </a:rPr>
              <a:t>Agile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processes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accept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reality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change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versus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hunt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complete,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rigid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specifications</a:t>
            </a:r>
            <a:endParaRPr sz="1000">
              <a:latin typeface="Arial MT"/>
              <a:cs typeface="Arial MT"/>
            </a:endParaRPr>
          </a:p>
          <a:p>
            <a:pPr marL="302895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302895" algn="l"/>
              </a:tabLst>
            </a:pPr>
            <a:r>
              <a:rPr sz="1000" dirty="0">
                <a:latin typeface="Arial MT"/>
                <a:cs typeface="Arial MT"/>
              </a:rPr>
              <a:t>Speed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up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or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bypass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one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or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more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life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cycle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phases</a:t>
            </a:r>
            <a:endParaRPr sz="1000">
              <a:latin typeface="Arial MT"/>
              <a:cs typeface="Arial MT"/>
            </a:endParaRPr>
          </a:p>
          <a:p>
            <a:pPr marL="302895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302895" algn="l"/>
              </a:tabLst>
            </a:pPr>
            <a:r>
              <a:rPr sz="1000" dirty="0">
                <a:latin typeface="Arial MT"/>
                <a:cs typeface="Arial MT"/>
              </a:rPr>
              <a:t>Usually less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formal</a:t>
            </a:r>
            <a:r>
              <a:rPr sz="1000" spc="-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reduced</a:t>
            </a:r>
            <a:r>
              <a:rPr sz="1000" spc="-20" dirty="0">
                <a:latin typeface="Arial MT"/>
                <a:cs typeface="Arial MT"/>
              </a:rPr>
              <a:t> scope</a:t>
            </a:r>
            <a:endParaRPr sz="1000">
              <a:latin typeface="Arial MT"/>
              <a:cs typeface="Arial MT"/>
            </a:endParaRPr>
          </a:p>
          <a:p>
            <a:pPr marL="302895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302895" algn="l"/>
              </a:tabLst>
            </a:pPr>
            <a:r>
              <a:rPr sz="1000" dirty="0">
                <a:latin typeface="Arial MT"/>
                <a:cs typeface="Arial MT"/>
              </a:rPr>
              <a:t>Used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time-</a:t>
            </a:r>
            <a:r>
              <a:rPr sz="1000" dirty="0">
                <a:latin typeface="Arial MT"/>
                <a:cs typeface="Arial MT"/>
              </a:rPr>
              <a:t>critical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applications</a:t>
            </a:r>
            <a:endParaRPr sz="1000">
              <a:latin typeface="Arial MT"/>
              <a:cs typeface="Arial MT"/>
            </a:endParaRPr>
          </a:p>
          <a:p>
            <a:pPr marL="302895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302895" algn="l"/>
              </a:tabLst>
            </a:pPr>
            <a:r>
              <a:rPr sz="1000" dirty="0">
                <a:latin typeface="Arial MT"/>
                <a:cs typeface="Arial MT"/>
              </a:rPr>
              <a:t>Used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organizations that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employ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disciplined </a:t>
            </a:r>
            <a:r>
              <a:rPr sz="1000" spc="-10" dirty="0">
                <a:latin typeface="Arial MT"/>
                <a:cs typeface="Arial MT"/>
              </a:rPr>
              <a:t>methods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Font typeface="Arial MT"/>
              <a:buChar char="•"/>
            </a:pPr>
            <a:endParaRPr sz="1000">
              <a:latin typeface="Arial MT"/>
              <a:cs typeface="Arial MT"/>
            </a:endParaRPr>
          </a:p>
          <a:p>
            <a:pPr marL="302895" indent="-113030">
              <a:lnSpc>
                <a:spcPct val="100000"/>
              </a:lnSpc>
              <a:buChar char="•"/>
              <a:tabLst>
                <a:tab pos="302895" algn="l"/>
              </a:tabLst>
            </a:pPr>
            <a:r>
              <a:rPr sz="1000" dirty="0">
                <a:latin typeface="Arial MT"/>
                <a:cs typeface="Arial MT"/>
              </a:rPr>
              <a:t>Storm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called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Agile</a:t>
            </a:r>
            <a:endParaRPr sz="1000">
              <a:latin typeface="Arial MT"/>
              <a:cs typeface="Arial MT"/>
            </a:endParaRPr>
          </a:p>
          <a:p>
            <a:pPr marL="302895" marR="5080" indent="-113030">
              <a:lnSpc>
                <a:spcPts val="1080"/>
              </a:lnSpc>
              <a:spcBef>
                <a:spcPts val="380"/>
              </a:spcBef>
              <a:buChar char="•"/>
              <a:tabLst>
                <a:tab pos="304165" algn="l"/>
              </a:tabLst>
            </a:pPr>
            <a:r>
              <a:rPr sz="1000" dirty="0">
                <a:latin typeface="Arial MT"/>
                <a:cs typeface="Arial MT"/>
              </a:rPr>
              <a:t>According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VersionOne's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State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-7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Agile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Report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2017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says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94%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organizations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practice</a:t>
            </a:r>
            <a:r>
              <a:rPr sz="1000" spc="-6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Agile, 	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2018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reported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97%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organizations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practice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agile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development</a:t>
            </a:r>
            <a:r>
              <a:rPr sz="1000" spc="-10" dirty="0">
                <a:latin typeface="Arial MT"/>
                <a:cs typeface="Arial MT"/>
              </a:rPr>
              <a:t> methods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2849" y="4875618"/>
            <a:ext cx="4785183" cy="334423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25914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Agile</a:t>
            </a: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Methodology</a:t>
            </a:r>
            <a:r>
              <a:rPr sz="16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Contd..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2611755" cy="6445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Agile</a:t>
            </a:r>
            <a:r>
              <a:rPr sz="1000" b="1" spc="1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–</a:t>
            </a:r>
            <a:r>
              <a:rPr sz="1000" b="1" spc="-2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Background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Agile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was formally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launched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2001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17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technologists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drafted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the</a:t>
            </a:r>
            <a:r>
              <a:rPr sz="900" spc="-6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Agile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Manifesto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4508" y="2268677"/>
            <a:ext cx="627037" cy="3762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4245" y="2268677"/>
            <a:ext cx="627037" cy="3762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3982" y="2268677"/>
            <a:ext cx="627037" cy="3762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93719" y="2268677"/>
            <a:ext cx="627037" cy="3762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3455" y="2268677"/>
            <a:ext cx="627037" cy="3762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73192" y="2268677"/>
            <a:ext cx="627037" cy="3762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4508" y="2707589"/>
            <a:ext cx="627037" cy="3762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4245" y="2707589"/>
            <a:ext cx="627037" cy="3762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3982" y="2707589"/>
            <a:ext cx="627037" cy="37622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93719" y="2707589"/>
            <a:ext cx="627037" cy="37622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83455" y="2707589"/>
            <a:ext cx="627037" cy="37622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73192" y="2707589"/>
            <a:ext cx="627037" cy="37622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69313" y="3146501"/>
            <a:ext cx="627037" cy="37622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59050" y="3146501"/>
            <a:ext cx="627037" cy="37622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48786" y="3146501"/>
            <a:ext cx="627037" cy="37622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38523" y="3146501"/>
            <a:ext cx="627037" cy="37622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28260" y="3146501"/>
            <a:ext cx="627037" cy="376224"/>
          </a:xfrm>
          <a:prstGeom prst="rect">
            <a:avLst/>
          </a:prstGeom>
        </p:spPr>
      </p:pic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1524508" y="2268677"/>
          <a:ext cx="4152265" cy="1252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48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48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84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70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6680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Kent</a:t>
                      </a:r>
                      <a:r>
                        <a:rPr sz="750" spc="-2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Beck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T="1651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Mike</a:t>
                      </a:r>
                      <a:r>
                        <a:rPr sz="750" spc="-4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Beedle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T="1651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19380" marR="112395" indent="5461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7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Arie</a:t>
                      </a:r>
                      <a:r>
                        <a:rPr sz="750" spc="-1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750" spc="-2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van</a:t>
                      </a:r>
                      <a:r>
                        <a:rPr sz="750" spc="5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Bennekum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T="69215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40970" marR="133985" indent="6096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75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Alistair</a:t>
                      </a:r>
                      <a:r>
                        <a:rPr sz="750" spc="5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Cockburn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T="69215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4295" marR="64769" indent="15811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750" spc="-2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Ward</a:t>
                      </a:r>
                      <a:r>
                        <a:rPr sz="750" spc="5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Cunningham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T="69215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5104" marR="165100" indent="-190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75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Martin</a:t>
                      </a:r>
                      <a:r>
                        <a:rPr sz="750" spc="5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Fowler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T="69215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784">
                <a:tc>
                  <a:txBody>
                    <a:bodyPr/>
                    <a:lstStyle/>
                    <a:p>
                      <a:pPr marL="116839" marR="141605" indent="6858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750" spc="-2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James</a:t>
                      </a:r>
                      <a:r>
                        <a:rPr sz="750" spc="5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Grenning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T="100330" marB="0"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27000" marR="119380" indent="14732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750" spc="-2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Jim</a:t>
                      </a:r>
                      <a:r>
                        <a:rPr sz="750" spc="50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Highsmith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T="10033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66040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Andrew</a:t>
                      </a:r>
                      <a:r>
                        <a:rPr sz="750" spc="-3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750" spc="-2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Hunt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T="47625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Ron</a:t>
                      </a:r>
                      <a:r>
                        <a:rPr sz="750" spc="-4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Jeffries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T="47625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63830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Jon</a:t>
                      </a:r>
                      <a:r>
                        <a:rPr sz="750" spc="-1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750" spc="-2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Kern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T="47625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Brian</a:t>
                      </a:r>
                      <a:r>
                        <a:rPr sz="750" spc="-4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Marick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T="47625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034">
                <a:tc gridSpan="2">
                  <a:txBody>
                    <a:bodyPr/>
                    <a:lstStyle/>
                    <a:p>
                      <a:pPr marL="46355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7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Robert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750" spc="-2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C.</a:t>
                      </a:r>
                      <a:endParaRPr sz="750">
                        <a:latin typeface="Segoe UI"/>
                        <a:cs typeface="Segoe UI"/>
                      </a:endParaRPr>
                    </a:p>
                    <a:p>
                      <a:pPr marL="516890">
                        <a:lnSpc>
                          <a:spcPct val="100000"/>
                        </a:lnSpc>
                      </a:pPr>
                      <a:r>
                        <a:rPr sz="75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Martin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T="100330" marB="0"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83185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Steve</a:t>
                      </a:r>
                      <a:r>
                        <a:rPr sz="750" spc="-4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Mellor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T="47625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750" spc="-2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Ken</a:t>
                      </a:r>
                      <a:endParaRPr sz="750">
                        <a:latin typeface="Segoe UI"/>
                        <a:cs typeface="Segoe UI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75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Schwaber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T="10033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750" spc="-2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Jeff</a:t>
                      </a:r>
                      <a:endParaRPr sz="750">
                        <a:latin typeface="Segoe UI"/>
                        <a:cs typeface="Segoe U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Sutherland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T="10033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75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Dave</a:t>
                      </a:r>
                      <a:r>
                        <a:rPr sz="750" spc="-25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750" spc="-10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Thomas</a:t>
                      </a:r>
                      <a:endParaRPr sz="750">
                        <a:latin typeface="Segoe UI"/>
                        <a:cs typeface="Segoe UI"/>
                      </a:endParaRPr>
                    </a:p>
                  </a:txBody>
                  <a:tcPr marL="0" marR="0" marT="47625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833424" y="4977460"/>
            <a:ext cx="25495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Agile</a:t>
            </a:r>
            <a:r>
              <a:rPr sz="16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Strong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Points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28" name="object 28"/>
          <p:cNvSpPr txBox="1"/>
          <p:nvPr/>
        </p:nvSpPr>
        <p:spPr>
          <a:xfrm>
            <a:off x="673404" y="5473445"/>
            <a:ext cx="5614035" cy="249491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0" indent="-114300">
              <a:lnSpc>
                <a:spcPct val="100000"/>
              </a:lnSpc>
              <a:spcBef>
                <a:spcPts val="385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Arial MT"/>
                <a:cs typeface="Arial MT"/>
              </a:rPr>
              <a:t>It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adapt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well</a:t>
            </a:r>
            <a:r>
              <a:rPr sz="1200" spc="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with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changing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requirement</a:t>
            </a:r>
            <a:endParaRPr sz="1200">
              <a:latin typeface="Arial MT"/>
              <a:cs typeface="Arial MT"/>
            </a:endParaRPr>
          </a:p>
          <a:p>
            <a:pPr marL="127000" indent="-114300">
              <a:lnSpc>
                <a:spcPct val="100000"/>
              </a:lnSpc>
              <a:spcBef>
                <a:spcPts val="290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Arial MT"/>
                <a:cs typeface="Arial MT"/>
              </a:rPr>
              <a:t>Deliver a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working product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faster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than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conventional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linear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development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model</a:t>
            </a:r>
            <a:endParaRPr sz="1200">
              <a:latin typeface="Arial MT"/>
              <a:cs typeface="Arial MT"/>
            </a:endParaRPr>
          </a:p>
          <a:p>
            <a:pPr marL="127000" marR="17145" indent="-114300">
              <a:lnSpc>
                <a:spcPts val="1300"/>
              </a:lnSpc>
              <a:spcBef>
                <a:spcPts val="450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Arial MT"/>
                <a:cs typeface="Arial MT"/>
              </a:rPr>
              <a:t>Customer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feedback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every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stage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ensures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that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end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deliverable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satisfies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their expectations</a:t>
            </a:r>
            <a:endParaRPr sz="1200">
              <a:latin typeface="Arial MT"/>
              <a:cs typeface="Arial MT"/>
            </a:endParaRPr>
          </a:p>
          <a:p>
            <a:pPr marL="127000" marR="15875" indent="-114300">
              <a:lnSpc>
                <a:spcPts val="1300"/>
              </a:lnSpc>
              <a:spcBef>
                <a:spcPts val="420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Arial MT"/>
                <a:cs typeface="Arial MT"/>
              </a:rPr>
              <a:t>No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guesswork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between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development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team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customer,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there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face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face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communication</a:t>
            </a:r>
            <a:r>
              <a:rPr sz="1200" spc="-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continuous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inputs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from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client</a:t>
            </a:r>
            <a:endParaRPr sz="1200">
              <a:latin typeface="Arial MT"/>
              <a:cs typeface="Arial MT"/>
            </a:endParaRPr>
          </a:p>
          <a:p>
            <a:pPr marL="127000" indent="-114300">
              <a:lnSpc>
                <a:spcPct val="100000"/>
              </a:lnSpc>
              <a:spcBef>
                <a:spcPts val="270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Arial MT"/>
                <a:cs typeface="Arial MT"/>
              </a:rPr>
              <a:t>Decrease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time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required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to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avail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some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system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features.</a:t>
            </a:r>
            <a:endParaRPr sz="1200">
              <a:latin typeface="Arial MT"/>
              <a:cs typeface="Arial MT"/>
            </a:endParaRPr>
          </a:p>
          <a:p>
            <a:pPr marL="127000" indent="-114300">
              <a:lnSpc>
                <a:spcPct val="100000"/>
              </a:lnSpc>
              <a:spcBef>
                <a:spcPts val="285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Arial MT"/>
                <a:cs typeface="Arial MT"/>
              </a:rPr>
              <a:t>A</a:t>
            </a:r>
            <a:r>
              <a:rPr sz="1200" spc="-8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test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can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conducted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during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design</a:t>
            </a:r>
            <a:r>
              <a:rPr sz="1200" spc="-10" dirty="0">
                <a:latin typeface="Arial MT"/>
                <a:cs typeface="Arial MT"/>
              </a:rPr>
              <a:t> cycle</a:t>
            </a:r>
            <a:endParaRPr sz="1200">
              <a:latin typeface="Arial MT"/>
              <a:cs typeface="Arial MT"/>
            </a:endParaRPr>
          </a:p>
          <a:p>
            <a:pPr marL="127000" indent="-114300">
              <a:lnSpc>
                <a:spcPct val="100000"/>
              </a:lnSpc>
              <a:spcBef>
                <a:spcPts val="290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Arial MT"/>
                <a:cs typeface="Arial MT"/>
              </a:rPr>
              <a:t>Fewer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risks</a:t>
            </a:r>
            <a:r>
              <a:rPr sz="1200" spc="-1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has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more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flexibilities</a:t>
            </a:r>
            <a:endParaRPr sz="1200">
              <a:latin typeface="Arial MT"/>
              <a:cs typeface="Arial MT"/>
            </a:endParaRPr>
          </a:p>
          <a:p>
            <a:pPr marL="127000" indent="-114300">
              <a:lnSpc>
                <a:spcPct val="100000"/>
              </a:lnSpc>
              <a:spcBef>
                <a:spcPts val="285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Arial MT"/>
                <a:cs typeface="Arial MT"/>
              </a:rPr>
              <a:t>Modification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system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needs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less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time</a:t>
            </a:r>
            <a:endParaRPr sz="1200">
              <a:latin typeface="Arial MT"/>
              <a:cs typeface="Arial MT"/>
            </a:endParaRPr>
          </a:p>
          <a:p>
            <a:pPr marL="127000" marR="5080" indent="-114300">
              <a:lnSpc>
                <a:spcPts val="1300"/>
              </a:lnSpc>
              <a:spcBef>
                <a:spcPts val="450"/>
              </a:spcBef>
              <a:buChar char="•"/>
              <a:tabLst>
                <a:tab pos="127000" algn="l"/>
              </a:tabLst>
            </a:pP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result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is</a:t>
            </a:r>
            <a:r>
              <a:rPr sz="1200" spc="-10" dirty="0">
                <a:latin typeface="Arial MT"/>
                <a:cs typeface="Arial MT"/>
              </a:rPr>
              <a:t> high-</a:t>
            </a:r>
            <a:r>
              <a:rPr sz="1200" dirty="0">
                <a:latin typeface="Arial MT"/>
                <a:cs typeface="Arial MT"/>
              </a:rPr>
              <a:t>quality</a:t>
            </a:r>
            <a:r>
              <a:rPr sz="1200" spc="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software</a:t>
            </a:r>
            <a:r>
              <a:rPr sz="1200" spc="-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the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least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possible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time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duration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and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satisfied customer.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2299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Agile</a:t>
            </a:r>
            <a:r>
              <a:rPr sz="16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Limitations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9818" y="1629816"/>
            <a:ext cx="5341620" cy="190055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340"/>
              </a:spcBef>
              <a:buChar char="•"/>
              <a:tabLst>
                <a:tab pos="125730" algn="l"/>
              </a:tabLst>
            </a:pPr>
            <a:r>
              <a:rPr sz="1000" dirty="0">
                <a:latin typeface="Arial MT"/>
                <a:cs typeface="Arial MT"/>
              </a:rPr>
              <a:t>More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Programmer</a:t>
            </a:r>
            <a:r>
              <a:rPr sz="1000" spc="-5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centric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than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user-</a:t>
            </a:r>
            <a:r>
              <a:rPr sz="1000" spc="-10" dirty="0">
                <a:latin typeface="Arial MT"/>
                <a:cs typeface="Arial MT"/>
              </a:rPr>
              <a:t>centric</a:t>
            </a:r>
            <a:endParaRPr sz="1000">
              <a:latin typeface="Arial MT"/>
              <a:cs typeface="Arial MT"/>
            </a:endParaRPr>
          </a:p>
          <a:p>
            <a:pPr marL="125730" marR="22225" indent="-113030">
              <a:lnSpc>
                <a:spcPts val="1080"/>
              </a:lnSpc>
              <a:spcBef>
                <a:spcPts val="375"/>
              </a:spcBef>
              <a:buChar char="•"/>
              <a:tabLst>
                <a:tab pos="127000" algn="l"/>
              </a:tabLst>
            </a:pP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larger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projects,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difficult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judge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efforts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time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required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project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the 	</a:t>
            </a:r>
            <a:r>
              <a:rPr sz="1000" spc="-10" dirty="0">
                <a:latin typeface="Arial MT"/>
                <a:cs typeface="Arial MT"/>
              </a:rPr>
              <a:t>SDLC.</a:t>
            </a:r>
            <a:endParaRPr sz="1000">
              <a:latin typeface="Arial MT"/>
              <a:cs typeface="Arial MT"/>
            </a:endParaRPr>
          </a:p>
          <a:p>
            <a:pPr marL="125730" marR="5080" indent="-113030">
              <a:lnSpc>
                <a:spcPct val="90100"/>
              </a:lnSpc>
              <a:spcBef>
                <a:spcPts val="345"/>
              </a:spcBef>
              <a:buChar char="•"/>
              <a:tabLst>
                <a:tab pos="127000" algn="l"/>
              </a:tabLst>
            </a:pPr>
            <a:r>
              <a:rPr sz="1000" dirty="0">
                <a:latin typeface="Arial MT"/>
                <a:cs typeface="Arial MT"/>
              </a:rPr>
              <a:t>Since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requirements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are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ever-</a:t>
            </a:r>
            <a:r>
              <a:rPr sz="1000" dirty="0">
                <a:latin typeface="Arial MT"/>
                <a:cs typeface="Arial MT"/>
              </a:rPr>
              <a:t>changing,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there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is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hardly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any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emphasis,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which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is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laid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on 	</a:t>
            </a:r>
            <a:r>
              <a:rPr sz="1000" dirty="0">
                <a:latin typeface="Arial MT"/>
                <a:cs typeface="Arial MT"/>
              </a:rPr>
              <a:t>designing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-10" dirty="0">
                <a:latin typeface="Arial MT"/>
                <a:cs typeface="Arial MT"/>
              </a:rPr>
              <a:t> documentation.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Therefore,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chances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project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going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off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track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easily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are 	</a:t>
            </a:r>
            <a:r>
              <a:rPr sz="1000" dirty="0">
                <a:latin typeface="Arial MT"/>
                <a:cs typeface="Arial MT"/>
              </a:rPr>
              <a:t>much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more</a:t>
            </a:r>
            <a:endParaRPr sz="10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125730" algn="l"/>
              </a:tabLst>
            </a:pPr>
            <a:r>
              <a:rPr sz="1000" spc="-10" dirty="0">
                <a:latin typeface="Arial MT"/>
                <a:cs typeface="Arial MT"/>
              </a:rPr>
              <a:t>Scalability</a:t>
            </a:r>
            <a:endParaRPr sz="10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125730" algn="l"/>
              </a:tabLst>
            </a:pP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ability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collaboration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customer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express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user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needs.</a:t>
            </a:r>
            <a:endParaRPr sz="10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125730" algn="l"/>
              </a:tabLst>
            </a:pPr>
            <a:r>
              <a:rPr sz="1000" dirty="0">
                <a:latin typeface="Arial MT"/>
                <a:cs typeface="Arial MT"/>
              </a:rPr>
              <a:t>Documentation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done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at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later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stages.</a:t>
            </a:r>
            <a:endParaRPr sz="10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125730" algn="l"/>
              </a:tabLst>
            </a:pPr>
            <a:r>
              <a:rPr sz="1000" dirty="0">
                <a:latin typeface="Arial MT"/>
                <a:cs typeface="Arial MT"/>
              </a:rPr>
              <a:t>Reduce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usability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components.</a:t>
            </a:r>
            <a:endParaRPr sz="1000">
              <a:latin typeface="Arial MT"/>
              <a:cs typeface="Arial MT"/>
            </a:endParaRPr>
          </a:p>
          <a:p>
            <a:pPr marL="12573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125730" algn="l"/>
              </a:tabLst>
            </a:pPr>
            <a:r>
              <a:rPr sz="1000" dirty="0">
                <a:latin typeface="Arial MT"/>
                <a:cs typeface="Arial MT"/>
              </a:rPr>
              <a:t>Needs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special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skills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team.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3101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Principles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Agile</a:t>
            </a:r>
            <a:r>
              <a:rPr sz="16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Methodology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78916" y="5332309"/>
            <a:ext cx="5259070" cy="274320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Twelve</a:t>
            </a:r>
            <a:r>
              <a:rPr sz="1000" b="1" spc="-3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Principles</a:t>
            </a:r>
            <a:endParaRPr sz="1000">
              <a:latin typeface="Arial"/>
              <a:cs typeface="Arial"/>
            </a:endParaRPr>
          </a:p>
          <a:p>
            <a:pPr marL="448945" indent="-172085">
              <a:lnSpc>
                <a:spcPts val="919"/>
              </a:lnSpc>
              <a:spcBef>
                <a:spcPts val="520"/>
              </a:spcBef>
              <a:buAutoNum type="arabicPeriod"/>
              <a:tabLst>
                <a:tab pos="448945" algn="l"/>
              </a:tabLst>
            </a:pPr>
            <a:r>
              <a:rPr sz="850" dirty="0">
                <a:latin typeface="Arial MT"/>
                <a:cs typeface="Arial MT"/>
              </a:rPr>
              <a:t>Our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highest</a:t>
            </a:r>
            <a:r>
              <a:rPr sz="850" spc="-1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priority</a:t>
            </a:r>
            <a:r>
              <a:rPr sz="850" spc="-4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is</a:t>
            </a:r>
            <a:r>
              <a:rPr sz="850" spc="-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to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satisfy</a:t>
            </a:r>
            <a:r>
              <a:rPr sz="850" spc="-4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</a:t>
            </a:r>
            <a:r>
              <a:rPr sz="850" spc="-2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customer</a:t>
            </a:r>
            <a:r>
              <a:rPr sz="850" spc="-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through</a:t>
            </a:r>
            <a:r>
              <a:rPr sz="850" spc="-1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early</a:t>
            </a:r>
            <a:r>
              <a:rPr sz="850" spc="-2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and</a:t>
            </a:r>
            <a:r>
              <a:rPr sz="850" spc="-2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continuous delivery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of</a:t>
            </a:r>
            <a:r>
              <a:rPr sz="850" spc="-2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valuable</a:t>
            </a:r>
            <a:endParaRPr sz="850">
              <a:latin typeface="Arial MT"/>
              <a:cs typeface="Arial MT"/>
            </a:endParaRPr>
          </a:p>
          <a:p>
            <a:pPr marL="448945">
              <a:lnSpc>
                <a:spcPts val="919"/>
              </a:lnSpc>
            </a:pPr>
            <a:r>
              <a:rPr sz="850" spc="-10" dirty="0">
                <a:latin typeface="Arial MT"/>
                <a:cs typeface="Arial MT"/>
              </a:rPr>
              <a:t>software</a:t>
            </a:r>
            <a:endParaRPr sz="850">
              <a:latin typeface="Arial MT"/>
              <a:cs typeface="Arial MT"/>
            </a:endParaRPr>
          </a:p>
          <a:p>
            <a:pPr marL="447675" marR="6985" indent="-171450">
              <a:lnSpc>
                <a:spcPts val="819"/>
              </a:lnSpc>
              <a:spcBef>
                <a:spcPts val="290"/>
              </a:spcBef>
              <a:buAutoNum type="arabicPeriod" startAt="2"/>
              <a:tabLst>
                <a:tab pos="448945" algn="l"/>
              </a:tabLst>
            </a:pPr>
            <a:r>
              <a:rPr sz="850" spc="-10" dirty="0">
                <a:latin typeface="Arial MT"/>
                <a:cs typeface="Arial MT"/>
              </a:rPr>
              <a:t>Welcome</a:t>
            </a:r>
            <a:r>
              <a:rPr sz="850" spc="-5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changing</a:t>
            </a:r>
            <a:r>
              <a:rPr sz="850" spc="-10" dirty="0">
                <a:latin typeface="Arial MT"/>
                <a:cs typeface="Arial MT"/>
              </a:rPr>
              <a:t> requirements,</a:t>
            </a:r>
            <a:r>
              <a:rPr sz="850" spc="-1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even</a:t>
            </a:r>
            <a:r>
              <a:rPr sz="850" spc="-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late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in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development.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Agile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processes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harness</a:t>
            </a:r>
            <a:r>
              <a:rPr sz="850" spc="-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change</a:t>
            </a:r>
            <a:r>
              <a:rPr sz="850" spc="-1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for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spc="-25" dirty="0">
                <a:latin typeface="Arial MT"/>
                <a:cs typeface="Arial MT"/>
              </a:rPr>
              <a:t>the 	</a:t>
            </a:r>
            <a:r>
              <a:rPr sz="850" spc="-10" dirty="0">
                <a:latin typeface="Arial MT"/>
                <a:cs typeface="Arial MT"/>
              </a:rPr>
              <a:t>customer's</a:t>
            </a:r>
            <a:r>
              <a:rPr sz="850" spc="2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competitive</a:t>
            </a:r>
            <a:r>
              <a:rPr sz="850" spc="4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advantage</a:t>
            </a:r>
            <a:endParaRPr sz="850">
              <a:latin typeface="Arial MT"/>
              <a:cs typeface="Arial MT"/>
            </a:endParaRPr>
          </a:p>
          <a:p>
            <a:pPr marL="447675" marR="5080" indent="-171450">
              <a:lnSpc>
                <a:spcPct val="80000"/>
              </a:lnSpc>
              <a:spcBef>
                <a:spcPts val="315"/>
              </a:spcBef>
              <a:buAutoNum type="arabicPeriod" startAt="2"/>
              <a:tabLst>
                <a:tab pos="448945" algn="l"/>
              </a:tabLst>
            </a:pPr>
            <a:r>
              <a:rPr sz="850" dirty="0">
                <a:latin typeface="Arial MT"/>
                <a:cs typeface="Arial MT"/>
              </a:rPr>
              <a:t>Deliver</a:t>
            </a:r>
            <a:r>
              <a:rPr sz="850" spc="-2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working</a:t>
            </a:r>
            <a:r>
              <a:rPr sz="850" spc="-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software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frequently,</a:t>
            </a:r>
            <a:r>
              <a:rPr sz="850" spc="-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from</a:t>
            </a:r>
            <a:r>
              <a:rPr sz="850" spc="-4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a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couple</a:t>
            </a:r>
            <a:r>
              <a:rPr sz="850" spc="-1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of</a:t>
            </a:r>
            <a:r>
              <a:rPr sz="850" spc="-2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weeks</a:t>
            </a:r>
            <a:r>
              <a:rPr sz="850" spc="-2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to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a</a:t>
            </a:r>
            <a:r>
              <a:rPr sz="850" spc="-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couple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of</a:t>
            </a:r>
            <a:r>
              <a:rPr sz="850" spc="-2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months,</a:t>
            </a:r>
            <a:r>
              <a:rPr sz="850" spc="-1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with</a:t>
            </a:r>
            <a:r>
              <a:rPr sz="850" spc="-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a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preference 	</a:t>
            </a:r>
            <a:r>
              <a:rPr sz="850" dirty="0">
                <a:latin typeface="Arial MT"/>
                <a:cs typeface="Arial MT"/>
              </a:rPr>
              <a:t>to</a:t>
            </a:r>
            <a:r>
              <a:rPr sz="850" spc="-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shorter</a:t>
            </a:r>
            <a:r>
              <a:rPr sz="850" spc="-2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timescale</a:t>
            </a:r>
            <a:endParaRPr sz="850">
              <a:latin typeface="Arial MT"/>
              <a:cs typeface="Arial MT"/>
            </a:endParaRPr>
          </a:p>
          <a:p>
            <a:pPr marL="448309" indent="-171450">
              <a:lnSpc>
                <a:spcPct val="100000"/>
              </a:lnSpc>
              <a:spcBef>
                <a:spcPts val="95"/>
              </a:spcBef>
              <a:buAutoNum type="arabicPeriod" startAt="2"/>
              <a:tabLst>
                <a:tab pos="448309" algn="l"/>
              </a:tabLst>
            </a:pPr>
            <a:r>
              <a:rPr sz="850" dirty="0">
                <a:latin typeface="Arial MT"/>
                <a:cs typeface="Arial MT"/>
              </a:rPr>
              <a:t>Business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people</a:t>
            </a:r>
            <a:r>
              <a:rPr sz="850" spc="-1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and</a:t>
            </a:r>
            <a:r>
              <a:rPr sz="850" spc="-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developers</a:t>
            </a:r>
            <a:r>
              <a:rPr sz="850" spc="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must</a:t>
            </a:r>
            <a:r>
              <a:rPr sz="850" spc="-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work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together </a:t>
            </a:r>
            <a:r>
              <a:rPr sz="850" dirty="0">
                <a:latin typeface="Arial MT"/>
                <a:cs typeface="Arial MT"/>
              </a:rPr>
              <a:t>daily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throughout</a:t>
            </a:r>
            <a:r>
              <a:rPr sz="850" spc="1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</a:t>
            </a:r>
            <a:r>
              <a:rPr sz="850" spc="-1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project</a:t>
            </a:r>
            <a:endParaRPr sz="850">
              <a:latin typeface="Arial MT"/>
              <a:cs typeface="Arial MT"/>
            </a:endParaRPr>
          </a:p>
          <a:p>
            <a:pPr marL="447675" marR="48260" indent="-171450">
              <a:lnSpc>
                <a:spcPts val="819"/>
              </a:lnSpc>
              <a:spcBef>
                <a:spcPts val="305"/>
              </a:spcBef>
              <a:buAutoNum type="arabicPeriod" startAt="2"/>
              <a:tabLst>
                <a:tab pos="448945" algn="l"/>
              </a:tabLst>
            </a:pPr>
            <a:r>
              <a:rPr sz="850" dirty="0">
                <a:latin typeface="Arial MT"/>
                <a:cs typeface="Arial MT"/>
              </a:rPr>
              <a:t>Build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projects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around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motivated</a:t>
            </a:r>
            <a:r>
              <a:rPr sz="850" spc="-1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individuals.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Give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them</a:t>
            </a:r>
            <a:r>
              <a:rPr sz="850" spc="-2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</a:t>
            </a:r>
            <a:r>
              <a:rPr sz="850" spc="-3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environment</a:t>
            </a:r>
            <a:r>
              <a:rPr sz="850" dirty="0">
                <a:latin typeface="Arial MT"/>
                <a:cs typeface="Arial MT"/>
              </a:rPr>
              <a:t> and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support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they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need,</a:t>
            </a:r>
            <a:r>
              <a:rPr sz="850" spc="-15" dirty="0">
                <a:latin typeface="Arial MT"/>
                <a:cs typeface="Arial MT"/>
              </a:rPr>
              <a:t> </a:t>
            </a:r>
            <a:r>
              <a:rPr sz="850" spc="-25" dirty="0">
                <a:latin typeface="Arial MT"/>
                <a:cs typeface="Arial MT"/>
              </a:rPr>
              <a:t>and 	</a:t>
            </a:r>
            <a:r>
              <a:rPr sz="850" dirty="0">
                <a:latin typeface="Arial MT"/>
                <a:cs typeface="Arial MT"/>
              </a:rPr>
              <a:t>trust</a:t>
            </a:r>
            <a:r>
              <a:rPr sz="850" spc="-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them</a:t>
            </a:r>
            <a:r>
              <a:rPr sz="850" spc="-2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to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get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job</a:t>
            </a:r>
            <a:r>
              <a:rPr sz="850" spc="-5" dirty="0">
                <a:latin typeface="Arial MT"/>
                <a:cs typeface="Arial MT"/>
              </a:rPr>
              <a:t> </a:t>
            </a:r>
            <a:r>
              <a:rPr sz="850" spc="-20" dirty="0">
                <a:latin typeface="Arial MT"/>
                <a:cs typeface="Arial MT"/>
              </a:rPr>
              <a:t>done</a:t>
            </a:r>
            <a:endParaRPr sz="850">
              <a:latin typeface="Arial MT"/>
              <a:cs typeface="Arial MT"/>
            </a:endParaRPr>
          </a:p>
          <a:p>
            <a:pPr marL="447675" marR="68580" indent="-171450">
              <a:lnSpc>
                <a:spcPts val="819"/>
              </a:lnSpc>
              <a:spcBef>
                <a:spcPts val="290"/>
              </a:spcBef>
              <a:buAutoNum type="arabicPeriod" startAt="2"/>
              <a:tabLst>
                <a:tab pos="448945" algn="l"/>
              </a:tabLst>
            </a:pPr>
            <a:r>
              <a:rPr sz="850" dirty="0">
                <a:latin typeface="Arial MT"/>
                <a:cs typeface="Arial MT"/>
              </a:rPr>
              <a:t>The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most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efficient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and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effective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method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of</a:t>
            </a:r>
            <a:r>
              <a:rPr sz="850" spc="-1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conveying</a:t>
            </a:r>
            <a:r>
              <a:rPr sz="850" spc="-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information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to</a:t>
            </a:r>
            <a:r>
              <a:rPr sz="850" spc="-2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and</a:t>
            </a:r>
            <a:r>
              <a:rPr sz="850" spc="-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within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a</a:t>
            </a:r>
            <a:r>
              <a:rPr sz="850" spc="-2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development</a:t>
            </a:r>
            <a:r>
              <a:rPr sz="850" spc="20" dirty="0">
                <a:latin typeface="Arial MT"/>
                <a:cs typeface="Arial MT"/>
              </a:rPr>
              <a:t> </a:t>
            </a:r>
            <a:r>
              <a:rPr sz="850" spc="-20" dirty="0">
                <a:latin typeface="Arial MT"/>
                <a:cs typeface="Arial MT"/>
              </a:rPr>
              <a:t>team 	</a:t>
            </a:r>
            <a:r>
              <a:rPr sz="850" dirty="0">
                <a:latin typeface="Arial MT"/>
                <a:cs typeface="Arial MT"/>
              </a:rPr>
              <a:t>is </a:t>
            </a:r>
            <a:r>
              <a:rPr sz="850" spc="-10" dirty="0">
                <a:latin typeface="Arial MT"/>
                <a:cs typeface="Arial MT"/>
              </a:rPr>
              <a:t>face-to-</a:t>
            </a:r>
            <a:r>
              <a:rPr sz="850" dirty="0">
                <a:latin typeface="Arial MT"/>
                <a:cs typeface="Arial MT"/>
              </a:rPr>
              <a:t>face </a:t>
            </a:r>
            <a:r>
              <a:rPr sz="850" spc="-10" dirty="0">
                <a:latin typeface="Arial MT"/>
                <a:cs typeface="Arial MT"/>
              </a:rPr>
              <a:t>conversation</a:t>
            </a:r>
            <a:endParaRPr sz="850">
              <a:latin typeface="Arial MT"/>
              <a:cs typeface="Arial MT"/>
            </a:endParaRPr>
          </a:p>
          <a:p>
            <a:pPr marL="448309" indent="-171450">
              <a:lnSpc>
                <a:spcPct val="100000"/>
              </a:lnSpc>
              <a:spcBef>
                <a:spcPts val="110"/>
              </a:spcBef>
              <a:buAutoNum type="arabicPeriod" startAt="2"/>
              <a:tabLst>
                <a:tab pos="448309" algn="l"/>
              </a:tabLst>
            </a:pPr>
            <a:r>
              <a:rPr sz="850" spc="-10" dirty="0">
                <a:latin typeface="Arial MT"/>
                <a:cs typeface="Arial MT"/>
              </a:rPr>
              <a:t>Working</a:t>
            </a:r>
            <a:r>
              <a:rPr sz="850" spc="-5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software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is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primary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measure</a:t>
            </a:r>
            <a:r>
              <a:rPr sz="850" spc="-1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of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progress</a:t>
            </a:r>
            <a:endParaRPr sz="850">
              <a:latin typeface="Arial MT"/>
              <a:cs typeface="Arial MT"/>
            </a:endParaRPr>
          </a:p>
          <a:p>
            <a:pPr marL="448309" indent="-171450">
              <a:lnSpc>
                <a:spcPts val="919"/>
              </a:lnSpc>
              <a:spcBef>
                <a:spcPts val="95"/>
              </a:spcBef>
              <a:buAutoNum type="arabicPeriod" startAt="2"/>
              <a:tabLst>
                <a:tab pos="448309" algn="l"/>
              </a:tabLst>
            </a:pPr>
            <a:r>
              <a:rPr sz="850" dirty="0">
                <a:latin typeface="Arial MT"/>
                <a:cs typeface="Arial MT"/>
              </a:rPr>
              <a:t>Agile</a:t>
            </a:r>
            <a:r>
              <a:rPr sz="850" spc="-1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processes</a:t>
            </a:r>
            <a:r>
              <a:rPr sz="850" spc="-2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promote</a:t>
            </a:r>
            <a:r>
              <a:rPr sz="850" spc="-1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sustainable</a:t>
            </a:r>
            <a:r>
              <a:rPr sz="850" spc="-1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development.</a:t>
            </a:r>
            <a:r>
              <a:rPr sz="850" spc="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</a:t>
            </a:r>
            <a:r>
              <a:rPr sz="850" spc="-1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sponsors,</a:t>
            </a:r>
            <a:r>
              <a:rPr sz="850" spc="-1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developers,</a:t>
            </a:r>
            <a:r>
              <a:rPr sz="850" dirty="0">
                <a:latin typeface="Arial MT"/>
                <a:cs typeface="Arial MT"/>
              </a:rPr>
              <a:t> and users</a:t>
            </a:r>
            <a:r>
              <a:rPr sz="850" spc="-2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should</a:t>
            </a:r>
            <a:r>
              <a:rPr sz="850" spc="-15" dirty="0">
                <a:latin typeface="Arial MT"/>
                <a:cs typeface="Arial MT"/>
              </a:rPr>
              <a:t> </a:t>
            </a:r>
            <a:r>
              <a:rPr sz="850" spc="-25" dirty="0">
                <a:latin typeface="Arial MT"/>
                <a:cs typeface="Arial MT"/>
              </a:rPr>
              <a:t>be</a:t>
            </a:r>
            <a:endParaRPr sz="850">
              <a:latin typeface="Arial MT"/>
              <a:cs typeface="Arial MT"/>
            </a:endParaRPr>
          </a:p>
          <a:p>
            <a:pPr marL="448945">
              <a:lnSpc>
                <a:spcPts val="919"/>
              </a:lnSpc>
            </a:pPr>
            <a:r>
              <a:rPr sz="850" dirty="0">
                <a:latin typeface="Arial MT"/>
                <a:cs typeface="Arial MT"/>
              </a:rPr>
              <a:t>able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to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maintain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a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constant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pace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indefinitely</a:t>
            </a:r>
            <a:endParaRPr sz="850">
              <a:latin typeface="Arial MT"/>
              <a:cs typeface="Arial MT"/>
            </a:endParaRPr>
          </a:p>
          <a:p>
            <a:pPr marL="448309" indent="-171450">
              <a:lnSpc>
                <a:spcPct val="100000"/>
              </a:lnSpc>
              <a:spcBef>
                <a:spcPts val="110"/>
              </a:spcBef>
              <a:buAutoNum type="arabicPeriod" startAt="9"/>
              <a:tabLst>
                <a:tab pos="448309" algn="l"/>
              </a:tabLst>
            </a:pPr>
            <a:r>
              <a:rPr sz="850" spc="-10" dirty="0">
                <a:latin typeface="Arial MT"/>
                <a:cs typeface="Arial MT"/>
              </a:rPr>
              <a:t>Continuous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attention</a:t>
            </a:r>
            <a:r>
              <a:rPr sz="850" spc="-2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to</a:t>
            </a:r>
            <a:r>
              <a:rPr sz="850" spc="-5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technical</a:t>
            </a:r>
            <a:r>
              <a:rPr sz="850" spc="-4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excellence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and</a:t>
            </a:r>
            <a:r>
              <a:rPr sz="850" spc="-2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good</a:t>
            </a:r>
            <a:r>
              <a:rPr sz="850" spc="-2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design</a:t>
            </a:r>
            <a:r>
              <a:rPr sz="850" spc="-4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enhances</a:t>
            </a:r>
            <a:r>
              <a:rPr sz="850" spc="-1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agility</a:t>
            </a:r>
            <a:endParaRPr sz="850">
              <a:latin typeface="Arial MT"/>
              <a:cs typeface="Arial MT"/>
            </a:endParaRPr>
          </a:p>
          <a:p>
            <a:pPr marL="447675" indent="-170815">
              <a:lnSpc>
                <a:spcPct val="100000"/>
              </a:lnSpc>
              <a:spcBef>
                <a:spcPts val="95"/>
              </a:spcBef>
              <a:buAutoNum type="arabicPeriod" startAt="9"/>
              <a:tabLst>
                <a:tab pos="447675" algn="l"/>
              </a:tabLst>
            </a:pPr>
            <a:r>
              <a:rPr sz="850" spc="-10" dirty="0">
                <a:latin typeface="Arial MT"/>
                <a:cs typeface="Arial MT"/>
              </a:rPr>
              <a:t>Simplicity--</a:t>
            </a:r>
            <a:r>
              <a:rPr sz="850" dirty="0">
                <a:latin typeface="Arial MT"/>
                <a:cs typeface="Arial MT"/>
              </a:rPr>
              <a:t>the</a:t>
            </a:r>
            <a:r>
              <a:rPr sz="850" spc="-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art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of</a:t>
            </a:r>
            <a:r>
              <a:rPr sz="850" spc="-1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maximizing</a:t>
            </a:r>
            <a:r>
              <a:rPr sz="850" spc="-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</a:t>
            </a:r>
            <a:r>
              <a:rPr sz="850" spc="-1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amount of</a:t>
            </a:r>
            <a:r>
              <a:rPr sz="850" spc="-1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work</a:t>
            </a:r>
            <a:r>
              <a:rPr sz="850" spc="-2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not</a:t>
            </a:r>
            <a:r>
              <a:rPr sz="850" spc="-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done--</a:t>
            </a:r>
            <a:r>
              <a:rPr sz="850" dirty="0">
                <a:latin typeface="Arial MT"/>
                <a:cs typeface="Arial MT"/>
              </a:rPr>
              <a:t>is</a:t>
            </a:r>
            <a:r>
              <a:rPr sz="850" spc="-1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essential</a:t>
            </a:r>
            <a:endParaRPr sz="850">
              <a:latin typeface="Arial MT"/>
              <a:cs typeface="Arial MT"/>
            </a:endParaRPr>
          </a:p>
          <a:p>
            <a:pPr marL="447675" indent="-170815">
              <a:lnSpc>
                <a:spcPct val="100000"/>
              </a:lnSpc>
              <a:spcBef>
                <a:spcPts val="110"/>
              </a:spcBef>
              <a:buAutoNum type="arabicPeriod" startAt="9"/>
              <a:tabLst>
                <a:tab pos="447675" algn="l"/>
              </a:tabLst>
            </a:pPr>
            <a:r>
              <a:rPr sz="850" dirty="0">
                <a:latin typeface="Arial MT"/>
                <a:cs typeface="Arial MT"/>
              </a:rPr>
              <a:t>The</a:t>
            </a:r>
            <a:r>
              <a:rPr sz="850" spc="-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best</a:t>
            </a:r>
            <a:r>
              <a:rPr sz="850" spc="-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architectures,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requirements,</a:t>
            </a:r>
            <a:r>
              <a:rPr sz="850" spc="1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and</a:t>
            </a:r>
            <a:r>
              <a:rPr sz="850" spc="-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designs</a:t>
            </a:r>
            <a:r>
              <a:rPr sz="850" spc="10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emerge</a:t>
            </a:r>
            <a:r>
              <a:rPr sz="850" spc="-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from</a:t>
            </a:r>
            <a:r>
              <a:rPr sz="850" spc="-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self-</a:t>
            </a:r>
            <a:r>
              <a:rPr sz="850" spc="-10" dirty="0">
                <a:latin typeface="Arial MT"/>
                <a:cs typeface="Arial MT"/>
              </a:rPr>
              <a:t>organizing</a:t>
            </a:r>
            <a:r>
              <a:rPr sz="850" spc="-5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teams</a:t>
            </a:r>
            <a:endParaRPr sz="850">
              <a:latin typeface="Arial MT"/>
              <a:cs typeface="Arial MT"/>
            </a:endParaRPr>
          </a:p>
          <a:p>
            <a:pPr marL="447040" marR="132080" indent="-170815">
              <a:lnSpc>
                <a:spcPts val="819"/>
              </a:lnSpc>
              <a:spcBef>
                <a:spcPts val="290"/>
              </a:spcBef>
              <a:buAutoNum type="arabicPeriod" startAt="9"/>
              <a:tabLst>
                <a:tab pos="448945" algn="l"/>
              </a:tabLst>
            </a:pPr>
            <a:r>
              <a:rPr sz="850" dirty="0">
                <a:latin typeface="Arial MT"/>
                <a:cs typeface="Arial MT"/>
              </a:rPr>
              <a:t>At</a:t>
            </a:r>
            <a:r>
              <a:rPr sz="850" spc="-2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regular</a:t>
            </a:r>
            <a:r>
              <a:rPr sz="850" spc="-10" dirty="0">
                <a:latin typeface="Arial MT"/>
                <a:cs typeface="Arial MT"/>
              </a:rPr>
              <a:t> intervals,</a:t>
            </a:r>
            <a:r>
              <a:rPr sz="850" spc="-3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team</a:t>
            </a:r>
            <a:r>
              <a:rPr sz="850" spc="-15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reflects</a:t>
            </a:r>
            <a:r>
              <a:rPr sz="850" spc="-4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on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how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to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become</a:t>
            </a:r>
            <a:r>
              <a:rPr sz="850" spc="-1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more</a:t>
            </a:r>
            <a:r>
              <a:rPr sz="850" spc="-30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effective,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then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tunes</a:t>
            </a:r>
            <a:r>
              <a:rPr sz="850" spc="-1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and</a:t>
            </a:r>
            <a:r>
              <a:rPr sz="850" spc="-20" dirty="0">
                <a:latin typeface="Arial MT"/>
                <a:cs typeface="Arial MT"/>
              </a:rPr>
              <a:t> </a:t>
            </a:r>
            <a:r>
              <a:rPr sz="850" dirty="0">
                <a:latin typeface="Arial MT"/>
                <a:cs typeface="Arial MT"/>
              </a:rPr>
              <a:t>adjusts</a:t>
            </a:r>
            <a:r>
              <a:rPr sz="850" spc="-10" dirty="0">
                <a:latin typeface="Arial MT"/>
                <a:cs typeface="Arial MT"/>
              </a:rPr>
              <a:t> </a:t>
            </a:r>
            <a:r>
              <a:rPr sz="850" spc="-25" dirty="0">
                <a:latin typeface="Arial MT"/>
                <a:cs typeface="Arial MT"/>
              </a:rPr>
              <a:t>its 	</a:t>
            </a:r>
            <a:r>
              <a:rPr sz="850" spc="-10" dirty="0">
                <a:latin typeface="Arial MT"/>
                <a:cs typeface="Arial MT"/>
              </a:rPr>
              <a:t>behavior</a:t>
            </a:r>
            <a:r>
              <a:rPr sz="850" spc="20" dirty="0">
                <a:latin typeface="Arial MT"/>
                <a:cs typeface="Arial MT"/>
              </a:rPr>
              <a:t> </a:t>
            </a:r>
            <a:r>
              <a:rPr sz="850" spc="-10" dirty="0">
                <a:latin typeface="Arial MT"/>
                <a:cs typeface="Arial MT"/>
              </a:rPr>
              <a:t>accordingly</a:t>
            </a:r>
            <a:endParaRPr sz="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27425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Pillars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Agile</a:t>
            </a:r>
            <a:r>
              <a:rPr sz="16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Methodology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432305"/>
            <a:ext cx="10407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Agile</a:t>
            </a:r>
            <a:r>
              <a:rPr sz="1000" b="1" spc="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focuses</a:t>
            </a:r>
            <a:r>
              <a:rPr sz="1000" b="1" spc="-25" dirty="0">
                <a:solidFill>
                  <a:srgbClr val="1C1573"/>
                </a:solidFill>
                <a:latin typeface="Arial"/>
                <a:cs typeface="Arial"/>
              </a:rPr>
              <a:t> on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714625" y="1637792"/>
            <a:ext cx="1428750" cy="571500"/>
            <a:chOff x="2714625" y="1637792"/>
            <a:chExt cx="1428750" cy="571500"/>
          </a:xfrm>
        </p:grpSpPr>
        <p:sp>
          <p:nvSpPr>
            <p:cNvPr id="8" name="object 8"/>
            <p:cNvSpPr/>
            <p:nvPr/>
          </p:nvSpPr>
          <p:spPr>
            <a:xfrm>
              <a:off x="2714625" y="1637792"/>
              <a:ext cx="1428750" cy="571500"/>
            </a:xfrm>
            <a:custGeom>
              <a:avLst/>
              <a:gdLst/>
              <a:ahLst/>
              <a:cxnLst/>
              <a:rect l="l" t="t" r="r" b="b"/>
              <a:pathLst>
                <a:path w="1428750" h="571500">
                  <a:moveTo>
                    <a:pt x="285750" y="0"/>
                  </a:moveTo>
                  <a:lnTo>
                    <a:pt x="0" y="238125"/>
                  </a:lnTo>
                  <a:lnTo>
                    <a:pt x="285750" y="476250"/>
                  </a:lnTo>
                  <a:lnTo>
                    <a:pt x="285750" y="381000"/>
                  </a:lnTo>
                  <a:lnTo>
                    <a:pt x="669671" y="381000"/>
                  </a:lnTo>
                  <a:lnTo>
                    <a:pt x="669671" y="452500"/>
                  </a:lnTo>
                  <a:lnTo>
                    <a:pt x="673191" y="461730"/>
                  </a:lnTo>
                  <a:lnTo>
                    <a:pt x="682783" y="469280"/>
                  </a:lnTo>
                  <a:lnTo>
                    <a:pt x="696995" y="474378"/>
                  </a:lnTo>
                  <a:lnTo>
                    <a:pt x="714375" y="476250"/>
                  </a:lnTo>
                  <a:lnTo>
                    <a:pt x="1143000" y="476250"/>
                  </a:lnTo>
                  <a:lnTo>
                    <a:pt x="1143000" y="571500"/>
                  </a:lnTo>
                  <a:lnTo>
                    <a:pt x="1428750" y="333375"/>
                  </a:lnTo>
                  <a:lnTo>
                    <a:pt x="1143000" y="95250"/>
                  </a:lnTo>
                  <a:lnTo>
                    <a:pt x="1143000" y="190500"/>
                  </a:lnTo>
                  <a:lnTo>
                    <a:pt x="714375" y="190500"/>
                  </a:lnTo>
                  <a:lnTo>
                    <a:pt x="696995" y="188628"/>
                  </a:lnTo>
                  <a:lnTo>
                    <a:pt x="682783" y="183530"/>
                  </a:lnTo>
                  <a:lnTo>
                    <a:pt x="673191" y="175980"/>
                  </a:lnTo>
                  <a:lnTo>
                    <a:pt x="669671" y="166750"/>
                  </a:lnTo>
                  <a:lnTo>
                    <a:pt x="673191" y="157448"/>
                  </a:lnTo>
                  <a:lnTo>
                    <a:pt x="682783" y="149860"/>
                  </a:lnTo>
                  <a:lnTo>
                    <a:pt x="696995" y="144748"/>
                  </a:lnTo>
                  <a:lnTo>
                    <a:pt x="731754" y="141003"/>
                  </a:lnTo>
                  <a:lnTo>
                    <a:pt x="745966" y="135905"/>
                  </a:lnTo>
                  <a:lnTo>
                    <a:pt x="755558" y="128355"/>
                  </a:lnTo>
                  <a:lnTo>
                    <a:pt x="759078" y="119125"/>
                  </a:lnTo>
                  <a:lnTo>
                    <a:pt x="755558" y="109823"/>
                  </a:lnTo>
                  <a:lnTo>
                    <a:pt x="745966" y="102235"/>
                  </a:lnTo>
                  <a:lnTo>
                    <a:pt x="731754" y="97123"/>
                  </a:lnTo>
                  <a:lnTo>
                    <a:pt x="714375" y="95250"/>
                  </a:lnTo>
                  <a:lnTo>
                    <a:pt x="285750" y="9525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81120" y="1756918"/>
              <a:ext cx="95757" cy="26187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875533" y="1780413"/>
            <a:ext cx="492125" cy="1816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66040" marR="5080" indent="-53340">
              <a:lnSpc>
                <a:spcPts val="560"/>
              </a:lnSpc>
              <a:spcBef>
                <a:spcPts val="200"/>
              </a:spcBef>
            </a:pPr>
            <a:r>
              <a:rPr sz="550" dirty="0">
                <a:solidFill>
                  <a:srgbClr val="FFFFFF"/>
                </a:solidFill>
                <a:latin typeface="Arial MT"/>
                <a:cs typeface="Arial MT"/>
              </a:rPr>
              <a:t>Individuals</a:t>
            </a:r>
            <a:r>
              <a:rPr sz="5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50" spc="-2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550" spc="5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50" spc="-10" dirty="0">
                <a:solidFill>
                  <a:srgbClr val="FFFFFF"/>
                </a:solidFill>
                <a:latin typeface="Arial MT"/>
                <a:cs typeface="Arial MT"/>
              </a:rPr>
              <a:t>interactions</a:t>
            </a:r>
            <a:endParaRPr sz="5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62654" y="1871852"/>
            <a:ext cx="489584" cy="1816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70815" marR="5080" indent="-158750">
              <a:lnSpc>
                <a:spcPts val="560"/>
              </a:lnSpc>
              <a:spcBef>
                <a:spcPts val="200"/>
              </a:spcBef>
            </a:pPr>
            <a:r>
              <a:rPr sz="550" dirty="0">
                <a:solidFill>
                  <a:srgbClr val="FFFFFF"/>
                </a:solidFill>
                <a:latin typeface="Arial MT"/>
                <a:cs typeface="Arial MT"/>
              </a:rPr>
              <a:t>Processes</a:t>
            </a:r>
            <a:r>
              <a:rPr sz="550" spc="-25" dirty="0">
                <a:solidFill>
                  <a:srgbClr val="FFFFFF"/>
                </a:solidFill>
                <a:latin typeface="Arial MT"/>
                <a:cs typeface="Arial MT"/>
              </a:rPr>
              <a:t> and</a:t>
            </a:r>
            <a:r>
              <a:rPr sz="550" spc="5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550" spc="-10" dirty="0">
                <a:solidFill>
                  <a:srgbClr val="FFFFFF"/>
                </a:solidFill>
                <a:latin typeface="Arial MT"/>
                <a:cs typeface="Arial MT"/>
              </a:rPr>
              <a:t>tools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714625" y="2248154"/>
            <a:ext cx="1428750" cy="571500"/>
            <a:chOff x="2714625" y="2248154"/>
            <a:chExt cx="1428750" cy="571500"/>
          </a:xfrm>
        </p:grpSpPr>
        <p:sp>
          <p:nvSpPr>
            <p:cNvPr id="13" name="object 13"/>
            <p:cNvSpPr/>
            <p:nvPr/>
          </p:nvSpPr>
          <p:spPr>
            <a:xfrm>
              <a:off x="2714625" y="2248154"/>
              <a:ext cx="1428750" cy="571500"/>
            </a:xfrm>
            <a:custGeom>
              <a:avLst/>
              <a:gdLst/>
              <a:ahLst/>
              <a:cxnLst/>
              <a:rect l="l" t="t" r="r" b="b"/>
              <a:pathLst>
                <a:path w="1428750" h="571500">
                  <a:moveTo>
                    <a:pt x="285750" y="0"/>
                  </a:moveTo>
                  <a:lnTo>
                    <a:pt x="0" y="238125"/>
                  </a:lnTo>
                  <a:lnTo>
                    <a:pt x="285750" y="476250"/>
                  </a:lnTo>
                  <a:lnTo>
                    <a:pt x="285750" y="381000"/>
                  </a:lnTo>
                  <a:lnTo>
                    <a:pt x="669671" y="381000"/>
                  </a:lnTo>
                  <a:lnTo>
                    <a:pt x="669671" y="452374"/>
                  </a:lnTo>
                  <a:lnTo>
                    <a:pt x="673191" y="461676"/>
                  </a:lnTo>
                  <a:lnTo>
                    <a:pt x="682783" y="469265"/>
                  </a:lnTo>
                  <a:lnTo>
                    <a:pt x="696995" y="474376"/>
                  </a:lnTo>
                  <a:lnTo>
                    <a:pt x="714375" y="476250"/>
                  </a:lnTo>
                  <a:lnTo>
                    <a:pt x="1143000" y="476250"/>
                  </a:lnTo>
                  <a:lnTo>
                    <a:pt x="1143000" y="571500"/>
                  </a:lnTo>
                  <a:lnTo>
                    <a:pt x="1428750" y="333375"/>
                  </a:lnTo>
                  <a:lnTo>
                    <a:pt x="1143000" y="95250"/>
                  </a:lnTo>
                  <a:lnTo>
                    <a:pt x="1143000" y="190500"/>
                  </a:lnTo>
                  <a:lnTo>
                    <a:pt x="714375" y="190500"/>
                  </a:lnTo>
                  <a:lnTo>
                    <a:pt x="696995" y="188626"/>
                  </a:lnTo>
                  <a:lnTo>
                    <a:pt x="682783" y="183514"/>
                  </a:lnTo>
                  <a:lnTo>
                    <a:pt x="673191" y="175926"/>
                  </a:lnTo>
                  <a:lnTo>
                    <a:pt x="669671" y="166624"/>
                  </a:lnTo>
                  <a:lnTo>
                    <a:pt x="673191" y="157394"/>
                  </a:lnTo>
                  <a:lnTo>
                    <a:pt x="682783" y="149844"/>
                  </a:lnTo>
                  <a:lnTo>
                    <a:pt x="696995" y="144746"/>
                  </a:lnTo>
                  <a:lnTo>
                    <a:pt x="731754" y="141001"/>
                  </a:lnTo>
                  <a:lnTo>
                    <a:pt x="745966" y="135889"/>
                  </a:lnTo>
                  <a:lnTo>
                    <a:pt x="755558" y="128301"/>
                  </a:lnTo>
                  <a:lnTo>
                    <a:pt x="759078" y="118999"/>
                  </a:lnTo>
                  <a:lnTo>
                    <a:pt x="755558" y="109769"/>
                  </a:lnTo>
                  <a:lnTo>
                    <a:pt x="745966" y="102219"/>
                  </a:lnTo>
                  <a:lnTo>
                    <a:pt x="731754" y="97121"/>
                  </a:lnTo>
                  <a:lnTo>
                    <a:pt x="714375" y="95250"/>
                  </a:lnTo>
                  <a:lnTo>
                    <a:pt x="285750" y="9525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1120" y="2367153"/>
              <a:ext cx="95757" cy="2620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2965450" y="2382393"/>
            <a:ext cx="313055" cy="196215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2540">
              <a:lnSpc>
                <a:spcPts val="620"/>
              </a:lnSpc>
              <a:spcBef>
                <a:spcPts val="200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Working</a:t>
            </a:r>
            <a:r>
              <a:rPr sz="600" spc="5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software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27603" y="2473832"/>
            <a:ext cx="560070" cy="196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70"/>
              </a:lnSpc>
              <a:spcBef>
                <a:spcPts val="100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Comprehensive</a:t>
            </a:r>
            <a:endParaRPr sz="600">
              <a:latin typeface="Arial MT"/>
              <a:cs typeface="Arial MT"/>
            </a:endParaRPr>
          </a:p>
          <a:p>
            <a:pPr marL="29209">
              <a:lnSpc>
                <a:spcPts val="670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documentation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705607" y="2816479"/>
            <a:ext cx="1435100" cy="577850"/>
            <a:chOff x="2705607" y="2816479"/>
            <a:chExt cx="1435100" cy="577850"/>
          </a:xfrm>
        </p:grpSpPr>
        <p:sp>
          <p:nvSpPr>
            <p:cNvPr id="18" name="object 18"/>
            <p:cNvSpPr/>
            <p:nvPr/>
          </p:nvSpPr>
          <p:spPr>
            <a:xfrm>
              <a:off x="2708782" y="2819654"/>
              <a:ext cx="1428750" cy="571500"/>
            </a:xfrm>
            <a:custGeom>
              <a:avLst/>
              <a:gdLst/>
              <a:ahLst/>
              <a:cxnLst/>
              <a:rect l="l" t="t" r="r" b="b"/>
              <a:pathLst>
                <a:path w="1428750" h="571500">
                  <a:moveTo>
                    <a:pt x="285750" y="0"/>
                  </a:moveTo>
                  <a:lnTo>
                    <a:pt x="0" y="238125"/>
                  </a:lnTo>
                  <a:lnTo>
                    <a:pt x="285750" y="476250"/>
                  </a:lnTo>
                  <a:lnTo>
                    <a:pt x="285750" y="381000"/>
                  </a:lnTo>
                  <a:lnTo>
                    <a:pt x="669670" y="381000"/>
                  </a:lnTo>
                  <a:lnTo>
                    <a:pt x="669670" y="452374"/>
                  </a:lnTo>
                  <a:lnTo>
                    <a:pt x="673191" y="461676"/>
                  </a:lnTo>
                  <a:lnTo>
                    <a:pt x="682783" y="469265"/>
                  </a:lnTo>
                  <a:lnTo>
                    <a:pt x="696995" y="474376"/>
                  </a:lnTo>
                  <a:lnTo>
                    <a:pt x="714375" y="476250"/>
                  </a:lnTo>
                  <a:lnTo>
                    <a:pt x="1143000" y="476250"/>
                  </a:lnTo>
                  <a:lnTo>
                    <a:pt x="1143000" y="571500"/>
                  </a:lnTo>
                  <a:lnTo>
                    <a:pt x="1428750" y="333375"/>
                  </a:lnTo>
                  <a:lnTo>
                    <a:pt x="1143000" y="95250"/>
                  </a:lnTo>
                  <a:lnTo>
                    <a:pt x="1143000" y="190500"/>
                  </a:lnTo>
                  <a:lnTo>
                    <a:pt x="714375" y="190500"/>
                  </a:lnTo>
                  <a:lnTo>
                    <a:pt x="696995" y="188626"/>
                  </a:lnTo>
                  <a:lnTo>
                    <a:pt x="682783" y="183515"/>
                  </a:lnTo>
                  <a:lnTo>
                    <a:pt x="673191" y="175926"/>
                  </a:lnTo>
                  <a:lnTo>
                    <a:pt x="669670" y="166624"/>
                  </a:lnTo>
                  <a:lnTo>
                    <a:pt x="673191" y="157394"/>
                  </a:lnTo>
                  <a:lnTo>
                    <a:pt x="682783" y="149844"/>
                  </a:lnTo>
                  <a:lnTo>
                    <a:pt x="696995" y="144746"/>
                  </a:lnTo>
                  <a:lnTo>
                    <a:pt x="731734" y="141001"/>
                  </a:lnTo>
                  <a:lnTo>
                    <a:pt x="745902" y="135890"/>
                  </a:lnTo>
                  <a:lnTo>
                    <a:pt x="755451" y="128301"/>
                  </a:lnTo>
                  <a:lnTo>
                    <a:pt x="758952" y="118999"/>
                  </a:lnTo>
                  <a:lnTo>
                    <a:pt x="755451" y="109769"/>
                  </a:lnTo>
                  <a:lnTo>
                    <a:pt x="745902" y="102219"/>
                  </a:lnTo>
                  <a:lnTo>
                    <a:pt x="731734" y="97121"/>
                  </a:lnTo>
                  <a:lnTo>
                    <a:pt x="714375" y="95250"/>
                  </a:lnTo>
                  <a:lnTo>
                    <a:pt x="285750" y="9525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78453" y="2938653"/>
              <a:ext cx="89281" cy="715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708782" y="2819654"/>
              <a:ext cx="1428750" cy="571500"/>
            </a:xfrm>
            <a:custGeom>
              <a:avLst/>
              <a:gdLst/>
              <a:ahLst/>
              <a:cxnLst/>
              <a:rect l="l" t="t" r="r" b="b"/>
              <a:pathLst>
                <a:path w="1428750" h="571500">
                  <a:moveTo>
                    <a:pt x="0" y="238125"/>
                  </a:moveTo>
                  <a:lnTo>
                    <a:pt x="285750" y="0"/>
                  </a:lnTo>
                  <a:lnTo>
                    <a:pt x="285750" y="95250"/>
                  </a:lnTo>
                  <a:lnTo>
                    <a:pt x="714375" y="95250"/>
                  </a:lnTo>
                  <a:lnTo>
                    <a:pt x="731734" y="97121"/>
                  </a:lnTo>
                  <a:lnTo>
                    <a:pt x="745902" y="102219"/>
                  </a:lnTo>
                  <a:lnTo>
                    <a:pt x="755451" y="109769"/>
                  </a:lnTo>
                  <a:lnTo>
                    <a:pt x="758952" y="118999"/>
                  </a:lnTo>
                  <a:lnTo>
                    <a:pt x="755451" y="128301"/>
                  </a:lnTo>
                  <a:lnTo>
                    <a:pt x="745902" y="135890"/>
                  </a:lnTo>
                  <a:lnTo>
                    <a:pt x="731734" y="141001"/>
                  </a:lnTo>
                  <a:lnTo>
                    <a:pt x="714375" y="142875"/>
                  </a:lnTo>
                  <a:lnTo>
                    <a:pt x="696995" y="144746"/>
                  </a:lnTo>
                  <a:lnTo>
                    <a:pt x="682783" y="149844"/>
                  </a:lnTo>
                  <a:lnTo>
                    <a:pt x="673191" y="157394"/>
                  </a:lnTo>
                  <a:lnTo>
                    <a:pt x="669670" y="166624"/>
                  </a:lnTo>
                  <a:lnTo>
                    <a:pt x="673191" y="175926"/>
                  </a:lnTo>
                  <a:lnTo>
                    <a:pt x="682783" y="183515"/>
                  </a:lnTo>
                  <a:lnTo>
                    <a:pt x="696995" y="188626"/>
                  </a:lnTo>
                  <a:lnTo>
                    <a:pt x="714375" y="190500"/>
                  </a:lnTo>
                  <a:lnTo>
                    <a:pt x="1143000" y="190500"/>
                  </a:lnTo>
                  <a:lnTo>
                    <a:pt x="1143000" y="95250"/>
                  </a:lnTo>
                  <a:lnTo>
                    <a:pt x="1428750" y="333375"/>
                  </a:lnTo>
                  <a:lnTo>
                    <a:pt x="1143000" y="571500"/>
                  </a:lnTo>
                  <a:lnTo>
                    <a:pt x="1143000" y="476250"/>
                  </a:lnTo>
                  <a:lnTo>
                    <a:pt x="714375" y="476250"/>
                  </a:lnTo>
                  <a:lnTo>
                    <a:pt x="696995" y="474376"/>
                  </a:lnTo>
                  <a:lnTo>
                    <a:pt x="682783" y="469265"/>
                  </a:lnTo>
                  <a:lnTo>
                    <a:pt x="673191" y="461676"/>
                  </a:lnTo>
                  <a:lnTo>
                    <a:pt x="669670" y="452374"/>
                  </a:lnTo>
                  <a:lnTo>
                    <a:pt x="669670" y="381000"/>
                  </a:lnTo>
                  <a:lnTo>
                    <a:pt x="285750" y="381000"/>
                  </a:lnTo>
                  <a:lnTo>
                    <a:pt x="285750" y="476250"/>
                  </a:lnTo>
                  <a:lnTo>
                    <a:pt x="0" y="238125"/>
                  </a:lnTo>
                  <a:close/>
                </a:path>
                <a:path w="1428750" h="571500">
                  <a:moveTo>
                    <a:pt x="758952" y="118999"/>
                  </a:moveTo>
                  <a:lnTo>
                    <a:pt x="758952" y="190500"/>
                  </a:lnTo>
                </a:path>
                <a:path w="1428750" h="571500">
                  <a:moveTo>
                    <a:pt x="669670" y="166624"/>
                  </a:moveTo>
                  <a:lnTo>
                    <a:pt x="669670" y="381000"/>
                  </a:lnTo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75914" y="2954273"/>
            <a:ext cx="478790" cy="19621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62230">
              <a:lnSpc>
                <a:spcPts val="620"/>
              </a:lnSpc>
              <a:spcBef>
                <a:spcPts val="204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Customer</a:t>
            </a:r>
            <a:r>
              <a:rPr sz="600" spc="5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Collaboration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01009" y="3045714"/>
            <a:ext cx="402590" cy="19621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43815">
              <a:lnSpc>
                <a:spcPts val="620"/>
              </a:lnSpc>
              <a:spcBef>
                <a:spcPts val="204"/>
              </a:spcBef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Contract</a:t>
            </a:r>
            <a:r>
              <a:rPr sz="600" spc="5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</a:rPr>
              <a:t>negotiation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698495" y="3429889"/>
            <a:ext cx="1428750" cy="571500"/>
            <a:chOff x="2698495" y="3429889"/>
            <a:chExt cx="1428750" cy="571500"/>
          </a:xfrm>
        </p:grpSpPr>
        <p:sp>
          <p:nvSpPr>
            <p:cNvPr id="24" name="object 24"/>
            <p:cNvSpPr/>
            <p:nvPr/>
          </p:nvSpPr>
          <p:spPr>
            <a:xfrm>
              <a:off x="2698495" y="3429889"/>
              <a:ext cx="1428750" cy="571500"/>
            </a:xfrm>
            <a:custGeom>
              <a:avLst/>
              <a:gdLst/>
              <a:ahLst/>
              <a:cxnLst/>
              <a:rect l="l" t="t" r="r" b="b"/>
              <a:pathLst>
                <a:path w="1428750" h="571500">
                  <a:moveTo>
                    <a:pt x="285750" y="0"/>
                  </a:moveTo>
                  <a:lnTo>
                    <a:pt x="0" y="238125"/>
                  </a:lnTo>
                  <a:lnTo>
                    <a:pt x="285750" y="476250"/>
                  </a:lnTo>
                  <a:lnTo>
                    <a:pt x="285750" y="381000"/>
                  </a:lnTo>
                  <a:lnTo>
                    <a:pt x="669798" y="381000"/>
                  </a:lnTo>
                  <a:lnTo>
                    <a:pt x="669798" y="452500"/>
                  </a:lnTo>
                  <a:lnTo>
                    <a:pt x="673298" y="461730"/>
                  </a:lnTo>
                  <a:lnTo>
                    <a:pt x="682847" y="469280"/>
                  </a:lnTo>
                  <a:lnTo>
                    <a:pt x="697015" y="474378"/>
                  </a:lnTo>
                  <a:lnTo>
                    <a:pt x="714375" y="476250"/>
                  </a:lnTo>
                  <a:lnTo>
                    <a:pt x="1143000" y="476250"/>
                  </a:lnTo>
                  <a:lnTo>
                    <a:pt x="1143000" y="571500"/>
                  </a:lnTo>
                  <a:lnTo>
                    <a:pt x="1428750" y="333375"/>
                  </a:lnTo>
                  <a:lnTo>
                    <a:pt x="1143000" y="95250"/>
                  </a:lnTo>
                  <a:lnTo>
                    <a:pt x="1143000" y="190500"/>
                  </a:lnTo>
                  <a:lnTo>
                    <a:pt x="714375" y="190500"/>
                  </a:lnTo>
                  <a:lnTo>
                    <a:pt x="697015" y="188628"/>
                  </a:lnTo>
                  <a:lnTo>
                    <a:pt x="682847" y="183530"/>
                  </a:lnTo>
                  <a:lnTo>
                    <a:pt x="673298" y="175980"/>
                  </a:lnTo>
                  <a:lnTo>
                    <a:pt x="669798" y="166750"/>
                  </a:lnTo>
                  <a:lnTo>
                    <a:pt x="673298" y="157448"/>
                  </a:lnTo>
                  <a:lnTo>
                    <a:pt x="682847" y="149860"/>
                  </a:lnTo>
                  <a:lnTo>
                    <a:pt x="697015" y="144748"/>
                  </a:lnTo>
                  <a:lnTo>
                    <a:pt x="731754" y="141003"/>
                  </a:lnTo>
                  <a:lnTo>
                    <a:pt x="745966" y="135905"/>
                  </a:lnTo>
                  <a:lnTo>
                    <a:pt x="755558" y="128355"/>
                  </a:lnTo>
                  <a:lnTo>
                    <a:pt x="759079" y="119125"/>
                  </a:lnTo>
                  <a:lnTo>
                    <a:pt x="755558" y="109823"/>
                  </a:lnTo>
                  <a:lnTo>
                    <a:pt x="745966" y="102235"/>
                  </a:lnTo>
                  <a:lnTo>
                    <a:pt x="731754" y="97123"/>
                  </a:lnTo>
                  <a:lnTo>
                    <a:pt x="714375" y="95250"/>
                  </a:lnTo>
                  <a:lnTo>
                    <a:pt x="285750" y="9525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65118" y="3549015"/>
              <a:ext cx="95630" cy="26187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2874645" y="3558032"/>
            <a:ext cx="462915" cy="20955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52069" marR="5080" indent="-40005">
              <a:lnSpc>
                <a:spcPts val="670"/>
              </a:lnSpc>
              <a:spcBef>
                <a:spcPts val="210"/>
              </a:spcBef>
            </a:pPr>
            <a:r>
              <a:rPr sz="650" spc="-10" dirty="0">
                <a:solidFill>
                  <a:srgbClr val="FFFFFF"/>
                </a:solidFill>
                <a:latin typeface="Arial MT"/>
                <a:cs typeface="Arial MT"/>
              </a:rPr>
              <a:t>Responding</a:t>
            </a:r>
            <a:r>
              <a:rPr sz="650" spc="5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650" spc="-10" dirty="0">
                <a:solidFill>
                  <a:srgbClr val="FFFFFF"/>
                </a:solidFill>
                <a:latin typeface="Arial MT"/>
                <a:cs typeface="Arial MT"/>
              </a:rPr>
              <a:t> change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70909" y="3649471"/>
            <a:ext cx="443230" cy="20955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43510" marR="5080" indent="-131445">
              <a:lnSpc>
                <a:spcPts val="670"/>
              </a:lnSpc>
              <a:spcBef>
                <a:spcPts val="210"/>
              </a:spcBef>
            </a:pPr>
            <a:r>
              <a:rPr sz="650" spc="-10" dirty="0">
                <a:solidFill>
                  <a:srgbClr val="FFFFFF"/>
                </a:solidFill>
                <a:latin typeface="Arial MT"/>
                <a:cs typeface="Arial MT"/>
              </a:rPr>
              <a:t>Following</a:t>
            </a:r>
            <a:r>
              <a:rPr sz="65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50" spc="-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650" spc="5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FFFFFF"/>
                </a:solidFill>
                <a:latin typeface="Arial MT"/>
                <a:cs typeface="Arial MT"/>
              </a:rPr>
              <a:t>plan</a:t>
            </a:r>
            <a:endParaRPr sz="650">
              <a:latin typeface="Arial MT"/>
              <a:cs typeface="Arial MT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833424" y="4977460"/>
            <a:ext cx="20066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Agile</a:t>
            </a:r>
            <a:r>
              <a:rPr sz="16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Methodologies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1" name="object 31"/>
          <p:cNvSpPr txBox="1"/>
          <p:nvPr/>
        </p:nvSpPr>
        <p:spPr>
          <a:xfrm>
            <a:off x="578916" y="5322934"/>
            <a:ext cx="2225675" cy="113792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Few</a:t>
            </a:r>
            <a:r>
              <a:rPr sz="1000" b="1" spc="-2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of</a:t>
            </a:r>
            <a:r>
              <a:rPr sz="1000" b="1" spc="-7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Agile</a:t>
            </a:r>
            <a:r>
              <a:rPr sz="1000" b="1" spc="1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Methodologies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sz="900" spc="-10" dirty="0">
                <a:latin typeface="Arial MT"/>
                <a:cs typeface="Arial MT"/>
              </a:rPr>
              <a:t>Scrum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Extreme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Programming</a:t>
            </a:r>
            <a:r>
              <a:rPr sz="900" spc="-6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[XP]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spc="-20" dirty="0">
                <a:latin typeface="Arial MT"/>
                <a:cs typeface="Arial MT"/>
              </a:rPr>
              <a:t>Test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driven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Development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[TDD]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Feature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Driven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Development</a:t>
            </a:r>
            <a:r>
              <a:rPr sz="900" spc="-5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[FDD]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spc="-10" dirty="0">
                <a:latin typeface="Arial MT"/>
                <a:cs typeface="Arial MT"/>
              </a:rPr>
              <a:t>Behavior-</a:t>
            </a:r>
            <a:r>
              <a:rPr sz="900" dirty="0">
                <a:latin typeface="Arial MT"/>
                <a:cs typeface="Arial MT"/>
              </a:rPr>
              <a:t>driven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development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[BDD]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2952" y="1556003"/>
            <a:ext cx="2970731" cy="24228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28674" y="1074801"/>
            <a:ext cx="2808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Arial"/>
                <a:cs typeface="Arial"/>
              </a:rPr>
              <a:t>Test</a:t>
            </a:r>
            <a:r>
              <a:rPr sz="1800" b="1" spc="-7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Driven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Development,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7052" y="5661999"/>
            <a:ext cx="4043498" cy="224694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28674" y="4914646"/>
            <a:ext cx="1619250" cy="54673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>
              <a:lnSpc>
                <a:spcPts val="1939"/>
              </a:lnSpc>
              <a:spcBef>
                <a:spcPts val="345"/>
              </a:spcBef>
            </a:pPr>
            <a:r>
              <a:rPr sz="1800" b="1" dirty="0">
                <a:latin typeface="Arial"/>
                <a:cs typeface="Arial"/>
              </a:rPr>
              <a:t>Feature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Driven Development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8405" y="1704666"/>
            <a:ext cx="3962297" cy="225367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28674" y="937641"/>
            <a:ext cx="1758950" cy="546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5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Behavior-driven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50"/>
              </a:lnSpc>
            </a:pPr>
            <a:r>
              <a:rPr sz="1800" b="1" spc="-10" dirty="0">
                <a:latin typeface="Arial"/>
                <a:cs typeface="Arial"/>
              </a:rPr>
              <a:t>development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78916" y="5322934"/>
            <a:ext cx="3729990" cy="8089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Operational</a:t>
            </a:r>
            <a:r>
              <a:rPr sz="1000" b="1" spc="-5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Methodologies:</a:t>
            </a:r>
            <a:r>
              <a:rPr sz="1000" b="1" spc="-5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spc="-20" dirty="0">
                <a:solidFill>
                  <a:srgbClr val="1C1573"/>
                </a:solidFill>
                <a:latin typeface="Arial"/>
                <a:cs typeface="Arial"/>
              </a:rPr>
              <a:t>ITIL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sz="900" spc="-10" dirty="0">
                <a:latin typeface="Arial MT"/>
                <a:cs typeface="Arial MT"/>
              </a:rPr>
              <a:t>Introduction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5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Information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Technology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Infrastructure</a:t>
            </a:r>
            <a:r>
              <a:rPr sz="900" spc="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Library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(ITIL)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IT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Service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Management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(ITSM) </a:t>
            </a:r>
            <a:r>
              <a:rPr sz="900" spc="-10" dirty="0">
                <a:latin typeface="Arial MT"/>
                <a:cs typeface="Arial MT"/>
              </a:rPr>
              <a:t>Lifecycle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ITIL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Framework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833424" y="4977460"/>
            <a:ext cx="762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Agenda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24682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Operational</a:t>
            </a:r>
            <a:r>
              <a:rPr sz="1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Methodology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55496"/>
            <a:ext cx="5210810" cy="23952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000" b="1" spc="-20" dirty="0">
                <a:solidFill>
                  <a:srgbClr val="1C1573"/>
                </a:solidFill>
                <a:latin typeface="Arial"/>
                <a:cs typeface="Arial"/>
              </a:rPr>
              <a:t>ITIL</a:t>
            </a:r>
            <a:endParaRPr sz="1000">
              <a:latin typeface="Arial"/>
              <a:cs typeface="Arial"/>
            </a:endParaRPr>
          </a:p>
          <a:p>
            <a:pPr marL="389890" indent="-113030">
              <a:lnSpc>
                <a:spcPct val="100000"/>
              </a:lnSpc>
              <a:spcBef>
                <a:spcPts val="600"/>
              </a:spcBef>
              <a:buChar char="•"/>
              <a:tabLst>
                <a:tab pos="389890" algn="l"/>
              </a:tabLst>
            </a:pPr>
            <a:r>
              <a:rPr sz="1000" dirty="0">
                <a:latin typeface="Arial MT"/>
                <a:cs typeface="Arial MT"/>
              </a:rPr>
              <a:t>ITIL</a:t>
            </a:r>
            <a:r>
              <a:rPr sz="1000" spc="-7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is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framework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best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practices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delivering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IT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services</a:t>
            </a:r>
            <a:endParaRPr sz="1000">
              <a:latin typeface="Arial MT"/>
              <a:cs typeface="Arial MT"/>
            </a:endParaRPr>
          </a:p>
          <a:p>
            <a:pPr marL="389890" marR="5080" indent="-113030">
              <a:lnSpc>
                <a:spcPts val="1080"/>
              </a:lnSpc>
              <a:spcBef>
                <a:spcPts val="375"/>
              </a:spcBef>
              <a:buChar char="•"/>
              <a:tabLst>
                <a:tab pos="391160" algn="l"/>
              </a:tabLst>
            </a:pPr>
            <a:r>
              <a:rPr sz="1000" dirty="0">
                <a:latin typeface="Arial MT"/>
                <a:cs typeface="Arial MT"/>
              </a:rPr>
              <a:t>The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ITIL</a:t>
            </a:r>
            <a:r>
              <a:rPr sz="1000" spc="-7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processes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within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IT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Service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Management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(ITSM)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ensure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that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IT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Services </a:t>
            </a:r>
            <a:r>
              <a:rPr sz="1000" spc="-25" dirty="0">
                <a:latin typeface="Arial MT"/>
                <a:cs typeface="Arial MT"/>
              </a:rPr>
              <a:t>are 	</a:t>
            </a:r>
            <a:r>
              <a:rPr sz="1000" dirty="0">
                <a:latin typeface="Arial MT"/>
                <a:cs typeface="Arial MT"/>
              </a:rPr>
              <a:t>provided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in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focused,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client-</a:t>
            </a:r>
            <a:r>
              <a:rPr sz="1000" dirty="0">
                <a:latin typeface="Arial MT"/>
                <a:cs typeface="Arial MT"/>
              </a:rPr>
              <a:t>friendly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and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cost-</a:t>
            </a:r>
            <a:r>
              <a:rPr sz="1000" dirty="0">
                <a:latin typeface="Arial MT"/>
                <a:cs typeface="Arial MT"/>
              </a:rPr>
              <a:t>optimized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manner</a:t>
            </a:r>
            <a:endParaRPr sz="1000">
              <a:latin typeface="Arial MT"/>
              <a:cs typeface="Arial MT"/>
            </a:endParaRPr>
          </a:p>
          <a:p>
            <a:pPr marL="389890" indent="-113030">
              <a:lnSpc>
                <a:spcPct val="100000"/>
              </a:lnSpc>
              <a:spcBef>
                <a:spcPts val="225"/>
              </a:spcBef>
              <a:buChar char="•"/>
              <a:tabLst>
                <a:tab pos="389890" algn="l"/>
              </a:tabLst>
            </a:pPr>
            <a:r>
              <a:rPr sz="1000" spc="-10" dirty="0">
                <a:latin typeface="Arial MT"/>
                <a:cs typeface="Arial MT"/>
              </a:rPr>
              <a:t>ITIL’s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systematic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approach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to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IT</a:t>
            </a:r>
            <a:r>
              <a:rPr sz="1000" spc="-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service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management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can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help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businesses</a:t>
            </a:r>
            <a:endParaRPr sz="1000">
              <a:latin typeface="Arial MT"/>
              <a:cs typeface="Arial MT"/>
            </a:endParaRPr>
          </a:p>
          <a:p>
            <a:pPr marL="38989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389890" algn="l"/>
              </a:tabLst>
            </a:pPr>
            <a:r>
              <a:rPr sz="1000" dirty="0">
                <a:latin typeface="Arial MT"/>
                <a:cs typeface="Arial MT"/>
              </a:rPr>
              <a:t>Manage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risk</a:t>
            </a:r>
            <a:endParaRPr sz="1000">
              <a:latin typeface="Arial MT"/>
              <a:cs typeface="Arial MT"/>
            </a:endParaRPr>
          </a:p>
          <a:p>
            <a:pPr marL="38989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389890" algn="l"/>
              </a:tabLst>
            </a:pPr>
            <a:r>
              <a:rPr sz="1000" dirty="0">
                <a:latin typeface="Arial MT"/>
                <a:cs typeface="Arial MT"/>
              </a:rPr>
              <a:t>Strengthen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customer</a:t>
            </a:r>
            <a:r>
              <a:rPr sz="1000" spc="-5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relations</a:t>
            </a:r>
            <a:endParaRPr sz="1000">
              <a:latin typeface="Arial MT"/>
              <a:cs typeface="Arial MT"/>
            </a:endParaRPr>
          </a:p>
          <a:p>
            <a:pPr marL="38989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389890" algn="l"/>
              </a:tabLst>
            </a:pPr>
            <a:r>
              <a:rPr sz="1000" dirty="0">
                <a:latin typeface="Arial MT"/>
                <a:cs typeface="Arial MT"/>
              </a:rPr>
              <a:t>Establish</a:t>
            </a:r>
            <a:r>
              <a:rPr sz="1000" spc="-10" dirty="0">
                <a:latin typeface="Arial MT"/>
                <a:cs typeface="Arial MT"/>
              </a:rPr>
              <a:t> cost-</a:t>
            </a:r>
            <a:r>
              <a:rPr sz="1000" dirty="0">
                <a:latin typeface="Arial MT"/>
                <a:cs typeface="Arial MT"/>
              </a:rPr>
              <a:t>effective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practices</a:t>
            </a:r>
            <a:endParaRPr sz="1000">
              <a:latin typeface="Arial MT"/>
              <a:cs typeface="Arial MT"/>
            </a:endParaRPr>
          </a:p>
          <a:p>
            <a:pPr marL="38989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389890" algn="l"/>
              </a:tabLst>
            </a:pPr>
            <a:r>
              <a:rPr sz="1000" dirty="0">
                <a:latin typeface="Arial MT"/>
                <a:cs typeface="Arial MT"/>
              </a:rPr>
              <a:t>And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build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stable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IT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environment</a:t>
            </a:r>
            <a:endParaRPr sz="1000">
              <a:latin typeface="Arial MT"/>
              <a:cs typeface="Arial MT"/>
            </a:endParaRPr>
          </a:p>
          <a:p>
            <a:pPr marL="389890" indent="-113030">
              <a:lnSpc>
                <a:spcPct val="100000"/>
              </a:lnSpc>
              <a:spcBef>
                <a:spcPts val="240"/>
              </a:spcBef>
              <a:buChar char="•"/>
              <a:tabLst>
                <a:tab pos="389890" algn="l"/>
              </a:tabLst>
            </a:pPr>
            <a:r>
              <a:rPr sz="1000" dirty="0">
                <a:latin typeface="Arial MT"/>
                <a:cs typeface="Arial MT"/>
              </a:rPr>
              <a:t>that</a:t>
            </a:r>
            <a:r>
              <a:rPr sz="1000" spc="-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allows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for</a:t>
            </a:r>
            <a:endParaRPr sz="1000">
              <a:latin typeface="Arial MT"/>
              <a:cs typeface="Arial MT"/>
            </a:endParaRPr>
          </a:p>
          <a:p>
            <a:pPr marL="619125" lvl="1" indent="-113664">
              <a:lnSpc>
                <a:spcPct val="100000"/>
              </a:lnSpc>
              <a:spcBef>
                <a:spcPts val="220"/>
              </a:spcBef>
              <a:buChar char="•"/>
              <a:tabLst>
                <a:tab pos="619125" algn="l"/>
              </a:tabLst>
            </a:pPr>
            <a:r>
              <a:rPr sz="900" spc="-10" dirty="0">
                <a:latin typeface="Arial MT"/>
                <a:cs typeface="Arial MT"/>
              </a:rPr>
              <a:t>Growth</a:t>
            </a:r>
            <a:endParaRPr sz="900">
              <a:latin typeface="Arial MT"/>
              <a:cs typeface="Arial MT"/>
            </a:endParaRPr>
          </a:p>
          <a:p>
            <a:pPr marL="619125" lvl="1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619125" algn="l"/>
              </a:tabLst>
            </a:pPr>
            <a:r>
              <a:rPr sz="900" dirty="0">
                <a:latin typeface="Arial MT"/>
                <a:cs typeface="Arial MT"/>
              </a:rPr>
              <a:t>Scale</a:t>
            </a:r>
            <a:r>
              <a:rPr sz="900" spc="-25" dirty="0">
                <a:latin typeface="Arial MT"/>
                <a:cs typeface="Arial MT"/>
              </a:rPr>
              <a:t> and</a:t>
            </a:r>
            <a:endParaRPr sz="900">
              <a:latin typeface="Arial MT"/>
              <a:cs typeface="Arial MT"/>
            </a:endParaRPr>
          </a:p>
          <a:p>
            <a:pPr marL="619125" lvl="1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619125" algn="l"/>
              </a:tabLst>
            </a:pPr>
            <a:r>
              <a:rPr sz="900" spc="-10" dirty="0">
                <a:latin typeface="Arial MT"/>
                <a:cs typeface="Arial MT"/>
              </a:rPr>
              <a:t>Change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3860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FFFFFF"/>
                </a:solidFill>
                <a:latin typeface="Arial"/>
                <a:cs typeface="Arial"/>
              </a:rPr>
              <a:t>ITIL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5185410" cy="13436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ITIL</a:t>
            </a:r>
            <a:r>
              <a:rPr sz="1000" b="1" spc="-5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:</a:t>
            </a:r>
            <a:r>
              <a:rPr sz="1000" b="1" spc="-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Origin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ts val="1025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Developed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by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British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government's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Central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Computer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Telecommunications</a:t>
            </a:r>
            <a:r>
              <a:rPr sz="900" spc="-9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Agency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1030"/>
              </a:lnSpc>
            </a:pPr>
            <a:r>
              <a:rPr sz="900" spc="-10" dirty="0">
                <a:latin typeface="Arial MT"/>
                <a:cs typeface="Arial MT"/>
              </a:rPr>
              <a:t>(CCTA)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during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1980s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sz="900" dirty="0">
                <a:latin typeface="Arial MT"/>
                <a:cs typeface="Arial MT"/>
              </a:rPr>
              <a:t>The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ITIL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first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consisted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more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than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30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books,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developed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released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over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time,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that</a:t>
            </a:r>
            <a:r>
              <a:rPr sz="900" spc="-10" dirty="0">
                <a:latin typeface="Arial MT"/>
                <a:cs typeface="Arial MT"/>
              </a:rPr>
              <a:t> codified </a:t>
            </a:r>
            <a:r>
              <a:rPr sz="900" dirty="0">
                <a:latin typeface="Arial MT"/>
                <a:cs typeface="Arial MT"/>
              </a:rPr>
              <a:t>best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practices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information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technology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accumulated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from</a:t>
            </a:r>
            <a:r>
              <a:rPr sz="900" spc="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many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sources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(including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vendors' </a:t>
            </a:r>
            <a:r>
              <a:rPr sz="900" dirty="0">
                <a:latin typeface="Arial MT"/>
                <a:cs typeface="Arial MT"/>
              </a:rPr>
              <a:t>best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practices)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around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world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04"/>
              </a:spcBef>
              <a:buChar char="•"/>
              <a:tabLst>
                <a:tab pos="390525" algn="l"/>
              </a:tabLst>
            </a:pPr>
            <a:r>
              <a:rPr sz="900" spc="-10" dirty="0">
                <a:latin typeface="Arial MT"/>
                <a:cs typeface="Arial MT"/>
              </a:rPr>
              <a:t>ITIL’s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contribution</a:t>
            </a:r>
            <a:r>
              <a:rPr sz="900" spc="-5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aligned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ISO/IEC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20000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Service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Management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standard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2005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Since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2013,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ITIL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owned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by</a:t>
            </a:r>
            <a:r>
              <a:rPr sz="900" spc="-6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Axelos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—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joint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venture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between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Cabinet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Office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Capita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3860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FFFFFF"/>
                </a:solidFill>
                <a:latin typeface="Arial"/>
                <a:cs typeface="Arial"/>
              </a:rPr>
              <a:t>ITIL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2444750" cy="1815464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IT</a:t>
            </a:r>
            <a:r>
              <a:rPr sz="1000" b="1" spc="-2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Service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Management</a:t>
            </a:r>
            <a:r>
              <a:rPr sz="1000" b="1" spc="-2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(ITSM)</a:t>
            </a:r>
            <a:r>
              <a:rPr sz="1000" b="1" spc="-4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Lifecycle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ITIL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views ITSM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as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lifecycle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Five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Phases:</a:t>
            </a:r>
            <a:endParaRPr sz="900">
              <a:latin typeface="Arial MT"/>
              <a:cs typeface="Arial MT"/>
            </a:endParaRPr>
          </a:p>
          <a:p>
            <a:pPr marL="619760" marR="47625" lvl="1" indent="-114300">
              <a:lnSpc>
                <a:spcPts val="860"/>
              </a:lnSpc>
              <a:spcBef>
                <a:spcPts val="305"/>
              </a:spcBef>
              <a:buChar char="•"/>
              <a:tabLst>
                <a:tab pos="619760" algn="l"/>
              </a:tabLst>
            </a:pPr>
            <a:r>
              <a:rPr sz="800" dirty="0">
                <a:latin typeface="Arial MT"/>
                <a:cs typeface="Arial MT"/>
              </a:rPr>
              <a:t>Service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Strategy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[design,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development,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implementation]</a:t>
            </a:r>
            <a:endParaRPr sz="800">
              <a:latin typeface="Arial MT"/>
              <a:cs typeface="Arial MT"/>
            </a:endParaRPr>
          </a:p>
          <a:p>
            <a:pPr marL="620395" lvl="1" indent="-114935">
              <a:lnSpc>
                <a:spcPts val="915"/>
              </a:lnSpc>
              <a:spcBef>
                <a:spcPts val="185"/>
              </a:spcBef>
              <a:buChar char="•"/>
              <a:tabLst>
                <a:tab pos="620395" algn="l"/>
              </a:tabLst>
            </a:pPr>
            <a:r>
              <a:rPr sz="800" dirty="0">
                <a:latin typeface="Arial MT"/>
                <a:cs typeface="Arial MT"/>
              </a:rPr>
              <a:t>Service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Design</a:t>
            </a:r>
            <a:r>
              <a:rPr sz="800" spc="20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[design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and</a:t>
            </a:r>
            <a:endParaRPr sz="800">
              <a:latin typeface="Arial MT"/>
              <a:cs typeface="Arial MT"/>
            </a:endParaRPr>
          </a:p>
          <a:p>
            <a:pPr marL="619760">
              <a:lnSpc>
                <a:spcPts val="915"/>
              </a:lnSpc>
            </a:pPr>
            <a:r>
              <a:rPr sz="800" spc="-10" dirty="0">
                <a:latin typeface="Arial MT"/>
                <a:cs typeface="Arial MT"/>
              </a:rPr>
              <a:t>development]</a:t>
            </a:r>
            <a:endParaRPr sz="800">
              <a:latin typeface="Arial MT"/>
              <a:cs typeface="Arial MT"/>
            </a:endParaRPr>
          </a:p>
          <a:p>
            <a:pPr marL="619760" marR="174625" lvl="1" indent="-114300">
              <a:lnSpc>
                <a:spcPts val="860"/>
              </a:lnSpc>
              <a:spcBef>
                <a:spcPts val="305"/>
              </a:spcBef>
              <a:buChar char="•"/>
              <a:tabLst>
                <a:tab pos="619760" algn="l"/>
              </a:tabLst>
            </a:pPr>
            <a:r>
              <a:rPr sz="800" spc="-10" dirty="0">
                <a:latin typeface="Arial MT"/>
                <a:cs typeface="Arial MT"/>
              </a:rPr>
              <a:t>Service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Transition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[development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and</a:t>
            </a:r>
            <a:r>
              <a:rPr sz="800" spc="-10" dirty="0">
                <a:latin typeface="Arial MT"/>
                <a:cs typeface="Arial MT"/>
              </a:rPr>
              <a:t> design]</a:t>
            </a:r>
            <a:endParaRPr sz="8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85"/>
              </a:spcBef>
              <a:buChar char="•"/>
              <a:tabLst>
                <a:tab pos="620395" algn="l"/>
              </a:tabLst>
            </a:pPr>
            <a:r>
              <a:rPr sz="800" dirty="0">
                <a:latin typeface="Arial MT"/>
                <a:cs typeface="Arial MT"/>
              </a:rPr>
              <a:t>Service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Operation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[delivery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support]</a:t>
            </a:r>
            <a:endParaRPr sz="800">
              <a:latin typeface="Arial MT"/>
              <a:cs typeface="Arial MT"/>
            </a:endParaRPr>
          </a:p>
          <a:p>
            <a:pPr marL="619760" marR="319405" lvl="1" indent="-114300">
              <a:lnSpc>
                <a:spcPts val="860"/>
              </a:lnSpc>
              <a:spcBef>
                <a:spcPts val="305"/>
              </a:spcBef>
              <a:buChar char="•"/>
              <a:tabLst>
                <a:tab pos="619760" algn="l"/>
              </a:tabLst>
            </a:pPr>
            <a:r>
              <a:rPr sz="800" dirty="0">
                <a:latin typeface="Arial MT"/>
                <a:cs typeface="Arial MT"/>
              </a:rPr>
              <a:t>Service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Improvement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[create </a:t>
            </a:r>
            <a:r>
              <a:rPr sz="800" spc="-25" dirty="0">
                <a:latin typeface="Arial MT"/>
                <a:cs typeface="Arial MT"/>
              </a:rPr>
              <a:t>and</a:t>
            </a:r>
            <a:r>
              <a:rPr sz="800" dirty="0">
                <a:latin typeface="Arial MT"/>
                <a:cs typeface="Arial MT"/>
              </a:rPr>
              <a:t> maintain</a:t>
            </a:r>
            <a:r>
              <a:rPr sz="800" spc="-5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value]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91954" y="1580315"/>
            <a:ext cx="2682097" cy="261690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33424" y="4977460"/>
            <a:ext cx="1525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ITIL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Framework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481836" y="5379973"/>
            <a:ext cx="511809" cy="255904"/>
          </a:xfrm>
          <a:custGeom>
            <a:avLst/>
            <a:gdLst/>
            <a:ahLst/>
            <a:cxnLst/>
            <a:rect l="l" t="t" r="r" b="b"/>
            <a:pathLst>
              <a:path w="511810" h="255904">
                <a:moveTo>
                  <a:pt x="486028" y="0"/>
                </a:moveTo>
                <a:lnTo>
                  <a:pt x="25653" y="0"/>
                </a:lnTo>
                <a:lnTo>
                  <a:pt x="15644" y="2006"/>
                </a:lnTo>
                <a:lnTo>
                  <a:pt x="7492" y="7477"/>
                </a:lnTo>
                <a:lnTo>
                  <a:pt x="2008" y="15591"/>
                </a:lnTo>
                <a:lnTo>
                  <a:pt x="0" y="25526"/>
                </a:lnTo>
                <a:lnTo>
                  <a:pt x="0" y="230124"/>
                </a:lnTo>
                <a:lnTo>
                  <a:pt x="2008" y="240133"/>
                </a:lnTo>
                <a:lnTo>
                  <a:pt x="7492" y="248285"/>
                </a:lnTo>
                <a:lnTo>
                  <a:pt x="15644" y="253769"/>
                </a:lnTo>
                <a:lnTo>
                  <a:pt x="25653" y="255777"/>
                </a:lnTo>
                <a:lnTo>
                  <a:pt x="486028" y="255777"/>
                </a:lnTo>
                <a:lnTo>
                  <a:pt x="495964" y="253769"/>
                </a:lnTo>
                <a:lnTo>
                  <a:pt x="504078" y="248284"/>
                </a:lnTo>
                <a:lnTo>
                  <a:pt x="509549" y="240133"/>
                </a:lnTo>
                <a:lnTo>
                  <a:pt x="511556" y="230124"/>
                </a:lnTo>
                <a:lnTo>
                  <a:pt x="511556" y="25526"/>
                </a:lnTo>
                <a:lnTo>
                  <a:pt x="509549" y="15591"/>
                </a:lnTo>
                <a:lnTo>
                  <a:pt x="504078" y="7477"/>
                </a:lnTo>
                <a:lnTo>
                  <a:pt x="495964" y="2006"/>
                </a:lnTo>
                <a:lnTo>
                  <a:pt x="486028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63369" y="5384749"/>
            <a:ext cx="34734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FFFFFF"/>
                </a:solidFill>
                <a:latin typeface="Segoe UI"/>
                <a:cs typeface="Segoe UI"/>
              </a:rPr>
              <a:t>Service</a:t>
            </a:r>
            <a:endParaRPr sz="7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00" spc="-10" dirty="0">
                <a:solidFill>
                  <a:srgbClr val="FFFFFF"/>
                </a:solidFill>
                <a:latin typeface="Segoe UI"/>
                <a:cs typeface="Segoe UI"/>
              </a:rPr>
              <a:t>Strategy</a:t>
            </a:r>
            <a:endParaRPr sz="700">
              <a:latin typeface="Segoe UI"/>
              <a:cs typeface="Segoe U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29841" y="5632577"/>
            <a:ext cx="466725" cy="326390"/>
            <a:chOff x="1529841" y="5632577"/>
            <a:chExt cx="466725" cy="326390"/>
          </a:xfrm>
        </p:grpSpPr>
        <p:sp>
          <p:nvSpPr>
            <p:cNvPr id="14" name="object 14"/>
            <p:cNvSpPr/>
            <p:nvPr/>
          </p:nvSpPr>
          <p:spPr>
            <a:xfrm>
              <a:off x="1533016" y="5635752"/>
              <a:ext cx="51435" cy="191770"/>
            </a:xfrm>
            <a:custGeom>
              <a:avLst/>
              <a:gdLst/>
              <a:ahLst/>
              <a:cxnLst/>
              <a:rect l="l" t="t" r="r" b="b"/>
              <a:pathLst>
                <a:path w="51434" h="191770">
                  <a:moveTo>
                    <a:pt x="0" y="0"/>
                  </a:moveTo>
                  <a:lnTo>
                    <a:pt x="0" y="191770"/>
                  </a:lnTo>
                  <a:lnTo>
                    <a:pt x="51181" y="191770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84197" y="5699633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653"/>
                  </a:moveTo>
                  <a:lnTo>
                    <a:pt x="2006" y="15698"/>
                  </a:lnTo>
                  <a:lnTo>
                    <a:pt x="7477" y="7540"/>
                  </a:lnTo>
                  <a:lnTo>
                    <a:pt x="15591" y="2026"/>
                  </a:lnTo>
                  <a:lnTo>
                    <a:pt x="25527" y="0"/>
                  </a:lnTo>
                  <a:lnTo>
                    <a:pt x="383666" y="0"/>
                  </a:lnTo>
                  <a:lnTo>
                    <a:pt x="393602" y="2026"/>
                  </a:lnTo>
                  <a:lnTo>
                    <a:pt x="401716" y="7540"/>
                  </a:lnTo>
                  <a:lnTo>
                    <a:pt x="407187" y="15698"/>
                  </a:lnTo>
                  <a:lnTo>
                    <a:pt x="409194" y="25653"/>
                  </a:lnTo>
                  <a:lnTo>
                    <a:pt x="409194" y="230250"/>
                  </a:lnTo>
                  <a:lnTo>
                    <a:pt x="407187" y="240206"/>
                  </a:lnTo>
                  <a:lnTo>
                    <a:pt x="401716" y="248364"/>
                  </a:lnTo>
                  <a:lnTo>
                    <a:pt x="393602" y="253878"/>
                  </a:lnTo>
                  <a:lnTo>
                    <a:pt x="383666" y="255904"/>
                  </a:lnTo>
                  <a:lnTo>
                    <a:pt x="25527" y="255904"/>
                  </a:lnTo>
                  <a:lnTo>
                    <a:pt x="15591" y="253878"/>
                  </a:lnTo>
                  <a:lnTo>
                    <a:pt x="7477" y="248364"/>
                  </a:lnTo>
                  <a:lnTo>
                    <a:pt x="2006" y="240206"/>
                  </a:lnTo>
                  <a:lnTo>
                    <a:pt x="0" y="230250"/>
                  </a:lnTo>
                  <a:lnTo>
                    <a:pt x="0" y="25653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588769" y="5734888"/>
            <a:ext cx="401955" cy="179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latin typeface="Segoe UI"/>
                <a:cs typeface="Segoe UI"/>
              </a:rPr>
              <a:t>Demand</a:t>
            </a:r>
            <a:endParaRPr sz="5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500" spc="-10" dirty="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529841" y="5632577"/>
            <a:ext cx="466725" cy="645795"/>
            <a:chOff x="1529841" y="5632577"/>
            <a:chExt cx="466725" cy="645795"/>
          </a:xfrm>
        </p:grpSpPr>
        <p:sp>
          <p:nvSpPr>
            <p:cNvPr id="18" name="object 18"/>
            <p:cNvSpPr/>
            <p:nvPr/>
          </p:nvSpPr>
          <p:spPr>
            <a:xfrm>
              <a:off x="1533016" y="5635752"/>
              <a:ext cx="51435" cy="511809"/>
            </a:xfrm>
            <a:custGeom>
              <a:avLst/>
              <a:gdLst/>
              <a:ahLst/>
              <a:cxnLst/>
              <a:rect l="l" t="t" r="r" b="b"/>
              <a:pathLst>
                <a:path w="51434" h="511810">
                  <a:moveTo>
                    <a:pt x="0" y="0"/>
                  </a:moveTo>
                  <a:lnTo>
                    <a:pt x="0" y="511556"/>
                  </a:lnTo>
                  <a:lnTo>
                    <a:pt x="51181" y="511556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84197" y="6019419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526"/>
                  </a:moveTo>
                  <a:lnTo>
                    <a:pt x="2006" y="15591"/>
                  </a:lnTo>
                  <a:lnTo>
                    <a:pt x="7477" y="7477"/>
                  </a:lnTo>
                  <a:lnTo>
                    <a:pt x="15591" y="2006"/>
                  </a:lnTo>
                  <a:lnTo>
                    <a:pt x="25527" y="0"/>
                  </a:lnTo>
                  <a:lnTo>
                    <a:pt x="383666" y="0"/>
                  </a:lnTo>
                  <a:lnTo>
                    <a:pt x="393602" y="2006"/>
                  </a:lnTo>
                  <a:lnTo>
                    <a:pt x="401716" y="7477"/>
                  </a:lnTo>
                  <a:lnTo>
                    <a:pt x="407187" y="15591"/>
                  </a:lnTo>
                  <a:lnTo>
                    <a:pt x="409194" y="25526"/>
                  </a:lnTo>
                  <a:lnTo>
                    <a:pt x="409194" y="230250"/>
                  </a:lnTo>
                  <a:lnTo>
                    <a:pt x="407187" y="240186"/>
                  </a:lnTo>
                  <a:lnTo>
                    <a:pt x="401716" y="248300"/>
                  </a:lnTo>
                  <a:lnTo>
                    <a:pt x="393602" y="253771"/>
                  </a:lnTo>
                  <a:lnTo>
                    <a:pt x="383666" y="255777"/>
                  </a:lnTo>
                  <a:lnTo>
                    <a:pt x="25527" y="255777"/>
                  </a:lnTo>
                  <a:lnTo>
                    <a:pt x="15591" y="253771"/>
                  </a:lnTo>
                  <a:lnTo>
                    <a:pt x="7477" y="248300"/>
                  </a:lnTo>
                  <a:lnTo>
                    <a:pt x="2006" y="240186"/>
                  </a:lnTo>
                  <a:lnTo>
                    <a:pt x="0" y="230250"/>
                  </a:lnTo>
                  <a:lnTo>
                    <a:pt x="0" y="25526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588769" y="6017133"/>
            <a:ext cx="4019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500" spc="-10" dirty="0">
                <a:latin typeface="Segoe UI"/>
                <a:cs typeface="Segoe UI"/>
              </a:rPr>
              <a:t>Service</a:t>
            </a:r>
            <a:r>
              <a:rPr sz="500" spc="500" dirty="0">
                <a:latin typeface="Segoe UI"/>
                <a:cs typeface="Segoe UI"/>
              </a:rPr>
              <a:t> </a:t>
            </a:r>
            <a:r>
              <a:rPr sz="500" spc="-10" dirty="0">
                <a:latin typeface="Segoe UI"/>
                <a:cs typeface="Segoe UI"/>
              </a:rPr>
              <a:t>portfolio</a:t>
            </a:r>
            <a:r>
              <a:rPr sz="500" spc="500" dirty="0">
                <a:latin typeface="Segoe UI"/>
                <a:cs typeface="Segoe UI"/>
              </a:rPr>
              <a:t> </a:t>
            </a:r>
            <a:r>
              <a:rPr sz="500" spc="-10" dirty="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529841" y="5632577"/>
            <a:ext cx="466725" cy="965835"/>
            <a:chOff x="1529841" y="5632577"/>
            <a:chExt cx="466725" cy="965835"/>
          </a:xfrm>
        </p:grpSpPr>
        <p:sp>
          <p:nvSpPr>
            <p:cNvPr id="22" name="object 22"/>
            <p:cNvSpPr/>
            <p:nvPr/>
          </p:nvSpPr>
          <p:spPr>
            <a:xfrm>
              <a:off x="1533016" y="5635752"/>
              <a:ext cx="51435" cy="831850"/>
            </a:xfrm>
            <a:custGeom>
              <a:avLst/>
              <a:gdLst/>
              <a:ahLst/>
              <a:cxnLst/>
              <a:rect l="l" t="t" r="r" b="b"/>
              <a:pathLst>
                <a:path w="51434" h="831850">
                  <a:moveTo>
                    <a:pt x="0" y="0"/>
                  </a:moveTo>
                  <a:lnTo>
                    <a:pt x="0" y="831342"/>
                  </a:lnTo>
                  <a:lnTo>
                    <a:pt x="51181" y="831342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84197" y="6339205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527"/>
                  </a:moveTo>
                  <a:lnTo>
                    <a:pt x="2006" y="15591"/>
                  </a:lnTo>
                  <a:lnTo>
                    <a:pt x="7477" y="7477"/>
                  </a:lnTo>
                  <a:lnTo>
                    <a:pt x="15591" y="2006"/>
                  </a:lnTo>
                  <a:lnTo>
                    <a:pt x="25527" y="0"/>
                  </a:lnTo>
                  <a:lnTo>
                    <a:pt x="383666" y="0"/>
                  </a:lnTo>
                  <a:lnTo>
                    <a:pt x="393602" y="2006"/>
                  </a:lnTo>
                  <a:lnTo>
                    <a:pt x="401716" y="7477"/>
                  </a:lnTo>
                  <a:lnTo>
                    <a:pt x="407187" y="15591"/>
                  </a:lnTo>
                  <a:lnTo>
                    <a:pt x="409194" y="25527"/>
                  </a:lnTo>
                  <a:lnTo>
                    <a:pt x="409194" y="230251"/>
                  </a:lnTo>
                  <a:lnTo>
                    <a:pt x="407187" y="240186"/>
                  </a:lnTo>
                  <a:lnTo>
                    <a:pt x="401716" y="248300"/>
                  </a:lnTo>
                  <a:lnTo>
                    <a:pt x="393602" y="253771"/>
                  </a:lnTo>
                  <a:lnTo>
                    <a:pt x="383666" y="255778"/>
                  </a:lnTo>
                  <a:lnTo>
                    <a:pt x="25527" y="255778"/>
                  </a:lnTo>
                  <a:lnTo>
                    <a:pt x="15591" y="253771"/>
                  </a:lnTo>
                  <a:lnTo>
                    <a:pt x="7477" y="248300"/>
                  </a:lnTo>
                  <a:lnTo>
                    <a:pt x="2006" y="240186"/>
                  </a:lnTo>
                  <a:lnTo>
                    <a:pt x="0" y="230251"/>
                  </a:lnTo>
                  <a:lnTo>
                    <a:pt x="0" y="2552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588769" y="6375019"/>
            <a:ext cx="4019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5405">
              <a:lnSpc>
                <a:spcPct val="100000"/>
              </a:lnSpc>
              <a:spcBef>
                <a:spcPts val="100"/>
              </a:spcBef>
            </a:pPr>
            <a:r>
              <a:rPr sz="500" spc="-10" dirty="0">
                <a:latin typeface="Segoe UI"/>
                <a:cs typeface="Segoe UI"/>
              </a:rPr>
              <a:t>Financial</a:t>
            </a:r>
            <a:r>
              <a:rPr sz="500" spc="500" dirty="0">
                <a:latin typeface="Segoe UI"/>
                <a:cs typeface="Segoe UI"/>
              </a:rPr>
              <a:t> </a:t>
            </a:r>
            <a:r>
              <a:rPr sz="500" spc="-10" dirty="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529841" y="5632577"/>
            <a:ext cx="466725" cy="1285875"/>
            <a:chOff x="1529841" y="5632577"/>
            <a:chExt cx="466725" cy="1285875"/>
          </a:xfrm>
        </p:grpSpPr>
        <p:sp>
          <p:nvSpPr>
            <p:cNvPr id="26" name="object 26"/>
            <p:cNvSpPr/>
            <p:nvPr/>
          </p:nvSpPr>
          <p:spPr>
            <a:xfrm>
              <a:off x="1533016" y="5635752"/>
              <a:ext cx="51435" cy="1151255"/>
            </a:xfrm>
            <a:custGeom>
              <a:avLst/>
              <a:gdLst/>
              <a:ahLst/>
              <a:cxnLst/>
              <a:rect l="l" t="t" r="r" b="b"/>
              <a:pathLst>
                <a:path w="51434" h="1151254">
                  <a:moveTo>
                    <a:pt x="0" y="0"/>
                  </a:moveTo>
                  <a:lnTo>
                    <a:pt x="0" y="1151128"/>
                  </a:lnTo>
                  <a:lnTo>
                    <a:pt x="51181" y="1151128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84197" y="6658864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654"/>
                  </a:moveTo>
                  <a:lnTo>
                    <a:pt x="2006" y="15698"/>
                  </a:lnTo>
                  <a:lnTo>
                    <a:pt x="7477" y="7540"/>
                  </a:lnTo>
                  <a:lnTo>
                    <a:pt x="15591" y="2026"/>
                  </a:lnTo>
                  <a:lnTo>
                    <a:pt x="25527" y="0"/>
                  </a:lnTo>
                  <a:lnTo>
                    <a:pt x="383666" y="0"/>
                  </a:lnTo>
                  <a:lnTo>
                    <a:pt x="393602" y="2026"/>
                  </a:lnTo>
                  <a:lnTo>
                    <a:pt x="401716" y="7540"/>
                  </a:lnTo>
                  <a:lnTo>
                    <a:pt x="407187" y="15698"/>
                  </a:lnTo>
                  <a:lnTo>
                    <a:pt x="409194" y="25654"/>
                  </a:lnTo>
                  <a:lnTo>
                    <a:pt x="409194" y="230251"/>
                  </a:lnTo>
                  <a:lnTo>
                    <a:pt x="407187" y="240206"/>
                  </a:lnTo>
                  <a:lnTo>
                    <a:pt x="401716" y="248364"/>
                  </a:lnTo>
                  <a:lnTo>
                    <a:pt x="393602" y="253878"/>
                  </a:lnTo>
                  <a:lnTo>
                    <a:pt x="383666" y="255905"/>
                  </a:lnTo>
                  <a:lnTo>
                    <a:pt x="25527" y="255905"/>
                  </a:lnTo>
                  <a:lnTo>
                    <a:pt x="15591" y="253878"/>
                  </a:lnTo>
                  <a:lnTo>
                    <a:pt x="7477" y="248364"/>
                  </a:lnTo>
                  <a:lnTo>
                    <a:pt x="2006" y="240206"/>
                  </a:lnTo>
                  <a:lnTo>
                    <a:pt x="0" y="230251"/>
                  </a:lnTo>
                  <a:lnTo>
                    <a:pt x="0" y="25654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588769" y="6656272"/>
            <a:ext cx="399415" cy="255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latin typeface="Segoe UI"/>
                <a:cs typeface="Segoe UI"/>
              </a:rPr>
              <a:t>Business</a:t>
            </a:r>
            <a:r>
              <a:rPr sz="500" spc="500" dirty="0">
                <a:latin typeface="Segoe UI"/>
                <a:cs typeface="Segoe UI"/>
              </a:rPr>
              <a:t> </a:t>
            </a:r>
            <a:r>
              <a:rPr sz="500" spc="-10" dirty="0">
                <a:latin typeface="Segoe UI"/>
                <a:cs typeface="Segoe UI"/>
              </a:rPr>
              <a:t>Relationship</a:t>
            </a:r>
            <a:r>
              <a:rPr sz="500" spc="500" dirty="0">
                <a:latin typeface="Segoe UI"/>
                <a:cs typeface="Segoe UI"/>
              </a:rPr>
              <a:t> </a:t>
            </a:r>
            <a:r>
              <a:rPr sz="500" spc="-10" dirty="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121407" y="5379973"/>
            <a:ext cx="511809" cy="255904"/>
          </a:xfrm>
          <a:custGeom>
            <a:avLst/>
            <a:gdLst/>
            <a:ahLst/>
            <a:cxnLst/>
            <a:rect l="l" t="t" r="r" b="b"/>
            <a:pathLst>
              <a:path w="511810" h="255904">
                <a:moveTo>
                  <a:pt x="485902" y="0"/>
                </a:moveTo>
                <a:lnTo>
                  <a:pt x="25527" y="0"/>
                </a:lnTo>
                <a:lnTo>
                  <a:pt x="15591" y="2006"/>
                </a:lnTo>
                <a:lnTo>
                  <a:pt x="7477" y="7477"/>
                </a:lnTo>
                <a:lnTo>
                  <a:pt x="2006" y="15591"/>
                </a:lnTo>
                <a:lnTo>
                  <a:pt x="0" y="25526"/>
                </a:lnTo>
                <a:lnTo>
                  <a:pt x="0" y="230124"/>
                </a:lnTo>
                <a:lnTo>
                  <a:pt x="2006" y="240133"/>
                </a:lnTo>
                <a:lnTo>
                  <a:pt x="7477" y="248285"/>
                </a:lnTo>
                <a:lnTo>
                  <a:pt x="15591" y="253769"/>
                </a:lnTo>
                <a:lnTo>
                  <a:pt x="25527" y="255777"/>
                </a:lnTo>
                <a:lnTo>
                  <a:pt x="485902" y="255777"/>
                </a:lnTo>
                <a:lnTo>
                  <a:pt x="495911" y="253769"/>
                </a:lnTo>
                <a:lnTo>
                  <a:pt x="504063" y="248284"/>
                </a:lnTo>
                <a:lnTo>
                  <a:pt x="509547" y="240133"/>
                </a:lnTo>
                <a:lnTo>
                  <a:pt x="511556" y="230124"/>
                </a:lnTo>
                <a:lnTo>
                  <a:pt x="511556" y="25526"/>
                </a:lnTo>
                <a:lnTo>
                  <a:pt x="509547" y="15591"/>
                </a:lnTo>
                <a:lnTo>
                  <a:pt x="504063" y="7477"/>
                </a:lnTo>
                <a:lnTo>
                  <a:pt x="495911" y="2006"/>
                </a:lnTo>
                <a:lnTo>
                  <a:pt x="48590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226055" y="5384749"/>
            <a:ext cx="30353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solidFill>
                  <a:srgbClr val="FFFFFF"/>
                </a:solidFill>
                <a:latin typeface="Segoe UI"/>
                <a:cs typeface="Segoe UI"/>
              </a:rPr>
              <a:t>Service</a:t>
            </a:r>
            <a:endParaRPr sz="700">
              <a:latin typeface="Segoe UI"/>
              <a:cs typeface="Segoe UI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sz="700" spc="-10" dirty="0">
                <a:solidFill>
                  <a:srgbClr val="FFFFFF"/>
                </a:solidFill>
                <a:latin typeface="Segoe UI"/>
                <a:cs typeface="Segoe UI"/>
              </a:rPr>
              <a:t>Design</a:t>
            </a:r>
            <a:endParaRPr sz="700">
              <a:latin typeface="Segoe UI"/>
              <a:cs typeface="Segoe U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169286" y="5632577"/>
            <a:ext cx="467359" cy="326390"/>
            <a:chOff x="2169286" y="5632577"/>
            <a:chExt cx="467359" cy="326390"/>
          </a:xfrm>
        </p:grpSpPr>
        <p:sp>
          <p:nvSpPr>
            <p:cNvPr id="32" name="object 32"/>
            <p:cNvSpPr/>
            <p:nvPr/>
          </p:nvSpPr>
          <p:spPr>
            <a:xfrm>
              <a:off x="2172461" y="5635752"/>
              <a:ext cx="51435" cy="191770"/>
            </a:xfrm>
            <a:custGeom>
              <a:avLst/>
              <a:gdLst/>
              <a:ahLst/>
              <a:cxnLst/>
              <a:rect l="l" t="t" r="r" b="b"/>
              <a:pathLst>
                <a:path w="51435" h="191770">
                  <a:moveTo>
                    <a:pt x="0" y="0"/>
                  </a:moveTo>
                  <a:lnTo>
                    <a:pt x="0" y="191770"/>
                  </a:lnTo>
                  <a:lnTo>
                    <a:pt x="51181" y="191770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223642" y="5699633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653"/>
                  </a:moveTo>
                  <a:lnTo>
                    <a:pt x="2008" y="15698"/>
                  </a:lnTo>
                  <a:lnTo>
                    <a:pt x="7493" y="7540"/>
                  </a:lnTo>
                  <a:lnTo>
                    <a:pt x="15644" y="2026"/>
                  </a:lnTo>
                  <a:lnTo>
                    <a:pt x="25654" y="0"/>
                  </a:lnTo>
                  <a:lnTo>
                    <a:pt x="383667" y="0"/>
                  </a:lnTo>
                  <a:lnTo>
                    <a:pt x="393676" y="2026"/>
                  </a:lnTo>
                  <a:lnTo>
                    <a:pt x="401827" y="7540"/>
                  </a:lnTo>
                  <a:lnTo>
                    <a:pt x="407312" y="15698"/>
                  </a:lnTo>
                  <a:lnTo>
                    <a:pt x="409320" y="25653"/>
                  </a:lnTo>
                  <a:lnTo>
                    <a:pt x="409320" y="230250"/>
                  </a:lnTo>
                  <a:lnTo>
                    <a:pt x="407312" y="240206"/>
                  </a:lnTo>
                  <a:lnTo>
                    <a:pt x="401827" y="248364"/>
                  </a:lnTo>
                  <a:lnTo>
                    <a:pt x="393676" y="253878"/>
                  </a:lnTo>
                  <a:lnTo>
                    <a:pt x="383667" y="255904"/>
                  </a:lnTo>
                  <a:lnTo>
                    <a:pt x="25654" y="255904"/>
                  </a:lnTo>
                  <a:lnTo>
                    <a:pt x="15644" y="253878"/>
                  </a:lnTo>
                  <a:lnTo>
                    <a:pt x="7493" y="248364"/>
                  </a:lnTo>
                  <a:lnTo>
                    <a:pt x="2008" y="240206"/>
                  </a:lnTo>
                  <a:lnTo>
                    <a:pt x="0" y="230250"/>
                  </a:lnTo>
                  <a:lnTo>
                    <a:pt x="0" y="25653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228469" y="5734888"/>
            <a:ext cx="401955" cy="179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latin typeface="Segoe UI"/>
                <a:cs typeface="Segoe UI"/>
              </a:rPr>
              <a:t>Service</a:t>
            </a:r>
            <a:r>
              <a:rPr sz="500" spc="-30" dirty="0">
                <a:latin typeface="Segoe UI"/>
                <a:cs typeface="Segoe UI"/>
              </a:rPr>
              <a:t> </a:t>
            </a:r>
            <a:r>
              <a:rPr sz="500" spc="-10" dirty="0">
                <a:latin typeface="Segoe UI"/>
                <a:cs typeface="Segoe UI"/>
              </a:rPr>
              <a:t>level</a:t>
            </a:r>
            <a:endParaRPr sz="5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500" spc="-10" dirty="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169286" y="5632577"/>
            <a:ext cx="467359" cy="645795"/>
            <a:chOff x="2169286" y="5632577"/>
            <a:chExt cx="467359" cy="645795"/>
          </a:xfrm>
        </p:grpSpPr>
        <p:sp>
          <p:nvSpPr>
            <p:cNvPr id="36" name="object 36"/>
            <p:cNvSpPr/>
            <p:nvPr/>
          </p:nvSpPr>
          <p:spPr>
            <a:xfrm>
              <a:off x="2172461" y="5635752"/>
              <a:ext cx="51435" cy="511809"/>
            </a:xfrm>
            <a:custGeom>
              <a:avLst/>
              <a:gdLst/>
              <a:ahLst/>
              <a:cxnLst/>
              <a:rect l="l" t="t" r="r" b="b"/>
              <a:pathLst>
                <a:path w="51435" h="511810">
                  <a:moveTo>
                    <a:pt x="0" y="0"/>
                  </a:moveTo>
                  <a:lnTo>
                    <a:pt x="0" y="511556"/>
                  </a:lnTo>
                  <a:lnTo>
                    <a:pt x="51181" y="511556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223642" y="6019419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526"/>
                  </a:moveTo>
                  <a:lnTo>
                    <a:pt x="2008" y="15591"/>
                  </a:lnTo>
                  <a:lnTo>
                    <a:pt x="7493" y="7477"/>
                  </a:lnTo>
                  <a:lnTo>
                    <a:pt x="15644" y="2006"/>
                  </a:lnTo>
                  <a:lnTo>
                    <a:pt x="25654" y="0"/>
                  </a:lnTo>
                  <a:lnTo>
                    <a:pt x="383667" y="0"/>
                  </a:lnTo>
                  <a:lnTo>
                    <a:pt x="393676" y="2006"/>
                  </a:lnTo>
                  <a:lnTo>
                    <a:pt x="401827" y="7477"/>
                  </a:lnTo>
                  <a:lnTo>
                    <a:pt x="407312" y="15591"/>
                  </a:lnTo>
                  <a:lnTo>
                    <a:pt x="409320" y="25526"/>
                  </a:lnTo>
                  <a:lnTo>
                    <a:pt x="409320" y="230250"/>
                  </a:lnTo>
                  <a:lnTo>
                    <a:pt x="407312" y="240186"/>
                  </a:lnTo>
                  <a:lnTo>
                    <a:pt x="401827" y="248300"/>
                  </a:lnTo>
                  <a:lnTo>
                    <a:pt x="393676" y="253771"/>
                  </a:lnTo>
                  <a:lnTo>
                    <a:pt x="383667" y="255777"/>
                  </a:lnTo>
                  <a:lnTo>
                    <a:pt x="25654" y="255777"/>
                  </a:lnTo>
                  <a:lnTo>
                    <a:pt x="15644" y="253771"/>
                  </a:lnTo>
                  <a:lnTo>
                    <a:pt x="7493" y="248300"/>
                  </a:lnTo>
                  <a:lnTo>
                    <a:pt x="2008" y="240186"/>
                  </a:lnTo>
                  <a:lnTo>
                    <a:pt x="0" y="230250"/>
                  </a:lnTo>
                  <a:lnTo>
                    <a:pt x="0" y="25526"/>
                  </a:lnTo>
                  <a:close/>
                </a:path>
              </a:pathLst>
            </a:custGeom>
            <a:ln w="634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228469" y="6055233"/>
            <a:ext cx="4019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850">
              <a:lnSpc>
                <a:spcPct val="100000"/>
              </a:lnSpc>
              <a:spcBef>
                <a:spcPts val="100"/>
              </a:spcBef>
            </a:pPr>
            <a:r>
              <a:rPr sz="500" spc="-10" dirty="0">
                <a:latin typeface="Segoe UI"/>
                <a:cs typeface="Segoe UI"/>
              </a:rPr>
              <a:t>Supplier</a:t>
            </a:r>
            <a:r>
              <a:rPr sz="500" spc="500" dirty="0">
                <a:latin typeface="Segoe UI"/>
                <a:cs typeface="Segoe UI"/>
              </a:rPr>
              <a:t> </a:t>
            </a:r>
            <a:r>
              <a:rPr sz="500" spc="-10" dirty="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169286" y="5632577"/>
            <a:ext cx="467359" cy="965835"/>
            <a:chOff x="2169286" y="5632577"/>
            <a:chExt cx="467359" cy="965835"/>
          </a:xfrm>
        </p:grpSpPr>
        <p:sp>
          <p:nvSpPr>
            <p:cNvPr id="40" name="object 40"/>
            <p:cNvSpPr/>
            <p:nvPr/>
          </p:nvSpPr>
          <p:spPr>
            <a:xfrm>
              <a:off x="2172461" y="5635752"/>
              <a:ext cx="51435" cy="831850"/>
            </a:xfrm>
            <a:custGeom>
              <a:avLst/>
              <a:gdLst/>
              <a:ahLst/>
              <a:cxnLst/>
              <a:rect l="l" t="t" r="r" b="b"/>
              <a:pathLst>
                <a:path w="51435" h="831850">
                  <a:moveTo>
                    <a:pt x="0" y="0"/>
                  </a:moveTo>
                  <a:lnTo>
                    <a:pt x="0" y="831342"/>
                  </a:lnTo>
                  <a:lnTo>
                    <a:pt x="51181" y="831342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223642" y="6339205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527"/>
                  </a:moveTo>
                  <a:lnTo>
                    <a:pt x="2008" y="15591"/>
                  </a:lnTo>
                  <a:lnTo>
                    <a:pt x="7493" y="7477"/>
                  </a:lnTo>
                  <a:lnTo>
                    <a:pt x="15644" y="2006"/>
                  </a:lnTo>
                  <a:lnTo>
                    <a:pt x="25654" y="0"/>
                  </a:lnTo>
                  <a:lnTo>
                    <a:pt x="383667" y="0"/>
                  </a:lnTo>
                  <a:lnTo>
                    <a:pt x="393676" y="2006"/>
                  </a:lnTo>
                  <a:lnTo>
                    <a:pt x="401827" y="7477"/>
                  </a:lnTo>
                  <a:lnTo>
                    <a:pt x="407312" y="15591"/>
                  </a:lnTo>
                  <a:lnTo>
                    <a:pt x="409320" y="25527"/>
                  </a:lnTo>
                  <a:lnTo>
                    <a:pt x="409320" y="230251"/>
                  </a:lnTo>
                  <a:lnTo>
                    <a:pt x="407312" y="240186"/>
                  </a:lnTo>
                  <a:lnTo>
                    <a:pt x="401827" y="248300"/>
                  </a:lnTo>
                  <a:lnTo>
                    <a:pt x="393676" y="253771"/>
                  </a:lnTo>
                  <a:lnTo>
                    <a:pt x="383667" y="255778"/>
                  </a:lnTo>
                  <a:lnTo>
                    <a:pt x="25654" y="255778"/>
                  </a:lnTo>
                  <a:lnTo>
                    <a:pt x="15644" y="253771"/>
                  </a:lnTo>
                  <a:lnTo>
                    <a:pt x="7493" y="248300"/>
                  </a:lnTo>
                  <a:lnTo>
                    <a:pt x="2008" y="240186"/>
                  </a:lnTo>
                  <a:lnTo>
                    <a:pt x="0" y="230251"/>
                  </a:lnTo>
                  <a:lnTo>
                    <a:pt x="0" y="2552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228469" y="6375019"/>
            <a:ext cx="40195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8580">
              <a:lnSpc>
                <a:spcPct val="100000"/>
              </a:lnSpc>
              <a:spcBef>
                <a:spcPts val="100"/>
              </a:spcBef>
            </a:pPr>
            <a:r>
              <a:rPr sz="500" spc="-10" dirty="0">
                <a:latin typeface="Segoe UI"/>
                <a:cs typeface="Segoe UI"/>
              </a:rPr>
              <a:t>Capacity</a:t>
            </a:r>
            <a:r>
              <a:rPr sz="500" spc="500" dirty="0">
                <a:latin typeface="Segoe UI"/>
                <a:cs typeface="Segoe UI"/>
              </a:rPr>
              <a:t> </a:t>
            </a:r>
            <a:r>
              <a:rPr sz="500" spc="-10" dirty="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169286" y="5632577"/>
            <a:ext cx="467359" cy="1285875"/>
            <a:chOff x="2169286" y="5632577"/>
            <a:chExt cx="467359" cy="1285875"/>
          </a:xfrm>
        </p:grpSpPr>
        <p:sp>
          <p:nvSpPr>
            <p:cNvPr id="44" name="object 44"/>
            <p:cNvSpPr/>
            <p:nvPr/>
          </p:nvSpPr>
          <p:spPr>
            <a:xfrm>
              <a:off x="2172461" y="5635752"/>
              <a:ext cx="51435" cy="1151255"/>
            </a:xfrm>
            <a:custGeom>
              <a:avLst/>
              <a:gdLst/>
              <a:ahLst/>
              <a:cxnLst/>
              <a:rect l="l" t="t" r="r" b="b"/>
              <a:pathLst>
                <a:path w="51435" h="1151254">
                  <a:moveTo>
                    <a:pt x="0" y="0"/>
                  </a:moveTo>
                  <a:lnTo>
                    <a:pt x="0" y="1151128"/>
                  </a:lnTo>
                  <a:lnTo>
                    <a:pt x="51181" y="1151128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223642" y="6658864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654"/>
                  </a:moveTo>
                  <a:lnTo>
                    <a:pt x="2008" y="15698"/>
                  </a:lnTo>
                  <a:lnTo>
                    <a:pt x="7493" y="7540"/>
                  </a:lnTo>
                  <a:lnTo>
                    <a:pt x="15644" y="2026"/>
                  </a:lnTo>
                  <a:lnTo>
                    <a:pt x="25654" y="0"/>
                  </a:lnTo>
                  <a:lnTo>
                    <a:pt x="383667" y="0"/>
                  </a:lnTo>
                  <a:lnTo>
                    <a:pt x="393676" y="2026"/>
                  </a:lnTo>
                  <a:lnTo>
                    <a:pt x="401827" y="7540"/>
                  </a:lnTo>
                  <a:lnTo>
                    <a:pt x="407312" y="15698"/>
                  </a:lnTo>
                  <a:lnTo>
                    <a:pt x="409320" y="25654"/>
                  </a:lnTo>
                  <a:lnTo>
                    <a:pt x="409320" y="230251"/>
                  </a:lnTo>
                  <a:lnTo>
                    <a:pt x="407312" y="240206"/>
                  </a:lnTo>
                  <a:lnTo>
                    <a:pt x="401827" y="248364"/>
                  </a:lnTo>
                  <a:lnTo>
                    <a:pt x="393676" y="253878"/>
                  </a:lnTo>
                  <a:lnTo>
                    <a:pt x="383667" y="255905"/>
                  </a:lnTo>
                  <a:lnTo>
                    <a:pt x="25654" y="255905"/>
                  </a:lnTo>
                  <a:lnTo>
                    <a:pt x="15644" y="253878"/>
                  </a:lnTo>
                  <a:lnTo>
                    <a:pt x="7493" y="248364"/>
                  </a:lnTo>
                  <a:lnTo>
                    <a:pt x="2008" y="240206"/>
                  </a:lnTo>
                  <a:lnTo>
                    <a:pt x="0" y="230251"/>
                  </a:lnTo>
                  <a:lnTo>
                    <a:pt x="0" y="25654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228469" y="6694678"/>
            <a:ext cx="39941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6195">
              <a:lnSpc>
                <a:spcPct val="100000"/>
              </a:lnSpc>
              <a:spcBef>
                <a:spcPts val="100"/>
              </a:spcBef>
            </a:pPr>
            <a:r>
              <a:rPr sz="500" spc="-10" dirty="0">
                <a:latin typeface="Segoe UI"/>
                <a:cs typeface="Segoe UI"/>
              </a:rPr>
              <a:t>Availability</a:t>
            </a:r>
            <a:r>
              <a:rPr sz="500" spc="500" dirty="0">
                <a:latin typeface="Segoe UI"/>
                <a:cs typeface="Segoe UI"/>
              </a:rPr>
              <a:t> </a:t>
            </a:r>
            <a:r>
              <a:rPr sz="500" spc="-10" dirty="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169286" y="5632577"/>
            <a:ext cx="467359" cy="1605280"/>
            <a:chOff x="2169286" y="5632577"/>
            <a:chExt cx="467359" cy="1605280"/>
          </a:xfrm>
        </p:grpSpPr>
        <p:sp>
          <p:nvSpPr>
            <p:cNvPr id="48" name="object 48"/>
            <p:cNvSpPr/>
            <p:nvPr/>
          </p:nvSpPr>
          <p:spPr>
            <a:xfrm>
              <a:off x="2172461" y="5635752"/>
              <a:ext cx="51435" cy="1471295"/>
            </a:xfrm>
            <a:custGeom>
              <a:avLst/>
              <a:gdLst/>
              <a:ahLst/>
              <a:cxnLst/>
              <a:rect l="l" t="t" r="r" b="b"/>
              <a:pathLst>
                <a:path w="51435" h="1471295">
                  <a:moveTo>
                    <a:pt x="0" y="0"/>
                  </a:moveTo>
                  <a:lnTo>
                    <a:pt x="0" y="1470787"/>
                  </a:lnTo>
                  <a:lnTo>
                    <a:pt x="51181" y="1470787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223642" y="6978650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654"/>
                  </a:moveTo>
                  <a:lnTo>
                    <a:pt x="2008" y="15644"/>
                  </a:lnTo>
                  <a:lnTo>
                    <a:pt x="7493" y="7493"/>
                  </a:lnTo>
                  <a:lnTo>
                    <a:pt x="15644" y="2008"/>
                  </a:lnTo>
                  <a:lnTo>
                    <a:pt x="25654" y="0"/>
                  </a:lnTo>
                  <a:lnTo>
                    <a:pt x="383667" y="0"/>
                  </a:lnTo>
                  <a:lnTo>
                    <a:pt x="393676" y="2008"/>
                  </a:lnTo>
                  <a:lnTo>
                    <a:pt x="401827" y="7493"/>
                  </a:lnTo>
                  <a:lnTo>
                    <a:pt x="407312" y="15644"/>
                  </a:lnTo>
                  <a:lnTo>
                    <a:pt x="409320" y="25654"/>
                  </a:lnTo>
                  <a:lnTo>
                    <a:pt x="409320" y="230250"/>
                  </a:lnTo>
                  <a:lnTo>
                    <a:pt x="407312" y="240186"/>
                  </a:lnTo>
                  <a:lnTo>
                    <a:pt x="401827" y="248300"/>
                  </a:lnTo>
                  <a:lnTo>
                    <a:pt x="393676" y="253771"/>
                  </a:lnTo>
                  <a:lnTo>
                    <a:pt x="383667" y="255777"/>
                  </a:lnTo>
                  <a:lnTo>
                    <a:pt x="25654" y="255777"/>
                  </a:lnTo>
                  <a:lnTo>
                    <a:pt x="15644" y="253771"/>
                  </a:lnTo>
                  <a:lnTo>
                    <a:pt x="7493" y="248300"/>
                  </a:lnTo>
                  <a:lnTo>
                    <a:pt x="2008" y="240186"/>
                  </a:lnTo>
                  <a:lnTo>
                    <a:pt x="0" y="230250"/>
                  </a:lnTo>
                  <a:lnTo>
                    <a:pt x="0" y="25654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228469" y="7014464"/>
            <a:ext cx="402590" cy="17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100"/>
              </a:spcBef>
            </a:pPr>
            <a:r>
              <a:rPr sz="500" spc="-10" dirty="0">
                <a:latin typeface="Segoe UI"/>
                <a:cs typeface="Segoe UI"/>
              </a:rPr>
              <a:t>Continuity</a:t>
            </a:r>
            <a:endParaRPr sz="5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500" spc="-10" dirty="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2169286" y="5632577"/>
            <a:ext cx="467359" cy="1925320"/>
            <a:chOff x="2169286" y="5632577"/>
            <a:chExt cx="467359" cy="1925320"/>
          </a:xfrm>
        </p:grpSpPr>
        <p:sp>
          <p:nvSpPr>
            <p:cNvPr id="52" name="object 52"/>
            <p:cNvSpPr/>
            <p:nvPr/>
          </p:nvSpPr>
          <p:spPr>
            <a:xfrm>
              <a:off x="2172461" y="5635752"/>
              <a:ext cx="51435" cy="1790700"/>
            </a:xfrm>
            <a:custGeom>
              <a:avLst/>
              <a:gdLst/>
              <a:ahLst/>
              <a:cxnLst/>
              <a:rect l="l" t="t" r="r" b="b"/>
              <a:pathLst>
                <a:path w="51435" h="1790700">
                  <a:moveTo>
                    <a:pt x="0" y="0"/>
                  </a:moveTo>
                  <a:lnTo>
                    <a:pt x="0" y="1790573"/>
                  </a:lnTo>
                  <a:lnTo>
                    <a:pt x="51181" y="1790573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223642" y="7298436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526"/>
                  </a:moveTo>
                  <a:lnTo>
                    <a:pt x="2008" y="15591"/>
                  </a:lnTo>
                  <a:lnTo>
                    <a:pt x="7493" y="7477"/>
                  </a:lnTo>
                  <a:lnTo>
                    <a:pt x="15644" y="2006"/>
                  </a:lnTo>
                  <a:lnTo>
                    <a:pt x="25654" y="0"/>
                  </a:lnTo>
                  <a:lnTo>
                    <a:pt x="383667" y="0"/>
                  </a:lnTo>
                  <a:lnTo>
                    <a:pt x="393676" y="2006"/>
                  </a:lnTo>
                  <a:lnTo>
                    <a:pt x="401827" y="7477"/>
                  </a:lnTo>
                  <a:lnTo>
                    <a:pt x="407312" y="15591"/>
                  </a:lnTo>
                  <a:lnTo>
                    <a:pt x="409320" y="25526"/>
                  </a:lnTo>
                  <a:lnTo>
                    <a:pt x="409320" y="230250"/>
                  </a:lnTo>
                  <a:lnTo>
                    <a:pt x="407312" y="240186"/>
                  </a:lnTo>
                  <a:lnTo>
                    <a:pt x="401827" y="248300"/>
                  </a:lnTo>
                  <a:lnTo>
                    <a:pt x="393676" y="253771"/>
                  </a:lnTo>
                  <a:lnTo>
                    <a:pt x="383667" y="255777"/>
                  </a:lnTo>
                  <a:lnTo>
                    <a:pt x="25654" y="255777"/>
                  </a:lnTo>
                  <a:lnTo>
                    <a:pt x="15644" y="253771"/>
                  </a:lnTo>
                  <a:lnTo>
                    <a:pt x="7493" y="248300"/>
                  </a:lnTo>
                  <a:lnTo>
                    <a:pt x="2008" y="240186"/>
                  </a:lnTo>
                  <a:lnTo>
                    <a:pt x="0" y="230250"/>
                  </a:lnTo>
                  <a:lnTo>
                    <a:pt x="0" y="25526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2228469" y="7296404"/>
            <a:ext cx="4019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2540" algn="ctr">
              <a:lnSpc>
                <a:spcPct val="100000"/>
              </a:lnSpc>
              <a:spcBef>
                <a:spcPts val="100"/>
              </a:spcBef>
            </a:pPr>
            <a:r>
              <a:rPr sz="500" spc="-10" dirty="0">
                <a:latin typeface="Segoe UI"/>
                <a:cs typeface="Segoe UI"/>
              </a:rPr>
              <a:t>Information</a:t>
            </a:r>
            <a:r>
              <a:rPr sz="500" spc="500" dirty="0">
                <a:latin typeface="Segoe UI"/>
                <a:cs typeface="Segoe UI"/>
              </a:rPr>
              <a:t> </a:t>
            </a:r>
            <a:r>
              <a:rPr sz="500" spc="-10" dirty="0">
                <a:latin typeface="Segoe UI"/>
                <a:cs typeface="Segoe UI"/>
              </a:rPr>
              <a:t>Security</a:t>
            </a:r>
            <a:r>
              <a:rPr sz="500" spc="500" dirty="0">
                <a:latin typeface="Segoe UI"/>
                <a:cs typeface="Segoe UI"/>
              </a:rPr>
              <a:t> </a:t>
            </a:r>
            <a:r>
              <a:rPr sz="500" spc="-10" dirty="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2169286" y="5632577"/>
            <a:ext cx="467359" cy="2244725"/>
            <a:chOff x="2169286" y="5632577"/>
            <a:chExt cx="467359" cy="2244725"/>
          </a:xfrm>
        </p:grpSpPr>
        <p:sp>
          <p:nvSpPr>
            <p:cNvPr id="56" name="object 56"/>
            <p:cNvSpPr/>
            <p:nvPr/>
          </p:nvSpPr>
          <p:spPr>
            <a:xfrm>
              <a:off x="2172461" y="5635752"/>
              <a:ext cx="51435" cy="2110740"/>
            </a:xfrm>
            <a:custGeom>
              <a:avLst/>
              <a:gdLst/>
              <a:ahLst/>
              <a:cxnLst/>
              <a:rect l="l" t="t" r="r" b="b"/>
              <a:pathLst>
                <a:path w="51435" h="2110740">
                  <a:moveTo>
                    <a:pt x="0" y="0"/>
                  </a:moveTo>
                  <a:lnTo>
                    <a:pt x="0" y="2110359"/>
                  </a:lnTo>
                  <a:lnTo>
                    <a:pt x="51181" y="2110359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223642" y="7618222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526"/>
                  </a:moveTo>
                  <a:lnTo>
                    <a:pt x="2008" y="15591"/>
                  </a:lnTo>
                  <a:lnTo>
                    <a:pt x="7493" y="7477"/>
                  </a:lnTo>
                  <a:lnTo>
                    <a:pt x="15644" y="2006"/>
                  </a:lnTo>
                  <a:lnTo>
                    <a:pt x="25654" y="0"/>
                  </a:lnTo>
                  <a:lnTo>
                    <a:pt x="383667" y="0"/>
                  </a:lnTo>
                  <a:lnTo>
                    <a:pt x="393676" y="2006"/>
                  </a:lnTo>
                  <a:lnTo>
                    <a:pt x="401827" y="7477"/>
                  </a:lnTo>
                  <a:lnTo>
                    <a:pt x="407312" y="15591"/>
                  </a:lnTo>
                  <a:lnTo>
                    <a:pt x="409320" y="25526"/>
                  </a:lnTo>
                  <a:lnTo>
                    <a:pt x="409320" y="230123"/>
                  </a:lnTo>
                  <a:lnTo>
                    <a:pt x="407312" y="240133"/>
                  </a:lnTo>
                  <a:lnTo>
                    <a:pt x="401827" y="248284"/>
                  </a:lnTo>
                  <a:lnTo>
                    <a:pt x="393676" y="253769"/>
                  </a:lnTo>
                  <a:lnTo>
                    <a:pt x="383667" y="255777"/>
                  </a:lnTo>
                  <a:lnTo>
                    <a:pt x="25654" y="255777"/>
                  </a:lnTo>
                  <a:lnTo>
                    <a:pt x="15644" y="253769"/>
                  </a:lnTo>
                  <a:lnTo>
                    <a:pt x="7493" y="248284"/>
                  </a:lnTo>
                  <a:lnTo>
                    <a:pt x="2008" y="240133"/>
                  </a:lnTo>
                  <a:lnTo>
                    <a:pt x="0" y="230123"/>
                  </a:lnTo>
                  <a:lnTo>
                    <a:pt x="0" y="25526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2228469" y="7616190"/>
            <a:ext cx="401955" cy="254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latin typeface="Segoe UI"/>
                <a:cs typeface="Segoe UI"/>
              </a:rPr>
              <a:t>Service</a:t>
            </a:r>
            <a:r>
              <a:rPr sz="500" spc="500" dirty="0">
                <a:latin typeface="Segoe UI"/>
                <a:cs typeface="Segoe UI"/>
              </a:rPr>
              <a:t> </a:t>
            </a:r>
            <a:r>
              <a:rPr sz="500" spc="-10" dirty="0">
                <a:latin typeface="Segoe UI"/>
                <a:cs typeface="Segoe UI"/>
              </a:rPr>
              <a:t>catalogue</a:t>
            </a:r>
            <a:r>
              <a:rPr sz="500" spc="500" dirty="0">
                <a:latin typeface="Segoe UI"/>
                <a:cs typeface="Segoe UI"/>
              </a:rPr>
              <a:t> </a:t>
            </a:r>
            <a:r>
              <a:rPr sz="500" spc="-10" dirty="0">
                <a:latin typeface="Segoe UI"/>
                <a:cs typeface="Segoe UI"/>
              </a:rPr>
              <a:t>Management</a:t>
            </a:r>
            <a:endParaRPr sz="500">
              <a:latin typeface="Segoe UI"/>
              <a:cs typeface="Segoe U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2169286" y="5632577"/>
            <a:ext cx="467359" cy="2564765"/>
            <a:chOff x="2169286" y="5632577"/>
            <a:chExt cx="467359" cy="2564765"/>
          </a:xfrm>
        </p:grpSpPr>
        <p:sp>
          <p:nvSpPr>
            <p:cNvPr id="60" name="object 60"/>
            <p:cNvSpPr/>
            <p:nvPr/>
          </p:nvSpPr>
          <p:spPr>
            <a:xfrm>
              <a:off x="2172461" y="5635752"/>
              <a:ext cx="51435" cy="2430145"/>
            </a:xfrm>
            <a:custGeom>
              <a:avLst/>
              <a:gdLst/>
              <a:ahLst/>
              <a:cxnLst/>
              <a:rect l="l" t="t" r="r" b="b"/>
              <a:pathLst>
                <a:path w="51435" h="2430145">
                  <a:moveTo>
                    <a:pt x="0" y="0"/>
                  </a:moveTo>
                  <a:lnTo>
                    <a:pt x="0" y="2430056"/>
                  </a:lnTo>
                  <a:lnTo>
                    <a:pt x="51181" y="2430056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223642" y="7937919"/>
              <a:ext cx="409575" cy="255904"/>
            </a:xfrm>
            <a:custGeom>
              <a:avLst/>
              <a:gdLst/>
              <a:ahLst/>
              <a:cxnLst/>
              <a:rect l="l" t="t" r="r" b="b"/>
              <a:pathLst>
                <a:path w="409575" h="255904">
                  <a:moveTo>
                    <a:pt x="0" y="25577"/>
                  </a:moveTo>
                  <a:lnTo>
                    <a:pt x="2008" y="15618"/>
                  </a:lnTo>
                  <a:lnTo>
                    <a:pt x="7493" y="7488"/>
                  </a:lnTo>
                  <a:lnTo>
                    <a:pt x="15644" y="2008"/>
                  </a:lnTo>
                  <a:lnTo>
                    <a:pt x="25654" y="0"/>
                  </a:lnTo>
                  <a:lnTo>
                    <a:pt x="383667" y="0"/>
                  </a:lnTo>
                  <a:lnTo>
                    <a:pt x="393676" y="2008"/>
                  </a:lnTo>
                  <a:lnTo>
                    <a:pt x="401827" y="7488"/>
                  </a:lnTo>
                  <a:lnTo>
                    <a:pt x="407312" y="15618"/>
                  </a:lnTo>
                  <a:lnTo>
                    <a:pt x="409320" y="25577"/>
                  </a:lnTo>
                  <a:lnTo>
                    <a:pt x="409320" y="230212"/>
                  </a:lnTo>
                  <a:lnTo>
                    <a:pt x="407312" y="240167"/>
                  </a:lnTo>
                  <a:lnTo>
                    <a:pt x="401827" y="248297"/>
                  </a:lnTo>
                  <a:lnTo>
                    <a:pt x="393676" y="253780"/>
                  </a:lnTo>
                  <a:lnTo>
                    <a:pt x="383667" y="255790"/>
                  </a:lnTo>
                  <a:lnTo>
                    <a:pt x="25654" y="255790"/>
                  </a:lnTo>
                  <a:lnTo>
                    <a:pt x="15644" y="253780"/>
                  </a:lnTo>
                  <a:lnTo>
                    <a:pt x="7493" y="248297"/>
                  </a:lnTo>
                  <a:lnTo>
                    <a:pt x="2008" y="240167"/>
                  </a:lnTo>
                  <a:lnTo>
                    <a:pt x="0" y="230212"/>
                  </a:lnTo>
                  <a:lnTo>
                    <a:pt x="0" y="2557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2229992" y="7973974"/>
            <a:ext cx="396875" cy="17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88265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latin typeface="Segoe UI"/>
                <a:cs typeface="Segoe UI"/>
              </a:rPr>
              <a:t>Design</a:t>
            </a:r>
            <a:r>
              <a:rPr sz="500" spc="500" dirty="0">
                <a:latin typeface="Segoe UI"/>
                <a:cs typeface="Segoe UI"/>
              </a:rPr>
              <a:t> </a:t>
            </a:r>
            <a:r>
              <a:rPr sz="500" spc="-10" dirty="0">
                <a:latin typeface="Segoe UI"/>
                <a:cs typeface="Segoe UI"/>
              </a:rPr>
              <a:t>Coordination</a:t>
            </a:r>
            <a:endParaRPr sz="500">
              <a:latin typeface="Segoe UI"/>
              <a:cs typeface="Segoe UI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929001" y="5378450"/>
            <a:ext cx="460375" cy="229870"/>
          </a:xfrm>
          <a:custGeom>
            <a:avLst/>
            <a:gdLst/>
            <a:ahLst/>
            <a:cxnLst/>
            <a:rect l="l" t="t" r="r" b="b"/>
            <a:pathLst>
              <a:path w="460375" h="229870">
                <a:moveTo>
                  <a:pt x="436879" y="0"/>
                </a:moveTo>
                <a:lnTo>
                  <a:pt x="22987" y="0"/>
                </a:lnTo>
                <a:lnTo>
                  <a:pt x="14037" y="1805"/>
                </a:lnTo>
                <a:lnTo>
                  <a:pt x="6731" y="6731"/>
                </a:lnTo>
                <a:lnTo>
                  <a:pt x="1805" y="14037"/>
                </a:lnTo>
                <a:lnTo>
                  <a:pt x="0" y="22987"/>
                </a:lnTo>
                <a:lnTo>
                  <a:pt x="0" y="206883"/>
                </a:lnTo>
                <a:lnTo>
                  <a:pt x="1805" y="215832"/>
                </a:lnTo>
                <a:lnTo>
                  <a:pt x="6731" y="223139"/>
                </a:lnTo>
                <a:lnTo>
                  <a:pt x="14037" y="228064"/>
                </a:lnTo>
                <a:lnTo>
                  <a:pt x="22987" y="229870"/>
                </a:lnTo>
                <a:lnTo>
                  <a:pt x="436879" y="229870"/>
                </a:lnTo>
                <a:lnTo>
                  <a:pt x="445829" y="228064"/>
                </a:lnTo>
                <a:lnTo>
                  <a:pt x="453136" y="223138"/>
                </a:lnTo>
                <a:lnTo>
                  <a:pt x="458061" y="215832"/>
                </a:lnTo>
                <a:lnTo>
                  <a:pt x="459866" y="206883"/>
                </a:lnTo>
                <a:lnTo>
                  <a:pt x="459866" y="22987"/>
                </a:lnTo>
                <a:lnTo>
                  <a:pt x="458061" y="14037"/>
                </a:lnTo>
                <a:lnTo>
                  <a:pt x="453135" y="6730"/>
                </a:lnTo>
                <a:lnTo>
                  <a:pt x="445829" y="1805"/>
                </a:lnTo>
                <a:lnTo>
                  <a:pt x="43687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2971038" y="5378322"/>
            <a:ext cx="37528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45720">
              <a:lnSpc>
                <a:spcPct val="100000"/>
              </a:lnSpc>
              <a:spcBef>
                <a:spcPts val="95"/>
              </a:spcBef>
            </a:pPr>
            <a:r>
              <a:rPr sz="650" spc="-10" dirty="0">
                <a:solidFill>
                  <a:srgbClr val="FFFFFF"/>
                </a:solidFill>
                <a:latin typeface="Segoe UI"/>
                <a:cs typeface="Segoe UI"/>
              </a:rPr>
              <a:t>Service</a:t>
            </a:r>
            <a:r>
              <a:rPr sz="650" spc="50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650" spc="-10" dirty="0">
                <a:solidFill>
                  <a:srgbClr val="FFFFFF"/>
                </a:solidFill>
                <a:latin typeface="Segoe UI"/>
                <a:cs typeface="Segoe UI"/>
              </a:rPr>
              <a:t>Transition</a:t>
            </a:r>
            <a:endParaRPr sz="650">
              <a:latin typeface="Segoe UI"/>
              <a:cs typeface="Segoe U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971800" y="5605145"/>
            <a:ext cx="420370" cy="294005"/>
            <a:chOff x="2971800" y="5605145"/>
            <a:chExt cx="420370" cy="294005"/>
          </a:xfrm>
        </p:grpSpPr>
        <p:sp>
          <p:nvSpPr>
            <p:cNvPr id="66" name="object 66"/>
            <p:cNvSpPr/>
            <p:nvPr/>
          </p:nvSpPr>
          <p:spPr>
            <a:xfrm>
              <a:off x="2974975" y="5608320"/>
              <a:ext cx="46355" cy="172720"/>
            </a:xfrm>
            <a:custGeom>
              <a:avLst/>
              <a:gdLst/>
              <a:ahLst/>
              <a:cxnLst/>
              <a:rect l="l" t="t" r="r" b="b"/>
              <a:pathLst>
                <a:path w="46355" h="172720">
                  <a:moveTo>
                    <a:pt x="0" y="0"/>
                  </a:moveTo>
                  <a:lnTo>
                    <a:pt x="0" y="172465"/>
                  </a:lnTo>
                  <a:lnTo>
                    <a:pt x="45974" y="172465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020948" y="5665851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2987"/>
                  </a:moveTo>
                  <a:lnTo>
                    <a:pt x="1805" y="14037"/>
                  </a:lnTo>
                  <a:lnTo>
                    <a:pt x="6731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931" y="0"/>
                  </a:lnTo>
                  <a:lnTo>
                    <a:pt x="353881" y="1805"/>
                  </a:lnTo>
                  <a:lnTo>
                    <a:pt x="361187" y="6730"/>
                  </a:lnTo>
                  <a:lnTo>
                    <a:pt x="366113" y="14037"/>
                  </a:lnTo>
                  <a:lnTo>
                    <a:pt x="367918" y="22987"/>
                  </a:lnTo>
                  <a:lnTo>
                    <a:pt x="367918" y="207010"/>
                  </a:lnTo>
                  <a:lnTo>
                    <a:pt x="366113" y="215959"/>
                  </a:lnTo>
                  <a:lnTo>
                    <a:pt x="361188" y="223265"/>
                  </a:lnTo>
                  <a:lnTo>
                    <a:pt x="353881" y="228191"/>
                  </a:lnTo>
                  <a:lnTo>
                    <a:pt x="344931" y="229997"/>
                  </a:lnTo>
                  <a:lnTo>
                    <a:pt x="22987" y="229997"/>
                  </a:lnTo>
                  <a:lnTo>
                    <a:pt x="14037" y="228191"/>
                  </a:lnTo>
                  <a:lnTo>
                    <a:pt x="6731" y="223265"/>
                  </a:lnTo>
                  <a:lnTo>
                    <a:pt x="1805" y="215959"/>
                  </a:lnTo>
                  <a:lnTo>
                    <a:pt x="0" y="207010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3046222" y="5676392"/>
            <a:ext cx="318770" cy="206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98700"/>
              </a:lnSpc>
              <a:spcBef>
                <a:spcPts val="100"/>
              </a:spcBef>
            </a:pPr>
            <a:r>
              <a:rPr sz="400" spc="-10" dirty="0">
                <a:latin typeface="Segoe UI"/>
                <a:cs typeface="Segoe UI"/>
              </a:rPr>
              <a:t>Transition</a:t>
            </a:r>
            <a:r>
              <a:rPr sz="400" spc="500" dirty="0">
                <a:latin typeface="Segoe UI"/>
                <a:cs typeface="Segoe UI"/>
              </a:rPr>
              <a:t> </a:t>
            </a:r>
            <a:r>
              <a:rPr sz="400" spc="-10" dirty="0">
                <a:latin typeface="Segoe UI"/>
                <a:cs typeface="Segoe UI"/>
              </a:rPr>
              <a:t>Planning</a:t>
            </a:r>
            <a:r>
              <a:rPr sz="400" spc="45" dirty="0">
                <a:latin typeface="Segoe UI"/>
                <a:cs typeface="Segoe UI"/>
              </a:rPr>
              <a:t> </a:t>
            </a:r>
            <a:r>
              <a:rPr sz="400" spc="-25" dirty="0">
                <a:latin typeface="Segoe UI"/>
                <a:cs typeface="Segoe UI"/>
              </a:rPr>
              <a:t>and</a:t>
            </a:r>
            <a:r>
              <a:rPr sz="400" spc="500" dirty="0">
                <a:latin typeface="Segoe UI"/>
                <a:cs typeface="Segoe UI"/>
              </a:rPr>
              <a:t> </a:t>
            </a:r>
            <a:r>
              <a:rPr sz="400" spc="-10" dirty="0">
                <a:latin typeface="Segoe UI"/>
                <a:cs typeface="Segoe UI"/>
              </a:rPr>
              <a:t>support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2971800" y="5605145"/>
            <a:ext cx="420370" cy="581660"/>
            <a:chOff x="2971800" y="5605145"/>
            <a:chExt cx="420370" cy="581660"/>
          </a:xfrm>
        </p:grpSpPr>
        <p:sp>
          <p:nvSpPr>
            <p:cNvPr id="70" name="object 70"/>
            <p:cNvSpPr/>
            <p:nvPr/>
          </p:nvSpPr>
          <p:spPr>
            <a:xfrm>
              <a:off x="2974975" y="5608320"/>
              <a:ext cx="46355" cy="460375"/>
            </a:xfrm>
            <a:custGeom>
              <a:avLst/>
              <a:gdLst/>
              <a:ahLst/>
              <a:cxnLst/>
              <a:rect l="l" t="t" r="r" b="b"/>
              <a:pathLst>
                <a:path w="46355" h="460375">
                  <a:moveTo>
                    <a:pt x="0" y="0"/>
                  </a:moveTo>
                  <a:lnTo>
                    <a:pt x="0" y="459993"/>
                  </a:lnTo>
                  <a:lnTo>
                    <a:pt x="45974" y="459993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020948" y="5953252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2987"/>
                  </a:moveTo>
                  <a:lnTo>
                    <a:pt x="1805" y="14037"/>
                  </a:lnTo>
                  <a:lnTo>
                    <a:pt x="6731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931" y="0"/>
                  </a:lnTo>
                  <a:lnTo>
                    <a:pt x="353881" y="1805"/>
                  </a:lnTo>
                  <a:lnTo>
                    <a:pt x="361187" y="6731"/>
                  </a:lnTo>
                  <a:lnTo>
                    <a:pt x="366113" y="14037"/>
                  </a:lnTo>
                  <a:lnTo>
                    <a:pt x="367918" y="22987"/>
                  </a:lnTo>
                  <a:lnTo>
                    <a:pt x="367918" y="207010"/>
                  </a:lnTo>
                  <a:lnTo>
                    <a:pt x="366113" y="215959"/>
                  </a:lnTo>
                  <a:lnTo>
                    <a:pt x="361188" y="223266"/>
                  </a:lnTo>
                  <a:lnTo>
                    <a:pt x="353881" y="228191"/>
                  </a:lnTo>
                  <a:lnTo>
                    <a:pt x="344931" y="229997"/>
                  </a:lnTo>
                  <a:lnTo>
                    <a:pt x="22987" y="229997"/>
                  </a:lnTo>
                  <a:lnTo>
                    <a:pt x="14037" y="228191"/>
                  </a:lnTo>
                  <a:lnTo>
                    <a:pt x="6731" y="223266"/>
                  </a:lnTo>
                  <a:lnTo>
                    <a:pt x="1805" y="215959"/>
                  </a:lnTo>
                  <a:lnTo>
                    <a:pt x="0" y="207010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3044698" y="5994272"/>
            <a:ext cx="321310" cy="145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63500">
              <a:lnSpc>
                <a:spcPts val="470"/>
              </a:lnSpc>
              <a:spcBef>
                <a:spcPts val="120"/>
              </a:spcBef>
            </a:pPr>
            <a:r>
              <a:rPr sz="400" spc="-10" dirty="0">
                <a:latin typeface="Segoe UI"/>
                <a:cs typeface="Segoe UI"/>
              </a:rPr>
              <a:t>Change</a:t>
            </a:r>
            <a:r>
              <a:rPr sz="400" spc="500" dirty="0">
                <a:latin typeface="Segoe UI"/>
                <a:cs typeface="Segoe UI"/>
              </a:rPr>
              <a:t> </a:t>
            </a:r>
            <a:r>
              <a:rPr sz="400" spc="-10" dirty="0">
                <a:latin typeface="Segoe UI"/>
                <a:cs typeface="Segoe UI"/>
              </a:rPr>
              <a:t>Management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2971800" y="5605145"/>
            <a:ext cx="420370" cy="868680"/>
            <a:chOff x="2971800" y="5605145"/>
            <a:chExt cx="420370" cy="868680"/>
          </a:xfrm>
        </p:grpSpPr>
        <p:sp>
          <p:nvSpPr>
            <p:cNvPr id="74" name="object 74"/>
            <p:cNvSpPr/>
            <p:nvPr/>
          </p:nvSpPr>
          <p:spPr>
            <a:xfrm>
              <a:off x="2974975" y="5608320"/>
              <a:ext cx="46355" cy="747395"/>
            </a:xfrm>
            <a:custGeom>
              <a:avLst/>
              <a:gdLst/>
              <a:ahLst/>
              <a:cxnLst/>
              <a:rect l="l" t="t" r="r" b="b"/>
              <a:pathLst>
                <a:path w="46355" h="747395">
                  <a:moveTo>
                    <a:pt x="0" y="0"/>
                  </a:moveTo>
                  <a:lnTo>
                    <a:pt x="0" y="747394"/>
                  </a:lnTo>
                  <a:lnTo>
                    <a:pt x="45974" y="747394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020948" y="6240653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3114"/>
                  </a:moveTo>
                  <a:lnTo>
                    <a:pt x="1805" y="14144"/>
                  </a:lnTo>
                  <a:lnTo>
                    <a:pt x="6731" y="6794"/>
                  </a:lnTo>
                  <a:lnTo>
                    <a:pt x="14037" y="1825"/>
                  </a:lnTo>
                  <a:lnTo>
                    <a:pt x="22987" y="0"/>
                  </a:lnTo>
                  <a:lnTo>
                    <a:pt x="344931" y="0"/>
                  </a:lnTo>
                  <a:lnTo>
                    <a:pt x="353881" y="1825"/>
                  </a:lnTo>
                  <a:lnTo>
                    <a:pt x="361187" y="6794"/>
                  </a:lnTo>
                  <a:lnTo>
                    <a:pt x="366113" y="14144"/>
                  </a:lnTo>
                  <a:lnTo>
                    <a:pt x="367918" y="23114"/>
                  </a:lnTo>
                  <a:lnTo>
                    <a:pt x="367918" y="207010"/>
                  </a:lnTo>
                  <a:lnTo>
                    <a:pt x="366113" y="215959"/>
                  </a:lnTo>
                  <a:lnTo>
                    <a:pt x="361188" y="223266"/>
                  </a:lnTo>
                  <a:lnTo>
                    <a:pt x="353881" y="228191"/>
                  </a:lnTo>
                  <a:lnTo>
                    <a:pt x="344931" y="229997"/>
                  </a:lnTo>
                  <a:lnTo>
                    <a:pt x="22987" y="229997"/>
                  </a:lnTo>
                  <a:lnTo>
                    <a:pt x="14037" y="228191"/>
                  </a:lnTo>
                  <a:lnTo>
                    <a:pt x="6731" y="223266"/>
                  </a:lnTo>
                  <a:lnTo>
                    <a:pt x="1805" y="215959"/>
                  </a:lnTo>
                  <a:lnTo>
                    <a:pt x="0" y="207010"/>
                  </a:lnTo>
                  <a:lnTo>
                    <a:pt x="0" y="23114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3041650" y="6251194"/>
            <a:ext cx="328295" cy="207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2545">
              <a:lnSpc>
                <a:spcPct val="99100"/>
              </a:lnSpc>
              <a:spcBef>
                <a:spcPts val="100"/>
              </a:spcBef>
            </a:pPr>
            <a:r>
              <a:rPr sz="400" spc="-10" dirty="0">
                <a:latin typeface="Segoe UI"/>
                <a:cs typeface="Segoe UI"/>
              </a:rPr>
              <a:t>Asset</a:t>
            </a:r>
            <a:r>
              <a:rPr sz="400" spc="20" dirty="0">
                <a:latin typeface="Segoe UI"/>
                <a:cs typeface="Segoe UI"/>
              </a:rPr>
              <a:t> </a:t>
            </a:r>
            <a:r>
              <a:rPr sz="400" spc="-25" dirty="0">
                <a:latin typeface="Segoe UI"/>
                <a:cs typeface="Segoe UI"/>
              </a:rPr>
              <a:t>and</a:t>
            </a:r>
            <a:r>
              <a:rPr sz="400" spc="500" dirty="0">
                <a:latin typeface="Segoe UI"/>
                <a:cs typeface="Segoe UI"/>
              </a:rPr>
              <a:t> </a:t>
            </a:r>
            <a:r>
              <a:rPr sz="400" spc="-10" dirty="0">
                <a:latin typeface="Segoe UI"/>
                <a:cs typeface="Segoe UI"/>
              </a:rPr>
              <a:t>Configuration</a:t>
            </a:r>
            <a:r>
              <a:rPr sz="400" spc="500" dirty="0">
                <a:latin typeface="Segoe UI"/>
                <a:cs typeface="Segoe UI"/>
              </a:rPr>
              <a:t> </a:t>
            </a:r>
            <a:r>
              <a:rPr sz="400" spc="-10" dirty="0">
                <a:latin typeface="Segoe UI"/>
                <a:cs typeface="Segoe UI"/>
              </a:rPr>
              <a:t>management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2971800" y="5605145"/>
            <a:ext cx="420370" cy="1156335"/>
            <a:chOff x="2971800" y="5605145"/>
            <a:chExt cx="420370" cy="1156335"/>
          </a:xfrm>
        </p:grpSpPr>
        <p:sp>
          <p:nvSpPr>
            <p:cNvPr id="78" name="object 78"/>
            <p:cNvSpPr/>
            <p:nvPr/>
          </p:nvSpPr>
          <p:spPr>
            <a:xfrm>
              <a:off x="2974975" y="5608320"/>
              <a:ext cx="46355" cy="1035050"/>
            </a:xfrm>
            <a:custGeom>
              <a:avLst/>
              <a:gdLst/>
              <a:ahLst/>
              <a:cxnLst/>
              <a:rect l="l" t="t" r="r" b="b"/>
              <a:pathLst>
                <a:path w="46355" h="1035050">
                  <a:moveTo>
                    <a:pt x="0" y="0"/>
                  </a:moveTo>
                  <a:lnTo>
                    <a:pt x="0" y="1034795"/>
                  </a:lnTo>
                  <a:lnTo>
                    <a:pt x="45974" y="1034795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020948" y="6528181"/>
              <a:ext cx="368300" cy="229870"/>
            </a:xfrm>
            <a:custGeom>
              <a:avLst/>
              <a:gdLst/>
              <a:ahLst/>
              <a:cxnLst/>
              <a:rect l="l" t="t" r="r" b="b"/>
              <a:pathLst>
                <a:path w="368300" h="229870">
                  <a:moveTo>
                    <a:pt x="0" y="22987"/>
                  </a:moveTo>
                  <a:lnTo>
                    <a:pt x="1805" y="14037"/>
                  </a:lnTo>
                  <a:lnTo>
                    <a:pt x="6731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931" y="0"/>
                  </a:lnTo>
                  <a:lnTo>
                    <a:pt x="353881" y="1805"/>
                  </a:lnTo>
                  <a:lnTo>
                    <a:pt x="361187" y="6731"/>
                  </a:lnTo>
                  <a:lnTo>
                    <a:pt x="366113" y="14037"/>
                  </a:lnTo>
                  <a:lnTo>
                    <a:pt x="367918" y="22987"/>
                  </a:lnTo>
                  <a:lnTo>
                    <a:pt x="367918" y="206883"/>
                  </a:lnTo>
                  <a:lnTo>
                    <a:pt x="366113" y="215832"/>
                  </a:lnTo>
                  <a:lnTo>
                    <a:pt x="361188" y="223139"/>
                  </a:lnTo>
                  <a:lnTo>
                    <a:pt x="353881" y="228064"/>
                  </a:lnTo>
                  <a:lnTo>
                    <a:pt x="344931" y="229870"/>
                  </a:lnTo>
                  <a:lnTo>
                    <a:pt x="22987" y="229870"/>
                  </a:lnTo>
                  <a:lnTo>
                    <a:pt x="14037" y="228064"/>
                  </a:lnTo>
                  <a:lnTo>
                    <a:pt x="6731" y="223139"/>
                  </a:lnTo>
                  <a:lnTo>
                    <a:pt x="1805" y="215832"/>
                  </a:lnTo>
                  <a:lnTo>
                    <a:pt x="0" y="206883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3034029" y="6538976"/>
            <a:ext cx="342900" cy="206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98800"/>
              </a:lnSpc>
              <a:spcBef>
                <a:spcPts val="100"/>
              </a:spcBef>
            </a:pPr>
            <a:r>
              <a:rPr sz="400" spc="-10" dirty="0">
                <a:latin typeface="Segoe UI"/>
                <a:cs typeface="Segoe UI"/>
              </a:rPr>
              <a:t>Service</a:t>
            </a:r>
            <a:r>
              <a:rPr sz="400" spc="500" dirty="0">
                <a:latin typeface="Segoe UI"/>
                <a:cs typeface="Segoe UI"/>
              </a:rPr>
              <a:t> </a:t>
            </a:r>
            <a:r>
              <a:rPr sz="400" dirty="0">
                <a:latin typeface="Segoe UI"/>
                <a:cs typeface="Segoe UI"/>
              </a:rPr>
              <a:t>validation</a:t>
            </a:r>
            <a:r>
              <a:rPr sz="400" spc="-20" dirty="0">
                <a:latin typeface="Segoe UI"/>
                <a:cs typeface="Segoe UI"/>
              </a:rPr>
              <a:t> </a:t>
            </a:r>
            <a:r>
              <a:rPr sz="400" spc="-25" dirty="0">
                <a:latin typeface="Segoe UI"/>
                <a:cs typeface="Segoe UI"/>
              </a:rPr>
              <a:t>and</a:t>
            </a:r>
            <a:r>
              <a:rPr sz="400" spc="500" dirty="0">
                <a:latin typeface="Segoe UI"/>
                <a:cs typeface="Segoe UI"/>
              </a:rPr>
              <a:t> </a:t>
            </a:r>
            <a:r>
              <a:rPr sz="400" spc="-10" dirty="0">
                <a:latin typeface="Segoe UI"/>
                <a:cs typeface="Segoe UI"/>
              </a:rPr>
              <a:t>testing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2971800" y="5605145"/>
            <a:ext cx="420370" cy="1443990"/>
            <a:chOff x="2971800" y="5605145"/>
            <a:chExt cx="420370" cy="1443990"/>
          </a:xfrm>
        </p:grpSpPr>
        <p:sp>
          <p:nvSpPr>
            <p:cNvPr id="82" name="object 82"/>
            <p:cNvSpPr/>
            <p:nvPr/>
          </p:nvSpPr>
          <p:spPr>
            <a:xfrm>
              <a:off x="2974975" y="5608320"/>
              <a:ext cx="46355" cy="1322705"/>
            </a:xfrm>
            <a:custGeom>
              <a:avLst/>
              <a:gdLst/>
              <a:ahLst/>
              <a:cxnLst/>
              <a:rect l="l" t="t" r="r" b="b"/>
              <a:pathLst>
                <a:path w="46355" h="1322704">
                  <a:moveTo>
                    <a:pt x="0" y="0"/>
                  </a:moveTo>
                  <a:lnTo>
                    <a:pt x="0" y="1322196"/>
                  </a:lnTo>
                  <a:lnTo>
                    <a:pt x="45974" y="1322196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020948" y="6815582"/>
              <a:ext cx="368300" cy="229870"/>
            </a:xfrm>
            <a:custGeom>
              <a:avLst/>
              <a:gdLst/>
              <a:ahLst/>
              <a:cxnLst/>
              <a:rect l="l" t="t" r="r" b="b"/>
              <a:pathLst>
                <a:path w="368300" h="229870">
                  <a:moveTo>
                    <a:pt x="0" y="22987"/>
                  </a:moveTo>
                  <a:lnTo>
                    <a:pt x="1805" y="14037"/>
                  </a:lnTo>
                  <a:lnTo>
                    <a:pt x="6731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931" y="0"/>
                  </a:lnTo>
                  <a:lnTo>
                    <a:pt x="353881" y="1805"/>
                  </a:lnTo>
                  <a:lnTo>
                    <a:pt x="361187" y="6731"/>
                  </a:lnTo>
                  <a:lnTo>
                    <a:pt x="366113" y="14037"/>
                  </a:lnTo>
                  <a:lnTo>
                    <a:pt x="367918" y="22987"/>
                  </a:lnTo>
                  <a:lnTo>
                    <a:pt x="367918" y="206883"/>
                  </a:lnTo>
                  <a:lnTo>
                    <a:pt x="366113" y="215832"/>
                  </a:lnTo>
                  <a:lnTo>
                    <a:pt x="361188" y="223139"/>
                  </a:lnTo>
                  <a:lnTo>
                    <a:pt x="353881" y="228064"/>
                  </a:lnTo>
                  <a:lnTo>
                    <a:pt x="344931" y="229870"/>
                  </a:lnTo>
                  <a:lnTo>
                    <a:pt x="22987" y="229870"/>
                  </a:lnTo>
                  <a:lnTo>
                    <a:pt x="14037" y="228064"/>
                  </a:lnTo>
                  <a:lnTo>
                    <a:pt x="6731" y="223139"/>
                  </a:lnTo>
                  <a:lnTo>
                    <a:pt x="1805" y="215832"/>
                  </a:lnTo>
                  <a:lnTo>
                    <a:pt x="0" y="206883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3044698" y="6826377"/>
            <a:ext cx="321310" cy="206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335" algn="just">
              <a:lnSpc>
                <a:spcPct val="98700"/>
              </a:lnSpc>
              <a:spcBef>
                <a:spcPts val="100"/>
              </a:spcBef>
            </a:pPr>
            <a:r>
              <a:rPr sz="400" spc="-10" dirty="0">
                <a:latin typeface="Segoe UI"/>
                <a:cs typeface="Segoe UI"/>
              </a:rPr>
              <a:t>Release</a:t>
            </a:r>
            <a:r>
              <a:rPr sz="400" spc="35" dirty="0">
                <a:latin typeface="Segoe UI"/>
                <a:cs typeface="Segoe UI"/>
              </a:rPr>
              <a:t> </a:t>
            </a:r>
            <a:r>
              <a:rPr sz="400" spc="-25" dirty="0">
                <a:latin typeface="Segoe UI"/>
                <a:cs typeface="Segoe UI"/>
              </a:rPr>
              <a:t>and</a:t>
            </a:r>
            <a:r>
              <a:rPr sz="400" spc="500" dirty="0">
                <a:latin typeface="Segoe UI"/>
                <a:cs typeface="Segoe UI"/>
              </a:rPr>
              <a:t> </a:t>
            </a:r>
            <a:r>
              <a:rPr sz="400" spc="-10" dirty="0">
                <a:latin typeface="Segoe UI"/>
                <a:cs typeface="Segoe UI"/>
              </a:rPr>
              <a:t>Deployment</a:t>
            </a:r>
            <a:r>
              <a:rPr sz="400" spc="500" dirty="0">
                <a:latin typeface="Segoe UI"/>
                <a:cs typeface="Segoe UI"/>
              </a:rPr>
              <a:t> </a:t>
            </a:r>
            <a:r>
              <a:rPr sz="400" spc="-10" dirty="0">
                <a:latin typeface="Segoe UI"/>
                <a:cs typeface="Segoe UI"/>
              </a:rPr>
              <a:t>Management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2971800" y="5605145"/>
            <a:ext cx="420370" cy="1731010"/>
            <a:chOff x="2971800" y="5605145"/>
            <a:chExt cx="420370" cy="1731010"/>
          </a:xfrm>
        </p:grpSpPr>
        <p:sp>
          <p:nvSpPr>
            <p:cNvPr id="86" name="object 86"/>
            <p:cNvSpPr/>
            <p:nvPr/>
          </p:nvSpPr>
          <p:spPr>
            <a:xfrm>
              <a:off x="2974975" y="5608320"/>
              <a:ext cx="46355" cy="1609725"/>
            </a:xfrm>
            <a:custGeom>
              <a:avLst/>
              <a:gdLst/>
              <a:ahLst/>
              <a:cxnLst/>
              <a:rect l="l" t="t" r="r" b="b"/>
              <a:pathLst>
                <a:path w="46355" h="1609725">
                  <a:moveTo>
                    <a:pt x="0" y="0"/>
                  </a:moveTo>
                  <a:lnTo>
                    <a:pt x="0" y="1609597"/>
                  </a:lnTo>
                  <a:lnTo>
                    <a:pt x="45974" y="1609597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020948" y="7102983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2987"/>
                  </a:moveTo>
                  <a:lnTo>
                    <a:pt x="1805" y="14037"/>
                  </a:lnTo>
                  <a:lnTo>
                    <a:pt x="6731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931" y="0"/>
                  </a:lnTo>
                  <a:lnTo>
                    <a:pt x="353881" y="1805"/>
                  </a:lnTo>
                  <a:lnTo>
                    <a:pt x="361187" y="6731"/>
                  </a:lnTo>
                  <a:lnTo>
                    <a:pt x="366113" y="14037"/>
                  </a:lnTo>
                  <a:lnTo>
                    <a:pt x="367918" y="22987"/>
                  </a:lnTo>
                  <a:lnTo>
                    <a:pt x="367918" y="207010"/>
                  </a:lnTo>
                  <a:lnTo>
                    <a:pt x="366113" y="215959"/>
                  </a:lnTo>
                  <a:lnTo>
                    <a:pt x="361188" y="223266"/>
                  </a:lnTo>
                  <a:lnTo>
                    <a:pt x="353881" y="228191"/>
                  </a:lnTo>
                  <a:lnTo>
                    <a:pt x="344931" y="229997"/>
                  </a:lnTo>
                  <a:lnTo>
                    <a:pt x="22987" y="229997"/>
                  </a:lnTo>
                  <a:lnTo>
                    <a:pt x="14037" y="228191"/>
                  </a:lnTo>
                  <a:lnTo>
                    <a:pt x="6731" y="223266"/>
                  </a:lnTo>
                  <a:lnTo>
                    <a:pt x="1805" y="215959"/>
                  </a:lnTo>
                  <a:lnTo>
                    <a:pt x="0" y="207010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3078226" y="7174738"/>
            <a:ext cx="25527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latin typeface="Segoe UI"/>
                <a:cs typeface="Segoe UI"/>
              </a:rPr>
              <a:t>Evaluation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2971800" y="5605145"/>
            <a:ext cx="420370" cy="2018664"/>
            <a:chOff x="2971800" y="5605145"/>
            <a:chExt cx="420370" cy="2018664"/>
          </a:xfrm>
        </p:grpSpPr>
        <p:sp>
          <p:nvSpPr>
            <p:cNvPr id="90" name="object 90"/>
            <p:cNvSpPr/>
            <p:nvPr/>
          </p:nvSpPr>
          <p:spPr>
            <a:xfrm>
              <a:off x="2974975" y="5608320"/>
              <a:ext cx="46355" cy="1897380"/>
            </a:xfrm>
            <a:custGeom>
              <a:avLst/>
              <a:gdLst/>
              <a:ahLst/>
              <a:cxnLst/>
              <a:rect l="l" t="t" r="r" b="b"/>
              <a:pathLst>
                <a:path w="46355" h="1897379">
                  <a:moveTo>
                    <a:pt x="0" y="0"/>
                  </a:moveTo>
                  <a:lnTo>
                    <a:pt x="0" y="1896998"/>
                  </a:lnTo>
                  <a:lnTo>
                    <a:pt x="45974" y="1896998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020948" y="7390384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2987"/>
                  </a:moveTo>
                  <a:lnTo>
                    <a:pt x="1805" y="14037"/>
                  </a:lnTo>
                  <a:lnTo>
                    <a:pt x="6731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931" y="0"/>
                  </a:lnTo>
                  <a:lnTo>
                    <a:pt x="353881" y="1805"/>
                  </a:lnTo>
                  <a:lnTo>
                    <a:pt x="361187" y="6731"/>
                  </a:lnTo>
                  <a:lnTo>
                    <a:pt x="366113" y="14037"/>
                  </a:lnTo>
                  <a:lnTo>
                    <a:pt x="367918" y="22987"/>
                  </a:lnTo>
                  <a:lnTo>
                    <a:pt x="367918" y="207010"/>
                  </a:lnTo>
                  <a:lnTo>
                    <a:pt x="366113" y="215959"/>
                  </a:lnTo>
                  <a:lnTo>
                    <a:pt x="361188" y="223266"/>
                  </a:lnTo>
                  <a:lnTo>
                    <a:pt x="353881" y="228191"/>
                  </a:lnTo>
                  <a:lnTo>
                    <a:pt x="344931" y="229997"/>
                  </a:lnTo>
                  <a:lnTo>
                    <a:pt x="22987" y="229997"/>
                  </a:lnTo>
                  <a:lnTo>
                    <a:pt x="14037" y="228191"/>
                  </a:lnTo>
                  <a:lnTo>
                    <a:pt x="6731" y="223266"/>
                  </a:lnTo>
                  <a:lnTo>
                    <a:pt x="1805" y="215959"/>
                  </a:lnTo>
                  <a:lnTo>
                    <a:pt x="0" y="207010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3044698" y="7431785"/>
            <a:ext cx="321310" cy="145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25400">
              <a:lnSpc>
                <a:spcPts val="470"/>
              </a:lnSpc>
              <a:spcBef>
                <a:spcPts val="120"/>
              </a:spcBef>
            </a:pPr>
            <a:r>
              <a:rPr sz="400" spc="-10" dirty="0">
                <a:latin typeface="Segoe UI"/>
                <a:cs typeface="Segoe UI"/>
              </a:rPr>
              <a:t>Knowledge</a:t>
            </a:r>
            <a:r>
              <a:rPr sz="400" spc="500" dirty="0">
                <a:latin typeface="Segoe UI"/>
                <a:cs typeface="Segoe UI"/>
              </a:rPr>
              <a:t> </a:t>
            </a:r>
            <a:r>
              <a:rPr sz="400" spc="-10" dirty="0">
                <a:latin typeface="Segoe UI"/>
                <a:cs typeface="Segoe UI"/>
              </a:rPr>
              <a:t>Management</a:t>
            </a:r>
            <a:endParaRPr sz="400">
              <a:latin typeface="Segoe UI"/>
              <a:cs typeface="Segoe UI"/>
            </a:endParaRPr>
          </a:p>
        </p:txBody>
      </p:sp>
      <p:sp>
        <p:nvSpPr>
          <p:cNvPr id="93" name="object 93"/>
          <p:cNvSpPr/>
          <p:nvPr/>
        </p:nvSpPr>
        <p:spPr>
          <a:xfrm>
            <a:off x="3503803" y="5378450"/>
            <a:ext cx="460375" cy="229870"/>
          </a:xfrm>
          <a:custGeom>
            <a:avLst/>
            <a:gdLst/>
            <a:ahLst/>
            <a:cxnLst/>
            <a:rect l="l" t="t" r="r" b="b"/>
            <a:pathLst>
              <a:path w="460375" h="229870">
                <a:moveTo>
                  <a:pt x="436880" y="0"/>
                </a:moveTo>
                <a:lnTo>
                  <a:pt x="23113" y="0"/>
                </a:lnTo>
                <a:lnTo>
                  <a:pt x="14144" y="1805"/>
                </a:lnTo>
                <a:lnTo>
                  <a:pt x="6794" y="6731"/>
                </a:lnTo>
                <a:lnTo>
                  <a:pt x="1825" y="14037"/>
                </a:lnTo>
                <a:lnTo>
                  <a:pt x="0" y="22987"/>
                </a:lnTo>
                <a:lnTo>
                  <a:pt x="0" y="206883"/>
                </a:lnTo>
                <a:lnTo>
                  <a:pt x="1825" y="215832"/>
                </a:lnTo>
                <a:lnTo>
                  <a:pt x="6794" y="223139"/>
                </a:lnTo>
                <a:lnTo>
                  <a:pt x="14144" y="228064"/>
                </a:lnTo>
                <a:lnTo>
                  <a:pt x="23113" y="229870"/>
                </a:lnTo>
                <a:lnTo>
                  <a:pt x="436880" y="229870"/>
                </a:lnTo>
                <a:lnTo>
                  <a:pt x="445849" y="228064"/>
                </a:lnTo>
                <a:lnTo>
                  <a:pt x="453199" y="223138"/>
                </a:lnTo>
                <a:lnTo>
                  <a:pt x="458168" y="215832"/>
                </a:lnTo>
                <a:lnTo>
                  <a:pt x="459994" y="206883"/>
                </a:lnTo>
                <a:lnTo>
                  <a:pt x="459994" y="22987"/>
                </a:lnTo>
                <a:lnTo>
                  <a:pt x="458168" y="14037"/>
                </a:lnTo>
                <a:lnTo>
                  <a:pt x="453199" y="6730"/>
                </a:lnTo>
                <a:lnTo>
                  <a:pt x="445849" y="1805"/>
                </a:lnTo>
                <a:lnTo>
                  <a:pt x="43688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3538473" y="5378322"/>
            <a:ext cx="3917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53340">
              <a:lnSpc>
                <a:spcPct val="100000"/>
              </a:lnSpc>
              <a:spcBef>
                <a:spcPts val="95"/>
              </a:spcBef>
            </a:pPr>
            <a:r>
              <a:rPr sz="650" spc="-10" dirty="0">
                <a:solidFill>
                  <a:srgbClr val="FFFFFF"/>
                </a:solidFill>
                <a:latin typeface="Segoe UI"/>
                <a:cs typeface="Segoe UI"/>
              </a:rPr>
              <a:t>Service</a:t>
            </a:r>
            <a:r>
              <a:rPr sz="650" spc="50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650" spc="-10" dirty="0">
                <a:solidFill>
                  <a:srgbClr val="FFFFFF"/>
                </a:solidFill>
                <a:latin typeface="Segoe UI"/>
                <a:cs typeface="Segoe UI"/>
              </a:rPr>
              <a:t>Operation</a:t>
            </a:r>
            <a:endParaRPr sz="650">
              <a:latin typeface="Segoe UI"/>
              <a:cs typeface="Segoe UI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3546728" y="5605145"/>
            <a:ext cx="420370" cy="294005"/>
            <a:chOff x="3546728" y="5605145"/>
            <a:chExt cx="420370" cy="294005"/>
          </a:xfrm>
        </p:grpSpPr>
        <p:sp>
          <p:nvSpPr>
            <p:cNvPr id="96" name="object 96"/>
            <p:cNvSpPr/>
            <p:nvPr/>
          </p:nvSpPr>
          <p:spPr>
            <a:xfrm>
              <a:off x="3549903" y="5608320"/>
              <a:ext cx="46355" cy="172720"/>
            </a:xfrm>
            <a:custGeom>
              <a:avLst/>
              <a:gdLst/>
              <a:ahLst/>
              <a:cxnLst/>
              <a:rect l="l" t="t" r="r" b="b"/>
              <a:pathLst>
                <a:path w="46354" h="172720">
                  <a:moveTo>
                    <a:pt x="0" y="0"/>
                  </a:moveTo>
                  <a:lnTo>
                    <a:pt x="0" y="172465"/>
                  </a:lnTo>
                  <a:lnTo>
                    <a:pt x="45974" y="172465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3595877" y="5665851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2987"/>
                  </a:moveTo>
                  <a:lnTo>
                    <a:pt x="1805" y="14037"/>
                  </a:lnTo>
                  <a:lnTo>
                    <a:pt x="6730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805" y="0"/>
                  </a:lnTo>
                  <a:lnTo>
                    <a:pt x="353774" y="1805"/>
                  </a:lnTo>
                  <a:lnTo>
                    <a:pt x="361124" y="6730"/>
                  </a:lnTo>
                  <a:lnTo>
                    <a:pt x="366093" y="14037"/>
                  </a:lnTo>
                  <a:lnTo>
                    <a:pt x="367919" y="22987"/>
                  </a:lnTo>
                  <a:lnTo>
                    <a:pt x="367919" y="207010"/>
                  </a:lnTo>
                  <a:lnTo>
                    <a:pt x="366093" y="215959"/>
                  </a:lnTo>
                  <a:lnTo>
                    <a:pt x="361124" y="223265"/>
                  </a:lnTo>
                  <a:lnTo>
                    <a:pt x="353774" y="228191"/>
                  </a:lnTo>
                  <a:lnTo>
                    <a:pt x="344805" y="229997"/>
                  </a:lnTo>
                  <a:lnTo>
                    <a:pt x="22987" y="229997"/>
                  </a:lnTo>
                  <a:lnTo>
                    <a:pt x="14037" y="228191"/>
                  </a:lnTo>
                  <a:lnTo>
                    <a:pt x="6731" y="223265"/>
                  </a:lnTo>
                  <a:lnTo>
                    <a:pt x="1805" y="215959"/>
                  </a:lnTo>
                  <a:lnTo>
                    <a:pt x="0" y="207010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3619627" y="5706872"/>
            <a:ext cx="321310" cy="145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86360">
              <a:lnSpc>
                <a:spcPts val="470"/>
              </a:lnSpc>
              <a:spcBef>
                <a:spcPts val="120"/>
              </a:spcBef>
            </a:pPr>
            <a:r>
              <a:rPr sz="400" spc="-10" dirty="0">
                <a:latin typeface="Segoe UI"/>
                <a:cs typeface="Segoe UI"/>
              </a:rPr>
              <a:t>Event</a:t>
            </a:r>
            <a:r>
              <a:rPr sz="400" spc="500" dirty="0">
                <a:latin typeface="Segoe UI"/>
                <a:cs typeface="Segoe UI"/>
              </a:rPr>
              <a:t> </a:t>
            </a:r>
            <a:r>
              <a:rPr sz="400" spc="-10" dirty="0">
                <a:latin typeface="Segoe UI"/>
                <a:cs typeface="Segoe UI"/>
              </a:rPr>
              <a:t>Management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3546728" y="5605145"/>
            <a:ext cx="420370" cy="581660"/>
            <a:chOff x="3546728" y="5605145"/>
            <a:chExt cx="420370" cy="581660"/>
          </a:xfrm>
        </p:grpSpPr>
        <p:sp>
          <p:nvSpPr>
            <p:cNvPr id="100" name="object 100"/>
            <p:cNvSpPr/>
            <p:nvPr/>
          </p:nvSpPr>
          <p:spPr>
            <a:xfrm>
              <a:off x="3549903" y="5608320"/>
              <a:ext cx="46355" cy="460375"/>
            </a:xfrm>
            <a:custGeom>
              <a:avLst/>
              <a:gdLst/>
              <a:ahLst/>
              <a:cxnLst/>
              <a:rect l="l" t="t" r="r" b="b"/>
              <a:pathLst>
                <a:path w="46354" h="460375">
                  <a:moveTo>
                    <a:pt x="0" y="0"/>
                  </a:moveTo>
                  <a:lnTo>
                    <a:pt x="0" y="459993"/>
                  </a:lnTo>
                  <a:lnTo>
                    <a:pt x="45974" y="459993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3595877" y="5953252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2987"/>
                  </a:moveTo>
                  <a:lnTo>
                    <a:pt x="1805" y="14037"/>
                  </a:lnTo>
                  <a:lnTo>
                    <a:pt x="6730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805" y="0"/>
                  </a:lnTo>
                  <a:lnTo>
                    <a:pt x="353774" y="1805"/>
                  </a:lnTo>
                  <a:lnTo>
                    <a:pt x="361124" y="6731"/>
                  </a:lnTo>
                  <a:lnTo>
                    <a:pt x="366093" y="14037"/>
                  </a:lnTo>
                  <a:lnTo>
                    <a:pt x="367919" y="22987"/>
                  </a:lnTo>
                  <a:lnTo>
                    <a:pt x="367919" y="207010"/>
                  </a:lnTo>
                  <a:lnTo>
                    <a:pt x="366093" y="215959"/>
                  </a:lnTo>
                  <a:lnTo>
                    <a:pt x="361124" y="223266"/>
                  </a:lnTo>
                  <a:lnTo>
                    <a:pt x="353774" y="228191"/>
                  </a:lnTo>
                  <a:lnTo>
                    <a:pt x="344805" y="229997"/>
                  </a:lnTo>
                  <a:lnTo>
                    <a:pt x="22987" y="229997"/>
                  </a:lnTo>
                  <a:lnTo>
                    <a:pt x="14037" y="228191"/>
                  </a:lnTo>
                  <a:lnTo>
                    <a:pt x="6731" y="223266"/>
                  </a:lnTo>
                  <a:lnTo>
                    <a:pt x="1805" y="215959"/>
                  </a:lnTo>
                  <a:lnTo>
                    <a:pt x="0" y="207010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3619627" y="5994272"/>
            <a:ext cx="321310" cy="145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59055">
              <a:lnSpc>
                <a:spcPts val="470"/>
              </a:lnSpc>
              <a:spcBef>
                <a:spcPts val="120"/>
              </a:spcBef>
            </a:pPr>
            <a:r>
              <a:rPr sz="400" spc="-10" dirty="0">
                <a:latin typeface="Segoe UI"/>
                <a:cs typeface="Segoe UI"/>
              </a:rPr>
              <a:t>Incident</a:t>
            </a:r>
            <a:r>
              <a:rPr sz="400" spc="500" dirty="0">
                <a:latin typeface="Segoe UI"/>
                <a:cs typeface="Segoe UI"/>
              </a:rPr>
              <a:t> </a:t>
            </a:r>
            <a:r>
              <a:rPr sz="400" spc="-10" dirty="0">
                <a:latin typeface="Segoe UI"/>
                <a:cs typeface="Segoe UI"/>
              </a:rPr>
              <a:t>Management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3546728" y="5605145"/>
            <a:ext cx="420370" cy="868680"/>
            <a:chOff x="3546728" y="5605145"/>
            <a:chExt cx="420370" cy="868680"/>
          </a:xfrm>
        </p:grpSpPr>
        <p:sp>
          <p:nvSpPr>
            <p:cNvPr id="104" name="object 104"/>
            <p:cNvSpPr/>
            <p:nvPr/>
          </p:nvSpPr>
          <p:spPr>
            <a:xfrm>
              <a:off x="3549903" y="5608320"/>
              <a:ext cx="46355" cy="747395"/>
            </a:xfrm>
            <a:custGeom>
              <a:avLst/>
              <a:gdLst/>
              <a:ahLst/>
              <a:cxnLst/>
              <a:rect l="l" t="t" r="r" b="b"/>
              <a:pathLst>
                <a:path w="46354" h="747395">
                  <a:moveTo>
                    <a:pt x="0" y="0"/>
                  </a:moveTo>
                  <a:lnTo>
                    <a:pt x="0" y="747394"/>
                  </a:lnTo>
                  <a:lnTo>
                    <a:pt x="45974" y="747394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3595877" y="6240653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3114"/>
                  </a:moveTo>
                  <a:lnTo>
                    <a:pt x="1805" y="14144"/>
                  </a:lnTo>
                  <a:lnTo>
                    <a:pt x="6730" y="6794"/>
                  </a:lnTo>
                  <a:lnTo>
                    <a:pt x="14037" y="1825"/>
                  </a:lnTo>
                  <a:lnTo>
                    <a:pt x="22987" y="0"/>
                  </a:lnTo>
                  <a:lnTo>
                    <a:pt x="344805" y="0"/>
                  </a:lnTo>
                  <a:lnTo>
                    <a:pt x="353774" y="1825"/>
                  </a:lnTo>
                  <a:lnTo>
                    <a:pt x="361124" y="6794"/>
                  </a:lnTo>
                  <a:lnTo>
                    <a:pt x="366093" y="14144"/>
                  </a:lnTo>
                  <a:lnTo>
                    <a:pt x="367919" y="23114"/>
                  </a:lnTo>
                  <a:lnTo>
                    <a:pt x="367919" y="207010"/>
                  </a:lnTo>
                  <a:lnTo>
                    <a:pt x="366093" y="215959"/>
                  </a:lnTo>
                  <a:lnTo>
                    <a:pt x="361124" y="223266"/>
                  </a:lnTo>
                  <a:lnTo>
                    <a:pt x="353774" y="228191"/>
                  </a:lnTo>
                  <a:lnTo>
                    <a:pt x="344805" y="229997"/>
                  </a:lnTo>
                  <a:lnTo>
                    <a:pt x="22987" y="229997"/>
                  </a:lnTo>
                  <a:lnTo>
                    <a:pt x="14037" y="228191"/>
                  </a:lnTo>
                  <a:lnTo>
                    <a:pt x="6731" y="223266"/>
                  </a:lnTo>
                  <a:lnTo>
                    <a:pt x="1805" y="215959"/>
                  </a:lnTo>
                  <a:lnTo>
                    <a:pt x="0" y="207010"/>
                  </a:lnTo>
                  <a:lnTo>
                    <a:pt x="0" y="23114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3619627" y="6281673"/>
            <a:ext cx="321310" cy="145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55880">
              <a:lnSpc>
                <a:spcPts val="470"/>
              </a:lnSpc>
              <a:spcBef>
                <a:spcPts val="120"/>
              </a:spcBef>
            </a:pPr>
            <a:r>
              <a:rPr sz="400" spc="-10" dirty="0">
                <a:latin typeface="Segoe UI"/>
                <a:cs typeface="Segoe UI"/>
              </a:rPr>
              <a:t>Problem</a:t>
            </a:r>
            <a:r>
              <a:rPr sz="400" spc="500" dirty="0">
                <a:latin typeface="Segoe UI"/>
                <a:cs typeface="Segoe UI"/>
              </a:rPr>
              <a:t> </a:t>
            </a:r>
            <a:r>
              <a:rPr sz="400" spc="-10" dirty="0">
                <a:latin typeface="Segoe UI"/>
                <a:cs typeface="Segoe UI"/>
              </a:rPr>
              <a:t>Management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3546728" y="5605145"/>
            <a:ext cx="420370" cy="1156335"/>
            <a:chOff x="3546728" y="5605145"/>
            <a:chExt cx="420370" cy="1156335"/>
          </a:xfrm>
        </p:grpSpPr>
        <p:sp>
          <p:nvSpPr>
            <p:cNvPr id="108" name="object 108"/>
            <p:cNvSpPr/>
            <p:nvPr/>
          </p:nvSpPr>
          <p:spPr>
            <a:xfrm>
              <a:off x="3549903" y="5608320"/>
              <a:ext cx="46355" cy="1035050"/>
            </a:xfrm>
            <a:custGeom>
              <a:avLst/>
              <a:gdLst/>
              <a:ahLst/>
              <a:cxnLst/>
              <a:rect l="l" t="t" r="r" b="b"/>
              <a:pathLst>
                <a:path w="46354" h="1035050">
                  <a:moveTo>
                    <a:pt x="0" y="0"/>
                  </a:moveTo>
                  <a:lnTo>
                    <a:pt x="0" y="1034795"/>
                  </a:lnTo>
                  <a:lnTo>
                    <a:pt x="45974" y="1034795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595877" y="6528181"/>
              <a:ext cx="368300" cy="229870"/>
            </a:xfrm>
            <a:custGeom>
              <a:avLst/>
              <a:gdLst/>
              <a:ahLst/>
              <a:cxnLst/>
              <a:rect l="l" t="t" r="r" b="b"/>
              <a:pathLst>
                <a:path w="368300" h="229870">
                  <a:moveTo>
                    <a:pt x="0" y="22987"/>
                  </a:moveTo>
                  <a:lnTo>
                    <a:pt x="1805" y="14037"/>
                  </a:lnTo>
                  <a:lnTo>
                    <a:pt x="6730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805" y="0"/>
                  </a:lnTo>
                  <a:lnTo>
                    <a:pt x="353774" y="1805"/>
                  </a:lnTo>
                  <a:lnTo>
                    <a:pt x="361124" y="6731"/>
                  </a:lnTo>
                  <a:lnTo>
                    <a:pt x="366093" y="14037"/>
                  </a:lnTo>
                  <a:lnTo>
                    <a:pt x="367919" y="22987"/>
                  </a:lnTo>
                  <a:lnTo>
                    <a:pt x="367919" y="206883"/>
                  </a:lnTo>
                  <a:lnTo>
                    <a:pt x="366093" y="215832"/>
                  </a:lnTo>
                  <a:lnTo>
                    <a:pt x="361124" y="223139"/>
                  </a:lnTo>
                  <a:lnTo>
                    <a:pt x="353774" y="228064"/>
                  </a:lnTo>
                  <a:lnTo>
                    <a:pt x="344805" y="229870"/>
                  </a:lnTo>
                  <a:lnTo>
                    <a:pt x="22987" y="229870"/>
                  </a:lnTo>
                  <a:lnTo>
                    <a:pt x="14037" y="228064"/>
                  </a:lnTo>
                  <a:lnTo>
                    <a:pt x="6731" y="223139"/>
                  </a:lnTo>
                  <a:lnTo>
                    <a:pt x="1805" y="215832"/>
                  </a:lnTo>
                  <a:lnTo>
                    <a:pt x="0" y="206883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0" name="object 110"/>
          <p:cNvSpPr txBox="1"/>
          <p:nvPr/>
        </p:nvSpPr>
        <p:spPr>
          <a:xfrm>
            <a:off x="3657727" y="6569202"/>
            <a:ext cx="245110" cy="145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20955">
              <a:lnSpc>
                <a:spcPts val="470"/>
              </a:lnSpc>
              <a:spcBef>
                <a:spcPts val="120"/>
              </a:spcBef>
            </a:pPr>
            <a:r>
              <a:rPr sz="400" spc="-10" dirty="0">
                <a:latin typeface="Segoe UI"/>
                <a:cs typeface="Segoe UI"/>
              </a:rPr>
              <a:t>Request</a:t>
            </a:r>
            <a:r>
              <a:rPr sz="400" spc="500" dirty="0">
                <a:latin typeface="Segoe UI"/>
                <a:cs typeface="Segoe UI"/>
              </a:rPr>
              <a:t> </a:t>
            </a:r>
            <a:r>
              <a:rPr sz="400" spc="-10" dirty="0">
                <a:latin typeface="Segoe UI"/>
                <a:cs typeface="Segoe UI"/>
              </a:rPr>
              <a:t>Fulfilment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3546728" y="5605145"/>
            <a:ext cx="420370" cy="1443990"/>
            <a:chOff x="3546728" y="5605145"/>
            <a:chExt cx="420370" cy="1443990"/>
          </a:xfrm>
        </p:grpSpPr>
        <p:sp>
          <p:nvSpPr>
            <p:cNvPr id="112" name="object 112"/>
            <p:cNvSpPr/>
            <p:nvPr/>
          </p:nvSpPr>
          <p:spPr>
            <a:xfrm>
              <a:off x="3549903" y="5608320"/>
              <a:ext cx="46355" cy="1322705"/>
            </a:xfrm>
            <a:custGeom>
              <a:avLst/>
              <a:gdLst/>
              <a:ahLst/>
              <a:cxnLst/>
              <a:rect l="l" t="t" r="r" b="b"/>
              <a:pathLst>
                <a:path w="46354" h="1322704">
                  <a:moveTo>
                    <a:pt x="0" y="0"/>
                  </a:moveTo>
                  <a:lnTo>
                    <a:pt x="0" y="1322196"/>
                  </a:lnTo>
                  <a:lnTo>
                    <a:pt x="45974" y="1322196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595877" y="6815582"/>
              <a:ext cx="368300" cy="229870"/>
            </a:xfrm>
            <a:custGeom>
              <a:avLst/>
              <a:gdLst/>
              <a:ahLst/>
              <a:cxnLst/>
              <a:rect l="l" t="t" r="r" b="b"/>
              <a:pathLst>
                <a:path w="368300" h="229870">
                  <a:moveTo>
                    <a:pt x="0" y="22987"/>
                  </a:moveTo>
                  <a:lnTo>
                    <a:pt x="1805" y="14037"/>
                  </a:lnTo>
                  <a:lnTo>
                    <a:pt x="6730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805" y="0"/>
                  </a:lnTo>
                  <a:lnTo>
                    <a:pt x="353774" y="1805"/>
                  </a:lnTo>
                  <a:lnTo>
                    <a:pt x="361124" y="6731"/>
                  </a:lnTo>
                  <a:lnTo>
                    <a:pt x="366093" y="14037"/>
                  </a:lnTo>
                  <a:lnTo>
                    <a:pt x="367919" y="22987"/>
                  </a:lnTo>
                  <a:lnTo>
                    <a:pt x="367919" y="206883"/>
                  </a:lnTo>
                  <a:lnTo>
                    <a:pt x="366093" y="215832"/>
                  </a:lnTo>
                  <a:lnTo>
                    <a:pt x="361124" y="223139"/>
                  </a:lnTo>
                  <a:lnTo>
                    <a:pt x="353774" y="228064"/>
                  </a:lnTo>
                  <a:lnTo>
                    <a:pt x="344805" y="229870"/>
                  </a:lnTo>
                  <a:lnTo>
                    <a:pt x="22987" y="229870"/>
                  </a:lnTo>
                  <a:lnTo>
                    <a:pt x="14037" y="228064"/>
                  </a:lnTo>
                  <a:lnTo>
                    <a:pt x="6731" y="223139"/>
                  </a:lnTo>
                  <a:lnTo>
                    <a:pt x="1805" y="215832"/>
                  </a:lnTo>
                  <a:lnTo>
                    <a:pt x="0" y="206883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3619627" y="6856856"/>
            <a:ext cx="321310" cy="145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74295">
              <a:lnSpc>
                <a:spcPts val="470"/>
              </a:lnSpc>
              <a:spcBef>
                <a:spcPts val="120"/>
              </a:spcBef>
            </a:pPr>
            <a:r>
              <a:rPr sz="400" spc="-10" dirty="0">
                <a:latin typeface="Segoe UI"/>
                <a:cs typeface="Segoe UI"/>
              </a:rPr>
              <a:t>Access</a:t>
            </a:r>
            <a:r>
              <a:rPr sz="400" spc="500" dirty="0">
                <a:latin typeface="Segoe UI"/>
                <a:cs typeface="Segoe UI"/>
              </a:rPr>
              <a:t> </a:t>
            </a:r>
            <a:r>
              <a:rPr sz="400" spc="-10" dirty="0">
                <a:latin typeface="Segoe UI"/>
                <a:cs typeface="Segoe UI"/>
              </a:rPr>
              <a:t>Management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3546728" y="5605145"/>
            <a:ext cx="420370" cy="1731010"/>
            <a:chOff x="3546728" y="5605145"/>
            <a:chExt cx="420370" cy="1731010"/>
          </a:xfrm>
        </p:grpSpPr>
        <p:sp>
          <p:nvSpPr>
            <p:cNvPr id="116" name="object 116"/>
            <p:cNvSpPr/>
            <p:nvPr/>
          </p:nvSpPr>
          <p:spPr>
            <a:xfrm>
              <a:off x="3549903" y="5608320"/>
              <a:ext cx="46355" cy="1609725"/>
            </a:xfrm>
            <a:custGeom>
              <a:avLst/>
              <a:gdLst/>
              <a:ahLst/>
              <a:cxnLst/>
              <a:rect l="l" t="t" r="r" b="b"/>
              <a:pathLst>
                <a:path w="46354" h="1609725">
                  <a:moveTo>
                    <a:pt x="0" y="0"/>
                  </a:moveTo>
                  <a:lnTo>
                    <a:pt x="0" y="1609597"/>
                  </a:lnTo>
                  <a:lnTo>
                    <a:pt x="45974" y="1609597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3595877" y="7102983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2987"/>
                  </a:moveTo>
                  <a:lnTo>
                    <a:pt x="1805" y="14037"/>
                  </a:lnTo>
                  <a:lnTo>
                    <a:pt x="6730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805" y="0"/>
                  </a:lnTo>
                  <a:lnTo>
                    <a:pt x="353774" y="1805"/>
                  </a:lnTo>
                  <a:lnTo>
                    <a:pt x="361124" y="6731"/>
                  </a:lnTo>
                  <a:lnTo>
                    <a:pt x="366093" y="14037"/>
                  </a:lnTo>
                  <a:lnTo>
                    <a:pt x="367919" y="22987"/>
                  </a:lnTo>
                  <a:lnTo>
                    <a:pt x="367919" y="207010"/>
                  </a:lnTo>
                  <a:lnTo>
                    <a:pt x="366093" y="215959"/>
                  </a:lnTo>
                  <a:lnTo>
                    <a:pt x="361124" y="223266"/>
                  </a:lnTo>
                  <a:lnTo>
                    <a:pt x="353774" y="228191"/>
                  </a:lnTo>
                  <a:lnTo>
                    <a:pt x="344805" y="229997"/>
                  </a:lnTo>
                  <a:lnTo>
                    <a:pt x="22987" y="229997"/>
                  </a:lnTo>
                  <a:lnTo>
                    <a:pt x="14037" y="228191"/>
                  </a:lnTo>
                  <a:lnTo>
                    <a:pt x="6731" y="223266"/>
                  </a:lnTo>
                  <a:lnTo>
                    <a:pt x="1805" y="215959"/>
                  </a:lnTo>
                  <a:lnTo>
                    <a:pt x="0" y="207010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8" name="object 118"/>
          <p:cNvSpPr txBox="1"/>
          <p:nvPr/>
        </p:nvSpPr>
        <p:spPr>
          <a:xfrm>
            <a:off x="3628771" y="7174738"/>
            <a:ext cx="30480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latin typeface="Segoe UI"/>
                <a:cs typeface="Segoe UI"/>
              </a:rPr>
              <a:t>Service</a:t>
            </a:r>
            <a:r>
              <a:rPr sz="400" spc="-25" dirty="0">
                <a:latin typeface="Segoe UI"/>
                <a:cs typeface="Segoe UI"/>
              </a:rPr>
              <a:t> </a:t>
            </a:r>
            <a:r>
              <a:rPr sz="400" spc="-20" dirty="0">
                <a:latin typeface="Segoe UI"/>
                <a:cs typeface="Segoe UI"/>
              </a:rPr>
              <a:t>Desk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3546728" y="5605145"/>
            <a:ext cx="420370" cy="2018664"/>
            <a:chOff x="3546728" y="5605145"/>
            <a:chExt cx="420370" cy="2018664"/>
          </a:xfrm>
        </p:grpSpPr>
        <p:sp>
          <p:nvSpPr>
            <p:cNvPr id="120" name="object 120"/>
            <p:cNvSpPr/>
            <p:nvPr/>
          </p:nvSpPr>
          <p:spPr>
            <a:xfrm>
              <a:off x="3549903" y="5608320"/>
              <a:ext cx="46355" cy="1897380"/>
            </a:xfrm>
            <a:custGeom>
              <a:avLst/>
              <a:gdLst/>
              <a:ahLst/>
              <a:cxnLst/>
              <a:rect l="l" t="t" r="r" b="b"/>
              <a:pathLst>
                <a:path w="46354" h="1897379">
                  <a:moveTo>
                    <a:pt x="0" y="0"/>
                  </a:moveTo>
                  <a:lnTo>
                    <a:pt x="0" y="1896998"/>
                  </a:lnTo>
                  <a:lnTo>
                    <a:pt x="45974" y="1896998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3595877" y="7390384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2987"/>
                  </a:moveTo>
                  <a:lnTo>
                    <a:pt x="1805" y="14037"/>
                  </a:lnTo>
                  <a:lnTo>
                    <a:pt x="6730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805" y="0"/>
                  </a:lnTo>
                  <a:lnTo>
                    <a:pt x="353774" y="1805"/>
                  </a:lnTo>
                  <a:lnTo>
                    <a:pt x="361124" y="6731"/>
                  </a:lnTo>
                  <a:lnTo>
                    <a:pt x="366093" y="14037"/>
                  </a:lnTo>
                  <a:lnTo>
                    <a:pt x="367919" y="22987"/>
                  </a:lnTo>
                  <a:lnTo>
                    <a:pt x="367919" y="207010"/>
                  </a:lnTo>
                  <a:lnTo>
                    <a:pt x="366093" y="215959"/>
                  </a:lnTo>
                  <a:lnTo>
                    <a:pt x="361124" y="223266"/>
                  </a:lnTo>
                  <a:lnTo>
                    <a:pt x="353774" y="228191"/>
                  </a:lnTo>
                  <a:lnTo>
                    <a:pt x="344805" y="229997"/>
                  </a:lnTo>
                  <a:lnTo>
                    <a:pt x="22987" y="229997"/>
                  </a:lnTo>
                  <a:lnTo>
                    <a:pt x="14037" y="228191"/>
                  </a:lnTo>
                  <a:lnTo>
                    <a:pt x="6731" y="223266"/>
                  </a:lnTo>
                  <a:lnTo>
                    <a:pt x="1805" y="215959"/>
                  </a:lnTo>
                  <a:lnTo>
                    <a:pt x="0" y="207010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2" name="object 122"/>
          <p:cNvSpPr txBox="1"/>
          <p:nvPr/>
        </p:nvSpPr>
        <p:spPr>
          <a:xfrm>
            <a:off x="3619627" y="7431785"/>
            <a:ext cx="321310" cy="145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45720">
              <a:lnSpc>
                <a:spcPts val="470"/>
              </a:lnSpc>
              <a:spcBef>
                <a:spcPts val="120"/>
              </a:spcBef>
            </a:pPr>
            <a:r>
              <a:rPr sz="400" spc="-10" dirty="0">
                <a:latin typeface="Segoe UI"/>
                <a:cs typeface="Segoe UI"/>
              </a:rPr>
              <a:t>Technical</a:t>
            </a:r>
            <a:r>
              <a:rPr sz="400" spc="500" dirty="0">
                <a:latin typeface="Segoe UI"/>
                <a:cs typeface="Segoe UI"/>
              </a:rPr>
              <a:t> </a:t>
            </a:r>
            <a:r>
              <a:rPr sz="400" spc="-10" dirty="0">
                <a:latin typeface="Segoe UI"/>
                <a:cs typeface="Segoe UI"/>
              </a:rPr>
              <a:t>Management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3546728" y="5605145"/>
            <a:ext cx="420370" cy="2306320"/>
            <a:chOff x="3546728" y="5605145"/>
            <a:chExt cx="420370" cy="2306320"/>
          </a:xfrm>
        </p:grpSpPr>
        <p:sp>
          <p:nvSpPr>
            <p:cNvPr id="124" name="object 124"/>
            <p:cNvSpPr/>
            <p:nvPr/>
          </p:nvSpPr>
          <p:spPr>
            <a:xfrm>
              <a:off x="3549903" y="5608320"/>
              <a:ext cx="46355" cy="2185035"/>
            </a:xfrm>
            <a:custGeom>
              <a:avLst/>
              <a:gdLst/>
              <a:ahLst/>
              <a:cxnLst/>
              <a:rect l="l" t="t" r="r" b="b"/>
              <a:pathLst>
                <a:path w="46354" h="2185034">
                  <a:moveTo>
                    <a:pt x="0" y="0"/>
                  </a:moveTo>
                  <a:lnTo>
                    <a:pt x="0" y="2184527"/>
                  </a:lnTo>
                  <a:lnTo>
                    <a:pt x="45974" y="2184527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3595877" y="7677785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2987"/>
                  </a:moveTo>
                  <a:lnTo>
                    <a:pt x="1805" y="14037"/>
                  </a:lnTo>
                  <a:lnTo>
                    <a:pt x="6730" y="6731"/>
                  </a:lnTo>
                  <a:lnTo>
                    <a:pt x="14037" y="1805"/>
                  </a:lnTo>
                  <a:lnTo>
                    <a:pt x="22987" y="0"/>
                  </a:lnTo>
                  <a:lnTo>
                    <a:pt x="344805" y="0"/>
                  </a:lnTo>
                  <a:lnTo>
                    <a:pt x="353774" y="1805"/>
                  </a:lnTo>
                  <a:lnTo>
                    <a:pt x="361124" y="6731"/>
                  </a:lnTo>
                  <a:lnTo>
                    <a:pt x="366093" y="14037"/>
                  </a:lnTo>
                  <a:lnTo>
                    <a:pt x="367919" y="22987"/>
                  </a:lnTo>
                  <a:lnTo>
                    <a:pt x="367919" y="206997"/>
                  </a:lnTo>
                  <a:lnTo>
                    <a:pt x="366093" y="215948"/>
                  </a:lnTo>
                  <a:lnTo>
                    <a:pt x="361124" y="223259"/>
                  </a:lnTo>
                  <a:lnTo>
                    <a:pt x="353774" y="228189"/>
                  </a:lnTo>
                  <a:lnTo>
                    <a:pt x="344805" y="229997"/>
                  </a:lnTo>
                  <a:lnTo>
                    <a:pt x="22987" y="229997"/>
                  </a:lnTo>
                  <a:lnTo>
                    <a:pt x="14037" y="228189"/>
                  </a:lnTo>
                  <a:lnTo>
                    <a:pt x="6731" y="223259"/>
                  </a:lnTo>
                  <a:lnTo>
                    <a:pt x="1805" y="215948"/>
                  </a:lnTo>
                  <a:lnTo>
                    <a:pt x="0" y="206997"/>
                  </a:lnTo>
                  <a:lnTo>
                    <a:pt x="0" y="22987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6" name="object 126"/>
          <p:cNvSpPr txBox="1"/>
          <p:nvPr/>
        </p:nvSpPr>
        <p:spPr>
          <a:xfrm>
            <a:off x="3619627" y="7719186"/>
            <a:ext cx="321310" cy="145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indent="22860">
              <a:lnSpc>
                <a:spcPts val="470"/>
              </a:lnSpc>
              <a:spcBef>
                <a:spcPts val="120"/>
              </a:spcBef>
            </a:pPr>
            <a:r>
              <a:rPr sz="400" spc="-10" dirty="0">
                <a:latin typeface="Segoe UI"/>
                <a:cs typeface="Segoe UI"/>
              </a:rPr>
              <a:t>Application</a:t>
            </a:r>
            <a:r>
              <a:rPr sz="400" spc="500" dirty="0">
                <a:latin typeface="Segoe UI"/>
                <a:cs typeface="Segoe UI"/>
              </a:rPr>
              <a:t> </a:t>
            </a:r>
            <a:r>
              <a:rPr sz="400" spc="-10" dirty="0">
                <a:latin typeface="Segoe UI"/>
                <a:cs typeface="Segoe UI"/>
              </a:rPr>
              <a:t>Management</a:t>
            </a:r>
            <a:endParaRPr sz="400">
              <a:latin typeface="Segoe UI"/>
              <a:cs typeface="Segoe UI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3546728" y="5605145"/>
            <a:ext cx="420370" cy="2593340"/>
            <a:chOff x="3546728" y="5605145"/>
            <a:chExt cx="420370" cy="2593340"/>
          </a:xfrm>
        </p:grpSpPr>
        <p:sp>
          <p:nvSpPr>
            <p:cNvPr id="128" name="object 128"/>
            <p:cNvSpPr/>
            <p:nvPr/>
          </p:nvSpPr>
          <p:spPr>
            <a:xfrm>
              <a:off x="3549903" y="5608320"/>
              <a:ext cx="46355" cy="2472055"/>
            </a:xfrm>
            <a:custGeom>
              <a:avLst/>
              <a:gdLst/>
              <a:ahLst/>
              <a:cxnLst/>
              <a:rect l="l" t="t" r="r" b="b"/>
              <a:pathLst>
                <a:path w="46354" h="2472054">
                  <a:moveTo>
                    <a:pt x="0" y="0"/>
                  </a:moveTo>
                  <a:lnTo>
                    <a:pt x="0" y="2471915"/>
                  </a:lnTo>
                  <a:lnTo>
                    <a:pt x="45974" y="2471915"/>
                  </a:lnTo>
                </a:path>
              </a:pathLst>
            </a:custGeom>
            <a:ln w="635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3595877" y="7965262"/>
              <a:ext cx="368300" cy="230504"/>
            </a:xfrm>
            <a:custGeom>
              <a:avLst/>
              <a:gdLst/>
              <a:ahLst/>
              <a:cxnLst/>
              <a:rect l="l" t="t" r="r" b="b"/>
              <a:pathLst>
                <a:path w="368300" h="230504">
                  <a:moveTo>
                    <a:pt x="0" y="22986"/>
                  </a:moveTo>
                  <a:lnTo>
                    <a:pt x="1805" y="14042"/>
                  </a:lnTo>
                  <a:lnTo>
                    <a:pt x="6730" y="6735"/>
                  </a:lnTo>
                  <a:lnTo>
                    <a:pt x="14037" y="1807"/>
                  </a:lnTo>
                  <a:lnTo>
                    <a:pt x="22987" y="0"/>
                  </a:lnTo>
                  <a:lnTo>
                    <a:pt x="344805" y="0"/>
                  </a:lnTo>
                  <a:lnTo>
                    <a:pt x="353774" y="1807"/>
                  </a:lnTo>
                  <a:lnTo>
                    <a:pt x="361124" y="6735"/>
                  </a:lnTo>
                  <a:lnTo>
                    <a:pt x="366093" y="14042"/>
                  </a:lnTo>
                  <a:lnTo>
                    <a:pt x="367919" y="22986"/>
                  </a:lnTo>
                  <a:lnTo>
                    <a:pt x="367919" y="206946"/>
                  </a:lnTo>
                  <a:lnTo>
                    <a:pt x="366093" y="215896"/>
                  </a:lnTo>
                  <a:lnTo>
                    <a:pt x="361124" y="223202"/>
                  </a:lnTo>
                  <a:lnTo>
                    <a:pt x="353774" y="228127"/>
                  </a:lnTo>
                  <a:lnTo>
                    <a:pt x="344805" y="229933"/>
                  </a:lnTo>
                  <a:lnTo>
                    <a:pt x="22987" y="229933"/>
                  </a:lnTo>
                  <a:lnTo>
                    <a:pt x="14037" y="228127"/>
                  </a:lnTo>
                  <a:lnTo>
                    <a:pt x="6731" y="223202"/>
                  </a:lnTo>
                  <a:lnTo>
                    <a:pt x="1805" y="215896"/>
                  </a:lnTo>
                  <a:lnTo>
                    <a:pt x="0" y="206946"/>
                  </a:lnTo>
                  <a:lnTo>
                    <a:pt x="0" y="22986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0" name="object 130"/>
          <p:cNvSpPr txBox="1"/>
          <p:nvPr/>
        </p:nvSpPr>
        <p:spPr>
          <a:xfrm>
            <a:off x="3619627" y="8037068"/>
            <a:ext cx="32258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dirty="0">
                <a:latin typeface="Segoe UI"/>
                <a:cs typeface="Segoe UI"/>
              </a:rPr>
              <a:t>IT</a:t>
            </a:r>
            <a:r>
              <a:rPr sz="400" spc="-20" dirty="0">
                <a:latin typeface="Segoe UI"/>
                <a:cs typeface="Segoe UI"/>
              </a:rPr>
              <a:t> </a:t>
            </a:r>
            <a:r>
              <a:rPr sz="400" spc="-10" dirty="0">
                <a:latin typeface="Segoe UI"/>
                <a:cs typeface="Segoe UI"/>
              </a:rPr>
              <a:t>Operations</a:t>
            </a:r>
            <a:endParaRPr sz="400">
              <a:latin typeface="Segoe UI"/>
              <a:cs typeface="Segoe UI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4078732" y="5378450"/>
            <a:ext cx="460375" cy="229870"/>
          </a:xfrm>
          <a:custGeom>
            <a:avLst/>
            <a:gdLst/>
            <a:ahLst/>
            <a:cxnLst/>
            <a:rect l="l" t="t" r="r" b="b"/>
            <a:pathLst>
              <a:path w="460375" h="229870">
                <a:moveTo>
                  <a:pt x="436879" y="0"/>
                </a:moveTo>
                <a:lnTo>
                  <a:pt x="22987" y="0"/>
                </a:lnTo>
                <a:lnTo>
                  <a:pt x="14037" y="1805"/>
                </a:lnTo>
                <a:lnTo>
                  <a:pt x="6730" y="6731"/>
                </a:lnTo>
                <a:lnTo>
                  <a:pt x="1805" y="14037"/>
                </a:lnTo>
                <a:lnTo>
                  <a:pt x="0" y="22987"/>
                </a:lnTo>
                <a:lnTo>
                  <a:pt x="0" y="206883"/>
                </a:lnTo>
                <a:lnTo>
                  <a:pt x="1805" y="215832"/>
                </a:lnTo>
                <a:lnTo>
                  <a:pt x="6731" y="223139"/>
                </a:lnTo>
                <a:lnTo>
                  <a:pt x="14037" y="228064"/>
                </a:lnTo>
                <a:lnTo>
                  <a:pt x="22987" y="229870"/>
                </a:lnTo>
                <a:lnTo>
                  <a:pt x="436879" y="229870"/>
                </a:lnTo>
                <a:lnTo>
                  <a:pt x="445829" y="228064"/>
                </a:lnTo>
                <a:lnTo>
                  <a:pt x="453136" y="223138"/>
                </a:lnTo>
                <a:lnTo>
                  <a:pt x="458061" y="215832"/>
                </a:lnTo>
                <a:lnTo>
                  <a:pt x="459866" y="206883"/>
                </a:lnTo>
                <a:lnTo>
                  <a:pt x="459866" y="22987"/>
                </a:lnTo>
                <a:lnTo>
                  <a:pt x="458061" y="14037"/>
                </a:lnTo>
                <a:lnTo>
                  <a:pt x="453135" y="6730"/>
                </a:lnTo>
                <a:lnTo>
                  <a:pt x="445829" y="1805"/>
                </a:lnTo>
                <a:lnTo>
                  <a:pt x="436879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 txBox="1"/>
          <p:nvPr/>
        </p:nvSpPr>
        <p:spPr>
          <a:xfrm>
            <a:off x="4238371" y="5427725"/>
            <a:ext cx="142240" cy="124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0" spc="-25" dirty="0">
                <a:solidFill>
                  <a:srgbClr val="FFFFFF"/>
                </a:solidFill>
                <a:latin typeface="Segoe UI"/>
                <a:cs typeface="Segoe UI"/>
              </a:rPr>
              <a:t>CSI</a:t>
            </a:r>
            <a:endParaRPr sz="650">
              <a:latin typeface="Segoe UI"/>
              <a:cs typeface="Segoe UI"/>
            </a:endParaRPr>
          </a:p>
        </p:txBody>
      </p:sp>
      <p:sp>
        <p:nvSpPr>
          <p:cNvPr id="133" name="object 1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3860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FFFFFF"/>
                </a:solidFill>
                <a:latin typeface="Arial"/>
                <a:cs typeface="Arial"/>
              </a:rPr>
              <a:t>ITIL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252085" cy="124904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ITIL:</a:t>
            </a:r>
            <a:r>
              <a:rPr sz="1000" b="1" spc="-2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Is a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 Project?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ITIL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not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“Project”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ITIL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ongoing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journey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Benefits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-10" dirty="0">
                <a:latin typeface="Arial MT"/>
                <a:cs typeface="Arial MT"/>
              </a:rPr>
              <a:t> ITIL:</a:t>
            </a:r>
            <a:endParaRPr sz="9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sz="800" spc="-10" dirty="0">
                <a:latin typeface="Arial MT"/>
                <a:cs typeface="Arial MT"/>
              </a:rPr>
              <a:t>Organizations</a:t>
            </a:r>
            <a:r>
              <a:rPr sz="800" dirty="0">
                <a:latin typeface="Arial MT"/>
                <a:cs typeface="Arial MT"/>
              </a:rPr>
              <a:t> to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reduce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operations</a:t>
            </a:r>
            <a:r>
              <a:rPr sz="800" dirty="0">
                <a:latin typeface="Arial MT"/>
                <a:cs typeface="Arial MT"/>
              </a:rPr>
              <a:t> cost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by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optimizing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available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resource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utilizations</a:t>
            </a:r>
            <a:endParaRPr sz="8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sz="800" dirty="0">
                <a:latin typeface="Arial MT"/>
                <a:cs typeface="Arial MT"/>
              </a:rPr>
              <a:t>Reduce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system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outages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minimize</a:t>
            </a:r>
            <a:r>
              <a:rPr sz="800" spc="-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impacts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service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unavailability</a:t>
            </a:r>
            <a:endParaRPr sz="8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sz="800" dirty="0">
                <a:latin typeface="Arial MT"/>
                <a:cs typeface="Arial MT"/>
              </a:rPr>
              <a:t>Even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most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organizations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testified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with </a:t>
            </a:r>
            <a:r>
              <a:rPr sz="800" spc="-10" dirty="0">
                <a:latin typeface="Arial MT"/>
                <a:cs typeface="Arial MT"/>
              </a:rPr>
              <a:t>reduction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business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critical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incidents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by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80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 90%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few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years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78916" y="5322934"/>
            <a:ext cx="2035175" cy="8089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Problems</a:t>
            </a:r>
            <a:r>
              <a:rPr sz="1000" b="1" spc="-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of</a:t>
            </a:r>
            <a:r>
              <a:rPr sz="1000" b="1" spc="-3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Delivering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 Software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Problems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Delivering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Software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Release</a:t>
            </a:r>
            <a:r>
              <a:rPr sz="900" spc="-6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Antipatterns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Principles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Software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Delivery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833424" y="4977460"/>
            <a:ext cx="762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Agenda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31527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Problems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Delivering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3178" y="1634998"/>
            <a:ext cx="2736850" cy="84899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315"/>
              </a:spcBef>
              <a:buChar char="•"/>
              <a:tabLst>
                <a:tab pos="126364" algn="l"/>
              </a:tabLst>
            </a:pPr>
            <a:r>
              <a:rPr sz="900" dirty="0">
                <a:latin typeface="Arial MT"/>
                <a:cs typeface="Arial MT"/>
              </a:rPr>
              <a:t>Converting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Idea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Product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/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Service?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sz="900" dirty="0">
                <a:latin typeface="Arial MT"/>
                <a:cs typeface="Arial MT"/>
              </a:rPr>
              <a:t>Reliable,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rapid,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low-</a:t>
            </a:r>
            <a:r>
              <a:rPr sz="900" dirty="0">
                <a:latin typeface="Arial MT"/>
                <a:cs typeface="Arial MT"/>
              </a:rPr>
              <a:t>risk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software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releases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sz="900" dirty="0">
                <a:latin typeface="Arial MT"/>
                <a:cs typeface="Arial MT"/>
              </a:rPr>
              <a:t>Ideal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Environment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126364" algn="l"/>
              </a:tabLst>
            </a:pPr>
            <a:r>
              <a:rPr sz="900" dirty="0">
                <a:latin typeface="Arial MT"/>
                <a:cs typeface="Arial MT"/>
              </a:rPr>
              <a:t>Generic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Methodologies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for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Software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Methodologies</a:t>
            </a:r>
            <a:endParaRPr sz="900">
              <a:latin typeface="Arial MT"/>
              <a:cs typeface="Arial MT"/>
            </a:endParaRPr>
          </a:p>
          <a:p>
            <a:pPr marL="126364" indent="-113664">
              <a:lnSpc>
                <a:spcPct val="100000"/>
              </a:lnSpc>
              <a:spcBef>
                <a:spcPts val="220"/>
              </a:spcBef>
              <a:buChar char="•"/>
              <a:tabLst>
                <a:tab pos="126364" algn="l"/>
              </a:tabLst>
            </a:pPr>
            <a:r>
              <a:rPr sz="900" dirty="0">
                <a:latin typeface="Arial MT"/>
                <a:cs typeface="Arial MT"/>
              </a:rPr>
              <a:t>More focus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on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Requirement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Gathering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4964" y="2964636"/>
            <a:ext cx="4615435" cy="57335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33424" y="4977460"/>
            <a:ext cx="3153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Problems</a:t>
            </a:r>
            <a:r>
              <a:rPr sz="16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Delivering</a:t>
            </a:r>
            <a:r>
              <a:rPr sz="1600" b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11" name="object 11"/>
          <p:cNvSpPr txBox="1"/>
          <p:nvPr/>
        </p:nvSpPr>
        <p:spPr>
          <a:xfrm>
            <a:off x="578916" y="5322934"/>
            <a:ext cx="4321810" cy="137604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Release</a:t>
            </a:r>
            <a:r>
              <a:rPr sz="1000" b="1" spc="-3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Antipatterns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Common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Quote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“The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day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software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release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tends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tense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one”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Antipattern:</a:t>
            </a:r>
            <a:r>
              <a:rPr sz="900" spc="-5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Deploying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Software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Manually</a:t>
            </a:r>
            <a:endParaRPr sz="9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sz="800" dirty="0">
                <a:latin typeface="Arial MT"/>
                <a:cs typeface="Arial MT"/>
              </a:rPr>
              <a:t>The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production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extensive</a:t>
            </a:r>
            <a:r>
              <a:rPr sz="800" dirty="0">
                <a:latin typeface="Arial MT"/>
                <a:cs typeface="Arial MT"/>
              </a:rPr>
              <a:t> and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detailed</a:t>
            </a:r>
            <a:r>
              <a:rPr sz="800" spc="-10" dirty="0">
                <a:latin typeface="Arial MT"/>
                <a:cs typeface="Arial MT"/>
              </a:rPr>
              <a:t> documentation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for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steps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be </a:t>
            </a:r>
            <a:r>
              <a:rPr sz="800" spc="-10" dirty="0">
                <a:latin typeface="Arial MT"/>
                <a:cs typeface="Arial MT"/>
              </a:rPr>
              <a:t>performed</a:t>
            </a:r>
            <a:endParaRPr sz="8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sz="800" spc="-10" dirty="0">
                <a:latin typeface="Arial MT"/>
                <a:cs typeface="Arial MT"/>
              </a:rPr>
              <a:t>Reliance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on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manual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testing</a:t>
            </a:r>
            <a:endParaRPr sz="8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sz="800" dirty="0">
                <a:latin typeface="Arial MT"/>
                <a:cs typeface="Arial MT"/>
              </a:rPr>
              <a:t>Frequent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calls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-10" dirty="0">
                <a:latin typeface="Arial MT"/>
                <a:cs typeface="Arial MT"/>
              </a:rPr>
              <a:t> development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team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-10" dirty="0">
                <a:latin typeface="Arial MT"/>
                <a:cs typeface="Arial MT"/>
              </a:rPr>
              <a:t> explain</a:t>
            </a:r>
            <a:endParaRPr sz="8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sz="800" dirty="0">
                <a:latin typeface="Arial MT"/>
                <a:cs typeface="Arial MT"/>
              </a:rPr>
              <a:t>Frequent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corrections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release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process</a:t>
            </a:r>
            <a:endParaRPr sz="8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sz="800" dirty="0">
                <a:latin typeface="Arial MT"/>
                <a:cs typeface="Arial MT"/>
              </a:rPr>
              <a:t>Sitting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bleary-</a:t>
            </a:r>
            <a:r>
              <a:rPr sz="800" dirty="0">
                <a:latin typeface="Arial MT"/>
                <a:cs typeface="Arial MT"/>
              </a:rPr>
              <a:t>eyed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front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monitor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at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2</a:t>
            </a:r>
            <a:r>
              <a:rPr sz="800" spc="-55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A.M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31527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Problems</a:t>
            </a:r>
            <a:r>
              <a:rPr sz="1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Delivering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084445" cy="19621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Release</a:t>
            </a:r>
            <a:r>
              <a:rPr sz="1000" b="1" spc="-7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Antipatterns</a:t>
            </a:r>
            <a:r>
              <a:rPr sz="1000" b="1" spc="-2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Cond..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Antipattern: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Deploying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Production-like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Environment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Only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after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Development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</a:t>
            </a:r>
            <a:r>
              <a:rPr sz="900" spc="-10" dirty="0">
                <a:latin typeface="Arial MT"/>
                <a:cs typeface="Arial MT"/>
              </a:rPr>
              <a:t> Complete</a:t>
            </a:r>
            <a:endParaRPr sz="9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sz="800" spc="-20" dirty="0">
                <a:latin typeface="Arial MT"/>
                <a:cs typeface="Arial MT"/>
              </a:rPr>
              <a:t>Tester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tested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system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on</a:t>
            </a:r>
            <a:r>
              <a:rPr sz="800" spc="-10" dirty="0">
                <a:latin typeface="Arial MT"/>
                <a:cs typeface="Arial MT"/>
              </a:rPr>
              <a:t> development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machines</a:t>
            </a:r>
            <a:endParaRPr sz="8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sz="800" spc="-10" dirty="0">
                <a:latin typeface="Arial MT"/>
                <a:cs typeface="Arial MT"/>
              </a:rPr>
              <a:t>Releasing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into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staging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is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first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time</a:t>
            </a:r>
            <a:r>
              <a:rPr sz="800" spc="-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that</a:t>
            </a:r>
            <a:r>
              <a:rPr sz="800" spc="-10" dirty="0">
                <a:latin typeface="Arial MT"/>
                <a:cs typeface="Arial MT"/>
              </a:rPr>
              <a:t> operations </a:t>
            </a:r>
            <a:r>
              <a:rPr sz="800" dirty="0">
                <a:latin typeface="Arial MT"/>
                <a:cs typeface="Arial MT"/>
              </a:rPr>
              <a:t>people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interact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with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new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release</a:t>
            </a:r>
            <a:endParaRPr sz="8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sz="800" dirty="0">
                <a:latin typeface="Arial MT"/>
                <a:cs typeface="Arial MT"/>
              </a:rPr>
              <a:t>Who</a:t>
            </a:r>
            <a:r>
              <a:rPr sz="800" spc="-6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Assembles?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Development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Team</a:t>
            </a:r>
            <a:endParaRPr sz="8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sz="800" spc="-10" dirty="0">
                <a:latin typeface="Arial MT"/>
                <a:cs typeface="Arial MT"/>
              </a:rPr>
              <a:t>Collaboration</a:t>
            </a:r>
            <a:r>
              <a:rPr sz="800" spc="-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between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development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-10" dirty="0">
                <a:latin typeface="Arial MT"/>
                <a:cs typeface="Arial MT"/>
              </a:rPr>
              <a:t> Operations?</a:t>
            </a:r>
            <a:endParaRPr sz="8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Antipattern: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Manual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Configuration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Management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Production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Environments</a:t>
            </a:r>
            <a:endParaRPr sz="9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sz="800" spc="-10" dirty="0">
                <a:latin typeface="Arial MT"/>
                <a:cs typeface="Arial MT"/>
              </a:rPr>
              <a:t>Difference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Deployment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Stage and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Production</a:t>
            </a:r>
            <a:endParaRPr sz="8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sz="800" dirty="0">
                <a:latin typeface="Arial MT"/>
                <a:cs typeface="Arial MT"/>
              </a:rPr>
              <a:t>Different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host</a:t>
            </a:r>
            <a:r>
              <a:rPr sz="800" spc="-5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behave</a:t>
            </a:r>
            <a:r>
              <a:rPr sz="800" spc="-4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differently</a:t>
            </a:r>
            <a:endParaRPr sz="8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sz="800" dirty="0">
                <a:latin typeface="Arial MT"/>
                <a:cs typeface="Arial MT"/>
              </a:rPr>
              <a:t>Long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time</a:t>
            </a:r>
            <a:r>
              <a:rPr sz="800" spc="-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prepare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environment</a:t>
            </a:r>
            <a:endParaRPr sz="8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0"/>
              </a:spcBef>
              <a:buChar char="•"/>
              <a:tabLst>
                <a:tab pos="620395" algn="l"/>
              </a:tabLst>
            </a:pPr>
            <a:r>
              <a:rPr sz="800" dirty="0">
                <a:latin typeface="Arial MT"/>
                <a:cs typeface="Arial MT"/>
              </a:rPr>
              <a:t>Cannot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step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back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</a:t>
            </a:r>
            <a:r>
              <a:rPr sz="800" spc="-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earlier</a:t>
            </a:r>
            <a:r>
              <a:rPr sz="800" spc="-2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configuration</a:t>
            </a:r>
            <a:r>
              <a:rPr sz="800" spc="-3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-1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system</a:t>
            </a:r>
            <a:endParaRPr sz="800">
              <a:latin typeface="Arial MT"/>
              <a:cs typeface="Arial MT"/>
            </a:endParaRPr>
          </a:p>
          <a:p>
            <a:pPr marL="620395" lvl="1" indent="-114935">
              <a:lnSpc>
                <a:spcPct val="100000"/>
              </a:lnSpc>
              <a:spcBef>
                <a:spcPts val="195"/>
              </a:spcBef>
              <a:buChar char="•"/>
              <a:tabLst>
                <a:tab pos="620395" algn="l"/>
              </a:tabLst>
            </a:pPr>
            <a:r>
              <a:rPr sz="800" spc="-10" dirty="0">
                <a:latin typeface="Arial MT"/>
                <a:cs typeface="Arial MT"/>
              </a:rPr>
              <a:t>Modification</a:t>
            </a:r>
            <a:r>
              <a:rPr sz="800" spc="1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to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Configuration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Directly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1584" y="4968621"/>
            <a:ext cx="4195701" cy="30099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2087" y="1118742"/>
            <a:ext cx="4238625" cy="247644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3950" y="5125783"/>
            <a:ext cx="4610100" cy="28670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6483" y="1064005"/>
            <a:ext cx="4621866" cy="311361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3424" y="4977460"/>
            <a:ext cx="19945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r>
              <a:rPr sz="16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578916" y="5322934"/>
            <a:ext cx="5263515" cy="117919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Introduction</a:t>
            </a:r>
            <a:r>
              <a:rPr sz="1000" b="1" spc="-4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to</a:t>
            </a:r>
            <a:r>
              <a:rPr sz="1000" b="1" spc="-5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Continuous</a:t>
            </a:r>
            <a:r>
              <a:rPr sz="1000" b="1" spc="-3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Delivery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ts val="1025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Promotes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adoption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automated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deployment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pipeline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release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software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into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production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1030"/>
              </a:lnSpc>
            </a:pPr>
            <a:r>
              <a:rPr sz="900" dirty="0">
                <a:latin typeface="Arial MT"/>
                <a:cs typeface="Arial MT"/>
              </a:rPr>
              <a:t>reliably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quickly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sz="900" dirty="0">
                <a:latin typeface="Arial MT"/>
                <a:cs typeface="Arial MT"/>
              </a:rPr>
              <a:t>Its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goal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establish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optimized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end-</a:t>
            </a:r>
            <a:r>
              <a:rPr sz="900" spc="-10" dirty="0">
                <a:latin typeface="Arial MT"/>
                <a:cs typeface="Arial MT"/>
              </a:rPr>
              <a:t>to-</a:t>
            </a:r>
            <a:r>
              <a:rPr sz="900" dirty="0">
                <a:latin typeface="Arial MT"/>
                <a:cs typeface="Arial MT"/>
              </a:rPr>
              <a:t>end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process,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enhance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development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 </a:t>
            </a:r>
            <a:r>
              <a:rPr sz="900" spc="-10" dirty="0">
                <a:latin typeface="Arial MT"/>
                <a:cs typeface="Arial MT"/>
              </a:rPr>
              <a:t>production </a:t>
            </a:r>
            <a:r>
              <a:rPr sz="900" dirty="0">
                <a:latin typeface="Arial MT"/>
                <a:cs typeface="Arial MT"/>
              </a:rPr>
              <a:t>cycles,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lower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risk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release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problems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provide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quicker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time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market</a:t>
            </a:r>
            <a:endParaRPr sz="900">
              <a:latin typeface="Arial MT"/>
              <a:cs typeface="Arial MT"/>
            </a:endParaRPr>
          </a:p>
          <a:p>
            <a:pPr marL="391160" marR="24130" indent="-114300">
              <a:lnSpc>
                <a:spcPts val="969"/>
              </a:lnSpc>
              <a:spcBef>
                <a:spcPts val="325"/>
              </a:spcBef>
              <a:buChar char="•"/>
              <a:tabLst>
                <a:tab pos="391160" algn="l"/>
              </a:tabLst>
            </a:pPr>
            <a:r>
              <a:rPr sz="900" spc="-55" dirty="0">
                <a:latin typeface="Arial MT"/>
                <a:cs typeface="Arial MT"/>
              </a:rPr>
              <a:t>To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that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point,</a:t>
            </a:r>
            <a:r>
              <a:rPr sz="900" spc="2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Jez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Humble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Dave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Farley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define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8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principles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 continuous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delivery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their </a:t>
            </a:r>
            <a:r>
              <a:rPr sz="900" dirty="0">
                <a:latin typeface="Arial MT"/>
                <a:cs typeface="Arial MT"/>
              </a:rPr>
              <a:t>Book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“Continuous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Delivery”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as: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3155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Principle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006340" cy="76771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Build</a:t>
            </a:r>
            <a:r>
              <a:rPr sz="1000" b="1" spc="-2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Repeatable and</a:t>
            </a:r>
            <a:r>
              <a:rPr sz="1000" b="1" spc="-2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Reliable 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Process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Use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same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release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process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 all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environments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sz="900" dirty="0">
                <a:latin typeface="Arial MT"/>
                <a:cs typeface="Arial MT"/>
              </a:rPr>
              <a:t>If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feature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or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enhancement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has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work through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one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process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its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way into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integration </a:t>
            </a:r>
            <a:r>
              <a:rPr sz="900" dirty="0">
                <a:latin typeface="Arial MT"/>
                <a:cs typeface="Arial MT"/>
              </a:rPr>
              <a:t>environment,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another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process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into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QA,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issues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find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way of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popping</a:t>
            </a:r>
            <a:r>
              <a:rPr sz="900" spc="-25" dirty="0">
                <a:latin typeface="Arial MT"/>
                <a:cs typeface="Arial MT"/>
              </a:rPr>
              <a:t> up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3155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Principle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5240020" cy="93218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Try</a:t>
            </a:r>
            <a:r>
              <a:rPr sz="1000" b="1" spc="-7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to</a:t>
            </a:r>
            <a:r>
              <a:rPr sz="1000" b="1" spc="-7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Automate</a:t>
            </a:r>
            <a:r>
              <a:rPr sz="1000" b="1" spc="-2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Everything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Automate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builds,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testing,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releases,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configuration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changes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everything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else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Manual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processes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are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inherently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less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repeatable,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more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prone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error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less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efficient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sz="900" dirty="0">
                <a:latin typeface="Arial MT"/>
                <a:cs typeface="Arial MT"/>
              </a:rPr>
              <a:t>Once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we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automate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process,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less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effort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needed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run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it 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monitor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its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progress</a:t>
            </a:r>
            <a:r>
              <a:rPr sz="900" spc="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–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it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will </a:t>
            </a:r>
            <a:r>
              <a:rPr sz="900" dirty="0">
                <a:latin typeface="Arial MT"/>
                <a:cs typeface="Arial MT"/>
              </a:rPr>
              <a:t>ensure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have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consistent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results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3155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Principle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4794885" cy="6445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Keep</a:t>
            </a:r>
            <a:r>
              <a:rPr sz="1000" b="1" spc="-1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everything</a:t>
            </a:r>
            <a:r>
              <a:rPr sz="1000" b="1" spc="-1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in</a:t>
            </a:r>
            <a:r>
              <a:rPr sz="1000" b="1" spc="-3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Version</a:t>
            </a:r>
            <a:r>
              <a:rPr sz="1000" b="1" spc="-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Control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Have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one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source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-10" dirty="0">
                <a:latin typeface="Arial MT"/>
                <a:cs typeface="Arial MT"/>
              </a:rPr>
              <a:t> truth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Keep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Code,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configuration,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scripts,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databases,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documentation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everything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versioned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3155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Principle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4939665" cy="8089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Bring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the</a:t>
            </a:r>
            <a:r>
              <a:rPr sz="1000" b="1" spc="-2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Pain</a:t>
            </a:r>
            <a:r>
              <a:rPr sz="1000" b="1" spc="-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Forward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Deal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hard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stuff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first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sz="900" spc="-20" dirty="0">
                <a:latin typeface="Arial MT"/>
                <a:cs typeface="Arial MT"/>
              </a:rPr>
              <a:t>Time-</a:t>
            </a:r>
            <a:r>
              <a:rPr sz="900" dirty="0">
                <a:latin typeface="Arial MT"/>
                <a:cs typeface="Arial MT"/>
              </a:rPr>
              <a:t>consuming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or error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prone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tasks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should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be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dealt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soon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as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you </a:t>
            </a:r>
            <a:r>
              <a:rPr sz="900" spc="-25" dirty="0">
                <a:latin typeface="Arial MT"/>
                <a:cs typeface="Arial MT"/>
              </a:rPr>
              <a:t>can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Once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you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get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painful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issues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out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way,</a:t>
            </a:r>
            <a:r>
              <a:rPr sz="900" spc="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rest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will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most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likely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easier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0" dirty="0">
                <a:latin typeface="Arial MT"/>
                <a:cs typeface="Arial MT"/>
              </a:rPr>
              <a:t> perfect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3155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Principle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186045" cy="10560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Ensure Quality</a:t>
            </a:r>
            <a:r>
              <a:rPr sz="1000" b="1" spc="-2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–</a:t>
            </a:r>
            <a:r>
              <a:rPr sz="1000" b="1" spc="-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in</a:t>
            </a:r>
            <a:r>
              <a:rPr sz="1000" b="1" spc="-20" dirty="0">
                <a:solidFill>
                  <a:srgbClr val="1C1573"/>
                </a:solidFill>
                <a:latin typeface="Arial"/>
                <a:cs typeface="Arial"/>
              </a:rPr>
              <a:t> Build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Create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short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feedback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loops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deal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with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bugs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as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soon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as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they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are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created</a:t>
            </a:r>
            <a:endParaRPr sz="900">
              <a:latin typeface="Arial MT"/>
              <a:cs typeface="Arial MT"/>
            </a:endParaRPr>
          </a:p>
          <a:p>
            <a:pPr marL="391160" marR="12446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sz="900" dirty="0">
                <a:latin typeface="Arial MT"/>
                <a:cs typeface="Arial MT"/>
              </a:rPr>
              <a:t>By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having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issues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looped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back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 developers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soon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they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fail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post-build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test,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it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will </a:t>
            </a:r>
            <a:r>
              <a:rPr sz="900" spc="-10" dirty="0">
                <a:latin typeface="Arial MT"/>
                <a:cs typeface="Arial MT"/>
              </a:rPr>
              <a:t>enable </a:t>
            </a:r>
            <a:r>
              <a:rPr sz="900" dirty="0">
                <a:latin typeface="Arial MT"/>
                <a:cs typeface="Arial MT"/>
              </a:rPr>
              <a:t>them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produce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higher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quality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code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quicker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ts val="1025"/>
              </a:lnSpc>
              <a:spcBef>
                <a:spcPts val="200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In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addition,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fewer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issues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will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found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later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process,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when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it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will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more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expensive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25" dirty="0">
                <a:latin typeface="Arial MT"/>
                <a:cs typeface="Arial MT"/>
              </a:rPr>
              <a:t>to</a:t>
            </a:r>
            <a:endParaRPr sz="900">
              <a:latin typeface="Arial MT"/>
              <a:cs typeface="Arial MT"/>
            </a:endParaRPr>
          </a:p>
          <a:p>
            <a:pPr marL="391160">
              <a:lnSpc>
                <a:spcPts val="1025"/>
              </a:lnSpc>
            </a:pPr>
            <a:r>
              <a:rPr sz="900" spc="-25" dirty="0">
                <a:latin typeface="Arial MT"/>
                <a:cs typeface="Arial MT"/>
              </a:rPr>
              <a:t>fix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3155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Principle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5067935" cy="76771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Set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expectation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as</a:t>
            </a:r>
            <a:r>
              <a:rPr sz="1000" b="1" spc="-20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"Done"</a:t>
            </a:r>
            <a:r>
              <a:rPr sz="1000" b="1" spc="-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means</a:t>
            </a:r>
            <a:r>
              <a:rPr sz="1000" b="1" spc="-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Released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A</a:t>
            </a:r>
            <a:r>
              <a:rPr sz="900" spc="-5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feature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done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only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when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it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production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sz="900" dirty="0">
                <a:latin typeface="Arial MT"/>
                <a:cs typeface="Arial MT"/>
              </a:rPr>
              <a:t>Having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clear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definition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“done”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right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from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start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will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help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everyone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communicate</a:t>
            </a:r>
            <a:r>
              <a:rPr sz="900" spc="-5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better,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realize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value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each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feature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3155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Principle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4794885" cy="97345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Everyone</a:t>
            </a:r>
            <a:r>
              <a:rPr sz="1000" b="1" spc="-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is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 Responsible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"It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works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my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workstation"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never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valid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excuse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Responsibility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should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extend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all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way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production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Cultural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change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can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be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hardest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implement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spc="-10" dirty="0">
                <a:latin typeface="Arial MT"/>
                <a:cs typeface="Arial MT"/>
              </a:rPr>
              <a:t>However, </a:t>
            </a:r>
            <a:r>
              <a:rPr sz="900" dirty="0">
                <a:latin typeface="Arial MT"/>
                <a:cs typeface="Arial MT"/>
              </a:rPr>
              <a:t>having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management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support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enthusiastic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champion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will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certainly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help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3155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Principle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5054600" cy="76771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solidFill>
                  <a:srgbClr val="1C1573"/>
                </a:solidFill>
                <a:latin typeface="Arial"/>
                <a:cs typeface="Arial"/>
              </a:rPr>
              <a:t>Continuous</a:t>
            </a:r>
            <a:r>
              <a:rPr sz="1000" b="1" spc="-55" dirty="0">
                <a:solidFill>
                  <a:srgbClr val="1C1573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Improvement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This principle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most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important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for </a:t>
            </a:r>
            <a:r>
              <a:rPr sz="900" spc="-10" dirty="0">
                <a:latin typeface="Arial MT"/>
                <a:cs typeface="Arial MT"/>
              </a:rPr>
              <a:t>effective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automation</a:t>
            </a:r>
            <a:endParaRPr sz="900">
              <a:latin typeface="Arial MT"/>
              <a:cs typeface="Arial MT"/>
            </a:endParaRPr>
          </a:p>
          <a:p>
            <a:pPr marL="391160" marR="5080" indent="-114300">
              <a:lnSpc>
                <a:spcPts val="969"/>
              </a:lnSpc>
              <a:spcBef>
                <a:spcPts val="340"/>
              </a:spcBef>
              <a:buChar char="•"/>
              <a:tabLst>
                <a:tab pos="391160" algn="l"/>
              </a:tabLst>
            </a:pPr>
            <a:r>
              <a:rPr sz="900" dirty="0">
                <a:latin typeface="Arial MT"/>
                <a:cs typeface="Arial MT"/>
              </a:rPr>
              <a:t>If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"practice</a:t>
            </a:r>
            <a:r>
              <a:rPr sz="900" spc="-5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makes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perfect"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then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automation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represents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ultimate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expression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of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practice- </a:t>
            </a:r>
            <a:r>
              <a:rPr sz="900" dirty="0">
                <a:latin typeface="Arial MT"/>
                <a:cs typeface="Arial MT"/>
              </a:rPr>
              <a:t>making-perfect</a:t>
            </a:r>
            <a:r>
              <a:rPr sz="900" spc="-5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iterative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process.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31553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Principle</a:t>
            </a:r>
            <a:r>
              <a:rPr sz="16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6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FFFFFF"/>
                </a:solidFill>
                <a:latin typeface="Arial"/>
                <a:cs typeface="Arial"/>
              </a:rPr>
              <a:t>Continuous</a:t>
            </a:r>
            <a:r>
              <a:rPr sz="16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Arial"/>
                <a:cs typeface="Arial"/>
              </a:rPr>
              <a:t>Delivery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3562350" cy="17970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1000" b="1" spc="-10" dirty="0">
                <a:solidFill>
                  <a:srgbClr val="1C1573"/>
                </a:solidFill>
                <a:latin typeface="Arial"/>
                <a:cs typeface="Arial"/>
              </a:rPr>
              <a:t>Summary</a:t>
            </a:r>
            <a:endParaRPr sz="1000">
              <a:latin typeface="Arial"/>
              <a:cs typeface="Arial"/>
            </a:endParaRPr>
          </a:p>
          <a:p>
            <a:pPr marL="390525" indent="-113664">
              <a:lnSpc>
                <a:spcPct val="100000"/>
              </a:lnSpc>
              <a:spcBef>
                <a:spcPts val="620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Create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Repeatable,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Reliable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Process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for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Releasing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Software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spc="-10" dirty="0">
                <a:latin typeface="Arial MT"/>
                <a:cs typeface="Arial MT"/>
              </a:rPr>
              <a:t>Automate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Almost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Everything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Keep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Everything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in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Version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Control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If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It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Hurts,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Do</a:t>
            </a:r>
            <a:r>
              <a:rPr sz="900" spc="-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It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More</a:t>
            </a:r>
            <a:r>
              <a:rPr sz="900" spc="1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Frequently,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and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Bring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Pain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Forward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20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Build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Quality</a:t>
            </a:r>
            <a:r>
              <a:rPr sz="900" spc="-25" dirty="0">
                <a:latin typeface="Arial MT"/>
                <a:cs typeface="Arial MT"/>
              </a:rPr>
              <a:t> In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“The</a:t>
            </a:r>
            <a:r>
              <a:rPr sz="900" spc="-1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Earlier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you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catch</a:t>
            </a:r>
            <a:r>
              <a:rPr sz="900" spc="-2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defects,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cheaper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they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are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to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20" dirty="0">
                <a:latin typeface="Arial MT"/>
                <a:cs typeface="Arial MT"/>
              </a:rPr>
              <a:t>fix”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Done,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Means</a:t>
            </a:r>
            <a:r>
              <a:rPr sz="900" spc="-1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Released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9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Everybody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Is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Responsible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for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the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dirty="0">
                <a:latin typeface="Arial MT"/>
                <a:cs typeface="Arial MT"/>
              </a:rPr>
              <a:t>Delivery</a:t>
            </a:r>
            <a:r>
              <a:rPr sz="900" spc="-2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Process</a:t>
            </a:r>
            <a:endParaRPr sz="900">
              <a:latin typeface="Arial MT"/>
              <a:cs typeface="Arial MT"/>
            </a:endParaRPr>
          </a:p>
          <a:p>
            <a:pPr marL="390525" indent="-113664">
              <a:lnSpc>
                <a:spcPct val="100000"/>
              </a:lnSpc>
              <a:spcBef>
                <a:spcPts val="215"/>
              </a:spcBef>
              <a:buChar char="•"/>
              <a:tabLst>
                <a:tab pos="390525" algn="l"/>
              </a:tabLst>
            </a:pPr>
            <a:r>
              <a:rPr sz="900" dirty="0">
                <a:latin typeface="Arial MT"/>
                <a:cs typeface="Arial MT"/>
              </a:rPr>
              <a:t>Continuous</a:t>
            </a:r>
            <a:r>
              <a:rPr sz="900" spc="-40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Improvement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81000" y="4845494"/>
            <a:ext cx="6096000" cy="3428365"/>
            <a:chOff x="381000" y="4845494"/>
            <a:chExt cx="6096000" cy="342836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" y="8253506"/>
              <a:ext cx="6096000" cy="2028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4925021"/>
              <a:ext cx="5334000" cy="38218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4845494"/>
              <a:ext cx="6096000" cy="3427603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05-04-</a:t>
            </a:r>
            <a:r>
              <a:rPr sz="1200" spc="-20" dirty="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868616"/>
            <a:ext cx="6096000" cy="666750"/>
          </a:xfrm>
          <a:custGeom>
            <a:avLst/>
            <a:gdLst/>
            <a:ahLst/>
            <a:cxnLst/>
            <a:rect l="l" t="t" r="r" b="b"/>
            <a:pathLst>
              <a:path w="6096000" h="666750">
                <a:moveTo>
                  <a:pt x="6096000" y="0"/>
                </a:moveTo>
                <a:lnTo>
                  <a:pt x="0" y="0"/>
                </a:lnTo>
                <a:lnTo>
                  <a:pt x="0" y="666432"/>
                </a:lnTo>
                <a:lnTo>
                  <a:pt x="6096000" y="666432"/>
                </a:lnTo>
                <a:lnTo>
                  <a:pt x="6096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311" y="1781429"/>
            <a:ext cx="6043676" cy="23241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81000" y="4844732"/>
            <a:ext cx="6096000" cy="3429635"/>
            <a:chOff x="381000" y="4844732"/>
            <a:chExt cx="6096000" cy="3429635"/>
          </a:xfrm>
        </p:grpSpPr>
        <p:sp>
          <p:nvSpPr>
            <p:cNvPr id="6" name="object 6"/>
            <p:cNvSpPr/>
            <p:nvPr/>
          </p:nvSpPr>
          <p:spPr>
            <a:xfrm>
              <a:off x="381000" y="4844732"/>
              <a:ext cx="6096000" cy="666750"/>
            </a:xfrm>
            <a:custGeom>
              <a:avLst/>
              <a:gdLst/>
              <a:ahLst/>
              <a:cxnLst/>
              <a:rect l="l" t="t" r="r" b="b"/>
              <a:pathLst>
                <a:path w="6096000" h="666750">
                  <a:moveTo>
                    <a:pt x="6096000" y="0"/>
                  </a:moveTo>
                  <a:lnTo>
                    <a:pt x="0" y="0"/>
                  </a:lnTo>
                  <a:lnTo>
                    <a:pt x="0" y="666432"/>
                  </a:lnTo>
                  <a:lnTo>
                    <a:pt x="6096000" y="666432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8862" y="4986782"/>
              <a:ext cx="4716399" cy="328701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868680"/>
            <a:ext cx="6096000" cy="2665730"/>
            <a:chOff x="381000" y="868680"/>
            <a:chExt cx="6096000" cy="2665730"/>
          </a:xfrm>
        </p:grpSpPr>
        <p:sp>
          <p:nvSpPr>
            <p:cNvPr id="4" name="object 4"/>
            <p:cNvSpPr/>
            <p:nvPr/>
          </p:nvSpPr>
          <p:spPr>
            <a:xfrm>
              <a:off x="381000" y="868680"/>
              <a:ext cx="6096000" cy="2433320"/>
            </a:xfrm>
            <a:custGeom>
              <a:avLst/>
              <a:gdLst/>
              <a:ahLst/>
              <a:cxnLst/>
              <a:rect l="l" t="t" r="r" b="b"/>
              <a:pathLst>
                <a:path w="6096000" h="2433320">
                  <a:moveTo>
                    <a:pt x="6096000" y="0"/>
                  </a:moveTo>
                  <a:lnTo>
                    <a:pt x="0" y="0"/>
                  </a:lnTo>
                  <a:lnTo>
                    <a:pt x="0" y="2433193"/>
                  </a:lnTo>
                  <a:lnTo>
                    <a:pt x="6096000" y="2433193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8679" y="868680"/>
              <a:ext cx="4632960" cy="266522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188821" y="3585819"/>
            <a:ext cx="5083175" cy="53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3985895" defTabSz="914400" eaLnBrk="1" fontAlgn="auto" latinLnBrk="0" hangingPunct="1">
              <a:lnSpc>
                <a:spcPct val="1527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D24625"/>
                </a:solidFill>
                <a:effectLst/>
                <a:uLnTx/>
                <a:uFillTx/>
                <a:latin typeface="Segoe UI Light"/>
                <a:cs typeface="Segoe UI Light"/>
              </a:rPr>
              <a:t>Dr.S.Udhayakumar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D24625"/>
                </a:solidFill>
                <a:effectLst/>
                <a:uLnTx/>
                <a:uFillTx/>
                <a:latin typeface="Segoe UI Light"/>
                <a:cs typeface="Segoe UI Light"/>
              </a:rPr>
              <a:t>Associate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D24625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rgbClr val="D24625"/>
                </a:solidFill>
                <a:effectLst/>
                <a:uLnTx/>
                <a:uFillTx/>
                <a:latin typeface="Segoe UI Light"/>
                <a:cs typeface="Segoe UI Light"/>
              </a:rPr>
              <a:t>Professor,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D24625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D24625"/>
                </a:solidFill>
                <a:effectLst/>
                <a:uLnTx/>
                <a:uFillTx/>
                <a:latin typeface="Segoe UI Light"/>
                <a:cs typeface="Segoe UI Light"/>
              </a:rPr>
              <a:t>Department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D24625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D24625"/>
                </a:solidFill>
                <a:effectLst/>
                <a:uLnTx/>
                <a:uFillTx/>
                <a:latin typeface="Segoe UI Light"/>
                <a:cs typeface="Segoe UI Light"/>
              </a:rPr>
              <a:t>of</a:t>
            </a:r>
            <a:r>
              <a:rPr kumimoji="0" sz="1100" b="0" i="0" u="none" strike="noStrike" kern="0" cap="none" spc="15" normalizeH="0" baseline="0" noProof="0" dirty="0">
                <a:ln>
                  <a:noFill/>
                </a:ln>
                <a:solidFill>
                  <a:srgbClr val="D24625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D24625"/>
                </a:solidFill>
                <a:effectLst/>
                <a:uLnTx/>
                <a:uFillTx/>
                <a:latin typeface="Segoe UI Light"/>
                <a:cs typeface="Segoe UI Light"/>
              </a:rPr>
              <a:t>Computer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D24625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D24625"/>
                </a:solidFill>
                <a:effectLst/>
                <a:uLnTx/>
                <a:uFillTx/>
                <a:latin typeface="Segoe UI Light"/>
                <a:cs typeface="Segoe UI Light"/>
              </a:rPr>
              <a:t>Science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D24625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rgbClr val="D24625"/>
                </a:solidFill>
                <a:effectLst/>
                <a:uLnTx/>
                <a:uFillTx/>
                <a:latin typeface="Segoe UI Light"/>
                <a:cs typeface="Segoe UI Light"/>
              </a:rPr>
              <a:t>and</a:t>
            </a:r>
            <a:r>
              <a:rPr kumimoji="0" sz="1100" b="0" i="0" u="none" strike="noStrike" kern="0" cap="none" spc="15" normalizeH="0" baseline="0" noProof="0" dirty="0">
                <a:ln>
                  <a:noFill/>
                </a:ln>
                <a:solidFill>
                  <a:srgbClr val="D24625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rgbClr val="D24625"/>
                </a:solidFill>
                <a:effectLst/>
                <a:uLnTx/>
                <a:uFillTx/>
                <a:latin typeface="Segoe UI Light"/>
                <a:cs typeface="Segoe UI Light"/>
              </a:rPr>
              <a:t>Engineering(Cyber Security)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Light"/>
              <a:cs typeface="Segoe U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873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4798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Module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2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Why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and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What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is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DevOps?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Light"/>
              <a:cs typeface="Segoe U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6237" y="5757633"/>
            <a:ext cx="1918970" cy="2176145"/>
          </a:xfrm>
          <a:prstGeom prst="rect">
            <a:avLst/>
          </a:prstGeom>
          <a:solidFill>
            <a:srgbClr val="EC7C30"/>
          </a:solidFill>
        </p:spPr>
        <p:txBody>
          <a:bodyPr vert="horz" wrap="square" lIns="0" tIns="27940" rIns="0" bIns="0" rtlCol="0">
            <a:spAutoFit/>
          </a:bodyPr>
          <a:lstStyle/>
          <a:p>
            <a:pPr marL="45720" marR="0" lvl="0" indent="0" defTabSz="91440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About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DevOps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1717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mbol"/>
              <a:buChar char=""/>
              <a:tabLst>
                <a:tab pos="21717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imes New Roman"/>
                <a:cs typeface="Times New Roman"/>
              </a:rPr>
              <a:t>RL2.2.1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imes New Roman"/>
                <a:cs typeface="Times New Roman"/>
              </a:rPr>
              <a:t>Need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imes New Roman"/>
                <a:cs typeface="Times New Roman"/>
              </a:rPr>
              <a:t>for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imes New Roman"/>
                <a:cs typeface="Times New Roman"/>
              </a:rPr>
              <a:t>DevOps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45720" marR="313055" lvl="0" indent="171450" defTabSz="914400" eaLnBrk="1" fontAlgn="auto" latinLnBrk="0" hangingPunct="1">
              <a:lnSpc>
                <a:spcPct val="207799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mbol"/>
              <a:buChar char=""/>
              <a:tabLst>
                <a:tab pos="21717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imes New Roman"/>
                <a:cs typeface="Times New Roman"/>
              </a:rPr>
              <a:t>RL2.2.2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imes New Roman"/>
                <a:cs typeface="Times New Roman"/>
              </a:rPr>
              <a:t>Evolution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Times New Roman"/>
                <a:cs typeface="Times New Roman"/>
              </a:rPr>
              <a:t>DevOps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RL2.2.2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DevOps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Practices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33166" y="5757633"/>
            <a:ext cx="2917825" cy="2176145"/>
          </a:xfrm>
          <a:custGeom>
            <a:avLst/>
            <a:gdLst/>
            <a:ahLst/>
            <a:cxnLst/>
            <a:rect l="l" t="t" r="r" b="b"/>
            <a:pathLst>
              <a:path w="2917825" h="2176145">
                <a:moveTo>
                  <a:pt x="2917571" y="0"/>
                </a:moveTo>
                <a:lnTo>
                  <a:pt x="0" y="0"/>
                </a:lnTo>
                <a:lnTo>
                  <a:pt x="0" y="2175637"/>
                </a:lnTo>
                <a:lnTo>
                  <a:pt x="2917571" y="2175637"/>
                </a:lnTo>
                <a:lnTo>
                  <a:pt x="2917571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79647" y="5773292"/>
            <a:ext cx="2040255" cy="425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Symbol"/>
              <a:buChar char=""/>
              <a:tabLst>
                <a:tab pos="171450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DevOps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ClrTx/>
              <a:buSzTx/>
              <a:buFont typeface="Symbol"/>
              <a:buChar char=""/>
              <a:tabLst>
                <a:tab pos="17145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Define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stages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a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DevOps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evolution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1557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79647" y="6297929"/>
            <a:ext cx="2840355" cy="667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Symbol"/>
              <a:buChar char=""/>
              <a:tabLst>
                <a:tab pos="17145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DevOps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practices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organizations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70815" marR="5080" lvl="0" indent="-171450" defTabSz="914400" eaLnBrk="1" fontAlgn="auto" latinLnBrk="0" hangingPunct="1">
              <a:lnSpc>
                <a:spcPct val="150000"/>
              </a:lnSpc>
              <a:spcBef>
                <a:spcPts val="730"/>
              </a:spcBef>
              <a:spcAft>
                <a:spcPts val="0"/>
              </a:spcAft>
              <a:buClrTx/>
              <a:buSzTx/>
              <a:buFont typeface="Symbol"/>
              <a:buChar char=""/>
              <a:tabLst>
                <a:tab pos="172085" algn="l"/>
                <a:tab pos="892810" algn="l"/>
                <a:tab pos="160782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The</a:t>
            </a:r>
            <a:r>
              <a:rPr kumimoji="0" sz="9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Continuous</a:t>
            </a:r>
            <a:r>
              <a:rPr kumimoji="0" sz="900" b="0" i="0" u="none" strike="noStrike" kern="0" cap="none" spc="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DevOps</a:t>
            </a:r>
            <a:r>
              <a:rPr kumimoji="0" sz="900" b="0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LifeCycle</a:t>
            </a:r>
            <a:r>
              <a:rPr kumimoji="0" sz="9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Process</a:t>
            </a:r>
            <a:r>
              <a:rPr kumimoji="0" sz="900" b="0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(Continuous 	Integration,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Continuous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Inspection,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62397" y="6733793"/>
            <a:ext cx="11576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5080" lvl="0" indent="617220" defTabSz="914400" eaLnBrk="1" fontAlgn="auto" latinLnBrk="0" hangingPunct="1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61404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Continuous Delivery,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Continuous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51859" y="6939533"/>
            <a:ext cx="13296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5080" lvl="0" indent="0" defTabSz="914400" eaLnBrk="1" fontAlgn="auto" latinLnBrk="0" hangingPunct="1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78930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Deployment,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	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Continuous Monitoring)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79647" y="7498842"/>
            <a:ext cx="17475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Case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Study-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(IBM/Facebook/NetFlix)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40139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868680"/>
            <a:ext cx="6096000" cy="2433320"/>
            <a:chOff x="381000" y="868680"/>
            <a:chExt cx="6096000" cy="2433320"/>
          </a:xfrm>
        </p:grpSpPr>
        <p:sp>
          <p:nvSpPr>
            <p:cNvPr id="4" name="object 4"/>
            <p:cNvSpPr/>
            <p:nvPr/>
          </p:nvSpPr>
          <p:spPr>
            <a:xfrm>
              <a:off x="381000" y="868680"/>
              <a:ext cx="6096000" cy="2433320"/>
            </a:xfrm>
            <a:custGeom>
              <a:avLst/>
              <a:gdLst/>
              <a:ahLst/>
              <a:cxnLst/>
              <a:rect l="l" t="t" r="r" b="b"/>
              <a:pathLst>
                <a:path w="6096000" h="2433320">
                  <a:moveTo>
                    <a:pt x="6096000" y="0"/>
                  </a:moveTo>
                  <a:lnTo>
                    <a:pt x="0" y="0"/>
                  </a:lnTo>
                  <a:lnTo>
                    <a:pt x="0" y="2433193"/>
                  </a:lnTo>
                  <a:lnTo>
                    <a:pt x="6096000" y="2433193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8374" y="1802155"/>
              <a:ext cx="3776599" cy="1040612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381000" y="4844732"/>
            <a:ext cx="6096000" cy="666750"/>
            <a:chOff x="381000" y="4844732"/>
            <a:chExt cx="6096000" cy="666750"/>
          </a:xfrm>
        </p:grpSpPr>
        <p:sp>
          <p:nvSpPr>
            <p:cNvPr id="7" name="object 7"/>
            <p:cNvSpPr/>
            <p:nvPr/>
          </p:nvSpPr>
          <p:spPr>
            <a:xfrm>
              <a:off x="381000" y="4844732"/>
              <a:ext cx="6096000" cy="666750"/>
            </a:xfrm>
            <a:custGeom>
              <a:avLst/>
              <a:gdLst/>
              <a:ahLst/>
              <a:cxnLst/>
              <a:rect l="l" t="t" r="r" b="b"/>
              <a:pathLst>
                <a:path w="6096000" h="666750">
                  <a:moveTo>
                    <a:pt x="6096000" y="0"/>
                  </a:moveTo>
                  <a:lnTo>
                    <a:pt x="0" y="0"/>
                  </a:lnTo>
                  <a:lnTo>
                    <a:pt x="0" y="666432"/>
                  </a:lnTo>
                  <a:lnTo>
                    <a:pt x="6096000" y="666432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618996" y="5121528"/>
              <a:ext cx="2834640" cy="304800"/>
            </a:xfrm>
            <a:custGeom>
              <a:avLst/>
              <a:gdLst/>
              <a:ahLst/>
              <a:cxnLst/>
              <a:rect l="l" t="t" r="r" b="b"/>
              <a:pathLst>
                <a:path w="2834640" h="304800">
                  <a:moveTo>
                    <a:pt x="37338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73380" y="304800"/>
                  </a:lnTo>
                  <a:lnTo>
                    <a:pt x="373380" y="0"/>
                  </a:lnTo>
                  <a:close/>
                </a:path>
                <a:path w="2834640" h="304800">
                  <a:moveTo>
                    <a:pt x="2075688" y="0"/>
                  </a:moveTo>
                  <a:lnTo>
                    <a:pt x="1773936" y="0"/>
                  </a:lnTo>
                  <a:lnTo>
                    <a:pt x="1773936" y="304800"/>
                  </a:lnTo>
                  <a:lnTo>
                    <a:pt x="2075688" y="304800"/>
                  </a:lnTo>
                  <a:lnTo>
                    <a:pt x="2075688" y="0"/>
                  </a:lnTo>
                  <a:close/>
                </a:path>
                <a:path w="2834640" h="304800">
                  <a:moveTo>
                    <a:pt x="2834640" y="0"/>
                  </a:moveTo>
                  <a:lnTo>
                    <a:pt x="2746248" y="0"/>
                  </a:lnTo>
                  <a:lnTo>
                    <a:pt x="2746248" y="304800"/>
                  </a:lnTo>
                  <a:lnTo>
                    <a:pt x="2834640" y="304800"/>
                  </a:lnTo>
                  <a:lnTo>
                    <a:pt x="283464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4798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DevOps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(Development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and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Operations)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Light"/>
              <a:cs typeface="Segoe UI Ligh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1557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9922" y="5705348"/>
            <a:ext cx="5391785" cy="1254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83895" lvl="0" indent="0" defTabSz="914400" eaLnBrk="1" fontAlgn="auto" latinLnBrk="0" hangingPunct="1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DevOps</a:t>
            </a:r>
            <a:r>
              <a:rPr kumimoji="0" sz="1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(development</a:t>
            </a:r>
            <a:r>
              <a:rPr kumimoji="0" sz="12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operations)</a:t>
            </a:r>
            <a:r>
              <a:rPr kumimoji="0" sz="1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is</a:t>
            </a:r>
            <a:r>
              <a:rPr kumimoji="0" sz="1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</a:t>
            </a:r>
            <a:r>
              <a:rPr kumimoji="0" sz="1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collection</a:t>
            </a:r>
            <a:r>
              <a:rPr kumimoji="0" sz="12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of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tools</a:t>
            </a:r>
            <a:r>
              <a:rPr kumimoji="0" sz="1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technologies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combined</a:t>
            </a:r>
            <a:r>
              <a:rPr kumimoji="0" sz="12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12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carry</a:t>
            </a:r>
            <a:r>
              <a:rPr kumimoji="0" sz="12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out</a:t>
            </a:r>
            <a:r>
              <a:rPr kumimoji="0" sz="12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various</a:t>
            </a:r>
            <a:r>
              <a:rPr kumimoji="0" sz="1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business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processes.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It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aims</a:t>
            </a:r>
            <a:r>
              <a:rPr kumimoji="0" sz="12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12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bridge</a:t>
            </a:r>
            <a:r>
              <a:rPr kumimoji="0" sz="12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gap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between</a:t>
            </a:r>
            <a:r>
              <a:rPr kumimoji="0" sz="12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two</a:t>
            </a:r>
            <a:r>
              <a:rPr kumimoji="0" sz="1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of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2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most</a:t>
            </a:r>
            <a:r>
              <a:rPr kumimoji="0" sz="12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significant</a:t>
            </a:r>
            <a:r>
              <a:rPr kumimoji="0" sz="1200" b="1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departments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any</a:t>
            </a:r>
            <a:r>
              <a:rPr kumimoji="0" sz="12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IT</a:t>
            </a:r>
            <a:r>
              <a:rPr kumimoji="0" sz="12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organization,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6913" y="7182993"/>
            <a:ext cx="2566670" cy="26987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222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development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department,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71391" y="7243317"/>
            <a:ext cx="5702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74442" y="7548753"/>
            <a:ext cx="2268220" cy="269875"/>
          </a:xfrm>
          <a:prstGeom prst="rect">
            <a:avLst/>
          </a:prstGeom>
          <a:solidFill>
            <a:srgbClr val="00FFFF"/>
          </a:solidFill>
        </p:spPr>
        <p:txBody>
          <a:bodyPr vert="horz" wrap="square" lIns="0" tIns="2222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operations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department.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8549445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81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4798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History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of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DevOps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Light"/>
              <a:cs typeface="Segoe U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424" y="1676806"/>
            <a:ext cx="547624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9255" lvl="0" indent="0" defTabSz="914400" eaLnBrk="1" fontAlgn="auto" latinLnBrk="0" hangingPunct="1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Before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DevOps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came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into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limelight,</a:t>
            </a:r>
            <a:r>
              <a:rPr kumimoji="0" sz="10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had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two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separate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teams in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organization</a:t>
            </a:r>
            <a:r>
              <a:rPr kumimoji="0" sz="10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–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Development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Operations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256540" lvl="0" indent="0" defTabSz="914400" eaLnBrk="1" fontAlgn="auto" latinLnBrk="0" hangingPunct="1">
              <a:lnSpc>
                <a:spcPct val="150000"/>
              </a:lnSpc>
              <a:spcBef>
                <a:spcPts val="9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development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worked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on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software,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developing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it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making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sure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that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worked</a:t>
            </a:r>
            <a:r>
              <a:rPr kumimoji="0" sz="10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perfectly.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72390" lvl="0" indent="0" defTabSz="914400" eaLnBrk="1" fontAlgn="auto" latinLnBrk="0" hangingPunct="1">
              <a:lnSpc>
                <a:spcPct val="150000"/>
              </a:lnSpc>
              <a:spcBef>
                <a:spcPts val="9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After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hours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of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hard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work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lot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of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trial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error,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releases</a:t>
            </a:r>
            <a:r>
              <a:rPr kumimoji="0" sz="10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that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has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be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executed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by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Operations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which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is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responsible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for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release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operation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of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9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operations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will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checking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application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its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performance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reporting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back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any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bugs, if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present.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844732"/>
            <a:ext cx="6096000" cy="334737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1557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92829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868616"/>
            <a:ext cx="6096000" cy="3429635"/>
            <a:chOff x="381000" y="868616"/>
            <a:chExt cx="6096000" cy="3429635"/>
          </a:xfrm>
        </p:grpSpPr>
        <p:sp>
          <p:nvSpPr>
            <p:cNvPr id="4" name="object 4"/>
            <p:cNvSpPr/>
            <p:nvPr/>
          </p:nvSpPr>
          <p:spPr>
            <a:xfrm>
              <a:off x="381000" y="868616"/>
              <a:ext cx="6096000" cy="666750"/>
            </a:xfrm>
            <a:custGeom>
              <a:avLst/>
              <a:gdLst/>
              <a:ahLst/>
              <a:cxnLst/>
              <a:rect l="l" t="t" r="r" b="b"/>
              <a:pathLst>
                <a:path w="6096000" h="666750">
                  <a:moveTo>
                    <a:pt x="6096000" y="0"/>
                  </a:moveTo>
                  <a:lnTo>
                    <a:pt x="0" y="0"/>
                  </a:lnTo>
                  <a:lnTo>
                    <a:pt x="0" y="666432"/>
                  </a:lnTo>
                  <a:lnTo>
                    <a:pt x="6096000" y="666432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767" y="868679"/>
              <a:ext cx="5589524" cy="34289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873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18859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Before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DevOps</a:t>
            </a:r>
            <a:r>
              <a:rPr kumimoji="0" sz="18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–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a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scenario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Light"/>
              <a:cs typeface="Segoe UI Ligh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19175" y="7640446"/>
            <a:ext cx="4958080" cy="169545"/>
          </a:xfrm>
          <a:custGeom>
            <a:avLst/>
            <a:gdLst/>
            <a:ahLst/>
            <a:cxnLst/>
            <a:rect l="l" t="t" r="r" b="b"/>
            <a:pathLst>
              <a:path w="4958080" h="169545">
                <a:moveTo>
                  <a:pt x="4957572" y="0"/>
                </a:moveTo>
                <a:lnTo>
                  <a:pt x="0" y="0"/>
                </a:lnTo>
                <a:lnTo>
                  <a:pt x="0" y="169163"/>
                </a:lnTo>
                <a:lnTo>
                  <a:pt x="4957572" y="169163"/>
                </a:lnTo>
                <a:lnTo>
                  <a:pt x="4957572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971" y="5583658"/>
            <a:ext cx="5690235" cy="223710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As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simple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planned out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as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it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may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sound,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two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major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teams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always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had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conflict when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it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came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execution.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14604" lvl="0" indent="0" algn="just" defTabSz="91440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For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instance,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let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us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say,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development team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developed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using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i7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processor,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8GB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RAM,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OS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as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Ubuntu,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PHP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5.6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scripting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language, whereas the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Operations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ran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same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using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i5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processor,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16GB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RAM,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OS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as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Centos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PHP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7.0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programming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language.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0" lvl="0" indent="0" algn="just" defTabSz="91440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When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operations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ran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same code,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it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wouldn’t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work.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reason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for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this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could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be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difference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system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environment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or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any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missing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software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library.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183515" lvl="0" indent="0" defTabSz="914400" eaLnBrk="1" fontAlgn="auto" latinLnBrk="0" hangingPunct="1">
              <a:lnSpc>
                <a:spcPct val="15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operations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flagged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this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as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faulty,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even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though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problem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could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exist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their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own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system.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This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resulted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lot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of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back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forth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between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Developers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Operations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1557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02895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81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4798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After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DevOps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Light"/>
              <a:cs typeface="Segoe U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8941" y="1759330"/>
            <a:ext cx="5492750" cy="16954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333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bridge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this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gap,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Development(‘Dev’)</a:t>
            </a:r>
            <a:r>
              <a:rPr kumimoji="0" sz="10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Operations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(‘Ops’)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collaborated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giving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rise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8941" y="1987930"/>
            <a:ext cx="617220" cy="16954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333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DevOps.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6381" y="2262100"/>
            <a:ext cx="5454650" cy="1993264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For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example, to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solve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above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problem,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Development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encapsulated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their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container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which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is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lightweight software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environment.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9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This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software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environment</a:t>
            </a:r>
            <a:r>
              <a:rPr kumimoji="0" sz="10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had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all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required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software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encapsulated</a:t>
            </a:r>
            <a:r>
              <a:rPr kumimoji="0" sz="10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it,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which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or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application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will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require to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run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as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expected.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47625" lvl="0" indent="0" defTabSz="914400" eaLnBrk="1" fontAlgn="auto" latinLnBrk="0" hangingPunct="1">
              <a:lnSpc>
                <a:spcPct val="150000"/>
              </a:lnSpc>
              <a:spcBef>
                <a:spcPts val="9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When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developers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were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done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with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their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work,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they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would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simply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pass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on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this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container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along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with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operations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Ops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will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run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this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container,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along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with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code,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it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worked as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expected!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0897" y="2294348"/>
            <a:ext cx="437637" cy="385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31282" y="3668991"/>
            <a:ext cx="857288" cy="58804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873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4798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What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is</a:t>
            </a:r>
            <a:r>
              <a:rPr kumimoji="0" sz="18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DevOps?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Light"/>
              <a:cs typeface="Segoe UI Ligh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1557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2134" y="5687669"/>
            <a:ext cx="5090795" cy="2156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4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DevOps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is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not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tool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or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team,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it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is</a:t>
            </a: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process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or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methodology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of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using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various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tools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solve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problems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between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Developers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Operations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team,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hence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term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“Dev-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Ops”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47625" lvl="0" indent="0" defTabSz="914400" eaLnBrk="1" fontAlgn="auto" latinLnBrk="0" hangingPunct="1">
              <a:lnSpc>
                <a:spcPct val="140100"/>
              </a:lnSpc>
              <a:spcBef>
                <a:spcPts val="9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development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always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had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pressure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of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completing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old,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pending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work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that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was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considered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faulty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by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operations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team.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With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DevOps,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there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is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no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wait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time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deploy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get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it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tested.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28575" lvl="0" indent="0" defTabSz="91440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Hence,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developer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gets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instantaneous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feedback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on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code,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therefore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can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close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bugs,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can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make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production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ready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faster!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4630199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9906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4798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DevOps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Light"/>
              <a:cs typeface="Segoe U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6945" y="1649349"/>
            <a:ext cx="5464175" cy="221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It</a:t>
            </a:r>
            <a:r>
              <a:rPr kumimoji="0" sz="1200" b="1" i="0" u="none" strike="noStrike" kern="0" cap="none" spc="-3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is</a:t>
            </a:r>
            <a:r>
              <a:rPr kumimoji="0" sz="1200" b="1" i="0" u="none" strike="noStrike" kern="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a</a:t>
            </a:r>
            <a:r>
              <a:rPr kumimoji="0" sz="1200" b="1" i="0" u="none" strike="noStrike" kern="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philosophy</a:t>
            </a:r>
            <a:r>
              <a:rPr kumimoji="0" sz="1200" b="1" i="0" u="none" strike="noStrike" kern="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that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encourages</a:t>
            </a:r>
            <a:r>
              <a:rPr kumimoji="0" sz="1200" b="1" i="0" u="none" strike="noStrike" kern="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adopting</a:t>
            </a:r>
            <a:r>
              <a:rPr kumimoji="0" sz="1200" b="1" i="0" u="none" strike="noStrike" kern="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iterative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 software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development, automation,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1" i="0" u="none" strike="noStrike" kern="0" cap="none" spc="-3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programmable</a:t>
            </a:r>
            <a:r>
              <a:rPr kumimoji="0" sz="1200" b="1" i="0" u="none" strike="noStrike" kern="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infrastructure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deployment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and 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Segoe UI"/>
                <a:cs typeface="Segoe UI"/>
              </a:rPr>
              <a:t>maintenance.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13335" lvl="0" indent="0" defTabSz="914400" eaLnBrk="1" fontAlgn="auto" latinLnBrk="0" hangingPunct="1">
              <a:lnSpc>
                <a:spcPct val="130000"/>
              </a:lnSpc>
              <a:spcBef>
                <a:spcPts val="10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DevOps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emphasizes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building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trust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better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liasioning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between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developers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system administrators.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This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helps</a:t>
            </a: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organization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</a:t>
            </a: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aligning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technological</a:t>
            </a: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projects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business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requirements.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304165" lvl="0" indent="0" defTabSz="914400" eaLnBrk="1" fontAlgn="auto" latinLnBrk="0" hangingPunct="1">
              <a:lnSpc>
                <a:spcPct val="130000"/>
              </a:lnSpc>
              <a:spcBef>
                <a:spcPts val="99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Changes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rolled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out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are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usually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small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reversible,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which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entire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begins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comprehend.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873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4798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The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infinite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Loop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Light"/>
              <a:cs typeface="Segoe U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4319" y="5672686"/>
            <a:ext cx="5136515" cy="48387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DevOps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is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visualized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as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infinite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loop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comprising the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steps: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plan,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code,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build,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test,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release,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deploy,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operate,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monitor,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then back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plan,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so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on.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5970" y="6214376"/>
            <a:ext cx="3017774" cy="184873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1557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929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68616"/>
            <a:ext cx="6096000" cy="342906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81000" y="4844732"/>
            <a:ext cx="6096000" cy="3429635"/>
            <a:chOff x="381000" y="4844732"/>
            <a:chExt cx="6096000" cy="3429635"/>
          </a:xfrm>
        </p:grpSpPr>
        <p:sp>
          <p:nvSpPr>
            <p:cNvPr id="5" name="object 5"/>
            <p:cNvSpPr/>
            <p:nvPr/>
          </p:nvSpPr>
          <p:spPr>
            <a:xfrm>
              <a:off x="381000" y="4844732"/>
              <a:ext cx="6096000" cy="666750"/>
            </a:xfrm>
            <a:custGeom>
              <a:avLst/>
              <a:gdLst/>
              <a:ahLst/>
              <a:cxnLst/>
              <a:rect l="l" t="t" r="r" b="b"/>
              <a:pathLst>
                <a:path w="6096000" h="666750">
                  <a:moveTo>
                    <a:pt x="6096000" y="0"/>
                  </a:moveTo>
                  <a:lnTo>
                    <a:pt x="0" y="0"/>
                  </a:lnTo>
                  <a:lnTo>
                    <a:pt x="0" y="666432"/>
                  </a:lnTo>
                  <a:lnTo>
                    <a:pt x="6096000" y="666432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4844796"/>
              <a:ext cx="242404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76676" y="4844796"/>
              <a:ext cx="2584450" cy="17475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08423" y="6673850"/>
              <a:ext cx="1961769" cy="1472946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1557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80945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58239" y="1630629"/>
            <a:ext cx="5318760" cy="2538095"/>
            <a:chOff x="1158239" y="1630629"/>
            <a:chExt cx="5318760" cy="2538095"/>
          </a:xfrm>
        </p:grpSpPr>
        <p:sp>
          <p:nvSpPr>
            <p:cNvPr id="5" name="object 5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924424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8239" y="1630629"/>
              <a:ext cx="2601087" cy="103865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3479" y="2699257"/>
              <a:ext cx="2585847" cy="1427480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5" name="object 15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17321" y="937641"/>
            <a:ext cx="395351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98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Evolution</a:t>
            </a:r>
            <a:r>
              <a:rPr kumimoji="0" sz="1800" b="1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DevOps-</a:t>
            </a:r>
            <a:r>
              <a:rPr kumimoji="0" sz="18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Define</a:t>
            </a:r>
            <a:r>
              <a:rPr kumimoji="0" sz="1800" b="1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stages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1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800" b="1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evolution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79290" y="1630743"/>
            <a:ext cx="1598549" cy="101530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2" name="object 22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30" name="object 30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617321" y="4914646"/>
            <a:ext cx="3953510" cy="5283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1800"/>
              </a:lnSpc>
              <a:spcBef>
                <a:spcPts val="45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Evolution</a:t>
            </a:r>
            <a:r>
              <a:rPr kumimoji="0" sz="1800" b="1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DevOps-</a:t>
            </a:r>
            <a:r>
              <a:rPr kumimoji="0" sz="18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Define</a:t>
            </a:r>
            <a:r>
              <a:rPr kumimoji="0" sz="1800" b="1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stages 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800" b="1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800" b="1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evolution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287780" y="5606796"/>
            <a:ext cx="4122420" cy="2432685"/>
            <a:chOff x="1287780" y="5606796"/>
            <a:chExt cx="4122420" cy="2432685"/>
          </a:xfrm>
        </p:grpSpPr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7780" y="5606796"/>
              <a:ext cx="4122420" cy="224345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76550" y="7557389"/>
              <a:ext cx="1009650" cy="48152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95800" y="7552270"/>
              <a:ext cx="880986" cy="487172"/>
            </a:xfrm>
            <a:prstGeom prst="rect">
              <a:avLst/>
            </a:prstGeom>
          </p:spPr>
        </p:pic>
      </p:grp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1557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9295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17321" y="1051941"/>
            <a:ext cx="34709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practices</a:t>
            </a:r>
            <a:r>
              <a:rPr kumimoji="0" sz="1800" b="1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1800" b="1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organizations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4048" y="1732660"/>
            <a:ext cx="3424177" cy="204311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0" name="object 20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8" name="object 28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17321" y="5028946"/>
            <a:ext cx="1280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1" i="0" u="none" strike="noStrike" kern="0" cap="none" spc="-1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Practice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5755" y="5884726"/>
            <a:ext cx="4289204" cy="1707467"/>
          </a:xfrm>
          <a:prstGeom prst="rect">
            <a:avLst/>
          </a:prstGeom>
        </p:spPr>
      </p:pic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0932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17321" y="1051941"/>
            <a:ext cx="1335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How</a:t>
            </a:r>
            <a:r>
              <a:rPr kumimoji="0" sz="1800" b="1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it</a:t>
            </a:r>
            <a:r>
              <a:rPr kumimoji="0" sz="18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works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2535" y="1642236"/>
            <a:ext cx="3805175" cy="220980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0" name="object 20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8" name="object 28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17321" y="5028946"/>
            <a:ext cx="18345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Agile</a:t>
            </a:r>
            <a:r>
              <a:rPr kumimoji="0" sz="1800" b="1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800" b="1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2608" y="5644832"/>
            <a:ext cx="4197604" cy="2375280"/>
          </a:xfrm>
          <a:prstGeom prst="rect">
            <a:avLst/>
          </a:prstGeom>
        </p:spPr>
      </p:pic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00282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81000" y="1407160"/>
            <a:ext cx="6043295" cy="2413000"/>
            <a:chOff x="381000" y="1407160"/>
            <a:chExt cx="6043295" cy="2413000"/>
          </a:xfrm>
        </p:grpSpPr>
        <p:sp>
          <p:nvSpPr>
            <p:cNvPr id="13" name="object 13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1407160"/>
              <a:ext cx="6042787" cy="24130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17321" y="1051941"/>
            <a:ext cx="18345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Agile</a:t>
            </a:r>
            <a:r>
              <a:rPr kumimoji="0" sz="1800" b="1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800" b="1" i="0" u="none" strike="noStrike" kern="0" cap="none" spc="-1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4844732"/>
            <a:ext cx="6096000" cy="3382822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94273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81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4798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1.BUILD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AUTOMATION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Light"/>
              <a:cs typeface="Segoe U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424" y="1753869"/>
            <a:ext cx="5106035" cy="16598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automated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is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prepared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deployed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live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environment</a:t>
            </a:r>
            <a:r>
              <a:rPr kumimoji="0" sz="1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where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tool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used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is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tied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programming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language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chosen.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This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makes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whole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process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faster,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consistent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more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repeatable.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144780" lvl="0" indent="0" defTabSz="914400" eaLnBrk="1" fontAlgn="auto" latinLnBrk="0" hangingPunct="1">
              <a:lnSpc>
                <a:spcPct val="15000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Further,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it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also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ensures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that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your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process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is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more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reliable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than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any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manual build.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9969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4798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2.</a:t>
            </a:r>
            <a:r>
              <a:rPr kumimoji="0" sz="16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CI/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CD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–</a:t>
            </a:r>
            <a:r>
              <a:rPr kumimoji="0" sz="16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Continuous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Integration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and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Continuous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Deployment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Light"/>
              <a:cs typeface="Segoe U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424" y="5730239"/>
            <a:ext cx="5222875" cy="2209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3060" lvl="0" indent="0" defTabSz="914400" eaLnBrk="1" fontAlgn="auto" latinLnBrk="0" hangingPunct="1">
              <a:lnSpc>
                <a:spcPct val="1502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CI/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CD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–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Continuous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Integration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Continuous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Deployment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deals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with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frequent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merging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of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codes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unit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testing.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328295" lvl="0" indent="0" defTabSz="914400" eaLnBrk="1" fontAlgn="auto" latinLnBrk="0" hangingPunct="1">
              <a:lnSpc>
                <a:spcPct val="1500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Further,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deployment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of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small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changes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routine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frequent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process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is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also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part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of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this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method.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5080" lvl="0" indent="0" defTabSz="914400" eaLnBrk="1" fontAlgn="auto" latinLnBrk="0" hangingPunct="1">
              <a:lnSpc>
                <a:spcPct val="1501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CI/CD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helps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massively as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it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helps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you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detect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bugs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early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maintains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use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of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modular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with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minimal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effort.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It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also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reduces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time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market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and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introduces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reliable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rollbacks.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276774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81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4798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3.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INFRASTRUCTURE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AS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CODE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Light"/>
              <a:cs typeface="Segoe U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424" y="1753869"/>
            <a:ext cx="5122545" cy="16598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59715" lvl="0" indent="0" defTabSz="914400" eaLnBrk="1" fontAlgn="auto" latinLnBrk="0" hangingPunct="1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INFRASTRUCTURE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AS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–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This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is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usually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manage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provision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IT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infrastructure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through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automation.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This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is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reusable,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helps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consistent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resource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creation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management.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83185" lvl="0" indent="0" defTabSz="914400" eaLnBrk="1" fontAlgn="auto" latinLnBrk="0" hangingPunct="1">
              <a:lnSpc>
                <a:spcPct val="15000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Furthermore,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infrastructure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is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self-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documenting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simplifies</a:t>
            </a:r>
            <a:r>
              <a:rPr kumimoji="0" sz="12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complex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material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like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authentication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application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servers.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873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4798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4.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CONFIGURATION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MANAGEMENT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Light"/>
              <a:cs typeface="Segoe U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424" y="5730239"/>
            <a:ext cx="5262245" cy="1934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502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CONFIGURATION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MANAGEMENT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–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This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is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process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where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you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can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manage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change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state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of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infrastructure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constant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maintainable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ways.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76200" lvl="0" indent="0" defTabSz="914400" eaLnBrk="1" fontAlgn="auto" latinLnBrk="0" hangingPunct="1">
              <a:lnSpc>
                <a:spcPct val="1500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This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way,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you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end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up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saving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lot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of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time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while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also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minimizing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configuration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drift,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especially</a:t>
            </a:r>
            <a:r>
              <a:rPr kumimoji="0" sz="12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large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server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environments.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331470" lvl="0" indent="0" defTabSz="914400" eaLnBrk="1" fontAlgn="auto" latinLnBrk="0" hangingPunct="1">
              <a:lnSpc>
                <a:spcPct val="15000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Configuration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Management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also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helps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provide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insight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documentation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on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infrastructure.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4038123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81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4798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5.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ORCHESTRATION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Light"/>
              <a:cs typeface="Segoe U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424" y="1753869"/>
            <a:ext cx="5343525" cy="1254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9220" lvl="0" indent="0" defTabSz="914400" eaLnBrk="1" fontAlgn="auto" latinLnBrk="0" hangingPunct="1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ORCHESTRATION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–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Orchestration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is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nothing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but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automation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that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supports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processes</a:t>
            </a:r>
            <a:r>
              <a:rPr kumimoji="0" sz="1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workflows,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like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Resource</a:t>
            </a:r>
            <a:r>
              <a:rPr kumimoji="0" sz="1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Planning.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5080" lvl="0" indent="0" defTabSz="914400" eaLnBrk="1" fontAlgn="auto" latinLnBrk="0" hangingPunct="1">
              <a:lnSpc>
                <a:spcPct val="1502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It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not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only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helps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you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save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time,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but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you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also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achieve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stability,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especially</a:t>
            </a:r>
            <a:r>
              <a:rPr kumimoji="0" sz="12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with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automatic</a:t>
            </a:r>
            <a:r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response</a:t>
            </a:r>
            <a:r>
              <a:rPr kumimoji="0" sz="1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detection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of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various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problems.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873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4798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6.</a:t>
            </a:r>
            <a:r>
              <a:rPr kumimoji="0" sz="180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MONITORING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Light"/>
              <a:cs typeface="Segoe U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424" y="5730239"/>
            <a:ext cx="5372735" cy="180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0665" lvl="0" indent="0" defTabSz="914400" eaLnBrk="1" fontAlgn="auto" latinLnBrk="0" hangingPunct="1">
              <a:lnSpc>
                <a:spcPct val="1501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MONITORING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–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By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this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method,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you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collect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present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data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about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the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performance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stability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of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services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infrastructure,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while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also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detecting problems.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This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enables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faster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recovery,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helps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with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cross-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team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visibility,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provides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more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data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analyze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for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better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root-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cause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analysis and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also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generates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automated response.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217109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81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4798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7.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MICROSERVICES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Light"/>
              <a:cs typeface="Segoe U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6381" y="1753869"/>
            <a:ext cx="2833370" cy="2077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40029" lvl="0" indent="0" defTabSz="914400" eaLnBrk="1" fontAlgn="auto" latinLnBrk="0" hangingPunct="1">
              <a:lnSpc>
                <a:spcPct val="1501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MICROSERVICES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–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It</a:t>
            </a:r>
            <a:r>
              <a:rPr kumimoji="0" sz="12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is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basically</a:t>
            </a:r>
            <a:r>
              <a:rPr kumimoji="0" sz="12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architecture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that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breaks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application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into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many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small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loosely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collected services.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This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way,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you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end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up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reducing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complexity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and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increase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flexibility</a:t>
            </a:r>
            <a:r>
              <a:rPr kumimoji="0" sz="12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choice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of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technology.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1361" y="1849627"/>
            <a:ext cx="2893822" cy="217043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81000" y="4844732"/>
            <a:ext cx="6096000" cy="3011170"/>
            <a:chOff x="381000" y="4844732"/>
            <a:chExt cx="6096000" cy="3011170"/>
          </a:xfrm>
        </p:grpSpPr>
        <p:sp>
          <p:nvSpPr>
            <p:cNvPr id="7" name="object 7"/>
            <p:cNvSpPr/>
            <p:nvPr/>
          </p:nvSpPr>
          <p:spPr>
            <a:xfrm>
              <a:off x="381000" y="4844732"/>
              <a:ext cx="6096000" cy="666750"/>
            </a:xfrm>
            <a:custGeom>
              <a:avLst/>
              <a:gdLst/>
              <a:ahLst/>
              <a:cxnLst/>
              <a:rect l="l" t="t" r="r" b="b"/>
              <a:pathLst>
                <a:path w="6096000" h="666750">
                  <a:moveTo>
                    <a:pt x="6096000" y="0"/>
                  </a:moveTo>
                  <a:lnTo>
                    <a:pt x="0" y="0"/>
                  </a:lnTo>
                  <a:lnTo>
                    <a:pt x="0" y="666432"/>
                  </a:lnTo>
                  <a:lnTo>
                    <a:pt x="6096000" y="666432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5355463"/>
              <a:ext cx="5910199" cy="250024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20043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868616"/>
            <a:ext cx="6096000" cy="666750"/>
          </a:xfrm>
          <a:custGeom>
            <a:avLst/>
            <a:gdLst/>
            <a:ahLst/>
            <a:cxnLst/>
            <a:rect l="l" t="t" r="r" b="b"/>
            <a:pathLst>
              <a:path w="6096000" h="666750">
                <a:moveTo>
                  <a:pt x="6096000" y="0"/>
                </a:moveTo>
                <a:lnTo>
                  <a:pt x="0" y="0"/>
                </a:lnTo>
                <a:lnTo>
                  <a:pt x="0" y="666432"/>
                </a:lnTo>
                <a:lnTo>
                  <a:pt x="6096000" y="666432"/>
                </a:lnTo>
                <a:lnTo>
                  <a:pt x="6096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901" y="2154280"/>
            <a:ext cx="5690309" cy="181205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873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4798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The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7</a:t>
            </a:r>
            <a:r>
              <a:rPr kumimoji="0" sz="18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key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practices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of</a:t>
            </a:r>
            <a:r>
              <a:rPr kumimoji="0" sz="18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DevOps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are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Light"/>
              <a:cs typeface="Segoe UI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6381" y="5810758"/>
            <a:ext cx="1944370" cy="2098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240029" algn="l"/>
              </a:tabLst>
              <a:defRPr/>
            </a:pP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Configuration</a:t>
            </a:r>
            <a:r>
              <a:rPr kumimoji="0" sz="1000" b="1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Management.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240029" algn="l"/>
              </a:tabLst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Continuous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Integration.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240029" algn="l"/>
              </a:tabLst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Automated</a:t>
            </a:r>
            <a:r>
              <a:rPr kumimoji="0" sz="10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Testing.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240029" algn="l"/>
              </a:tabLst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Infrastructure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as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Code.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240029" algn="l"/>
              </a:tabLst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Continuous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Delivery.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131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240029" algn="l"/>
              </a:tabLst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Continuous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Deployment.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240029" algn="l"/>
              </a:tabLst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Continuous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Monitoring.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0688" y="5502402"/>
            <a:ext cx="3604767" cy="269976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40982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68616"/>
            <a:ext cx="6096000" cy="34290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6" name="object 6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381000" y="5492464"/>
            <a:ext cx="4953000" cy="2569845"/>
            <a:chOff x="381000" y="5492464"/>
            <a:chExt cx="4953000" cy="2569845"/>
          </a:xfrm>
        </p:grpSpPr>
        <p:sp>
          <p:nvSpPr>
            <p:cNvPr id="14" name="object 14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0200" y="5538559"/>
              <a:ext cx="3733800" cy="252374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17321" y="4914646"/>
            <a:ext cx="3488054" cy="5283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1800"/>
              </a:lnSpc>
              <a:spcBef>
                <a:spcPts val="45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8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Continuous</a:t>
            </a:r>
            <a:r>
              <a:rPr kumimoji="0" sz="1800" b="1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8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LifeCycle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Process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90685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17321" y="1051941"/>
            <a:ext cx="2898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Lifecycle</a:t>
            </a:r>
            <a:r>
              <a:rPr kumimoji="0" sz="1800" b="1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Processes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400" y="1725802"/>
            <a:ext cx="4336796" cy="215277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0" name="object 20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8" name="object 28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17321" y="5028946"/>
            <a:ext cx="2398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Continuous</a:t>
            </a:r>
            <a:r>
              <a:rPr kumimoji="0" sz="18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Integration,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7993" y="5609124"/>
            <a:ext cx="3440261" cy="2219409"/>
          </a:xfrm>
          <a:prstGeom prst="rect">
            <a:avLst/>
          </a:prstGeom>
        </p:spPr>
      </p:pic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24524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17321" y="1051941"/>
            <a:ext cx="23698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Continuous</a:t>
            </a:r>
            <a:r>
              <a:rPr kumimoji="0" sz="18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Inspection,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7370" y="1637326"/>
            <a:ext cx="3997255" cy="221514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0" name="object 20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381000" y="5492464"/>
            <a:ext cx="5105400" cy="2556510"/>
            <a:chOff x="381000" y="5492464"/>
            <a:chExt cx="5105400" cy="2556510"/>
          </a:xfrm>
        </p:grpSpPr>
        <p:sp>
          <p:nvSpPr>
            <p:cNvPr id="28" name="object 28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9200" y="5548528"/>
              <a:ext cx="4267200" cy="2499995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17321" y="5028946"/>
            <a:ext cx="2531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Continuous</a:t>
            </a:r>
            <a:r>
              <a:rPr kumimoji="0" sz="18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Deployment,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60354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17321" y="1051941"/>
            <a:ext cx="2107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Continuous</a:t>
            </a:r>
            <a:r>
              <a:rPr kumimoji="0" sz="1800" b="1" i="0" u="none" strike="noStrike" kern="0" cap="none" spc="-1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Delivery,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0" y="1615566"/>
            <a:ext cx="4381500" cy="241541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0" name="object 20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8" name="object 28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17321" y="5028946"/>
            <a:ext cx="2353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Continuous</a:t>
            </a:r>
            <a:r>
              <a:rPr kumimoji="0" sz="1800" b="1" i="0" u="none" strike="noStrike" kern="0" cap="none" spc="-1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Monitoring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7334" y="5679235"/>
            <a:ext cx="4137127" cy="2217125"/>
          </a:xfrm>
          <a:prstGeom prst="rect">
            <a:avLst/>
          </a:prstGeom>
        </p:spPr>
      </p:pic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66431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17321" y="1051941"/>
            <a:ext cx="1631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8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Culture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400" y="1615566"/>
            <a:ext cx="4267200" cy="217841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0" name="object 20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8" name="object 28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17321" y="4952187"/>
            <a:ext cx="4021454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Continuous</a:t>
            </a:r>
            <a:r>
              <a:rPr kumimoji="0" sz="1250" b="1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5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Integration,</a:t>
            </a:r>
            <a:r>
              <a:rPr kumimoji="0" sz="1250" b="1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5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Continuous</a:t>
            </a:r>
            <a:r>
              <a:rPr kumimoji="0" sz="1250" b="1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5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Inspection,</a:t>
            </a:r>
            <a:r>
              <a:rPr kumimoji="0" sz="1250" b="1" i="0" u="none" strike="noStrike" kern="0" cap="none" spc="-1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5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Continuous </a:t>
            </a:r>
            <a:r>
              <a:rPr kumimoji="0" sz="125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Deployment,</a:t>
            </a:r>
            <a:r>
              <a:rPr kumimoji="0" sz="125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5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Continuous</a:t>
            </a:r>
            <a:r>
              <a:rPr kumimoji="0" sz="1250" b="1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50" b="1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Delivery,</a:t>
            </a:r>
            <a:r>
              <a:rPr kumimoji="0" sz="125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5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Continuous</a:t>
            </a:r>
            <a:r>
              <a:rPr kumimoji="0" sz="1250" b="1" i="0" u="none" strike="noStrike" kern="0" cap="none" spc="-1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25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Monitoring)</a:t>
            </a:r>
            <a:endParaRPr kumimoji="0" sz="12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8832" y="5599315"/>
            <a:ext cx="3814326" cy="2245753"/>
          </a:xfrm>
          <a:prstGeom prst="rect">
            <a:avLst/>
          </a:prstGeom>
        </p:spPr>
      </p:pic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83396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81000" y="868680"/>
            <a:ext cx="6096000" cy="3175000"/>
            <a:chOff x="381000" y="868680"/>
            <a:chExt cx="6096000" cy="317500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0600" y="868680"/>
              <a:ext cx="1462659" cy="3460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1123061"/>
              <a:ext cx="6096000" cy="292036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19" name="object 19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7" name="object 27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17321" y="5028946"/>
            <a:ext cx="1700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800" b="1" i="0" u="none" strike="noStrike" kern="0" cap="none" spc="-8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Pipeline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31" name="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1899" y="5646269"/>
            <a:ext cx="4567567" cy="2259070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62380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82116" y="865378"/>
            <a:ext cx="3138170" cy="658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Typical</a:t>
            </a:r>
            <a:r>
              <a:rPr kumimoji="0" sz="1800" b="1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Case</a:t>
            </a:r>
            <a:r>
              <a:rPr kumimoji="0" sz="1800" b="1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Study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51130" marR="5080" lvl="0" indent="0" defTabSz="914400" eaLnBrk="1" fontAlgn="auto" latinLnBrk="0" hangingPunct="1">
              <a:lnSpc>
                <a:spcPct val="102499"/>
              </a:lnSpc>
              <a:spcBef>
                <a:spcPts val="84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Delivery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pipeline is</a:t>
            </a:r>
            <a:r>
              <a:rPr kumimoji="0" sz="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an</a:t>
            </a:r>
            <a:r>
              <a:rPr kumimoji="0" sz="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automated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manifestation</a:t>
            </a:r>
            <a:r>
              <a:rPr kumimoji="0" sz="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of</a:t>
            </a:r>
            <a:r>
              <a:rPr kumimoji="0" sz="8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your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process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for</a:t>
            </a:r>
            <a:r>
              <a:rPr kumimoji="0" sz="8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getting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software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from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version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control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into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the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hands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of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your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Medium"/>
                <a:cs typeface="Franklin Gothic Medium"/>
              </a:rPr>
              <a:t>users.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"/>
              <a:cs typeface="Franklin Gothic Mediu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24811" y="3714536"/>
            <a:ext cx="43180" cy="5270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" b="0" i="0" u="none" strike="noStrike" kern="0" cap="none" spc="-25" normalizeH="0" baseline="0" noProof="0" dirty="0">
                <a:ln>
                  <a:noFill/>
                </a:ln>
                <a:solidFill>
                  <a:srgbClr val="006BB5"/>
                </a:solidFill>
                <a:effectLst/>
                <a:uLnTx/>
                <a:uFillTx/>
                <a:latin typeface="Segoe UI"/>
                <a:cs typeface="Segoe UI"/>
              </a:rPr>
              <a:t>45</a:t>
            </a:r>
            <a:endParaRPr kumimoji="0" sz="3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83411" y="2813430"/>
            <a:ext cx="4267200" cy="1303020"/>
            <a:chOff x="1383411" y="2813430"/>
            <a:chExt cx="4267200" cy="130302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8869" y="2820288"/>
              <a:ext cx="2754249" cy="72313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79600" y="3705938"/>
              <a:ext cx="411518" cy="8424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36007" y="3614648"/>
              <a:ext cx="507111" cy="16309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3411" y="2813430"/>
              <a:ext cx="4266819" cy="1302893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61387" y="1656271"/>
            <a:ext cx="3007952" cy="1106848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6" name="object 26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34" name="object 34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176324" y="4807458"/>
            <a:ext cx="118745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Case</a:t>
            </a:r>
            <a:r>
              <a:rPr kumimoji="0" sz="1800" b="1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Study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56235" marR="0" lvl="0" indent="0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800" b="1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Tools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12111" y="7681721"/>
            <a:ext cx="68580" cy="730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" b="0" i="0" u="none" strike="noStrike" kern="0" cap="none" spc="-25" normalizeH="0" baseline="0" noProof="0" dirty="0">
                <a:ln>
                  <a:noFill/>
                </a:ln>
                <a:solidFill>
                  <a:srgbClr val="006BB5"/>
                </a:solidFill>
                <a:effectLst/>
                <a:uLnTx/>
                <a:uFillTx/>
                <a:latin typeface="Segoe UI"/>
                <a:cs typeface="Segoe UI"/>
              </a:rPr>
              <a:t>46</a:t>
            </a:r>
            <a:endParaRPr kumimoji="0" sz="3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pic>
        <p:nvPicPr>
          <p:cNvPr id="39" name="object 3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8870" y="6796405"/>
            <a:ext cx="2754249" cy="723138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79600" y="7682055"/>
            <a:ext cx="411518" cy="84247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36008" y="7590764"/>
            <a:ext cx="507111" cy="163093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26477" y="5553709"/>
            <a:ext cx="4145661" cy="2263013"/>
          </a:xfrm>
          <a:prstGeom prst="rect">
            <a:avLst/>
          </a:prstGeom>
        </p:spPr>
      </p:pic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03754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17321" y="1051941"/>
            <a:ext cx="1187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Case</a:t>
            </a:r>
            <a:r>
              <a:rPr kumimoji="0" sz="1800" b="1" i="0" u="none" strike="noStrike" kern="0" cap="none" spc="-1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Study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400" y="2146396"/>
            <a:ext cx="4114800" cy="124855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0" name="object 20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8" name="object 28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17321" y="5028946"/>
            <a:ext cx="2107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Release</a:t>
            </a:r>
            <a:r>
              <a:rPr kumimoji="0" sz="1800" b="1" i="0" u="none" strike="noStrike" kern="0" cap="none" spc="-1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Antipatterns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28674" y="5598414"/>
            <a:ext cx="3995420" cy="146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lvl="0" indent="-17272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Common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Quote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“The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day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release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tends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tense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one”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Antipattern:</a:t>
            </a:r>
            <a:r>
              <a:rPr kumimoji="0" sz="12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Deploying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</a:t>
            </a:r>
            <a:r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Manually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84175" marR="407034" lvl="0" indent="-143510" defTabSz="914400" eaLnBrk="1" fontAlgn="auto" latinLnBrk="0" hangingPunct="1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38417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production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extensive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and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detailed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documentation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 steps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performed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84810" marR="0" lvl="0" indent="-143510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384810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Reliance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manual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testing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84810" marR="0" lvl="0" indent="-143510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38481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Frequent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calls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development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explain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84810" marR="0" lvl="0" indent="-143510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38481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Frequent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corrections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release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84810" marR="0" lvl="0" indent="-143510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38481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Sitting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bleary-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eyed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front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monitor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2</a:t>
            </a:r>
            <a:r>
              <a:rPr kumimoji="0" sz="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A.M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6741934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</a:pPr>
            <a:r>
              <a:rPr dirty="0"/>
              <a:t>Antipattern:</a:t>
            </a:r>
            <a:r>
              <a:rPr spc="-40" dirty="0"/>
              <a:t> </a:t>
            </a:r>
            <a:r>
              <a:rPr dirty="0"/>
              <a:t>Deploying</a:t>
            </a:r>
            <a:r>
              <a:rPr spc="2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10" dirty="0"/>
              <a:t>Production-</a:t>
            </a:r>
            <a:r>
              <a:rPr dirty="0"/>
              <a:t>like</a:t>
            </a:r>
            <a:r>
              <a:rPr spc="-10" dirty="0"/>
              <a:t> </a:t>
            </a:r>
            <a:r>
              <a:rPr dirty="0"/>
              <a:t>Environment</a:t>
            </a:r>
            <a:r>
              <a:rPr spc="-20" dirty="0"/>
              <a:t> </a:t>
            </a:r>
            <a:r>
              <a:rPr dirty="0"/>
              <a:t>Only</a:t>
            </a:r>
            <a:r>
              <a:rPr spc="-10" dirty="0"/>
              <a:t> </a:t>
            </a:r>
            <a:r>
              <a:rPr dirty="0"/>
              <a:t>after</a:t>
            </a:r>
            <a:r>
              <a:rPr spc="-40" dirty="0"/>
              <a:t> </a:t>
            </a:r>
            <a:r>
              <a:rPr spc="-10" dirty="0"/>
              <a:t>Development </a:t>
            </a:r>
            <a:r>
              <a:rPr dirty="0"/>
              <a:t>Is</a:t>
            </a:r>
            <a:r>
              <a:rPr spc="-20" dirty="0"/>
              <a:t> </a:t>
            </a:r>
            <a:r>
              <a:rPr spc="-10" dirty="0"/>
              <a:t>Complete</a:t>
            </a:r>
          </a:p>
          <a:p>
            <a:pPr marL="384810" indent="-143510">
              <a:lnSpc>
                <a:spcPct val="100000"/>
              </a:lnSpc>
              <a:spcBef>
                <a:spcPts val="204"/>
              </a:spcBef>
              <a:buChar char="–"/>
              <a:tabLst>
                <a:tab pos="384810" algn="l"/>
              </a:tabLst>
            </a:pPr>
            <a:r>
              <a:rPr sz="800" spc="-20" dirty="0"/>
              <a:t>Tester</a:t>
            </a:r>
            <a:r>
              <a:rPr sz="800" spc="-30" dirty="0"/>
              <a:t> </a:t>
            </a:r>
            <a:r>
              <a:rPr sz="800" dirty="0"/>
              <a:t>tested</a:t>
            </a:r>
            <a:r>
              <a:rPr sz="800" spc="-15" dirty="0"/>
              <a:t> </a:t>
            </a:r>
            <a:r>
              <a:rPr sz="800" dirty="0"/>
              <a:t>the</a:t>
            </a:r>
            <a:r>
              <a:rPr sz="800" spc="-10" dirty="0"/>
              <a:t> </a:t>
            </a:r>
            <a:r>
              <a:rPr sz="800" dirty="0"/>
              <a:t>system</a:t>
            </a:r>
            <a:r>
              <a:rPr sz="800" spc="-10" dirty="0"/>
              <a:t> </a:t>
            </a:r>
            <a:r>
              <a:rPr sz="800" dirty="0"/>
              <a:t>on</a:t>
            </a:r>
            <a:r>
              <a:rPr sz="800" spc="-10" dirty="0"/>
              <a:t> development</a:t>
            </a:r>
            <a:r>
              <a:rPr sz="800" spc="-20" dirty="0"/>
              <a:t> </a:t>
            </a:r>
            <a:r>
              <a:rPr sz="800" spc="-10" dirty="0"/>
              <a:t>machines</a:t>
            </a:r>
            <a:endParaRPr sz="800"/>
          </a:p>
          <a:p>
            <a:pPr marL="384810" indent="-143510">
              <a:lnSpc>
                <a:spcPct val="100000"/>
              </a:lnSpc>
              <a:spcBef>
                <a:spcPts val="195"/>
              </a:spcBef>
              <a:buChar char="–"/>
              <a:tabLst>
                <a:tab pos="384810" algn="l"/>
              </a:tabLst>
            </a:pPr>
            <a:r>
              <a:rPr sz="800" spc="-10" dirty="0"/>
              <a:t>Releasing</a:t>
            </a:r>
            <a:r>
              <a:rPr sz="800" spc="-30" dirty="0"/>
              <a:t> </a:t>
            </a:r>
            <a:r>
              <a:rPr sz="800" dirty="0"/>
              <a:t>into</a:t>
            </a:r>
            <a:r>
              <a:rPr sz="800" spc="-20" dirty="0"/>
              <a:t> </a:t>
            </a:r>
            <a:r>
              <a:rPr sz="800" spc="-10" dirty="0"/>
              <a:t>staging</a:t>
            </a:r>
            <a:r>
              <a:rPr sz="800" spc="-25" dirty="0"/>
              <a:t> </a:t>
            </a:r>
            <a:r>
              <a:rPr sz="800" dirty="0"/>
              <a:t>is</a:t>
            </a:r>
            <a:r>
              <a:rPr sz="800" spc="-10" dirty="0"/>
              <a:t> </a:t>
            </a:r>
            <a:r>
              <a:rPr sz="800" dirty="0"/>
              <a:t>the</a:t>
            </a:r>
            <a:r>
              <a:rPr sz="800" spc="-5" dirty="0"/>
              <a:t> </a:t>
            </a:r>
            <a:r>
              <a:rPr sz="800" dirty="0"/>
              <a:t>first</a:t>
            </a:r>
            <a:r>
              <a:rPr sz="800" spc="-20" dirty="0"/>
              <a:t> </a:t>
            </a:r>
            <a:r>
              <a:rPr sz="800" dirty="0"/>
              <a:t>time</a:t>
            </a:r>
            <a:r>
              <a:rPr sz="800" spc="-30" dirty="0"/>
              <a:t> </a:t>
            </a:r>
            <a:r>
              <a:rPr sz="800" dirty="0"/>
              <a:t>that</a:t>
            </a:r>
            <a:r>
              <a:rPr sz="800" spc="-10" dirty="0"/>
              <a:t> operations </a:t>
            </a:r>
            <a:r>
              <a:rPr sz="800" dirty="0"/>
              <a:t>people</a:t>
            </a:r>
            <a:r>
              <a:rPr sz="800" spc="-15" dirty="0"/>
              <a:t> </a:t>
            </a:r>
            <a:r>
              <a:rPr sz="800" dirty="0"/>
              <a:t>interact</a:t>
            </a:r>
            <a:r>
              <a:rPr sz="800" spc="-10" dirty="0"/>
              <a:t> </a:t>
            </a:r>
            <a:r>
              <a:rPr sz="800" dirty="0"/>
              <a:t>with</a:t>
            </a:r>
            <a:r>
              <a:rPr sz="800" spc="-5" dirty="0"/>
              <a:t> </a:t>
            </a:r>
            <a:r>
              <a:rPr sz="800" dirty="0"/>
              <a:t>the</a:t>
            </a:r>
            <a:r>
              <a:rPr sz="800" spc="-15" dirty="0"/>
              <a:t> </a:t>
            </a:r>
            <a:r>
              <a:rPr sz="800" dirty="0"/>
              <a:t>new</a:t>
            </a:r>
            <a:r>
              <a:rPr sz="800" spc="-5" dirty="0"/>
              <a:t> </a:t>
            </a:r>
            <a:r>
              <a:rPr sz="800" spc="-10" dirty="0"/>
              <a:t>release</a:t>
            </a:r>
            <a:endParaRPr sz="800"/>
          </a:p>
          <a:p>
            <a:pPr marL="384810" indent="-143510">
              <a:lnSpc>
                <a:spcPct val="100000"/>
              </a:lnSpc>
              <a:spcBef>
                <a:spcPts val="190"/>
              </a:spcBef>
              <a:buChar char="–"/>
              <a:tabLst>
                <a:tab pos="384810" algn="l"/>
              </a:tabLst>
            </a:pPr>
            <a:r>
              <a:rPr sz="800" dirty="0"/>
              <a:t>Who</a:t>
            </a:r>
            <a:r>
              <a:rPr sz="800" spc="-65" dirty="0"/>
              <a:t> </a:t>
            </a:r>
            <a:r>
              <a:rPr sz="800" spc="-10" dirty="0"/>
              <a:t>Assembles?</a:t>
            </a:r>
            <a:r>
              <a:rPr sz="800" spc="-35" dirty="0"/>
              <a:t> </a:t>
            </a:r>
            <a:r>
              <a:rPr sz="800" dirty="0"/>
              <a:t>The</a:t>
            </a:r>
            <a:r>
              <a:rPr sz="800" spc="20" dirty="0"/>
              <a:t> </a:t>
            </a:r>
            <a:r>
              <a:rPr sz="800" spc="-10" dirty="0"/>
              <a:t>Development</a:t>
            </a:r>
            <a:r>
              <a:rPr sz="800" dirty="0"/>
              <a:t> </a:t>
            </a:r>
            <a:r>
              <a:rPr sz="800" spc="-20" dirty="0"/>
              <a:t>Team</a:t>
            </a:r>
            <a:endParaRPr sz="800"/>
          </a:p>
          <a:p>
            <a:pPr marL="384810" indent="-143510">
              <a:lnSpc>
                <a:spcPct val="100000"/>
              </a:lnSpc>
              <a:spcBef>
                <a:spcPts val="195"/>
              </a:spcBef>
              <a:buChar char="–"/>
              <a:tabLst>
                <a:tab pos="384810" algn="l"/>
              </a:tabLst>
            </a:pPr>
            <a:r>
              <a:rPr sz="800" spc="-10" dirty="0"/>
              <a:t>Collaboration</a:t>
            </a:r>
            <a:r>
              <a:rPr sz="800" spc="-25" dirty="0"/>
              <a:t> </a:t>
            </a:r>
            <a:r>
              <a:rPr sz="800" dirty="0"/>
              <a:t>between</a:t>
            </a:r>
            <a:r>
              <a:rPr sz="800" spc="10" dirty="0"/>
              <a:t> </a:t>
            </a:r>
            <a:r>
              <a:rPr sz="800" spc="-10" dirty="0"/>
              <a:t>development </a:t>
            </a:r>
            <a:r>
              <a:rPr sz="800" dirty="0"/>
              <a:t>and</a:t>
            </a:r>
            <a:r>
              <a:rPr sz="800" spc="-10" dirty="0"/>
              <a:t> Operations?</a:t>
            </a:r>
            <a:endParaRPr sz="800"/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/>
              <a:t>Antipattern:</a:t>
            </a:r>
            <a:r>
              <a:rPr spc="-60" dirty="0"/>
              <a:t> </a:t>
            </a:r>
            <a:r>
              <a:rPr dirty="0"/>
              <a:t>Manual</a:t>
            </a:r>
            <a:r>
              <a:rPr spc="-40" dirty="0"/>
              <a:t> </a:t>
            </a:r>
            <a:r>
              <a:rPr dirty="0"/>
              <a:t>Configuration</a:t>
            </a:r>
            <a:r>
              <a:rPr spc="-35" dirty="0"/>
              <a:t> </a:t>
            </a:r>
            <a:r>
              <a:rPr dirty="0"/>
              <a:t>Management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Production</a:t>
            </a:r>
            <a:r>
              <a:rPr spc="-45" dirty="0"/>
              <a:t> </a:t>
            </a:r>
            <a:r>
              <a:rPr spc="-10" dirty="0"/>
              <a:t>Environments</a:t>
            </a:r>
          </a:p>
          <a:p>
            <a:pPr marL="384810" indent="-143510">
              <a:lnSpc>
                <a:spcPct val="100000"/>
              </a:lnSpc>
              <a:spcBef>
                <a:spcPts val="204"/>
              </a:spcBef>
              <a:buChar char="–"/>
              <a:tabLst>
                <a:tab pos="384810" algn="l"/>
              </a:tabLst>
            </a:pPr>
            <a:r>
              <a:rPr sz="800" spc="-10" dirty="0"/>
              <a:t>Difference</a:t>
            </a:r>
            <a:r>
              <a:rPr sz="800" spc="-20" dirty="0"/>
              <a:t> </a:t>
            </a:r>
            <a:r>
              <a:rPr sz="800" dirty="0"/>
              <a:t>in</a:t>
            </a:r>
            <a:r>
              <a:rPr sz="800" spc="5" dirty="0"/>
              <a:t> </a:t>
            </a:r>
            <a:r>
              <a:rPr sz="800" spc="-10" dirty="0"/>
              <a:t>Deployment</a:t>
            </a:r>
            <a:r>
              <a:rPr sz="800" spc="-20" dirty="0"/>
              <a:t> </a:t>
            </a:r>
            <a:r>
              <a:rPr sz="800" dirty="0"/>
              <a:t>to</a:t>
            </a:r>
            <a:r>
              <a:rPr sz="800" spc="5" dirty="0"/>
              <a:t> </a:t>
            </a:r>
            <a:r>
              <a:rPr sz="800" dirty="0"/>
              <a:t>Stage and</a:t>
            </a:r>
            <a:r>
              <a:rPr sz="800" spc="-5" dirty="0"/>
              <a:t> </a:t>
            </a:r>
            <a:r>
              <a:rPr sz="800" spc="-10" dirty="0"/>
              <a:t>Production</a:t>
            </a:r>
            <a:endParaRPr sz="800"/>
          </a:p>
          <a:p>
            <a:pPr marL="384810" indent="-143510">
              <a:lnSpc>
                <a:spcPct val="100000"/>
              </a:lnSpc>
              <a:spcBef>
                <a:spcPts val="195"/>
              </a:spcBef>
              <a:buChar char="–"/>
              <a:tabLst>
                <a:tab pos="384810" algn="l"/>
              </a:tabLst>
            </a:pPr>
            <a:r>
              <a:rPr sz="800" dirty="0"/>
              <a:t>Different</a:t>
            </a:r>
            <a:r>
              <a:rPr sz="800" spc="-50" dirty="0"/>
              <a:t> </a:t>
            </a:r>
            <a:r>
              <a:rPr sz="800" dirty="0"/>
              <a:t>host</a:t>
            </a:r>
            <a:r>
              <a:rPr sz="800" spc="-55" dirty="0"/>
              <a:t> </a:t>
            </a:r>
            <a:r>
              <a:rPr sz="800" dirty="0"/>
              <a:t>behave</a:t>
            </a:r>
            <a:r>
              <a:rPr sz="800" spc="-40" dirty="0"/>
              <a:t> </a:t>
            </a:r>
            <a:r>
              <a:rPr sz="800" spc="-10" dirty="0"/>
              <a:t>differently</a:t>
            </a:r>
            <a:endParaRPr sz="800"/>
          </a:p>
          <a:p>
            <a:pPr marL="384810" indent="-143510">
              <a:lnSpc>
                <a:spcPct val="100000"/>
              </a:lnSpc>
              <a:spcBef>
                <a:spcPts val="190"/>
              </a:spcBef>
              <a:buChar char="–"/>
              <a:tabLst>
                <a:tab pos="384810" algn="l"/>
              </a:tabLst>
            </a:pPr>
            <a:r>
              <a:rPr sz="800" dirty="0"/>
              <a:t>Long</a:t>
            </a:r>
            <a:r>
              <a:rPr sz="800" spc="-20" dirty="0"/>
              <a:t> </a:t>
            </a:r>
            <a:r>
              <a:rPr sz="800" dirty="0"/>
              <a:t>time</a:t>
            </a:r>
            <a:r>
              <a:rPr sz="800" spc="-50" dirty="0"/>
              <a:t> </a:t>
            </a:r>
            <a:r>
              <a:rPr sz="800" dirty="0"/>
              <a:t>to</a:t>
            </a:r>
            <a:r>
              <a:rPr sz="800" spc="-15" dirty="0"/>
              <a:t> </a:t>
            </a:r>
            <a:r>
              <a:rPr sz="800" dirty="0"/>
              <a:t>prepare</a:t>
            </a:r>
            <a:r>
              <a:rPr sz="800" spc="-20" dirty="0"/>
              <a:t> </a:t>
            </a:r>
            <a:r>
              <a:rPr sz="800" dirty="0"/>
              <a:t>an</a:t>
            </a:r>
            <a:r>
              <a:rPr sz="800" spc="-15" dirty="0"/>
              <a:t> </a:t>
            </a:r>
            <a:r>
              <a:rPr sz="800" spc="-10" dirty="0"/>
              <a:t>environment</a:t>
            </a:r>
            <a:endParaRPr sz="800"/>
          </a:p>
          <a:p>
            <a:pPr marL="384810" indent="-143510">
              <a:lnSpc>
                <a:spcPct val="100000"/>
              </a:lnSpc>
              <a:spcBef>
                <a:spcPts val="195"/>
              </a:spcBef>
              <a:buChar char="–"/>
              <a:tabLst>
                <a:tab pos="384810" algn="l"/>
              </a:tabLst>
            </a:pPr>
            <a:r>
              <a:rPr sz="800" dirty="0"/>
              <a:t>Cannot</a:t>
            </a:r>
            <a:r>
              <a:rPr sz="800" spc="-20" dirty="0"/>
              <a:t> </a:t>
            </a:r>
            <a:r>
              <a:rPr sz="800" dirty="0"/>
              <a:t>step</a:t>
            </a:r>
            <a:r>
              <a:rPr sz="800" spc="-20" dirty="0"/>
              <a:t> </a:t>
            </a:r>
            <a:r>
              <a:rPr sz="800" dirty="0"/>
              <a:t>back</a:t>
            </a:r>
            <a:r>
              <a:rPr sz="800" spc="-15" dirty="0"/>
              <a:t> </a:t>
            </a:r>
            <a:r>
              <a:rPr sz="800" dirty="0"/>
              <a:t>to</a:t>
            </a:r>
            <a:r>
              <a:rPr sz="800" spc="-20" dirty="0"/>
              <a:t> </a:t>
            </a:r>
            <a:r>
              <a:rPr sz="800" dirty="0"/>
              <a:t>an</a:t>
            </a:r>
            <a:r>
              <a:rPr sz="800" spc="-10" dirty="0"/>
              <a:t> </a:t>
            </a:r>
            <a:r>
              <a:rPr sz="800" dirty="0"/>
              <a:t>earlier</a:t>
            </a:r>
            <a:r>
              <a:rPr sz="800" spc="-20" dirty="0"/>
              <a:t> </a:t>
            </a:r>
            <a:r>
              <a:rPr sz="800" spc="-10" dirty="0"/>
              <a:t>configuration</a:t>
            </a:r>
            <a:r>
              <a:rPr sz="800" spc="-35" dirty="0"/>
              <a:t> </a:t>
            </a:r>
            <a:r>
              <a:rPr sz="800" dirty="0"/>
              <a:t>of</a:t>
            </a:r>
            <a:r>
              <a:rPr sz="800" spc="-5" dirty="0"/>
              <a:t> </a:t>
            </a:r>
            <a:r>
              <a:rPr sz="800" dirty="0"/>
              <a:t>a</a:t>
            </a:r>
            <a:r>
              <a:rPr sz="800" spc="-15" dirty="0"/>
              <a:t> </a:t>
            </a:r>
            <a:r>
              <a:rPr sz="800" spc="-10" dirty="0"/>
              <a:t>system</a:t>
            </a:r>
            <a:endParaRPr sz="800"/>
          </a:p>
          <a:p>
            <a:pPr marL="384810" indent="-143510">
              <a:lnSpc>
                <a:spcPct val="100000"/>
              </a:lnSpc>
              <a:spcBef>
                <a:spcPts val="190"/>
              </a:spcBef>
              <a:buChar char="–"/>
              <a:tabLst>
                <a:tab pos="384810" algn="l"/>
              </a:tabLst>
            </a:pPr>
            <a:r>
              <a:rPr sz="800" spc="-10" dirty="0"/>
              <a:t>Modification</a:t>
            </a:r>
            <a:r>
              <a:rPr sz="800" spc="10" dirty="0"/>
              <a:t> </a:t>
            </a:r>
            <a:r>
              <a:rPr sz="800" dirty="0"/>
              <a:t>to</a:t>
            </a:r>
            <a:r>
              <a:rPr sz="800" spc="25" dirty="0"/>
              <a:t> </a:t>
            </a:r>
            <a:r>
              <a:rPr sz="800" spc="-10" dirty="0"/>
              <a:t>Configuration</a:t>
            </a:r>
            <a:r>
              <a:rPr sz="800" spc="25" dirty="0"/>
              <a:t> </a:t>
            </a:r>
            <a:r>
              <a:rPr sz="800" spc="-10" dirty="0"/>
              <a:t>Directly</a:t>
            </a:r>
            <a:endParaRPr sz="800"/>
          </a:p>
        </p:txBody>
      </p:sp>
      <p:sp>
        <p:nvSpPr>
          <p:cNvPr id="17" name="object 17"/>
          <p:cNvSpPr txBox="1"/>
          <p:nvPr/>
        </p:nvSpPr>
        <p:spPr>
          <a:xfrm>
            <a:off x="1328674" y="1223518"/>
            <a:ext cx="282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Release</a:t>
            </a:r>
            <a:r>
              <a:rPr kumimoji="0" sz="1800" b="1" i="0" u="none" strike="noStrike" kern="0" cap="none" spc="-1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Antipatterns</a:t>
            </a:r>
            <a:r>
              <a:rPr kumimoji="0" sz="1800" b="1" i="0" u="none" strike="noStrike" kern="0" cap="none" spc="-10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Cond..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176324" y="967180"/>
            <a:ext cx="34156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Problems</a:t>
            </a:r>
            <a:r>
              <a:rPr spc="-10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Delivering</a:t>
            </a:r>
            <a:r>
              <a:rPr spc="-85" dirty="0"/>
              <a:t> </a:t>
            </a:r>
            <a:r>
              <a:rPr spc="-10" dirty="0"/>
              <a:t>Software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1" name="object 21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9" name="object 29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17321" y="4914646"/>
            <a:ext cx="3545204" cy="5283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1800"/>
              </a:lnSpc>
              <a:spcBef>
                <a:spcPts val="45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Five</a:t>
            </a: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different</a:t>
            </a:r>
            <a:r>
              <a:rPr kumimoji="0" sz="1800" b="1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categories</a:t>
            </a:r>
            <a:r>
              <a:rPr kumimoji="0" sz="1800" b="1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800" b="1" i="0" u="none" strike="noStrike" kern="0" cap="none" spc="-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8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DevOps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practices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28674" y="5598414"/>
            <a:ext cx="3983354" cy="1635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" marR="20320" lvl="0" indent="-17272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F1141"/>
              </a:buClr>
              <a:buSzTx/>
              <a:buFontTx/>
              <a:buChar char="•"/>
              <a:tabLst>
                <a:tab pos="184785" algn="l"/>
              </a:tabLst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Treat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Ops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first-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class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citizens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point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view</a:t>
            </a:r>
            <a:r>
              <a:rPr kumimoji="0" sz="12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requirements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84785" marR="520065" lvl="0" indent="-172720" defTabSz="914400" eaLnBrk="1" fontAlgn="auto" latinLnBrk="0" hangingPunct="1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rgbClr val="0F1141"/>
              </a:buClr>
              <a:buSzTx/>
              <a:buFontTx/>
              <a:buChar char="•"/>
              <a:tabLst>
                <a:tab pos="184785" algn="l"/>
              </a:tabLst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Make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more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responsible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relevant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incident handling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85420" marR="0" lvl="0" indent="-17272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F1141"/>
              </a:buClr>
              <a:buSzTx/>
              <a:buFontTx/>
              <a:buChar char="•"/>
              <a:tabLst>
                <a:tab pos="185420" algn="l"/>
              </a:tabLst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Enforce</a:t>
            </a:r>
            <a:r>
              <a:rPr kumimoji="0" sz="1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deployment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used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all,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including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84785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 and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Ops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personnel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86055" marR="0" lvl="0" indent="-173355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F1141"/>
              </a:buClr>
              <a:buSzTx/>
              <a:buFontTx/>
              <a:buChar char="•"/>
              <a:tabLst>
                <a:tab pos="186055" algn="l"/>
              </a:tabLst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continuous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deployment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86055" marR="0" lvl="0" indent="-173355" defTabSz="914400" eaLnBrk="1" fontAlgn="auto" latinLnBrk="0" hangingPunct="1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rgbClr val="0F1141"/>
              </a:buClr>
              <a:buSzTx/>
              <a:buFontTx/>
              <a:buChar char="•"/>
              <a:tabLst>
                <a:tab pos="186055" algn="l"/>
              </a:tabLst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infrastructure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code,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such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deployment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scripts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9648394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328674" y="1588744"/>
            <a:ext cx="389699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Create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Repeatable,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Reliable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11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Releasing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 Automate</a:t>
            </a:r>
            <a:r>
              <a:rPr kumimoji="0" sz="11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Almost</a:t>
            </a:r>
            <a:r>
              <a:rPr kumimoji="0" sz="11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Everything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Keep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Everything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Version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Control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110489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If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Hurts,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</a:t>
            </a: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More</a:t>
            </a:r>
            <a:r>
              <a:rPr kumimoji="0" sz="11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Frequently,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Bring</a:t>
            </a: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Pain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Forward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Build</a:t>
            </a:r>
            <a:r>
              <a:rPr kumimoji="0" sz="11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Quality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43815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“The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Earlier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 catch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defects,</a:t>
            </a:r>
            <a:r>
              <a:rPr kumimoji="0" sz="11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cheaper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fix”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Done,</a:t>
            </a:r>
            <a:r>
              <a:rPr kumimoji="0" sz="1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Means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Released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Everybody</a:t>
            </a:r>
            <a:r>
              <a:rPr kumimoji="0" sz="11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1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Responsible</a:t>
            </a:r>
            <a:r>
              <a:rPr kumimoji="0" sz="11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11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1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Delivery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Continuous</a:t>
            </a:r>
            <a:r>
              <a:rPr kumimoji="0" sz="11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Improvement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28674" y="945261"/>
            <a:ext cx="2326640" cy="5213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95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1" i="0" u="none" strike="noStrike" kern="0" cap="none" spc="-8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Principle</a:t>
            </a:r>
            <a:r>
              <a:rPr kumimoji="0" sz="1750" b="1" i="0" u="none" strike="noStrike" kern="0" cap="none" spc="-1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5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750" b="1" i="0" u="none" strike="noStrike" kern="0" cap="none" spc="-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75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Continuous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Delivery</a:t>
            </a:r>
            <a:endParaRPr kumimoji="0" sz="17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0" name="object 20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8" name="object 28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17321" y="5028946"/>
            <a:ext cx="7334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NetFlix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348354" y="7634732"/>
            <a:ext cx="21767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https://netflixtechblog.com/how-we-build- code-at-netflix-c5d9bd727f15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pic>
        <p:nvPicPr>
          <p:cNvPr id="33" name="object 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5365" y="5739751"/>
            <a:ext cx="4344289" cy="989370"/>
          </a:xfrm>
          <a:prstGeom prst="rect">
            <a:avLst/>
          </a:prstGeom>
        </p:spPr>
      </p:pic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05605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17321" y="1621663"/>
            <a:ext cx="6972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Facebook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20800" y="3824096"/>
            <a:ext cx="36887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https://netflixtechblog.com/how-we-build-code-at-netflix-c5d9bd727f15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0716" y="2002221"/>
            <a:ext cx="4259453" cy="1412821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1" name="object 21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9" name="object 29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17321" y="5028946"/>
            <a:ext cx="1028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Facebook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33" name="object 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8358" y="6039530"/>
            <a:ext cx="3947661" cy="1241631"/>
          </a:xfrm>
          <a:prstGeom prst="rect">
            <a:avLst/>
          </a:prstGeom>
        </p:spPr>
      </p:pic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4978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1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BITS</a:t>
            </a:r>
            <a:r>
              <a:rPr kumimoji="0" sz="550" b="1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Pilani,</a:t>
            </a:r>
            <a:r>
              <a:rPr kumimoji="0" sz="550" b="0" i="0" u="none" strike="noStrike" kern="0" cap="none" spc="-1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Pilani</a:t>
            </a:r>
            <a:r>
              <a:rPr kumimoji="0" sz="550" b="0" i="0" u="none" strike="noStrike" kern="0" cap="none" spc="-5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550" b="0" i="0" u="none" strike="noStrike" kern="0" cap="none" spc="-10" normalizeH="0" baseline="0" noProof="0" dirty="0">
                <a:ln>
                  <a:noFill/>
                </a:ln>
                <a:solidFill>
                  <a:srgbClr val="0F1141"/>
                </a:solidFill>
                <a:effectLst/>
                <a:uLnTx/>
                <a:uFillTx/>
                <a:latin typeface="Arial MT"/>
                <a:cs typeface="Arial MT"/>
              </a:rPr>
              <a:t>Campus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17321" y="1051941"/>
            <a:ext cx="9645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facebook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2436" y="2069071"/>
            <a:ext cx="3881004" cy="1441728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22860" rIns="0" bIns="0" rtlCol="0">
            <a:spAutoFit/>
          </a:bodyPr>
          <a:lstStyle/>
          <a:p>
            <a:pPr marL="347980" marR="581660" lvl="0" indent="0" defTabSz="914400" eaLnBrk="1" fontAlgn="auto" latinLnBrk="0" hangingPunct="1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0" cap="none" spc="-21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5</a:t>
            </a:r>
            <a:r>
              <a:rPr kumimoji="0" sz="1800" b="1" i="0" u="none" strike="noStrike" kern="0" cap="none" spc="-10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800" b="1" i="0" u="none" strike="noStrike" kern="0" cap="none" spc="-7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trends</a:t>
            </a:r>
            <a:r>
              <a:rPr kumimoji="0" sz="1800" b="1" i="0" u="none" strike="noStrike" kern="0" cap="none" spc="-11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800" b="1" i="0" u="none" strike="noStrike" kern="0" cap="none" spc="-7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that</a:t>
            </a:r>
            <a:r>
              <a:rPr kumimoji="0" sz="1800" b="1" i="0" u="none" strike="noStrike" kern="0" cap="none" spc="-10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800" b="1" i="0" u="none" strike="noStrike" kern="0" cap="none" spc="-9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are</a:t>
            </a:r>
            <a:r>
              <a:rPr kumimoji="0" sz="1800" b="1" i="0" u="none" strike="noStrike" kern="0" cap="none" spc="-9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800" b="1" i="0" u="none" strike="noStrike" kern="0" cap="none" spc="-5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influencing</a:t>
            </a:r>
            <a:r>
              <a:rPr kumimoji="0" sz="1800" b="1" i="0" u="none" strike="noStrike" kern="0" cap="none" spc="-9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800" b="1" i="0" u="none" strike="noStrike" kern="0" cap="none" spc="-6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the</a:t>
            </a:r>
            <a:r>
              <a:rPr kumimoji="0" sz="1800" b="1" i="0" u="none" strike="noStrike" kern="0" cap="none" spc="-9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adoptions </a:t>
            </a:r>
            <a:r>
              <a:rPr kumimoji="0" sz="1800" b="1" i="0" u="none" strike="noStrike" kern="0" cap="none" spc="-7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of</a:t>
            </a:r>
            <a:r>
              <a:rPr kumimoji="0" sz="1800" b="1" i="0" u="none" strike="noStrike" kern="0" cap="none" spc="-11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DevOps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125979" y="6108064"/>
            <a:ext cx="27940" cy="5080"/>
          </a:xfrm>
          <a:custGeom>
            <a:avLst/>
            <a:gdLst/>
            <a:ahLst/>
            <a:cxnLst/>
            <a:rect l="l" t="t" r="r" b="b"/>
            <a:pathLst>
              <a:path w="27939" h="5079">
                <a:moveTo>
                  <a:pt x="27431" y="0"/>
                </a:moveTo>
                <a:lnTo>
                  <a:pt x="0" y="0"/>
                </a:lnTo>
                <a:lnTo>
                  <a:pt x="0" y="4572"/>
                </a:lnTo>
                <a:lnTo>
                  <a:pt x="27431" y="4572"/>
                </a:lnTo>
                <a:lnTo>
                  <a:pt x="27431" y="0"/>
                </a:lnTo>
                <a:close/>
              </a:path>
            </a:pathLst>
          </a:custGeom>
          <a:solidFill>
            <a:srgbClr val="0462C1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3424" y="5743905"/>
            <a:ext cx="5221605" cy="20523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502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The DevOps</a:t>
            </a:r>
            <a:r>
              <a:rPr kumimoji="0" sz="8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 </a:t>
            </a:r>
            <a:r>
              <a:rPr kumimoji="0" sz="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process</a:t>
            </a:r>
            <a:r>
              <a:rPr kumimoji="0" sz="8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 </a:t>
            </a:r>
            <a:r>
              <a:rPr kumimoji="0" sz="8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involves </a:t>
            </a:r>
            <a:r>
              <a:rPr kumimoji="0" sz="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an</a:t>
            </a:r>
            <a:r>
              <a:rPr kumimoji="0" sz="8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 </a:t>
            </a:r>
            <a:r>
              <a:rPr kumimoji="0" sz="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amalgamation</a:t>
            </a:r>
            <a:r>
              <a:rPr kumimoji="0" sz="800" b="0" i="0" u="sng" strike="noStrike" kern="0" cap="none" spc="-6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 </a:t>
            </a:r>
            <a:r>
              <a:rPr kumimoji="0" sz="8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of</a:t>
            </a:r>
            <a:r>
              <a:rPr kumimoji="0" sz="800" b="0" i="0" u="sng" strike="noStrike" kern="0" cap="none" spc="-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 </a:t>
            </a:r>
            <a:r>
              <a:rPr kumimoji="0" sz="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software</a:t>
            </a:r>
            <a:r>
              <a:rPr kumimoji="0" sz="800" b="0" i="0" u="sng" strike="noStrike" kern="0" cap="none" spc="-4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 </a:t>
            </a:r>
            <a:r>
              <a:rPr kumimoji="0" sz="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development</a:t>
            </a:r>
            <a:r>
              <a:rPr kumimoji="0" sz="8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 </a:t>
            </a:r>
            <a:r>
              <a:rPr kumimoji="0" sz="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and</a:t>
            </a:r>
            <a:r>
              <a:rPr kumimoji="0" sz="8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 </a:t>
            </a:r>
            <a:r>
              <a:rPr kumimoji="0" sz="800" b="0" i="0" u="sng" strike="noStrike" kern="0" cap="none" spc="-7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IT</a:t>
            </a:r>
            <a:r>
              <a:rPr kumimoji="0" sz="8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 </a:t>
            </a:r>
            <a:r>
              <a:rPr kumimoji="0" sz="8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operations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.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The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major objective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is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to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reduce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the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system’s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development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life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cycle,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which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can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provide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high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software</a:t>
            </a:r>
            <a:r>
              <a:rPr kumimoji="0" sz="800" b="0" i="0" u="none" strike="noStrike" kern="0" cap="none" spc="-5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quality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along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with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continuous</a:t>
            </a:r>
            <a:r>
              <a:rPr kumimoji="0" sz="800" b="0" i="0" u="none" strike="noStrike" kern="0" cap="none" spc="2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delivery.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469265" marR="2626995" lvl="0" indent="0" defTabSz="914400" eaLnBrk="1" fontAlgn="auto" latinLnBrk="0" hangingPunct="1">
              <a:lnSpc>
                <a:spcPct val="242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3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Monolithic</a:t>
            </a:r>
            <a:r>
              <a:rPr kumimoji="0" sz="800" b="1" i="0" u="none" strike="noStrike" kern="0" cap="none" spc="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1" i="0" u="none" strike="noStrike" kern="0" cap="none" spc="-2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to</a:t>
            </a:r>
            <a:r>
              <a:rPr kumimoji="0" sz="800" b="1" i="0" u="none" strike="noStrike" kern="0" cap="none" spc="1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1" i="0" u="none" strike="noStrike" kern="0" cap="none" spc="-4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Microservice</a:t>
            </a:r>
            <a:r>
              <a:rPr kumimoji="0" sz="800" b="1" i="0" u="none" strike="noStrike" kern="0" cap="none" spc="-2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1" i="0" u="none" strike="noStrike" kern="0" cap="none" spc="-3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Architecture </a:t>
            </a:r>
            <a:r>
              <a:rPr kumimoji="0" sz="800" b="1" i="0" u="none" strike="noStrike" kern="0" cap="none" spc="-2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Cloud</a:t>
            </a:r>
            <a:r>
              <a:rPr kumimoji="0" sz="800" b="1" i="0" u="none" strike="noStrike" kern="0" cap="none" spc="-3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1" i="0" u="none" strike="noStrike" kern="0" cap="none" spc="-6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as</a:t>
            </a:r>
            <a:r>
              <a:rPr kumimoji="0" sz="800" b="1" i="0" u="none" strike="noStrike" kern="0" cap="none" spc="-3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1" i="0" u="none" strike="noStrike" kern="0" cap="none" spc="-1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default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469265" marR="2765425" lvl="0" indent="0" defTabSz="914400" eaLnBrk="1" fontAlgn="auto" latinLnBrk="0" hangingPunct="1">
              <a:lnSpc>
                <a:spcPct val="2424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4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Release</a:t>
            </a:r>
            <a:r>
              <a:rPr kumimoji="0" sz="800" b="1" i="0" u="none" strike="noStrike" kern="0" cap="none" spc="-3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and deployment</a:t>
            </a:r>
            <a:r>
              <a:rPr kumimoji="0" sz="800" b="1" i="0" u="none" strike="noStrike" kern="0" cap="none" spc="-1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1" i="0" u="none" strike="noStrike" kern="0" cap="none" spc="-3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automation Agile</a:t>
            </a:r>
            <a:r>
              <a:rPr kumimoji="0" sz="800" b="1" i="0" u="none" strike="noStrike" kern="0" cap="none" spc="-2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1" i="0" u="none" strike="noStrike" kern="0" cap="none" spc="-1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infrastructure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  <a:p>
            <a:pPr marL="469265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0" cap="none" spc="-10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AI</a:t>
            </a:r>
            <a:r>
              <a:rPr kumimoji="0" sz="800" b="1" i="0" u="none" strike="noStrike" kern="0" cap="none" spc="-4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1" i="0" u="none" strike="noStrike" kern="0" cap="none" spc="-30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and</a:t>
            </a:r>
            <a:r>
              <a:rPr kumimoji="0" sz="800" b="1" i="0" u="none" strike="noStrike" kern="0" cap="none" spc="-4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 </a:t>
            </a:r>
            <a:r>
              <a:rPr kumimoji="0" sz="800" b="1" i="0" u="none" strike="noStrike" kern="0" cap="none" spc="-35" normalizeH="0" baseline="0" noProof="0" dirty="0">
                <a:ln>
                  <a:noFill/>
                </a:ln>
                <a:solidFill>
                  <a:srgbClr val="202429"/>
                </a:solidFill>
                <a:effectLst/>
                <a:uLnTx/>
                <a:uFillTx/>
                <a:latin typeface="Verdana"/>
                <a:cs typeface="Verdana"/>
              </a:rPr>
              <a:t>ML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dana"/>
              <a:cs typeface="Verdan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43639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vert="horz" wrap="square" lIns="0" tIns="381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4798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In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DevOps</a:t>
            </a:r>
            <a:r>
              <a:rPr kumimoji="0" sz="1800" b="0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multiple</a:t>
            </a:r>
            <a:r>
              <a:rPr kumimoji="0" sz="1800" b="0" i="0" u="none" strike="noStrike" kern="0" cap="none" spc="-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tools</a:t>
            </a:r>
            <a:r>
              <a:rPr kumimoji="0" sz="18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are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used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few</a:t>
            </a:r>
            <a:r>
              <a:rPr kumimoji="0" sz="1800" b="0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of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them</a:t>
            </a:r>
            <a:r>
              <a:rPr kumimoji="0" sz="18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 </a:t>
            </a:r>
            <a:r>
              <a:rPr kumimoji="0" sz="1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/>
                <a:cs typeface="Segoe UI Light"/>
              </a:rPr>
              <a:t>are: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 Light"/>
              <a:cs typeface="Segoe U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424" y="1845309"/>
            <a:ext cx="5306695" cy="2105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Git</a:t>
            </a:r>
            <a:r>
              <a:rPr kumimoji="0" sz="1200" b="1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-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For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Version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control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system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10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React/Flask/Django</a:t>
            </a:r>
            <a:r>
              <a:rPr kumimoji="0" sz="1200" b="1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or</a:t>
            </a:r>
            <a:r>
              <a:rPr kumimoji="0" sz="12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any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other</a:t>
            </a:r>
            <a:r>
              <a:rPr kumimoji="0" sz="12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webframework</a:t>
            </a:r>
            <a:r>
              <a:rPr kumimoji="0" sz="1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or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techsta</a:t>
            </a:r>
            <a:r>
              <a:rPr kumimoji="0" sz="12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k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-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For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building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web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app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Docker</a:t>
            </a:r>
            <a:r>
              <a:rPr kumimoji="0" sz="12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For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Containerizing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,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Building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image,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deployment.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Kubernetes</a:t>
            </a:r>
            <a:r>
              <a:rPr kumimoji="0" sz="12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-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For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Management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of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containers.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GitHub/Gitlab</a:t>
            </a:r>
            <a:r>
              <a:rPr kumimoji="0" sz="1200" b="1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-</a:t>
            </a:r>
            <a:r>
              <a:rPr kumimoji="0" sz="12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For</a:t>
            </a:r>
            <a:r>
              <a:rPr kumimoji="0" sz="12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CI/CD(Continuous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Integration/Continuous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Deployment)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1000" y="4844732"/>
            <a:ext cx="6096000" cy="3429635"/>
            <a:chOff x="381000" y="4844732"/>
            <a:chExt cx="6096000" cy="3429635"/>
          </a:xfrm>
        </p:grpSpPr>
        <p:sp>
          <p:nvSpPr>
            <p:cNvPr id="6" name="object 6"/>
            <p:cNvSpPr/>
            <p:nvPr/>
          </p:nvSpPr>
          <p:spPr>
            <a:xfrm>
              <a:off x="381000" y="4844732"/>
              <a:ext cx="6096000" cy="666750"/>
            </a:xfrm>
            <a:custGeom>
              <a:avLst/>
              <a:gdLst/>
              <a:ahLst/>
              <a:cxnLst/>
              <a:rect l="l" t="t" r="r" b="b"/>
              <a:pathLst>
                <a:path w="6096000" h="666750">
                  <a:moveTo>
                    <a:pt x="6096000" y="0"/>
                  </a:moveTo>
                  <a:lnTo>
                    <a:pt x="0" y="0"/>
                  </a:lnTo>
                  <a:lnTo>
                    <a:pt x="0" y="666432"/>
                  </a:lnTo>
                  <a:lnTo>
                    <a:pt x="6096000" y="666432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2213" y="4844796"/>
              <a:ext cx="2433574" cy="34290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29924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867" y="1140205"/>
            <a:ext cx="5945132" cy="29277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668" y="5099847"/>
            <a:ext cx="5209475" cy="29623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381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91417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8916" y="1345616"/>
            <a:ext cx="2512695" cy="8089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Misconceptions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Dimensions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Misconceptions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Antipatterns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Three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Dimensions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DevOps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424" y="1001014"/>
            <a:ext cx="762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Agenda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23793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Misconceptions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9017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4920615" cy="14262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Only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Involves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Developers</a:t>
            </a:r>
            <a:r>
              <a:rPr kumimoji="0" sz="1000" b="1" i="0" u="none" strike="noStrike" kern="0" cap="none" spc="-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1" i="0" u="none" strike="noStrike" kern="0" cap="none" spc="-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System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Administrators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name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indicates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Operations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90525" algn="l"/>
              </a:tabLst>
              <a:defRPr/>
            </a:pP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However</a:t>
            </a:r>
            <a:r>
              <a:rPr kumimoji="0" sz="9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9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Truth</a:t>
            </a:r>
            <a:r>
              <a:rPr kumimoji="0" sz="9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tagline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bring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operations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together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concepts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ideas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 include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within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There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definitive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list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which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individuals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should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involved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Any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within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should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considered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candidate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DevOps,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may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include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security,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QA, support,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legal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31324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Misconceptions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Contd..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221605" cy="142621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Creating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called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DevOps,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Renaming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existing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neither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necessary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sufficient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creating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 culture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90525" algn="l"/>
              </a:tabLst>
              <a:defRPr/>
            </a:pP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However</a:t>
            </a:r>
            <a:r>
              <a:rPr kumimoji="0" sz="9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truth</a:t>
            </a:r>
            <a:r>
              <a:rPr kumimoji="0" sz="9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additional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likely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cause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more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communication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issues,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fewer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operations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must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connect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frequently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should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together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startup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environment,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having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single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encompasses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both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functions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31324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Misconceptions</a:t>
            </a:r>
            <a:r>
              <a:rPr kumimoji="0" sz="1600" b="1" i="0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Contd..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9017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4838700" cy="15906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Job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Title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“DevOps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engineer”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job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title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started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controversial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debate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job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title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been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described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various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ways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administrator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who</a:t>
            </a:r>
            <a:r>
              <a:rPr kumimoji="0" sz="9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also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knows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how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write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knows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basics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administration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90525" algn="l"/>
              </a:tabLst>
              <a:defRPr/>
            </a:pP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However</a:t>
            </a:r>
            <a:r>
              <a:rPr kumimoji="0" sz="9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truth</a:t>
            </a:r>
            <a:r>
              <a:rPr kumimoji="0" sz="9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 it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makes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sense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become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more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specialized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their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job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  <a:tab pos="422909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	DevOps 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core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 cultural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movement,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ideas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principles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need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used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throughout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entire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organizations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order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effective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31324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Misconceptions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Contd..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167630" cy="109728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Need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Certification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Certification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exams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knowledge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where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there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clear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right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wrong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answers,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which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generally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90525" algn="l"/>
              </a:tabLst>
              <a:defRPr/>
            </a:pP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However</a:t>
            </a:r>
            <a:r>
              <a:rPr kumimoji="0" sz="9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truth</a:t>
            </a:r>
            <a:r>
              <a:rPr kumimoji="0" sz="9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significant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part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 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about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culture: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how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certify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culture?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doesn’t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required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technology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size-fits-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solutions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31324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Misconceptions</a:t>
            </a:r>
            <a:r>
              <a:rPr kumimoji="0" sz="1600" b="1" i="0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Contd..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9017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5203190" cy="15494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Means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Doing</a:t>
            </a:r>
            <a:r>
              <a:rPr kumimoji="0" sz="1000" b="1" i="0" u="none" strike="noStrike" kern="0" cap="none" spc="-4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1000" b="1" i="0" u="none" strike="noStrike" kern="0" cap="none" spc="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Work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Half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People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ts val="1025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Get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both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developer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administrator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person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 one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person’s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0" lvl="0" indent="0" defTabSz="914400" eaLnBrk="1" fontAlgn="auto" latinLnBrk="0" hangingPunct="1">
              <a:lnSpc>
                <a:spcPts val="10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salary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90525" algn="l"/>
              </a:tabLst>
              <a:defRPr/>
            </a:pP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However</a:t>
            </a:r>
            <a:r>
              <a:rPr kumimoji="0" sz="9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truth</a:t>
            </a:r>
            <a:r>
              <a:rPr kumimoji="0" sz="9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only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above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perception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incorrect,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often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harmful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10160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At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time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startups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offering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perks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such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three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meals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day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office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on-site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laundry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way 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encouraging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doesn’t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save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money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halving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number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engineers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company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needs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Rather,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allows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increase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quality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efficiency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their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31324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Misconceptions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Contd..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226050" cy="17970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000" b="1" i="0" u="none" strike="noStrike" kern="0" cap="none" spc="-6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About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Automation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1160" marR="231775" lvl="0" indent="-114300" defTabSz="914400" eaLnBrk="1" fontAlgn="auto" latinLnBrk="0" hangingPunct="1">
              <a:lnSpc>
                <a:spcPts val="969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Many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innovations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DevOps-adjacent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help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codify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understanding,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bridging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gaps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between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increasing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velocity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through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102235" lvl="0" indent="-114300" defTabSz="914400" eaLnBrk="1" fontAlgn="auto" latinLnBrk="0" hangingPunct="1">
              <a:lnSpc>
                <a:spcPts val="969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Practitioners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focused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eliminate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tasks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boring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repetitive,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such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as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infrastructure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automation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continuous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integration.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90525" algn="l"/>
              </a:tabLst>
              <a:defRPr/>
            </a:pP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However</a:t>
            </a:r>
            <a:r>
              <a:rPr kumimoji="0" sz="9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truth </a:t>
            </a:r>
            <a:r>
              <a:rPr kumimoji="0" sz="9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both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these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above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cases,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result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improved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technology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456565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Automating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repetitive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tasks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will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help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human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9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having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them,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that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automation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helps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person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 more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efficiently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Example: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Automating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server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builds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saves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hours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server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 a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administrator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then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spend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interesting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challenging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31324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Misconceptions</a:t>
            </a:r>
            <a:r>
              <a:rPr kumimoji="0" sz="1600" b="1" i="0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Contd..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5220970" cy="19570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FAD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It’s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Buzzword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Market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Just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new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word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place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390525" algn="l"/>
              </a:tabLst>
              <a:defRPr/>
            </a:pP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However</a:t>
            </a:r>
            <a:r>
              <a:rPr kumimoji="0" sz="9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truth</a:t>
            </a:r>
            <a:r>
              <a:rPr kumimoji="0" sz="9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is: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1160" marR="305435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specific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technology,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tool,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however,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 is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movement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about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improving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organizational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effectiveness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individual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employee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happiness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primary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differences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between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methodologies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like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ITIL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does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strict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definition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movement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defined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stories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ideas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individuals,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teams,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organizations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evolution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processes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ideas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lead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growth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change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5080" lvl="1" indent="-114300" defTabSz="914400" eaLnBrk="1" fontAlgn="auto" latinLnBrk="0" hangingPunct="1">
              <a:lnSpc>
                <a:spcPts val="86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Harnessing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leveraging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effective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 will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lead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growth and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evolution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tools,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technology,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and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processes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78679" y="4844770"/>
            <a:ext cx="1798320" cy="1067587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017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9017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868680"/>
            <a:ext cx="6096000" cy="3429000"/>
            <a:chOff x="381000" y="868680"/>
            <a:chExt cx="6096000" cy="342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" y="4277390"/>
              <a:ext cx="6096000" cy="2028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948905"/>
              <a:ext cx="5334000" cy="38218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868680"/>
              <a:ext cx="6096000" cy="3397123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21075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Anti-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Patterns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3178" y="5611148"/>
            <a:ext cx="4918075" cy="171005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6364" marR="0" lvl="0" indent="-113664" defTabSz="91440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6364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Blame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Culture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55600" marR="184785" lvl="1" indent="-114300" defTabSz="914400" eaLnBrk="1" fontAlgn="auto" latinLnBrk="0" hangingPunct="1">
              <a:lnSpc>
                <a:spcPts val="86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5600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blame</a:t>
            </a:r>
            <a:r>
              <a:rPr kumimoji="0" sz="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culture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tends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toward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blaming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punishing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when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mistakes</a:t>
            </a:r>
            <a:r>
              <a:rPr kumimoji="0" sz="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made,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either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at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individual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organizational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level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6364" marR="0" lvl="0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6364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Silos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55600" marR="408305" lvl="1" indent="-114300" defTabSz="914400" eaLnBrk="1" fontAlgn="auto" latinLnBrk="0" hangingPunct="1">
              <a:lnSpc>
                <a:spcPts val="86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5600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departmental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organizational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silo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describes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mentality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 teams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share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their knowledge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other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same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company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6364" marR="0" lvl="0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6364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Root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Cause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Analysis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55600" marR="118110" lvl="1" indent="-114300" defTabSz="914400" eaLnBrk="1" fontAlgn="auto" latinLnBrk="0" hangingPunct="1">
              <a:lnSpc>
                <a:spcPts val="86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560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Root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cause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analysis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(RCA)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method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identify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contributing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“root”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causes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events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near- misses/close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calls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appropriate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actions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 prevent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recurrence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6364" marR="0" lvl="0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6364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Human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Errors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55600" marR="5080" lvl="1" indent="-114300" defTabSz="914400" eaLnBrk="1" fontAlgn="auto" latinLnBrk="0" hangingPunct="1">
              <a:lnSpc>
                <a:spcPts val="86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560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Human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error,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the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idea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human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being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made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mistake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directly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caused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failure,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often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cited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root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cause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root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cause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analysis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4855" y="958916"/>
            <a:ext cx="4277123" cy="313367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3424" y="4977460"/>
            <a:ext cx="28270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Three</a:t>
            </a:r>
            <a:r>
              <a:rPr kumimoji="0" sz="16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dimensions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6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8916" y="5322934"/>
            <a:ext cx="1344295" cy="8089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3-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000" b="1" i="0" u="none" strike="noStrike" kern="0" cap="none" spc="-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/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Technology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45163" y="5753861"/>
            <a:ext cx="2550988" cy="240938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608321" y="6161278"/>
            <a:ext cx="82232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People</a:t>
            </a:r>
            <a:endParaRPr kumimoji="0" sz="2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95340" y="7284466"/>
            <a:ext cx="6299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Tools</a:t>
            </a:r>
            <a:endParaRPr kumimoji="0" sz="2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72610" y="7284466"/>
            <a:ext cx="91059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Process</a:t>
            </a:r>
            <a:endParaRPr kumimoji="0" sz="2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35367" y="7314448"/>
            <a:ext cx="139700" cy="544195"/>
          </a:xfrm>
          <a:prstGeom prst="rect">
            <a:avLst/>
          </a:prstGeom>
        </p:spPr>
        <p:txBody>
          <a:bodyPr vert="vert270" wrap="square" lIns="0" tIns="317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rgbClr val="538235"/>
                </a:solidFill>
                <a:effectLst/>
                <a:uLnTx/>
                <a:uFillTx/>
                <a:latin typeface="Arial MT"/>
                <a:cs typeface="Arial MT"/>
              </a:rPr>
              <a:t>Automation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90008" y="7090029"/>
            <a:ext cx="30162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001F5F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4039" y="879602"/>
            <a:ext cx="5127116" cy="341807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3424" y="4977460"/>
            <a:ext cx="25279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What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600" b="0" i="0" u="none" strike="noStrike" kern="0" cap="none" spc="-1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Methodology?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3178" y="5605866"/>
            <a:ext cx="5068570" cy="75819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5095" marR="0" lvl="0" indent="-112395" defTabSz="914400" eaLnBrk="1" fontAlgn="auto" latinLnBrk="0" hangingPunct="1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5095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methodology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iterative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approach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5730" marR="0" lvl="0" indent="-113030" defTabSz="914400" eaLnBrk="1" fontAlgn="auto" latinLnBrk="0" hangingPunct="1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573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Each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iteration of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methodology takes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short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time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interval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4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weeks.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5730" marR="0" lvl="0" indent="-113030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573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aligned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deliver the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changing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business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requirement.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5730" marR="0" lvl="0" indent="-113030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573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distributes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faster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fewer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changes.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3178" y="6369558"/>
            <a:ext cx="69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•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9886" y="6394703"/>
            <a:ext cx="3499485" cy="14224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single-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phase</a:t>
            </a:r>
            <a:r>
              <a:rPr kumimoji="0" sz="10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takes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6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18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months.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3178" y="6552438"/>
            <a:ext cx="5283200" cy="68072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5730" marR="107950" lvl="0" indent="-113030" defTabSz="914400" eaLnBrk="1" fontAlgn="auto" latinLnBrk="0" hangingPunct="1">
              <a:lnSpc>
                <a:spcPts val="108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single-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phase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development,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requirement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gathering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risks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management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factors 	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predicted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initially.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5730" marR="0" lvl="0" indent="-113030" defTabSz="91440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573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frequently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takes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feedback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workable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product.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5730" marR="0" lvl="0" indent="-113030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573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workable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product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delivered</a:t>
            </a:r>
            <a:r>
              <a:rPr kumimoji="0" sz="10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within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4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weeks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iteration.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3266" y="986049"/>
            <a:ext cx="3829724" cy="323190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33424" y="4977460"/>
            <a:ext cx="29400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Roles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1600" b="0" i="0" u="none" strike="noStrike" kern="0" cap="none" spc="-1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Agile: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1.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Scrum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Master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8916" y="5409057"/>
            <a:ext cx="5474335" cy="2341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There</a:t>
            </a:r>
            <a:r>
              <a:rPr kumimoji="0" sz="950" b="0" i="0" u="none" strike="noStrike" kern="0" cap="none" spc="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are two</a:t>
            </a:r>
            <a:r>
              <a:rPr kumimoji="0" sz="950" b="0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different</a:t>
            </a:r>
            <a:r>
              <a:rPr kumimoji="0" sz="950" b="0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roles</a:t>
            </a:r>
            <a:r>
              <a:rPr kumimoji="0" sz="950" b="0" i="0" u="none" strike="noStrike" kern="0" cap="none" spc="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50" b="0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50" b="0" i="0" u="none" strike="noStrike" kern="0" cap="none" spc="-6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950" b="0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 methodology.</a:t>
            </a:r>
            <a:r>
              <a:rPr kumimoji="0" sz="950" b="0" i="0" u="none" strike="noStrike" kern="0" cap="none" spc="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These</a:t>
            </a:r>
            <a:r>
              <a:rPr kumimoji="0" sz="950" b="0" i="0" u="none" strike="noStrike" kern="0" cap="none" spc="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are the</a:t>
            </a:r>
            <a:r>
              <a:rPr kumimoji="0" sz="950" b="0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Scrum</a:t>
            </a:r>
            <a:r>
              <a:rPr kumimoji="0" sz="950" b="0" i="0" u="none" strike="noStrike" kern="0" cap="none" spc="-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Master</a:t>
            </a:r>
            <a:r>
              <a:rPr kumimoji="0" sz="950" b="0" i="0" u="none" strike="noStrike" kern="0" cap="none" spc="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50" b="0" i="0" u="none" strike="noStrike" kern="0" cap="none" spc="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50" b="0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Product</a:t>
            </a:r>
            <a:r>
              <a:rPr kumimoji="0" sz="950" b="0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 MT"/>
                <a:cs typeface="Arial MT"/>
              </a:rPr>
              <a:t> Owner.</a:t>
            </a:r>
            <a:endParaRPr kumimoji="0" sz="9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353060" lvl="0" indent="-114300" defTabSz="914400" eaLnBrk="1" fontAlgn="auto" latinLnBrk="0" hangingPunct="1">
              <a:lnSpc>
                <a:spcPct val="90100"/>
              </a:lnSpc>
              <a:spcBef>
                <a:spcPts val="78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Scrum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Master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leader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facility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provider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who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helps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member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follow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practices,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member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meets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their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commitments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customers requirements.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scrum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master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plays the following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responsibilities: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 enable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close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co-operation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between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functions.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remove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blocks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which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occur.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safeguard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any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disturbances.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track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progress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company.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ensure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Inspect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&amp;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Adapt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processes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leveraged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correctly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which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includes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Planned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meetings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Daily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stand-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ups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Demo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Review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Retrospective</a:t>
            </a:r>
            <a:r>
              <a:rPr kumimoji="0" sz="8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meetings,</a:t>
            </a:r>
            <a:r>
              <a:rPr kumimoji="0" sz="8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Facilitate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meetings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decision-making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process.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29959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Roles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1600" b="0" i="0" u="none" strike="noStrike" kern="0" cap="none" spc="-11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Agile: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2.</a:t>
            </a:r>
            <a:r>
              <a:rPr kumimoji="0" sz="16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Product</a:t>
            </a:r>
            <a:r>
              <a:rPr kumimoji="0" sz="1600" b="1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Owner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424" y="1501266"/>
            <a:ext cx="5201920" cy="130302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5730" marR="5080" lvl="0" indent="-113030" defTabSz="914400" eaLnBrk="1" fontAlgn="auto" latinLnBrk="0" hangingPunct="1">
              <a:lnSpc>
                <a:spcPts val="108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Product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Owner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who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runs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product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business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perspective.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Product 	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Owner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plays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following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responsibilities: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54965" marR="0" lvl="1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defines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requirements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prioritizes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their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values.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54965" marR="0" lvl="1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sets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release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date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contents.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54965" marR="0" lvl="1" indent="-113664" defTabSz="91440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takes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active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iteration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releasing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planning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meetings.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54965" marR="0" lvl="1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ensures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working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most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valued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requirement.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54965" marR="0" lvl="1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represents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voice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customer.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54965" marR="0" lvl="1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accepts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stories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meet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definition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 done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defined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acceptance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criteria.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19989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Cross-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functional</a:t>
            </a:r>
            <a:r>
              <a:rPr kumimoji="0" sz="1600" b="0" i="0" u="none" strike="noStrike" kern="0" cap="none" spc="-8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0427" y="5866257"/>
            <a:ext cx="2384425" cy="152082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0" marR="241935" lvl="0" indent="-114300" defTabSz="914400" eaLnBrk="1" fontAlgn="auto" latinLnBrk="0" hangingPunct="1">
              <a:lnSpc>
                <a:spcPts val="969"/>
              </a:lnSpc>
              <a:spcBef>
                <a:spcPts val="2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Every agile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contains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self-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sufficient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5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9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members.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0" marR="160020" lvl="0" indent="-114300" defTabSz="914400" eaLnBrk="1" fontAlgn="auto" latinLnBrk="0" hangingPunct="1">
              <a:lnSpc>
                <a:spcPts val="969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average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experience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each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member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ranges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6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10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years.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0" marR="5080" lvl="0" indent="-114300" defTabSz="914400" eaLnBrk="1" fontAlgn="auto" latinLnBrk="0" hangingPunct="1">
              <a:lnSpc>
                <a:spcPts val="969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contains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3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4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developers,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tester,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 technical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lead,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scrum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master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and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product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owner.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0" marR="85725" lvl="0" indent="-114300" algn="just" defTabSz="914400" eaLnBrk="1" fontAlgn="auto" latinLnBrk="0" hangingPunct="1">
              <a:lnSpc>
                <a:spcPts val="969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Scrum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master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Product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owner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considered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part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Interface,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other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hand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remaining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members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part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Technical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Interface.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44529" y="5406933"/>
            <a:ext cx="2942051" cy="2293802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3048507"/>
            <a:ext cx="6096000" cy="1249680"/>
            <a:chOff x="381000" y="3048507"/>
            <a:chExt cx="6096000" cy="12496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" y="4277390"/>
              <a:ext cx="6096000" cy="2028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80053" y="3048507"/>
              <a:ext cx="2194814" cy="1249171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33424" y="1001014"/>
            <a:ext cx="32442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How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1600" b="0" i="0" u="none" strike="noStrike" kern="0" cap="none" spc="-11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plan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their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work?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6381" y="1451610"/>
            <a:ext cx="4894580" cy="159512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5730" marR="19685" lvl="0" indent="-113030" defTabSz="914400" eaLnBrk="1" fontAlgn="auto" latinLnBrk="0" hangingPunct="1">
              <a:lnSpc>
                <a:spcPts val="108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1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methodology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specific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set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ceremonies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specific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 	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techniques.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Rather,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group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methodologies that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demonstrate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commitment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 	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tight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feedback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cycles and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continuous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improvement.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5730" marR="306705" lvl="0" indent="-113030" defTabSz="914400" eaLnBrk="1" fontAlgn="auto" latinLnBrk="0" hangingPunct="1">
              <a:lnSpc>
                <a:spcPts val="1080"/>
              </a:lnSpc>
              <a:spcBef>
                <a:spcPts val="36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1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works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iterations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deliver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customer</a:t>
            </a: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requirement,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each 	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iteration takes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10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15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days.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5730" marR="5080" lvl="0" indent="-113030" defTabSz="914400" eaLnBrk="1" fontAlgn="auto" latinLnBrk="0" hangingPunct="1">
              <a:lnSpc>
                <a:spcPts val="1080"/>
              </a:lnSpc>
              <a:spcBef>
                <a:spcPts val="35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However,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original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Manifesto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didn't set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time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period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two-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week</a:t>
            </a:r>
            <a:r>
              <a:rPr kumimoji="0" sz="10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iterations 	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ideal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size.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5730" marR="0" lvl="0" indent="-113030" defTabSz="91440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573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Each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user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requirement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planned</a:t>
            </a:r>
            <a:r>
              <a:rPr kumimoji="0" sz="10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based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their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backlog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prioritization</a:t>
            </a:r>
            <a:r>
              <a:rPr kumimoji="0" sz="10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size.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5730" marR="138430" lvl="0" indent="-113030" defTabSz="914400" eaLnBrk="1" fontAlgn="auto" latinLnBrk="0" hangingPunct="1">
              <a:lnSpc>
                <a:spcPts val="108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decides, how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much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scope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 and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how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many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hours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available</a:t>
            </a:r>
            <a:r>
              <a:rPr kumimoji="0" sz="10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 	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each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perform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their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planed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task.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81000" y="6365227"/>
            <a:ext cx="6096000" cy="1908810"/>
            <a:chOff x="381000" y="6365227"/>
            <a:chExt cx="6096000" cy="190881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" y="8253506"/>
              <a:ext cx="6096000" cy="2028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63734" y="6365227"/>
              <a:ext cx="2338387" cy="1866900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67308" y="4977460"/>
            <a:ext cx="4830445" cy="1156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8435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What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user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requirement?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0" marR="5080" lvl="0" indent="-114300" defTabSz="914400" eaLnBrk="1" fontAlgn="auto" latinLnBrk="0" hangingPunct="1">
              <a:lnSpc>
                <a:spcPts val="1300"/>
              </a:lnSpc>
              <a:spcBef>
                <a:spcPts val="15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user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requirement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defines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requirements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user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terms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of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functionalities.</a:t>
            </a:r>
            <a:r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There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may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 of two</a:t>
            </a:r>
            <a:r>
              <a:rPr kumimoji="0" sz="12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type</a:t>
            </a:r>
            <a:r>
              <a:rPr kumimoji="0" sz="12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functionality.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412115" marR="0" lvl="1" indent="-170815" defTabSz="91440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412115" algn="l"/>
              </a:tabLst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1000" b="1" i="0" u="none" strike="noStrike" kern="0" cap="none" spc="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&lt;User</a:t>
            </a:r>
            <a:r>
              <a:rPr kumimoji="0" sz="1000" b="1" i="0" u="none" strike="noStrike" kern="0" cap="none" spc="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Role&gt;</a:t>
            </a:r>
            <a:r>
              <a:rPr kumimoji="0" sz="1000" b="1" i="0" u="none" strike="noStrike" kern="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I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want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&lt;Functionality&gt;</a:t>
            </a:r>
            <a:r>
              <a:rPr kumimoji="0" sz="1000" b="1" i="0" u="none" strike="noStrike" kern="0" cap="none" spc="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so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that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&lt;Business</a:t>
            </a:r>
            <a:r>
              <a:rPr kumimoji="0" sz="1000" b="1" i="0" u="none" strike="noStrike" kern="0" cap="none" spc="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Value&gt;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412115" marR="0" lvl="1" indent="-170815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412115" algn="l"/>
              </a:tabLst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order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&lt;Business</a:t>
            </a:r>
            <a:r>
              <a:rPr kumimoji="0" sz="1000" b="1" i="0" u="none" strike="noStrike" kern="0" cap="none" spc="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value&gt;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1000" b="1" i="0" u="none" strike="noStrike" kern="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&lt;User Role&gt;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I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want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&lt;Functionality&gt;.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34867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What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Software</a:t>
            </a:r>
            <a:r>
              <a:rPr kumimoji="0" sz="1600" b="0" i="0" u="none" strike="noStrike" kern="0" cap="none" spc="-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Acceptance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Criteria?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9866" y="1668729"/>
            <a:ext cx="5080000" cy="94932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20320" rIns="0" bIns="0" rtlCol="0">
            <a:spAutoFit/>
          </a:bodyPr>
          <a:lstStyle/>
          <a:p>
            <a:pPr marL="160020" marR="594995" lvl="0" indent="-114300" defTabSz="914400" eaLnBrk="1" fontAlgn="auto" latinLnBrk="0" hangingPunct="1">
              <a:lnSpc>
                <a:spcPts val="1300"/>
              </a:lnSpc>
              <a:spcBef>
                <a:spcPts val="16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0020" algn="l"/>
              </a:tabLst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Acceptance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Criteria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defined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functionality,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behavior,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performance</a:t>
            </a:r>
            <a:r>
              <a:rPr kumimoji="0" sz="1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required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product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owner.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60020" marR="0" lvl="0" indent="-114300" defTabSz="914400" eaLnBrk="1" fontAlgn="auto" latinLnBrk="0" hangingPunct="1">
              <a:lnSpc>
                <a:spcPts val="137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60020" algn="l"/>
              </a:tabLst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defines</a:t>
            </a:r>
            <a:r>
              <a:rPr kumimoji="0" sz="1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what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done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developer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knows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when</a:t>
            </a:r>
            <a:r>
              <a:rPr kumimoji="0" sz="12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user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60020" marR="0" lvl="0" indent="0" defTabSz="914400" eaLnBrk="1" fontAlgn="auto" latinLnBrk="0" hangingPunct="1">
              <a:lnSpc>
                <a:spcPts val="137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requirement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complete.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81000" y="4925021"/>
            <a:ext cx="6076950" cy="3251200"/>
            <a:chOff x="381000" y="4925021"/>
            <a:chExt cx="6076950" cy="325120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4925021"/>
              <a:ext cx="5334000" cy="38218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4925123"/>
              <a:ext cx="6076569" cy="3250946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8916" y="1001014"/>
            <a:ext cx="5496560" cy="2674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Agenda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Agile</a:t>
            </a:r>
            <a:r>
              <a:rPr kumimoji="0" sz="1000" b="1" i="0" u="none" strike="noStrike" kern="0" cap="none" spc="-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Methodology</a:t>
            </a:r>
            <a:r>
              <a:rPr kumimoji="0" sz="1000" b="1" i="0" u="none" strike="noStrike" kern="0" cap="none" spc="-6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SCRUM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1160" marR="222250" lvl="0" indent="-114300" defTabSz="914400" eaLnBrk="1" fontAlgn="auto" latinLnBrk="0" hangingPunct="1">
              <a:lnSpc>
                <a:spcPts val="1300"/>
              </a:lnSpc>
              <a:spcBef>
                <a:spcPts val="7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Scrum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agile</a:t>
            </a:r>
            <a:r>
              <a:rPr kumimoji="0" sz="12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kumimoji="0" sz="12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development</a:t>
            </a:r>
            <a:r>
              <a:rPr kumimoji="0" sz="1200" b="0" i="0" u="sng" strike="noStrike" kern="0" cap="none" spc="-3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kumimoji="0" sz="12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methodology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used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based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iterative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incremental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processes.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209550" lvl="0" indent="-114300" defTabSz="914400" eaLnBrk="1" fontAlgn="auto" latinLnBrk="0" hangingPunct="1">
              <a:lnSpc>
                <a:spcPct val="90100"/>
              </a:lnSpc>
              <a:spcBef>
                <a:spcPts val="40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Scrum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adaptable,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fast,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flexible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effective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framework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designed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deliver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value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customer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throughout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project.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algn="just" defTabSz="914400" eaLnBrk="1" fontAlgn="auto" latinLnBrk="0" hangingPunct="1">
              <a:lnSpc>
                <a:spcPts val="13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primary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objective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Scrum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2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satisfy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customer’s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need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through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environment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transparency</a:t>
            </a:r>
            <a:r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communication,</a:t>
            </a:r>
            <a:r>
              <a:rPr kumimoji="0" sz="12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collective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responsibility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and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continuous</a:t>
            </a:r>
            <a:r>
              <a:rPr kumimoji="0" sz="12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progress.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13970" lvl="0" indent="-114300" defTabSz="914400" eaLnBrk="1" fontAlgn="auto" latinLnBrk="0" hangingPunct="1">
              <a:lnSpc>
                <a:spcPts val="1300"/>
              </a:lnSpc>
              <a:spcBef>
                <a:spcPts val="4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starts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general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idea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what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needs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built,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elaborating</a:t>
            </a:r>
            <a:r>
              <a:rPr kumimoji="0" sz="1200" b="0" i="0" u="none" strike="noStrike" kern="0" cap="none" spc="-3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list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characteristics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ordered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priority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(product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backlog)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that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owner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product</a:t>
            </a:r>
            <a:r>
              <a:rPr kumimoji="0" sz="1200" b="0" i="0" u="none" strike="noStrike" kern="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wants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200" b="0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obtain.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21145" y="5202644"/>
            <a:ext cx="4442030" cy="283560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28111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Scrum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Methodology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&amp;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4131" y="1499575"/>
            <a:ext cx="5309870" cy="169989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5095" marR="0" lvl="0" indent="-112395" defTabSz="914400" eaLnBrk="1" fontAlgn="auto" latinLnBrk="0" hangingPunct="1">
              <a:lnSpc>
                <a:spcPct val="100000"/>
              </a:lnSpc>
              <a:spcBef>
                <a:spcPts val="34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5095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Scrum</a:t>
            </a: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precisely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evolution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0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Management.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5730" marR="357505" lvl="0" indent="-113030" defTabSz="914400" eaLnBrk="1" fontAlgn="auto" latinLnBrk="0" hangingPunct="1">
              <a:lnSpc>
                <a:spcPts val="1080"/>
              </a:lnSpc>
              <a:spcBef>
                <a:spcPts val="38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Scrum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methodology is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based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set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very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defined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practices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roles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must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 	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involved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during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5730" marR="5080" lvl="0" indent="-113030" defTabSz="914400" eaLnBrk="1" fontAlgn="auto" latinLnBrk="0" hangingPunct="1">
              <a:lnSpc>
                <a:spcPts val="108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flexible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methodology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rewards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application</a:t>
            </a:r>
            <a:r>
              <a:rPr kumimoji="0" sz="10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12</a:t>
            </a:r>
            <a:r>
              <a:rPr kumimoji="0" sz="1000" b="0" i="0" u="sng" strike="noStrike" kern="0" cap="none" spc="-15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kumimoji="0" sz="10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agile</a:t>
            </a:r>
            <a:r>
              <a:rPr kumimoji="0" sz="1000" b="0" i="0" u="sng" strike="noStrike" kern="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 </a:t>
            </a:r>
            <a:r>
              <a:rPr kumimoji="0" sz="1000" b="0" i="0" u="sng" strike="noStrike" kern="0" cap="none" spc="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4"/>
              </a:rPr>
              <a:t>principles</a:t>
            </a:r>
            <a:r>
              <a:rPr kumimoji="0" sz="1000" b="0" i="0" u="none" strike="noStrike" kern="0" cap="none" spc="2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context 	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agreed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members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product.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5730" marR="103505" lvl="0" indent="-113030" defTabSz="914400" eaLnBrk="1" fontAlgn="auto" latinLnBrk="0" hangingPunct="1">
              <a:lnSpc>
                <a:spcPct val="91900"/>
              </a:lnSpc>
              <a:spcBef>
                <a:spcPts val="4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Scrum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executed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temporary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blocks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short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periodic, called</a:t>
            </a:r>
            <a:r>
              <a:rPr kumimoji="0" sz="10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Sprints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,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which 	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usually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range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2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4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weeks,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which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term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feedback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reflection.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5730" marR="117475" lvl="0" indent="-113030" defTabSz="914400" eaLnBrk="1" fontAlgn="auto" latinLnBrk="0" hangingPunct="1">
              <a:lnSpc>
                <a:spcPts val="108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Each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Sprint is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entity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itself,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is,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provides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complete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result,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variation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final 	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product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must</a:t>
            </a:r>
            <a:r>
              <a:rPr kumimoji="0" sz="10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able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delivered</a:t>
            </a:r>
            <a:r>
              <a:rPr kumimoji="0" sz="10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client with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least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possible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effort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when 	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requested.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8903" y="4844796"/>
            <a:ext cx="5321554" cy="333427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86536" y="1005331"/>
            <a:ext cx="16160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What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sprints?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1802" y="1605533"/>
            <a:ext cx="2631440" cy="23304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0" marR="351790" lvl="0" indent="-114300" defTabSz="914400" eaLnBrk="1" fontAlgn="auto" latinLnBrk="0" hangingPunct="1">
              <a:lnSpc>
                <a:spcPct val="88100"/>
              </a:lnSpc>
              <a:spcBef>
                <a:spcPts val="2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scrum,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product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built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 a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series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repetition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called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400" b="1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</a:rPr>
              <a:t>sprints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0" marR="5080" lvl="0" indent="-114300" defTabSz="914400" eaLnBrk="1" fontAlgn="auto" latinLnBrk="0" hangingPunct="1">
              <a:lnSpc>
                <a:spcPts val="969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breaks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down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big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complex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projects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into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bite-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size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pieces.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0" marR="55244" lvl="0" indent="-114300" defTabSz="914400" eaLnBrk="1" fontAlgn="auto" latinLnBrk="0" hangingPunct="1">
              <a:lnSpc>
                <a:spcPts val="969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makes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projects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more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manageable,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allows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ship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high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quality,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faster,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more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frequently.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0" marR="80010" lvl="0" indent="-114300" defTabSz="914400" eaLnBrk="1" fontAlgn="auto" latinLnBrk="0" hangingPunct="1">
              <a:lnSpc>
                <a:spcPts val="969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sprints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give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them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more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flexibility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adapt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changes.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0" marR="58419" lvl="0" indent="-114300" defTabSz="914400" eaLnBrk="1" fontAlgn="auto" latinLnBrk="0" hangingPunct="1">
              <a:lnSpc>
                <a:spcPts val="969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Sprints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short,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time-boxed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period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Scrum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works 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complete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 set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amount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0" marR="192405" lvl="0" indent="-114300" defTabSz="914400" eaLnBrk="1" fontAlgn="auto" latinLnBrk="0" hangingPunct="1">
              <a:lnSpc>
                <a:spcPts val="969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Sprints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component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Scrum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methodology.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0" marR="116205" lvl="0" indent="-114300" defTabSz="914400" eaLnBrk="1" fontAlgn="auto" latinLnBrk="0" hangingPunct="1">
              <a:lnSpc>
                <a:spcPts val="969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right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sprints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will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help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our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ship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better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92020" y="1518087"/>
            <a:ext cx="2792582" cy="22322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33424" y="4977460"/>
            <a:ext cx="1446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Scrum</a:t>
            </a:r>
            <a:r>
              <a:rPr kumimoji="0" sz="16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master: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94791" y="5559678"/>
            <a:ext cx="2614295" cy="1232535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0" marR="49530" lvl="0" indent="-114300" defTabSz="914400" eaLnBrk="1" fontAlgn="auto" latinLnBrk="0" hangingPunct="1">
              <a:lnSpc>
                <a:spcPts val="969"/>
              </a:lnSpc>
              <a:spcBef>
                <a:spcPts val="22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27000" algn="l"/>
              </a:tabLst>
              <a:defRPr/>
            </a:pP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Scrum</a:t>
            </a:r>
            <a:r>
              <a:rPr kumimoji="0" sz="9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master:</a:t>
            </a:r>
            <a:r>
              <a:rPr kumimoji="0" sz="9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person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who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leads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guiding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them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comply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 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rules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processes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methodology.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0" marR="162560" lvl="0" indent="-114300" defTabSz="914400" eaLnBrk="1" fontAlgn="auto" latinLnBrk="0" hangingPunct="1">
              <a:lnSpc>
                <a:spcPts val="969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Scrum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master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reduction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impediments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project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Product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Owner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maximize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ROI.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0" marR="5080" lvl="0" indent="-114300" defTabSz="914400" eaLnBrk="1" fontAlgn="auto" latinLnBrk="0" hangingPunct="1">
              <a:lnSpc>
                <a:spcPts val="969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Scrum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Master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charge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keeping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Scrum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up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date,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providing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coaching,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mentoring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training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case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needs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it.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44798" y="5416308"/>
            <a:ext cx="3001518" cy="257059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19964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Product</a:t>
            </a:r>
            <a:r>
              <a:rPr kumimoji="0" sz="16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owner</a:t>
            </a:r>
            <a:r>
              <a:rPr kumimoji="0" sz="1600" b="1" i="0" u="none" strike="noStrike" kern="0" cap="none" spc="-8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(PO):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9630" y="1639315"/>
            <a:ext cx="2697480" cy="154940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5730" marR="5080" lvl="0" indent="-113030" algn="just" defTabSz="914400" eaLnBrk="1" fontAlgn="auto" latinLnBrk="0" hangingPunct="1">
              <a:lnSpc>
                <a:spcPts val="1080"/>
              </a:lnSpc>
              <a:spcBef>
                <a:spcPts val="229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27000" algn="l"/>
              </a:tabLst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Product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owner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(PO):</a:t>
            </a:r>
            <a:r>
              <a:rPr kumimoji="0" sz="10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representative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 	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stakeholders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customers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who</a:t>
            </a:r>
            <a:r>
              <a:rPr kumimoji="0" sz="10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	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5730" marR="385445" lvl="0" indent="-113030" algn="just" defTabSz="914400" eaLnBrk="1" fontAlgn="auto" latinLnBrk="0" hangingPunct="1">
              <a:lnSpc>
                <a:spcPts val="1080"/>
              </a:lnSpc>
              <a:spcBef>
                <a:spcPts val="36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focus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business</a:t>
            </a:r>
            <a:r>
              <a:rPr kumimoji="0" sz="10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part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 	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responsible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ROI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project.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Tx/>
              <a:buSzTx/>
              <a:buFont typeface="Arial MT"/>
              <a:buChar char="•"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5730" marR="26034" lvl="0" indent="-113030" defTabSz="914400" eaLnBrk="1" fontAlgn="auto" latinLnBrk="0" hangingPunct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Translate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vision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project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	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team,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validate</a:t>
            </a:r>
            <a:r>
              <a:rPr kumimoji="0" sz="10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benefits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stories to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 	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incorporated into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Product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Backlog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	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prioritize</a:t>
            </a:r>
            <a:r>
              <a:rPr kumimoji="0" sz="10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them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regular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basis.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36721" y="1831085"/>
            <a:ext cx="2558796" cy="219151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33424" y="4977460"/>
            <a:ext cx="6070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Team: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3178" y="5637352"/>
            <a:ext cx="2345690" cy="7270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5095" marR="5080" lvl="0" indent="-112395" defTabSz="914400" eaLnBrk="1" fontAlgn="auto" latinLnBrk="0" hangingPunct="1">
              <a:lnSpc>
                <a:spcPct val="901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Team:</a:t>
            </a:r>
            <a:r>
              <a:rPr kumimoji="0" sz="1000" b="0" i="0" u="none" strike="noStrike" kern="0" cap="none" spc="-9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10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group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professionals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10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	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necessary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technical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knowledge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who 	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project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jointly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carrying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out 	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stories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commit</a:t>
            </a:r>
            <a:r>
              <a:rPr kumimoji="0" sz="10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at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start</a:t>
            </a:r>
            <a:r>
              <a:rPr kumimoji="0" sz="10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	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each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sprint.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93490" y="6023178"/>
            <a:ext cx="2466720" cy="2112644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81000" y="948905"/>
            <a:ext cx="5521325" cy="2881630"/>
            <a:chOff x="381000" y="948905"/>
            <a:chExt cx="5521325" cy="288163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948905"/>
              <a:ext cx="5334000" cy="38218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4372" y="1233424"/>
              <a:ext cx="5157470" cy="2596896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381000" y="4925021"/>
            <a:ext cx="6096000" cy="3255645"/>
            <a:chOff x="381000" y="4925021"/>
            <a:chExt cx="6096000" cy="325564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4925021"/>
              <a:ext cx="5334000" cy="38218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000" y="4938064"/>
              <a:ext cx="6096000" cy="3242437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1000" y="1904619"/>
            <a:ext cx="6096000" cy="2393315"/>
            <a:chOff x="381000" y="1904619"/>
            <a:chExt cx="6096000" cy="23933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000" y="4277390"/>
              <a:ext cx="6096000" cy="2028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1904619"/>
              <a:ext cx="4262120" cy="2382011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33424" y="1001014"/>
            <a:ext cx="41033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1600" b="1" i="0" u="none" strike="noStrike" kern="0" cap="none" spc="-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Zoho</a:t>
            </a:r>
            <a:r>
              <a:rPr kumimoji="0" sz="16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Sprint-</a:t>
            </a:r>
            <a:r>
              <a:rPr kumimoji="0" sz="16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Perform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Workspace</a:t>
            </a:r>
            <a:r>
              <a:rPr kumimoji="0" sz="1600" b="1" i="0" u="none" strike="noStrike" kern="0" cap="none" spc="-6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config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33424" y="4977460"/>
            <a:ext cx="32238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Manage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users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ingdings"/>
                <a:cs typeface="Wingdings"/>
              </a:rPr>
              <a:t></a:t>
            </a:r>
            <a:r>
              <a:rPr kumimoji="0" sz="1600" b="0" i="0" u="none" strike="noStrike" kern="0" cap="none" spc="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Users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Roles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1000" y="5613984"/>
            <a:ext cx="4984623" cy="2433180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3892" y="1440180"/>
            <a:ext cx="2315083" cy="266928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33424" y="4977460"/>
            <a:ext cx="3059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https://youtu.be/GWxMTvRGIpc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1178" y="5636162"/>
            <a:ext cx="5042916" cy="245674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8916" y="1345616"/>
            <a:ext cx="2983230" cy="8089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1" i="0" u="none" strike="noStrike" kern="0" cap="none" spc="-5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Agile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Relationship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practices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 agile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practices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Practices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over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Traditional,</a:t>
            </a:r>
            <a:r>
              <a:rPr kumimoji="0" sz="9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–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comparison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424" y="1001014"/>
            <a:ext cx="762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Agenda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17481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 and</a:t>
            </a:r>
            <a:r>
              <a:rPr kumimoji="0" sz="1600" b="1" i="0" u="none" strike="noStrike" kern="0" cap="none" spc="-8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Agile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5036185" cy="93218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Relationship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practices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agile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practices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ts val="1025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 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characterizations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 DevOps emphasizes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relationship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 DevOps practices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to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0" lvl="0" indent="0" defTabSz="914400" eaLnBrk="1" fontAlgn="auto" latinLnBrk="0" hangingPunct="1">
              <a:lnSpc>
                <a:spcPts val="10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practices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will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focus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what 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added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interpret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transition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deployment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11187" y="6543105"/>
            <a:ext cx="3649391" cy="1205192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25063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600" b="1" i="0" u="none" strike="noStrike" kern="0" cap="none" spc="-9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Agile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Contd..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181600" cy="23088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Practices over</a:t>
            </a:r>
            <a:r>
              <a:rPr kumimoji="0" sz="1000" b="1" i="0" u="none" strike="noStrike" kern="0" cap="none" spc="-6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Agile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 practices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impact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three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phases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410209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Inception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phase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: During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inception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phase,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release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planning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initial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requirements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specification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done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Considerations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Ops will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add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some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requirements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 the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developers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ts val="915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Release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planning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includes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prioritization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but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also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includes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coordination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operations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0" lvl="0" indent="0" defTabSz="914400" eaLnBrk="1" fontAlgn="auto" latinLnBrk="0" hangingPunct="1">
              <a:lnSpc>
                <a:spcPts val="9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personnel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38100" lvl="0" indent="-114300" defTabSz="914400" eaLnBrk="1" fontAlgn="auto" latinLnBrk="0" hangingPunct="1">
              <a:lnSpc>
                <a:spcPts val="969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Construction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phase: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During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construction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phase,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key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elements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practices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management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branches,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 of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continuous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integration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continuous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deployment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incorporation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cases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automated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testing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algn="just" defTabSz="914400" eaLnBrk="1" fontAlgn="auto" latinLnBrk="0" hangingPunct="1">
              <a:lnSpc>
                <a:spcPts val="969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Transition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phase: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transition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phase,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solution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deployed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responsible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deployment,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monitoring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deployment,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deciding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whether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roll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back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when,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monitoring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execution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after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deployment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25063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600" b="1" i="0" u="none" strike="noStrike" kern="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Agile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Contd..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5080000" cy="8089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Traditional,</a:t>
            </a:r>
            <a:r>
              <a:rPr kumimoji="0" sz="1000" b="1" i="0" u="none" strike="noStrike" kern="0" cap="none" spc="-5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Agile</a:t>
            </a:r>
            <a:r>
              <a:rPr kumimoji="0" sz="1000" b="1" i="0" u="none" strike="noStrike" kern="0" cap="none" spc="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1" i="0" u="none" strike="noStrike" kern="0" cap="none" spc="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 –</a:t>
            </a:r>
            <a:r>
              <a:rPr kumimoji="0" sz="1000" b="1" i="0" u="none" strike="noStrike" kern="0" cap="none" spc="-4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5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comparison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breaks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wall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between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Business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breaks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wall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between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Operations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centers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 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concept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sharing: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sharing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ideas,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issues,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processes,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goals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0447" y="6497446"/>
            <a:ext cx="990600" cy="304800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260985" marR="0" lvl="0" indent="0" defTabSz="914400" eaLnBrk="1" fontAlgn="auto" latinLnBrk="0" hangingPunct="1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Business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235200" y="6323965"/>
            <a:ext cx="1677670" cy="654050"/>
            <a:chOff x="2235200" y="6323965"/>
            <a:chExt cx="1677670" cy="65405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38375" y="6327140"/>
              <a:ext cx="107671" cy="6477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238375" y="6327140"/>
              <a:ext cx="107950" cy="647700"/>
            </a:xfrm>
            <a:custGeom>
              <a:avLst/>
              <a:gdLst/>
              <a:ahLst/>
              <a:cxnLst/>
              <a:rect l="l" t="t" r="r" b="b"/>
              <a:pathLst>
                <a:path w="107950" h="647700">
                  <a:moveTo>
                    <a:pt x="0" y="647700"/>
                  </a:moveTo>
                  <a:lnTo>
                    <a:pt x="107671" y="647700"/>
                  </a:lnTo>
                  <a:lnTo>
                    <a:pt x="107671" y="0"/>
                  </a:lnTo>
                  <a:lnTo>
                    <a:pt x="0" y="0"/>
                  </a:lnTo>
                  <a:lnTo>
                    <a:pt x="0" y="647700"/>
                  </a:lnTo>
                  <a:close/>
                </a:path>
              </a:pathLst>
            </a:custGeom>
            <a:ln w="635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36291" y="6438506"/>
              <a:ext cx="95492" cy="42266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836291" y="6438506"/>
              <a:ext cx="95885" cy="422909"/>
            </a:xfrm>
            <a:custGeom>
              <a:avLst/>
              <a:gdLst/>
              <a:ahLst/>
              <a:cxnLst/>
              <a:rect l="l" t="t" r="r" b="b"/>
              <a:pathLst>
                <a:path w="95885" h="422909">
                  <a:moveTo>
                    <a:pt x="0" y="422668"/>
                  </a:moveTo>
                  <a:lnTo>
                    <a:pt x="95492" y="422668"/>
                  </a:lnTo>
                  <a:lnTo>
                    <a:pt x="95492" y="0"/>
                  </a:lnTo>
                  <a:lnTo>
                    <a:pt x="0" y="0"/>
                  </a:lnTo>
                  <a:lnTo>
                    <a:pt x="0" y="422668"/>
                  </a:lnTo>
                  <a:close/>
                </a:path>
              </a:pathLst>
            </a:custGeom>
            <a:ln w="634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01999" y="6327140"/>
              <a:ext cx="107092" cy="6477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801999" y="6327140"/>
              <a:ext cx="107314" cy="647700"/>
            </a:xfrm>
            <a:custGeom>
              <a:avLst/>
              <a:gdLst/>
              <a:ahLst/>
              <a:cxnLst/>
              <a:rect l="l" t="t" r="r" b="b"/>
              <a:pathLst>
                <a:path w="107314" h="647700">
                  <a:moveTo>
                    <a:pt x="0" y="647700"/>
                  </a:moveTo>
                  <a:lnTo>
                    <a:pt x="107092" y="647700"/>
                  </a:lnTo>
                  <a:lnTo>
                    <a:pt x="107092" y="0"/>
                  </a:lnTo>
                  <a:lnTo>
                    <a:pt x="0" y="0"/>
                  </a:lnTo>
                  <a:lnTo>
                    <a:pt x="0" y="647700"/>
                  </a:lnTo>
                  <a:close/>
                </a:path>
              </a:pathLst>
            </a:custGeom>
            <a:ln w="635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23336" y="6438506"/>
              <a:ext cx="75172" cy="42266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323336" y="6438506"/>
              <a:ext cx="75565" cy="422909"/>
            </a:xfrm>
            <a:custGeom>
              <a:avLst/>
              <a:gdLst/>
              <a:ahLst/>
              <a:cxnLst/>
              <a:rect l="l" t="t" r="r" b="b"/>
              <a:pathLst>
                <a:path w="75564" h="422909">
                  <a:moveTo>
                    <a:pt x="0" y="422668"/>
                  </a:moveTo>
                  <a:lnTo>
                    <a:pt x="75172" y="422668"/>
                  </a:lnTo>
                  <a:lnTo>
                    <a:pt x="75172" y="0"/>
                  </a:lnTo>
                  <a:lnTo>
                    <a:pt x="0" y="0"/>
                  </a:lnTo>
                  <a:lnTo>
                    <a:pt x="0" y="422668"/>
                  </a:lnTo>
                  <a:close/>
                </a:path>
              </a:pathLst>
            </a:custGeom>
            <a:ln w="635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2352420" y="6519392"/>
              <a:ext cx="466725" cy="274320"/>
            </a:xfrm>
            <a:custGeom>
              <a:avLst/>
              <a:gdLst/>
              <a:ahLst/>
              <a:cxnLst/>
              <a:rect l="l" t="t" r="r" b="b"/>
              <a:pathLst>
                <a:path w="466725" h="274320">
                  <a:moveTo>
                    <a:pt x="0" y="273837"/>
                  </a:moveTo>
                  <a:lnTo>
                    <a:pt x="466255" y="273837"/>
                  </a:lnTo>
                  <a:lnTo>
                    <a:pt x="466255" y="0"/>
                  </a:lnTo>
                  <a:lnTo>
                    <a:pt x="0" y="0"/>
                  </a:lnTo>
                  <a:lnTo>
                    <a:pt x="0" y="273837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349221" y="6573139"/>
            <a:ext cx="4756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Design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941066" y="6512915"/>
            <a:ext cx="382905" cy="274320"/>
          </a:xfrm>
          <a:custGeom>
            <a:avLst/>
            <a:gdLst/>
            <a:ahLst/>
            <a:cxnLst/>
            <a:rect l="l" t="t" r="r" b="b"/>
            <a:pathLst>
              <a:path w="382904" h="274320">
                <a:moveTo>
                  <a:pt x="0" y="273837"/>
                </a:moveTo>
                <a:lnTo>
                  <a:pt x="382320" y="273837"/>
                </a:lnTo>
                <a:lnTo>
                  <a:pt x="382320" y="0"/>
                </a:lnTo>
                <a:lnTo>
                  <a:pt x="0" y="0"/>
                </a:lnTo>
                <a:lnTo>
                  <a:pt x="0" y="273837"/>
                </a:lnTo>
                <a:close/>
              </a:path>
            </a:pathLst>
          </a:custGeom>
          <a:ln w="635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82595" y="6566661"/>
            <a:ext cx="2997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407917" y="6519392"/>
            <a:ext cx="382905" cy="274320"/>
          </a:xfrm>
          <a:custGeom>
            <a:avLst/>
            <a:gdLst/>
            <a:ahLst/>
            <a:cxnLst/>
            <a:rect l="l" t="t" r="r" b="b"/>
            <a:pathLst>
              <a:path w="382904" h="274320">
                <a:moveTo>
                  <a:pt x="0" y="273837"/>
                </a:moveTo>
                <a:lnTo>
                  <a:pt x="382320" y="273837"/>
                </a:lnTo>
                <a:lnTo>
                  <a:pt x="382320" y="0"/>
                </a:lnTo>
                <a:lnTo>
                  <a:pt x="0" y="0"/>
                </a:lnTo>
                <a:lnTo>
                  <a:pt x="0" y="273837"/>
                </a:lnTo>
                <a:close/>
              </a:path>
            </a:pathLst>
          </a:custGeom>
          <a:ln w="635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04438" y="6573139"/>
            <a:ext cx="18986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QA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14165" y="6497446"/>
            <a:ext cx="990600" cy="304800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214629" marR="0" lvl="0" indent="0" defTabSz="914400" eaLnBrk="1" fontAlgn="auto" latinLnBrk="0" hangingPunct="1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Operations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84212" y="7047674"/>
            <a:ext cx="3432175" cy="464820"/>
            <a:chOff x="684212" y="7047674"/>
            <a:chExt cx="3432175" cy="464820"/>
          </a:xfrm>
        </p:grpSpPr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5800" y="7049261"/>
              <a:ext cx="3429000" cy="46151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85800" y="7049261"/>
              <a:ext cx="3429000" cy="461645"/>
            </a:xfrm>
            <a:custGeom>
              <a:avLst/>
              <a:gdLst/>
              <a:ahLst/>
              <a:cxnLst/>
              <a:rect l="l" t="t" r="r" b="b"/>
              <a:pathLst>
                <a:path w="3429000" h="461645">
                  <a:moveTo>
                    <a:pt x="0" y="115316"/>
                  </a:moveTo>
                  <a:lnTo>
                    <a:pt x="3198241" y="115316"/>
                  </a:lnTo>
                  <a:lnTo>
                    <a:pt x="3198241" y="0"/>
                  </a:lnTo>
                  <a:lnTo>
                    <a:pt x="3429000" y="230759"/>
                  </a:lnTo>
                  <a:lnTo>
                    <a:pt x="3198241" y="461518"/>
                  </a:lnTo>
                  <a:lnTo>
                    <a:pt x="3198241" y="346075"/>
                  </a:lnTo>
                  <a:lnTo>
                    <a:pt x="0" y="346075"/>
                  </a:lnTo>
                  <a:lnTo>
                    <a:pt x="0" y="115316"/>
                  </a:lnTo>
                  <a:close/>
                </a:path>
              </a:pathLst>
            </a:custGeom>
            <a:ln w="317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35888" y="7204709"/>
            <a:ext cx="44069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Inception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50619" y="7204709"/>
            <a:ext cx="54102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Elaboration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65019" y="7204709"/>
            <a:ext cx="5988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Construction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479672" y="7204709"/>
            <a:ext cx="4711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Transition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682432" y="7466520"/>
            <a:ext cx="3423920" cy="464820"/>
            <a:chOff x="1682432" y="7466520"/>
            <a:chExt cx="3423920" cy="464820"/>
          </a:xfrm>
        </p:grpSpPr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84020" y="7468107"/>
              <a:ext cx="3420745" cy="461454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684020" y="7468107"/>
              <a:ext cx="3420745" cy="461645"/>
            </a:xfrm>
            <a:custGeom>
              <a:avLst/>
              <a:gdLst/>
              <a:ahLst/>
              <a:cxnLst/>
              <a:rect l="l" t="t" r="r" b="b"/>
              <a:pathLst>
                <a:path w="3420745" h="461645">
                  <a:moveTo>
                    <a:pt x="0" y="115316"/>
                  </a:moveTo>
                  <a:lnTo>
                    <a:pt x="3190113" y="115316"/>
                  </a:lnTo>
                  <a:lnTo>
                    <a:pt x="3190113" y="0"/>
                  </a:lnTo>
                  <a:lnTo>
                    <a:pt x="3420745" y="230759"/>
                  </a:lnTo>
                  <a:lnTo>
                    <a:pt x="3190113" y="461454"/>
                  </a:lnTo>
                  <a:lnTo>
                    <a:pt x="3190113" y="346075"/>
                  </a:lnTo>
                  <a:lnTo>
                    <a:pt x="0" y="346075"/>
                  </a:lnTo>
                  <a:lnTo>
                    <a:pt x="0" y="115316"/>
                  </a:lnTo>
                  <a:close/>
                </a:path>
              </a:pathLst>
            </a:custGeom>
            <a:ln w="317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769110" y="7623429"/>
            <a:ext cx="54292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Elaboration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712847" y="7623429"/>
            <a:ext cx="5988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Construction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625977" y="7623429"/>
            <a:ext cx="47117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Transition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381101" y="7623429"/>
            <a:ext cx="5232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Operations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256263" y="6449567"/>
            <a:ext cx="829944" cy="90805"/>
            <a:chOff x="5256263" y="6449567"/>
            <a:chExt cx="829944" cy="90805"/>
          </a:xfrm>
        </p:grpSpPr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56263" y="6449567"/>
              <a:ext cx="829830" cy="9071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58435" y="6451726"/>
              <a:ext cx="818388" cy="83185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5262367" y="6586727"/>
            <a:ext cx="758190" cy="90805"/>
            <a:chOff x="5262367" y="6586727"/>
            <a:chExt cx="758190" cy="90805"/>
          </a:xfrm>
        </p:grpSpPr>
        <p:pic>
          <p:nvPicPr>
            <p:cNvPr id="46" name="object 4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62367" y="6586727"/>
              <a:ext cx="758194" cy="9071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64277" y="6588887"/>
              <a:ext cx="747140" cy="83185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5257776" y="6722166"/>
            <a:ext cx="718820" cy="92710"/>
            <a:chOff x="5257776" y="6722166"/>
            <a:chExt cx="718820" cy="92710"/>
          </a:xfrm>
        </p:grpSpPr>
        <p:pic>
          <p:nvPicPr>
            <p:cNvPr id="49" name="object 4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57776" y="6722166"/>
              <a:ext cx="718613" cy="9256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60086" y="6724649"/>
              <a:ext cx="710691" cy="84708"/>
            </a:xfrm>
            <a:prstGeom prst="rect">
              <a:avLst/>
            </a:prstGeom>
          </p:spPr>
        </p:pic>
      </p:grpSp>
      <p:pic>
        <p:nvPicPr>
          <p:cNvPr id="51" name="object 5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256288" y="7171951"/>
            <a:ext cx="678548" cy="24268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265458" y="7673461"/>
            <a:ext cx="401154" cy="108462"/>
          </a:xfrm>
          <a:prstGeom prst="rect">
            <a:avLst/>
          </a:prstGeom>
        </p:spPr>
      </p:pic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8916" y="1345616"/>
            <a:ext cx="3079750" cy="8089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Agile</a:t>
            </a:r>
            <a:r>
              <a:rPr kumimoji="0" sz="1000" b="1" i="0" u="none" strike="noStrike" kern="0" cap="none" spc="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methodology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Effectiveness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Why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Process?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 Process: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Flow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based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vs Non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flow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based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Process: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Component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vs Feature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424" y="1001014"/>
            <a:ext cx="762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Agenda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1638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Process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5258435" cy="21710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Why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Process?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1160" marR="5080" lvl="0" indent="-114300" defTabSz="914400" eaLnBrk="1" fontAlgn="auto" latinLnBrk="0" hangingPunct="1">
              <a:lnSpc>
                <a:spcPct val="901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need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processes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policies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doing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things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proper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way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standardized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across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projects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sequence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 operations,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constraints,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rules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well defined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measure success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processes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following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things: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8490" marR="0" lvl="1" indent="-113030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849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planning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8490" marR="0" lvl="1" indent="-113030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849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Resource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planning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provisioning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8490" marR="0" lvl="1" indent="-113030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849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Configuration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management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8490" marR="0" lvl="1" indent="-113030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8490" algn="l"/>
              </a:tabLst>
              <a:defRPr/>
            </a:pP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Role-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based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access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control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cloud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resources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other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used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automation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8490" marR="0" lvl="1" indent="-113030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849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Static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r>
              <a:rPr kumimoji="0" sz="10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analysis</a:t>
            </a:r>
            <a:r>
              <a:rPr kumimoji="0" sz="10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–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rules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programming</a:t>
            </a:r>
            <a:r>
              <a:rPr kumimoji="0" sz="10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languages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8490" marR="0" lvl="1" indent="-113030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8490" algn="l"/>
              </a:tabLst>
              <a:defRPr/>
            </a:pP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Testing</a:t>
            </a: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methodology and</a:t>
            </a:r>
            <a:r>
              <a:rPr kumimoji="0" sz="10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8490" marR="0" lvl="1" indent="-113030" defTabSz="914400" eaLnBrk="1" fontAlgn="auto" latinLnBrk="0" hangingPunct="1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8490" algn="l"/>
              </a:tabLst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Release</a:t>
            </a: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management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43592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Agile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methodology</a:t>
            </a:r>
            <a:r>
              <a:rPr kumimoji="0" sz="16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1600" b="1" i="0" u="none" strike="noStrike" kern="0" cap="none" spc="-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Effectiveness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432305"/>
            <a:ext cx="19469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Flow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based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Non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flow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based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88464" y="1894204"/>
            <a:ext cx="634365" cy="654050"/>
            <a:chOff x="2188464" y="1894204"/>
            <a:chExt cx="634365" cy="654050"/>
          </a:xfrm>
        </p:grpSpPr>
        <p:sp>
          <p:nvSpPr>
            <p:cNvPr id="8" name="object 8"/>
            <p:cNvSpPr/>
            <p:nvPr/>
          </p:nvSpPr>
          <p:spPr>
            <a:xfrm>
              <a:off x="2191639" y="1897379"/>
              <a:ext cx="628015" cy="647700"/>
            </a:xfrm>
            <a:custGeom>
              <a:avLst/>
              <a:gdLst/>
              <a:ahLst/>
              <a:cxnLst/>
              <a:rect l="l" t="t" r="r" b="b"/>
              <a:pathLst>
                <a:path w="628014" h="647700">
                  <a:moveTo>
                    <a:pt x="313944" y="0"/>
                  </a:moveTo>
                  <a:lnTo>
                    <a:pt x="267558" y="3509"/>
                  </a:lnTo>
                  <a:lnTo>
                    <a:pt x="223284" y="13703"/>
                  </a:lnTo>
                  <a:lnTo>
                    <a:pt x="181606" y="30080"/>
                  </a:lnTo>
                  <a:lnTo>
                    <a:pt x="143012" y="52140"/>
                  </a:lnTo>
                  <a:lnTo>
                    <a:pt x="107986" y="79382"/>
                  </a:lnTo>
                  <a:lnTo>
                    <a:pt x="77015" y="111304"/>
                  </a:lnTo>
                  <a:lnTo>
                    <a:pt x="50586" y="147407"/>
                  </a:lnTo>
                  <a:lnTo>
                    <a:pt x="29183" y="187188"/>
                  </a:lnTo>
                  <a:lnTo>
                    <a:pt x="13294" y="230147"/>
                  </a:lnTo>
                  <a:lnTo>
                    <a:pt x="3404" y="275783"/>
                  </a:lnTo>
                  <a:lnTo>
                    <a:pt x="0" y="323596"/>
                  </a:lnTo>
                  <a:lnTo>
                    <a:pt x="3404" y="371436"/>
                  </a:lnTo>
                  <a:lnTo>
                    <a:pt x="13294" y="417090"/>
                  </a:lnTo>
                  <a:lnTo>
                    <a:pt x="29183" y="460058"/>
                  </a:lnTo>
                  <a:lnTo>
                    <a:pt x="50586" y="499841"/>
                  </a:lnTo>
                  <a:lnTo>
                    <a:pt x="77015" y="535938"/>
                  </a:lnTo>
                  <a:lnTo>
                    <a:pt x="107986" y="567852"/>
                  </a:lnTo>
                  <a:lnTo>
                    <a:pt x="143012" y="595083"/>
                  </a:lnTo>
                  <a:lnTo>
                    <a:pt x="181606" y="617132"/>
                  </a:lnTo>
                  <a:lnTo>
                    <a:pt x="223284" y="633499"/>
                  </a:lnTo>
                  <a:lnTo>
                    <a:pt x="267558" y="643685"/>
                  </a:lnTo>
                  <a:lnTo>
                    <a:pt x="313944" y="647192"/>
                  </a:lnTo>
                  <a:lnTo>
                    <a:pt x="360326" y="643685"/>
                  </a:lnTo>
                  <a:lnTo>
                    <a:pt x="404592" y="633499"/>
                  </a:lnTo>
                  <a:lnTo>
                    <a:pt x="446258" y="617132"/>
                  </a:lnTo>
                  <a:lnTo>
                    <a:pt x="484837" y="595083"/>
                  </a:lnTo>
                  <a:lnTo>
                    <a:pt x="519846" y="567852"/>
                  </a:lnTo>
                  <a:lnTo>
                    <a:pt x="550800" y="535938"/>
                  </a:lnTo>
                  <a:lnTo>
                    <a:pt x="577212" y="499841"/>
                  </a:lnTo>
                  <a:lnTo>
                    <a:pt x="598600" y="460058"/>
                  </a:lnTo>
                  <a:lnTo>
                    <a:pt x="614477" y="417090"/>
                  </a:lnTo>
                  <a:lnTo>
                    <a:pt x="624359" y="371436"/>
                  </a:lnTo>
                  <a:lnTo>
                    <a:pt x="627761" y="323596"/>
                  </a:lnTo>
                  <a:lnTo>
                    <a:pt x="624359" y="275783"/>
                  </a:lnTo>
                  <a:lnTo>
                    <a:pt x="614477" y="230147"/>
                  </a:lnTo>
                  <a:lnTo>
                    <a:pt x="598600" y="187188"/>
                  </a:lnTo>
                  <a:lnTo>
                    <a:pt x="577212" y="147407"/>
                  </a:lnTo>
                  <a:lnTo>
                    <a:pt x="550800" y="111304"/>
                  </a:lnTo>
                  <a:lnTo>
                    <a:pt x="519846" y="79382"/>
                  </a:lnTo>
                  <a:lnTo>
                    <a:pt x="484837" y="52140"/>
                  </a:lnTo>
                  <a:lnTo>
                    <a:pt x="446258" y="30080"/>
                  </a:lnTo>
                  <a:lnTo>
                    <a:pt x="404592" y="13703"/>
                  </a:lnTo>
                  <a:lnTo>
                    <a:pt x="360326" y="3509"/>
                  </a:lnTo>
                  <a:lnTo>
                    <a:pt x="31394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191639" y="1897379"/>
              <a:ext cx="628015" cy="647700"/>
            </a:xfrm>
            <a:custGeom>
              <a:avLst/>
              <a:gdLst/>
              <a:ahLst/>
              <a:cxnLst/>
              <a:rect l="l" t="t" r="r" b="b"/>
              <a:pathLst>
                <a:path w="628014" h="647700">
                  <a:moveTo>
                    <a:pt x="0" y="323596"/>
                  </a:moveTo>
                  <a:lnTo>
                    <a:pt x="3404" y="275783"/>
                  </a:lnTo>
                  <a:lnTo>
                    <a:pt x="13294" y="230147"/>
                  </a:lnTo>
                  <a:lnTo>
                    <a:pt x="29183" y="187188"/>
                  </a:lnTo>
                  <a:lnTo>
                    <a:pt x="50586" y="147407"/>
                  </a:lnTo>
                  <a:lnTo>
                    <a:pt x="77015" y="111304"/>
                  </a:lnTo>
                  <a:lnTo>
                    <a:pt x="107986" y="79382"/>
                  </a:lnTo>
                  <a:lnTo>
                    <a:pt x="143012" y="52140"/>
                  </a:lnTo>
                  <a:lnTo>
                    <a:pt x="181606" y="30080"/>
                  </a:lnTo>
                  <a:lnTo>
                    <a:pt x="223284" y="13703"/>
                  </a:lnTo>
                  <a:lnTo>
                    <a:pt x="267558" y="3509"/>
                  </a:lnTo>
                  <a:lnTo>
                    <a:pt x="313944" y="0"/>
                  </a:lnTo>
                  <a:lnTo>
                    <a:pt x="360326" y="3509"/>
                  </a:lnTo>
                  <a:lnTo>
                    <a:pt x="404592" y="13703"/>
                  </a:lnTo>
                  <a:lnTo>
                    <a:pt x="446258" y="30080"/>
                  </a:lnTo>
                  <a:lnTo>
                    <a:pt x="484837" y="52140"/>
                  </a:lnTo>
                  <a:lnTo>
                    <a:pt x="519846" y="79382"/>
                  </a:lnTo>
                  <a:lnTo>
                    <a:pt x="550800" y="111304"/>
                  </a:lnTo>
                  <a:lnTo>
                    <a:pt x="577212" y="147407"/>
                  </a:lnTo>
                  <a:lnTo>
                    <a:pt x="598600" y="187188"/>
                  </a:lnTo>
                  <a:lnTo>
                    <a:pt x="614477" y="230147"/>
                  </a:lnTo>
                  <a:lnTo>
                    <a:pt x="624359" y="275783"/>
                  </a:lnTo>
                  <a:lnTo>
                    <a:pt x="627761" y="323596"/>
                  </a:lnTo>
                  <a:lnTo>
                    <a:pt x="624359" y="371436"/>
                  </a:lnTo>
                  <a:lnTo>
                    <a:pt x="614477" y="417090"/>
                  </a:lnTo>
                  <a:lnTo>
                    <a:pt x="598600" y="460058"/>
                  </a:lnTo>
                  <a:lnTo>
                    <a:pt x="577212" y="499841"/>
                  </a:lnTo>
                  <a:lnTo>
                    <a:pt x="550800" y="535938"/>
                  </a:lnTo>
                  <a:lnTo>
                    <a:pt x="519846" y="567852"/>
                  </a:lnTo>
                  <a:lnTo>
                    <a:pt x="484837" y="595083"/>
                  </a:lnTo>
                  <a:lnTo>
                    <a:pt x="446258" y="617132"/>
                  </a:lnTo>
                  <a:lnTo>
                    <a:pt x="404592" y="633499"/>
                  </a:lnTo>
                  <a:lnTo>
                    <a:pt x="360326" y="643685"/>
                  </a:lnTo>
                  <a:lnTo>
                    <a:pt x="313944" y="647192"/>
                  </a:lnTo>
                  <a:lnTo>
                    <a:pt x="267558" y="643685"/>
                  </a:lnTo>
                  <a:lnTo>
                    <a:pt x="223284" y="633499"/>
                  </a:lnTo>
                  <a:lnTo>
                    <a:pt x="181606" y="617132"/>
                  </a:lnTo>
                  <a:lnTo>
                    <a:pt x="143012" y="595083"/>
                  </a:lnTo>
                  <a:lnTo>
                    <a:pt x="107986" y="567852"/>
                  </a:lnTo>
                  <a:lnTo>
                    <a:pt x="77015" y="535938"/>
                  </a:lnTo>
                  <a:lnTo>
                    <a:pt x="50586" y="499841"/>
                  </a:lnTo>
                  <a:lnTo>
                    <a:pt x="29183" y="460058"/>
                  </a:lnTo>
                  <a:lnTo>
                    <a:pt x="13294" y="417090"/>
                  </a:lnTo>
                  <a:lnTo>
                    <a:pt x="3404" y="371436"/>
                  </a:lnTo>
                  <a:lnTo>
                    <a:pt x="0" y="323596"/>
                  </a:lnTo>
                  <a:close/>
                </a:path>
              </a:pathLst>
            </a:custGeom>
            <a:ln w="635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317242" y="2115693"/>
            <a:ext cx="354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Non-</a:t>
            </a:r>
            <a:r>
              <a:rPr kumimoji="0" sz="6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Flow</a:t>
            </a:r>
            <a:r>
              <a:rPr kumimoji="0" sz="600" b="0" i="0" u="none" strike="noStrike" kern="0" cap="none" spc="5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Based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184396" y="1885695"/>
            <a:ext cx="692150" cy="622935"/>
            <a:chOff x="4184396" y="1885695"/>
            <a:chExt cx="692150" cy="622935"/>
          </a:xfrm>
        </p:grpSpPr>
        <p:sp>
          <p:nvSpPr>
            <p:cNvPr id="12" name="object 12"/>
            <p:cNvSpPr/>
            <p:nvPr/>
          </p:nvSpPr>
          <p:spPr>
            <a:xfrm>
              <a:off x="4187571" y="1888870"/>
              <a:ext cx="685800" cy="616585"/>
            </a:xfrm>
            <a:custGeom>
              <a:avLst/>
              <a:gdLst/>
              <a:ahLst/>
              <a:cxnLst/>
              <a:rect l="l" t="t" r="r" b="b"/>
              <a:pathLst>
                <a:path w="685800" h="616585">
                  <a:moveTo>
                    <a:pt x="342900" y="0"/>
                  </a:moveTo>
                  <a:lnTo>
                    <a:pt x="292204" y="3343"/>
                  </a:lnTo>
                  <a:lnTo>
                    <a:pt x="243827" y="13054"/>
                  </a:lnTo>
                  <a:lnTo>
                    <a:pt x="198296" y="28658"/>
                  </a:lnTo>
                  <a:lnTo>
                    <a:pt x="156140" y="49676"/>
                  </a:lnTo>
                  <a:lnTo>
                    <a:pt x="117889" y="75632"/>
                  </a:lnTo>
                  <a:lnTo>
                    <a:pt x="84071" y="106049"/>
                  </a:lnTo>
                  <a:lnTo>
                    <a:pt x="55216" y="140449"/>
                  </a:lnTo>
                  <a:lnTo>
                    <a:pt x="31852" y="178357"/>
                  </a:lnTo>
                  <a:lnTo>
                    <a:pt x="14509" y="219296"/>
                  </a:lnTo>
                  <a:lnTo>
                    <a:pt x="3715" y="262787"/>
                  </a:lnTo>
                  <a:lnTo>
                    <a:pt x="0" y="308355"/>
                  </a:lnTo>
                  <a:lnTo>
                    <a:pt x="3715" y="353892"/>
                  </a:lnTo>
                  <a:lnTo>
                    <a:pt x="14509" y="397358"/>
                  </a:lnTo>
                  <a:lnTo>
                    <a:pt x="31852" y="438275"/>
                  </a:lnTo>
                  <a:lnTo>
                    <a:pt x="55216" y="476167"/>
                  </a:lnTo>
                  <a:lnTo>
                    <a:pt x="84071" y="510556"/>
                  </a:lnTo>
                  <a:lnTo>
                    <a:pt x="117889" y="540964"/>
                  </a:lnTo>
                  <a:lnTo>
                    <a:pt x="156140" y="566914"/>
                  </a:lnTo>
                  <a:lnTo>
                    <a:pt x="198296" y="587929"/>
                  </a:lnTo>
                  <a:lnTo>
                    <a:pt x="243827" y="603530"/>
                  </a:lnTo>
                  <a:lnTo>
                    <a:pt x="292204" y="613241"/>
                  </a:lnTo>
                  <a:lnTo>
                    <a:pt x="342900" y="616584"/>
                  </a:lnTo>
                  <a:lnTo>
                    <a:pt x="393566" y="613241"/>
                  </a:lnTo>
                  <a:lnTo>
                    <a:pt x="441926" y="603530"/>
                  </a:lnTo>
                  <a:lnTo>
                    <a:pt x="487448" y="587929"/>
                  </a:lnTo>
                  <a:lnTo>
                    <a:pt x="529603" y="566914"/>
                  </a:lnTo>
                  <a:lnTo>
                    <a:pt x="567858" y="540964"/>
                  </a:lnTo>
                  <a:lnTo>
                    <a:pt x="601685" y="510556"/>
                  </a:lnTo>
                  <a:lnTo>
                    <a:pt x="630551" y="476167"/>
                  </a:lnTo>
                  <a:lnTo>
                    <a:pt x="653926" y="438275"/>
                  </a:lnTo>
                  <a:lnTo>
                    <a:pt x="671280" y="397358"/>
                  </a:lnTo>
                  <a:lnTo>
                    <a:pt x="682081" y="353892"/>
                  </a:lnTo>
                  <a:lnTo>
                    <a:pt x="685800" y="308355"/>
                  </a:lnTo>
                  <a:lnTo>
                    <a:pt x="682081" y="262787"/>
                  </a:lnTo>
                  <a:lnTo>
                    <a:pt x="671280" y="219296"/>
                  </a:lnTo>
                  <a:lnTo>
                    <a:pt x="653926" y="178357"/>
                  </a:lnTo>
                  <a:lnTo>
                    <a:pt x="630551" y="140449"/>
                  </a:lnTo>
                  <a:lnTo>
                    <a:pt x="601685" y="106049"/>
                  </a:lnTo>
                  <a:lnTo>
                    <a:pt x="567858" y="75632"/>
                  </a:lnTo>
                  <a:lnTo>
                    <a:pt x="529603" y="49676"/>
                  </a:lnTo>
                  <a:lnTo>
                    <a:pt x="487448" y="28658"/>
                  </a:lnTo>
                  <a:lnTo>
                    <a:pt x="441926" y="13054"/>
                  </a:lnTo>
                  <a:lnTo>
                    <a:pt x="393566" y="3343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4187571" y="1888870"/>
              <a:ext cx="685800" cy="616585"/>
            </a:xfrm>
            <a:custGeom>
              <a:avLst/>
              <a:gdLst/>
              <a:ahLst/>
              <a:cxnLst/>
              <a:rect l="l" t="t" r="r" b="b"/>
              <a:pathLst>
                <a:path w="685800" h="616585">
                  <a:moveTo>
                    <a:pt x="0" y="308355"/>
                  </a:moveTo>
                  <a:lnTo>
                    <a:pt x="3715" y="262787"/>
                  </a:lnTo>
                  <a:lnTo>
                    <a:pt x="14509" y="219296"/>
                  </a:lnTo>
                  <a:lnTo>
                    <a:pt x="31852" y="178357"/>
                  </a:lnTo>
                  <a:lnTo>
                    <a:pt x="55216" y="140449"/>
                  </a:lnTo>
                  <a:lnTo>
                    <a:pt x="84071" y="106049"/>
                  </a:lnTo>
                  <a:lnTo>
                    <a:pt x="117889" y="75632"/>
                  </a:lnTo>
                  <a:lnTo>
                    <a:pt x="156140" y="49676"/>
                  </a:lnTo>
                  <a:lnTo>
                    <a:pt x="198296" y="28658"/>
                  </a:lnTo>
                  <a:lnTo>
                    <a:pt x="243827" y="13054"/>
                  </a:lnTo>
                  <a:lnTo>
                    <a:pt x="292204" y="3343"/>
                  </a:lnTo>
                  <a:lnTo>
                    <a:pt x="342900" y="0"/>
                  </a:lnTo>
                  <a:lnTo>
                    <a:pt x="393566" y="3343"/>
                  </a:lnTo>
                  <a:lnTo>
                    <a:pt x="441926" y="13054"/>
                  </a:lnTo>
                  <a:lnTo>
                    <a:pt x="487448" y="28658"/>
                  </a:lnTo>
                  <a:lnTo>
                    <a:pt x="529603" y="49676"/>
                  </a:lnTo>
                  <a:lnTo>
                    <a:pt x="567858" y="75632"/>
                  </a:lnTo>
                  <a:lnTo>
                    <a:pt x="601685" y="106049"/>
                  </a:lnTo>
                  <a:lnTo>
                    <a:pt x="630551" y="140449"/>
                  </a:lnTo>
                  <a:lnTo>
                    <a:pt x="653926" y="178357"/>
                  </a:lnTo>
                  <a:lnTo>
                    <a:pt x="671280" y="219296"/>
                  </a:lnTo>
                  <a:lnTo>
                    <a:pt x="682081" y="262787"/>
                  </a:lnTo>
                  <a:lnTo>
                    <a:pt x="685800" y="308355"/>
                  </a:lnTo>
                  <a:lnTo>
                    <a:pt x="682081" y="353892"/>
                  </a:lnTo>
                  <a:lnTo>
                    <a:pt x="671280" y="397358"/>
                  </a:lnTo>
                  <a:lnTo>
                    <a:pt x="653926" y="438275"/>
                  </a:lnTo>
                  <a:lnTo>
                    <a:pt x="630551" y="476167"/>
                  </a:lnTo>
                  <a:lnTo>
                    <a:pt x="601685" y="510556"/>
                  </a:lnTo>
                  <a:lnTo>
                    <a:pt x="567858" y="540964"/>
                  </a:lnTo>
                  <a:lnTo>
                    <a:pt x="529603" y="566914"/>
                  </a:lnTo>
                  <a:lnTo>
                    <a:pt x="487448" y="587929"/>
                  </a:lnTo>
                  <a:lnTo>
                    <a:pt x="441926" y="603530"/>
                  </a:lnTo>
                  <a:lnTo>
                    <a:pt x="393566" y="613241"/>
                  </a:lnTo>
                  <a:lnTo>
                    <a:pt x="342900" y="616584"/>
                  </a:lnTo>
                  <a:lnTo>
                    <a:pt x="292204" y="613241"/>
                  </a:lnTo>
                  <a:lnTo>
                    <a:pt x="243827" y="603530"/>
                  </a:lnTo>
                  <a:lnTo>
                    <a:pt x="198296" y="587929"/>
                  </a:lnTo>
                  <a:lnTo>
                    <a:pt x="156140" y="566914"/>
                  </a:lnTo>
                  <a:lnTo>
                    <a:pt x="117889" y="540964"/>
                  </a:lnTo>
                  <a:lnTo>
                    <a:pt x="84071" y="510556"/>
                  </a:lnTo>
                  <a:lnTo>
                    <a:pt x="55216" y="476167"/>
                  </a:lnTo>
                  <a:lnTo>
                    <a:pt x="31852" y="438275"/>
                  </a:lnTo>
                  <a:lnTo>
                    <a:pt x="14509" y="397358"/>
                  </a:lnTo>
                  <a:lnTo>
                    <a:pt x="3715" y="353892"/>
                  </a:lnTo>
                  <a:lnTo>
                    <a:pt x="0" y="308355"/>
                  </a:lnTo>
                  <a:close/>
                </a:path>
              </a:pathLst>
            </a:custGeom>
            <a:ln w="635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410583" y="2096516"/>
            <a:ext cx="241935" cy="226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27305" defTabSz="914400" eaLnBrk="1" fontAlgn="auto" latinLnBrk="0" hangingPunct="1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Flow</a:t>
            </a:r>
            <a:r>
              <a:rPr kumimoji="0" sz="600" b="0" i="0" u="none" strike="noStrike" kern="0" cap="none" spc="5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Based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09700" y="2640329"/>
            <a:ext cx="1028700" cy="450215"/>
          </a:xfrm>
          <a:custGeom>
            <a:avLst/>
            <a:gdLst/>
            <a:ahLst/>
            <a:cxnLst/>
            <a:rect l="l" t="t" r="r" b="b"/>
            <a:pathLst>
              <a:path w="1028700" h="450214">
                <a:moveTo>
                  <a:pt x="0" y="75057"/>
                </a:moveTo>
                <a:lnTo>
                  <a:pt x="5887" y="45809"/>
                </a:lnTo>
                <a:lnTo>
                  <a:pt x="21955" y="21955"/>
                </a:lnTo>
                <a:lnTo>
                  <a:pt x="45809" y="5887"/>
                </a:lnTo>
                <a:lnTo>
                  <a:pt x="75056" y="0"/>
                </a:lnTo>
                <a:lnTo>
                  <a:pt x="953643" y="0"/>
                </a:lnTo>
                <a:lnTo>
                  <a:pt x="982890" y="5887"/>
                </a:lnTo>
                <a:lnTo>
                  <a:pt x="1006744" y="21955"/>
                </a:lnTo>
                <a:lnTo>
                  <a:pt x="1022812" y="45809"/>
                </a:lnTo>
                <a:lnTo>
                  <a:pt x="1028700" y="75057"/>
                </a:lnTo>
                <a:lnTo>
                  <a:pt x="1028700" y="375031"/>
                </a:lnTo>
                <a:lnTo>
                  <a:pt x="1022812" y="404225"/>
                </a:lnTo>
                <a:lnTo>
                  <a:pt x="1006744" y="428085"/>
                </a:lnTo>
                <a:lnTo>
                  <a:pt x="982890" y="444182"/>
                </a:lnTo>
                <a:lnTo>
                  <a:pt x="953643" y="450088"/>
                </a:lnTo>
                <a:lnTo>
                  <a:pt x="75056" y="450088"/>
                </a:lnTo>
                <a:lnTo>
                  <a:pt x="45809" y="444182"/>
                </a:lnTo>
                <a:lnTo>
                  <a:pt x="21955" y="428085"/>
                </a:lnTo>
                <a:lnTo>
                  <a:pt x="5887" y="404225"/>
                </a:lnTo>
                <a:lnTo>
                  <a:pt x="0" y="375031"/>
                </a:lnTo>
                <a:lnTo>
                  <a:pt x="0" y="75057"/>
                </a:lnTo>
                <a:close/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65910" y="2713101"/>
            <a:ext cx="715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13208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Extreme Programming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523870" y="2638805"/>
            <a:ext cx="1028700" cy="450215"/>
          </a:xfrm>
          <a:custGeom>
            <a:avLst/>
            <a:gdLst/>
            <a:ahLst/>
            <a:cxnLst/>
            <a:rect l="l" t="t" r="r" b="b"/>
            <a:pathLst>
              <a:path w="1028700" h="450214">
                <a:moveTo>
                  <a:pt x="0" y="75057"/>
                </a:moveTo>
                <a:lnTo>
                  <a:pt x="5905" y="45862"/>
                </a:lnTo>
                <a:lnTo>
                  <a:pt x="22002" y="22002"/>
                </a:lnTo>
                <a:lnTo>
                  <a:pt x="45862" y="5905"/>
                </a:lnTo>
                <a:lnTo>
                  <a:pt x="75056" y="0"/>
                </a:lnTo>
                <a:lnTo>
                  <a:pt x="953643" y="0"/>
                </a:lnTo>
                <a:lnTo>
                  <a:pt x="982890" y="5905"/>
                </a:lnTo>
                <a:lnTo>
                  <a:pt x="1006744" y="22002"/>
                </a:lnTo>
                <a:lnTo>
                  <a:pt x="1022812" y="45862"/>
                </a:lnTo>
                <a:lnTo>
                  <a:pt x="1028700" y="75057"/>
                </a:lnTo>
                <a:lnTo>
                  <a:pt x="1028700" y="375031"/>
                </a:lnTo>
                <a:lnTo>
                  <a:pt x="1022812" y="404278"/>
                </a:lnTo>
                <a:lnTo>
                  <a:pt x="1006744" y="428132"/>
                </a:lnTo>
                <a:lnTo>
                  <a:pt x="982890" y="444200"/>
                </a:lnTo>
                <a:lnTo>
                  <a:pt x="953643" y="450088"/>
                </a:lnTo>
                <a:lnTo>
                  <a:pt x="75056" y="450088"/>
                </a:lnTo>
                <a:lnTo>
                  <a:pt x="45862" y="444200"/>
                </a:lnTo>
                <a:lnTo>
                  <a:pt x="22002" y="428132"/>
                </a:lnTo>
                <a:lnTo>
                  <a:pt x="5905" y="404278"/>
                </a:lnTo>
                <a:lnTo>
                  <a:pt x="0" y="375031"/>
                </a:lnTo>
                <a:lnTo>
                  <a:pt x="0" y="75057"/>
                </a:lnTo>
                <a:close/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17367" y="2780157"/>
            <a:ext cx="4445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SCRUM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409700" y="3160776"/>
            <a:ext cx="1028700" cy="450215"/>
          </a:xfrm>
          <a:custGeom>
            <a:avLst/>
            <a:gdLst/>
            <a:ahLst/>
            <a:cxnLst/>
            <a:rect l="l" t="t" r="r" b="b"/>
            <a:pathLst>
              <a:path w="1028700" h="450214">
                <a:moveTo>
                  <a:pt x="0" y="75057"/>
                </a:moveTo>
                <a:lnTo>
                  <a:pt x="5887" y="45809"/>
                </a:lnTo>
                <a:lnTo>
                  <a:pt x="21955" y="21955"/>
                </a:lnTo>
                <a:lnTo>
                  <a:pt x="45809" y="5887"/>
                </a:lnTo>
                <a:lnTo>
                  <a:pt x="75056" y="0"/>
                </a:lnTo>
                <a:lnTo>
                  <a:pt x="953643" y="0"/>
                </a:lnTo>
                <a:lnTo>
                  <a:pt x="982890" y="5887"/>
                </a:lnTo>
                <a:lnTo>
                  <a:pt x="1006744" y="21955"/>
                </a:lnTo>
                <a:lnTo>
                  <a:pt x="1022812" y="45809"/>
                </a:lnTo>
                <a:lnTo>
                  <a:pt x="1028700" y="75057"/>
                </a:lnTo>
                <a:lnTo>
                  <a:pt x="1028700" y="375031"/>
                </a:lnTo>
                <a:lnTo>
                  <a:pt x="1022812" y="404225"/>
                </a:lnTo>
                <a:lnTo>
                  <a:pt x="1006744" y="428085"/>
                </a:lnTo>
                <a:lnTo>
                  <a:pt x="982890" y="444182"/>
                </a:lnTo>
                <a:lnTo>
                  <a:pt x="953643" y="450088"/>
                </a:lnTo>
                <a:lnTo>
                  <a:pt x="75056" y="450088"/>
                </a:lnTo>
                <a:lnTo>
                  <a:pt x="45809" y="444182"/>
                </a:lnTo>
                <a:lnTo>
                  <a:pt x="21955" y="428085"/>
                </a:lnTo>
                <a:lnTo>
                  <a:pt x="5887" y="404225"/>
                </a:lnTo>
                <a:lnTo>
                  <a:pt x="0" y="375031"/>
                </a:lnTo>
                <a:lnTo>
                  <a:pt x="0" y="75057"/>
                </a:lnTo>
                <a:close/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33905" y="3233420"/>
            <a:ext cx="781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69" marR="5080" lvl="0" indent="-4000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Driven Development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038600" y="2641345"/>
            <a:ext cx="1028700" cy="450215"/>
          </a:xfrm>
          <a:custGeom>
            <a:avLst/>
            <a:gdLst/>
            <a:ahLst/>
            <a:cxnLst/>
            <a:rect l="l" t="t" r="r" b="b"/>
            <a:pathLst>
              <a:path w="1028700" h="450214">
                <a:moveTo>
                  <a:pt x="0" y="75056"/>
                </a:moveTo>
                <a:lnTo>
                  <a:pt x="5887" y="45862"/>
                </a:lnTo>
                <a:lnTo>
                  <a:pt x="21955" y="22002"/>
                </a:lnTo>
                <a:lnTo>
                  <a:pt x="45809" y="5905"/>
                </a:lnTo>
                <a:lnTo>
                  <a:pt x="75057" y="0"/>
                </a:lnTo>
                <a:lnTo>
                  <a:pt x="953642" y="0"/>
                </a:lnTo>
                <a:lnTo>
                  <a:pt x="982890" y="5905"/>
                </a:lnTo>
                <a:lnTo>
                  <a:pt x="1006744" y="22002"/>
                </a:lnTo>
                <a:lnTo>
                  <a:pt x="1022812" y="45862"/>
                </a:lnTo>
                <a:lnTo>
                  <a:pt x="1028700" y="75056"/>
                </a:lnTo>
                <a:lnTo>
                  <a:pt x="1028700" y="375157"/>
                </a:lnTo>
                <a:lnTo>
                  <a:pt x="1022812" y="404332"/>
                </a:lnTo>
                <a:lnTo>
                  <a:pt x="1006744" y="428148"/>
                </a:lnTo>
                <a:lnTo>
                  <a:pt x="982890" y="444202"/>
                </a:lnTo>
                <a:lnTo>
                  <a:pt x="953642" y="450088"/>
                </a:lnTo>
                <a:lnTo>
                  <a:pt x="75057" y="450088"/>
                </a:lnTo>
                <a:lnTo>
                  <a:pt x="45809" y="444202"/>
                </a:lnTo>
                <a:lnTo>
                  <a:pt x="21955" y="428148"/>
                </a:lnTo>
                <a:lnTo>
                  <a:pt x="5887" y="404332"/>
                </a:lnTo>
                <a:lnTo>
                  <a:pt x="0" y="375157"/>
                </a:lnTo>
                <a:lnTo>
                  <a:pt x="0" y="75056"/>
                </a:lnTo>
                <a:close/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06570" y="2782570"/>
            <a:ext cx="495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KANBAN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038600" y="3172332"/>
            <a:ext cx="1028700" cy="450215"/>
          </a:xfrm>
          <a:custGeom>
            <a:avLst/>
            <a:gdLst/>
            <a:ahLst/>
            <a:cxnLst/>
            <a:rect l="l" t="t" r="r" b="b"/>
            <a:pathLst>
              <a:path w="1028700" h="450214">
                <a:moveTo>
                  <a:pt x="0" y="75056"/>
                </a:moveTo>
                <a:lnTo>
                  <a:pt x="5887" y="45862"/>
                </a:lnTo>
                <a:lnTo>
                  <a:pt x="21955" y="22002"/>
                </a:lnTo>
                <a:lnTo>
                  <a:pt x="45809" y="5905"/>
                </a:lnTo>
                <a:lnTo>
                  <a:pt x="75057" y="0"/>
                </a:lnTo>
                <a:lnTo>
                  <a:pt x="953642" y="0"/>
                </a:lnTo>
                <a:lnTo>
                  <a:pt x="982890" y="5905"/>
                </a:lnTo>
                <a:lnTo>
                  <a:pt x="1006744" y="22002"/>
                </a:lnTo>
                <a:lnTo>
                  <a:pt x="1022812" y="45862"/>
                </a:lnTo>
                <a:lnTo>
                  <a:pt x="1028700" y="75056"/>
                </a:lnTo>
                <a:lnTo>
                  <a:pt x="1028700" y="375030"/>
                </a:lnTo>
                <a:lnTo>
                  <a:pt x="1022812" y="404278"/>
                </a:lnTo>
                <a:lnTo>
                  <a:pt x="1006744" y="428132"/>
                </a:lnTo>
                <a:lnTo>
                  <a:pt x="982890" y="444200"/>
                </a:lnTo>
                <a:lnTo>
                  <a:pt x="953642" y="450088"/>
                </a:lnTo>
                <a:lnTo>
                  <a:pt x="75057" y="450088"/>
                </a:lnTo>
                <a:lnTo>
                  <a:pt x="45809" y="444200"/>
                </a:lnTo>
                <a:lnTo>
                  <a:pt x="21955" y="428132"/>
                </a:lnTo>
                <a:lnTo>
                  <a:pt x="5887" y="404278"/>
                </a:lnTo>
                <a:lnTo>
                  <a:pt x="0" y="375030"/>
                </a:lnTo>
                <a:lnTo>
                  <a:pt x="0" y="75056"/>
                </a:lnTo>
                <a:close/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34688" y="3313557"/>
            <a:ext cx="6375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Hybrid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15665" y="2145030"/>
            <a:ext cx="1778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833424" y="4977460"/>
            <a:ext cx="1638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Process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8916" y="5322934"/>
            <a:ext cx="3320415" cy="4794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Selecting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Teams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Structure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Choosing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appropriate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structure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(Resource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planning)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64410" y="6288900"/>
            <a:ext cx="3176905" cy="551815"/>
          </a:xfrm>
          <a:prstGeom prst="rect">
            <a:avLst/>
          </a:prstGeom>
          <a:solidFill>
            <a:srgbClr val="5B9BD4"/>
          </a:solidFill>
        </p:spPr>
        <p:txBody>
          <a:bodyPr vert="horz" wrap="square" lIns="0" tIns="105410" rIns="0" bIns="0" rtlCol="0">
            <a:spAutoFit/>
          </a:bodyPr>
          <a:lstStyle/>
          <a:p>
            <a:pPr marL="74295" marR="0" lvl="0" indent="0" defTabSz="914400" eaLnBrk="1" fontAlgn="auto" latinLnBrk="0" hangingPunct="1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Component</a:t>
            </a:r>
            <a:r>
              <a:rPr kumimoji="0" sz="1950" b="0" i="0" u="none" strike="noStrike" kern="0" cap="none" spc="-1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95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195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95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Structure</a:t>
            </a:r>
            <a:endParaRPr kumimoji="0" sz="19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49679" y="6935711"/>
            <a:ext cx="3200400" cy="551815"/>
          </a:xfrm>
          <a:prstGeom prst="rect">
            <a:avLst/>
          </a:prstGeom>
          <a:solidFill>
            <a:srgbClr val="5B9BD4"/>
          </a:solidFill>
        </p:spPr>
        <p:txBody>
          <a:bodyPr vert="horz" wrap="square" lIns="0" tIns="105410" rIns="0" bIns="0" rtlCol="0">
            <a:spAutoFit/>
          </a:bodyPr>
          <a:lstStyle/>
          <a:p>
            <a:pPr marL="231140" marR="0" lvl="0" indent="0" defTabSz="914400" eaLnBrk="1" fontAlgn="auto" latinLnBrk="0" hangingPunct="1">
              <a:lnSpc>
                <a:spcPct val="100000"/>
              </a:lnSpc>
              <a:spcBef>
                <a:spcPts val="8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9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Featured</a:t>
            </a:r>
            <a:r>
              <a:rPr kumimoji="0" sz="195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Team</a:t>
            </a:r>
            <a:r>
              <a:rPr kumimoji="0" sz="195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95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Structure</a:t>
            </a:r>
            <a:endParaRPr kumimoji="0" sz="19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163766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Process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51896" y="2338641"/>
            <a:ext cx="1636395" cy="1028065"/>
            <a:chOff x="4251896" y="2338641"/>
            <a:chExt cx="1636395" cy="102806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53484" y="2936621"/>
              <a:ext cx="1632839" cy="42811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253484" y="2936621"/>
              <a:ext cx="1633220" cy="428625"/>
            </a:xfrm>
            <a:custGeom>
              <a:avLst/>
              <a:gdLst/>
              <a:ahLst/>
              <a:cxnLst/>
              <a:rect l="l" t="t" r="r" b="b"/>
              <a:pathLst>
                <a:path w="1633220" h="428625">
                  <a:moveTo>
                    <a:pt x="1632839" y="71374"/>
                  </a:moveTo>
                  <a:lnTo>
                    <a:pt x="1600230" y="91393"/>
                  </a:lnTo>
                  <a:lnTo>
                    <a:pt x="1545109" y="103573"/>
                  </a:lnTo>
                  <a:lnTo>
                    <a:pt x="1466474" y="114540"/>
                  </a:lnTo>
                  <a:lnTo>
                    <a:pt x="1419194" y="119493"/>
                  </a:lnTo>
                  <a:lnTo>
                    <a:pt x="1367062" y="124053"/>
                  </a:lnTo>
                  <a:lnTo>
                    <a:pt x="1310419" y="128189"/>
                  </a:lnTo>
                  <a:lnTo>
                    <a:pt x="1249608" y="131871"/>
                  </a:lnTo>
                  <a:lnTo>
                    <a:pt x="1184970" y="135069"/>
                  </a:lnTo>
                  <a:lnTo>
                    <a:pt x="1116848" y="137753"/>
                  </a:lnTo>
                  <a:lnTo>
                    <a:pt x="1045584" y="139893"/>
                  </a:lnTo>
                  <a:lnTo>
                    <a:pt x="971519" y="141459"/>
                  </a:lnTo>
                  <a:lnTo>
                    <a:pt x="894995" y="142420"/>
                  </a:lnTo>
                  <a:lnTo>
                    <a:pt x="816355" y="142748"/>
                  </a:lnTo>
                  <a:lnTo>
                    <a:pt x="737737" y="142420"/>
                  </a:lnTo>
                  <a:lnTo>
                    <a:pt x="661232" y="141459"/>
                  </a:lnTo>
                  <a:lnTo>
                    <a:pt x="587183" y="139893"/>
                  </a:lnTo>
                  <a:lnTo>
                    <a:pt x="515933" y="137753"/>
                  </a:lnTo>
                  <a:lnTo>
                    <a:pt x="447823" y="135069"/>
                  </a:lnTo>
                  <a:lnTo>
                    <a:pt x="383195" y="131871"/>
                  </a:lnTo>
                  <a:lnTo>
                    <a:pt x="322393" y="128189"/>
                  </a:lnTo>
                  <a:lnTo>
                    <a:pt x="265757" y="124053"/>
                  </a:lnTo>
                  <a:lnTo>
                    <a:pt x="213630" y="119493"/>
                  </a:lnTo>
                  <a:lnTo>
                    <a:pt x="166355" y="114540"/>
                  </a:lnTo>
                  <a:lnTo>
                    <a:pt x="124273" y="109223"/>
                  </a:lnTo>
                  <a:lnTo>
                    <a:pt x="57057" y="97620"/>
                  </a:lnTo>
                  <a:lnTo>
                    <a:pt x="14720" y="84923"/>
                  </a:lnTo>
                  <a:lnTo>
                    <a:pt x="3737" y="78240"/>
                  </a:lnTo>
                  <a:lnTo>
                    <a:pt x="0" y="71374"/>
                  </a:lnTo>
                </a:path>
                <a:path w="1633220" h="428625">
                  <a:moveTo>
                    <a:pt x="0" y="71374"/>
                  </a:moveTo>
                  <a:lnTo>
                    <a:pt x="32607" y="51309"/>
                  </a:lnTo>
                  <a:lnTo>
                    <a:pt x="87726" y="39118"/>
                  </a:lnTo>
                  <a:lnTo>
                    <a:pt x="166355" y="28153"/>
                  </a:lnTo>
                  <a:lnTo>
                    <a:pt x="213630" y="23203"/>
                  </a:lnTo>
                  <a:lnTo>
                    <a:pt x="265757" y="18649"/>
                  </a:lnTo>
                  <a:lnTo>
                    <a:pt x="322393" y="14520"/>
                  </a:lnTo>
                  <a:lnTo>
                    <a:pt x="383195" y="10846"/>
                  </a:lnTo>
                  <a:lnTo>
                    <a:pt x="447823" y="7655"/>
                  </a:lnTo>
                  <a:lnTo>
                    <a:pt x="515933" y="4978"/>
                  </a:lnTo>
                  <a:lnTo>
                    <a:pt x="587183" y="2844"/>
                  </a:lnTo>
                  <a:lnTo>
                    <a:pt x="661232" y="1284"/>
                  </a:lnTo>
                  <a:lnTo>
                    <a:pt x="737737" y="325"/>
                  </a:lnTo>
                  <a:lnTo>
                    <a:pt x="816355" y="0"/>
                  </a:lnTo>
                  <a:lnTo>
                    <a:pt x="894995" y="325"/>
                  </a:lnTo>
                  <a:lnTo>
                    <a:pt x="971519" y="1284"/>
                  </a:lnTo>
                  <a:lnTo>
                    <a:pt x="1045584" y="2844"/>
                  </a:lnTo>
                  <a:lnTo>
                    <a:pt x="1116848" y="4978"/>
                  </a:lnTo>
                  <a:lnTo>
                    <a:pt x="1184970" y="7655"/>
                  </a:lnTo>
                  <a:lnTo>
                    <a:pt x="1249608" y="10846"/>
                  </a:lnTo>
                  <a:lnTo>
                    <a:pt x="1310419" y="14520"/>
                  </a:lnTo>
                  <a:lnTo>
                    <a:pt x="1367062" y="18649"/>
                  </a:lnTo>
                  <a:lnTo>
                    <a:pt x="1419194" y="23203"/>
                  </a:lnTo>
                  <a:lnTo>
                    <a:pt x="1466474" y="28153"/>
                  </a:lnTo>
                  <a:lnTo>
                    <a:pt x="1508560" y="33467"/>
                  </a:lnTo>
                  <a:lnTo>
                    <a:pt x="1575780" y="45075"/>
                  </a:lnTo>
                  <a:lnTo>
                    <a:pt x="1618118" y="57789"/>
                  </a:lnTo>
                  <a:lnTo>
                    <a:pt x="1632839" y="71374"/>
                  </a:lnTo>
                  <a:lnTo>
                    <a:pt x="1632839" y="356742"/>
                  </a:lnTo>
                  <a:lnTo>
                    <a:pt x="1600230" y="376807"/>
                  </a:lnTo>
                  <a:lnTo>
                    <a:pt x="1545109" y="388998"/>
                  </a:lnTo>
                  <a:lnTo>
                    <a:pt x="1466474" y="399963"/>
                  </a:lnTo>
                  <a:lnTo>
                    <a:pt x="1419194" y="404913"/>
                  </a:lnTo>
                  <a:lnTo>
                    <a:pt x="1367062" y="409467"/>
                  </a:lnTo>
                  <a:lnTo>
                    <a:pt x="1310419" y="413596"/>
                  </a:lnTo>
                  <a:lnTo>
                    <a:pt x="1249608" y="417270"/>
                  </a:lnTo>
                  <a:lnTo>
                    <a:pt x="1184970" y="420461"/>
                  </a:lnTo>
                  <a:lnTo>
                    <a:pt x="1116848" y="423138"/>
                  </a:lnTo>
                  <a:lnTo>
                    <a:pt x="1045584" y="425272"/>
                  </a:lnTo>
                  <a:lnTo>
                    <a:pt x="971519" y="426832"/>
                  </a:lnTo>
                  <a:lnTo>
                    <a:pt x="894995" y="427791"/>
                  </a:lnTo>
                  <a:lnTo>
                    <a:pt x="816355" y="428116"/>
                  </a:lnTo>
                  <a:lnTo>
                    <a:pt x="737737" y="427791"/>
                  </a:lnTo>
                  <a:lnTo>
                    <a:pt x="661232" y="426832"/>
                  </a:lnTo>
                  <a:lnTo>
                    <a:pt x="587183" y="425272"/>
                  </a:lnTo>
                  <a:lnTo>
                    <a:pt x="515933" y="423138"/>
                  </a:lnTo>
                  <a:lnTo>
                    <a:pt x="447823" y="420461"/>
                  </a:lnTo>
                  <a:lnTo>
                    <a:pt x="383195" y="417270"/>
                  </a:lnTo>
                  <a:lnTo>
                    <a:pt x="322393" y="413596"/>
                  </a:lnTo>
                  <a:lnTo>
                    <a:pt x="265757" y="409467"/>
                  </a:lnTo>
                  <a:lnTo>
                    <a:pt x="213630" y="404913"/>
                  </a:lnTo>
                  <a:lnTo>
                    <a:pt x="166355" y="399963"/>
                  </a:lnTo>
                  <a:lnTo>
                    <a:pt x="124273" y="394649"/>
                  </a:lnTo>
                  <a:lnTo>
                    <a:pt x="57057" y="383041"/>
                  </a:lnTo>
                  <a:lnTo>
                    <a:pt x="14720" y="370327"/>
                  </a:lnTo>
                  <a:lnTo>
                    <a:pt x="0" y="356742"/>
                  </a:lnTo>
                  <a:lnTo>
                    <a:pt x="0" y="71374"/>
                  </a:lnTo>
                  <a:close/>
                </a:path>
              </a:pathLst>
            </a:custGeom>
            <a:ln w="31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53484" y="2638425"/>
              <a:ext cx="1632839" cy="42824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253484" y="2638425"/>
              <a:ext cx="1633220" cy="428625"/>
            </a:xfrm>
            <a:custGeom>
              <a:avLst/>
              <a:gdLst/>
              <a:ahLst/>
              <a:cxnLst/>
              <a:rect l="l" t="t" r="r" b="b"/>
              <a:pathLst>
                <a:path w="1633220" h="428625">
                  <a:moveTo>
                    <a:pt x="1632839" y="71374"/>
                  </a:moveTo>
                  <a:lnTo>
                    <a:pt x="1600230" y="91393"/>
                  </a:lnTo>
                  <a:lnTo>
                    <a:pt x="1545109" y="103573"/>
                  </a:lnTo>
                  <a:lnTo>
                    <a:pt x="1466474" y="114540"/>
                  </a:lnTo>
                  <a:lnTo>
                    <a:pt x="1419194" y="119493"/>
                  </a:lnTo>
                  <a:lnTo>
                    <a:pt x="1367062" y="124053"/>
                  </a:lnTo>
                  <a:lnTo>
                    <a:pt x="1310419" y="128189"/>
                  </a:lnTo>
                  <a:lnTo>
                    <a:pt x="1249608" y="131871"/>
                  </a:lnTo>
                  <a:lnTo>
                    <a:pt x="1184970" y="135069"/>
                  </a:lnTo>
                  <a:lnTo>
                    <a:pt x="1116848" y="137753"/>
                  </a:lnTo>
                  <a:lnTo>
                    <a:pt x="1045584" y="139893"/>
                  </a:lnTo>
                  <a:lnTo>
                    <a:pt x="971519" y="141459"/>
                  </a:lnTo>
                  <a:lnTo>
                    <a:pt x="894995" y="142420"/>
                  </a:lnTo>
                  <a:lnTo>
                    <a:pt x="816355" y="142748"/>
                  </a:lnTo>
                  <a:lnTo>
                    <a:pt x="737737" y="142420"/>
                  </a:lnTo>
                  <a:lnTo>
                    <a:pt x="661232" y="141459"/>
                  </a:lnTo>
                  <a:lnTo>
                    <a:pt x="587183" y="139893"/>
                  </a:lnTo>
                  <a:lnTo>
                    <a:pt x="515933" y="137753"/>
                  </a:lnTo>
                  <a:lnTo>
                    <a:pt x="447823" y="135069"/>
                  </a:lnTo>
                  <a:lnTo>
                    <a:pt x="383195" y="131871"/>
                  </a:lnTo>
                  <a:lnTo>
                    <a:pt x="322393" y="128189"/>
                  </a:lnTo>
                  <a:lnTo>
                    <a:pt x="265757" y="124053"/>
                  </a:lnTo>
                  <a:lnTo>
                    <a:pt x="213630" y="119493"/>
                  </a:lnTo>
                  <a:lnTo>
                    <a:pt x="166355" y="114540"/>
                  </a:lnTo>
                  <a:lnTo>
                    <a:pt x="124273" y="109223"/>
                  </a:lnTo>
                  <a:lnTo>
                    <a:pt x="57057" y="97620"/>
                  </a:lnTo>
                  <a:lnTo>
                    <a:pt x="14720" y="84923"/>
                  </a:lnTo>
                  <a:lnTo>
                    <a:pt x="3737" y="78240"/>
                  </a:lnTo>
                  <a:lnTo>
                    <a:pt x="0" y="71374"/>
                  </a:lnTo>
                </a:path>
                <a:path w="1633220" h="428625">
                  <a:moveTo>
                    <a:pt x="0" y="71374"/>
                  </a:moveTo>
                  <a:lnTo>
                    <a:pt x="32607" y="51354"/>
                  </a:lnTo>
                  <a:lnTo>
                    <a:pt x="87726" y="39174"/>
                  </a:lnTo>
                  <a:lnTo>
                    <a:pt x="166355" y="28207"/>
                  </a:lnTo>
                  <a:lnTo>
                    <a:pt x="213630" y="23254"/>
                  </a:lnTo>
                  <a:lnTo>
                    <a:pt x="265757" y="18694"/>
                  </a:lnTo>
                  <a:lnTo>
                    <a:pt x="322393" y="14558"/>
                  </a:lnTo>
                  <a:lnTo>
                    <a:pt x="383195" y="10876"/>
                  </a:lnTo>
                  <a:lnTo>
                    <a:pt x="447823" y="7678"/>
                  </a:lnTo>
                  <a:lnTo>
                    <a:pt x="515933" y="4994"/>
                  </a:lnTo>
                  <a:lnTo>
                    <a:pt x="587183" y="2854"/>
                  </a:lnTo>
                  <a:lnTo>
                    <a:pt x="661232" y="1288"/>
                  </a:lnTo>
                  <a:lnTo>
                    <a:pt x="737737" y="327"/>
                  </a:lnTo>
                  <a:lnTo>
                    <a:pt x="816355" y="0"/>
                  </a:lnTo>
                  <a:lnTo>
                    <a:pt x="894995" y="327"/>
                  </a:lnTo>
                  <a:lnTo>
                    <a:pt x="971519" y="1288"/>
                  </a:lnTo>
                  <a:lnTo>
                    <a:pt x="1045584" y="2854"/>
                  </a:lnTo>
                  <a:lnTo>
                    <a:pt x="1116848" y="4994"/>
                  </a:lnTo>
                  <a:lnTo>
                    <a:pt x="1184970" y="7678"/>
                  </a:lnTo>
                  <a:lnTo>
                    <a:pt x="1249608" y="10876"/>
                  </a:lnTo>
                  <a:lnTo>
                    <a:pt x="1310419" y="14558"/>
                  </a:lnTo>
                  <a:lnTo>
                    <a:pt x="1367062" y="18694"/>
                  </a:lnTo>
                  <a:lnTo>
                    <a:pt x="1419194" y="23254"/>
                  </a:lnTo>
                  <a:lnTo>
                    <a:pt x="1466474" y="28207"/>
                  </a:lnTo>
                  <a:lnTo>
                    <a:pt x="1508560" y="33524"/>
                  </a:lnTo>
                  <a:lnTo>
                    <a:pt x="1575780" y="45127"/>
                  </a:lnTo>
                  <a:lnTo>
                    <a:pt x="1618118" y="57824"/>
                  </a:lnTo>
                  <a:lnTo>
                    <a:pt x="1632839" y="71374"/>
                  </a:lnTo>
                  <a:lnTo>
                    <a:pt x="1632839" y="356870"/>
                  </a:lnTo>
                  <a:lnTo>
                    <a:pt x="1600230" y="376889"/>
                  </a:lnTo>
                  <a:lnTo>
                    <a:pt x="1545109" y="389069"/>
                  </a:lnTo>
                  <a:lnTo>
                    <a:pt x="1466474" y="400036"/>
                  </a:lnTo>
                  <a:lnTo>
                    <a:pt x="1419194" y="404989"/>
                  </a:lnTo>
                  <a:lnTo>
                    <a:pt x="1367062" y="409549"/>
                  </a:lnTo>
                  <a:lnTo>
                    <a:pt x="1310419" y="413685"/>
                  </a:lnTo>
                  <a:lnTo>
                    <a:pt x="1249608" y="417367"/>
                  </a:lnTo>
                  <a:lnTo>
                    <a:pt x="1184970" y="420565"/>
                  </a:lnTo>
                  <a:lnTo>
                    <a:pt x="1116848" y="423249"/>
                  </a:lnTo>
                  <a:lnTo>
                    <a:pt x="1045584" y="425389"/>
                  </a:lnTo>
                  <a:lnTo>
                    <a:pt x="971519" y="426955"/>
                  </a:lnTo>
                  <a:lnTo>
                    <a:pt x="894995" y="427916"/>
                  </a:lnTo>
                  <a:lnTo>
                    <a:pt x="816355" y="428244"/>
                  </a:lnTo>
                  <a:lnTo>
                    <a:pt x="737737" y="427916"/>
                  </a:lnTo>
                  <a:lnTo>
                    <a:pt x="661232" y="426955"/>
                  </a:lnTo>
                  <a:lnTo>
                    <a:pt x="587183" y="425389"/>
                  </a:lnTo>
                  <a:lnTo>
                    <a:pt x="515933" y="423249"/>
                  </a:lnTo>
                  <a:lnTo>
                    <a:pt x="447823" y="420565"/>
                  </a:lnTo>
                  <a:lnTo>
                    <a:pt x="383195" y="417367"/>
                  </a:lnTo>
                  <a:lnTo>
                    <a:pt x="322393" y="413685"/>
                  </a:lnTo>
                  <a:lnTo>
                    <a:pt x="265757" y="409549"/>
                  </a:lnTo>
                  <a:lnTo>
                    <a:pt x="213630" y="404989"/>
                  </a:lnTo>
                  <a:lnTo>
                    <a:pt x="166355" y="400036"/>
                  </a:lnTo>
                  <a:lnTo>
                    <a:pt x="124273" y="394719"/>
                  </a:lnTo>
                  <a:lnTo>
                    <a:pt x="57057" y="383116"/>
                  </a:lnTo>
                  <a:lnTo>
                    <a:pt x="14720" y="370419"/>
                  </a:lnTo>
                  <a:lnTo>
                    <a:pt x="0" y="356870"/>
                  </a:lnTo>
                  <a:lnTo>
                    <a:pt x="0" y="71374"/>
                  </a:lnTo>
                  <a:close/>
                </a:path>
              </a:pathLst>
            </a:custGeom>
            <a:ln w="317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53484" y="2340229"/>
              <a:ext cx="1632839" cy="4282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253484" y="2340229"/>
              <a:ext cx="1633220" cy="428625"/>
            </a:xfrm>
            <a:custGeom>
              <a:avLst/>
              <a:gdLst/>
              <a:ahLst/>
              <a:cxnLst/>
              <a:rect l="l" t="t" r="r" b="b"/>
              <a:pathLst>
                <a:path w="1633220" h="428625">
                  <a:moveTo>
                    <a:pt x="1632839" y="71374"/>
                  </a:moveTo>
                  <a:lnTo>
                    <a:pt x="1600230" y="91438"/>
                  </a:lnTo>
                  <a:lnTo>
                    <a:pt x="1545109" y="103629"/>
                  </a:lnTo>
                  <a:lnTo>
                    <a:pt x="1466474" y="114594"/>
                  </a:lnTo>
                  <a:lnTo>
                    <a:pt x="1419194" y="119544"/>
                  </a:lnTo>
                  <a:lnTo>
                    <a:pt x="1367062" y="124098"/>
                  </a:lnTo>
                  <a:lnTo>
                    <a:pt x="1310419" y="128227"/>
                  </a:lnTo>
                  <a:lnTo>
                    <a:pt x="1249608" y="131901"/>
                  </a:lnTo>
                  <a:lnTo>
                    <a:pt x="1184970" y="135092"/>
                  </a:lnTo>
                  <a:lnTo>
                    <a:pt x="1116848" y="137769"/>
                  </a:lnTo>
                  <a:lnTo>
                    <a:pt x="1045584" y="139903"/>
                  </a:lnTo>
                  <a:lnTo>
                    <a:pt x="971519" y="141463"/>
                  </a:lnTo>
                  <a:lnTo>
                    <a:pt x="894995" y="142422"/>
                  </a:lnTo>
                  <a:lnTo>
                    <a:pt x="816355" y="142748"/>
                  </a:lnTo>
                  <a:lnTo>
                    <a:pt x="737737" y="142422"/>
                  </a:lnTo>
                  <a:lnTo>
                    <a:pt x="661232" y="141463"/>
                  </a:lnTo>
                  <a:lnTo>
                    <a:pt x="587183" y="139903"/>
                  </a:lnTo>
                  <a:lnTo>
                    <a:pt x="515933" y="137769"/>
                  </a:lnTo>
                  <a:lnTo>
                    <a:pt x="447823" y="135092"/>
                  </a:lnTo>
                  <a:lnTo>
                    <a:pt x="383195" y="131901"/>
                  </a:lnTo>
                  <a:lnTo>
                    <a:pt x="322393" y="128227"/>
                  </a:lnTo>
                  <a:lnTo>
                    <a:pt x="265757" y="124098"/>
                  </a:lnTo>
                  <a:lnTo>
                    <a:pt x="213630" y="119544"/>
                  </a:lnTo>
                  <a:lnTo>
                    <a:pt x="166355" y="114594"/>
                  </a:lnTo>
                  <a:lnTo>
                    <a:pt x="124273" y="109280"/>
                  </a:lnTo>
                  <a:lnTo>
                    <a:pt x="57057" y="97672"/>
                  </a:lnTo>
                  <a:lnTo>
                    <a:pt x="14720" y="84958"/>
                  </a:lnTo>
                  <a:lnTo>
                    <a:pt x="3737" y="78260"/>
                  </a:lnTo>
                  <a:lnTo>
                    <a:pt x="0" y="71374"/>
                  </a:lnTo>
                </a:path>
                <a:path w="1633220" h="428625">
                  <a:moveTo>
                    <a:pt x="0" y="71374"/>
                  </a:moveTo>
                  <a:lnTo>
                    <a:pt x="32607" y="51354"/>
                  </a:lnTo>
                  <a:lnTo>
                    <a:pt x="87726" y="39174"/>
                  </a:lnTo>
                  <a:lnTo>
                    <a:pt x="166355" y="28207"/>
                  </a:lnTo>
                  <a:lnTo>
                    <a:pt x="213630" y="23254"/>
                  </a:lnTo>
                  <a:lnTo>
                    <a:pt x="265757" y="18694"/>
                  </a:lnTo>
                  <a:lnTo>
                    <a:pt x="322393" y="14558"/>
                  </a:lnTo>
                  <a:lnTo>
                    <a:pt x="383195" y="10876"/>
                  </a:lnTo>
                  <a:lnTo>
                    <a:pt x="447823" y="7678"/>
                  </a:lnTo>
                  <a:lnTo>
                    <a:pt x="515933" y="4994"/>
                  </a:lnTo>
                  <a:lnTo>
                    <a:pt x="587183" y="2854"/>
                  </a:lnTo>
                  <a:lnTo>
                    <a:pt x="661232" y="1288"/>
                  </a:lnTo>
                  <a:lnTo>
                    <a:pt x="737737" y="327"/>
                  </a:lnTo>
                  <a:lnTo>
                    <a:pt x="816355" y="0"/>
                  </a:lnTo>
                  <a:lnTo>
                    <a:pt x="894995" y="327"/>
                  </a:lnTo>
                  <a:lnTo>
                    <a:pt x="971519" y="1288"/>
                  </a:lnTo>
                  <a:lnTo>
                    <a:pt x="1045584" y="2854"/>
                  </a:lnTo>
                  <a:lnTo>
                    <a:pt x="1116848" y="4994"/>
                  </a:lnTo>
                  <a:lnTo>
                    <a:pt x="1184970" y="7678"/>
                  </a:lnTo>
                  <a:lnTo>
                    <a:pt x="1249608" y="10876"/>
                  </a:lnTo>
                  <a:lnTo>
                    <a:pt x="1310419" y="14558"/>
                  </a:lnTo>
                  <a:lnTo>
                    <a:pt x="1367062" y="18694"/>
                  </a:lnTo>
                  <a:lnTo>
                    <a:pt x="1419194" y="23254"/>
                  </a:lnTo>
                  <a:lnTo>
                    <a:pt x="1466474" y="28207"/>
                  </a:lnTo>
                  <a:lnTo>
                    <a:pt x="1508560" y="33524"/>
                  </a:lnTo>
                  <a:lnTo>
                    <a:pt x="1575780" y="45127"/>
                  </a:lnTo>
                  <a:lnTo>
                    <a:pt x="1618118" y="57824"/>
                  </a:lnTo>
                  <a:lnTo>
                    <a:pt x="1632839" y="71374"/>
                  </a:lnTo>
                  <a:lnTo>
                    <a:pt x="1632839" y="356870"/>
                  </a:lnTo>
                  <a:lnTo>
                    <a:pt x="1600230" y="376889"/>
                  </a:lnTo>
                  <a:lnTo>
                    <a:pt x="1545109" y="389069"/>
                  </a:lnTo>
                  <a:lnTo>
                    <a:pt x="1466474" y="400036"/>
                  </a:lnTo>
                  <a:lnTo>
                    <a:pt x="1419194" y="404989"/>
                  </a:lnTo>
                  <a:lnTo>
                    <a:pt x="1367062" y="409549"/>
                  </a:lnTo>
                  <a:lnTo>
                    <a:pt x="1310419" y="413685"/>
                  </a:lnTo>
                  <a:lnTo>
                    <a:pt x="1249608" y="417367"/>
                  </a:lnTo>
                  <a:lnTo>
                    <a:pt x="1184970" y="420565"/>
                  </a:lnTo>
                  <a:lnTo>
                    <a:pt x="1116848" y="423249"/>
                  </a:lnTo>
                  <a:lnTo>
                    <a:pt x="1045584" y="425389"/>
                  </a:lnTo>
                  <a:lnTo>
                    <a:pt x="971519" y="426955"/>
                  </a:lnTo>
                  <a:lnTo>
                    <a:pt x="894995" y="427916"/>
                  </a:lnTo>
                  <a:lnTo>
                    <a:pt x="816355" y="428244"/>
                  </a:lnTo>
                  <a:lnTo>
                    <a:pt x="737737" y="427916"/>
                  </a:lnTo>
                  <a:lnTo>
                    <a:pt x="661232" y="426955"/>
                  </a:lnTo>
                  <a:lnTo>
                    <a:pt x="587183" y="425389"/>
                  </a:lnTo>
                  <a:lnTo>
                    <a:pt x="515933" y="423249"/>
                  </a:lnTo>
                  <a:lnTo>
                    <a:pt x="447823" y="420565"/>
                  </a:lnTo>
                  <a:lnTo>
                    <a:pt x="383195" y="417367"/>
                  </a:lnTo>
                  <a:lnTo>
                    <a:pt x="322393" y="413685"/>
                  </a:lnTo>
                  <a:lnTo>
                    <a:pt x="265757" y="409549"/>
                  </a:lnTo>
                  <a:lnTo>
                    <a:pt x="213630" y="404989"/>
                  </a:lnTo>
                  <a:lnTo>
                    <a:pt x="166355" y="400036"/>
                  </a:lnTo>
                  <a:lnTo>
                    <a:pt x="124273" y="394719"/>
                  </a:lnTo>
                  <a:lnTo>
                    <a:pt x="57057" y="383116"/>
                  </a:lnTo>
                  <a:lnTo>
                    <a:pt x="14720" y="370419"/>
                  </a:lnTo>
                  <a:lnTo>
                    <a:pt x="0" y="356870"/>
                  </a:lnTo>
                  <a:lnTo>
                    <a:pt x="0" y="71374"/>
                  </a:lnTo>
                  <a:close/>
                </a:path>
              </a:pathLst>
            </a:custGeom>
            <a:ln w="31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8916" y="1345616"/>
            <a:ext cx="5264150" cy="227901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Component</a:t>
            </a:r>
            <a:r>
              <a:rPr kumimoji="0" sz="1000" b="1" i="0" u="none" strike="noStrike" kern="0" cap="none" spc="-5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teams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Made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up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experts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specialize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specific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domain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Architecture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diagram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represented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layer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Advantages: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 is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always done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specifically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qualified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 is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done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efficiently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low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defect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density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716654" marR="0" lvl="0" indent="0" algn="ctr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Team1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 (UI)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3928745" marR="202565" lvl="0" indent="0" algn="ctr" defTabSz="914400" eaLnBrk="1" fontAlgn="auto" latinLnBrk="0" hangingPunct="1">
              <a:lnSpc>
                <a:spcPct val="2173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Team2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(Business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logic)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Team3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 (DB)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0" marR="508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Architecture</a:t>
            </a:r>
            <a:r>
              <a:rPr kumimoji="0" sz="11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11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egoe UI"/>
                <a:cs typeface="Segoe UI"/>
              </a:rPr>
              <a:t>diagram</a:t>
            </a:r>
            <a:endParaRPr kumimoji="0" sz="1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33424" y="4977460"/>
            <a:ext cx="1638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Process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8916" y="5322934"/>
            <a:ext cx="3547110" cy="166814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Component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teams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Disadvantages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ts val="1025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Working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Component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increases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amount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time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it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0" lvl="0" indent="0" defTabSz="914400" eaLnBrk="1" fontAlgn="auto" latinLnBrk="0" hangingPunct="1">
              <a:lnSpc>
                <a:spcPts val="10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takes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deliver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150495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working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Component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will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negative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effect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productivity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cannot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over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emphasized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123189" lvl="1" indent="-114300" defTabSz="914400" eaLnBrk="1" fontAlgn="auto" latinLnBrk="0" hangingPunct="1">
              <a:lnSpc>
                <a:spcPts val="860"/>
              </a:lnSpc>
              <a:spcBef>
                <a:spcPts val="2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(Example: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if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business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logic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starts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piece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work,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them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complete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work,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need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define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interface between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their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layer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other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layers)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135890" lvl="0" indent="-114300" defTabSz="914400" eaLnBrk="1" fontAlgn="auto" latinLnBrk="0" hangingPunct="1">
              <a:lnSpc>
                <a:spcPts val="969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Running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Component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leaves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vulnerable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risk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will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perform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non-optimum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at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expense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items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more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valuable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business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35335" y="6904799"/>
            <a:ext cx="1636395" cy="431800"/>
            <a:chOff x="4335335" y="6904799"/>
            <a:chExt cx="1636395" cy="43180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36922" y="6906386"/>
              <a:ext cx="1632839" cy="42824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336922" y="6906386"/>
              <a:ext cx="1633220" cy="428625"/>
            </a:xfrm>
            <a:custGeom>
              <a:avLst/>
              <a:gdLst/>
              <a:ahLst/>
              <a:cxnLst/>
              <a:rect l="l" t="t" r="r" b="b"/>
              <a:pathLst>
                <a:path w="1633220" h="428625">
                  <a:moveTo>
                    <a:pt x="1632839" y="71374"/>
                  </a:moveTo>
                  <a:lnTo>
                    <a:pt x="1600230" y="91438"/>
                  </a:lnTo>
                  <a:lnTo>
                    <a:pt x="1545109" y="103629"/>
                  </a:lnTo>
                  <a:lnTo>
                    <a:pt x="1466474" y="114594"/>
                  </a:lnTo>
                  <a:lnTo>
                    <a:pt x="1419194" y="119544"/>
                  </a:lnTo>
                  <a:lnTo>
                    <a:pt x="1367062" y="124098"/>
                  </a:lnTo>
                  <a:lnTo>
                    <a:pt x="1310419" y="128227"/>
                  </a:lnTo>
                  <a:lnTo>
                    <a:pt x="1249608" y="131901"/>
                  </a:lnTo>
                  <a:lnTo>
                    <a:pt x="1184970" y="135092"/>
                  </a:lnTo>
                  <a:lnTo>
                    <a:pt x="1116848" y="137769"/>
                  </a:lnTo>
                  <a:lnTo>
                    <a:pt x="1045584" y="139903"/>
                  </a:lnTo>
                  <a:lnTo>
                    <a:pt x="971519" y="141463"/>
                  </a:lnTo>
                  <a:lnTo>
                    <a:pt x="894995" y="142422"/>
                  </a:lnTo>
                  <a:lnTo>
                    <a:pt x="816355" y="142748"/>
                  </a:lnTo>
                  <a:lnTo>
                    <a:pt x="737737" y="142422"/>
                  </a:lnTo>
                  <a:lnTo>
                    <a:pt x="661232" y="141463"/>
                  </a:lnTo>
                  <a:lnTo>
                    <a:pt x="587183" y="139903"/>
                  </a:lnTo>
                  <a:lnTo>
                    <a:pt x="515933" y="137769"/>
                  </a:lnTo>
                  <a:lnTo>
                    <a:pt x="447823" y="135092"/>
                  </a:lnTo>
                  <a:lnTo>
                    <a:pt x="383195" y="131901"/>
                  </a:lnTo>
                  <a:lnTo>
                    <a:pt x="322393" y="128227"/>
                  </a:lnTo>
                  <a:lnTo>
                    <a:pt x="265757" y="124098"/>
                  </a:lnTo>
                  <a:lnTo>
                    <a:pt x="213630" y="119544"/>
                  </a:lnTo>
                  <a:lnTo>
                    <a:pt x="166355" y="114594"/>
                  </a:lnTo>
                  <a:lnTo>
                    <a:pt x="124273" y="109280"/>
                  </a:lnTo>
                  <a:lnTo>
                    <a:pt x="57057" y="97672"/>
                  </a:lnTo>
                  <a:lnTo>
                    <a:pt x="14720" y="84958"/>
                  </a:lnTo>
                  <a:lnTo>
                    <a:pt x="3737" y="78260"/>
                  </a:lnTo>
                  <a:lnTo>
                    <a:pt x="0" y="71374"/>
                  </a:lnTo>
                </a:path>
                <a:path w="1633220" h="428625">
                  <a:moveTo>
                    <a:pt x="0" y="71374"/>
                  </a:moveTo>
                  <a:lnTo>
                    <a:pt x="32607" y="51354"/>
                  </a:lnTo>
                  <a:lnTo>
                    <a:pt x="87726" y="39174"/>
                  </a:lnTo>
                  <a:lnTo>
                    <a:pt x="166355" y="28207"/>
                  </a:lnTo>
                  <a:lnTo>
                    <a:pt x="213630" y="23254"/>
                  </a:lnTo>
                  <a:lnTo>
                    <a:pt x="265757" y="18694"/>
                  </a:lnTo>
                  <a:lnTo>
                    <a:pt x="322393" y="14558"/>
                  </a:lnTo>
                  <a:lnTo>
                    <a:pt x="383195" y="10876"/>
                  </a:lnTo>
                  <a:lnTo>
                    <a:pt x="447823" y="7678"/>
                  </a:lnTo>
                  <a:lnTo>
                    <a:pt x="515933" y="4994"/>
                  </a:lnTo>
                  <a:lnTo>
                    <a:pt x="587183" y="2854"/>
                  </a:lnTo>
                  <a:lnTo>
                    <a:pt x="661232" y="1288"/>
                  </a:lnTo>
                  <a:lnTo>
                    <a:pt x="737737" y="327"/>
                  </a:lnTo>
                  <a:lnTo>
                    <a:pt x="816355" y="0"/>
                  </a:lnTo>
                  <a:lnTo>
                    <a:pt x="894995" y="327"/>
                  </a:lnTo>
                  <a:lnTo>
                    <a:pt x="971519" y="1288"/>
                  </a:lnTo>
                  <a:lnTo>
                    <a:pt x="1045584" y="2854"/>
                  </a:lnTo>
                  <a:lnTo>
                    <a:pt x="1116848" y="4994"/>
                  </a:lnTo>
                  <a:lnTo>
                    <a:pt x="1184970" y="7678"/>
                  </a:lnTo>
                  <a:lnTo>
                    <a:pt x="1249608" y="10876"/>
                  </a:lnTo>
                  <a:lnTo>
                    <a:pt x="1310419" y="14558"/>
                  </a:lnTo>
                  <a:lnTo>
                    <a:pt x="1367062" y="18694"/>
                  </a:lnTo>
                  <a:lnTo>
                    <a:pt x="1419194" y="23254"/>
                  </a:lnTo>
                  <a:lnTo>
                    <a:pt x="1466474" y="28207"/>
                  </a:lnTo>
                  <a:lnTo>
                    <a:pt x="1508560" y="33524"/>
                  </a:lnTo>
                  <a:lnTo>
                    <a:pt x="1575780" y="45127"/>
                  </a:lnTo>
                  <a:lnTo>
                    <a:pt x="1618118" y="57824"/>
                  </a:lnTo>
                  <a:lnTo>
                    <a:pt x="1632839" y="71374"/>
                  </a:lnTo>
                  <a:lnTo>
                    <a:pt x="1632839" y="356870"/>
                  </a:lnTo>
                  <a:lnTo>
                    <a:pt x="1600230" y="376889"/>
                  </a:lnTo>
                  <a:lnTo>
                    <a:pt x="1545109" y="389069"/>
                  </a:lnTo>
                  <a:lnTo>
                    <a:pt x="1466474" y="400036"/>
                  </a:lnTo>
                  <a:lnTo>
                    <a:pt x="1419194" y="404989"/>
                  </a:lnTo>
                  <a:lnTo>
                    <a:pt x="1367062" y="409549"/>
                  </a:lnTo>
                  <a:lnTo>
                    <a:pt x="1310419" y="413685"/>
                  </a:lnTo>
                  <a:lnTo>
                    <a:pt x="1249608" y="417367"/>
                  </a:lnTo>
                  <a:lnTo>
                    <a:pt x="1184970" y="420565"/>
                  </a:lnTo>
                  <a:lnTo>
                    <a:pt x="1116848" y="423249"/>
                  </a:lnTo>
                  <a:lnTo>
                    <a:pt x="1045584" y="425389"/>
                  </a:lnTo>
                  <a:lnTo>
                    <a:pt x="971519" y="426955"/>
                  </a:lnTo>
                  <a:lnTo>
                    <a:pt x="894995" y="427916"/>
                  </a:lnTo>
                  <a:lnTo>
                    <a:pt x="816355" y="428244"/>
                  </a:lnTo>
                  <a:lnTo>
                    <a:pt x="737737" y="427916"/>
                  </a:lnTo>
                  <a:lnTo>
                    <a:pt x="661232" y="426955"/>
                  </a:lnTo>
                  <a:lnTo>
                    <a:pt x="587183" y="425389"/>
                  </a:lnTo>
                  <a:lnTo>
                    <a:pt x="515933" y="423249"/>
                  </a:lnTo>
                  <a:lnTo>
                    <a:pt x="447823" y="420565"/>
                  </a:lnTo>
                  <a:lnTo>
                    <a:pt x="383195" y="417367"/>
                  </a:lnTo>
                  <a:lnTo>
                    <a:pt x="322393" y="413685"/>
                  </a:lnTo>
                  <a:lnTo>
                    <a:pt x="265757" y="409549"/>
                  </a:lnTo>
                  <a:lnTo>
                    <a:pt x="213630" y="404989"/>
                  </a:lnTo>
                  <a:lnTo>
                    <a:pt x="166355" y="400036"/>
                  </a:lnTo>
                  <a:lnTo>
                    <a:pt x="124273" y="394719"/>
                  </a:lnTo>
                  <a:lnTo>
                    <a:pt x="57057" y="383116"/>
                  </a:lnTo>
                  <a:lnTo>
                    <a:pt x="14720" y="370419"/>
                  </a:lnTo>
                  <a:lnTo>
                    <a:pt x="0" y="356870"/>
                  </a:lnTo>
                  <a:lnTo>
                    <a:pt x="0" y="71374"/>
                  </a:lnTo>
                  <a:close/>
                </a:path>
              </a:pathLst>
            </a:custGeom>
            <a:ln w="317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854321" y="7073265"/>
            <a:ext cx="597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Team3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 (DB)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335335" y="6606730"/>
            <a:ext cx="1636395" cy="431800"/>
            <a:chOff x="4335335" y="6606730"/>
            <a:chExt cx="1636395" cy="431800"/>
          </a:xfrm>
        </p:grpSpPr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36922" y="6608318"/>
              <a:ext cx="1632839" cy="42811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336922" y="6608318"/>
              <a:ext cx="1633220" cy="428625"/>
            </a:xfrm>
            <a:custGeom>
              <a:avLst/>
              <a:gdLst/>
              <a:ahLst/>
              <a:cxnLst/>
              <a:rect l="l" t="t" r="r" b="b"/>
              <a:pathLst>
                <a:path w="1633220" h="428625">
                  <a:moveTo>
                    <a:pt x="1632839" y="71373"/>
                  </a:moveTo>
                  <a:lnTo>
                    <a:pt x="1600230" y="91393"/>
                  </a:lnTo>
                  <a:lnTo>
                    <a:pt x="1545109" y="103573"/>
                  </a:lnTo>
                  <a:lnTo>
                    <a:pt x="1466474" y="114540"/>
                  </a:lnTo>
                  <a:lnTo>
                    <a:pt x="1419194" y="119493"/>
                  </a:lnTo>
                  <a:lnTo>
                    <a:pt x="1367062" y="124053"/>
                  </a:lnTo>
                  <a:lnTo>
                    <a:pt x="1310419" y="128189"/>
                  </a:lnTo>
                  <a:lnTo>
                    <a:pt x="1249608" y="131871"/>
                  </a:lnTo>
                  <a:lnTo>
                    <a:pt x="1184970" y="135069"/>
                  </a:lnTo>
                  <a:lnTo>
                    <a:pt x="1116848" y="137753"/>
                  </a:lnTo>
                  <a:lnTo>
                    <a:pt x="1045584" y="139893"/>
                  </a:lnTo>
                  <a:lnTo>
                    <a:pt x="971519" y="141459"/>
                  </a:lnTo>
                  <a:lnTo>
                    <a:pt x="894995" y="142420"/>
                  </a:lnTo>
                  <a:lnTo>
                    <a:pt x="816355" y="142747"/>
                  </a:lnTo>
                  <a:lnTo>
                    <a:pt x="737737" y="142420"/>
                  </a:lnTo>
                  <a:lnTo>
                    <a:pt x="661232" y="141459"/>
                  </a:lnTo>
                  <a:lnTo>
                    <a:pt x="587183" y="139893"/>
                  </a:lnTo>
                  <a:lnTo>
                    <a:pt x="515933" y="137753"/>
                  </a:lnTo>
                  <a:lnTo>
                    <a:pt x="447823" y="135069"/>
                  </a:lnTo>
                  <a:lnTo>
                    <a:pt x="383195" y="131871"/>
                  </a:lnTo>
                  <a:lnTo>
                    <a:pt x="322393" y="128189"/>
                  </a:lnTo>
                  <a:lnTo>
                    <a:pt x="265757" y="124053"/>
                  </a:lnTo>
                  <a:lnTo>
                    <a:pt x="213630" y="119493"/>
                  </a:lnTo>
                  <a:lnTo>
                    <a:pt x="166355" y="114540"/>
                  </a:lnTo>
                  <a:lnTo>
                    <a:pt x="124273" y="109223"/>
                  </a:lnTo>
                  <a:lnTo>
                    <a:pt x="57057" y="97620"/>
                  </a:lnTo>
                  <a:lnTo>
                    <a:pt x="14720" y="84923"/>
                  </a:lnTo>
                  <a:lnTo>
                    <a:pt x="3737" y="78240"/>
                  </a:lnTo>
                  <a:lnTo>
                    <a:pt x="0" y="71373"/>
                  </a:lnTo>
                </a:path>
                <a:path w="1633220" h="428625">
                  <a:moveTo>
                    <a:pt x="0" y="71373"/>
                  </a:moveTo>
                  <a:lnTo>
                    <a:pt x="32607" y="51309"/>
                  </a:lnTo>
                  <a:lnTo>
                    <a:pt x="87726" y="39118"/>
                  </a:lnTo>
                  <a:lnTo>
                    <a:pt x="166355" y="28153"/>
                  </a:lnTo>
                  <a:lnTo>
                    <a:pt x="213630" y="23203"/>
                  </a:lnTo>
                  <a:lnTo>
                    <a:pt x="265757" y="18649"/>
                  </a:lnTo>
                  <a:lnTo>
                    <a:pt x="322393" y="14520"/>
                  </a:lnTo>
                  <a:lnTo>
                    <a:pt x="383195" y="10846"/>
                  </a:lnTo>
                  <a:lnTo>
                    <a:pt x="447823" y="7655"/>
                  </a:lnTo>
                  <a:lnTo>
                    <a:pt x="515933" y="4978"/>
                  </a:lnTo>
                  <a:lnTo>
                    <a:pt x="587183" y="2844"/>
                  </a:lnTo>
                  <a:lnTo>
                    <a:pt x="661232" y="1284"/>
                  </a:lnTo>
                  <a:lnTo>
                    <a:pt x="737737" y="325"/>
                  </a:lnTo>
                  <a:lnTo>
                    <a:pt x="816355" y="0"/>
                  </a:lnTo>
                  <a:lnTo>
                    <a:pt x="894995" y="325"/>
                  </a:lnTo>
                  <a:lnTo>
                    <a:pt x="971519" y="1284"/>
                  </a:lnTo>
                  <a:lnTo>
                    <a:pt x="1045584" y="2844"/>
                  </a:lnTo>
                  <a:lnTo>
                    <a:pt x="1116848" y="4978"/>
                  </a:lnTo>
                  <a:lnTo>
                    <a:pt x="1184970" y="7655"/>
                  </a:lnTo>
                  <a:lnTo>
                    <a:pt x="1249608" y="10846"/>
                  </a:lnTo>
                  <a:lnTo>
                    <a:pt x="1310419" y="14520"/>
                  </a:lnTo>
                  <a:lnTo>
                    <a:pt x="1367062" y="18649"/>
                  </a:lnTo>
                  <a:lnTo>
                    <a:pt x="1419194" y="23203"/>
                  </a:lnTo>
                  <a:lnTo>
                    <a:pt x="1466474" y="28153"/>
                  </a:lnTo>
                  <a:lnTo>
                    <a:pt x="1508560" y="33467"/>
                  </a:lnTo>
                  <a:lnTo>
                    <a:pt x="1575780" y="45075"/>
                  </a:lnTo>
                  <a:lnTo>
                    <a:pt x="1618118" y="57789"/>
                  </a:lnTo>
                  <a:lnTo>
                    <a:pt x="1632839" y="71373"/>
                  </a:lnTo>
                  <a:lnTo>
                    <a:pt x="1632839" y="356742"/>
                  </a:lnTo>
                  <a:lnTo>
                    <a:pt x="1600230" y="376807"/>
                  </a:lnTo>
                  <a:lnTo>
                    <a:pt x="1545109" y="388998"/>
                  </a:lnTo>
                  <a:lnTo>
                    <a:pt x="1466474" y="399963"/>
                  </a:lnTo>
                  <a:lnTo>
                    <a:pt x="1419194" y="404913"/>
                  </a:lnTo>
                  <a:lnTo>
                    <a:pt x="1367062" y="409467"/>
                  </a:lnTo>
                  <a:lnTo>
                    <a:pt x="1310419" y="413596"/>
                  </a:lnTo>
                  <a:lnTo>
                    <a:pt x="1249608" y="417270"/>
                  </a:lnTo>
                  <a:lnTo>
                    <a:pt x="1184970" y="420461"/>
                  </a:lnTo>
                  <a:lnTo>
                    <a:pt x="1116848" y="423138"/>
                  </a:lnTo>
                  <a:lnTo>
                    <a:pt x="1045584" y="425272"/>
                  </a:lnTo>
                  <a:lnTo>
                    <a:pt x="971519" y="426832"/>
                  </a:lnTo>
                  <a:lnTo>
                    <a:pt x="894995" y="427791"/>
                  </a:lnTo>
                  <a:lnTo>
                    <a:pt x="816355" y="428116"/>
                  </a:lnTo>
                  <a:lnTo>
                    <a:pt x="737737" y="427791"/>
                  </a:lnTo>
                  <a:lnTo>
                    <a:pt x="661232" y="426832"/>
                  </a:lnTo>
                  <a:lnTo>
                    <a:pt x="587183" y="425272"/>
                  </a:lnTo>
                  <a:lnTo>
                    <a:pt x="515933" y="423138"/>
                  </a:lnTo>
                  <a:lnTo>
                    <a:pt x="447823" y="420461"/>
                  </a:lnTo>
                  <a:lnTo>
                    <a:pt x="383195" y="417270"/>
                  </a:lnTo>
                  <a:lnTo>
                    <a:pt x="322393" y="413596"/>
                  </a:lnTo>
                  <a:lnTo>
                    <a:pt x="265757" y="409467"/>
                  </a:lnTo>
                  <a:lnTo>
                    <a:pt x="213630" y="404913"/>
                  </a:lnTo>
                  <a:lnTo>
                    <a:pt x="166355" y="399963"/>
                  </a:lnTo>
                  <a:lnTo>
                    <a:pt x="124273" y="394649"/>
                  </a:lnTo>
                  <a:lnTo>
                    <a:pt x="57057" y="383041"/>
                  </a:lnTo>
                  <a:lnTo>
                    <a:pt x="14720" y="370327"/>
                  </a:lnTo>
                  <a:lnTo>
                    <a:pt x="0" y="356742"/>
                  </a:lnTo>
                  <a:lnTo>
                    <a:pt x="0" y="71373"/>
                  </a:lnTo>
                  <a:close/>
                </a:path>
              </a:pathLst>
            </a:custGeom>
            <a:ln w="317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578477" y="6774942"/>
            <a:ext cx="11506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Team2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(Business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logic)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335335" y="6308534"/>
            <a:ext cx="1636395" cy="431800"/>
            <a:chOff x="4335335" y="6308534"/>
            <a:chExt cx="1636395" cy="431800"/>
          </a:xfrm>
        </p:grpSpPr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36922" y="6310121"/>
              <a:ext cx="1632839" cy="42811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336922" y="6310121"/>
              <a:ext cx="1633220" cy="428625"/>
            </a:xfrm>
            <a:custGeom>
              <a:avLst/>
              <a:gdLst/>
              <a:ahLst/>
              <a:cxnLst/>
              <a:rect l="l" t="t" r="r" b="b"/>
              <a:pathLst>
                <a:path w="1633220" h="428625">
                  <a:moveTo>
                    <a:pt x="1632839" y="71373"/>
                  </a:moveTo>
                  <a:lnTo>
                    <a:pt x="1600230" y="91393"/>
                  </a:lnTo>
                  <a:lnTo>
                    <a:pt x="1545109" y="103573"/>
                  </a:lnTo>
                  <a:lnTo>
                    <a:pt x="1466474" y="114540"/>
                  </a:lnTo>
                  <a:lnTo>
                    <a:pt x="1419194" y="119493"/>
                  </a:lnTo>
                  <a:lnTo>
                    <a:pt x="1367062" y="124053"/>
                  </a:lnTo>
                  <a:lnTo>
                    <a:pt x="1310419" y="128189"/>
                  </a:lnTo>
                  <a:lnTo>
                    <a:pt x="1249608" y="131871"/>
                  </a:lnTo>
                  <a:lnTo>
                    <a:pt x="1184970" y="135069"/>
                  </a:lnTo>
                  <a:lnTo>
                    <a:pt x="1116848" y="137753"/>
                  </a:lnTo>
                  <a:lnTo>
                    <a:pt x="1045584" y="139893"/>
                  </a:lnTo>
                  <a:lnTo>
                    <a:pt x="971519" y="141459"/>
                  </a:lnTo>
                  <a:lnTo>
                    <a:pt x="894995" y="142420"/>
                  </a:lnTo>
                  <a:lnTo>
                    <a:pt x="816355" y="142747"/>
                  </a:lnTo>
                  <a:lnTo>
                    <a:pt x="737737" y="142420"/>
                  </a:lnTo>
                  <a:lnTo>
                    <a:pt x="661232" y="141459"/>
                  </a:lnTo>
                  <a:lnTo>
                    <a:pt x="587183" y="139893"/>
                  </a:lnTo>
                  <a:lnTo>
                    <a:pt x="515933" y="137753"/>
                  </a:lnTo>
                  <a:lnTo>
                    <a:pt x="447823" y="135069"/>
                  </a:lnTo>
                  <a:lnTo>
                    <a:pt x="383195" y="131871"/>
                  </a:lnTo>
                  <a:lnTo>
                    <a:pt x="322393" y="128189"/>
                  </a:lnTo>
                  <a:lnTo>
                    <a:pt x="265757" y="124053"/>
                  </a:lnTo>
                  <a:lnTo>
                    <a:pt x="213630" y="119493"/>
                  </a:lnTo>
                  <a:lnTo>
                    <a:pt x="166355" y="114540"/>
                  </a:lnTo>
                  <a:lnTo>
                    <a:pt x="124273" y="109223"/>
                  </a:lnTo>
                  <a:lnTo>
                    <a:pt x="57057" y="97620"/>
                  </a:lnTo>
                  <a:lnTo>
                    <a:pt x="14720" y="84923"/>
                  </a:lnTo>
                  <a:lnTo>
                    <a:pt x="3737" y="78240"/>
                  </a:lnTo>
                  <a:lnTo>
                    <a:pt x="0" y="71373"/>
                  </a:lnTo>
                </a:path>
                <a:path w="1633220" h="428625">
                  <a:moveTo>
                    <a:pt x="0" y="71373"/>
                  </a:moveTo>
                  <a:lnTo>
                    <a:pt x="32607" y="51354"/>
                  </a:lnTo>
                  <a:lnTo>
                    <a:pt x="87726" y="39174"/>
                  </a:lnTo>
                  <a:lnTo>
                    <a:pt x="166355" y="28207"/>
                  </a:lnTo>
                  <a:lnTo>
                    <a:pt x="213630" y="23254"/>
                  </a:lnTo>
                  <a:lnTo>
                    <a:pt x="265757" y="18694"/>
                  </a:lnTo>
                  <a:lnTo>
                    <a:pt x="322393" y="14558"/>
                  </a:lnTo>
                  <a:lnTo>
                    <a:pt x="383195" y="10876"/>
                  </a:lnTo>
                  <a:lnTo>
                    <a:pt x="447823" y="7678"/>
                  </a:lnTo>
                  <a:lnTo>
                    <a:pt x="515933" y="4994"/>
                  </a:lnTo>
                  <a:lnTo>
                    <a:pt x="587183" y="2854"/>
                  </a:lnTo>
                  <a:lnTo>
                    <a:pt x="661232" y="1288"/>
                  </a:lnTo>
                  <a:lnTo>
                    <a:pt x="737737" y="327"/>
                  </a:lnTo>
                  <a:lnTo>
                    <a:pt x="816355" y="0"/>
                  </a:lnTo>
                  <a:lnTo>
                    <a:pt x="894995" y="327"/>
                  </a:lnTo>
                  <a:lnTo>
                    <a:pt x="971519" y="1288"/>
                  </a:lnTo>
                  <a:lnTo>
                    <a:pt x="1045584" y="2854"/>
                  </a:lnTo>
                  <a:lnTo>
                    <a:pt x="1116848" y="4994"/>
                  </a:lnTo>
                  <a:lnTo>
                    <a:pt x="1184970" y="7678"/>
                  </a:lnTo>
                  <a:lnTo>
                    <a:pt x="1249608" y="10876"/>
                  </a:lnTo>
                  <a:lnTo>
                    <a:pt x="1310419" y="14558"/>
                  </a:lnTo>
                  <a:lnTo>
                    <a:pt x="1367062" y="18694"/>
                  </a:lnTo>
                  <a:lnTo>
                    <a:pt x="1419194" y="23254"/>
                  </a:lnTo>
                  <a:lnTo>
                    <a:pt x="1466474" y="28207"/>
                  </a:lnTo>
                  <a:lnTo>
                    <a:pt x="1508560" y="33524"/>
                  </a:lnTo>
                  <a:lnTo>
                    <a:pt x="1575780" y="45127"/>
                  </a:lnTo>
                  <a:lnTo>
                    <a:pt x="1618118" y="57824"/>
                  </a:lnTo>
                  <a:lnTo>
                    <a:pt x="1632839" y="71373"/>
                  </a:lnTo>
                  <a:lnTo>
                    <a:pt x="1632839" y="356742"/>
                  </a:lnTo>
                  <a:lnTo>
                    <a:pt x="1600230" y="376807"/>
                  </a:lnTo>
                  <a:lnTo>
                    <a:pt x="1545109" y="388998"/>
                  </a:lnTo>
                  <a:lnTo>
                    <a:pt x="1466474" y="399963"/>
                  </a:lnTo>
                  <a:lnTo>
                    <a:pt x="1419194" y="404913"/>
                  </a:lnTo>
                  <a:lnTo>
                    <a:pt x="1367062" y="409467"/>
                  </a:lnTo>
                  <a:lnTo>
                    <a:pt x="1310419" y="413596"/>
                  </a:lnTo>
                  <a:lnTo>
                    <a:pt x="1249608" y="417270"/>
                  </a:lnTo>
                  <a:lnTo>
                    <a:pt x="1184970" y="420461"/>
                  </a:lnTo>
                  <a:lnTo>
                    <a:pt x="1116848" y="423138"/>
                  </a:lnTo>
                  <a:lnTo>
                    <a:pt x="1045584" y="425272"/>
                  </a:lnTo>
                  <a:lnTo>
                    <a:pt x="971519" y="426832"/>
                  </a:lnTo>
                  <a:lnTo>
                    <a:pt x="894995" y="427791"/>
                  </a:lnTo>
                  <a:lnTo>
                    <a:pt x="816355" y="428116"/>
                  </a:lnTo>
                  <a:lnTo>
                    <a:pt x="737737" y="427791"/>
                  </a:lnTo>
                  <a:lnTo>
                    <a:pt x="661232" y="426832"/>
                  </a:lnTo>
                  <a:lnTo>
                    <a:pt x="587183" y="425272"/>
                  </a:lnTo>
                  <a:lnTo>
                    <a:pt x="515933" y="423138"/>
                  </a:lnTo>
                  <a:lnTo>
                    <a:pt x="447823" y="420461"/>
                  </a:lnTo>
                  <a:lnTo>
                    <a:pt x="383195" y="417270"/>
                  </a:lnTo>
                  <a:lnTo>
                    <a:pt x="322393" y="413596"/>
                  </a:lnTo>
                  <a:lnTo>
                    <a:pt x="265757" y="409467"/>
                  </a:lnTo>
                  <a:lnTo>
                    <a:pt x="213630" y="404913"/>
                  </a:lnTo>
                  <a:lnTo>
                    <a:pt x="166355" y="399963"/>
                  </a:lnTo>
                  <a:lnTo>
                    <a:pt x="124273" y="394649"/>
                  </a:lnTo>
                  <a:lnTo>
                    <a:pt x="57057" y="383041"/>
                  </a:lnTo>
                  <a:lnTo>
                    <a:pt x="14720" y="370327"/>
                  </a:lnTo>
                  <a:lnTo>
                    <a:pt x="0" y="356742"/>
                  </a:lnTo>
                  <a:lnTo>
                    <a:pt x="0" y="71373"/>
                  </a:lnTo>
                  <a:close/>
                </a:path>
              </a:pathLst>
            </a:custGeom>
            <a:ln w="317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872609" y="6476745"/>
            <a:ext cx="5607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Team1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 (UI)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267200" y="6620509"/>
            <a:ext cx="974725" cy="1190625"/>
            <a:chOff x="4267200" y="6620509"/>
            <a:chExt cx="974725" cy="1190625"/>
          </a:xfrm>
        </p:grpSpPr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11241" y="6620509"/>
              <a:ext cx="130556" cy="1873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11241" y="6925944"/>
              <a:ext cx="130556" cy="208661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434078" y="6742556"/>
              <a:ext cx="706120" cy="883919"/>
            </a:xfrm>
            <a:custGeom>
              <a:avLst/>
              <a:gdLst/>
              <a:ahLst/>
              <a:cxnLst/>
              <a:rect l="l" t="t" r="r" b="b"/>
              <a:pathLst>
                <a:path w="706120" h="883920">
                  <a:moveTo>
                    <a:pt x="680338" y="0"/>
                  </a:moveTo>
                  <a:lnTo>
                    <a:pt x="0" y="883539"/>
                  </a:lnTo>
                </a:path>
                <a:path w="706120" h="883920">
                  <a:moveTo>
                    <a:pt x="705738" y="287655"/>
                  </a:moveTo>
                  <a:lnTo>
                    <a:pt x="0" y="877316"/>
                  </a:lnTo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67200" y="7626083"/>
              <a:ext cx="909332" cy="18467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4267200" y="7626083"/>
            <a:ext cx="909955" cy="184785"/>
          </a:xfrm>
          <a:prstGeom prst="rect">
            <a:avLst/>
          </a:prstGeom>
          <a:ln w="3175">
            <a:solidFill>
              <a:srgbClr val="EC7C30"/>
            </a:solidFill>
          </a:ln>
        </p:spPr>
        <p:txBody>
          <a:bodyPr vert="horz" wrap="square" lIns="0" tIns="20955" rIns="0" bIns="0" rtlCol="0">
            <a:spAutoFit/>
          </a:bodyPr>
          <a:lstStyle/>
          <a:p>
            <a:pPr marL="235585" marR="0" lvl="0" indent="0" defTabSz="914400" eaLnBrk="1" fontAlgn="auto" latinLnBrk="0" hangingPunct="1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Interface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163766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Process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180330" cy="10560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Feature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Teams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contain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multi-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disciplined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individuals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ability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freedom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 work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any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area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system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0" lvl="0" indent="-114300" defTabSz="914400" eaLnBrk="1" fontAlgn="auto" latinLnBrk="0" hangingPunct="1">
              <a:lnSpc>
                <a:spcPts val="969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usually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at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least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member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specialist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knowledge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each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layer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allows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what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known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‘vertical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slices’</a:t>
            </a:r>
            <a:r>
              <a:rPr kumimoji="0" sz="9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architecture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443095" y="2773743"/>
            <a:ext cx="1701038" cy="110750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33424" y="4977460"/>
            <a:ext cx="1638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Process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8916" y="5322934"/>
            <a:ext cx="5153025" cy="15494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characteristics</a:t>
            </a:r>
            <a:r>
              <a:rPr kumimoji="0" sz="1000" b="1" i="0" u="none" strike="noStrike" kern="0" cap="none" spc="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feature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team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ts val="1025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long-lived—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stays together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 they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 ‘jell’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higher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performance;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 take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0" lvl="0" indent="0" defTabSz="914400" eaLnBrk="1" fontAlgn="auto" latinLnBrk="0" hangingPunct="1">
              <a:lnSpc>
                <a:spcPts val="10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new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over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time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cross-functional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cross-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component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located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 on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complete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customer-centric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across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components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disciplines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(analysis,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programming,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testing,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…)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composed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generalizing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specialists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Scrum,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typically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7</a:t>
            </a:r>
            <a:r>
              <a:rPr kumimoji="0" sz="9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±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2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163766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Process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109845" cy="76771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Feature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r>
              <a:rPr kumimoji="0" sz="1000" b="1" i="0" u="none" strike="noStrike" kern="0" cap="none" spc="-4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Disadvantages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What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untrained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inexperienced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employee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deliver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poorly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designed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piece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live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environment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Where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get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personnel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(‘generalizing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specialists’)?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16383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Process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59941" y="5792215"/>
            <a:ext cx="1111250" cy="768350"/>
            <a:chOff x="1559941" y="5792215"/>
            <a:chExt cx="1111250" cy="768350"/>
          </a:xfrm>
        </p:grpSpPr>
        <p:sp>
          <p:nvSpPr>
            <p:cNvPr id="11" name="object 11"/>
            <p:cNvSpPr/>
            <p:nvPr/>
          </p:nvSpPr>
          <p:spPr>
            <a:xfrm>
              <a:off x="1563116" y="5795390"/>
              <a:ext cx="1104900" cy="762000"/>
            </a:xfrm>
            <a:custGeom>
              <a:avLst/>
              <a:gdLst/>
              <a:ahLst/>
              <a:cxnLst/>
              <a:rect l="l" t="t" r="r" b="b"/>
              <a:pathLst>
                <a:path w="1104900" h="762000">
                  <a:moveTo>
                    <a:pt x="552450" y="0"/>
                  </a:moveTo>
                  <a:lnTo>
                    <a:pt x="495974" y="1966"/>
                  </a:lnTo>
                  <a:lnTo>
                    <a:pt x="441128" y="7739"/>
                  </a:lnTo>
                  <a:lnTo>
                    <a:pt x="388188" y="17127"/>
                  </a:lnTo>
                  <a:lnTo>
                    <a:pt x="337435" y="29938"/>
                  </a:lnTo>
                  <a:lnTo>
                    <a:pt x="289144" y="45980"/>
                  </a:lnTo>
                  <a:lnTo>
                    <a:pt x="243594" y="65063"/>
                  </a:lnTo>
                  <a:lnTo>
                    <a:pt x="201063" y="86995"/>
                  </a:lnTo>
                  <a:lnTo>
                    <a:pt x="161829" y="111585"/>
                  </a:lnTo>
                  <a:lnTo>
                    <a:pt x="126170" y="138640"/>
                  </a:lnTo>
                  <a:lnTo>
                    <a:pt x="94364" y="167971"/>
                  </a:lnTo>
                  <a:lnTo>
                    <a:pt x="66688" y="199384"/>
                  </a:lnTo>
                  <a:lnTo>
                    <a:pt x="43422" y="232689"/>
                  </a:lnTo>
                  <a:lnTo>
                    <a:pt x="24841" y="267695"/>
                  </a:lnTo>
                  <a:lnTo>
                    <a:pt x="11226" y="304209"/>
                  </a:lnTo>
                  <a:lnTo>
                    <a:pt x="2852" y="342041"/>
                  </a:lnTo>
                  <a:lnTo>
                    <a:pt x="0" y="381000"/>
                  </a:lnTo>
                  <a:lnTo>
                    <a:pt x="2852" y="419958"/>
                  </a:lnTo>
                  <a:lnTo>
                    <a:pt x="11226" y="457790"/>
                  </a:lnTo>
                  <a:lnTo>
                    <a:pt x="24841" y="494304"/>
                  </a:lnTo>
                  <a:lnTo>
                    <a:pt x="43422" y="529310"/>
                  </a:lnTo>
                  <a:lnTo>
                    <a:pt x="66688" y="562615"/>
                  </a:lnTo>
                  <a:lnTo>
                    <a:pt x="94364" y="594028"/>
                  </a:lnTo>
                  <a:lnTo>
                    <a:pt x="126170" y="623359"/>
                  </a:lnTo>
                  <a:lnTo>
                    <a:pt x="161829" y="650414"/>
                  </a:lnTo>
                  <a:lnTo>
                    <a:pt x="201063" y="675004"/>
                  </a:lnTo>
                  <a:lnTo>
                    <a:pt x="243594" y="696936"/>
                  </a:lnTo>
                  <a:lnTo>
                    <a:pt x="289144" y="716019"/>
                  </a:lnTo>
                  <a:lnTo>
                    <a:pt x="337435" y="732061"/>
                  </a:lnTo>
                  <a:lnTo>
                    <a:pt x="388188" y="744872"/>
                  </a:lnTo>
                  <a:lnTo>
                    <a:pt x="441128" y="754260"/>
                  </a:lnTo>
                  <a:lnTo>
                    <a:pt x="495974" y="760033"/>
                  </a:lnTo>
                  <a:lnTo>
                    <a:pt x="552450" y="762000"/>
                  </a:lnTo>
                  <a:lnTo>
                    <a:pt x="608946" y="760033"/>
                  </a:lnTo>
                  <a:lnTo>
                    <a:pt x="663808" y="754260"/>
                  </a:lnTo>
                  <a:lnTo>
                    <a:pt x="716758" y="744872"/>
                  </a:lnTo>
                  <a:lnTo>
                    <a:pt x="767518" y="732061"/>
                  </a:lnTo>
                  <a:lnTo>
                    <a:pt x="815812" y="716019"/>
                  </a:lnTo>
                  <a:lnTo>
                    <a:pt x="861361" y="696936"/>
                  </a:lnTo>
                  <a:lnTo>
                    <a:pt x="903889" y="675004"/>
                  </a:lnTo>
                  <a:lnTo>
                    <a:pt x="943117" y="650414"/>
                  </a:lnTo>
                  <a:lnTo>
                    <a:pt x="978770" y="623359"/>
                  </a:lnTo>
                  <a:lnTo>
                    <a:pt x="1010569" y="594028"/>
                  </a:lnTo>
                  <a:lnTo>
                    <a:pt x="1038236" y="562615"/>
                  </a:lnTo>
                  <a:lnTo>
                    <a:pt x="1061495" y="529310"/>
                  </a:lnTo>
                  <a:lnTo>
                    <a:pt x="1080069" y="494304"/>
                  </a:lnTo>
                  <a:lnTo>
                    <a:pt x="1093679" y="457790"/>
                  </a:lnTo>
                  <a:lnTo>
                    <a:pt x="1102048" y="419958"/>
                  </a:lnTo>
                  <a:lnTo>
                    <a:pt x="1104900" y="381000"/>
                  </a:lnTo>
                  <a:lnTo>
                    <a:pt x="1102048" y="342041"/>
                  </a:lnTo>
                  <a:lnTo>
                    <a:pt x="1093679" y="304209"/>
                  </a:lnTo>
                  <a:lnTo>
                    <a:pt x="1080069" y="267695"/>
                  </a:lnTo>
                  <a:lnTo>
                    <a:pt x="1061495" y="232689"/>
                  </a:lnTo>
                  <a:lnTo>
                    <a:pt x="1038236" y="199384"/>
                  </a:lnTo>
                  <a:lnTo>
                    <a:pt x="1010569" y="167971"/>
                  </a:lnTo>
                  <a:lnTo>
                    <a:pt x="978770" y="138640"/>
                  </a:lnTo>
                  <a:lnTo>
                    <a:pt x="943117" y="111585"/>
                  </a:lnTo>
                  <a:lnTo>
                    <a:pt x="903889" y="86995"/>
                  </a:lnTo>
                  <a:lnTo>
                    <a:pt x="861361" y="65063"/>
                  </a:lnTo>
                  <a:lnTo>
                    <a:pt x="815812" y="45980"/>
                  </a:lnTo>
                  <a:lnTo>
                    <a:pt x="767518" y="29938"/>
                  </a:lnTo>
                  <a:lnTo>
                    <a:pt x="716758" y="17127"/>
                  </a:lnTo>
                  <a:lnTo>
                    <a:pt x="663808" y="7739"/>
                  </a:lnTo>
                  <a:lnTo>
                    <a:pt x="608946" y="1966"/>
                  </a:lnTo>
                  <a:lnTo>
                    <a:pt x="5524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563116" y="5795390"/>
              <a:ext cx="1104900" cy="762000"/>
            </a:xfrm>
            <a:custGeom>
              <a:avLst/>
              <a:gdLst/>
              <a:ahLst/>
              <a:cxnLst/>
              <a:rect l="l" t="t" r="r" b="b"/>
              <a:pathLst>
                <a:path w="1104900" h="762000">
                  <a:moveTo>
                    <a:pt x="0" y="381000"/>
                  </a:moveTo>
                  <a:lnTo>
                    <a:pt x="2852" y="342041"/>
                  </a:lnTo>
                  <a:lnTo>
                    <a:pt x="11226" y="304209"/>
                  </a:lnTo>
                  <a:lnTo>
                    <a:pt x="24841" y="267695"/>
                  </a:lnTo>
                  <a:lnTo>
                    <a:pt x="43422" y="232689"/>
                  </a:lnTo>
                  <a:lnTo>
                    <a:pt x="66688" y="199384"/>
                  </a:lnTo>
                  <a:lnTo>
                    <a:pt x="94364" y="167971"/>
                  </a:lnTo>
                  <a:lnTo>
                    <a:pt x="126170" y="138640"/>
                  </a:lnTo>
                  <a:lnTo>
                    <a:pt x="161829" y="111585"/>
                  </a:lnTo>
                  <a:lnTo>
                    <a:pt x="201063" y="86995"/>
                  </a:lnTo>
                  <a:lnTo>
                    <a:pt x="243594" y="65063"/>
                  </a:lnTo>
                  <a:lnTo>
                    <a:pt x="289144" y="45980"/>
                  </a:lnTo>
                  <a:lnTo>
                    <a:pt x="337435" y="29938"/>
                  </a:lnTo>
                  <a:lnTo>
                    <a:pt x="388188" y="17127"/>
                  </a:lnTo>
                  <a:lnTo>
                    <a:pt x="441128" y="7739"/>
                  </a:lnTo>
                  <a:lnTo>
                    <a:pt x="495974" y="1966"/>
                  </a:lnTo>
                  <a:lnTo>
                    <a:pt x="552450" y="0"/>
                  </a:lnTo>
                  <a:lnTo>
                    <a:pt x="608946" y="1966"/>
                  </a:lnTo>
                  <a:lnTo>
                    <a:pt x="663808" y="7739"/>
                  </a:lnTo>
                  <a:lnTo>
                    <a:pt x="716758" y="17127"/>
                  </a:lnTo>
                  <a:lnTo>
                    <a:pt x="767518" y="29938"/>
                  </a:lnTo>
                  <a:lnTo>
                    <a:pt x="815812" y="45980"/>
                  </a:lnTo>
                  <a:lnTo>
                    <a:pt x="861361" y="65063"/>
                  </a:lnTo>
                  <a:lnTo>
                    <a:pt x="903889" y="86995"/>
                  </a:lnTo>
                  <a:lnTo>
                    <a:pt x="943117" y="111585"/>
                  </a:lnTo>
                  <a:lnTo>
                    <a:pt x="978770" y="138640"/>
                  </a:lnTo>
                  <a:lnTo>
                    <a:pt x="1010569" y="167971"/>
                  </a:lnTo>
                  <a:lnTo>
                    <a:pt x="1038236" y="199384"/>
                  </a:lnTo>
                  <a:lnTo>
                    <a:pt x="1061495" y="232689"/>
                  </a:lnTo>
                  <a:lnTo>
                    <a:pt x="1080069" y="267695"/>
                  </a:lnTo>
                  <a:lnTo>
                    <a:pt x="1093679" y="304209"/>
                  </a:lnTo>
                  <a:lnTo>
                    <a:pt x="1102048" y="342041"/>
                  </a:lnTo>
                  <a:lnTo>
                    <a:pt x="1104900" y="381000"/>
                  </a:lnTo>
                  <a:lnTo>
                    <a:pt x="1102048" y="419958"/>
                  </a:lnTo>
                  <a:lnTo>
                    <a:pt x="1093679" y="457790"/>
                  </a:lnTo>
                  <a:lnTo>
                    <a:pt x="1080069" y="494304"/>
                  </a:lnTo>
                  <a:lnTo>
                    <a:pt x="1061495" y="529310"/>
                  </a:lnTo>
                  <a:lnTo>
                    <a:pt x="1038236" y="562615"/>
                  </a:lnTo>
                  <a:lnTo>
                    <a:pt x="1010569" y="594028"/>
                  </a:lnTo>
                  <a:lnTo>
                    <a:pt x="978770" y="623359"/>
                  </a:lnTo>
                  <a:lnTo>
                    <a:pt x="943117" y="650414"/>
                  </a:lnTo>
                  <a:lnTo>
                    <a:pt x="903889" y="675004"/>
                  </a:lnTo>
                  <a:lnTo>
                    <a:pt x="861361" y="696936"/>
                  </a:lnTo>
                  <a:lnTo>
                    <a:pt x="815812" y="716019"/>
                  </a:lnTo>
                  <a:lnTo>
                    <a:pt x="767518" y="732061"/>
                  </a:lnTo>
                  <a:lnTo>
                    <a:pt x="716758" y="744872"/>
                  </a:lnTo>
                  <a:lnTo>
                    <a:pt x="663808" y="754260"/>
                  </a:lnTo>
                  <a:lnTo>
                    <a:pt x="608946" y="760033"/>
                  </a:lnTo>
                  <a:lnTo>
                    <a:pt x="552450" y="762000"/>
                  </a:lnTo>
                  <a:lnTo>
                    <a:pt x="495974" y="760033"/>
                  </a:lnTo>
                  <a:lnTo>
                    <a:pt x="441128" y="754260"/>
                  </a:lnTo>
                  <a:lnTo>
                    <a:pt x="388188" y="744872"/>
                  </a:lnTo>
                  <a:lnTo>
                    <a:pt x="337435" y="732061"/>
                  </a:lnTo>
                  <a:lnTo>
                    <a:pt x="289144" y="716019"/>
                  </a:lnTo>
                  <a:lnTo>
                    <a:pt x="243594" y="696936"/>
                  </a:lnTo>
                  <a:lnTo>
                    <a:pt x="201063" y="675004"/>
                  </a:lnTo>
                  <a:lnTo>
                    <a:pt x="161829" y="650414"/>
                  </a:lnTo>
                  <a:lnTo>
                    <a:pt x="126170" y="623359"/>
                  </a:lnTo>
                  <a:lnTo>
                    <a:pt x="94364" y="594028"/>
                  </a:lnTo>
                  <a:lnTo>
                    <a:pt x="66688" y="562615"/>
                  </a:lnTo>
                  <a:lnTo>
                    <a:pt x="43422" y="529310"/>
                  </a:lnTo>
                  <a:lnTo>
                    <a:pt x="24841" y="494304"/>
                  </a:lnTo>
                  <a:lnTo>
                    <a:pt x="11226" y="457790"/>
                  </a:lnTo>
                  <a:lnTo>
                    <a:pt x="2852" y="419958"/>
                  </a:lnTo>
                  <a:lnTo>
                    <a:pt x="0" y="381000"/>
                  </a:lnTo>
                  <a:close/>
                </a:path>
              </a:pathLst>
            </a:custGeom>
            <a:ln w="635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805685" y="6024753"/>
            <a:ext cx="621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4305" marR="5080" lvl="0" indent="-14224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Component Teams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74236" y="5794883"/>
            <a:ext cx="1111250" cy="768350"/>
            <a:chOff x="3674236" y="5794883"/>
            <a:chExt cx="1111250" cy="768350"/>
          </a:xfrm>
        </p:grpSpPr>
        <p:sp>
          <p:nvSpPr>
            <p:cNvPr id="15" name="object 15"/>
            <p:cNvSpPr/>
            <p:nvPr/>
          </p:nvSpPr>
          <p:spPr>
            <a:xfrm>
              <a:off x="3677411" y="5798058"/>
              <a:ext cx="1104900" cy="762000"/>
            </a:xfrm>
            <a:custGeom>
              <a:avLst/>
              <a:gdLst/>
              <a:ahLst/>
              <a:cxnLst/>
              <a:rect l="l" t="t" r="r" b="b"/>
              <a:pathLst>
                <a:path w="1104900" h="762000">
                  <a:moveTo>
                    <a:pt x="552450" y="0"/>
                  </a:moveTo>
                  <a:lnTo>
                    <a:pt x="495974" y="1966"/>
                  </a:lnTo>
                  <a:lnTo>
                    <a:pt x="441128" y="7739"/>
                  </a:lnTo>
                  <a:lnTo>
                    <a:pt x="388188" y="17127"/>
                  </a:lnTo>
                  <a:lnTo>
                    <a:pt x="337435" y="29938"/>
                  </a:lnTo>
                  <a:lnTo>
                    <a:pt x="289144" y="45980"/>
                  </a:lnTo>
                  <a:lnTo>
                    <a:pt x="243594" y="65063"/>
                  </a:lnTo>
                  <a:lnTo>
                    <a:pt x="201063" y="86995"/>
                  </a:lnTo>
                  <a:lnTo>
                    <a:pt x="161829" y="111585"/>
                  </a:lnTo>
                  <a:lnTo>
                    <a:pt x="126170" y="138640"/>
                  </a:lnTo>
                  <a:lnTo>
                    <a:pt x="94364" y="167971"/>
                  </a:lnTo>
                  <a:lnTo>
                    <a:pt x="66688" y="199384"/>
                  </a:lnTo>
                  <a:lnTo>
                    <a:pt x="43422" y="232689"/>
                  </a:lnTo>
                  <a:lnTo>
                    <a:pt x="24841" y="267695"/>
                  </a:lnTo>
                  <a:lnTo>
                    <a:pt x="11226" y="304209"/>
                  </a:lnTo>
                  <a:lnTo>
                    <a:pt x="2852" y="342041"/>
                  </a:lnTo>
                  <a:lnTo>
                    <a:pt x="0" y="380999"/>
                  </a:lnTo>
                  <a:lnTo>
                    <a:pt x="2852" y="419958"/>
                  </a:lnTo>
                  <a:lnTo>
                    <a:pt x="11226" y="457790"/>
                  </a:lnTo>
                  <a:lnTo>
                    <a:pt x="24841" y="494304"/>
                  </a:lnTo>
                  <a:lnTo>
                    <a:pt x="43422" y="529310"/>
                  </a:lnTo>
                  <a:lnTo>
                    <a:pt x="66688" y="562615"/>
                  </a:lnTo>
                  <a:lnTo>
                    <a:pt x="94364" y="594028"/>
                  </a:lnTo>
                  <a:lnTo>
                    <a:pt x="126170" y="623359"/>
                  </a:lnTo>
                  <a:lnTo>
                    <a:pt x="161829" y="650414"/>
                  </a:lnTo>
                  <a:lnTo>
                    <a:pt x="201063" y="675004"/>
                  </a:lnTo>
                  <a:lnTo>
                    <a:pt x="243594" y="696936"/>
                  </a:lnTo>
                  <a:lnTo>
                    <a:pt x="289144" y="716019"/>
                  </a:lnTo>
                  <a:lnTo>
                    <a:pt x="337435" y="732061"/>
                  </a:lnTo>
                  <a:lnTo>
                    <a:pt x="388188" y="744872"/>
                  </a:lnTo>
                  <a:lnTo>
                    <a:pt x="441128" y="754260"/>
                  </a:lnTo>
                  <a:lnTo>
                    <a:pt x="495974" y="760033"/>
                  </a:lnTo>
                  <a:lnTo>
                    <a:pt x="552450" y="761999"/>
                  </a:lnTo>
                  <a:lnTo>
                    <a:pt x="608946" y="760033"/>
                  </a:lnTo>
                  <a:lnTo>
                    <a:pt x="663808" y="754260"/>
                  </a:lnTo>
                  <a:lnTo>
                    <a:pt x="716758" y="744872"/>
                  </a:lnTo>
                  <a:lnTo>
                    <a:pt x="767518" y="732061"/>
                  </a:lnTo>
                  <a:lnTo>
                    <a:pt x="815812" y="716019"/>
                  </a:lnTo>
                  <a:lnTo>
                    <a:pt x="861361" y="696936"/>
                  </a:lnTo>
                  <a:lnTo>
                    <a:pt x="903889" y="675004"/>
                  </a:lnTo>
                  <a:lnTo>
                    <a:pt x="943117" y="650414"/>
                  </a:lnTo>
                  <a:lnTo>
                    <a:pt x="978770" y="623359"/>
                  </a:lnTo>
                  <a:lnTo>
                    <a:pt x="1010569" y="594028"/>
                  </a:lnTo>
                  <a:lnTo>
                    <a:pt x="1038236" y="562615"/>
                  </a:lnTo>
                  <a:lnTo>
                    <a:pt x="1061495" y="529310"/>
                  </a:lnTo>
                  <a:lnTo>
                    <a:pt x="1080069" y="494304"/>
                  </a:lnTo>
                  <a:lnTo>
                    <a:pt x="1093679" y="457790"/>
                  </a:lnTo>
                  <a:lnTo>
                    <a:pt x="1102048" y="419958"/>
                  </a:lnTo>
                  <a:lnTo>
                    <a:pt x="1104900" y="380999"/>
                  </a:lnTo>
                  <a:lnTo>
                    <a:pt x="1102048" y="342041"/>
                  </a:lnTo>
                  <a:lnTo>
                    <a:pt x="1093679" y="304209"/>
                  </a:lnTo>
                  <a:lnTo>
                    <a:pt x="1080069" y="267695"/>
                  </a:lnTo>
                  <a:lnTo>
                    <a:pt x="1061495" y="232689"/>
                  </a:lnTo>
                  <a:lnTo>
                    <a:pt x="1038236" y="199384"/>
                  </a:lnTo>
                  <a:lnTo>
                    <a:pt x="1010569" y="167971"/>
                  </a:lnTo>
                  <a:lnTo>
                    <a:pt x="978770" y="138640"/>
                  </a:lnTo>
                  <a:lnTo>
                    <a:pt x="943117" y="111585"/>
                  </a:lnTo>
                  <a:lnTo>
                    <a:pt x="903889" y="86995"/>
                  </a:lnTo>
                  <a:lnTo>
                    <a:pt x="861361" y="65063"/>
                  </a:lnTo>
                  <a:lnTo>
                    <a:pt x="815812" y="45980"/>
                  </a:lnTo>
                  <a:lnTo>
                    <a:pt x="767518" y="29938"/>
                  </a:lnTo>
                  <a:lnTo>
                    <a:pt x="716758" y="17127"/>
                  </a:lnTo>
                  <a:lnTo>
                    <a:pt x="663808" y="7739"/>
                  </a:lnTo>
                  <a:lnTo>
                    <a:pt x="608946" y="1966"/>
                  </a:lnTo>
                  <a:lnTo>
                    <a:pt x="55245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3677411" y="5798058"/>
              <a:ext cx="1104900" cy="762000"/>
            </a:xfrm>
            <a:custGeom>
              <a:avLst/>
              <a:gdLst/>
              <a:ahLst/>
              <a:cxnLst/>
              <a:rect l="l" t="t" r="r" b="b"/>
              <a:pathLst>
                <a:path w="1104900" h="762000">
                  <a:moveTo>
                    <a:pt x="0" y="380999"/>
                  </a:moveTo>
                  <a:lnTo>
                    <a:pt x="2852" y="342041"/>
                  </a:lnTo>
                  <a:lnTo>
                    <a:pt x="11226" y="304209"/>
                  </a:lnTo>
                  <a:lnTo>
                    <a:pt x="24841" y="267695"/>
                  </a:lnTo>
                  <a:lnTo>
                    <a:pt x="43422" y="232689"/>
                  </a:lnTo>
                  <a:lnTo>
                    <a:pt x="66688" y="199384"/>
                  </a:lnTo>
                  <a:lnTo>
                    <a:pt x="94364" y="167971"/>
                  </a:lnTo>
                  <a:lnTo>
                    <a:pt x="126170" y="138640"/>
                  </a:lnTo>
                  <a:lnTo>
                    <a:pt x="161829" y="111585"/>
                  </a:lnTo>
                  <a:lnTo>
                    <a:pt x="201063" y="86995"/>
                  </a:lnTo>
                  <a:lnTo>
                    <a:pt x="243594" y="65063"/>
                  </a:lnTo>
                  <a:lnTo>
                    <a:pt x="289144" y="45980"/>
                  </a:lnTo>
                  <a:lnTo>
                    <a:pt x="337435" y="29938"/>
                  </a:lnTo>
                  <a:lnTo>
                    <a:pt x="388188" y="17127"/>
                  </a:lnTo>
                  <a:lnTo>
                    <a:pt x="441128" y="7739"/>
                  </a:lnTo>
                  <a:lnTo>
                    <a:pt x="495974" y="1966"/>
                  </a:lnTo>
                  <a:lnTo>
                    <a:pt x="552450" y="0"/>
                  </a:lnTo>
                  <a:lnTo>
                    <a:pt x="608946" y="1966"/>
                  </a:lnTo>
                  <a:lnTo>
                    <a:pt x="663808" y="7739"/>
                  </a:lnTo>
                  <a:lnTo>
                    <a:pt x="716758" y="17127"/>
                  </a:lnTo>
                  <a:lnTo>
                    <a:pt x="767518" y="29938"/>
                  </a:lnTo>
                  <a:lnTo>
                    <a:pt x="815812" y="45980"/>
                  </a:lnTo>
                  <a:lnTo>
                    <a:pt x="861361" y="65063"/>
                  </a:lnTo>
                  <a:lnTo>
                    <a:pt x="903889" y="86995"/>
                  </a:lnTo>
                  <a:lnTo>
                    <a:pt x="943117" y="111585"/>
                  </a:lnTo>
                  <a:lnTo>
                    <a:pt x="978770" y="138640"/>
                  </a:lnTo>
                  <a:lnTo>
                    <a:pt x="1010569" y="167971"/>
                  </a:lnTo>
                  <a:lnTo>
                    <a:pt x="1038236" y="199384"/>
                  </a:lnTo>
                  <a:lnTo>
                    <a:pt x="1061495" y="232689"/>
                  </a:lnTo>
                  <a:lnTo>
                    <a:pt x="1080069" y="267695"/>
                  </a:lnTo>
                  <a:lnTo>
                    <a:pt x="1093679" y="304209"/>
                  </a:lnTo>
                  <a:lnTo>
                    <a:pt x="1102048" y="342041"/>
                  </a:lnTo>
                  <a:lnTo>
                    <a:pt x="1104900" y="380999"/>
                  </a:lnTo>
                  <a:lnTo>
                    <a:pt x="1102048" y="419958"/>
                  </a:lnTo>
                  <a:lnTo>
                    <a:pt x="1093679" y="457790"/>
                  </a:lnTo>
                  <a:lnTo>
                    <a:pt x="1080069" y="494304"/>
                  </a:lnTo>
                  <a:lnTo>
                    <a:pt x="1061495" y="529310"/>
                  </a:lnTo>
                  <a:lnTo>
                    <a:pt x="1038236" y="562615"/>
                  </a:lnTo>
                  <a:lnTo>
                    <a:pt x="1010569" y="594028"/>
                  </a:lnTo>
                  <a:lnTo>
                    <a:pt x="978770" y="623359"/>
                  </a:lnTo>
                  <a:lnTo>
                    <a:pt x="943117" y="650414"/>
                  </a:lnTo>
                  <a:lnTo>
                    <a:pt x="903889" y="675004"/>
                  </a:lnTo>
                  <a:lnTo>
                    <a:pt x="861361" y="696936"/>
                  </a:lnTo>
                  <a:lnTo>
                    <a:pt x="815812" y="716019"/>
                  </a:lnTo>
                  <a:lnTo>
                    <a:pt x="767518" y="732061"/>
                  </a:lnTo>
                  <a:lnTo>
                    <a:pt x="716758" y="744872"/>
                  </a:lnTo>
                  <a:lnTo>
                    <a:pt x="663808" y="754260"/>
                  </a:lnTo>
                  <a:lnTo>
                    <a:pt x="608946" y="760033"/>
                  </a:lnTo>
                  <a:lnTo>
                    <a:pt x="552450" y="761999"/>
                  </a:lnTo>
                  <a:lnTo>
                    <a:pt x="495974" y="760033"/>
                  </a:lnTo>
                  <a:lnTo>
                    <a:pt x="441128" y="754260"/>
                  </a:lnTo>
                  <a:lnTo>
                    <a:pt x="388188" y="744872"/>
                  </a:lnTo>
                  <a:lnTo>
                    <a:pt x="337435" y="732061"/>
                  </a:lnTo>
                  <a:lnTo>
                    <a:pt x="289144" y="716019"/>
                  </a:lnTo>
                  <a:lnTo>
                    <a:pt x="243594" y="696936"/>
                  </a:lnTo>
                  <a:lnTo>
                    <a:pt x="201063" y="675004"/>
                  </a:lnTo>
                  <a:lnTo>
                    <a:pt x="161829" y="650414"/>
                  </a:lnTo>
                  <a:lnTo>
                    <a:pt x="126170" y="623359"/>
                  </a:lnTo>
                  <a:lnTo>
                    <a:pt x="94364" y="594028"/>
                  </a:lnTo>
                  <a:lnTo>
                    <a:pt x="66688" y="562615"/>
                  </a:lnTo>
                  <a:lnTo>
                    <a:pt x="43422" y="529310"/>
                  </a:lnTo>
                  <a:lnTo>
                    <a:pt x="24841" y="494304"/>
                  </a:lnTo>
                  <a:lnTo>
                    <a:pt x="11226" y="457790"/>
                  </a:lnTo>
                  <a:lnTo>
                    <a:pt x="2852" y="419958"/>
                  </a:lnTo>
                  <a:lnTo>
                    <a:pt x="0" y="380999"/>
                  </a:lnTo>
                  <a:close/>
                </a:path>
              </a:pathLst>
            </a:custGeom>
            <a:ln w="635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031741" y="6027166"/>
            <a:ext cx="3994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Feature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4318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cs typeface="Segoe UI"/>
              </a:rPr>
              <a:t>Teams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93850" y="6605778"/>
            <a:ext cx="131572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marR="308610" lvl="0" indent="-14351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5557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Component</a:t>
            </a:r>
            <a:r>
              <a:rPr kumimoji="0" sz="8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Based structure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55575" marR="329565" lvl="0" indent="-14351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5557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Mostly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aligned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technology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cluster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55575" marR="329565" lvl="0" indent="-14351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5557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Faster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component Development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56845" marR="0" lvl="0" indent="-14414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5684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Slower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realization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56845" marR="0" lvl="0" indent="-14414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5684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Integration</a:t>
            </a:r>
            <a:r>
              <a:rPr kumimoji="0" sz="8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nightmare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55575" marR="240665" lvl="0" indent="-14351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5557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Suitable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platform teams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93921" y="6605778"/>
            <a:ext cx="1293495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575" marR="22225" lvl="0" indent="-14351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5557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Business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</a:t>
            </a:r>
            <a:r>
              <a:rPr kumimoji="0" sz="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Based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structure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55575" marR="259079" lvl="0" indent="-14351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5557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aligned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business domains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56845" marR="0" lvl="0" indent="-14414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5684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Faster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realization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55575" marR="22860" lvl="0" indent="-14351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5557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Scale-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up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problem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due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need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cross-functional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56845" marR="0" lvl="0" indent="-144145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5684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Full-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stack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engineer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56845" marR="0" lvl="0" indent="-144145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5684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Lower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hand-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off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689602" y="5609082"/>
            <a:ext cx="840740" cy="499745"/>
            <a:chOff x="4689602" y="5609082"/>
            <a:chExt cx="840740" cy="499745"/>
          </a:xfrm>
        </p:grpSpPr>
        <p:sp>
          <p:nvSpPr>
            <p:cNvPr id="21" name="object 21"/>
            <p:cNvSpPr/>
            <p:nvPr/>
          </p:nvSpPr>
          <p:spPr>
            <a:xfrm>
              <a:off x="4692777" y="5612257"/>
              <a:ext cx="834390" cy="493395"/>
            </a:xfrm>
            <a:custGeom>
              <a:avLst/>
              <a:gdLst/>
              <a:ahLst/>
              <a:cxnLst/>
              <a:rect l="l" t="t" r="r" b="b"/>
              <a:pathLst>
                <a:path w="834389" h="493395">
                  <a:moveTo>
                    <a:pt x="560577" y="0"/>
                  </a:moveTo>
                  <a:lnTo>
                    <a:pt x="416940" y="132460"/>
                  </a:lnTo>
                  <a:lnTo>
                    <a:pt x="322452" y="52450"/>
                  </a:lnTo>
                  <a:lnTo>
                    <a:pt x="282194" y="144398"/>
                  </a:lnTo>
                  <a:lnTo>
                    <a:pt x="14224" y="52450"/>
                  </a:lnTo>
                  <a:lnTo>
                    <a:pt x="178562" y="173989"/>
                  </a:lnTo>
                  <a:lnTo>
                    <a:pt x="0" y="196722"/>
                  </a:lnTo>
                  <a:lnTo>
                    <a:pt x="143637" y="268985"/>
                  </a:lnTo>
                  <a:lnTo>
                    <a:pt x="5207" y="333247"/>
                  </a:lnTo>
                  <a:lnTo>
                    <a:pt x="218694" y="318388"/>
                  </a:lnTo>
                  <a:lnTo>
                    <a:pt x="183769" y="402462"/>
                  </a:lnTo>
                  <a:lnTo>
                    <a:pt x="297814" y="356996"/>
                  </a:lnTo>
                  <a:lnTo>
                    <a:pt x="327533" y="493394"/>
                  </a:lnTo>
                  <a:lnTo>
                    <a:pt x="406526" y="341121"/>
                  </a:lnTo>
                  <a:lnTo>
                    <a:pt x="511428" y="450849"/>
                  </a:lnTo>
                  <a:lnTo>
                    <a:pt x="541274" y="330199"/>
                  </a:lnTo>
                  <a:lnTo>
                    <a:pt x="700532" y="413384"/>
                  </a:lnTo>
                  <a:lnTo>
                    <a:pt x="649986" y="295655"/>
                  </a:lnTo>
                  <a:lnTo>
                    <a:pt x="833882" y="303529"/>
                  </a:lnTo>
                  <a:lnTo>
                    <a:pt x="679703" y="239267"/>
                  </a:lnTo>
                  <a:lnTo>
                    <a:pt x="814451" y="185927"/>
                  </a:lnTo>
                  <a:lnTo>
                    <a:pt x="644778" y="167131"/>
                  </a:lnTo>
                  <a:lnTo>
                    <a:pt x="709549" y="101853"/>
                  </a:lnTo>
                  <a:lnTo>
                    <a:pt x="546481" y="121665"/>
                  </a:lnTo>
                  <a:lnTo>
                    <a:pt x="5605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4692777" y="5612257"/>
              <a:ext cx="834390" cy="493395"/>
            </a:xfrm>
            <a:custGeom>
              <a:avLst/>
              <a:gdLst/>
              <a:ahLst/>
              <a:cxnLst/>
              <a:rect l="l" t="t" r="r" b="b"/>
              <a:pathLst>
                <a:path w="834389" h="493395">
                  <a:moveTo>
                    <a:pt x="416940" y="132460"/>
                  </a:moveTo>
                  <a:lnTo>
                    <a:pt x="560577" y="0"/>
                  </a:lnTo>
                  <a:lnTo>
                    <a:pt x="546481" y="121665"/>
                  </a:lnTo>
                  <a:lnTo>
                    <a:pt x="709549" y="101853"/>
                  </a:lnTo>
                  <a:lnTo>
                    <a:pt x="644778" y="167131"/>
                  </a:lnTo>
                  <a:lnTo>
                    <a:pt x="814451" y="185927"/>
                  </a:lnTo>
                  <a:lnTo>
                    <a:pt x="679703" y="239267"/>
                  </a:lnTo>
                  <a:lnTo>
                    <a:pt x="833882" y="303529"/>
                  </a:lnTo>
                  <a:lnTo>
                    <a:pt x="649986" y="295655"/>
                  </a:lnTo>
                  <a:lnTo>
                    <a:pt x="700532" y="413384"/>
                  </a:lnTo>
                  <a:lnTo>
                    <a:pt x="541274" y="330199"/>
                  </a:lnTo>
                  <a:lnTo>
                    <a:pt x="511428" y="450849"/>
                  </a:lnTo>
                  <a:lnTo>
                    <a:pt x="406526" y="341121"/>
                  </a:lnTo>
                  <a:lnTo>
                    <a:pt x="327533" y="493394"/>
                  </a:lnTo>
                  <a:lnTo>
                    <a:pt x="297814" y="356996"/>
                  </a:lnTo>
                  <a:lnTo>
                    <a:pt x="183769" y="402462"/>
                  </a:lnTo>
                  <a:lnTo>
                    <a:pt x="218694" y="318388"/>
                  </a:lnTo>
                  <a:lnTo>
                    <a:pt x="5207" y="333247"/>
                  </a:lnTo>
                  <a:lnTo>
                    <a:pt x="143637" y="268985"/>
                  </a:lnTo>
                  <a:lnTo>
                    <a:pt x="0" y="196722"/>
                  </a:lnTo>
                  <a:lnTo>
                    <a:pt x="178562" y="173989"/>
                  </a:lnTo>
                  <a:lnTo>
                    <a:pt x="14224" y="52450"/>
                  </a:lnTo>
                  <a:lnTo>
                    <a:pt x="282194" y="144398"/>
                  </a:lnTo>
                  <a:lnTo>
                    <a:pt x="322452" y="52450"/>
                  </a:lnTo>
                  <a:lnTo>
                    <a:pt x="416940" y="132460"/>
                  </a:lnTo>
                  <a:close/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78916" y="5409057"/>
            <a:ext cx="4723130" cy="499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Process: Summary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How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do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structure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1000" b="1" i="0" u="none" strike="noStrike" kern="0" cap="none" spc="-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teams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508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Preferred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1118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References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3178" y="1681428"/>
            <a:ext cx="337121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364" marR="0" lvl="0" indent="-113664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6364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https://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  <a:hlinkClick r:id="rId4"/>
              </a:rPr>
              <a:t>www.agil8.com/blog/component-teams-vs-feature-teams/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78916" y="5322934"/>
            <a:ext cx="1923414" cy="8089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Agile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Methodologies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Driven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Driven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Behavior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Driven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3424" y="4977460"/>
            <a:ext cx="762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Agenda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4425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TDD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180965" cy="10560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TDD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Introduction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Kent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Beck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said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“Test-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first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tends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more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cohesive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less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coupled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which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isn’t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part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intimate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cycle”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65"/>
              </a:spcBef>
              <a:spcAft>
                <a:spcPts val="0"/>
              </a:spcAft>
              <a:buClrTx/>
              <a:buSzTx/>
              <a:buFont typeface="Arial MT"/>
              <a:buChar char="•"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“If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can’t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write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what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about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shouldn’t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even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thinking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0" lvl="0" indent="0" defTabSz="914400" eaLnBrk="1" fontAlgn="auto" latinLnBrk="0" hangingPunct="1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about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coding”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44195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TDD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9902" y="5409057"/>
            <a:ext cx="2531110" cy="1204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35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TDD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Three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steps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0" marR="0" lvl="0" indent="-114300" defTabSz="914400" eaLnBrk="1" fontAlgn="auto" latinLnBrk="0" hangingPunct="1">
              <a:lnSpc>
                <a:spcPct val="100000"/>
              </a:lnSpc>
              <a:spcBef>
                <a:spcPts val="95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RED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5623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623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Write</a:t>
            </a:r>
            <a:r>
              <a:rPr kumimoji="0" sz="8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new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which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fails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0" marR="0" lvl="0" indent="-11430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GREEN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5623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623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Write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simplest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possible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 to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make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succeed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0" marR="0" lvl="0" indent="-114300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REFACTOR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5623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623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Refactor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(including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code)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6857" y="5994019"/>
            <a:ext cx="3378580" cy="1910714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4425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TDD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269865" cy="4794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TDD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Technique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TDD is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 technique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whereby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write your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cases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before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write</a:t>
            </a:r>
            <a:r>
              <a:rPr kumimoji="0" sz="9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any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implementation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44195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TDD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409057"/>
            <a:ext cx="8877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TDD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Overview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164839" y="5806821"/>
            <a:ext cx="488950" cy="488950"/>
          </a:xfrm>
          <a:custGeom>
            <a:avLst/>
            <a:gdLst/>
            <a:ahLst/>
            <a:cxnLst/>
            <a:rect l="l" t="t" r="r" b="b"/>
            <a:pathLst>
              <a:path w="488950" h="488950">
                <a:moveTo>
                  <a:pt x="244221" y="0"/>
                </a:moveTo>
                <a:lnTo>
                  <a:pt x="195003" y="4967"/>
                </a:lnTo>
                <a:lnTo>
                  <a:pt x="149161" y="19212"/>
                </a:lnTo>
                <a:lnTo>
                  <a:pt x="107677" y="41750"/>
                </a:lnTo>
                <a:lnTo>
                  <a:pt x="71532" y="71596"/>
                </a:lnTo>
                <a:lnTo>
                  <a:pt x="41710" y="107763"/>
                </a:lnTo>
                <a:lnTo>
                  <a:pt x="19192" y="149268"/>
                </a:lnTo>
                <a:lnTo>
                  <a:pt x="4961" y="195125"/>
                </a:lnTo>
                <a:lnTo>
                  <a:pt x="0" y="244347"/>
                </a:lnTo>
                <a:lnTo>
                  <a:pt x="4961" y="293607"/>
                </a:lnTo>
                <a:lnTo>
                  <a:pt x="19192" y="339480"/>
                </a:lnTo>
                <a:lnTo>
                  <a:pt x="41710" y="380987"/>
                </a:lnTo>
                <a:lnTo>
                  <a:pt x="71532" y="417147"/>
                </a:lnTo>
                <a:lnTo>
                  <a:pt x="107677" y="446978"/>
                </a:lnTo>
                <a:lnTo>
                  <a:pt x="149161" y="469501"/>
                </a:lnTo>
                <a:lnTo>
                  <a:pt x="195003" y="483733"/>
                </a:lnTo>
                <a:lnTo>
                  <a:pt x="244221" y="488695"/>
                </a:lnTo>
                <a:lnTo>
                  <a:pt x="293480" y="483733"/>
                </a:lnTo>
                <a:lnTo>
                  <a:pt x="339353" y="469501"/>
                </a:lnTo>
                <a:lnTo>
                  <a:pt x="380860" y="446978"/>
                </a:lnTo>
                <a:lnTo>
                  <a:pt x="417020" y="417147"/>
                </a:lnTo>
                <a:lnTo>
                  <a:pt x="446851" y="380987"/>
                </a:lnTo>
                <a:lnTo>
                  <a:pt x="469374" y="339480"/>
                </a:lnTo>
                <a:lnTo>
                  <a:pt x="483606" y="293607"/>
                </a:lnTo>
                <a:lnTo>
                  <a:pt x="488569" y="244347"/>
                </a:lnTo>
                <a:lnTo>
                  <a:pt x="483606" y="195125"/>
                </a:lnTo>
                <a:lnTo>
                  <a:pt x="469374" y="149268"/>
                </a:lnTo>
                <a:lnTo>
                  <a:pt x="446851" y="107763"/>
                </a:lnTo>
                <a:lnTo>
                  <a:pt x="417020" y="71596"/>
                </a:lnTo>
                <a:lnTo>
                  <a:pt x="380860" y="41750"/>
                </a:lnTo>
                <a:lnTo>
                  <a:pt x="339353" y="19212"/>
                </a:lnTo>
                <a:lnTo>
                  <a:pt x="293480" y="4967"/>
                </a:lnTo>
                <a:lnTo>
                  <a:pt x="244221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35832" y="5916295"/>
            <a:ext cx="346075" cy="2533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90170" marR="5080" lvl="0" indent="-78105" defTabSz="914400" eaLnBrk="1" fontAlgn="auto" latinLnBrk="0" hangingPunct="1">
              <a:lnSpc>
                <a:spcPts val="83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Write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test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691763" y="6190488"/>
            <a:ext cx="1000125" cy="405130"/>
            <a:chOff x="3691763" y="6190488"/>
            <a:chExt cx="1000125" cy="405130"/>
          </a:xfrm>
        </p:grpSpPr>
        <p:sp>
          <p:nvSpPr>
            <p:cNvPr id="14" name="object 14"/>
            <p:cNvSpPr/>
            <p:nvPr/>
          </p:nvSpPr>
          <p:spPr>
            <a:xfrm>
              <a:off x="3691763" y="6190488"/>
              <a:ext cx="260350" cy="210820"/>
            </a:xfrm>
            <a:custGeom>
              <a:avLst/>
              <a:gdLst/>
              <a:ahLst/>
              <a:cxnLst/>
              <a:rect l="l" t="t" r="r" b="b"/>
              <a:pathLst>
                <a:path w="260350" h="210820">
                  <a:moveTo>
                    <a:pt x="50291" y="0"/>
                  </a:moveTo>
                  <a:lnTo>
                    <a:pt x="0" y="85217"/>
                  </a:lnTo>
                  <a:lnTo>
                    <a:pt x="163702" y="181991"/>
                  </a:lnTo>
                  <a:lnTo>
                    <a:pt x="146938" y="210312"/>
                  </a:lnTo>
                  <a:lnTo>
                    <a:pt x="259841" y="181356"/>
                  </a:lnTo>
                  <a:lnTo>
                    <a:pt x="230886" y="68325"/>
                  </a:lnTo>
                  <a:lnTo>
                    <a:pt x="214122" y="96774"/>
                  </a:lnTo>
                  <a:lnTo>
                    <a:pt x="50291" y="0"/>
                  </a:lnTo>
                  <a:close/>
                </a:path>
              </a:pathLst>
            </a:custGeom>
            <a:solidFill>
              <a:srgbClr val="B5CAE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3695700" y="6434455"/>
              <a:ext cx="995680" cy="160655"/>
            </a:xfrm>
            <a:custGeom>
              <a:avLst/>
              <a:gdLst/>
              <a:ahLst/>
              <a:cxnLst/>
              <a:rect l="l" t="t" r="r" b="b"/>
              <a:pathLst>
                <a:path w="995679" h="160654">
                  <a:moveTo>
                    <a:pt x="968883" y="0"/>
                  </a:moveTo>
                  <a:lnTo>
                    <a:pt x="26797" y="0"/>
                  </a:lnTo>
                  <a:lnTo>
                    <a:pt x="16341" y="2097"/>
                  </a:lnTo>
                  <a:lnTo>
                    <a:pt x="7826" y="7826"/>
                  </a:lnTo>
                  <a:lnTo>
                    <a:pt x="2097" y="16341"/>
                  </a:lnTo>
                  <a:lnTo>
                    <a:pt x="0" y="26797"/>
                  </a:lnTo>
                  <a:lnTo>
                    <a:pt x="0" y="133858"/>
                  </a:lnTo>
                  <a:lnTo>
                    <a:pt x="2097" y="144313"/>
                  </a:lnTo>
                  <a:lnTo>
                    <a:pt x="7826" y="152828"/>
                  </a:lnTo>
                  <a:lnTo>
                    <a:pt x="16341" y="158557"/>
                  </a:lnTo>
                  <a:lnTo>
                    <a:pt x="26797" y="160655"/>
                  </a:lnTo>
                  <a:lnTo>
                    <a:pt x="968883" y="160655"/>
                  </a:lnTo>
                  <a:lnTo>
                    <a:pt x="979338" y="158557"/>
                  </a:lnTo>
                  <a:lnTo>
                    <a:pt x="987853" y="152828"/>
                  </a:lnTo>
                  <a:lnTo>
                    <a:pt x="993582" y="144313"/>
                  </a:lnTo>
                  <a:lnTo>
                    <a:pt x="995679" y="133858"/>
                  </a:lnTo>
                  <a:lnTo>
                    <a:pt x="995679" y="26797"/>
                  </a:lnTo>
                  <a:lnTo>
                    <a:pt x="993582" y="16341"/>
                  </a:lnTo>
                  <a:lnTo>
                    <a:pt x="987853" y="7826"/>
                  </a:lnTo>
                  <a:lnTo>
                    <a:pt x="979338" y="2097"/>
                  </a:lnTo>
                  <a:lnTo>
                    <a:pt x="96888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994530" y="6447790"/>
            <a:ext cx="40068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Compile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710432" y="6602603"/>
            <a:ext cx="973455" cy="473709"/>
            <a:chOff x="3710432" y="6602603"/>
            <a:chExt cx="973455" cy="473709"/>
          </a:xfrm>
        </p:grpSpPr>
        <p:sp>
          <p:nvSpPr>
            <p:cNvPr id="18" name="object 18"/>
            <p:cNvSpPr/>
            <p:nvPr/>
          </p:nvSpPr>
          <p:spPr>
            <a:xfrm>
              <a:off x="4113149" y="6602603"/>
              <a:ext cx="165100" cy="276860"/>
            </a:xfrm>
            <a:custGeom>
              <a:avLst/>
              <a:gdLst/>
              <a:ahLst/>
              <a:cxnLst/>
              <a:rect l="l" t="t" r="r" b="b"/>
              <a:pathLst>
                <a:path w="165100" h="276859">
                  <a:moveTo>
                    <a:pt x="130555" y="0"/>
                  </a:moveTo>
                  <a:lnTo>
                    <a:pt x="31623" y="762"/>
                  </a:lnTo>
                  <a:lnTo>
                    <a:pt x="33020" y="194310"/>
                  </a:lnTo>
                  <a:lnTo>
                    <a:pt x="0" y="194564"/>
                  </a:lnTo>
                  <a:lnTo>
                    <a:pt x="83058" y="276479"/>
                  </a:lnTo>
                  <a:lnTo>
                    <a:pt x="164973" y="193421"/>
                  </a:lnTo>
                  <a:lnTo>
                    <a:pt x="131952" y="193675"/>
                  </a:lnTo>
                  <a:lnTo>
                    <a:pt x="130555" y="0"/>
                  </a:lnTo>
                  <a:close/>
                </a:path>
              </a:pathLst>
            </a:custGeom>
            <a:solidFill>
              <a:srgbClr val="B5CAE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710432" y="6895973"/>
              <a:ext cx="973455" cy="180340"/>
            </a:xfrm>
            <a:custGeom>
              <a:avLst/>
              <a:gdLst/>
              <a:ahLst/>
              <a:cxnLst/>
              <a:rect l="l" t="t" r="r" b="b"/>
              <a:pathLst>
                <a:path w="973454" h="180340">
                  <a:moveTo>
                    <a:pt x="943228" y="0"/>
                  </a:moveTo>
                  <a:lnTo>
                    <a:pt x="29971" y="0"/>
                  </a:lnTo>
                  <a:lnTo>
                    <a:pt x="18323" y="2361"/>
                  </a:lnTo>
                  <a:lnTo>
                    <a:pt x="8794" y="8794"/>
                  </a:lnTo>
                  <a:lnTo>
                    <a:pt x="2361" y="18323"/>
                  </a:lnTo>
                  <a:lnTo>
                    <a:pt x="0" y="29971"/>
                  </a:lnTo>
                  <a:lnTo>
                    <a:pt x="0" y="149987"/>
                  </a:lnTo>
                  <a:lnTo>
                    <a:pt x="2361" y="161688"/>
                  </a:lnTo>
                  <a:lnTo>
                    <a:pt x="8794" y="171211"/>
                  </a:lnTo>
                  <a:lnTo>
                    <a:pt x="18323" y="177615"/>
                  </a:lnTo>
                  <a:lnTo>
                    <a:pt x="29971" y="179958"/>
                  </a:lnTo>
                  <a:lnTo>
                    <a:pt x="943228" y="179958"/>
                  </a:lnTo>
                  <a:lnTo>
                    <a:pt x="954877" y="177615"/>
                  </a:lnTo>
                  <a:lnTo>
                    <a:pt x="964406" y="171211"/>
                  </a:lnTo>
                  <a:lnTo>
                    <a:pt x="970839" y="161688"/>
                  </a:lnTo>
                  <a:lnTo>
                    <a:pt x="973201" y="149987"/>
                  </a:lnTo>
                  <a:lnTo>
                    <a:pt x="973201" y="29971"/>
                  </a:lnTo>
                  <a:lnTo>
                    <a:pt x="970839" y="18323"/>
                  </a:lnTo>
                  <a:lnTo>
                    <a:pt x="964406" y="8794"/>
                  </a:lnTo>
                  <a:lnTo>
                    <a:pt x="954877" y="2361"/>
                  </a:lnTo>
                  <a:lnTo>
                    <a:pt x="94322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792092" y="6919086"/>
            <a:ext cx="81216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Fix</a:t>
            </a:r>
            <a:r>
              <a:rPr kumimoji="0" sz="800" b="0" i="0" u="none" strike="noStrike" kern="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Compile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error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725164" y="7096125"/>
            <a:ext cx="934085" cy="485140"/>
            <a:chOff x="3725164" y="7096125"/>
            <a:chExt cx="934085" cy="48514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1752" y="7096125"/>
              <a:ext cx="164973" cy="25387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725164" y="7379843"/>
              <a:ext cx="934085" cy="201295"/>
            </a:xfrm>
            <a:custGeom>
              <a:avLst/>
              <a:gdLst/>
              <a:ahLst/>
              <a:cxnLst/>
              <a:rect l="l" t="t" r="r" b="b"/>
              <a:pathLst>
                <a:path w="934085" h="201295">
                  <a:moveTo>
                    <a:pt x="900302" y="0"/>
                  </a:moveTo>
                  <a:lnTo>
                    <a:pt x="33527" y="0"/>
                  </a:lnTo>
                  <a:lnTo>
                    <a:pt x="20520" y="2631"/>
                  </a:lnTo>
                  <a:lnTo>
                    <a:pt x="9858" y="9810"/>
                  </a:lnTo>
                  <a:lnTo>
                    <a:pt x="2649" y="20466"/>
                  </a:lnTo>
                  <a:lnTo>
                    <a:pt x="0" y="33527"/>
                  </a:lnTo>
                  <a:lnTo>
                    <a:pt x="0" y="167512"/>
                  </a:lnTo>
                  <a:lnTo>
                    <a:pt x="2649" y="180574"/>
                  </a:lnTo>
                  <a:lnTo>
                    <a:pt x="9858" y="191230"/>
                  </a:lnTo>
                  <a:lnTo>
                    <a:pt x="20520" y="198409"/>
                  </a:lnTo>
                  <a:lnTo>
                    <a:pt x="33527" y="201040"/>
                  </a:lnTo>
                  <a:lnTo>
                    <a:pt x="900302" y="201040"/>
                  </a:lnTo>
                  <a:lnTo>
                    <a:pt x="913364" y="198409"/>
                  </a:lnTo>
                  <a:lnTo>
                    <a:pt x="924020" y="191230"/>
                  </a:lnTo>
                  <a:lnTo>
                    <a:pt x="931199" y="180574"/>
                  </a:lnTo>
                  <a:lnTo>
                    <a:pt x="933831" y="167512"/>
                  </a:lnTo>
                  <a:lnTo>
                    <a:pt x="933831" y="33527"/>
                  </a:lnTo>
                  <a:lnTo>
                    <a:pt x="931199" y="20466"/>
                  </a:lnTo>
                  <a:lnTo>
                    <a:pt x="924020" y="9810"/>
                  </a:lnTo>
                  <a:lnTo>
                    <a:pt x="913364" y="2631"/>
                  </a:lnTo>
                  <a:lnTo>
                    <a:pt x="90030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789679" y="7345426"/>
            <a:ext cx="804545" cy="25336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37185" marR="5080" lvl="0" indent="-325120" defTabSz="914400" eaLnBrk="1" fontAlgn="auto" latinLnBrk="0" hangingPunct="1">
              <a:lnSpc>
                <a:spcPts val="830"/>
              </a:lnSpc>
              <a:spcBef>
                <a:spcPts val="2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Run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test,</a:t>
            </a:r>
            <a:r>
              <a:rPr kumimoji="0" sz="800" b="0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watch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it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fail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054225" y="7396733"/>
            <a:ext cx="1619250" cy="210185"/>
            <a:chOff x="2054225" y="7396733"/>
            <a:chExt cx="1619250" cy="210185"/>
          </a:xfrm>
        </p:grpSpPr>
        <p:sp>
          <p:nvSpPr>
            <p:cNvPr id="26" name="object 26"/>
            <p:cNvSpPr/>
            <p:nvPr/>
          </p:nvSpPr>
          <p:spPr>
            <a:xfrm>
              <a:off x="3087116" y="7441691"/>
              <a:ext cx="586740" cy="165100"/>
            </a:xfrm>
            <a:custGeom>
              <a:avLst/>
              <a:gdLst/>
              <a:ahLst/>
              <a:cxnLst/>
              <a:rect l="l" t="t" r="r" b="b"/>
              <a:pathLst>
                <a:path w="586739" h="165100">
                  <a:moveTo>
                    <a:pt x="81152" y="0"/>
                  </a:moveTo>
                  <a:lnTo>
                    <a:pt x="0" y="83819"/>
                  </a:lnTo>
                  <a:lnTo>
                    <a:pt x="83692" y="164972"/>
                  </a:lnTo>
                  <a:lnTo>
                    <a:pt x="83184" y="131952"/>
                  </a:lnTo>
                  <a:lnTo>
                    <a:pt x="586232" y="124078"/>
                  </a:lnTo>
                  <a:lnTo>
                    <a:pt x="584707" y="25145"/>
                  </a:lnTo>
                  <a:lnTo>
                    <a:pt x="81660" y="33019"/>
                  </a:lnTo>
                  <a:lnTo>
                    <a:pt x="81152" y="0"/>
                  </a:lnTo>
                  <a:close/>
                </a:path>
              </a:pathLst>
            </a:custGeom>
            <a:solidFill>
              <a:srgbClr val="B5CAE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2054225" y="7396733"/>
              <a:ext cx="1016000" cy="202565"/>
            </a:xfrm>
            <a:custGeom>
              <a:avLst/>
              <a:gdLst/>
              <a:ahLst/>
              <a:cxnLst/>
              <a:rect l="l" t="t" r="r" b="b"/>
              <a:pathLst>
                <a:path w="1016000" h="202565">
                  <a:moveTo>
                    <a:pt x="981963" y="0"/>
                  </a:moveTo>
                  <a:lnTo>
                    <a:pt x="33781" y="0"/>
                  </a:lnTo>
                  <a:lnTo>
                    <a:pt x="20627" y="2633"/>
                  </a:lnTo>
                  <a:lnTo>
                    <a:pt x="9890" y="9826"/>
                  </a:lnTo>
                  <a:lnTo>
                    <a:pt x="2653" y="20520"/>
                  </a:lnTo>
                  <a:lnTo>
                    <a:pt x="0" y="33655"/>
                  </a:lnTo>
                  <a:lnTo>
                    <a:pt x="0" y="168402"/>
                  </a:lnTo>
                  <a:lnTo>
                    <a:pt x="2653" y="181556"/>
                  </a:lnTo>
                  <a:lnTo>
                    <a:pt x="9890" y="192293"/>
                  </a:lnTo>
                  <a:lnTo>
                    <a:pt x="20627" y="199530"/>
                  </a:lnTo>
                  <a:lnTo>
                    <a:pt x="33781" y="202184"/>
                  </a:lnTo>
                  <a:lnTo>
                    <a:pt x="981963" y="202184"/>
                  </a:lnTo>
                  <a:lnTo>
                    <a:pt x="995044" y="199530"/>
                  </a:lnTo>
                  <a:lnTo>
                    <a:pt x="1005744" y="192293"/>
                  </a:lnTo>
                  <a:lnTo>
                    <a:pt x="1012967" y="181556"/>
                  </a:lnTo>
                  <a:lnTo>
                    <a:pt x="1015619" y="168402"/>
                  </a:lnTo>
                  <a:lnTo>
                    <a:pt x="1015619" y="33655"/>
                  </a:lnTo>
                  <a:lnTo>
                    <a:pt x="1012967" y="20520"/>
                  </a:lnTo>
                  <a:lnTo>
                    <a:pt x="1005744" y="9826"/>
                  </a:lnTo>
                  <a:lnTo>
                    <a:pt x="995044" y="2633"/>
                  </a:lnTo>
                  <a:lnTo>
                    <a:pt x="98196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307463" y="7415530"/>
            <a:ext cx="51054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Write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083689" y="6914388"/>
            <a:ext cx="1046480" cy="481965"/>
            <a:chOff x="2083689" y="6914388"/>
            <a:chExt cx="1046480" cy="481965"/>
          </a:xfrm>
        </p:grpSpPr>
        <p:sp>
          <p:nvSpPr>
            <p:cNvPr id="30" name="object 30"/>
            <p:cNvSpPr/>
            <p:nvPr/>
          </p:nvSpPr>
          <p:spPr>
            <a:xfrm>
              <a:off x="2501773" y="7111365"/>
              <a:ext cx="165100" cy="285115"/>
            </a:xfrm>
            <a:custGeom>
              <a:avLst/>
              <a:gdLst/>
              <a:ahLst/>
              <a:cxnLst/>
              <a:rect l="l" t="t" r="r" b="b"/>
              <a:pathLst>
                <a:path w="165100" h="285115">
                  <a:moveTo>
                    <a:pt x="82550" y="0"/>
                  </a:moveTo>
                  <a:lnTo>
                    <a:pt x="0" y="82549"/>
                  </a:lnTo>
                  <a:lnTo>
                    <a:pt x="33019" y="82549"/>
                  </a:lnTo>
                  <a:lnTo>
                    <a:pt x="33019" y="284987"/>
                  </a:lnTo>
                  <a:lnTo>
                    <a:pt x="131952" y="284987"/>
                  </a:lnTo>
                  <a:lnTo>
                    <a:pt x="131952" y="82549"/>
                  </a:lnTo>
                  <a:lnTo>
                    <a:pt x="164972" y="82549"/>
                  </a:lnTo>
                  <a:lnTo>
                    <a:pt x="82550" y="0"/>
                  </a:lnTo>
                  <a:close/>
                </a:path>
              </a:pathLst>
            </a:custGeom>
            <a:solidFill>
              <a:srgbClr val="B5CAE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2083689" y="6914388"/>
              <a:ext cx="1046480" cy="187960"/>
            </a:xfrm>
            <a:custGeom>
              <a:avLst/>
              <a:gdLst/>
              <a:ahLst/>
              <a:cxnLst/>
              <a:rect l="l" t="t" r="r" b="b"/>
              <a:pathLst>
                <a:path w="1046480" h="187959">
                  <a:moveTo>
                    <a:pt x="1014730" y="0"/>
                  </a:moveTo>
                  <a:lnTo>
                    <a:pt x="31368" y="0"/>
                  </a:lnTo>
                  <a:lnTo>
                    <a:pt x="19127" y="2452"/>
                  </a:lnTo>
                  <a:lnTo>
                    <a:pt x="9159" y="9143"/>
                  </a:lnTo>
                  <a:lnTo>
                    <a:pt x="2454" y="19073"/>
                  </a:lnTo>
                  <a:lnTo>
                    <a:pt x="0" y="31241"/>
                  </a:lnTo>
                  <a:lnTo>
                    <a:pt x="0" y="156590"/>
                  </a:lnTo>
                  <a:lnTo>
                    <a:pt x="2454" y="168779"/>
                  </a:lnTo>
                  <a:lnTo>
                    <a:pt x="9159" y="178752"/>
                  </a:lnTo>
                  <a:lnTo>
                    <a:pt x="19127" y="185487"/>
                  </a:lnTo>
                  <a:lnTo>
                    <a:pt x="31368" y="187959"/>
                  </a:lnTo>
                  <a:lnTo>
                    <a:pt x="1014730" y="187959"/>
                  </a:lnTo>
                  <a:lnTo>
                    <a:pt x="1026898" y="185487"/>
                  </a:lnTo>
                  <a:lnTo>
                    <a:pt x="1036828" y="178752"/>
                  </a:lnTo>
                  <a:lnTo>
                    <a:pt x="1043519" y="168779"/>
                  </a:lnTo>
                  <a:lnTo>
                    <a:pt x="1045972" y="156590"/>
                  </a:lnTo>
                  <a:lnTo>
                    <a:pt x="1045972" y="31241"/>
                  </a:lnTo>
                  <a:lnTo>
                    <a:pt x="1043519" y="19073"/>
                  </a:lnTo>
                  <a:lnTo>
                    <a:pt x="1036828" y="9143"/>
                  </a:lnTo>
                  <a:lnTo>
                    <a:pt x="1026898" y="2452"/>
                  </a:lnTo>
                  <a:lnTo>
                    <a:pt x="101473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096770" y="6926071"/>
            <a:ext cx="10191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Run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watch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pass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027301" y="6454013"/>
            <a:ext cx="1153795" cy="462280"/>
            <a:chOff x="2027301" y="6454013"/>
            <a:chExt cx="1153795" cy="462280"/>
          </a:xfrm>
        </p:grpSpPr>
        <p:sp>
          <p:nvSpPr>
            <p:cNvPr id="34" name="object 34"/>
            <p:cNvSpPr/>
            <p:nvPr/>
          </p:nvSpPr>
          <p:spPr>
            <a:xfrm>
              <a:off x="2522601" y="6631432"/>
              <a:ext cx="165100" cy="285115"/>
            </a:xfrm>
            <a:custGeom>
              <a:avLst/>
              <a:gdLst/>
              <a:ahLst/>
              <a:cxnLst/>
              <a:rect l="l" t="t" r="r" b="b"/>
              <a:pathLst>
                <a:path w="165100" h="285115">
                  <a:moveTo>
                    <a:pt x="81915" y="0"/>
                  </a:moveTo>
                  <a:lnTo>
                    <a:pt x="0" y="82931"/>
                  </a:lnTo>
                  <a:lnTo>
                    <a:pt x="32893" y="82677"/>
                  </a:lnTo>
                  <a:lnTo>
                    <a:pt x="34036" y="284861"/>
                  </a:lnTo>
                  <a:lnTo>
                    <a:pt x="132969" y="284226"/>
                  </a:lnTo>
                  <a:lnTo>
                    <a:pt x="131825" y="82169"/>
                  </a:lnTo>
                  <a:lnTo>
                    <a:pt x="164846" y="81915"/>
                  </a:lnTo>
                  <a:lnTo>
                    <a:pt x="81915" y="0"/>
                  </a:lnTo>
                  <a:close/>
                </a:path>
              </a:pathLst>
            </a:custGeom>
            <a:solidFill>
              <a:srgbClr val="B5CAE7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2027301" y="6454013"/>
              <a:ext cx="1153795" cy="170815"/>
            </a:xfrm>
            <a:custGeom>
              <a:avLst/>
              <a:gdLst/>
              <a:ahLst/>
              <a:cxnLst/>
              <a:rect l="l" t="t" r="r" b="b"/>
              <a:pathLst>
                <a:path w="1153795" h="170815">
                  <a:moveTo>
                    <a:pt x="1124966" y="0"/>
                  </a:moveTo>
                  <a:lnTo>
                    <a:pt x="28448" y="0"/>
                  </a:lnTo>
                  <a:lnTo>
                    <a:pt x="17359" y="2230"/>
                  </a:lnTo>
                  <a:lnTo>
                    <a:pt x="8318" y="8318"/>
                  </a:lnTo>
                  <a:lnTo>
                    <a:pt x="2230" y="17359"/>
                  </a:lnTo>
                  <a:lnTo>
                    <a:pt x="0" y="28448"/>
                  </a:lnTo>
                  <a:lnTo>
                    <a:pt x="0" y="141986"/>
                  </a:lnTo>
                  <a:lnTo>
                    <a:pt x="2230" y="153001"/>
                  </a:lnTo>
                  <a:lnTo>
                    <a:pt x="8318" y="162004"/>
                  </a:lnTo>
                  <a:lnTo>
                    <a:pt x="17359" y="168078"/>
                  </a:lnTo>
                  <a:lnTo>
                    <a:pt x="28448" y="170306"/>
                  </a:lnTo>
                  <a:lnTo>
                    <a:pt x="1124966" y="170306"/>
                  </a:lnTo>
                  <a:lnTo>
                    <a:pt x="1136054" y="168078"/>
                  </a:lnTo>
                  <a:lnTo>
                    <a:pt x="1145095" y="162004"/>
                  </a:lnTo>
                  <a:lnTo>
                    <a:pt x="1151183" y="153001"/>
                  </a:lnTo>
                  <a:lnTo>
                    <a:pt x="1153414" y="141986"/>
                  </a:lnTo>
                  <a:lnTo>
                    <a:pt x="1153414" y="28448"/>
                  </a:lnTo>
                  <a:lnTo>
                    <a:pt x="1151183" y="17359"/>
                  </a:lnTo>
                  <a:lnTo>
                    <a:pt x="1145095" y="8318"/>
                  </a:lnTo>
                  <a:lnTo>
                    <a:pt x="1136054" y="2230"/>
                  </a:lnTo>
                  <a:lnTo>
                    <a:pt x="112496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190369" y="6456934"/>
            <a:ext cx="82867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Refactor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619755" y="6058153"/>
            <a:ext cx="499745" cy="379730"/>
          </a:xfrm>
          <a:custGeom>
            <a:avLst/>
            <a:gdLst/>
            <a:ahLst/>
            <a:cxnLst/>
            <a:rect l="l" t="t" r="r" b="b"/>
            <a:pathLst>
              <a:path w="499744" h="379729">
                <a:moveTo>
                  <a:pt x="385318" y="0"/>
                </a:moveTo>
                <a:lnTo>
                  <a:pt x="403606" y="27432"/>
                </a:lnTo>
                <a:lnTo>
                  <a:pt x="0" y="297180"/>
                </a:lnTo>
                <a:lnTo>
                  <a:pt x="54991" y="379476"/>
                </a:lnTo>
                <a:lnTo>
                  <a:pt x="458596" y="109728"/>
                </a:lnTo>
                <a:lnTo>
                  <a:pt x="476885" y="137160"/>
                </a:lnTo>
                <a:lnTo>
                  <a:pt x="499618" y="22733"/>
                </a:lnTo>
                <a:lnTo>
                  <a:pt x="385318" y="0"/>
                </a:lnTo>
                <a:close/>
              </a:path>
            </a:pathLst>
          </a:custGeom>
          <a:solidFill>
            <a:srgbClr val="B5CAE7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4425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TDD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4170679" cy="26377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TDD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Overview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Contd..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How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Works: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Test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Cases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/ User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Stories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used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understand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requirement clearly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Run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new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fail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Ensures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harness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working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correctly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Ensures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does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mistakenly</a:t>
            </a:r>
            <a:r>
              <a:rPr kumimoji="0" sz="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pass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Write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some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Only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designed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pass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test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additional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functionality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should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included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because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will be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untested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Run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automated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them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succeed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If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pass,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programmer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confident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meets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tested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requirements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Refactor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Cleanup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Rerun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tests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ensure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cleanup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did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break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anything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Repeat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44195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TDD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5229225" cy="1650364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TDD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Overview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Contd..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Extreme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Programming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Explored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(The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Green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Book),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Bill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Wake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describes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/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cycle: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78180" marR="0" lvl="1" indent="-17272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67818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Write</a:t>
            </a:r>
            <a:r>
              <a:rPr kumimoji="0" sz="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single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test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78180" marR="0" lvl="1" indent="-172720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67818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Compile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it.</a:t>
            </a:r>
            <a:r>
              <a:rPr kumimoji="0" sz="800" b="0" i="0" u="none" strike="noStrike" kern="0" cap="none" spc="2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shouldn’t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compile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because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you’ve not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written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implementation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78180" marR="0" lvl="1" indent="-172720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67818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Implement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just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enough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get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compile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78180" marR="0" lvl="1" indent="-172720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67818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Run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fail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78180" marR="0" lvl="1" indent="-172720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67818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Implement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just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enough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get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pass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78180" marR="0" lvl="1" indent="-172720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67818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Run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pass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78180" marR="0" lvl="1" indent="-172720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67818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Refactor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clarity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“once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only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once”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78180" marR="0" lvl="1" indent="-172720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678180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Repeat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4425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TDD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3671570" cy="113855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Why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TDD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TDD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lead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more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modularized,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flexible,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extensible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Clean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Leads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better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design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Better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documentation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More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productive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44195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TDD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409057"/>
            <a:ext cx="13792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Test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First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vs.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Test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Last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83791" y="6006998"/>
            <a:ext cx="873760" cy="18224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208915" marR="0" lvl="0" indent="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Understand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2733" y="6353835"/>
            <a:ext cx="1056005" cy="18224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222885" marR="0" lvl="0" indent="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Add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case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183576" y="6632727"/>
            <a:ext cx="1273810" cy="182245"/>
          </a:xfrm>
          <a:custGeom>
            <a:avLst/>
            <a:gdLst/>
            <a:ahLst/>
            <a:cxnLst/>
            <a:rect l="l" t="t" r="r" b="b"/>
            <a:pathLst>
              <a:path w="1273810" h="182245">
                <a:moveTo>
                  <a:pt x="0" y="182219"/>
                </a:moveTo>
                <a:lnTo>
                  <a:pt x="1273810" y="182219"/>
                </a:lnTo>
                <a:lnTo>
                  <a:pt x="1273810" y="0"/>
                </a:lnTo>
                <a:lnTo>
                  <a:pt x="0" y="0"/>
                </a:lnTo>
                <a:lnTo>
                  <a:pt x="0" y="182219"/>
                </a:lnTo>
                <a:close/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98167" y="6657593"/>
            <a:ext cx="44640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Write</a:t>
            </a:r>
            <a:r>
              <a:rPr kumimoji="0" sz="7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01952" y="6911619"/>
            <a:ext cx="873760" cy="18224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193675" marR="0" lvl="0" indent="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Run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tests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401952" y="7226300"/>
            <a:ext cx="837565" cy="326390"/>
          </a:xfrm>
          <a:custGeom>
            <a:avLst/>
            <a:gdLst/>
            <a:ahLst/>
            <a:cxnLst/>
            <a:rect l="l" t="t" r="r" b="b"/>
            <a:pathLst>
              <a:path w="837564" h="326390">
                <a:moveTo>
                  <a:pt x="0" y="162941"/>
                </a:moveTo>
                <a:lnTo>
                  <a:pt x="418465" y="0"/>
                </a:lnTo>
                <a:lnTo>
                  <a:pt x="837057" y="162941"/>
                </a:lnTo>
                <a:lnTo>
                  <a:pt x="418465" y="325881"/>
                </a:lnTo>
                <a:lnTo>
                  <a:pt x="0" y="162941"/>
                </a:lnTo>
                <a:close/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58239" y="7322946"/>
            <a:ext cx="3251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Result?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4065" y="7135266"/>
            <a:ext cx="655320" cy="18224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178435" marR="0" lvl="0" indent="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Rework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078863" y="7455154"/>
            <a:ext cx="1036955" cy="414655"/>
            <a:chOff x="2078863" y="7455154"/>
            <a:chExt cx="1036955" cy="414655"/>
          </a:xfrm>
        </p:grpSpPr>
        <p:sp>
          <p:nvSpPr>
            <p:cNvPr id="20" name="object 20"/>
            <p:cNvSpPr/>
            <p:nvPr/>
          </p:nvSpPr>
          <p:spPr>
            <a:xfrm>
              <a:off x="2082038" y="7458329"/>
              <a:ext cx="1030605" cy="408305"/>
            </a:xfrm>
            <a:custGeom>
              <a:avLst/>
              <a:gdLst/>
              <a:ahLst/>
              <a:cxnLst/>
              <a:rect l="l" t="t" r="r" b="b"/>
              <a:pathLst>
                <a:path w="1030605" h="408304">
                  <a:moveTo>
                    <a:pt x="515238" y="0"/>
                  </a:moveTo>
                  <a:lnTo>
                    <a:pt x="0" y="203835"/>
                  </a:lnTo>
                  <a:lnTo>
                    <a:pt x="515238" y="407797"/>
                  </a:lnTo>
                  <a:lnTo>
                    <a:pt x="1030478" y="203835"/>
                  </a:lnTo>
                  <a:lnTo>
                    <a:pt x="5152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2082038" y="7458329"/>
              <a:ext cx="1030605" cy="408305"/>
            </a:xfrm>
            <a:custGeom>
              <a:avLst/>
              <a:gdLst/>
              <a:ahLst/>
              <a:cxnLst/>
              <a:rect l="l" t="t" r="r" b="b"/>
              <a:pathLst>
                <a:path w="1030605" h="408304">
                  <a:moveTo>
                    <a:pt x="0" y="203835"/>
                  </a:moveTo>
                  <a:lnTo>
                    <a:pt x="515238" y="0"/>
                  </a:lnTo>
                  <a:lnTo>
                    <a:pt x="1030478" y="203835"/>
                  </a:lnTo>
                  <a:lnTo>
                    <a:pt x="515238" y="407797"/>
                  </a:lnTo>
                  <a:lnTo>
                    <a:pt x="0" y="203835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387345" y="7557896"/>
            <a:ext cx="41973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10795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Story</a:t>
            </a:r>
            <a:r>
              <a:rPr kumimoji="0" sz="6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completed?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801367" y="6189217"/>
            <a:ext cx="38100" cy="165100"/>
          </a:xfrm>
          <a:custGeom>
            <a:avLst/>
            <a:gdLst/>
            <a:ahLst/>
            <a:cxnLst/>
            <a:rect l="l" t="t" r="r" b="b"/>
            <a:pathLst>
              <a:path w="38100" h="165100">
                <a:moveTo>
                  <a:pt x="17525" y="126491"/>
                </a:moveTo>
                <a:lnTo>
                  <a:pt x="0" y="126491"/>
                </a:lnTo>
                <a:lnTo>
                  <a:pt x="19050" y="164591"/>
                </a:lnTo>
                <a:lnTo>
                  <a:pt x="34925" y="132841"/>
                </a:lnTo>
                <a:lnTo>
                  <a:pt x="17525" y="132841"/>
                </a:lnTo>
                <a:lnTo>
                  <a:pt x="17525" y="126491"/>
                </a:lnTo>
                <a:close/>
              </a:path>
              <a:path w="38100" h="165100">
                <a:moveTo>
                  <a:pt x="20700" y="0"/>
                </a:moveTo>
                <a:lnTo>
                  <a:pt x="17525" y="0"/>
                </a:lnTo>
                <a:lnTo>
                  <a:pt x="17525" y="132841"/>
                </a:lnTo>
                <a:lnTo>
                  <a:pt x="20700" y="132841"/>
                </a:lnTo>
                <a:lnTo>
                  <a:pt x="20700" y="0"/>
                </a:lnTo>
                <a:close/>
              </a:path>
              <a:path w="38100" h="165100">
                <a:moveTo>
                  <a:pt x="38100" y="126491"/>
                </a:moveTo>
                <a:lnTo>
                  <a:pt x="20700" y="126491"/>
                </a:lnTo>
                <a:lnTo>
                  <a:pt x="20700" y="132841"/>
                </a:lnTo>
                <a:lnTo>
                  <a:pt x="34925" y="132841"/>
                </a:lnTo>
                <a:lnTo>
                  <a:pt x="38100" y="1264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000058" y="6427089"/>
            <a:ext cx="2113280" cy="1478280"/>
            <a:chOff x="1000058" y="6427089"/>
            <a:chExt cx="2113280" cy="1478280"/>
          </a:xfrm>
        </p:grpSpPr>
        <p:sp>
          <p:nvSpPr>
            <p:cNvPr id="25" name="object 25"/>
            <p:cNvSpPr/>
            <p:nvPr/>
          </p:nvSpPr>
          <p:spPr>
            <a:xfrm>
              <a:off x="1000048" y="6427088"/>
              <a:ext cx="2113280" cy="1236980"/>
            </a:xfrm>
            <a:custGeom>
              <a:avLst/>
              <a:gdLst/>
              <a:ahLst/>
              <a:cxnLst/>
              <a:rect l="l" t="t" r="r" b="b"/>
              <a:pathLst>
                <a:path w="2113280" h="1236979">
                  <a:moveTo>
                    <a:pt x="183527" y="296799"/>
                  </a:moveTo>
                  <a:lnTo>
                    <a:pt x="141592" y="289306"/>
                  </a:lnTo>
                  <a:lnTo>
                    <a:pt x="146786" y="306933"/>
                  </a:lnTo>
                  <a:lnTo>
                    <a:pt x="140436" y="309753"/>
                  </a:lnTo>
                  <a:lnTo>
                    <a:pt x="107543" y="339979"/>
                  </a:lnTo>
                  <a:lnTo>
                    <a:pt x="84645" y="371856"/>
                  </a:lnTo>
                  <a:lnTo>
                    <a:pt x="63512" y="410464"/>
                  </a:lnTo>
                  <a:lnTo>
                    <a:pt x="44691" y="454787"/>
                  </a:lnTo>
                  <a:lnTo>
                    <a:pt x="23964" y="521208"/>
                  </a:lnTo>
                  <a:lnTo>
                    <a:pt x="8978" y="593598"/>
                  </a:lnTo>
                  <a:lnTo>
                    <a:pt x="1054" y="669798"/>
                  </a:lnTo>
                  <a:lnTo>
                    <a:pt x="0" y="708279"/>
                  </a:lnTo>
                  <a:lnTo>
                    <a:pt x="3187" y="708279"/>
                  </a:lnTo>
                  <a:lnTo>
                    <a:pt x="4229" y="669798"/>
                  </a:lnTo>
                  <a:lnTo>
                    <a:pt x="7264" y="631571"/>
                  </a:lnTo>
                  <a:lnTo>
                    <a:pt x="18770" y="557530"/>
                  </a:lnTo>
                  <a:lnTo>
                    <a:pt x="36728" y="488061"/>
                  </a:lnTo>
                  <a:lnTo>
                    <a:pt x="53632" y="440690"/>
                  </a:lnTo>
                  <a:lnTo>
                    <a:pt x="73190" y="398399"/>
                  </a:lnTo>
                  <a:lnTo>
                    <a:pt x="94703" y="362331"/>
                  </a:lnTo>
                  <a:lnTo>
                    <a:pt x="125793" y="325374"/>
                  </a:lnTo>
                  <a:lnTo>
                    <a:pt x="147675" y="309943"/>
                  </a:lnTo>
                  <a:lnTo>
                    <a:pt x="147269" y="308584"/>
                  </a:lnTo>
                  <a:lnTo>
                    <a:pt x="147624" y="309753"/>
                  </a:lnTo>
                  <a:lnTo>
                    <a:pt x="147675" y="309943"/>
                  </a:lnTo>
                  <a:lnTo>
                    <a:pt x="152400" y="325882"/>
                  </a:lnTo>
                  <a:lnTo>
                    <a:pt x="175361" y="304419"/>
                  </a:lnTo>
                  <a:lnTo>
                    <a:pt x="183527" y="296799"/>
                  </a:lnTo>
                  <a:close/>
                </a:path>
                <a:path w="2113280" h="1236979">
                  <a:moveTo>
                    <a:pt x="401904" y="960628"/>
                  </a:moveTo>
                  <a:lnTo>
                    <a:pt x="327355" y="958977"/>
                  </a:lnTo>
                  <a:lnTo>
                    <a:pt x="255117" y="954405"/>
                  </a:lnTo>
                  <a:lnTo>
                    <a:pt x="187553" y="947420"/>
                  </a:lnTo>
                  <a:lnTo>
                    <a:pt x="141312" y="940689"/>
                  </a:lnTo>
                  <a:lnTo>
                    <a:pt x="100152" y="932942"/>
                  </a:lnTo>
                  <a:lnTo>
                    <a:pt x="54660" y="921512"/>
                  </a:lnTo>
                  <a:lnTo>
                    <a:pt x="32550" y="912799"/>
                  </a:lnTo>
                  <a:lnTo>
                    <a:pt x="35420" y="909320"/>
                  </a:lnTo>
                  <a:lnTo>
                    <a:pt x="43103" y="900049"/>
                  </a:lnTo>
                  <a:lnTo>
                    <a:pt x="1600" y="890397"/>
                  </a:lnTo>
                  <a:lnTo>
                    <a:pt x="18821" y="929386"/>
                  </a:lnTo>
                  <a:lnTo>
                    <a:pt x="30378" y="915416"/>
                  </a:lnTo>
                  <a:lnTo>
                    <a:pt x="30772" y="915416"/>
                  </a:lnTo>
                  <a:lnTo>
                    <a:pt x="75120" y="930402"/>
                  </a:lnTo>
                  <a:lnTo>
                    <a:pt x="112649" y="938784"/>
                  </a:lnTo>
                  <a:lnTo>
                    <a:pt x="155765" y="946150"/>
                  </a:lnTo>
                  <a:lnTo>
                    <a:pt x="220230" y="954405"/>
                  </a:lnTo>
                  <a:lnTo>
                    <a:pt x="290525" y="960247"/>
                  </a:lnTo>
                  <a:lnTo>
                    <a:pt x="364439" y="963422"/>
                  </a:lnTo>
                  <a:lnTo>
                    <a:pt x="401904" y="963803"/>
                  </a:lnTo>
                  <a:lnTo>
                    <a:pt x="401904" y="960628"/>
                  </a:lnTo>
                  <a:close/>
                </a:path>
                <a:path w="2113280" h="1236979">
                  <a:moveTo>
                    <a:pt x="839419" y="761111"/>
                  </a:moveTo>
                  <a:lnTo>
                    <a:pt x="822020" y="761111"/>
                  </a:lnTo>
                  <a:lnTo>
                    <a:pt x="822020" y="666750"/>
                  </a:lnTo>
                  <a:lnTo>
                    <a:pt x="818845" y="666750"/>
                  </a:lnTo>
                  <a:lnTo>
                    <a:pt x="818845" y="761111"/>
                  </a:lnTo>
                  <a:lnTo>
                    <a:pt x="801319" y="761111"/>
                  </a:lnTo>
                  <a:lnTo>
                    <a:pt x="820369" y="799211"/>
                  </a:lnTo>
                  <a:lnTo>
                    <a:pt x="836244" y="767461"/>
                  </a:lnTo>
                  <a:lnTo>
                    <a:pt x="839419" y="761111"/>
                  </a:lnTo>
                  <a:close/>
                </a:path>
                <a:path w="2113280" h="1236979">
                  <a:moveTo>
                    <a:pt x="839419" y="446405"/>
                  </a:moveTo>
                  <a:lnTo>
                    <a:pt x="822020" y="446405"/>
                  </a:lnTo>
                  <a:lnTo>
                    <a:pt x="822020" y="387858"/>
                  </a:lnTo>
                  <a:lnTo>
                    <a:pt x="818845" y="387858"/>
                  </a:lnTo>
                  <a:lnTo>
                    <a:pt x="818845" y="446405"/>
                  </a:lnTo>
                  <a:lnTo>
                    <a:pt x="801319" y="446405"/>
                  </a:lnTo>
                  <a:lnTo>
                    <a:pt x="820369" y="484505"/>
                  </a:lnTo>
                  <a:lnTo>
                    <a:pt x="836244" y="452755"/>
                  </a:lnTo>
                  <a:lnTo>
                    <a:pt x="839419" y="446405"/>
                  </a:lnTo>
                  <a:close/>
                </a:path>
                <a:path w="2113280" h="1236979">
                  <a:moveTo>
                    <a:pt x="839419" y="167513"/>
                  </a:moveTo>
                  <a:lnTo>
                    <a:pt x="822020" y="167513"/>
                  </a:lnTo>
                  <a:lnTo>
                    <a:pt x="822020" y="108966"/>
                  </a:lnTo>
                  <a:lnTo>
                    <a:pt x="818845" y="108966"/>
                  </a:lnTo>
                  <a:lnTo>
                    <a:pt x="818845" y="167513"/>
                  </a:lnTo>
                  <a:lnTo>
                    <a:pt x="801319" y="167513"/>
                  </a:lnTo>
                  <a:lnTo>
                    <a:pt x="820369" y="205613"/>
                  </a:lnTo>
                  <a:lnTo>
                    <a:pt x="836244" y="173863"/>
                  </a:lnTo>
                  <a:lnTo>
                    <a:pt x="839419" y="167513"/>
                  </a:lnTo>
                  <a:close/>
                </a:path>
                <a:path w="2113280" h="1236979">
                  <a:moveTo>
                    <a:pt x="1597228" y="1031240"/>
                  </a:moveTo>
                  <a:lnTo>
                    <a:pt x="1588998" y="1012063"/>
                  </a:lnTo>
                  <a:lnTo>
                    <a:pt x="1580464" y="992124"/>
                  </a:lnTo>
                  <a:lnTo>
                    <a:pt x="1568894" y="1005789"/>
                  </a:lnTo>
                  <a:lnTo>
                    <a:pt x="1531569" y="992632"/>
                  </a:lnTo>
                  <a:lnTo>
                    <a:pt x="1485595" y="982218"/>
                  </a:lnTo>
                  <a:lnTo>
                    <a:pt x="1431366" y="973455"/>
                  </a:lnTo>
                  <a:lnTo>
                    <a:pt x="1370660" y="966597"/>
                  </a:lnTo>
                  <a:lnTo>
                    <a:pt x="1305890" y="962152"/>
                  </a:lnTo>
                  <a:lnTo>
                    <a:pt x="1238961" y="960628"/>
                  </a:lnTo>
                  <a:lnTo>
                    <a:pt x="1238961" y="963803"/>
                  </a:lnTo>
                  <a:lnTo>
                    <a:pt x="1272489" y="964184"/>
                  </a:lnTo>
                  <a:lnTo>
                    <a:pt x="1305763" y="965327"/>
                  </a:lnTo>
                  <a:lnTo>
                    <a:pt x="1370406" y="969645"/>
                  </a:lnTo>
                  <a:lnTo>
                    <a:pt x="1430858" y="976503"/>
                  </a:lnTo>
                  <a:lnTo>
                    <a:pt x="1484845" y="985253"/>
                  </a:lnTo>
                  <a:lnTo>
                    <a:pt x="1530680" y="995807"/>
                  </a:lnTo>
                  <a:lnTo>
                    <a:pt x="1565846" y="1007364"/>
                  </a:lnTo>
                  <a:lnTo>
                    <a:pt x="1565643" y="1007364"/>
                  </a:lnTo>
                  <a:lnTo>
                    <a:pt x="1566824" y="1008227"/>
                  </a:lnTo>
                  <a:lnTo>
                    <a:pt x="1555826" y="1021207"/>
                  </a:lnTo>
                  <a:lnTo>
                    <a:pt x="1597228" y="1031240"/>
                  </a:lnTo>
                  <a:close/>
                </a:path>
                <a:path w="2113280" h="1236979">
                  <a:moveTo>
                    <a:pt x="2113102" y="1233678"/>
                  </a:moveTo>
                  <a:lnTo>
                    <a:pt x="2112340" y="1233297"/>
                  </a:lnTo>
                  <a:lnTo>
                    <a:pt x="2111756" y="1233017"/>
                  </a:lnTo>
                  <a:lnTo>
                    <a:pt x="2111616" y="1232789"/>
                  </a:lnTo>
                  <a:lnTo>
                    <a:pt x="2110181" y="1230642"/>
                  </a:lnTo>
                  <a:lnTo>
                    <a:pt x="2110092" y="1230515"/>
                  </a:lnTo>
                  <a:lnTo>
                    <a:pt x="2108403" y="1226426"/>
                  </a:lnTo>
                  <a:lnTo>
                    <a:pt x="2106879" y="1220978"/>
                  </a:lnTo>
                  <a:lnTo>
                    <a:pt x="2105101" y="1213612"/>
                  </a:lnTo>
                  <a:lnTo>
                    <a:pt x="2103424" y="1205230"/>
                  </a:lnTo>
                  <a:lnTo>
                    <a:pt x="2103323" y="1204722"/>
                  </a:lnTo>
                  <a:lnTo>
                    <a:pt x="2101748" y="1194816"/>
                  </a:lnTo>
                  <a:lnTo>
                    <a:pt x="2101646" y="1194308"/>
                  </a:lnTo>
                  <a:lnTo>
                    <a:pt x="2099945" y="1183005"/>
                  </a:lnTo>
                  <a:lnTo>
                    <a:pt x="2094966" y="1139698"/>
                  </a:lnTo>
                  <a:lnTo>
                    <a:pt x="2090381" y="1085989"/>
                  </a:lnTo>
                  <a:lnTo>
                    <a:pt x="2087575" y="1044956"/>
                  </a:lnTo>
                  <a:lnTo>
                    <a:pt x="2085035" y="1000506"/>
                  </a:lnTo>
                  <a:lnTo>
                    <a:pt x="2082622" y="952881"/>
                  </a:lnTo>
                  <a:lnTo>
                    <a:pt x="2080717" y="902589"/>
                  </a:lnTo>
                  <a:lnTo>
                    <a:pt x="2078939" y="850011"/>
                  </a:lnTo>
                  <a:lnTo>
                    <a:pt x="2077542" y="795655"/>
                  </a:lnTo>
                  <a:lnTo>
                    <a:pt x="2076526" y="740029"/>
                  </a:lnTo>
                  <a:lnTo>
                    <a:pt x="2075764" y="683387"/>
                  </a:lnTo>
                  <a:lnTo>
                    <a:pt x="2075637" y="626491"/>
                  </a:lnTo>
                  <a:lnTo>
                    <a:pt x="2074621" y="598043"/>
                  </a:lnTo>
                  <a:lnTo>
                    <a:pt x="2071497" y="569722"/>
                  </a:lnTo>
                  <a:lnTo>
                    <a:pt x="2071446" y="569214"/>
                  </a:lnTo>
                  <a:lnTo>
                    <a:pt x="2066493" y="541553"/>
                  </a:lnTo>
                  <a:lnTo>
                    <a:pt x="2050364" y="484505"/>
                  </a:lnTo>
                  <a:lnTo>
                    <a:pt x="2027123" y="429260"/>
                  </a:lnTo>
                  <a:lnTo>
                    <a:pt x="1997278" y="375666"/>
                  </a:lnTo>
                  <a:lnTo>
                    <a:pt x="1961337" y="324104"/>
                  </a:lnTo>
                  <a:lnTo>
                    <a:pt x="1919808" y="274955"/>
                  </a:lnTo>
                  <a:lnTo>
                    <a:pt x="1873199" y="228727"/>
                  </a:lnTo>
                  <a:lnTo>
                    <a:pt x="1822145" y="185928"/>
                  </a:lnTo>
                  <a:lnTo>
                    <a:pt x="1767027" y="146939"/>
                  </a:lnTo>
                  <a:lnTo>
                    <a:pt x="1708480" y="112014"/>
                  </a:lnTo>
                  <a:lnTo>
                    <a:pt x="1646885" y="81915"/>
                  </a:lnTo>
                  <a:lnTo>
                    <a:pt x="1583131" y="56896"/>
                  </a:lnTo>
                  <a:lnTo>
                    <a:pt x="1517218" y="37465"/>
                  </a:lnTo>
                  <a:lnTo>
                    <a:pt x="1450162" y="24130"/>
                  </a:lnTo>
                  <a:lnTo>
                    <a:pt x="1386255" y="17716"/>
                  </a:lnTo>
                  <a:lnTo>
                    <a:pt x="1386268" y="17272"/>
                  </a:lnTo>
                  <a:lnTo>
                    <a:pt x="1386789" y="0"/>
                  </a:lnTo>
                  <a:lnTo>
                    <a:pt x="1348181" y="17907"/>
                  </a:lnTo>
                  <a:lnTo>
                    <a:pt x="1385646" y="38100"/>
                  </a:lnTo>
                  <a:lnTo>
                    <a:pt x="1385785" y="33147"/>
                  </a:lnTo>
                  <a:lnTo>
                    <a:pt x="1385874" y="30099"/>
                  </a:lnTo>
                  <a:lnTo>
                    <a:pt x="1385963" y="27305"/>
                  </a:lnTo>
                  <a:lnTo>
                    <a:pt x="1386065" y="24130"/>
                  </a:lnTo>
                  <a:lnTo>
                    <a:pt x="1386154" y="20904"/>
                  </a:lnTo>
                  <a:lnTo>
                    <a:pt x="1449654" y="27305"/>
                  </a:lnTo>
                  <a:lnTo>
                    <a:pt x="1516456" y="40640"/>
                  </a:lnTo>
                  <a:lnTo>
                    <a:pt x="1581988" y="59817"/>
                  </a:lnTo>
                  <a:lnTo>
                    <a:pt x="1645615" y="84836"/>
                  </a:lnTo>
                  <a:lnTo>
                    <a:pt x="1706956" y="114808"/>
                  </a:lnTo>
                  <a:lnTo>
                    <a:pt x="1765249" y="149479"/>
                  </a:lnTo>
                  <a:lnTo>
                    <a:pt x="1820113" y="188341"/>
                  </a:lnTo>
                  <a:lnTo>
                    <a:pt x="1871040" y="231140"/>
                  </a:lnTo>
                  <a:lnTo>
                    <a:pt x="1917522" y="277114"/>
                  </a:lnTo>
                  <a:lnTo>
                    <a:pt x="1958530" y="325666"/>
                  </a:lnTo>
                  <a:lnTo>
                    <a:pt x="1994611" y="377317"/>
                  </a:lnTo>
                  <a:lnTo>
                    <a:pt x="2024329" y="430657"/>
                  </a:lnTo>
                  <a:lnTo>
                    <a:pt x="2047316" y="485521"/>
                  </a:lnTo>
                  <a:lnTo>
                    <a:pt x="2063115" y="540766"/>
                  </a:lnTo>
                  <a:lnTo>
                    <a:pt x="2063216" y="541553"/>
                  </a:lnTo>
                  <a:lnTo>
                    <a:pt x="2068169" y="569214"/>
                  </a:lnTo>
                  <a:lnTo>
                    <a:pt x="2068271" y="569722"/>
                  </a:lnTo>
                  <a:lnTo>
                    <a:pt x="2071446" y="598043"/>
                  </a:lnTo>
                  <a:lnTo>
                    <a:pt x="2072462" y="626491"/>
                  </a:lnTo>
                  <a:lnTo>
                    <a:pt x="2072589" y="683387"/>
                  </a:lnTo>
                  <a:lnTo>
                    <a:pt x="2073351" y="740029"/>
                  </a:lnTo>
                  <a:lnTo>
                    <a:pt x="2074367" y="795655"/>
                  </a:lnTo>
                  <a:lnTo>
                    <a:pt x="2075764" y="850011"/>
                  </a:lnTo>
                  <a:lnTo>
                    <a:pt x="2077542" y="902589"/>
                  </a:lnTo>
                  <a:lnTo>
                    <a:pt x="2079574" y="952881"/>
                  </a:lnTo>
                  <a:lnTo>
                    <a:pt x="2081860" y="1000506"/>
                  </a:lnTo>
                  <a:lnTo>
                    <a:pt x="2084527" y="1044956"/>
                  </a:lnTo>
                  <a:lnTo>
                    <a:pt x="2085797" y="1065911"/>
                  </a:lnTo>
                  <a:lnTo>
                    <a:pt x="2088692" y="1104646"/>
                  </a:lnTo>
                  <a:lnTo>
                    <a:pt x="2093379" y="1155065"/>
                  </a:lnTo>
                  <a:lnTo>
                    <a:pt x="2098408" y="1194308"/>
                  </a:lnTo>
                  <a:lnTo>
                    <a:pt x="2107387" y="1232281"/>
                  </a:lnTo>
                  <a:lnTo>
                    <a:pt x="2111705" y="1236599"/>
                  </a:lnTo>
                  <a:lnTo>
                    <a:pt x="2113102" y="12336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81505" y="7660640"/>
              <a:ext cx="200659" cy="244538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1801367" y="5869178"/>
            <a:ext cx="38100" cy="138430"/>
          </a:xfrm>
          <a:custGeom>
            <a:avLst/>
            <a:gdLst/>
            <a:ahLst/>
            <a:cxnLst/>
            <a:rect l="l" t="t" r="r" b="b"/>
            <a:pathLst>
              <a:path w="38100" h="138429">
                <a:moveTo>
                  <a:pt x="17525" y="99822"/>
                </a:moveTo>
                <a:lnTo>
                  <a:pt x="0" y="99822"/>
                </a:lnTo>
                <a:lnTo>
                  <a:pt x="19050" y="137922"/>
                </a:lnTo>
                <a:lnTo>
                  <a:pt x="34925" y="106172"/>
                </a:lnTo>
                <a:lnTo>
                  <a:pt x="17525" y="106172"/>
                </a:lnTo>
                <a:lnTo>
                  <a:pt x="17525" y="99822"/>
                </a:lnTo>
                <a:close/>
              </a:path>
              <a:path w="38100" h="138429">
                <a:moveTo>
                  <a:pt x="20700" y="0"/>
                </a:moveTo>
                <a:lnTo>
                  <a:pt x="17525" y="0"/>
                </a:lnTo>
                <a:lnTo>
                  <a:pt x="17525" y="106172"/>
                </a:lnTo>
                <a:lnTo>
                  <a:pt x="20700" y="106172"/>
                </a:lnTo>
                <a:lnTo>
                  <a:pt x="20700" y="0"/>
                </a:lnTo>
                <a:close/>
              </a:path>
              <a:path w="38100" h="138429">
                <a:moveTo>
                  <a:pt x="38100" y="99822"/>
                </a:moveTo>
                <a:lnTo>
                  <a:pt x="20700" y="99822"/>
                </a:lnTo>
                <a:lnTo>
                  <a:pt x="20700" y="106172"/>
                </a:lnTo>
                <a:lnTo>
                  <a:pt x="34925" y="106172"/>
                </a:lnTo>
                <a:lnTo>
                  <a:pt x="38100" y="998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06422" y="5782183"/>
            <a:ext cx="44323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User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Story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52550" y="7413497"/>
            <a:ext cx="800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45182" y="7271766"/>
            <a:ext cx="844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33192" y="7468361"/>
            <a:ext cx="1390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00910" y="7741666"/>
            <a:ext cx="460375" cy="3384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353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Yes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Next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story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40529" y="6027826"/>
            <a:ext cx="873760" cy="18224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209550" marR="0" lvl="0" indent="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Understand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49597" y="6374536"/>
            <a:ext cx="1056005" cy="18224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226060" marR="0" lvl="0" indent="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Implementation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40378" y="6653428"/>
            <a:ext cx="1273810" cy="18224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185420" marR="0" lvl="0" indent="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Write</a:t>
            </a:r>
            <a:r>
              <a:rPr kumimoji="0" sz="7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tests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story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58817" y="6932320"/>
            <a:ext cx="873760" cy="18224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194310" marR="0" lvl="0" indent="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Run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tests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258817" y="7247001"/>
            <a:ext cx="837565" cy="326390"/>
          </a:xfrm>
          <a:custGeom>
            <a:avLst/>
            <a:gdLst/>
            <a:ahLst/>
            <a:cxnLst/>
            <a:rect l="l" t="t" r="r" b="b"/>
            <a:pathLst>
              <a:path w="837564" h="326390">
                <a:moveTo>
                  <a:pt x="0" y="162941"/>
                </a:moveTo>
                <a:lnTo>
                  <a:pt x="418465" y="0"/>
                </a:lnTo>
                <a:lnTo>
                  <a:pt x="837057" y="162941"/>
                </a:lnTo>
                <a:lnTo>
                  <a:pt x="418465" y="325882"/>
                </a:lnTo>
                <a:lnTo>
                  <a:pt x="0" y="162941"/>
                </a:lnTo>
                <a:close/>
              </a:path>
            </a:pathLst>
          </a:custGeom>
          <a:ln w="635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15739" y="7343647"/>
            <a:ext cx="3251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Result?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530853" y="7155967"/>
            <a:ext cx="655320" cy="182245"/>
          </a:xfrm>
          <a:prstGeom prst="rect">
            <a:avLst/>
          </a:prstGeom>
          <a:ln w="6350">
            <a:solidFill>
              <a:srgbClr val="5B9BD4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179070" marR="0" lvl="0" indent="0" defTabSz="914400" eaLnBrk="1" fontAlgn="auto" latinLnBrk="0" hangingPunct="1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Rework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4658233" y="6209919"/>
            <a:ext cx="38100" cy="165100"/>
          </a:xfrm>
          <a:custGeom>
            <a:avLst/>
            <a:gdLst/>
            <a:ahLst/>
            <a:cxnLst/>
            <a:rect l="l" t="t" r="r" b="b"/>
            <a:pathLst>
              <a:path w="38100" h="165100">
                <a:moveTo>
                  <a:pt x="17525" y="126491"/>
                </a:moveTo>
                <a:lnTo>
                  <a:pt x="0" y="126491"/>
                </a:lnTo>
                <a:lnTo>
                  <a:pt x="19050" y="164591"/>
                </a:lnTo>
                <a:lnTo>
                  <a:pt x="34925" y="132841"/>
                </a:lnTo>
                <a:lnTo>
                  <a:pt x="17525" y="132841"/>
                </a:lnTo>
                <a:lnTo>
                  <a:pt x="17525" y="126491"/>
                </a:lnTo>
                <a:close/>
              </a:path>
              <a:path w="38100" h="165100">
                <a:moveTo>
                  <a:pt x="20700" y="0"/>
                </a:moveTo>
                <a:lnTo>
                  <a:pt x="17525" y="0"/>
                </a:lnTo>
                <a:lnTo>
                  <a:pt x="17525" y="132841"/>
                </a:lnTo>
                <a:lnTo>
                  <a:pt x="20700" y="132841"/>
                </a:lnTo>
                <a:lnTo>
                  <a:pt x="20700" y="0"/>
                </a:lnTo>
                <a:close/>
              </a:path>
              <a:path w="38100" h="165100">
                <a:moveTo>
                  <a:pt x="38100" y="126491"/>
                </a:moveTo>
                <a:lnTo>
                  <a:pt x="20700" y="126491"/>
                </a:lnTo>
                <a:lnTo>
                  <a:pt x="20700" y="132841"/>
                </a:lnTo>
                <a:lnTo>
                  <a:pt x="34925" y="132841"/>
                </a:lnTo>
                <a:lnTo>
                  <a:pt x="38100" y="1264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658233" y="6556756"/>
            <a:ext cx="38100" cy="97155"/>
          </a:xfrm>
          <a:custGeom>
            <a:avLst/>
            <a:gdLst/>
            <a:ahLst/>
            <a:cxnLst/>
            <a:rect l="l" t="t" r="r" b="b"/>
            <a:pathLst>
              <a:path w="38100" h="97154">
                <a:moveTo>
                  <a:pt x="17525" y="58547"/>
                </a:moveTo>
                <a:lnTo>
                  <a:pt x="0" y="58547"/>
                </a:lnTo>
                <a:lnTo>
                  <a:pt x="19050" y="96647"/>
                </a:lnTo>
                <a:lnTo>
                  <a:pt x="34925" y="64897"/>
                </a:lnTo>
                <a:lnTo>
                  <a:pt x="17525" y="64897"/>
                </a:lnTo>
                <a:lnTo>
                  <a:pt x="17525" y="58547"/>
                </a:lnTo>
                <a:close/>
              </a:path>
              <a:path w="38100" h="97154">
                <a:moveTo>
                  <a:pt x="20700" y="0"/>
                </a:moveTo>
                <a:lnTo>
                  <a:pt x="17525" y="0"/>
                </a:lnTo>
                <a:lnTo>
                  <a:pt x="17525" y="64897"/>
                </a:lnTo>
                <a:lnTo>
                  <a:pt x="20700" y="64897"/>
                </a:lnTo>
                <a:lnTo>
                  <a:pt x="20700" y="0"/>
                </a:lnTo>
                <a:close/>
              </a:path>
              <a:path w="38100" h="97154">
                <a:moveTo>
                  <a:pt x="38100" y="58547"/>
                </a:moveTo>
                <a:lnTo>
                  <a:pt x="20700" y="58547"/>
                </a:lnTo>
                <a:lnTo>
                  <a:pt x="20700" y="64897"/>
                </a:lnTo>
                <a:lnTo>
                  <a:pt x="34925" y="64897"/>
                </a:lnTo>
                <a:lnTo>
                  <a:pt x="38100" y="585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658233" y="6835647"/>
            <a:ext cx="38100" cy="97155"/>
          </a:xfrm>
          <a:custGeom>
            <a:avLst/>
            <a:gdLst/>
            <a:ahLst/>
            <a:cxnLst/>
            <a:rect l="l" t="t" r="r" b="b"/>
            <a:pathLst>
              <a:path w="38100" h="97154">
                <a:moveTo>
                  <a:pt x="17525" y="58546"/>
                </a:moveTo>
                <a:lnTo>
                  <a:pt x="0" y="58546"/>
                </a:lnTo>
                <a:lnTo>
                  <a:pt x="19050" y="96646"/>
                </a:lnTo>
                <a:lnTo>
                  <a:pt x="34925" y="64896"/>
                </a:lnTo>
                <a:lnTo>
                  <a:pt x="17525" y="64896"/>
                </a:lnTo>
                <a:lnTo>
                  <a:pt x="17525" y="58546"/>
                </a:lnTo>
                <a:close/>
              </a:path>
              <a:path w="38100" h="97154">
                <a:moveTo>
                  <a:pt x="20700" y="0"/>
                </a:moveTo>
                <a:lnTo>
                  <a:pt x="17525" y="0"/>
                </a:lnTo>
                <a:lnTo>
                  <a:pt x="17525" y="64896"/>
                </a:lnTo>
                <a:lnTo>
                  <a:pt x="20700" y="64896"/>
                </a:lnTo>
                <a:lnTo>
                  <a:pt x="20700" y="0"/>
                </a:lnTo>
                <a:close/>
              </a:path>
              <a:path w="38100" h="97154">
                <a:moveTo>
                  <a:pt x="38100" y="58546"/>
                </a:moveTo>
                <a:lnTo>
                  <a:pt x="20700" y="58546"/>
                </a:lnTo>
                <a:lnTo>
                  <a:pt x="20700" y="64896"/>
                </a:lnTo>
                <a:lnTo>
                  <a:pt x="34925" y="64896"/>
                </a:lnTo>
                <a:lnTo>
                  <a:pt x="38100" y="585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853053" y="7009383"/>
            <a:ext cx="1601470" cy="469900"/>
          </a:xfrm>
          <a:custGeom>
            <a:avLst/>
            <a:gdLst/>
            <a:ahLst/>
            <a:cxnLst/>
            <a:rect l="l" t="t" r="r" b="b"/>
            <a:pathLst>
              <a:path w="1601470" h="469900">
                <a:moveTo>
                  <a:pt x="401828" y="18288"/>
                </a:moveTo>
                <a:lnTo>
                  <a:pt x="399681" y="17272"/>
                </a:lnTo>
                <a:lnTo>
                  <a:pt x="363347" y="0"/>
                </a:lnTo>
                <a:lnTo>
                  <a:pt x="363689" y="17272"/>
                </a:lnTo>
                <a:lnTo>
                  <a:pt x="363689" y="17640"/>
                </a:lnTo>
                <a:lnTo>
                  <a:pt x="327025" y="19685"/>
                </a:lnTo>
                <a:lnTo>
                  <a:pt x="290449" y="23241"/>
                </a:lnTo>
                <a:lnTo>
                  <a:pt x="219964" y="34036"/>
                </a:lnTo>
                <a:lnTo>
                  <a:pt x="155448" y="49149"/>
                </a:lnTo>
                <a:lnTo>
                  <a:pt x="112268" y="62865"/>
                </a:lnTo>
                <a:lnTo>
                  <a:pt x="74803" y="78232"/>
                </a:lnTo>
                <a:lnTo>
                  <a:pt x="34925" y="100838"/>
                </a:lnTo>
                <a:lnTo>
                  <a:pt x="5207" y="131445"/>
                </a:lnTo>
                <a:lnTo>
                  <a:pt x="0" y="150622"/>
                </a:lnTo>
                <a:lnTo>
                  <a:pt x="3048" y="150876"/>
                </a:lnTo>
                <a:lnTo>
                  <a:pt x="3619" y="145275"/>
                </a:lnTo>
                <a:lnTo>
                  <a:pt x="5257" y="139065"/>
                </a:lnTo>
                <a:lnTo>
                  <a:pt x="29210" y="109220"/>
                </a:lnTo>
                <a:lnTo>
                  <a:pt x="62560" y="87833"/>
                </a:lnTo>
                <a:lnTo>
                  <a:pt x="65214" y="86525"/>
                </a:lnTo>
                <a:lnTo>
                  <a:pt x="76073" y="81153"/>
                </a:lnTo>
                <a:lnTo>
                  <a:pt x="87757" y="75946"/>
                </a:lnTo>
                <a:lnTo>
                  <a:pt x="100330" y="70739"/>
                </a:lnTo>
                <a:lnTo>
                  <a:pt x="108000" y="67843"/>
                </a:lnTo>
                <a:lnTo>
                  <a:pt x="113715" y="65811"/>
                </a:lnTo>
                <a:lnTo>
                  <a:pt x="127000" y="61087"/>
                </a:lnTo>
                <a:lnTo>
                  <a:pt x="188226" y="44157"/>
                </a:lnTo>
                <a:lnTo>
                  <a:pt x="255016" y="31115"/>
                </a:lnTo>
                <a:lnTo>
                  <a:pt x="290703" y="26441"/>
                </a:lnTo>
                <a:lnTo>
                  <a:pt x="290537" y="26441"/>
                </a:lnTo>
                <a:lnTo>
                  <a:pt x="327279" y="22733"/>
                </a:lnTo>
                <a:lnTo>
                  <a:pt x="363753" y="20802"/>
                </a:lnTo>
                <a:lnTo>
                  <a:pt x="363791" y="22733"/>
                </a:lnTo>
                <a:lnTo>
                  <a:pt x="363905" y="28067"/>
                </a:lnTo>
                <a:lnTo>
                  <a:pt x="364020" y="34036"/>
                </a:lnTo>
                <a:lnTo>
                  <a:pt x="364109" y="38100"/>
                </a:lnTo>
                <a:lnTo>
                  <a:pt x="401828" y="18288"/>
                </a:lnTo>
                <a:close/>
              </a:path>
              <a:path w="1601470" h="469900">
                <a:moveTo>
                  <a:pt x="405765" y="399034"/>
                </a:moveTo>
                <a:lnTo>
                  <a:pt x="331457" y="397395"/>
                </a:lnTo>
                <a:lnTo>
                  <a:pt x="258953" y="392811"/>
                </a:lnTo>
                <a:lnTo>
                  <a:pt x="191262" y="385826"/>
                </a:lnTo>
                <a:lnTo>
                  <a:pt x="130810" y="376555"/>
                </a:lnTo>
                <a:lnTo>
                  <a:pt x="91440" y="368554"/>
                </a:lnTo>
                <a:lnTo>
                  <a:pt x="46088" y="355803"/>
                </a:lnTo>
                <a:lnTo>
                  <a:pt x="36423" y="351231"/>
                </a:lnTo>
                <a:lnTo>
                  <a:pt x="39319" y="347726"/>
                </a:lnTo>
                <a:lnTo>
                  <a:pt x="46990" y="338455"/>
                </a:lnTo>
                <a:lnTo>
                  <a:pt x="5461" y="328803"/>
                </a:lnTo>
                <a:lnTo>
                  <a:pt x="22733" y="367792"/>
                </a:lnTo>
                <a:lnTo>
                  <a:pt x="34277" y="353822"/>
                </a:lnTo>
                <a:lnTo>
                  <a:pt x="34607" y="353822"/>
                </a:lnTo>
                <a:lnTo>
                  <a:pt x="78994" y="368808"/>
                </a:lnTo>
                <a:lnTo>
                  <a:pt x="130175" y="379730"/>
                </a:lnTo>
                <a:lnTo>
                  <a:pt x="190881" y="388874"/>
                </a:lnTo>
                <a:lnTo>
                  <a:pt x="225120" y="392811"/>
                </a:lnTo>
                <a:lnTo>
                  <a:pt x="225348" y="392811"/>
                </a:lnTo>
                <a:lnTo>
                  <a:pt x="258699" y="395986"/>
                </a:lnTo>
                <a:lnTo>
                  <a:pt x="294386" y="398653"/>
                </a:lnTo>
                <a:lnTo>
                  <a:pt x="330962" y="400558"/>
                </a:lnTo>
                <a:lnTo>
                  <a:pt x="368173" y="401828"/>
                </a:lnTo>
                <a:lnTo>
                  <a:pt x="405765" y="402209"/>
                </a:lnTo>
                <a:lnTo>
                  <a:pt x="405765" y="399034"/>
                </a:lnTo>
                <a:close/>
              </a:path>
              <a:path w="1601470" h="469900">
                <a:moveTo>
                  <a:pt x="843280" y="199517"/>
                </a:moveTo>
                <a:lnTo>
                  <a:pt x="825881" y="199517"/>
                </a:lnTo>
                <a:lnTo>
                  <a:pt x="825881" y="105156"/>
                </a:lnTo>
                <a:lnTo>
                  <a:pt x="822706" y="105156"/>
                </a:lnTo>
                <a:lnTo>
                  <a:pt x="822706" y="199517"/>
                </a:lnTo>
                <a:lnTo>
                  <a:pt x="805180" y="199517"/>
                </a:lnTo>
                <a:lnTo>
                  <a:pt x="824230" y="237617"/>
                </a:lnTo>
                <a:lnTo>
                  <a:pt x="840105" y="205867"/>
                </a:lnTo>
                <a:lnTo>
                  <a:pt x="843280" y="199517"/>
                </a:lnTo>
                <a:close/>
              </a:path>
              <a:path w="1601470" h="469900">
                <a:moveTo>
                  <a:pt x="1601089" y="469646"/>
                </a:moveTo>
                <a:lnTo>
                  <a:pt x="1592859" y="450469"/>
                </a:lnTo>
                <a:lnTo>
                  <a:pt x="1584325" y="430530"/>
                </a:lnTo>
                <a:lnTo>
                  <a:pt x="1572793" y="444144"/>
                </a:lnTo>
                <a:lnTo>
                  <a:pt x="1535430" y="431165"/>
                </a:lnTo>
                <a:lnTo>
                  <a:pt x="1489456" y="420624"/>
                </a:lnTo>
                <a:lnTo>
                  <a:pt x="1435100" y="411734"/>
                </a:lnTo>
                <a:lnTo>
                  <a:pt x="1374521" y="404876"/>
                </a:lnTo>
                <a:lnTo>
                  <a:pt x="1344193" y="402590"/>
                </a:lnTo>
                <a:lnTo>
                  <a:pt x="1344688" y="402590"/>
                </a:lnTo>
                <a:lnTo>
                  <a:pt x="1309751" y="400558"/>
                </a:lnTo>
                <a:lnTo>
                  <a:pt x="1276350" y="399415"/>
                </a:lnTo>
                <a:lnTo>
                  <a:pt x="1242822" y="399034"/>
                </a:lnTo>
                <a:lnTo>
                  <a:pt x="1242822" y="402209"/>
                </a:lnTo>
                <a:lnTo>
                  <a:pt x="1276350" y="402590"/>
                </a:lnTo>
                <a:lnTo>
                  <a:pt x="1309624" y="403733"/>
                </a:lnTo>
                <a:lnTo>
                  <a:pt x="1374127" y="408051"/>
                </a:lnTo>
                <a:lnTo>
                  <a:pt x="1434719" y="414909"/>
                </a:lnTo>
                <a:lnTo>
                  <a:pt x="1488821" y="423799"/>
                </a:lnTo>
                <a:lnTo>
                  <a:pt x="1534541" y="434213"/>
                </a:lnTo>
                <a:lnTo>
                  <a:pt x="1569720" y="445770"/>
                </a:lnTo>
                <a:lnTo>
                  <a:pt x="1569339" y="445643"/>
                </a:lnTo>
                <a:lnTo>
                  <a:pt x="1570672" y="446646"/>
                </a:lnTo>
                <a:lnTo>
                  <a:pt x="1559687" y="459613"/>
                </a:lnTo>
                <a:lnTo>
                  <a:pt x="1601089" y="4696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658233" y="5889878"/>
            <a:ext cx="38100" cy="138430"/>
          </a:xfrm>
          <a:custGeom>
            <a:avLst/>
            <a:gdLst/>
            <a:ahLst/>
            <a:cxnLst/>
            <a:rect l="l" t="t" r="r" b="b"/>
            <a:pathLst>
              <a:path w="38100" h="138429">
                <a:moveTo>
                  <a:pt x="17525" y="99822"/>
                </a:moveTo>
                <a:lnTo>
                  <a:pt x="0" y="99822"/>
                </a:lnTo>
                <a:lnTo>
                  <a:pt x="19050" y="137922"/>
                </a:lnTo>
                <a:lnTo>
                  <a:pt x="34925" y="106172"/>
                </a:lnTo>
                <a:lnTo>
                  <a:pt x="17525" y="106172"/>
                </a:lnTo>
                <a:lnTo>
                  <a:pt x="17525" y="99822"/>
                </a:lnTo>
                <a:close/>
              </a:path>
              <a:path w="38100" h="138429">
                <a:moveTo>
                  <a:pt x="20700" y="0"/>
                </a:moveTo>
                <a:lnTo>
                  <a:pt x="17525" y="0"/>
                </a:lnTo>
                <a:lnTo>
                  <a:pt x="17525" y="106172"/>
                </a:lnTo>
                <a:lnTo>
                  <a:pt x="20700" y="106172"/>
                </a:lnTo>
                <a:lnTo>
                  <a:pt x="20700" y="0"/>
                </a:lnTo>
                <a:close/>
              </a:path>
              <a:path w="38100" h="138429">
                <a:moveTo>
                  <a:pt x="38100" y="99822"/>
                </a:moveTo>
                <a:lnTo>
                  <a:pt x="20700" y="99822"/>
                </a:lnTo>
                <a:lnTo>
                  <a:pt x="20700" y="106172"/>
                </a:lnTo>
                <a:lnTo>
                  <a:pt x="34925" y="106172"/>
                </a:lnTo>
                <a:lnTo>
                  <a:pt x="38100" y="998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463541" y="5802884"/>
            <a:ext cx="4445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User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Story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09771" y="7434198"/>
            <a:ext cx="800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202682" y="7292467"/>
            <a:ext cx="8445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301741" y="7511033"/>
            <a:ext cx="42354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Next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story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27692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Feature</a:t>
            </a:r>
            <a:r>
              <a:rPr kumimoji="0" sz="16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Driven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Development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2801620" cy="15049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FDD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History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Original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Creator: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Jeff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Luca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Singapore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late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1997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FDD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evolved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actual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project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Bank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Loan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Luca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Project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manager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50 member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developer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Peter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Coad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: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Chief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Architect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1990’s</a:t>
            </a:r>
            <a:r>
              <a:rPr kumimoji="0" sz="7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object-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oriented analysis and</a:t>
            </a:r>
            <a:r>
              <a:rPr kumimoji="0" sz="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design</a:t>
            </a:r>
            <a:r>
              <a:rPr kumimoji="0" sz="7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expert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44195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FDD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3314700" cy="8089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What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Feature?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Definition: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small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function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expressed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client-valued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terms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 typeface="Arial MT"/>
              <a:buChar char="•"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FDD’s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form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customer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requirement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4425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FDD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059680" cy="223583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FDD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Primary</a:t>
            </a:r>
            <a:r>
              <a:rPr kumimoji="0" sz="1000" b="1" i="0" u="none" strike="noStrike" kern="0" cap="none" spc="-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Roles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Project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Chief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Architect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Domain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Experts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Class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Owners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This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concept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differs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FDD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over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XP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Benefits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Someone</a:t>
            </a:r>
            <a:r>
              <a:rPr kumimoji="0" sz="7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responsible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7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integrity</a:t>
            </a:r>
            <a:r>
              <a:rPr kumimoji="0" sz="7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7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each</a:t>
            </a:r>
            <a:r>
              <a:rPr kumimoji="0" sz="7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class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Each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class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will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expert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available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Class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owners</a:t>
            </a:r>
            <a:r>
              <a:rPr kumimoji="0" sz="7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make</a:t>
            </a:r>
            <a:r>
              <a:rPr kumimoji="0" sz="7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changes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much</a:t>
            </a:r>
            <a:r>
              <a:rPr kumimoji="0" sz="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quicker,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if</a:t>
            </a:r>
            <a:r>
              <a:rPr kumimoji="0" sz="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needed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anytime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Easily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lends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notion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ownership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Assists</a:t>
            </a:r>
            <a:r>
              <a:rPr kumimoji="0" sz="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FDD</a:t>
            </a:r>
            <a:r>
              <a:rPr kumimoji="0" sz="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scaling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7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larger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teams,</a:t>
            </a:r>
            <a:r>
              <a:rPr kumimoji="0" sz="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7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person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available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complete</a:t>
            </a:r>
            <a:r>
              <a:rPr kumimoji="0" sz="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ownership</a:t>
            </a: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feature.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Chief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Programmers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44195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FDD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1486535" cy="16319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FDD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Supporting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Roles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Release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Language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Guru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Build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Engineer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Toolsmith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Administrator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Tester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Deployers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Technical</a:t>
            </a:r>
            <a:r>
              <a:rPr kumimoji="0" sz="9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Writer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4425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FDD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207000" cy="230949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Feature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Driven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Development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Process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#1: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Overall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Model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#2: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Build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List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#3: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Feature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ts val="91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Constructing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initial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schedule,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Forming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level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individual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features,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Prioritizing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8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business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value 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,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0" lvl="0" indent="0" defTabSz="914400" eaLnBrk="1" fontAlgn="auto" latinLnBrk="0" hangingPunct="1">
              <a:lnSpc>
                <a:spcPts val="9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above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factors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 do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consider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dependencies,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difficulty,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risks.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5080" lvl="1" indent="-114300" defTabSz="914400" eaLnBrk="1" fontAlgn="auto" latinLnBrk="0" hangingPunct="1">
              <a:lnSpc>
                <a:spcPts val="860"/>
              </a:lnSpc>
              <a:spcBef>
                <a:spcPts val="30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These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factors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will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help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Assigning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responsibilities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members,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Determining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Class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Owners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,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Assigning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sets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chief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programmers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#4: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Design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Feature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20955" lvl="1" indent="-114300" defTabSz="914400" eaLnBrk="1" fontAlgn="auto" latinLnBrk="0" hangingPunct="1">
              <a:lnSpc>
                <a:spcPts val="86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Goal: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design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its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entirety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but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instead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just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enough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initial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design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able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build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300355" lvl="1" indent="-114300" defTabSz="914400" eaLnBrk="1" fontAlgn="auto" latinLnBrk="0" hangingPunct="1">
              <a:lnSpc>
                <a:spcPts val="860"/>
              </a:lnSpc>
              <a:spcBef>
                <a:spcPts val="2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 more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about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Form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Teams: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Where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 members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collaborate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 the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full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low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level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analysis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design.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#5: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Build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Goal: Deliver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real,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completed,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client-valued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function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 often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possible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44195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FDD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409057"/>
            <a:ext cx="27470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Feature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Driven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Development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Process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Contd..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8653" y="5780564"/>
            <a:ext cx="3814549" cy="2123053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29044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Behavior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Driven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Development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118735" cy="151828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BDD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Introduction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Behavior-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Driven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(BDD)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BDD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considered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effective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technical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practice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especially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when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"problem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space"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business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complex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What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BDD?: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General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Technique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TDD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Follows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same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principle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TDD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Shared</a:t>
            </a:r>
            <a:r>
              <a:rPr kumimoji="0" sz="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Shared</a:t>
            </a:r>
            <a:r>
              <a:rPr kumimoji="0" sz="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4648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BDD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2143125" cy="113792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BDD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Focus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Where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start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process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What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what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How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much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go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What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call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How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understand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why 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fails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2463" y="6540754"/>
            <a:ext cx="486409" cy="22352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88900" marR="5080" lvl="0" indent="-76200" defTabSz="914400" eaLnBrk="1" fontAlgn="auto" latinLnBrk="0" hangingPunct="1">
              <a:lnSpc>
                <a:spcPts val="72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Write</a:t>
            </a:r>
            <a:r>
              <a:rPr kumimoji="0" sz="7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failing</a:t>
            </a:r>
            <a:r>
              <a:rPr kumimoji="0" sz="7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unit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test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229608" y="6980555"/>
            <a:ext cx="361950" cy="586105"/>
          </a:xfrm>
          <a:custGeom>
            <a:avLst/>
            <a:gdLst/>
            <a:ahLst/>
            <a:cxnLst/>
            <a:rect l="l" t="t" r="r" b="b"/>
            <a:pathLst>
              <a:path w="361950" h="586104">
                <a:moveTo>
                  <a:pt x="236092" y="0"/>
                </a:moveTo>
                <a:lnTo>
                  <a:pt x="232949" y="51343"/>
                </a:lnTo>
                <a:lnTo>
                  <a:pt x="225131" y="101796"/>
                </a:lnTo>
                <a:lnTo>
                  <a:pt x="212772" y="151064"/>
                </a:lnTo>
                <a:lnTo>
                  <a:pt x="196003" y="198848"/>
                </a:lnTo>
                <a:lnTo>
                  <a:pt x="174958" y="244852"/>
                </a:lnTo>
                <a:lnTo>
                  <a:pt x="149770" y="288779"/>
                </a:lnTo>
                <a:lnTo>
                  <a:pt x="120571" y="330332"/>
                </a:lnTo>
                <a:lnTo>
                  <a:pt x="87494" y="369214"/>
                </a:lnTo>
                <a:lnTo>
                  <a:pt x="50672" y="405130"/>
                </a:lnTo>
                <a:lnTo>
                  <a:pt x="8127" y="334264"/>
                </a:lnTo>
                <a:lnTo>
                  <a:pt x="0" y="520065"/>
                </a:lnTo>
                <a:lnTo>
                  <a:pt x="158876" y="585597"/>
                </a:lnTo>
                <a:lnTo>
                  <a:pt x="116204" y="514477"/>
                </a:lnTo>
                <a:lnTo>
                  <a:pt x="153103" y="481556"/>
                </a:lnTo>
                <a:lnTo>
                  <a:pt x="187288" y="446283"/>
                </a:lnTo>
                <a:lnTo>
                  <a:pt x="218678" y="408828"/>
                </a:lnTo>
                <a:lnTo>
                  <a:pt x="247189" y="369363"/>
                </a:lnTo>
                <a:lnTo>
                  <a:pt x="272738" y="328057"/>
                </a:lnTo>
                <a:lnTo>
                  <a:pt x="295243" y="285083"/>
                </a:lnTo>
                <a:lnTo>
                  <a:pt x="314620" y="240611"/>
                </a:lnTo>
                <a:lnTo>
                  <a:pt x="330787" y="194813"/>
                </a:lnTo>
                <a:lnTo>
                  <a:pt x="343662" y="147859"/>
                </a:lnTo>
                <a:lnTo>
                  <a:pt x="353159" y="99921"/>
                </a:lnTo>
                <a:lnTo>
                  <a:pt x="359198" y="51171"/>
                </a:lnTo>
                <a:lnTo>
                  <a:pt x="361695" y="1778"/>
                </a:lnTo>
                <a:lnTo>
                  <a:pt x="23609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59251" y="7480172"/>
            <a:ext cx="509270" cy="22352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58750" marR="5080" lvl="0" indent="-146685" defTabSz="914400" eaLnBrk="1" fontAlgn="auto" latinLnBrk="0" hangingPunct="1">
              <a:lnSpc>
                <a:spcPts val="72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Refactor</a:t>
            </a:r>
            <a:r>
              <a:rPr kumimoji="0" sz="7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7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60522" y="6981443"/>
            <a:ext cx="467995" cy="573405"/>
          </a:xfrm>
          <a:custGeom>
            <a:avLst/>
            <a:gdLst/>
            <a:ahLst/>
            <a:cxnLst/>
            <a:rect l="l" t="t" r="r" b="b"/>
            <a:pathLst>
              <a:path w="467995" h="573404">
                <a:moveTo>
                  <a:pt x="136525" y="0"/>
                </a:moveTo>
                <a:lnTo>
                  <a:pt x="0" y="104647"/>
                </a:lnTo>
                <a:lnTo>
                  <a:pt x="82930" y="103377"/>
                </a:lnTo>
                <a:lnTo>
                  <a:pt x="92888" y="151807"/>
                </a:lnTo>
                <a:lnTo>
                  <a:pt x="106241" y="199073"/>
                </a:lnTo>
                <a:lnTo>
                  <a:pt x="122884" y="245018"/>
                </a:lnTo>
                <a:lnTo>
                  <a:pt x="142710" y="289484"/>
                </a:lnTo>
                <a:lnTo>
                  <a:pt x="165612" y="332313"/>
                </a:lnTo>
                <a:lnTo>
                  <a:pt x="191484" y="373348"/>
                </a:lnTo>
                <a:lnTo>
                  <a:pt x="220218" y="412430"/>
                </a:lnTo>
                <a:lnTo>
                  <a:pt x="251709" y="449401"/>
                </a:lnTo>
                <a:lnTo>
                  <a:pt x="285849" y="484104"/>
                </a:lnTo>
                <a:lnTo>
                  <a:pt x="322531" y="516380"/>
                </a:lnTo>
                <a:lnTo>
                  <a:pt x="361650" y="546073"/>
                </a:lnTo>
                <a:lnTo>
                  <a:pt x="403098" y="573023"/>
                </a:lnTo>
                <a:lnTo>
                  <a:pt x="467740" y="465327"/>
                </a:lnTo>
                <a:lnTo>
                  <a:pt x="424916" y="436849"/>
                </a:lnTo>
                <a:lnTo>
                  <a:pt x="385214" y="404762"/>
                </a:lnTo>
                <a:lnTo>
                  <a:pt x="348821" y="369334"/>
                </a:lnTo>
                <a:lnTo>
                  <a:pt x="315925" y="330834"/>
                </a:lnTo>
                <a:lnTo>
                  <a:pt x="286712" y="289527"/>
                </a:lnTo>
                <a:lnTo>
                  <a:pt x="261370" y="245683"/>
                </a:lnTo>
                <a:lnTo>
                  <a:pt x="240086" y="199569"/>
                </a:lnTo>
                <a:lnTo>
                  <a:pt x="223046" y="151452"/>
                </a:lnTo>
                <a:lnTo>
                  <a:pt x="210438" y="101599"/>
                </a:lnTo>
                <a:lnTo>
                  <a:pt x="293242" y="100329"/>
                </a:lnTo>
                <a:lnTo>
                  <a:pt x="13652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46602" y="6540754"/>
            <a:ext cx="647700" cy="22352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lvl="0" indent="80645" defTabSz="914400" eaLnBrk="1" fontAlgn="auto" latinLnBrk="0" hangingPunct="1">
              <a:lnSpc>
                <a:spcPts val="72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Write</a:t>
            </a:r>
            <a:r>
              <a:rPr kumimoji="0" sz="7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failing</a:t>
            </a:r>
            <a:r>
              <a:rPr kumimoji="0" sz="7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acceptance</a:t>
            </a:r>
            <a:r>
              <a:rPr kumimoji="0" sz="7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674236" y="6230873"/>
            <a:ext cx="455295" cy="274955"/>
          </a:xfrm>
          <a:custGeom>
            <a:avLst/>
            <a:gdLst/>
            <a:ahLst/>
            <a:cxnLst/>
            <a:rect l="l" t="t" r="r" b="b"/>
            <a:pathLst>
              <a:path w="455295" h="274954">
                <a:moveTo>
                  <a:pt x="407542" y="0"/>
                </a:moveTo>
                <a:lnTo>
                  <a:pt x="378333" y="77596"/>
                </a:lnTo>
                <a:lnTo>
                  <a:pt x="330786" y="69355"/>
                </a:lnTo>
                <a:lnTo>
                  <a:pt x="282946" y="64527"/>
                </a:lnTo>
                <a:lnTo>
                  <a:pt x="234995" y="63099"/>
                </a:lnTo>
                <a:lnTo>
                  <a:pt x="187118" y="65055"/>
                </a:lnTo>
                <a:lnTo>
                  <a:pt x="139497" y="70381"/>
                </a:lnTo>
                <a:lnTo>
                  <a:pt x="92315" y="79061"/>
                </a:lnTo>
                <a:lnTo>
                  <a:pt x="45754" y="91081"/>
                </a:lnTo>
                <a:lnTo>
                  <a:pt x="0" y="106425"/>
                </a:lnTo>
                <a:lnTo>
                  <a:pt x="44068" y="224027"/>
                </a:lnTo>
                <a:lnTo>
                  <a:pt x="90820" y="208803"/>
                </a:lnTo>
                <a:lnTo>
                  <a:pt x="138552" y="197823"/>
                </a:lnTo>
                <a:lnTo>
                  <a:pt x="186975" y="191119"/>
                </a:lnTo>
                <a:lnTo>
                  <a:pt x="235801" y="188721"/>
                </a:lnTo>
                <a:lnTo>
                  <a:pt x="284739" y="190664"/>
                </a:lnTo>
                <a:lnTo>
                  <a:pt x="333501" y="196976"/>
                </a:lnTo>
                <a:lnTo>
                  <a:pt x="304418" y="274446"/>
                </a:lnTo>
                <a:lnTo>
                  <a:pt x="455040" y="165226"/>
                </a:lnTo>
                <a:lnTo>
                  <a:pt x="40754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61026" y="6518529"/>
            <a:ext cx="654685" cy="22352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5904" marR="5080" lvl="0" indent="-243840" defTabSz="914400" eaLnBrk="1" fontAlgn="auto" latinLnBrk="0" hangingPunct="1">
              <a:lnSpc>
                <a:spcPts val="72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Write</a:t>
            </a:r>
            <a:r>
              <a:rPr kumimoji="0" sz="7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failing</a:t>
            </a: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unit</a:t>
            </a:r>
            <a:r>
              <a:rPr kumimoji="0" sz="7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43346" y="6908545"/>
            <a:ext cx="295910" cy="435609"/>
          </a:xfrm>
          <a:custGeom>
            <a:avLst/>
            <a:gdLst/>
            <a:ahLst/>
            <a:cxnLst/>
            <a:rect l="l" t="t" r="r" b="b"/>
            <a:pathLst>
              <a:path w="295910" h="435609">
                <a:moveTo>
                  <a:pt x="169163" y="0"/>
                </a:moveTo>
                <a:lnTo>
                  <a:pt x="160154" y="47523"/>
                </a:lnTo>
                <a:lnTo>
                  <a:pt x="146318" y="93594"/>
                </a:lnTo>
                <a:lnTo>
                  <a:pt x="127825" y="137858"/>
                </a:lnTo>
                <a:lnTo>
                  <a:pt x="104845" y="179963"/>
                </a:lnTo>
                <a:lnTo>
                  <a:pt x="77547" y="219557"/>
                </a:lnTo>
                <a:lnTo>
                  <a:pt x="46100" y="256285"/>
                </a:lnTo>
                <a:lnTo>
                  <a:pt x="0" y="186308"/>
                </a:lnTo>
                <a:lnTo>
                  <a:pt x="1015" y="376808"/>
                </a:lnTo>
                <a:lnTo>
                  <a:pt x="164211" y="435482"/>
                </a:lnTo>
                <a:lnTo>
                  <a:pt x="117982" y="365251"/>
                </a:lnTo>
                <a:lnTo>
                  <a:pt x="152787" y="329234"/>
                </a:lnTo>
                <a:lnTo>
                  <a:pt x="184253" y="290589"/>
                </a:lnTo>
                <a:lnTo>
                  <a:pt x="212253" y="249561"/>
                </a:lnTo>
                <a:lnTo>
                  <a:pt x="236664" y="206390"/>
                </a:lnTo>
                <a:lnTo>
                  <a:pt x="257360" y="161321"/>
                </a:lnTo>
                <a:lnTo>
                  <a:pt x="274216" y="114595"/>
                </a:lnTo>
                <a:lnTo>
                  <a:pt x="287108" y="66455"/>
                </a:lnTo>
                <a:lnTo>
                  <a:pt x="295910" y="17144"/>
                </a:lnTo>
                <a:lnTo>
                  <a:pt x="169163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86629" y="7392416"/>
            <a:ext cx="510540" cy="22352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59385" marR="5080" lvl="0" indent="-146685" defTabSz="914400" eaLnBrk="1" fontAlgn="auto" latinLnBrk="0" hangingPunct="1">
              <a:lnSpc>
                <a:spcPts val="72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Refactor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the</a:t>
            </a:r>
            <a:r>
              <a:rPr kumimoji="0" sz="700" b="0" i="0" u="none" strike="noStrike" kern="0" cap="none" spc="50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75226" y="6087011"/>
            <a:ext cx="1056640" cy="392430"/>
          </a:xfrm>
          <a:custGeom>
            <a:avLst/>
            <a:gdLst/>
            <a:ahLst/>
            <a:cxnLst/>
            <a:rect l="l" t="t" r="r" b="b"/>
            <a:pathLst>
              <a:path w="1056639" h="392429">
                <a:moveTo>
                  <a:pt x="557480" y="100"/>
                </a:moveTo>
                <a:lnTo>
                  <a:pt x="511689" y="0"/>
                </a:lnTo>
                <a:lnTo>
                  <a:pt x="466256" y="3439"/>
                </a:lnTo>
                <a:lnTo>
                  <a:pt x="421382" y="10347"/>
                </a:lnTo>
                <a:lnTo>
                  <a:pt x="377270" y="20650"/>
                </a:lnTo>
                <a:lnTo>
                  <a:pt x="334121" y="34277"/>
                </a:lnTo>
                <a:lnTo>
                  <a:pt x="292136" y="51154"/>
                </a:lnTo>
                <a:lnTo>
                  <a:pt x="251518" y="71210"/>
                </a:lnTo>
                <a:lnTo>
                  <a:pt x="212469" y="94372"/>
                </a:lnTo>
                <a:lnTo>
                  <a:pt x="175191" y="120568"/>
                </a:lnTo>
                <a:lnTo>
                  <a:pt x="139884" y="149725"/>
                </a:lnTo>
                <a:lnTo>
                  <a:pt x="106752" y="181773"/>
                </a:lnTo>
                <a:lnTo>
                  <a:pt x="75995" y="216637"/>
                </a:lnTo>
                <a:lnTo>
                  <a:pt x="47816" y="254246"/>
                </a:lnTo>
                <a:lnTo>
                  <a:pt x="22417" y="294528"/>
                </a:lnTo>
                <a:lnTo>
                  <a:pt x="0" y="337410"/>
                </a:lnTo>
                <a:lnTo>
                  <a:pt x="115697" y="392020"/>
                </a:lnTo>
                <a:lnTo>
                  <a:pt x="136267" y="353412"/>
                </a:lnTo>
                <a:lnTo>
                  <a:pt x="160337" y="316994"/>
                </a:lnTo>
                <a:lnTo>
                  <a:pt x="187741" y="283006"/>
                </a:lnTo>
                <a:lnTo>
                  <a:pt x="218312" y="251685"/>
                </a:lnTo>
                <a:lnTo>
                  <a:pt x="254451" y="221241"/>
                </a:lnTo>
                <a:lnTo>
                  <a:pt x="292736" y="195102"/>
                </a:lnTo>
                <a:lnTo>
                  <a:pt x="332839" y="173256"/>
                </a:lnTo>
                <a:lnTo>
                  <a:pt x="374431" y="155691"/>
                </a:lnTo>
                <a:lnTo>
                  <a:pt x="417186" y="142394"/>
                </a:lnTo>
                <a:lnTo>
                  <a:pt x="460776" y="133355"/>
                </a:lnTo>
                <a:lnTo>
                  <a:pt x="504872" y="128562"/>
                </a:lnTo>
                <a:lnTo>
                  <a:pt x="549148" y="128003"/>
                </a:lnTo>
                <a:lnTo>
                  <a:pt x="593274" y="131665"/>
                </a:lnTo>
                <a:lnTo>
                  <a:pt x="636924" y="139539"/>
                </a:lnTo>
                <a:lnTo>
                  <a:pt x="679769" y="151611"/>
                </a:lnTo>
                <a:lnTo>
                  <a:pt x="721483" y="167871"/>
                </a:lnTo>
                <a:lnTo>
                  <a:pt x="761736" y="188305"/>
                </a:lnTo>
                <a:lnTo>
                  <a:pt x="800201" y="212904"/>
                </a:lnTo>
                <a:lnTo>
                  <a:pt x="836551" y="241654"/>
                </a:lnTo>
                <a:lnTo>
                  <a:pt x="870458" y="274545"/>
                </a:lnTo>
                <a:lnTo>
                  <a:pt x="797813" y="316455"/>
                </a:lnTo>
                <a:lnTo>
                  <a:pt x="988060" y="326742"/>
                </a:lnTo>
                <a:lnTo>
                  <a:pt x="1056513" y="167230"/>
                </a:lnTo>
                <a:lnTo>
                  <a:pt x="983614" y="209267"/>
                </a:lnTo>
                <a:lnTo>
                  <a:pt x="949300" y="172003"/>
                </a:lnTo>
                <a:lnTo>
                  <a:pt x="912035" y="137897"/>
                </a:lnTo>
                <a:lnTo>
                  <a:pt x="872039" y="107119"/>
                </a:lnTo>
                <a:lnTo>
                  <a:pt x="829532" y="79840"/>
                </a:lnTo>
                <a:lnTo>
                  <a:pt x="784733" y="56232"/>
                </a:lnTo>
                <a:lnTo>
                  <a:pt x="740182" y="37347"/>
                </a:lnTo>
                <a:lnTo>
                  <a:pt x="694979" y="22363"/>
                </a:lnTo>
                <a:lnTo>
                  <a:pt x="649327" y="11209"/>
                </a:lnTo>
                <a:lnTo>
                  <a:pt x="603426" y="3812"/>
                </a:lnTo>
                <a:lnTo>
                  <a:pt x="557480" y="10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94859" y="6927850"/>
            <a:ext cx="401320" cy="490220"/>
          </a:xfrm>
          <a:custGeom>
            <a:avLst/>
            <a:gdLst/>
            <a:ahLst/>
            <a:cxnLst/>
            <a:rect l="l" t="t" r="r" b="b"/>
            <a:pathLst>
              <a:path w="401320" h="490220">
                <a:moveTo>
                  <a:pt x="89280" y="0"/>
                </a:moveTo>
                <a:lnTo>
                  <a:pt x="0" y="204469"/>
                </a:lnTo>
                <a:lnTo>
                  <a:pt x="80010" y="193929"/>
                </a:lnTo>
                <a:lnTo>
                  <a:pt x="101813" y="238392"/>
                </a:lnTo>
                <a:lnTo>
                  <a:pt x="126660" y="281007"/>
                </a:lnTo>
                <a:lnTo>
                  <a:pt x="154427" y="321627"/>
                </a:lnTo>
                <a:lnTo>
                  <a:pt x="184991" y="360108"/>
                </a:lnTo>
                <a:lnTo>
                  <a:pt x="218227" y="396303"/>
                </a:lnTo>
                <a:lnTo>
                  <a:pt x="254013" y="430065"/>
                </a:lnTo>
                <a:lnTo>
                  <a:pt x="292225" y="461250"/>
                </a:lnTo>
                <a:lnTo>
                  <a:pt x="332739" y="489712"/>
                </a:lnTo>
                <a:lnTo>
                  <a:pt x="400812" y="384175"/>
                </a:lnTo>
                <a:lnTo>
                  <a:pt x="362169" y="356605"/>
                </a:lnTo>
                <a:lnTo>
                  <a:pt x="326112" y="325966"/>
                </a:lnTo>
                <a:lnTo>
                  <a:pt x="292814" y="292449"/>
                </a:lnTo>
                <a:lnTo>
                  <a:pt x="262447" y="256243"/>
                </a:lnTo>
                <a:lnTo>
                  <a:pt x="235185" y="217540"/>
                </a:lnTo>
                <a:lnTo>
                  <a:pt x="211200" y="176530"/>
                </a:lnTo>
                <a:lnTo>
                  <a:pt x="290575" y="165988"/>
                </a:lnTo>
                <a:lnTo>
                  <a:pt x="8928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66565" y="7794752"/>
            <a:ext cx="292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 MT"/>
                <a:cs typeface="Arial MT"/>
              </a:rPr>
              <a:t>BDD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54600" y="7794752"/>
            <a:ext cx="2876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25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 MT"/>
                <a:cs typeface="Arial MT"/>
              </a:rPr>
              <a:t>TDD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4648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BDD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2880995" cy="165100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BDD</a:t>
            </a:r>
            <a:r>
              <a:rPr kumimoji="0" sz="1000" b="1" i="0" u="none" strike="noStrike" kern="0" cap="none" spc="-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Basic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structure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BDD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consists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cycles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steps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follow.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Identify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business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Identify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scenarios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under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selected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Define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steps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each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scenario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Run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fail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Write</a:t>
            </a:r>
            <a:r>
              <a:rPr kumimoji="0" sz="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 make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steps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pass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Refactor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code,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Create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reusable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automation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library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Run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pass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Generate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test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reports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4648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BDD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2187575" cy="8909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BDD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Example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User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story: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someone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interested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using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Mobile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want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sign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up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enjoy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membership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43554" y="5558154"/>
            <a:ext cx="3173730" cy="140081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6364" marR="0" lvl="0" indent="-113664" defTabSz="914400" eaLnBrk="1" fontAlgn="auto" latinLnBrk="0" hangingPunct="1">
              <a:lnSpc>
                <a:spcPct val="100000"/>
              </a:lnSpc>
              <a:spcBef>
                <a:spcPts val="4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6364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Mobile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Signup: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6364" marR="0" lvl="0" indent="-113664" defTabSz="914400" eaLnBrk="1" fontAlgn="auto" latinLnBrk="0" hangingPunct="1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6364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Scenario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55600" marR="0" lvl="1" indent="-114935" defTabSz="914400" eaLnBrk="1" fontAlgn="auto" latinLnBrk="0" hangingPunct="1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560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Given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am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app's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"Create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new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account"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screen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55600" marR="0" lvl="1" indent="-114935" defTabSz="914400" eaLnBrk="1" fontAlgn="auto" latinLnBrk="0" hangingPunct="1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560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Then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should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"Sign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up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using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Facebook"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button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55600" marR="0" lvl="1" indent="-114935" defTabSz="914400" eaLnBrk="1" fontAlgn="auto" latinLnBrk="0" hangingPunct="1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560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should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"Sign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up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using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Twitter"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button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55600" marR="0" lvl="1" indent="-114935" defTabSz="914400" eaLnBrk="1" fontAlgn="auto" latinLnBrk="0" hangingPunct="1">
              <a:lnSpc>
                <a:spcPct val="100000"/>
              </a:lnSpc>
              <a:spcBef>
                <a:spcPts val="15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560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should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"Sign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up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email"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form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field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0" marR="5080" lvl="0" indent="-114300" defTabSz="914400" eaLnBrk="1" fontAlgn="auto" latinLnBrk="0" hangingPunct="1">
              <a:lnSpc>
                <a:spcPct val="901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700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should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new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screen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asks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permission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my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Facebook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account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data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create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my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new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Mobile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account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4648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BDD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160010" cy="12204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BDD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Sign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Use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Functional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Documentation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terms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Stories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&amp;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Executable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Scenarios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32765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Instead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referring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"tests",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BDD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practitioner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will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prefer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terms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"scenario"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"specification"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ts val="1025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Rather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refer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"functional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tests",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preferred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term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will be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"specifications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product's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0" lvl="0" indent="0" defTabSz="914400" eaLnBrk="1" fontAlgn="auto" latinLnBrk="0" hangingPunct="1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behavior"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Specification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Names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more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expressive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1118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References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3178" y="5638876"/>
            <a:ext cx="141414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6364" marR="0" lvl="0" indent="-113664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6364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  <a:hlinkClick r:id="rId4"/>
              </a:rPr>
              <a:t>http://agilemodeling.com/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78916" y="1345616"/>
            <a:ext cx="1623060" cy="6445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–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People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Structure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424" y="1001014"/>
            <a:ext cx="762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Agenda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14979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r>
              <a:rPr kumimoji="0" sz="1600" b="1" i="0" u="none" strike="noStrike" kern="0" cap="none" spc="-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Structure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4907915" cy="23456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r>
              <a:rPr kumimoji="0" sz="1000" b="1" i="0" u="none" strike="noStrike" kern="0" cap="none" spc="-5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Size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size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should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relatively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small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Amazon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“two pizza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rule”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is,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should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larger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than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two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pizzas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Tx/>
              <a:buSzTx/>
              <a:buFont typeface="Arial MT"/>
              <a:buChar char="•"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advantages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small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are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make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decisions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quickly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easier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individuals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express an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opinion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easier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individuals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express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idea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front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small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group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than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front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large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one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Tx/>
              <a:buSzTx/>
              <a:buFont typeface="Arial MT"/>
              <a:buChar char="•"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disadvantage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Some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tasks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larger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than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accomplished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small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number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individuals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Task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broken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up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into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smaller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pieces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small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team,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necessity,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works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small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amount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14973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r>
              <a:rPr kumimoji="0" sz="1600" b="1" i="0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Structure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4917440" cy="24923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r>
              <a:rPr kumimoji="0" sz="1000" b="1" i="0" u="none" strike="noStrike" kern="0" cap="none" spc="-5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Roles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will study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Scott</a:t>
            </a:r>
            <a:r>
              <a:rPr kumimoji="0" sz="9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Ambler’s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description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team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This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relate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“Scrum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Master”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SCRUM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TEAM.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Also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relate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Project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Lead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responsible: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facilitating</a:t>
            </a:r>
            <a:r>
              <a:rPr kumimoji="0" sz="7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Obtaining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resources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protecting</a:t>
            </a:r>
            <a:r>
              <a:rPr kumimoji="0" sz="7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7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problems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5080" lvl="1" indent="-114300" defTabSz="914400" eaLnBrk="1" fontAlgn="auto" latinLnBrk="0" hangingPunct="1">
              <a:lnSpc>
                <a:spcPts val="86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encompasses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skills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project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management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but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technical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ones such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as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planning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scheduling,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activities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which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better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left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whole.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Tx/>
              <a:buSzTx/>
              <a:buFont typeface="Arial MT"/>
              <a:buChar char="•"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member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role,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sometimes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referred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developer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programmer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responsible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creation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delivery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includes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modeling,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programming,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testing,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release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activities,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well as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others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14979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r>
              <a:rPr kumimoji="0" sz="1600" b="1" i="0" u="none" strike="noStrike" kern="0" cap="none" spc="-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Structure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1530985" cy="97345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Additional</a:t>
            </a:r>
            <a:r>
              <a:rPr kumimoji="0" sz="1000" b="1" i="0" u="none" strike="noStrike" kern="0" cap="none" spc="-4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roles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Service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owner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Reliability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engineer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Gatekeeper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engineer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14973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r>
              <a:rPr kumimoji="0" sz="1600" b="1" i="0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Structure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264150" cy="174243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Service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Owner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responsible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outside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service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owner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participates: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System-wide</a:t>
            </a:r>
            <a:r>
              <a:rPr kumimoji="0" sz="8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requirements</a:t>
            </a:r>
            <a:r>
              <a:rPr kumimoji="0" sz="80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activities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Prioritizes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items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ts val="915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provides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information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both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clients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team’s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service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about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services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provided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the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0" lvl="0" indent="0" defTabSz="914400" eaLnBrk="1" fontAlgn="auto" latinLnBrk="0" hangingPunct="1">
              <a:lnSpc>
                <a:spcPts val="9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team.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143510" lvl="1" indent="-114300" defTabSz="914400" eaLnBrk="1" fontAlgn="auto" latinLnBrk="0" hangingPunct="1">
              <a:lnSpc>
                <a:spcPts val="86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requirements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gathering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release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planning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activities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next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iteration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occur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parallel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conception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phase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current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iteration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service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owner maintains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communicates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vision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service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is,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vision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involves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architecture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overall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team’s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architecture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14979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r>
              <a:rPr kumimoji="0" sz="1600" b="1" i="0" u="none" strike="noStrike" kern="0" cap="none" spc="-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Structure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5179695" cy="20840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Reliability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Engineer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ts val="1025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Reliability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engineer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monitors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service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time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period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immediately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subsequent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0" lvl="0" indent="0" defTabSz="914400" eaLnBrk="1" fontAlgn="auto" latinLnBrk="0" hangingPunct="1">
              <a:lnSpc>
                <a:spcPts val="10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deployment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132080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Second,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reliability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engineer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point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contact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problems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service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during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its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execution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Google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calls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“Site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Reliability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Engineer.”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287655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Once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problem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occurs,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reliability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engineer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performs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short-term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analysis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diagnose,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mitigate,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repair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problem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any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case,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reliability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engineer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excellent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troubleshooting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diagnosis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131445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reliability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engineer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should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discover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 with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discover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root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cause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problem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ts val="1025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Increasingly,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reliability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engineers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 competent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developers,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need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write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high-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0" lvl="0" indent="0" defTabSz="914400" eaLnBrk="1" fontAlgn="auto" latinLnBrk="0" hangingPunct="1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quality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programs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repetitive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part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diagnosis,</a:t>
            </a:r>
            <a:r>
              <a:rPr kumimoji="0" sz="9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mitigation,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repair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14973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r>
              <a:rPr kumimoji="0" sz="1600" b="1" i="0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Structure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432305"/>
            <a:ext cx="7150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Gatekeeper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3136" y="1973579"/>
            <a:ext cx="4054657" cy="189649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33424" y="4977460"/>
            <a:ext cx="14979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r>
              <a:rPr kumimoji="0" sz="1600" b="1" i="0" u="none" strike="noStrike" kern="0" cap="none" spc="-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Structure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8916" y="5322934"/>
            <a:ext cx="5099685" cy="16319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Engineer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ts val="1025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engineer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responsible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care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feeding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various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in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0" lvl="0" indent="0" defTabSz="914400" eaLnBrk="1" fontAlgn="auto" latinLnBrk="0" hangingPunct="1">
              <a:lnSpc>
                <a:spcPts val="10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 tool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chain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194310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engineer’s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tailoring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monitoring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213995" lvl="0" indent="-114300" defTabSz="914400" eaLnBrk="1" fontAlgn="auto" latinLnBrk="0" hangingPunct="1">
              <a:lnSpc>
                <a:spcPts val="969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engineering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inherent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automating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deployment pipeline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169545" lvl="0" indent="-114300" defTabSz="914400" eaLnBrk="1" fontAlgn="auto" latinLnBrk="0" hangingPunct="1">
              <a:lnSpc>
                <a:spcPts val="969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engineer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also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deals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configuration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managements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which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like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Puppet,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Ansible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Chef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etc.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These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configuration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management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solutions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applied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source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 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service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18567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r>
              <a:rPr kumimoji="0" sz="1600" b="1" i="0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Coordination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255260" cy="214058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Forms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Coordination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goal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 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minimize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coordination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order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reduce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time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market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155575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Two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reasons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coordinate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are,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first,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pieces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various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will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 together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and,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second,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avoid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duplication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effort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Forms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Coordination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Direct—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individuals coordinating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know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each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other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(e.g.,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members)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45085" lvl="1" indent="-114300" defTabSz="914400" eaLnBrk="1" fontAlgn="auto" latinLnBrk="0" hangingPunct="1">
              <a:lnSpc>
                <a:spcPts val="86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Indirect—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coordination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mechanism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aimed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at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audience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known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only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characterization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(e.g. Operators)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442595" lvl="1" indent="-114300" defTabSz="914400" eaLnBrk="1" fontAlgn="auto" latinLnBrk="0" hangingPunct="1">
              <a:lnSpc>
                <a:spcPts val="860"/>
              </a:lnSpc>
              <a:spcBef>
                <a:spcPts val="2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Persistent—the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coordination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artifacts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available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after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moment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coordination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(e.g., documents,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e-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mail,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bulletin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boards)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5080" lvl="1" indent="-114300" defTabSz="914400" eaLnBrk="1" fontAlgn="auto" latinLnBrk="0" hangingPunct="1">
              <a:lnSpc>
                <a:spcPts val="860"/>
              </a:lnSpc>
              <a:spcBef>
                <a:spcPts val="2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Ephemeral—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coordination,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se,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produces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artifacts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(e.g.,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face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face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meetings,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conversations, telephone/video</a:t>
            </a:r>
            <a:r>
              <a:rPr kumimoji="0" sz="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conferencing)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Synchronous—individuals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coordinating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real time,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(e.g., face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face)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Asynchronous—individuals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8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coordinating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real</a:t>
            </a:r>
            <a:r>
              <a:rPr kumimoji="0" sz="8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time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(e.g.,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documents,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e-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mail)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18567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r>
              <a:rPr kumimoji="0" sz="1600" b="1" i="0" u="none" strike="noStrike" kern="0" cap="none" spc="-7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Coordination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5074920" cy="189738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r>
              <a:rPr kumimoji="0" sz="1000" b="1" i="0" u="none" strike="noStrike" kern="0" cap="none" spc="-6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coordination</a:t>
            </a:r>
            <a:r>
              <a:rPr kumimoji="0" sz="1000" b="1" i="0" u="none" strike="noStrike" kern="0" cap="none" spc="-5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mechanisms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mechanisms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two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types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Human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Processes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Automated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Processes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 human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processes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adopted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designed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high-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bandwidth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coordination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limited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persistence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Examples: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Stand-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up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meetings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261620" lvl="0" indent="-114300" defTabSz="914400" eaLnBrk="1" fontAlgn="auto" latinLnBrk="0" hangingPunct="1">
              <a:lnSpc>
                <a:spcPts val="969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Automated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coordination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mechanisms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designed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protect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members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interference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their and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others’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activities: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repetitive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tasks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(continuous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integration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deployment),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148590" lvl="1" indent="-114300" defTabSz="914400" eaLnBrk="1" fontAlgn="auto" latinLnBrk="0" hangingPunct="1">
              <a:lnSpc>
                <a:spcPts val="86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speed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up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error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detection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reporting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(automated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unit,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integration,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acceptance,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live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production</a:t>
            </a:r>
            <a:r>
              <a:rPr kumimoji="0" sz="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tests)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185673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r>
              <a:rPr kumimoji="0" sz="1600" b="1" i="0" u="none" strike="noStrike" kern="0" cap="none" spc="-7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Coordination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022850" cy="17881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Cross-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team</a:t>
            </a:r>
            <a:r>
              <a:rPr kumimoji="0" sz="1000" b="1" i="0" u="none" strike="noStrike" kern="0" cap="none" spc="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Coordination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1160" marR="7620" lvl="0" indent="-114300" defTabSz="914400" eaLnBrk="1" fontAlgn="auto" latinLnBrk="0" hangingPunct="1">
              <a:lnSpc>
                <a:spcPts val="969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Coordination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must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occur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customers,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stakeholders,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other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teams,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operations.</a:t>
            </a:r>
            <a:r>
              <a:rPr kumimoji="0" sz="9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Therefore,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 processes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attempt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minimize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much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possible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There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three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types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cross-team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coordination: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Upstream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Coordination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[with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stakeholders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customers]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Downstream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Coordination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[with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operations]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Cross-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Stream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Coordination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[with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other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 teams]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two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reasons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coordinate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other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ensure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developed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well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developed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another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avoid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duplication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effort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78916" y="5322934"/>
            <a:ext cx="2668270" cy="4794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People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Transformation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Enterprise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culture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3424" y="4977460"/>
            <a:ext cx="762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Agenda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43649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Transformation</a:t>
            </a:r>
            <a:r>
              <a:rPr kumimoji="0" sz="16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6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Enterprise</a:t>
            </a:r>
            <a:r>
              <a:rPr kumimoji="0" sz="16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culture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3519804" cy="8089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Constraints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Large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Enterprise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::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Transformation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Structure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Legacy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Technology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Stack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Culture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43649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Transformation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600" b="1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Enterprise</a:t>
            </a:r>
            <a:r>
              <a:rPr kumimoji="0" sz="16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culture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5271135" cy="198818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Concepts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Executives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like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terms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such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“Transformation”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Somehow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often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interpreted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Cost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Cutting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Resource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Realignment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Outsourcing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Why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pushing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intent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transform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way solutions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delivered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today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faster,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cheaper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better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184785" lvl="0" indent="-114300" defTabSz="914400" eaLnBrk="1" fontAlgn="auto" latinLnBrk="0" hangingPunct="1">
              <a:lnSpc>
                <a:spcPts val="969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techniques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 have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been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successfully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implemented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large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and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small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enable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those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outcomes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Look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229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approach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worked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quite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well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most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enterprises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43649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Transformation</a:t>
            </a:r>
            <a:r>
              <a:rPr kumimoji="0" sz="16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6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Enterprise</a:t>
            </a:r>
            <a:r>
              <a:rPr kumimoji="0" sz="16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culture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040630" cy="93218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Initial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Planning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1000" b="1" i="0" u="none" strike="noStrike" kern="0" cap="none" spc="-4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Enterprise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Readiness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Participants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should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absolutely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include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towers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make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up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solution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delivery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Design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Thinking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: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great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method;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leverages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expertise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stakeholders,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enables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them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common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understanding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High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Level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Output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185" y="2712720"/>
            <a:ext cx="1585331" cy="64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88110" y="2796920"/>
            <a:ext cx="897255" cy="43878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09855" marR="5080" lvl="0" indent="-97790" defTabSz="914400" eaLnBrk="1" fontAlgn="auto" latinLnBrk="0" hangingPunct="1">
              <a:lnSpc>
                <a:spcPts val="151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Participant </a:t>
            </a:r>
            <a:r>
              <a:rPr kumimoji="0" sz="14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&amp;</a:t>
            </a:r>
            <a:r>
              <a:rPr kumimoji="0" sz="1450" b="0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45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Inputs</a:t>
            </a:r>
            <a:endParaRPr kumimoji="0" sz="14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47544" y="2712720"/>
            <a:ext cx="1589912" cy="64046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902076" y="2796920"/>
            <a:ext cx="721360" cy="43878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 lvl="0" indent="60960" defTabSz="914400" eaLnBrk="1" fontAlgn="auto" latinLnBrk="0" hangingPunct="1">
              <a:lnSpc>
                <a:spcPts val="151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Design Thinking</a:t>
            </a:r>
            <a:endParaRPr kumimoji="0" sz="14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72484" y="2712720"/>
            <a:ext cx="1589913" cy="64046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242053" y="2796920"/>
            <a:ext cx="894715" cy="438784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2555" marR="5080" lvl="0" indent="-110489" defTabSz="914400" eaLnBrk="1" fontAlgn="auto" latinLnBrk="0" hangingPunct="1">
              <a:lnSpc>
                <a:spcPts val="151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High</a:t>
            </a:r>
            <a:r>
              <a:rPr kumimoji="0" sz="1450" b="0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45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Level Outputs</a:t>
            </a:r>
            <a:endParaRPr kumimoji="0" sz="14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33424" y="4977460"/>
            <a:ext cx="43649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Transformation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600" b="1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Enterprise</a:t>
            </a:r>
            <a:r>
              <a:rPr kumimoji="0" sz="16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culture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8916" y="5322934"/>
            <a:ext cx="5219065" cy="12204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Establish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Center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Excellence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At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right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organizational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level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enterprise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authority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49530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Create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Face: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enterprise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leader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who has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support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buy-in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towers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416559" marR="0" lvl="0" indent="-139700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416559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Active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Participant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9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Towers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Delivery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&amp;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Participants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must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chosen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wisely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These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phases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help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concrete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vision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strategies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help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setup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best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practices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support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cultural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movement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3865" y="6940295"/>
            <a:ext cx="1585331" cy="64046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509775" y="7100061"/>
            <a:ext cx="880744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Authority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54223" y="6940295"/>
            <a:ext cx="1589913" cy="64046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946019" y="6988302"/>
            <a:ext cx="854710" cy="5080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86055" marR="5080" lvl="0" indent="-173990" defTabSz="914400" eaLnBrk="1" fontAlgn="auto" latinLnBrk="0" hangingPunct="1">
              <a:lnSpc>
                <a:spcPts val="175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Create</a:t>
            </a:r>
            <a:r>
              <a:rPr kumimoji="0" sz="1700" b="0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700" b="0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a </a:t>
            </a:r>
            <a:r>
              <a:rPr kumimoji="0" sz="17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Face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79164" y="6940295"/>
            <a:ext cx="1589913" cy="64046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443221" y="6988302"/>
            <a:ext cx="711200" cy="5080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33045" marR="5080" lvl="0" indent="-220979" defTabSz="914400" eaLnBrk="1" fontAlgn="auto" latinLnBrk="0" hangingPunct="1">
              <a:lnSpc>
                <a:spcPts val="175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Involve </a:t>
            </a:r>
            <a:r>
              <a:rPr kumimoji="0" sz="17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endParaRPr kumimoji="0" sz="1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43649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Transformation</a:t>
            </a:r>
            <a:r>
              <a:rPr kumimoji="0" sz="16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6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Enterprise</a:t>
            </a:r>
            <a:r>
              <a:rPr kumimoji="0" sz="16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culture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4352925" cy="8089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Establish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Program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Governance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DevOps,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practitioners’</a:t>
            </a:r>
            <a:r>
              <a:rPr kumimoji="0" sz="9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responsibilities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will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change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Need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awareness,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enablement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empowerment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succeed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KPIs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must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shift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individual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metrics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holistic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customer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business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outcomes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9827" y="2542032"/>
            <a:ext cx="1589912" cy="63893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64158" y="2631693"/>
            <a:ext cx="908050" cy="43942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065" marR="5080" lvl="0" indent="0" algn="ctr" defTabSz="914400" eaLnBrk="1" fontAlgn="auto" latinLnBrk="0" hangingPunct="1">
              <a:lnSpc>
                <a:spcPts val="1030"/>
              </a:lnSpc>
              <a:spcBef>
                <a:spcPts val="2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Create Communication 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Plan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34767" y="2542032"/>
            <a:ext cx="1589912" cy="63893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792983" y="2697225"/>
            <a:ext cx="701040" cy="308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ts val="1115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Enablement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algn="ctr" defTabSz="914400" eaLnBrk="1" fontAlgn="auto" latinLnBrk="0" hangingPunct="1">
              <a:lnSpc>
                <a:spcPts val="11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Program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59708" y="2542032"/>
            <a:ext cx="1589913" cy="63893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149978" y="2697225"/>
            <a:ext cx="838835" cy="3086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marR="0" lvl="0" indent="0" algn="ctr" defTabSz="914400" eaLnBrk="1" fontAlgn="auto" latinLnBrk="0" hangingPunct="1">
              <a:lnSpc>
                <a:spcPts val="1115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Establish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algn="ctr" defTabSz="914400" eaLnBrk="1" fontAlgn="auto" latinLnBrk="0" hangingPunct="1">
              <a:lnSpc>
                <a:spcPts val="11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Program</a:t>
            </a:r>
            <a:r>
              <a:rPr kumimoji="0" sz="1000" b="0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0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KPI’s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33424" y="4977460"/>
            <a:ext cx="43649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Transformation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600" b="1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Enterprise</a:t>
            </a:r>
            <a:r>
              <a:rPr kumimoji="0" sz="16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culture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8916" y="5322934"/>
            <a:ext cx="3476625" cy="97345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Establish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Project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In-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take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Process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SME’s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conduct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in-take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workshops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Scrum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Automation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scripts,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Infrastructure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assets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r>
              <a:rPr kumimoji="0" sz="9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Automation,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Branching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Merging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&amp; Lessons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Learned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purpose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selection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Application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Criticality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14993" y="6825995"/>
            <a:ext cx="1585331" cy="64046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385442" y="6898005"/>
            <a:ext cx="883285" cy="48704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35890" marR="5080" lvl="0" indent="-123825" defTabSz="914400" eaLnBrk="1" fontAlgn="auto" latinLnBrk="0" hangingPunct="1">
              <a:lnSpc>
                <a:spcPts val="1720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Reusable Assets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35351" y="6825995"/>
            <a:ext cx="1589913" cy="64046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2821685" y="6890131"/>
            <a:ext cx="861060" cy="4794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lvl="0" indent="214629" defTabSz="914400" eaLnBrk="1" fontAlgn="auto" latinLnBrk="0" hangingPunct="1">
              <a:lnSpc>
                <a:spcPts val="1660"/>
              </a:lnSpc>
              <a:spcBef>
                <a:spcPts val="3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Best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Practices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60291" y="6825995"/>
            <a:ext cx="1589913" cy="640461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4387341" y="6890131"/>
            <a:ext cx="579755" cy="47942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 lvl="0" indent="40640" defTabSz="914400" eaLnBrk="1" fontAlgn="auto" latinLnBrk="0" hangingPunct="1">
              <a:lnSpc>
                <a:spcPts val="1660"/>
              </a:lnSpc>
              <a:spcBef>
                <a:spcPts val="3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"/>
                <a:cs typeface="Arial MT"/>
              </a:rPr>
              <a:t>Right Sizing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108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43649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Transformation</a:t>
            </a:r>
            <a:r>
              <a:rPr kumimoji="0" sz="16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600" b="1" i="0" u="none" strike="noStrike" kern="0" cap="none" spc="-5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Enterprise</a:t>
            </a:r>
            <a:r>
              <a:rPr kumimoji="0" sz="16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culture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4170679" cy="9372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Identify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Initiate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Pilots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Value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stream-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mapping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exercise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Level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detail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necessary: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identify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end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end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as-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process,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tooling,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manual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automated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processes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skills</a:t>
            </a:r>
            <a:r>
              <a:rPr kumimoji="0" sz="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43649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Transformation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600" b="1" i="0" u="none" strike="noStrike" kern="0" cap="none" spc="-6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Enterprise</a:t>
            </a:r>
            <a:r>
              <a:rPr kumimoji="0" sz="16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1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culture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109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2054225" cy="8089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Scale Out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Program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Onboard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Parallel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Release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Trains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Apply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Intake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Support,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Monitor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1118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References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3178" y="1634998"/>
            <a:ext cx="3796029" cy="3549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6364" marR="0" lvl="0" indent="-113664" defTabSz="91440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6364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would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like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thank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Mr.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Sunil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Joshi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6364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26364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https://devops.com/six-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step-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approach-enterprise-devops-transformation/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26060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People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Dimension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110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38073"/>
            <a:ext cx="5258435" cy="236474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culture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cultural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movement;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it’s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about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Building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culture,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therefore,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at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core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adoption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Tx/>
              <a:buSzTx/>
              <a:buFont typeface="Arial MT"/>
              <a:buChar char="•"/>
              <a:tabLst/>
              <a:defRPr/>
            </a:pP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34925" lvl="0" indent="-1143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may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adopt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most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efficient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processes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automated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possible,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they’re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useless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without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who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eventually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must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execute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those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processes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those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75"/>
              </a:spcBef>
              <a:spcAft>
                <a:spcPts val="0"/>
              </a:spcAft>
              <a:buClrTx/>
              <a:buSzTx/>
              <a:buFont typeface="Arial MT"/>
              <a:buChar char="•"/>
              <a:tabLst/>
              <a:defRPr/>
            </a:pP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170815" lvl="0" indent="-11430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culture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characterized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high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degree 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collaboration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across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roles,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focus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business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instead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departmental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objectives,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trust,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high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value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placed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learning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through experimentation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Building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culture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isn’t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like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adopting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ts val="969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social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engineering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each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unique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predispositions,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experiences,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0" lvl="0" indent="0" defTabSz="914400" eaLnBrk="1" fontAlgn="auto" latinLnBrk="0" hangingPunct="1">
              <a:lnSpc>
                <a:spcPts val="9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biases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diversity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make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culture-building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challenging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difficult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Lean 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agile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transformation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practices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at the core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26060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People</a:t>
            </a:r>
            <a:r>
              <a:rPr kumimoji="0" sz="16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Dimension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234305" cy="233172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Managing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People,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Not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Resources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“Managing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would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easy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wasn’t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deal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with”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399415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Some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react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allergically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when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call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resources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talk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about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managing resources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resource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something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 can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without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much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tailoring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ts val="1025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Example: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treat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bag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sand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like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next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bag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sand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when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to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0" lvl="0" indent="0" defTabSz="914400" eaLnBrk="1" fontAlgn="auto" latinLnBrk="0" hangingPunct="1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making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dikes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people,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never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true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Example: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probably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been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planning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projects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creating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includes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certain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amount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“anonymous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full-time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equivalents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(FTEs).”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bit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later,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start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putting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names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realize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 need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less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effort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based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 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actual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we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available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project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66675" lvl="0" indent="-114300" defTabSz="914400" eaLnBrk="1" fontAlgn="auto" latinLnBrk="0" hangingPunct="1">
              <a:lnSpc>
                <a:spcPts val="969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Java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just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same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another;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honestly,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would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never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consider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ourselves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just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resource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whose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job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someone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else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could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same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efficiency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effectiveness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26060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People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Dimension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111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5178425" cy="109664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Don’t</a:t>
            </a:r>
            <a:r>
              <a:rPr kumimoji="0" sz="1000" b="1" i="0" u="none" strike="noStrike" kern="0" cap="none" spc="-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change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Organization;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Change</a:t>
            </a:r>
            <a:r>
              <a:rPr kumimoji="0" sz="1000" b="1" i="0" u="none" strike="noStrike" kern="0" cap="none" spc="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yourself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will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able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get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organization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change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what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change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part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way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would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like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treated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climb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higher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hierarchy,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influence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will increase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and,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that,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larger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larger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part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will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way you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would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like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26060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People</a:t>
            </a:r>
            <a:r>
              <a:rPr kumimoji="0" sz="16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Dimension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4751070" cy="130302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Identifying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Business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Objective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Getting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everyone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headed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same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direction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working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toward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same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goal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“Identify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Common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Business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Objective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Team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Organization”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Incent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entire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based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business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outcomes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versus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conflicting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incentives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Easy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measure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progress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goal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 isn’t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goal.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helps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reach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goals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26060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People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Dimension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112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5227320" cy="24739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Effective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Management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People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One-On-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Regular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one-on-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meetings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report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directly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Don’t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Anonymous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Having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open-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door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policy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same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setting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up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one-on-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Let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feel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important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making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time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them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5080" lvl="1" indent="-114300" defTabSz="914400" eaLnBrk="1" fontAlgn="auto" latinLnBrk="0" hangingPunct="1">
              <a:lnSpc>
                <a:spcPts val="86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Best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Practices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: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weekly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bi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weekly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30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minutes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one-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–one,</a:t>
            </a:r>
            <a:r>
              <a:rPr kumimoji="0" sz="800" b="0" i="0" u="none" strike="noStrike" kern="0" cap="none" spc="19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learn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more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about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person,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let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them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raise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first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provide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updates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Benefit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Manager?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Benefit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Employee?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Feedback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Everyone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would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like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get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more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feedback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his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her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boss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110489" lvl="1" indent="-114300" defTabSz="914400" eaLnBrk="1" fontAlgn="auto" latinLnBrk="0" hangingPunct="1">
              <a:lnSpc>
                <a:spcPts val="86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Dan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Pink’s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mastery,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autonomy,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purpose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: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“When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x,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happens,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which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optimal.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you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find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way to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differently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next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time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lead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better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outcome?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“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Focus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feedback?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26060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People</a:t>
            </a:r>
            <a:r>
              <a:rPr kumimoji="0" sz="16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Dimension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212715" cy="214503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Effective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Management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People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Contd..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Delegation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Feel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delegation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 JOB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others?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Managerial</a:t>
            </a:r>
            <a:r>
              <a:rPr kumimoji="0" sz="8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Economics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101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Creating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Blameless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Culture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Who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being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blamed?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will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cover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without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delegating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blame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person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who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responsible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will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appreciate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92710" lvl="1" indent="-114300" defTabSz="914400" eaLnBrk="1" fontAlgn="auto" latinLnBrk="0" hangingPunct="1">
              <a:lnSpc>
                <a:spcPts val="86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more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share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positive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impact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member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has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made,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better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will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look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These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two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practices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empower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best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job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5080" lvl="1" indent="-114300" defTabSz="914400" eaLnBrk="1" fontAlgn="auto" latinLnBrk="0" hangingPunct="1">
              <a:lnSpc>
                <a:spcPts val="86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Whenever</a:t>
            </a:r>
            <a:r>
              <a:rPr kumimoji="0" sz="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failures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problems,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root-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cause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analysis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should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focus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who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did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what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but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how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need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change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next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person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able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avoid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making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mistake again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26060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People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Dimension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113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4784090" cy="23634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Effective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Management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People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Contd..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Measuring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9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Organizational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Culture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There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few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different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ways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measure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culture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Westrum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survey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measures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my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team, information</a:t>
            </a:r>
            <a:r>
              <a:rPr kumimoji="0" sz="7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actively</a:t>
            </a:r>
            <a:r>
              <a:rPr kumimoji="0" sz="7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sought.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my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team,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failures</a:t>
            </a:r>
            <a:r>
              <a:rPr kumimoji="0" sz="7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learning</a:t>
            </a: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opportunities,</a:t>
            </a:r>
            <a:r>
              <a:rPr kumimoji="0" sz="7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messengers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them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punished.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 my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team,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responsibilities</a:t>
            </a:r>
            <a:r>
              <a:rPr kumimoji="0" sz="7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7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shared.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my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team, cross-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functional</a:t>
            </a:r>
            <a:r>
              <a:rPr kumimoji="0" sz="7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collaboration</a:t>
            </a:r>
            <a:r>
              <a:rPr kumimoji="0" sz="7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7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encouraged</a:t>
            </a:r>
            <a:r>
              <a:rPr kumimoji="0" sz="7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7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rewarded.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my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team,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failure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causes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inquiry.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my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team,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new</a:t>
            </a: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ideas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welcomed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There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few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more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suggestions: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would</a:t>
            </a:r>
            <a:r>
              <a:rPr kumimoji="0" sz="7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recommend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my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friends as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good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place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work.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resources</a:t>
            </a:r>
            <a:r>
              <a:rPr kumimoji="0" sz="7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my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well.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</a:t>
            </a:r>
            <a:r>
              <a:rPr kumimoji="0" sz="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rarely think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about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leaving</a:t>
            </a: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this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my</a:t>
            </a:r>
            <a:r>
              <a:rPr kumimoji="0" sz="7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company.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My</a:t>
            </a: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makes</a:t>
            </a:r>
            <a:r>
              <a:rPr kumimoji="0" sz="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good</a:t>
            </a: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my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skills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abilities.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Remember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advice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stated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before: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only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control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part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26060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People</a:t>
            </a:r>
            <a:r>
              <a:rPr kumimoji="0" sz="1600" b="1" i="0" u="none" strike="noStrike" kern="0" cap="none" spc="-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Dimension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3755390" cy="13398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Effective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Management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People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: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Lets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Summarize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Measuring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9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Organizational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Culture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Provide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employees: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7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organizational</a:t>
            </a:r>
            <a:r>
              <a:rPr kumimoji="0" sz="70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structure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7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business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context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6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7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necessary</a:t>
            </a:r>
            <a:r>
              <a:rPr kumimoji="0" sz="7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feedback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factor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makes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transformation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succeed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fail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Spend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enough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time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effort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during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transformation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78916" y="5322934"/>
            <a:ext cx="2056764" cy="14668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Tools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Technology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What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Tools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Local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Environment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Version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Control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Artifact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Management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Monitoring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Evolution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Ecosystem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114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3424" y="4977460"/>
            <a:ext cx="762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Agenda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1372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Tools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116830" cy="180657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What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Tools: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What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improve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maintain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various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aspects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culture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help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programming,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documenting,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testing,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fixing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bugs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applications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services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ts val="1025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restricted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specific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roles,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these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important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anyone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0" lvl="0" indent="0" defTabSz="914400" eaLnBrk="1" fontAlgn="auto" latinLnBrk="0" hangingPunct="1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some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capacity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Local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environment,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Version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control,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Artifact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Management,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Automation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Monitoring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1372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Tools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115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5224780" cy="229044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Local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Development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Environment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ts val="1025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consistent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local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environment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critical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quickly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get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employees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started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0" lvl="0" indent="0" defTabSz="914400" eaLnBrk="1" fontAlgn="auto" latinLnBrk="0" hangingPunct="1">
              <a:lnSpc>
                <a:spcPts val="103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contributing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product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Don’t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Consider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limitation: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This 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individuals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should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locked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single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standard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editor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flexibility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customization,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rather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means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ensuring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needed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get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their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jobs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done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effectively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Minimal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requirements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may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vary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environment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depending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individual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preferences: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Multiple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Displays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High-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Resolution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Displays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Specific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Keyboards,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Mice,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other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Input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Devices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Identify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shared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documenting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local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environment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260985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Documentation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stored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within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version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control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repository,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internal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wiki,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even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Google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Doc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1372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Tools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238115" cy="234632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Version</a:t>
            </a:r>
            <a:r>
              <a:rPr kumimoji="0" sz="1000" b="1" i="0" u="none" strike="noStrike" kern="0" cap="none" spc="-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Control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1160" marR="341630" lvl="0" indent="-114300" defTabSz="914400" eaLnBrk="1" fontAlgn="auto" latinLnBrk="0" hangingPunct="1">
              <a:lnSpc>
                <a:spcPts val="969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Having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ability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commit,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compare,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merge,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restore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past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revisions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objects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repository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allows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richer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cooperation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collaboration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within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between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teams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27940" lvl="0" indent="-114300" defTabSz="914400" eaLnBrk="1" fontAlgn="auto" latinLnBrk="0" hangingPunct="1">
              <a:lnSpc>
                <a:spcPts val="969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Version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control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enables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deal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conflicts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result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multiple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people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working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same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project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same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time,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provides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safe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way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make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changes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roll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them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back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necessary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33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When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choosing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appropriate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version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control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(VCS)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environment,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look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encourages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sort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collaboration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want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Opening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forking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repositories;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Contributing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back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repositories;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Curating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contributions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own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repositories;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Defining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processes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contributing;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Sharing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commit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rights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Wrong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Ways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may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Lines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code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accurate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measure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value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65510" y="3436738"/>
            <a:ext cx="314855" cy="44540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33424" y="4977460"/>
            <a:ext cx="1372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Tools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8916" y="5322934"/>
            <a:ext cx="5068570" cy="195198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Artifact</a:t>
            </a:r>
            <a:r>
              <a:rPr kumimoji="0" sz="1000" b="1" i="0" u="none" strike="noStrike" kern="0" cap="none" spc="-4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Management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artifact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output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any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step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99695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When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choosing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between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simple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repository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more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complex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feature-full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repository,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understand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cost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supporting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additional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services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well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inherent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security</a:t>
            </a:r>
            <a:r>
              <a:rPr kumimoji="0" sz="9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concerns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artifact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repository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should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be: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Secure;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Trusted;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Stable;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Accessible;</a:t>
            </a:r>
            <a:r>
              <a:rPr kumimoji="0" sz="8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Versioned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store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versioned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common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library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artifact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separate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version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control,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allowing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exact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same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shared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library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65510" y="7412854"/>
            <a:ext cx="314855" cy="445405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116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1372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Tools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093970" cy="25793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Automation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Automation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reduce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labor,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energy,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and/or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materials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goal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improving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quality,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precision,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accuracy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outcomes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Installation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Server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installation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automation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configuring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setting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up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individual servers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Infrastructure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Configuration</a:t>
            </a:r>
            <a:r>
              <a:rPr kumimoji="0" sz="8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Management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Capacity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Management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Provisioning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Build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On-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demand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Scheduled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Triggered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automation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Smoke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testing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Regression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testing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Usability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testing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1372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Tools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117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5267960" cy="223583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Monitoring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Metrics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Metrics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collection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qualitative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quantitative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measurements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92075" lvl="1" indent="-114300" defTabSz="914400" eaLnBrk="1" fontAlgn="auto" latinLnBrk="0" hangingPunct="1">
              <a:lnSpc>
                <a:spcPts val="86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Generally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compared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against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some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benchmark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established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standard,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tracked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analytics,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tracked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historical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purposes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Logging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212090" lvl="1" indent="-114300" defTabSz="914400" eaLnBrk="1" fontAlgn="auto" latinLnBrk="0" hangingPunct="1">
              <a:lnSpc>
                <a:spcPts val="86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Logging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generation,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filtering,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recording,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analysis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events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occur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due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operating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messages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57150" lvl="1" indent="-114300" defTabSz="914400" eaLnBrk="1" fontAlgn="auto" latinLnBrk="0" hangingPunct="1">
              <a:lnSpc>
                <a:spcPts val="860"/>
              </a:lnSpc>
              <a:spcBef>
                <a:spcPts val="2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When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tracking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down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source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issue,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first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things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engineers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often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check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logs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any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relevant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error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messages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single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generate hundreds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even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thousands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 lines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logs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day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Alerting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5080" lvl="1" indent="-114300" defTabSz="914400" eaLnBrk="1" fontAlgn="auto" latinLnBrk="0" hangingPunct="1">
              <a:lnSpc>
                <a:spcPct val="90100"/>
              </a:lnSpc>
              <a:spcBef>
                <a:spcPts val="2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Monitoring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alerting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important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 only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 a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performance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perspective,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but also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 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preventative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one,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help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find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out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about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potential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issues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before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become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actual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issues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your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customers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1372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Tools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065395" cy="154114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Monitoring</a:t>
            </a:r>
            <a:r>
              <a:rPr kumimoji="0" sz="1000" b="1" i="0" u="none" strike="noStrike" kern="0" cap="none" spc="-6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Contd..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Events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5080" lvl="1" indent="-114300" defTabSz="914400" eaLnBrk="1" fontAlgn="auto" latinLnBrk="0" hangingPunct="1">
              <a:lnSpc>
                <a:spcPts val="86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Event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management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element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monitoring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acts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existing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knowledge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around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impacts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systems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services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250825" lvl="1" indent="-114300" defTabSz="914400" eaLnBrk="1" fontAlgn="auto" latinLnBrk="0" hangingPunct="1">
              <a:lnSpc>
                <a:spcPts val="860"/>
              </a:lnSpc>
              <a:spcBef>
                <a:spcPts val="2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generally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reflects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need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real-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time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information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about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status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different components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infrastructure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19760" marR="10795" lvl="1" indent="-114300" defTabSz="914400" eaLnBrk="1" fontAlgn="auto" latinLnBrk="0" hangingPunct="1">
              <a:lnSpc>
                <a:spcPts val="86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19760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configured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monitor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specific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metric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log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based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defined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event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signal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or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alert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if a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threshold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crossed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alert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condition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has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been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met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8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Many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alerting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monitoring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systems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built-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ways</a:t>
            </a:r>
            <a:r>
              <a:rPr kumimoji="0" sz="800" b="0" i="0" u="none" strike="noStrike" kern="0" cap="none" spc="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automatically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respond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given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event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Nagios,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Zabbix,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etc.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1372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Tools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118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5189220" cy="167258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Evolution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000" b="1" i="0" u="none" strike="noStrike" kern="0" cap="none" spc="-2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Ecosystem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There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trend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simplify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remove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repetitive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tasks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subject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human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error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added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different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parts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environment,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new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patterns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discovered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332105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Continuous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delivery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continuous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deployment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freed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humans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up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focus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what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matters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144780" lvl="0" indent="-114300" defTabSz="914400" eaLnBrk="1" fontAlgn="auto" latinLnBrk="0" hangingPunct="1">
              <a:lnSpc>
                <a:spcPts val="969"/>
              </a:lnSpc>
              <a:spcBef>
                <a:spcPts val="3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Automated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shortened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feedback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cycles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through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build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automation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tests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give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additional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confidence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insight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into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our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ecosystem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will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continue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evolve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application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adopts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increased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operability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117475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These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trends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bring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focus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stress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“we” over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“me,”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building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understanding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across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encouraging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time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spent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valuable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outcomes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13728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r>
              <a:rPr kumimoji="0" sz="1600" b="1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Tools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047615" cy="15087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Summarize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have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been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through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overview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current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ecosystem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tools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How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used,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ease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which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used,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impacts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acceptance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proliferation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specific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aspects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culture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 culture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collaboration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across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teams,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organizations,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industries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ts val="1025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When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solutions,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important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think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about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their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impact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0" lvl="0" indent="0" defTabSz="914400" eaLnBrk="1" fontAlgn="auto" latinLnBrk="0" hangingPunct="1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organizations,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just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individuals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231775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DevOps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stress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“we”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over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“me”;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they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allow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teams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build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mutual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understanding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get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work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done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78916" y="5322934"/>
            <a:ext cx="1892935" cy="8089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Cloud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catalyst</a:t>
            </a:r>
            <a:r>
              <a:rPr kumimoji="0" sz="1000" b="1" i="0" u="none" strike="noStrike" kern="0" cap="none" spc="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Introduction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9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Characterization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of</a:t>
            </a:r>
            <a:r>
              <a:rPr kumimoji="0" sz="9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cloud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Cloud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services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3424" y="4977460"/>
            <a:ext cx="762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Agenda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3040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Cloud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6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Catalyst for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60795"/>
            <a:ext cx="5170805" cy="223012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Introduction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Unfortunately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many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organizations,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cloud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still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somewhat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mysterious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173355" lvl="0" indent="-114300" defTabSz="914400" eaLnBrk="1" fontAlgn="auto" latinLnBrk="0" hangingPunct="1">
              <a:lnSpc>
                <a:spcPts val="860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concept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cloud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but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why they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seeing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benefits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were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promised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them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focus</a:t>
            </a:r>
            <a:r>
              <a:rPr kumimoji="0" sz="900" b="0" i="0" u="none" strike="noStrike" kern="0" cap="none" spc="25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 adopting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cloud-based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infrastructure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managing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869"/>
              </a:lnSpc>
              <a:spcBef>
                <a:spcPts val="3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While</a:t>
            </a:r>
            <a:r>
              <a:rPr kumimoji="0" sz="9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will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discuss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cost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benefits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primarily,</a:t>
            </a:r>
            <a:r>
              <a:rPr kumimoji="0" sz="900" b="0" i="0" u="none" strike="noStrike" kern="0" cap="none" spc="2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should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forget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other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benefits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risks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cloud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Benefits: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Redundancy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resilience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scalability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resources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strong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ecosystem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related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Risks: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dependency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third-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party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provider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challenges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8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data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sovereignty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Risk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being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attacked</a:t>
            </a:r>
            <a:r>
              <a:rPr kumimoji="0" sz="8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because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popular</a:t>
            </a:r>
            <a:r>
              <a:rPr kumimoji="0" sz="8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platform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3040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Cloud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Catalyst</a:t>
            </a:r>
            <a:r>
              <a:rPr kumimoji="0" sz="1600" b="1" i="0" u="none" strike="noStrike" kern="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120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4766945" cy="17970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Characterization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000" b="1" i="0" u="none" strike="noStrike" kern="0" cap="none" spc="-4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000" b="1" i="0" u="none" strike="noStrike" kern="0" cap="none" spc="-3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cloud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Characterization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cloud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 National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Institute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Standards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Technology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(NIST)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On-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demand</a:t>
            </a:r>
            <a:r>
              <a:rPr kumimoji="0" sz="8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self-service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Broad</a:t>
            </a:r>
            <a:r>
              <a:rPr kumimoji="0" sz="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network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access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Resource</a:t>
            </a:r>
            <a:r>
              <a:rPr kumimoji="0" sz="8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pooling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Rapid</a:t>
            </a:r>
            <a:r>
              <a:rPr kumimoji="0" sz="8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elasticity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849630" marR="0" lvl="2" indent="-115570" defTabSz="914400" eaLnBrk="1" fontAlgn="auto" latinLnBrk="0" hangingPunct="1">
              <a:lnSpc>
                <a:spcPct val="100000"/>
              </a:lnSpc>
              <a:spcBef>
                <a:spcPts val="17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849630" algn="l"/>
              </a:tabLst>
              <a:defRPr/>
            </a:pP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Capabilities</a:t>
            </a:r>
            <a:r>
              <a:rPr kumimoji="0" sz="7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7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be</a:t>
            </a:r>
            <a:r>
              <a:rPr kumimoji="0" sz="7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elastically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provisioned</a:t>
            </a:r>
            <a:r>
              <a:rPr kumimoji="0" sz="7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7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7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released</a:t>
            </a:r>
            <a:endParaRPr kumimoji="0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Measured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service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8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Service</a:t>
            </a:r>
            <a:r>
              <a:rPr kumimoji="0" sz="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(SaaS)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Platform</a:t>
            </a:r>
            <a:r>
              <a:rPr kumimoji="0" sz="8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Service</a:t>
            </a:r>
            <a:r>
              <a:rPr kumimoji="0" sz="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(PaaS)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20395" marR="0" lvl="1" indent="-114935" defTabSz="914400" eaLnBrk="1" fontAlgn="auto" latinLnBrk="0" hangingPunct="1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620395" algn="l"/>
              </a:tabLst>
              <a:defRPr/>
            </a:pP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Infrastructure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as</a:t>
            </a:r>
            <a:r>
              <a:rPr kumimoji="0" sz="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 Service </a:t>
            </a:r>
            <a:r>
              <a:rPr kumimoji="0" sz="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(IaaS)</a:t>
            </a:r>
            <a:endParaRPr kumimoji="0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3040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Cloud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6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Catalyst for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220335" cy="146748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Software</a:t>
            </a:r>
            <a:r>
              <a:rPr kumimoji="0" sz="1000" b="1" i="0" u="none" strike="noStrike" kern="0" cap="none" spc="-3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1000" b="1" i="0" u="none" strike="noStrike" kern="0" cap="none" spc="-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Service</a:t>
            </a:r>
            <a:r>
              <a:rPr kumimoji="0" sz="1000" b="1" i="0" u="none" strike="noStrike" kern="0" cap="none" spc="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(SaaS)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1160" marR="152400" lvl="0" indent="-114300" defTabSz="914400" eaLnBrk="1" fontAlgn="auto" latinLnBrk="0" hangingPunct="1">
              <a:lnSpc>
                <a:spcPts val="969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consumer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provided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capability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provider’s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applications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running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cloud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infrastructure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applications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accessible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various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client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devices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through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either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thin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client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interface,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such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web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browser (e.g.,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web-based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e-mail)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application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interface.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ts val="1025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consumer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does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control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underlying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cloud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infrastructure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including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0" lvl="0" indent="0" defTabSz="914400" eaLnBrk="1" fontAlgn="auto" latinLnBrk="0" hangingPunct="1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networks,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servers,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operating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systems,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storage.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147320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example,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relate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google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apps,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Cisco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WebEx,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Service,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Office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365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service,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where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Provider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deals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licensing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software’s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3040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Cloud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Catalyst</a:t>
            </a:r>
            <a:r>
              <a:rPr kumimoji="0" sz="1600" b="1" i="0" u="none" strike="noStrike" kern="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121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5198745" cy="130238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Platform</a:t>
            </a:r>
            <a:r>
              <a:rPr kumimoji="0" sz="1000" b="1" i="0" u="none" strike="noStrike" kern="0" cap="none" spc="-2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1000" b="1" i="0" u="none" strike="noStrike" kern="0" cap="none" spc="-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Service</a:t>
            </a:r>
            <a:r>
              <a:rPr kumimoji="0" sz="1000" b="1" i="0" u="none" strike="noStrike" kern="0" cap="none" spc="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(PaaS)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1160" marR="5080" lvl="0" indent="-114300" defTabSz="914400" eaLnBrk="1" fontAlgn="auto" latinLnBrk="0" hangingPunct="1">
              <a:lnSpc>
                <a:spcPct val="901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consumer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provided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capability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deploy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onto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cloud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infrastructure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consumer-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created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acquired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applications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created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programming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languages,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libraries,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services,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tools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supported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by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provider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2705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consumer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does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 manage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control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underlying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cloud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infrastructure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including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networks,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servers,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operating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systems,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storage,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consumer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control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over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deployed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applications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possibly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configuration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settings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 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application-hosting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environment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Example: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.NET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platform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considered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platform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05-04-</a:t>
            </a:r>
            <a:r>
              <a:rPr kumimoji="0" sz="12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2025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277390"/>
            <a:ext cx="6096000" cy="202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948905"/>
            <a:ext cx="5334000" cy="38218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3424" y="1001014"/>
            <a:ext cx="3040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Cloud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600" b="1" i="0" u="none" strike="noStrike" kern="0" cap="none" spc="-4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Catalyst for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1345616"/>
            <a:ext cx="5242560" cy="126174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Infrastructure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Service</a:t>
            </a:r>
            <a:r>
              <a:rPr kumimoji="0" sz="1000" b="1" i="0" u="none" strike="noStrike" kern="0" cap="none" spc="-15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(IaaS),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1160" marR="123825" lvl="0" indent="-114300" defTabSz="914400" eaLnBrk="1" fontAlgn="auto" latinLnBrk="0" hangingPunct="1">
              <a:lnSpc>
                <a:spcPts val="969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consumer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provided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capability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provision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processing,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storage,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networks,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other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fundamental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computing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resources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where 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consumer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able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deploy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run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arbitrary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software,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which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include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operating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applications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ct val="90100"/>
              </a:lnSpc>
              <a:spcBef>
                <a:spcPts val="3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consumer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does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not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or</a:t>
            </a:r>
            <a:r>
              <a:rPr kumimoji="0" sz="90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control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underlying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cloud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infrastructure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but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consumer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has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control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over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operating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systems,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storage,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deployed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applications;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possibly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limited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control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select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networking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components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(e.g.,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host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firewalls).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For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this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you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can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consider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any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Server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Provisioning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IaaS,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253506"/>
            <a:ext cx="6096000" cy="2028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4925021"/>
            <a:ext cx="5334000" cy="3821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33424" y="4977460"/>
            <a:ext cx="30403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Cloud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600" b="1" i="0" u="none" strike="noStrike" kern="0" cap="none" spc="-3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Catalyst</a:t>
            </a:r>
            <a:r>
              <a:rPr kumimoji="0" sz="1600" b="1" i="0" u="none" strike="noStrike" kern="0" cap="none" spc="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1600" b="1" i="0" u="none" strike="noStrike" kern="0" cap="none" spc="-4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60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DevOps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cs typeface="Calibri"/>
              </a:rPr>
              <a:pPr marL="12700" marR="0" lvl="0" indent="0" defTabSz="914400" eaLnBrk="1" fontAlgn="auto" latinLnBrk="0" hangingPunct="1">
                <a:lnSpc>
                  <a:spcPts val="124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122</a:t>
            </a:fld>
            <a:endParaRPr kumimoji="0" sz="1200" b="0" i="0" u="none" strike="noStrike" kern="0" cap="none" spc="-2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916" y="5322934"/>
            <a:ext cx="5216525" cy="14668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0" cap="none" spc="-10" normalizeH="0" baseline="0" noProof="0" dirty="0">
                <a:ln>
                  <a:noFill/>
                </a:ln>
                <a:solidFill>
                  <a:srgbClr val="1C1573"/>
                </a:solidFill>
                <a:effectLst/>
                <a:uLnTx/>
                <a:uFillTx/>
                <a:latin typeface="Arial"/>
                <a:cs typeface="Arial"/>
              </a:rPr>
              <a:t>Summary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90525" marR="0" lvl="0" indent="-113664" defTabSz="914400" eaLnBrk="1" fontAlgn="auto" latinLnBrk="0" hangingPunct="1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0525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cloud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has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emerged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major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trend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during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recent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years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5080" lvl="0" indent="-114300" defTabSz="914400" eaLnBrk="1" fontAlgn="auto" latinLnBrk="0" hangingPunct="1">
              <a:lnSpc>
                <a:spcPts val="969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Its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characteristics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include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metered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usage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(pay-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per-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use)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rapid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elasticity,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allowing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scaling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out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application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virtually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infinite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numbers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VMs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192405" lvl="0" indent="-114300" defTabSz="914400" eaLnBrk="1" fontAlgn="auto" latinLnBrk="0" hangingPunct="1">
              <a:lnSpc>
                <a:spcPts val="969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 cloud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rests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on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platform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that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inherently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distributed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exploits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virtualization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allow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rapid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expansion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contraction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resources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available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to</a:t>
            </a:r>
            <a:r>
              <a:rPr kumimoji="0" sz="9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given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user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391160" marR="28575" lvl="0" indent="-114300" defTabSz="914400" eaLnBrk="1" fontAlgn="auto" latinLnBrk="0" hangingPunct="1">
              <a:lnSpc>
                <a:spcPts val="969"/>
              </a:lnSpc>
              <a:spcBef>
                <a:spcPts val="3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91160" algn="l"/>
              </a:tabLst>
              <a:defRPr/>
            </a:pP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From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operational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perspective,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controlling</a:t>
            </a:r>
            <a:r>
              <a:rPr kumimoji="0" sz="9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VMs, managing</a:t>
            </a:r>
            <a:r>
              <a:rPr kumimoji="0" sz="9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different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database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management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systems,</a:t>
            </a:r>
            <a:r>
              <a:rPr kumimoji="0" sz="9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</a:t>
            </a:r>
            <a:r>
              <a:rPr kumimoji="0" sz="9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ensuring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environments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meet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needs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development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and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operations</a:t>
            </a:r>
            <a:r>
              <a:rPr kumimoji="0" sz="9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tasks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are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new</a:t>
            </a:r>
            <a:r>
              <a:rPr kumimoji="0" sz="9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considerations</a:t>
            </a:r>
            <a:r>
              <a:rPr kumimoji="0" sz="9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associated</a:t>
            </a:r>
            <a:r>
              <a:rPr kumimoji="0" sz="9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with the</a:t>
            </a:r>
            <a:r>
              <a:rPr kumimoji="0" sz="9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9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cs typeface="Arial MT"/>
              </a:rPr>
              <a:t>cloud</a:t>
            </a:r>
            <a:endParaRPr kumimoji="0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41765"/>
          </a:xfrm>
          <a:prstGeom prst="rect">
            <a:avLst/>
          </a:prstGeom>
        </p:spPr>
        <p:txBody>
          <a:bodyPr vert="horz" wrap="square" lIns="0" tIns="125045" rIns="0" bIns="0" rtlCol="0">
            <a:spAutoFit/>
          </a:bodyPr>
          <a:lstStyle/>
          <a:p>
            <a:pPr marL="135255">
              <a:spcBef>
                <a:spcPts val="150"/>
              </a:spcBef>
            </a:pPr>
            <a:r>
              <a:rPr sz="2700" spc="-15" dirty="0"/>
              <a:t>DevOps</a:t>
            </a:r>
            <a:endParaRPr sz="27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1" y="2686049"/>
            <a:ext cx="2807018" cy="228695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2721" y="3173157"/>
            <a:ext cx="902018" cy="470535"/>
            <a:chOff x="295147" y="781938"/>
            <a:chExt cx="601345" cy="313690"/>
          </a:xfrm>
        </p:grpSpPr>
        <p:sp>
          <p:nvSpPr>
            <p:cNvPr id="6" name="object 6"/>
            <p:cNvSpPr/>
            <p:nvPr/>
          </p:nvSpPr>
          <p:spPr>
            <a:xfrm>
              <a:off x="302513" y="788669"/>
              <a:ext cx="584835" cy="300355"/>
            </a:xfrm>
            <a:custGeom>
              <a:avLst/>
              <a:gdLst/>
              <a:ahLst/>
              <a:cxnLst/>
              <a:rect l="l" t="t" r="r" b="b"/>
              <a:pathLst>
                <a:path w="584835" h="300355">
                  <a:moveTo>
                    <a:pt x="434340" y="0"/>
                  </a:moveTo>
                  <a:lnTo>
                    <a:pt x="0" y="0"/>
                  </a:lnTo>
                  <a:lnTo>
                    <a:pt x="0" y="299847"/>
                  </a:lnTo>
                  <a:lnTo>
                    <a:pt x="434340" y="299847"/>
                  </a:lnTo>
                  <a:lnTo>
                    <a:pt x="584327" y="149986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9A55D2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  <p:sp>
          <p:nvSpPr>
            <p:cNvPr id="7" name="object 7"/>
            <p:cNvSpPr/>
            <p:nvPr/>
          </p:nvSpPr>
          <p:spPr>
            <a:xfrm>
              <a:off x="295148" y="781938"/>
              <a:ext cx="454025" cy="313690"/>
            </a:xfrm>
            <a:custGeom>
              <a:avLst/>
              <a:gdLst/>
              <a:ahLst/>
              <a:cxnLst/>
              <a:rect l="l" t="t" r="r" b="b"/>
              <a:pathLst>
                <a:path w="454025" h="313690">
                  <a:moveTo>
                    <a:pt x="453694" y="6731"/>
                  </a:moveTo>
                  <a:lnTo>
                    <a:pt x="451104" y="6731"/>
                  </a:lnTo>
                  <a:lnTo>
                    <a:pt x="444500" y="0"/>
                  </a:lnTo>
                  <a:lnTo>
                    <a:pt x="0" y="0"/>
                  </a:lnTo>
                  <a:lnTo>
                    <a:pt x="0" y="313309"/>
                  </a:lnTo>
                  <a:lnTo>
                    <a:pt x="444500" y="313309"/>
                  </a:lnTo>
                  <a:lnTo>
                    <a:pt x="451104" y="306578"/>
                  </a:lnTo>
                  <a:lnTo>
                    <a:pt x="14097" y="306578"/>
                  </a:lnTo>
                  <a:lnTo>
                    <a:pt x="7366" y="299847"/>
                  </a:lnTo>
                  <a:lnTo>
                    <a:pt x="14097" y="299847"/>
                  </a:lnTo>
                  <a:lnTo>
                    <a:pt x="14097" y="14351"/>
                  </a:lnTo>
                  <a:lnTo>
                    <a:pt x="438023" y="14351"/>
                  </a:lnTo>
                  <a:lnTo>
                    <a:pt x="438023" y="11811"/>
                  </a:lnTo>
                  <a:lnTo>
                    <a:pt x="453694" y="11811"/>
                  </a:lnTo>
                  <a:lnTo>
                    <a:pt x="453694" y="6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2154" y="794003"/>
              <a:ext cx="164083" cy="28981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2514" y="1081785"/>
              <a:ext cx="450850" cy="6985"/>
            </a:xfrm>
            <a:custGeom>
              <a:avLst/>
              <a:gdLst/>
              <a:ahLst/>
              <a:cxnLst/>
              <a:rect l="l" t="t" r="r" b="b"/>
              <a:pathLst>
                <a:path w="450850" h="6984">
                  <a:moveTo>
                    <a:pt x="450469" y="0"/>
                  </a:moveTo>
                  <a:lnTo>
                    <a:pt x="434340" y="0"/>
                  </a:lnTo>
                  <a:lnTo>
                    <a:pt x="430809" y="1524"/>
                  </a:lnTo>
                  <a:lnTo>
                    <a:pt x="430784" y="254"/>
                  </a:lnTo>
                  <a:lnTo>
                    <a:pt x="6731" y="254"/>
                  </a:lnTo>
                  <a:lnTo>
                    <a:pt x="6731" y="0"/>
                  </a:lnTo>
                  <a:lnTo>
                    <a:pt x="0" y="0"/>
                  </a:lnTo>
                  <a:lnTo>
                    <a:pt x="6731" y="6731"/>
                  </a:lnTo>
                  <a:lnTo>
                    <a:pt x="6731" y="6604"/>
                  </a:lnTo>
                  <a:lnTo>
                    <a:pt x="446468" y="6604"/>
                  </a:lnTo>
                  <a:lnTo>
                    <a:pt x="446468" y="2032"/>
                  </a:lnTo>
                  <a:lnTo>
                    <a:pt x="448564" y="2032"/>
                  </a:lnTo>
                  <a:lnTo>
                    <a:pt x="4504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43889" y="3302888"/>
            <a:ext cx="373380" cy="164469"/>
          </a:xfrm>
          <a:prstGeom prst="rect">
            <a:avLst/>
          </a:prstGeom>
        </p:spPr>
        <p:txBody>
          <a:bodyPr vert="horz" wrap="square" lIns="0" tIns="25718" rIns="0" bIns="0" rtlCol="0">
            <a:spAutoFit/>
          </a:bodyPr>
          <a:lstStyle/>
          <a:p>
            <a:pPr marL="19050" defTabSz="1371600">
              <a:spcBef>
                <a:spcPts val="203"/>
              </a:spcBef>
            </a:pP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People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33309" y="3173157"/>
            <a:ext cx="902018" cy="470535"/>
            <a:chOff x="888872" y="781938"/>
            <a:chExt cx="601345" cy="313690"/>
          </a:xfrm>
        </p:grpSpPr>
        <p:sp>
          <p:nvSpPr>
            <p:cNvPr id="12" name="object 12"/>
            <p:cNvSpPr/>
            <p:nvPr/>
          </p:nvSpPr>
          <p:spPr>
            <a:xfrm>
              <a:off x="895603" y="788669"/>
              <a:ext cx="584200" cy="300355"/>
            </a:xfrm>
            <a:custGeom>
              <a:avLst/>
              <a:gdLst/>
              <a:ahLst/>
              <a:cxnLst/>
              <a:rect l="l" t="t" r="r" b="b"/>
              <a:pathLst>
                <a:path w="584200" h="300355">
                  <a:moveTo>
                    <a:pt x="434975" y="0"/>
                  </a:moveTo>
                  <a:lnTo>
                    <a:pt x="0" y="0"/>
                  </a:lnTo>
                  <a:lnTo>
                    <a:pt x="0" y="299847"/>
                  </a:lnTo>
                  <a:lnTo>
                    <a:pt x="434975" y="299847"/>
                  </a:lnTo>
                  <a:lnTo>
                    <a:pt x="584200" y="149986"/>
                  </a:lnTo>
                  <a:lnTo>
                    <a:pt x="434975" y="0"/>
                  </a:lnTo>
                  <a:close/>
                </a:path>
              </a:pathLst>
            </a:custGeom>
            <a:solidFill>
              <a:srgbClr val="9A55D2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  <p:sp>
          <p:nvSpPr>
            <p:cNvPr id="13" name="object 13"/>
            <p:cNvSpPr/>
            <p:nvPr/>
          </p:nvSpPr>
          <p:spPr>
            <a:xfrm>
              <a:off x="888873" y="781938"/>
              <a:ext cx="454025" cy="313690"/>
            </a:xfrm>
            <a:custGeom>
              <a:avLst/>
              <a:gdLst/>
              <a:ahLst/>
              <a:cxnLst/>
              <a:rect l="l" t="t" r="r" b="b"/>
              <a:pathLst>
                <a:path w="454025" h="313690">
                  <a:moveTo>
                    <a:pt x="453694" y="6731"/>
                  </a:moveTo>
                  <a:lnTo>
                    <a:pt x="451104" y="6731"/>
                  </a:lnTo>
                  <a:lnTo>
                    <a:pt x="444373" y="0"/>
                  </a:lnTo>
                  <a:lnTo>
                    <a:pt x="0" y="0"/>
                  </a:lnTo>
                  <a:lnTo>
                    <a:pt x="0" y="313309"/>
                  </a:lnTo>
                  <a:lnTo>
                    <a:pt x="444373" y="313309"/>
                  </a:lnTo>
                  <a:lnTo>
                    <a:pt x="451104" y="306578"/>
                  </a:lnTo>
                  <a:lnTo>
                    <a:pt x="14097" y="306578"/>
                  </a:lnTo>
                  <a:lnTo>
                    <a:pt x="6731" y="299847"/>
                  </a:lnTo>
                  <a:lnTo>
                    <a:pt x="14097" y="299847"/>
                  </a:lnTo>
                  <a:lnTo>
                    <a:pt x="14097" y="14351"/>
                  </a:lnTo>
                  <a:lnTo>
                    <a:pt x="437388" y="14351"/>
                  </a:lnTo>
                  <a:lnTo>
                    <a:pt x="437388" y="11811"/>
                  </a:lnTo>
                  <a:lnTo>
                    <a:pt x="453694" y="11811"/>
                  </a:lnTo>
                  <a:lnTo>
                    <a:pt x="453694" y="6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5244" y="794003"/>
              <a:ext cx="164719" cy="28981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95604" y="1081785"/>
              <a:ext cx="451484" cy="6985"/>
            </a:xfrm>
            <a:custGeom>
              <a:avLst/>
              <a:gdLst/>
              <a:ahLst/>
              <a:cxnLst/>
              <a:rect l="l" t="t" r="r" b="b"/>
              <a:pathLst>
                <a:path w="451484" h="6984">
                  <a:moveTo>
                    <a:pt x="451104" y="0"/>
                  </a:moveTo>
                  <a:lnTo>
                    <a:pt x="434975" y="0"/>
                  </a:lnTo>
                  <a:lnTo>
                    <a:pt x="430974" y="1524"/>
                  </a:lnTo>
                  <a:lnTo>
                    <a:pt x="430784" y="1524"/>
                  </a:lnTo>
                  <a:lnTo>
                    <a:pt x="430784" y="254"/>
                  </a:lnTo>
                  <a:lnTo>
                    <a:pt x="7366" y="254"/>
                  </a:lnTo>
                  <a:lnTo>
                    <a:pt x="7366" y="0"/>
                  </a:lnTo>
                  <a:lnTo>
                    <a:pt x="0" y="0"/>
                  </a:lnTo>
                  <a:lnTo>
                    <a:pt x="7366" y="6731"/>
                  </a:lnTo>
                  <a:lnTo>
                    <a:pt x="7366" y="6604"/>
                  </a:lnTo>
                  <a:lnTo>
                    <a:pt x="447040" y="6604"/>
                  </a:lnTo>
                  <a:lnTo>
                    <a:pt x="447040" y="2032"/>
                  </a:lnTo>
                  <a:lnTo>
                    <a:pt x="449072" y="2032"/>
                  </a:lnTo>
                  <a:lnTo>
                    <a:pt x="45110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515238" y="3302888"/>
            <a:ext cx="412433" cy="164469"/>
          </a:xfrm>
          <a:prstGeom prst="rect">
            <a:avLst/>
          </a:prstGeom>
        </p:spPr>
        <p:txBody>
          <a:bodyPr vert="horz" wrap="square" lIns="0" tIns="25718" rIns="0" bIns="0" rtlCol="0">
            <a:spAutoFit/>
          </a:bodyPr>
          <a:lstStyle/>
          <a:p>
            <a:pPr marL="19050" defTabSz="1371600">
              <a:spcBef>
                <a:spcPts val="203"/>
              </a:spcBef>
            </a:pP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223896" y="3173157"/>
            <a:ext cx="902018" cy="470535"/>
            <a:chOff x="1482597" y="781938"/>
            <a:chExt cx="601345" cy="313690"/>
          </a:xfrm>
        </p:grpSpPr>
        <p:sp>
          <p:nvSpPr>
            <p:cNvPr id="18" name="object 18"/>
            <p:cNvSpPr/>
            <p:nvPr/>
          </p:nvSpPr>
          <p:spPr>
            <a:xfrm>
              <a:off x="1489201" y="788669"/>
              <a:ext cx="584835" cy="300355"/>
            </a:xfrm>
            <a:custGeom>
              <a:avLst/>
              <a:gdLst/>
              <a:ahLst/>
              <a:cxnLst/>
              <a:rect l="l" t="t" r="r" b="b"/>
              <a:pathLst>
                <a:path w="584835" h="300355">
                  <a:moveTo>
                    <a:pt x="434340" y="0"/>
                  </a:moveTo>
                  <a:lnTo>
                    <a:pt x="0" y="0"/>
                  </a:lnTo>
                  <a:lnTo>
                    <a:pt x="0" y="299847"/>
                  </a:lnTo>
                  <a:lnTo>
                    <a:pt x="434340" y="299847"/>
                  </a:lnTo>
                  <a:lnTo>
                    <a:pt x="584327" y="149986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9A55D2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  <p:sp>
          <p:nvSpPr>
            <p:cNvPr id="19" name="object 19"/>
            <p:cNvSpPr/>
            <p:nvPr/>
          </p:nvSpPr>
          <p:spPr>
            <a:xfrm>
              <a:off x="1482598" y="781938"/>
              <a:ext cx="454025" cy="313690"/>
            </a:xfrm>
            <a:custGeom>
              <a:avLst/>
              <a:gdLst/>
              <a:ahLst/>
              <a:cxnLst/>
              <a:rect l="l" t="t" r="r" b="b"/>
              <a:pathLst>
                <a:path w="454025" h="313690">
                  <a:moveTo>
                    <a:pt x="453644" y="6731"/>
                  </a:moveTo>
                  <a:lnTo>
                    <a:pt x="451104" y="6731"/>
                  </a:lnTo>
                  <a:lnTo>
                    <a:pt x="444373" y="0"/>
                  </a:lnTo>
                  <a:lnTo>
                    <a:pt x="0" y="0"/>
                  </a:lnTo>
                  <a:lnTo>
                    <a:pt x="0" y="313309"/>
                  </a:lnTo>
                  <a:lnTo>
                    <a:pt x="444373" y="313309"/>
                  </a:lnTo>
                  <a:lnTo>
                    <a:pt x="451104" y="306578"/>
                  </a:lnTo>
                  <a:lnTo>
                    <a:pt x="14097" y="306578"/>
                  </a:lnTo>
                  <a:lnTo>
                    <a:pt x="6604" y="299847"/>
                  </a:lnTo>
                  <a:lnTo>
                    <a:pt x="14097" y="299847"/>
                  </a:lnTo>
                  <a:lnTo>
                    <a:pt x="14097" y="14351"/>
                  </a:lnTo>
                  <a:lnTo>
                    <a:pt x="437261" y="14351"/>
                  </a:lnTo>
                  <a:lnTo>
                    <a:pt x="437261" y="11811"/>
                  </a:lnTo>
                  <a:lnTo>
                    <a:pt x="453644" y="11811"/>
                  </a:lnTo>
                  <a:lnTo>
                    <a:pt x="453644" y="67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18842" y="794003"/>
              <a:ext cx="164719" cy="28981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489202" y="1081785"/>
              <a:ext cx="451484" cy="6985"/>
            </a:xfrm>
            <a:custGeom>
              <a:avLst/>
              <a:gdLst/>
              <a:ahLst/>
              <a:cxnLst/>
              <a:rect l="l" t="t" r="r" b="b"/>
              <a:pathLst>
                <a:path w="451485" h="6984">
                  <a:moveTo>
                    <a:pt x="451231" y="0"/>
                  </a:moveTo>
                  <a:lnTo>
                    <a:pt x="434340" y="0"/>
                  </a:lnTo>
                  <a:lnTo>
                    <a:pt x="430809" y="1524"/>
                  </a:lnTo>
                  <a:lnTo>
                    <a:pt x="430784" y="254"/>
                  </a:lnTo>
                  <a:lnTo>
                    <a:pt x="7493" y="254"/>
                  </a:lnTo>
                  <a:lnTo>
                    <a:pt x="7493" y="0"/>
                  </a:lnTo>
                  <a:lnTo>
                    <a:pt x="0" y="0"/>
                  </a:lnTo>
                  <a:lnTo>
                    <a:pt x="7493" y="6731"/>
                  </a:lnTo>
                  <a:lnTo>
                    <a:pt x="7493" y="6604"/>
                  </a:lnTo>
                  <a:lnTo>
                    <a:pt x="447167" y="6604"/>
                  </a:lnTo>
                  <a:lnTo>
                    <a:pt x="447167" y="2032"/>
                  </a:lnTo>
                  <a:lnTo>
                    <a:pt x="449199" y="2032"/>
                  </a:lnTo>
                  <a:lnTo>
                    <a:pt x="4512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468499" y="3302888"/>
            <a:ext cx="280035" cy="164469"/>
          </a:xfrm>
          <a:prstGeom prst="rect">
            <a:avLst/>
          </a:prstGeom>
        </p:spPr>
        <p:txBody>
          <a:bodyPr vert="horz" wrap="square" lIns="0" tIns="25718" rIns="0" bIns="0" rtlCol="0">
            <a:spAutoFit/>
          </a:bodyPr>
          <a:lstStyle/>
          <a:p>
            <a:pPr marL="19050" defTabSz="1371600">
              <a:spcBef>
                <a:spcPts val="203"/>
              </a:spcBef>
            </a:pP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Tools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29577" y="4414646"/>
            <a:ext cx="902018" cy="470535"/>
            <a:chOff x="286384" y="1609597"/>
            <a:chExt cx="601345" cy="313690"/>
          </a:xfrm>
        </p:grpSpPr>
        <p:sp>
          <p:nvSpPr>
            <p:cNvPr id="24" name="object 24"/>
            <p:cNvSpPr/>
            <p:nvPr/>
          </p:nvSpPr>
          <p:spPr>
            <a:xfrm>
              <a:off x="293115" y="1616328"/>
              <a:ext cx="584835" cy="300355"/>
            </a:xfrm>
            <a:custGeom>
              <a:avLst/>
              <a:gdLst/>
              <a:ahLst/>
              <a:cxnLst/>
              <a:rect l="l" t="t" r="r" b="b"/>
              <a:pathLst>
                <a:path w="584835" h="300355">
                  <a:moveTo>
                    <a:pt x="434340" y="0"/>
                  </a:moveTo>
                  <a:lnTo>
                    <a:pt x="0" y="0"/>
                  </a:lnTo>
                  <a:lnTo>
                    <a:pt x="0" y="299847"/>
                  </a:lnTo>
                  <a:lnTo>
                    <a:pt x="434340" y="299847"/>
                  </a:lnTo>
                  <a:lnTo>
                    <a:pt x="584327" y="149987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44A4EC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  <p:sp>
          <p:nvSpPr>
            <p:cNvPr id="25" name="object 25"/>
            <p:cNvSpPr/>
            <p:nvPr/>
          </p:nvSpPr>
          <p:spPr>
            <a:xfrm>
              <a:off x="286385" y="1609597"/>
              <a:ext cx="454025" cy="313690"/>
            </a:xfrm>
            <a:custGeom>
              <a:avLst/>
              <a:gdLst/>
              <a:ahLst/>
              <a:cxnLst/>
              <a:rect l="l" t="t" r="r" b="b"/>
              <a:pathLst>
                <a:path w="454025" h="313689">
                  <a:moveTo>
                    <a:pt x="453504" y="7112"/>
                  </a:moveTo>
                  <a:lnTo>
                    <a:pt x="13462" y="7112"/>
                  </a:lnTo>
                  <a:lnTo>
                    <a:pt x="13462" y="6731"/>
                  </a:lnTo>
                  <a:lnTo>
                    <a:pt x="450596" y="6731"/>
                  </a:lnTo>
                  <a:lnTo>
                    <a:pt x="443738" y="0"/>
                  </a:lnTo>
                  <a:lnTo>
                    <a:pt x="0" y="0"/>
                  </a:lnTo>
                  <a:lnTo>
                    <a:pt x="0" y="313309"/>
                  </a:lnTo>
                  <a:lnTo>
                    <a:pt x="443738" y="313309"/>
                  </a:lnTo>
                  <a:lnTo>
                    <a:pt x="450596" y="306578"/>
                  </a:lnTo>
                  <a:lnTo>
                    <a:pt x="13462" y="306578"/>
                  </a:lnTo>
                  <a:lnTo>
                    <a:pt x="6731" y="299847"/>
                  </a:lnTo>
                  <a:lnTo>
                    <a:pt x="13462" y="299847"/>
                  </a:lnTo>
                  <a:lnTo>
                    <a:pt x="13462" y="14732"/>
                  </a:lnTo>
                  <a:lnTo>
                    <a:pt x="437769" y="14732"/>
                  </a:lnTo>
                  <a:lnTo>
                    <a:pt x="437769" y="12192"/>
                  </a:lnTo>
                  <a:lnTo>
                    <a:pt x="453504" y="12192"/>
                  </a:lnTo>
                  <a:lnTo>
                    <a:pt x="453504" y="7112"/>
                  </a:lnTo>
                  <a:close/>
                </a:path>
              </a:pathLst>
            </a:custGeom>
            <a:solidFill>
              <a:srgbClr val="2E77AD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2756" y="1621662"/>
              <a:ext cx="164719" cy="28981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93116" y="1909444"/>
              <a:ext cx="450850" cy="6985"/>
            </a:xfrm>
            <a:custGeom>
              <a:avLst/>
              <a:gdLst/>
              <a:ahLst/>
              <a:cxnLst/>
              <a:rect l="l" t="t" r="r" b="b"/>
              <a:pathLst>
                <a:path w="450850" h="6985">
                  <a:moveTo>
                    <a:pt x="450596" y="0"/>
                  </a:moveTo>
                  <a:lnTo>
                    <a:pt x="434340" y="0"/>
                  </a:lnTo>
                  <a:lnTo>
                    <a:pt x="430403" y="1714"/>
                  </a:lnTo>
                  <a:lnTo>
                    <a:pt x="430403" y="635"/>
                  </a:lnTo>
                  <a:lnTo>
                    <a:pt x="6731" y="635"/>
                  </a:lnTo>
                  <a:lnTo>
                    <a:pt x="6731" y="0"/>
                  </a:lnTo>
                  <a:lnTo>
                    <a:pt x="0" y="0"/>
                  </a:lnTo>
                  <a:lnTo>
                    <a:pt x="6731" y="6731"/>
                  </a:lnTo>
                  <a:lnTo>
                    <a:pt x="6731" y="6985"/>
                  </a:lnTo>
                  <a:lnTo>
                    <a:pt x="446151" y="6985"/>
                  </a:lnTo>
                  <a:lnTo>
                    <a:pt x="446151" y="2032"/>
                  </a:lnTo>
                  <a:lnTo>
                    <a:pt x="448564" y="2032"/>
                  </a:lnTo>
                  <a:lnTo>
                    <a:pt x="450596" y="0"/>
                  </a:lnTo>
                  <a:close/>
                </a:path>
              </a:pathLst>
            </a:custGeom>
            <a:solidFill>
              <a:srgbClr val="2E77AD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12266" y="4543805"/>
            <a:ext cx="410528" cy="164469"/>
          </a:xfrm>
          <a:prstGeom prst="rect">
            <a:avLst/>
          </a:prstGeom>
        </p:spPr>
        <p:txBody>
          <a:bodyPr vert="horz" wrap="square" lIns="0" tIns="25718" rIns="0" bIns="0" rtlCol="0">
            <a:spAutoFit/>
          </a:bodyPr>
          <a:lstStyle/>
          <a:p>
            <a:pPr marL="19050" defTabSz="1371600">
              <a:spcBef>
                <a:spcPts val="203"/>
              </a:spcBef>
            </a:pP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Culture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319213" y="4393500"/>
            <a:ext cx="902018" cy="470535"/>
            <a:chOff x="879475" y="1595500"/>
            <a:chExt cx="601345" cy="313690"/>
          </a:xfrm>
        </p:grpSpPr>
        <p:sp>
          <p:nvSpPr>
            <p:cNvPr id="30" name="object 30"/>
            <p:cNvSpPr/>
            <p:nvPr/>
          </p:nvSpPr>
          <p:spPr>
            <a:xfrm>
              <a:off x="886840" y="1602231"/>
              <a:ext cx="584835" cy="300355"/>
            </a:xfrm>
            <a:custGeom>
              <a:avLst/>
              <a:gdLst/>
              <a:ahLst/>
              <a:cxnLst/>
              <a:rect l="l" t="t" r="r" b="b"/>
              <a:pathLst>
                <a:path w="584835" h="300355">
                  <a:moveTo>
                    <a:pt x="434339" y="0"/>
                  </a:moveTo>
                  <a:lnTo>
                    <a:pt x="0" y="0"/>
                  </a:lnTo>
                  <a:lnTo>
                    <a:pt x="0" y="299847"/>
                  </a:lnTo>
                  <a:lnTo>
                    <a:pt x="434339" y="299847"/>
                  </a:lnTo>
                  <a:lnTo>
                    <a:pt x="584326" y="149860"/>
                  </a:lnTo>
                  <a:lnTo>
                    <a:pt x="434339" y="0"/>
                  </a:lnTo>
                  <a:close/>
                </a:path>
              </a:pathLst>
            </a:custGeom>
            <a:solidFill>
              <a:srgbClr val="44A4EC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  <p:sp>
          <p:nvSpPr>
            <p:cNvPr id="31" name="object 31"/>
            <p:cNvSpPr/>
            <p:nvPr/>
          </p:nvSpPr>
          <p:spPr>
            <a:xfrm>
              <a:off x="879475" y="1595500"/>
              <a:ext cx="454659" cy="313690"/>
            </a:xfrm>
            <a:custGeom>
              <a:avLst/>
              <a:gdLst/>
              <a:ahLst/>
              <a:cxnLst/>
              <a:rect l="l" t="t" r="r" b="b"/>
              <a:pathLst>
                <a:path w="454659" h="313689">
                  <a:moveTo>
                    <a:pt x="454139" y="7239"/>
                  </a:moveTo>
                  <a:lnTo>
                    <a:pt x="14097" y="7239"/>
                  </a:lnTo>
                  <a:lnTo>
                    <a:pt x="14097" y="6731"/>
                  </a:lnTo>
                  <a:lnTo>
                    <a:pt x="451104" y="6731"/>
                  </a:lnTo>
                  <a:lnTo>
                    <a:pt x="444373" y="0"/>
                  </a:lnTo>
                  <a:lnTo>
                    <a:pt x="0" y="0"/>
                  </a:lnTo>
                  <a:lnTo>
                    <a:pt x="0" y="313309"/>
                  </a:lnTo>
                  <a:lnTo>
                    <a:pt x="444373" y="313309"/>
                  </a:lnTo>
                  <a:lnTo>
                    <a:pt x="451104" y="306578"/>
                  </a:lnTo>
                  <a:lnTo>
                    <a:pt x="14097" y="306578"/>
                  </a:lnTo>
                  <a:lnTo>
                    <a:pt x="7366" y="299847"/>
                  </a:lnTo>
                  <a:lnTo>
                    <a:pt x="14097" y="299847"/>
                  </a:lnTo>
                  <a:lnTo>
                    <a:pt x="14097" y="14097"/>
                  </a:lnTo>
                  <a:lnTo>
                    <a:pt x="14097" y="13589"/>
                  </a:lnTo>
                  <a:lnTo>
                    <a:pt x="437883" y="13589"/>
                  </a:lnTo>
                  <a:lnTo>
                    <a:pt x="437883" y="12319"/>
                  </a:lnTo>
                  <a:lnTo>
                    <a:pt x="454139" y="12319"/>
                  </a:lnTo>
                  <a:lnTo>
                    <a:pt x="454139" y="7239"/>
                  </a:lnTo>
                  <a:close/>
                </a:path>
              </a:pathLst>
            </a:custGeom>
            <a:solidFill>
              <a:srgbClr val="2E77AD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16481" y="1607565"/>
              <a:ext cx="164084" cy="28981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86841" y="1894839"/>
              <a:ext cx="450850" cy="7620"/>
            </a:xfrm>
            <a:custGeom>
              <a:avLst/>
              <a:gdLst/>
              <a:ahLst/>
              <a:cxnLst/>
              <a:rect l="l" t="t" r="r" b="b"/>
              <a:pathLst>
                <a:path w="450850" h="7619">
                  <a:moveTo>
                    <a:pt x="450469" y="508"/>
                  </a:moveTo>
                  <a:lnTo>
                    <a:pt x="434340" y="508"/>
                  </a:lnTo>
                  <a:lnTo>
                    <a:pt x="430911" y="1993"/>
                  </a:lnTo>
                  <a:lnTo>
                    <a:pt x="430911" y="0"/>
                  </a:lnTo>
                  <a:lnTo>
                    <a:pt x="6731" y="0"/>
                  </a:lnTo>
                  <a:lnTo>
                    <a:pt x="6731" y="508"/>
                  </a:lnTo>
                  <a:lnTo>
                    <a:pt x="0" y="508"/>
                  </a:lnTo>
                  <a:lnTo>
                    <a:pt x="6731" y="7239"/>
                  </a:lnTo>
                  <a:lnTo>
                    <a:pt x="6731" y="7620"/>
                  </a:lnTo>
                  <a:lnTo>
                    <a:pt x="445897" y="7620"/>
                  </a:lnTo>
                  <a:lnTo>
                    <a:pt x="445897" y="2540"/>
                  </a:lnTo>
                  <a:lnTo>
                    <a:pt x="448437" y="2540"/>
                  </a:lnTo>
                  <a:lnTo>
                    <a:pt x="450469" y="508"/>
                  </a:lnTo>
                  <a:close/>
                </a:path>
              </a:pathLst>
            </a:custGeom>
            <a:solidFill>
              <a:srgbClr val="2E77AD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384934" y="4523612"/>
            <a:ext cx="633413" cy="164469"/>
          </a:xfrm>
          <a:prstGeom prst="rect">
            <a:avLst/>
          </a:prstGeom>
        </p:spPr>
        <p:txBody>
          <a:bodyPr vert="horz" wrap="square" lIns="0" tIns="25718" rIns="0" bIns="0" rtlCol="0">
            <a:spAutoFit/>
          </a:bodyPr>
          <a:lstStyle/>
          <a:p>
            <a:pPr marL="19050" defTabSz="1371600">
              <a:spcBef>
                <a:spcPts val="203"/>
              </a:spcBef>
            </a:pP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Interactions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209609" y="4401501"/>
            <a:ext cx="902018" cy="470535"/>
            <a:chOff x="1473072" y="1600834"/>
            <a:chExt cx="601345" cy="313690"/>
          </a:xfrm>
        </p:grpSpPr>
        <p:sp>
          <p:nvSpPr>
            <p:cNvPr id="36" name="object 36"/>
            <p:cNvSpPr/>
            <p:nvPr/>
          </p:nvSpPr>
          <p:spPr>
            <a:xfrm>
              <a:off x="1479803" y="1607565"/>
              <a:ext cx="584835" cy="300355"/>
            </a:xfrm>
            <a:custGeom>
              <a:avLst/>
              <a:gdLst/>
              <a:ahLst/>
              <a:cxnLst/>
              <a:rect l="l" t="t" r="r" b="b"/>
              <a:pathLst>
                <a:path w="584835" h="300355">
                  <a:moveTo>
                    <a:pt x="435101" y="0"/>
                  </a:moveTo>
                  <a:lnTo>
                    <a:pt x="0" y="0"/>
                  </a:lnTo>
                  <a:lnTo>
                    <a:pt x="0" y="299846"/>
                  </a:lnTo>
                  <a:lnTo>
                    <a:pt x="435101" y="299846"/>
                  </a:lnTo>
                  <a:lnTo>
                    <a:pt x="584326" y="149986"/>
                  </a:lnTo>
                  <a:lnTo>
                    <a:pt x="435101" y="0"/>
                  </a:lnTo>
                  <a:close/>
                </a:path>
              </a:pathLst>
            </a:custGeom>
            <a:solidFill>
              <a:srgbClr val="44A4EC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  <p:sp>
          <p:nvSpPr>
            <p:cNvPr id="37" name="object 37"/>
            <p:cNvSpPr/>
            <p:nvPr/>
          </p:nvSpPr>
          <p:spPr>
            <a:xfrm>
              <a:off x="1473073" y="1600834"/>
              <a:ext cx="454025" cy="313690"/>
            </a:xfrm>
            <a:custGeom>
              <a:avLst/>
              <a:gdLst/>
              <a:ahLst/>
              <a:cxnLst/>
              <a:rect l="l" t="t" r="r" b="b"/>
              <a:pathLst>
                <a:path w="454025" h="313689">
                  <a:moveTo>
                    <a:pt x="453948" y="6985"/>
                  </a:moveTo>
                  <a:lnTo>
                    <a:pt x="14224" y="6985"/>
                  </a:lnTo>
                  <a:lnTo>
                    <a:pt x="14224" y="6731"/>
                  </a:lnTo>
                  <a:lnTo>
                    <a:pt x="451231" y="6731"/>
                  </a:lnTo>
                  <a:lnTo>
                    <a:pt x="444500" y="0"/>
                  </a:lnTo>
                  <a:lnTo>
                    <a:pt x="0" y="0"/>
                  </a:lnTo>
                  <a:lnTo>
                    <a:pt x="0" y="313309"/>
                  </a:lnTo>
                  <a:lnTo>
                    <a:pt x="444500" y="313309"/>
                  </a:lnTo>
                  <a:lnTo>
                    <a:pt x="451231" y="306578"/>
                  </a:lnTo>
                  <a:lnTo>
                    <a:pt x="14224" y="306578"/>
                  </a:lnTo>
                  <a:lnTo>
                    <a:pt x="6731" y="299847"/>
                  </a:lnTo>
                  <a:lnTo>
                    <a:pt x="14224" y="299847"/>
                  </a:lnTo>
                  <a:lnTo>
                    <a:pt x="14224" y="14605"/>
                  </a:lnTo>
                  <a:lnTo>
                    <a:pt x="437591" y="14605"/>
                  </a:lnTo>
                  <a:lnTo>
                    <a:pt x="437591" y="12065"/>
                  </a:lnTo>
                  <a:lnTo>
                    <a:pt x="453948" y="12065"/>
                  </a:lnTo>
                  <a:lnTo>
                    <a:pt x="453948" y="6985"/>
                  </a:lnTo>
                  <a:close/>
                </a:path>
              </a:pathLst>
            </a:custGeom>
            <a:solidFill>
              <a:srgbClr val="2E77AD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09444" y="1613026"/>
              <a:ext cx="164719" cy="28968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479804" y="1900681"/>
              <a:ext cx="451484" cy="6985"/>
            </a:xfrm>
            <a:custGeom>
              <a:avLst/>
              <a:gdLst/>
              <a:ahLst/>
              <a:cxnLst/>
              <a:rect l="l" t="t" r="r" b="b"/>
              <a:pathLst>
                <a:path w="451485" h="6985">
                  <a:moveTo>
                    <a:pt x="451231" y="0"/>
                  </a:moveTo>
                  <a:lnTo>
                    <a:pt x="435102" y="0"/>
                  </a:lnTo>
                  <a:lnTo>
                    <a:pt x="430530" y="1701"/>
                  </a:lnTo>
                  <a:lnTo>
                    <a:pt x="430530" y="508"/>
                  </a:lnTo>
                  <a:lnTo>
                    <a:pt x="7493" y="508"/>
                  </a:lnTo>
                  <a:lnTo>
                    <a:pt x="7493" y="0"/>
                  </a:lnTo>
                  <a:lnTo>
                    <a:pt x="0" y="0"/>
                  </a:lnTo>
                  <a:lnTo>
                    <a:pt x="7493" y="6731"/>
                  </a:lnTo>
                  <a:lnTo>
                    <a:pt x="7493" y="6858"/>
                  </a:lnTo>
                  <a:lnTo>
                    <a:pt x="446913" y="6858"/>
                  </a:lnTo>
                  <a:lnTo>
                    <a:pt x="446913" y="2032"/>
                  </a:lnTo>
                  <a:lnTo>
                    <a:pt x="449199" y="2032"/>
                  </a:lnTo>
                  <a:lnTo>
                    <a:pt x="451231" y="0"/>
                  </a:lnTo>
                  <a:close/>
                </a:path>
              </a:pathLst>
            </a:custGeom>
            <a:solidFill>
              <a:srgbClr val="2E77AD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2272855" y="4530470"/>
            <a:ext cx="642938" cy="164469"/>
          </a:xfrm>
          <a:prstGeom prst="rect">
            <a:avLst/>
          </a:prstGeom>
        </p:spPr>
        <p:txBody>
          <a:bodyPr vert="horz" wrap="square" lIns="0" tIns="25718" rIns="0" bIns="0" rtlCol="0">
            <a:spAutoFit/>
          </a:bodyPr>
          <a:lstStyle/>
          <a:p>
            <a:pPr marL="19050" defTabSz="1371600">
              <a:spcBef>
                <a:spcPts val="203"/>
              </a:spcBef>
            </a:pPr>
            <a:r>
              <a:rPr sz="900" b="1" spc="-15" dirty="0">
                <a:solidFill>
                  <a:srgbClr val="FFFFFF"/>
                </a:solidFill>
                <a:latin typeface="Calibri"/>
                <a:cs typeface="Calibri"/>
              </a:rPr>
              <a:t>Automation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23317" y="3823334"/>
            <a:ext cx="280988" cy="453390"/>
            <a:chOff x="415544" y="1215389"/>
            <a:chExt cx="187325" cy="302260"/>
          </a:xfrm>
        </p:grpSpPr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3931" y="1216253"/>
              <a:ext cx="90095" cy="20843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8211" y="1424685"/>
              <a:ext cx="181482" cy="9080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15544" y="1215389"/>
              <a:ext cx="187325" cy="302260"/>
            </a:xfrm>
            <a:custGeom>
              <a:avLst/>
              <a:gdLst/>
              <a:ahLst/>
              <a:cxnLst/>
              <a:rect l="l" t="t" r="r" b="b"/>
              <a:pathLst>
                <a:path w="187325" h="302259">
                  <a:moveTo>
                    <a:pt x="186944" y="208661"/>
                  </a:moveTo>
                  <a:lnTo>
                    <a:pt x="183515" y="208661"/>
                  </a:lnTo>
                  <a:lnTo>
                    <a:pt x="181483" y="208661"/>
                  </a:lnTo>
                  <a:lnTo>
                    <a:pt x="181483" y="210693"/>
                  </a:lnTo>
                  <a:lnTo>
                    <a:pt x="93472" y="298704"/>
                  </a:lnTo>
                  <a:lnTo>
                    <a:pt x="5334" y="210693"/>
                  </a:lnTo>
                  <a:lnTo>
                    <a:pt x="49022" y="210693"/>
                  </a:lnTo>
                  <a:lnTo>
                    <a:pt x="49022" y="209296"/>
                  </a:lnTo>
                  <a:lnTo>
                    <a:pt x="49022" y="208661"/>
                  </a:lnTo>
                  <a:lnTo>
                    <a:pt x="48387" y="208661"/>
                  </a:lnTo>
                  <a:lnTo>
                    <a:pt x="47828" y="208915"/>
                  </a:lnTo>
                  <a:lnTo>
                    <a:pt x="47828" y="208280"/>
                  </a:lnTo>
                  <a:lnTo>
                    <a:pt x="49022" y="208280"/>
                  </a:lnTo>
                  <a:lnTo>
                    <a:pt x="49022" y="1524"/>
                  </a:lnTo>
                  <a:lnTo>
                    <a:pt x="137769" y="1524"/>
                  </a:lnTo>
                  <a:lnTo>
                    <a:pt x="137769" y="1270"/>
                  </a:lnTo>
                  <a:lnTo>
                    <a:pt x="137795" y="210693"/>
                  </a:lnTo>
                  <a:lnTo>
                    <a:pt x="181483" y="210693"/>
                  </a:lnTo>
                  <a:lnTo>
                    <a:pt x="181483" y="208661"/>
                  </a:lnTo>
                  <a:lnTo>
                    <a:pt x="139827" y="208661"/>
                  </a:lnTo>
                  <a:lnTo>
                    <a:pt x="139827" y="1524"/>
                  </a:lnTo>
                  <a:lnTo>
                    <a:pt x="139827" y="1270"/>
                  </a:lnTo>
                  <a:lnTo>
                    <a:pt x="139827" y="889"/>
                  </a:lnTo>
                  <a:lnTo>
                    <a:pt x="139827" y="0"/>
                  </a:lnTo>
                  <a:lnTo>
                    <a:pt x="46990" y="0"/>
                  </a:lnTo>
                  <a:lnTo>
                    <a:pt x="46990" y="1270"/>
                  </a:lnTo>
                  <a:lnTo>
                    <a:pt x="46990" y="208280"/>
                  </a:lnTo>
                  <a:lnTo>
                    <a:pt x="46990" y="208661"/>
                  </a:lnTo>
                  <a:lnTo>
                    <a:pt x="3302" y="208661"/>
                  </a:lnTo>
                  <a:lnTo>
                    <a:pt x="0" y="208661"/>
                  </a:lnTo>
                  <a:lnTo>
                    <a:pt x="93472" y="302133"/>
                  </a:lnTo>
                  <a:lnTo>
                    <a:pt x="96126" y="299466"/>
                  </a:lnTo>
                  <a:lnTo>
                    <a:pt x="184912" y="210693"/>
                  </a:lnTo>
                  <a:lnTo>
                    <a:pt x="186944" y="2086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1548003" y="3823334"/>
            <a:ext cx="280035" cy="453390"/>
            <a:chOff x="1032002" y="1215389"/>
            <a:chExt cx="186690" cy="302260"/>
          </a:xfrm>
        </p:grpSpPr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79754" y="1216253"/>
              <a:ext cx="90766" cy="20843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4669" y="1424685"/>
              <a:ext cx="180848" cy="9080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032002" y="1215389"/>
              <a:ext cx="186690" cy="302260"/>
            </a:xfrm>
            <a:custGeom>
              <a:avLst/>
              <a:gdLst/>
              <a:ahLst/>
              <a:cxnLst/>
              <a:rect l="l" t="t" r="r" b="b"/>
              <a:pathLst>
                <a:path w="186690" h="302259">
                  <a:moveTo>
                    <a:pt x="186182" y="208661"/>
                  </a:moveTo>
                  <a:lnTo>
                    <a:pt x="182880" y="208661"/>
                  </a:lnTo>
                  <a:lnTo>
                    <a:pt x="180848" y="208661"/>
                  </a:lnTo>
                  <a:lnTo>
                    <a:pt x="180848" y="210693"/>
                  </a:lnTo>
                  <a:lnTo>
                    <a:pt x="93091" y="298450"/>
                  </a:lnTo>
                  <a:lnTo>
                    <a:pt x="5334" y="210693"/>
                  </a:lnTo>
                  <a:lnTo>
                    <a:pt x="49022" y="210693"/>
                  </a:lnTo>
                  <a:lnTo>
                    <a:pt x="49022" y="209296"/>
                  </a:lnTo>
                  <a:lnTo>
                    <a:pt x="49022" y="208661"/>
                  </a:lnTo>
                  <a:lnTo>
                    <a:pt x="47752" y="208661"/>
                  </a:lnTo>
                  <a:lnTo>
                    <a:pt x="47193" y="208915"/>
                  </a:lnTo>
                  <a:lnTo>
                    <a:pt x="47193" y="208280"/>
                  </a:lnTo>
                  <a:lnTo>
                    <a:pt x="49022" y="208280"/>
                  </a:lnTo>
                  <a:lnTo>
                    <a:pt x="49022" y="1524"/>
                  </a:lnTo>
                  <a:lnTo>
                    <a:pt x="137096" y="1524"/>
                  </a:lnTo>
                  <a:lnTo>
                    <a:pt x="137096" y="1270"/>
                  </a:lnTo>
                  <a:lnTo>
                    <a:pt x="137160" y="210693"/>
                  </a:lnTo>
                  <a:lnTo>
                    <a:pt x="180848" y="210693"/>
                  </a:lnTo>
                  <a:lnTo>
                    <a:pt x="180848" y="208661"/>
                  </a:lnTo>
                  <a:lnTo>
                    <a:pt x="139827" y="208661"/>
                  </a:lnTo>
                  <a:lnTo>
                    <a:pt x="139827" y="1524"/>
                  </a:lnTo>
                  <a:lnTo>
                    <a:pt x="139827" y="1270"/>
                  </a:lnTo>
                  <a:lnTo>
                    <a:pt x="139827" y="889"/>
                  </a:lnTo>
                  <a:lnTo>
                    <a:pt x="139827" y="0"/>
                  </a:lnTo>
                  <a:lnTo>
                    <a:pt x="46355" y="0"/>
                  </a:lnTo>
                  <a:lnTo>
                    <a:pt x="46355" y="1270"/>
                  </a:lnTo>
                  <a:lnTo>
                    <a:pt x="46355" y="208280"/>
                  </a:lnTo>
                  <a:lnTo>
                    <a:pt x="46355" y="208661"/>
                  </a:lnTo>
                  <a:lnTo>
                    <a:pt x="3302" y="208661"/>
                  </a:lnTo>
                  <a:lnTo>
                    <a:pt x="0" y="208661"/>
                  </a:lnTo>
                  <a:lnTo>
                    <a:pt x="93472" y="302133"/>
                  </a:lnTo>
                  <a:lnTo>
                    <a:pt x="96139" y="299466"/>
                  </a:lnTo>
                  <a:lnTo>
                    <a:pt x="184277" y="210693"/>
                  </a:lnTo>
                  <a:lnTo>
                    <a:pt x="186182" y="2086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2450782" y="3823334"/>
            <a:ext cx="280988" cy="453390"/>
            <a:chOff x="1633854" y="1215389"/>
            <a:chExt cx="187325" cy="302260"/>
          </a:xfrm>
        </p:grpSpPr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82241" y="1216253"/>
              <a:ext cx="90766" cy="20843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37156" y="1424685"/>
              <a:ext cx="180848" cy="90804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1633855" y="1215389"/>
              <a:ext cx="187325" cy="302260"/>
            </a:xfrm>
            <a:custGeom>
              <a:avLst/>
              <a:gdLst/>
              <a:ahLst/>
              <a:cxnLst/>
              <a:rect l="l" t="t" r="r" b="b"/>
              <a:pathLst>
                <a:path w="187325" h="302259">
                  <a:moveTo>
                    <a:pt x="186817" y="208661"/>
                  </a:moveTo>
                  <a:lnTo>
                    <a:pt x="183515" y="208661"/>
                  </a:lnTo>
                  <a:lnTo>
                    <a:pt x="181483" y="208661"/>
                  </a:lnTo>
                  <a:lnTo>
                    <a:pt x="181483" y="210693"/>
                  </a:lnTo>
                  <a:lnTo>
                    <a:pt x="93472" y="298704"/>
                  </a:lnTo>
                  <a:lnTo>
                    <a:pt x="5969" y="210693"/>
                  </a:lnTo>
                  <a:lnTo>
                    <a:pt x="49657" y="210693"/>
                  </a:lnTo>
                  <a:lnTo>
                    <a:pt x="49657" y="209296"/>
                  </a:lnTo>
                  <a:lnTo>
                    <a:pt x="49657" y="208661"/>
                  </a:lnTo>
                  <a:lnTo>
                    <a:pt x="48387" y="208661"/>
                  </a:lnTo>
                  <a:lnTo>
                    <a:pt x="47828" y="208915"/>
                  </a:lnTo>
                  <a:lnTo>
                    <a:pt x="47828" y="208280"/>
                  </a:lnTo>
                  <a:lnTo>
                    <a:pt x="49657" y="208280"/>
                  </a:lnTo>
                  <a:lnTo>
                    <a:pt x="49657" y="1524"/>
                  </a:lnTo>
                  <a:lnTo>
                    <a:pt x="137731" y="1524"/>
                  </a:lnTo>
                  <a:lnTo>
                    <a:pt x="137731" y="1270"/>
                  </a:lnTo>
                  <a:lnTo>
                    <a:pt x="137795" y="210693"/>
                  </a:lnTo>
                  <a:lnTo>
                    <a:pt x="181483" y="210693"/>
                  </a:lnTo>
                  <a:lnTo>
                    <a:pt x="181483" y="208661"/>
                  </a:lnTo>
                  <a:lnTo>
                    <a:pt x="139827" y="208661"/>
                  </a:lnTo>
                  <a:lnTo>
                    <a:pt x="139827" y="1524"/>
                  </a:lnTo>
                  <a:lnTo>
                    <a:pt x="139827" y="1270"/>
                  </a:lnTo>
                  <a:lnTo>
                    <a:pt x="139827" y="889"/>
                  </a:lnTo>
                  <a:lnTo>
                    <a:pt x="139827" y="0"/>
                  </a:lnTo>
                  <a:lnTo>
                    <a:pt x="46990" y="0"/>
                  </a:lnTo>
                  <a:lnTo>
                    <a:pt x="46990" y="1270"/>
                  </a:lnTo>
                  <a:lnTo>
                    <a:pt x="46990" y="208280"/>
                  </a:lnTo>
                  <a:lnTo>
                    <a:pt x="46990" y="208661"/>
                  </a:lnTo>
                  <a:lnTo>
                    <a:pt x="3937" y="208661"/>
                  </a:lnTo>
                  <a:lnTo>
                    <a:pt x="0" y="208661"/>
                  </a:lnTo>
                  <a:lnTo>
                    <a:pt x="93472" y="302133"/>
                  </a:lnTo>
                  <a:lnTo>
                    <a:pt x="96139" y="299466"/>
                  </a:lnTo>
                  <a:lnTo>
                    <a:pt x="184912" y="210693"/>
                  </a:lnTo>
                  <a:lnTo>
                    <a:pt x="186817" y="2086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</p:grpSp>
      <p:pic>
        <p:nvPicPr>
          <p:cNvPr id="53" name="object 5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44232" y="5216270"/>
            <a:ext cx="342900" cy="194309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44232" y="6039230"/>
            <a:ext cx="342900" cy="194309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76047" y="4977764"/>
            <a:ext cx="6722745" cy="1681229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05740" indent="-186690" algn="just" defTabSz="1371600">
              <a:spcBef>
                <a:spcPts val="150"/>
              </a:spcBef>
              <a:buFont typeface="Arial MT"/>
              <a:buChar char="•"/>
              <a:tabLst>
                <a:tab pos="205740" algn="l"/>
              </a:tabLst>
            </a:pPr>
            <a:r>
              <a:rPr sz="1350" spc="-15" dirty="0">
                <a:solidFill>
                  <a:srgbClr val="006FBE"/>
                </a:solidFill>
                <a:latin typeface="Calibri"/>
                <a:cs typeface="Calibri"/>
              </a:rPr>
              <a:t>Process:</a:t>
            </a:r>
            <a:endParaRPr sz="1350">
              <a:latin typeface="Calibri"/>
              <a:cs typeface="Calibri"/>
            </a:endParaRPr>
          </a:p>
          <a:p>
            <a:pPr marL="455295" marR="77153" algn="just" defTabSz="1371600"/>
            <a:r>
              <a:rPr sz="1350" dirty="0">
                <a:latin typeface="Calibri"/>
                <a:cs typeface="Calibri"/>
              </a:rPr>
              <a:t>Sequence</a:t>
            </a:r>
            <a:r>
              <a:rPr sz="1350" spc="29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or</a:t>
            </a:r>
            <a:r>
              <a:rPr sz="1350" spc="24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layers</a:t>
            </a:r>
            <a:r>
              <a:rPr sz="1350" spc="27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of</a:t>
            </a:r>
            <a:r>
              <a:rPr sz="1350" spc="32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procedures</a:t>
            </a:r>
            <a:r>
              <a:rPr sz="1350" spc="27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that</a:t>
            </a:r>
            <a:r>
              <a:rPr sz="1350" spc="27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is</a:t>
            </a:r>
            <a:r>
              <a:rPr sz="1350" spc="3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consisted</a:t>
            </a:r>
            <a:r>
              <a:rPr sz="1350" spc="306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of</a:t>
            </a:r>
            <a:r>
              <a:rPr sz="1350" spc="32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people,</a:t>
            </a:r>
            <a:r>
              <a:rPr sz="1350" spc="3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machines,</a:t>
            </a:r>
            <a:r>
              <a:rPr sz="1350" spc="323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materials,</a:t>
            </a:r>
            <a:r>
              <a:rPr sz="1350" spc="75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methods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33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governing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policies</a:t>
            </a:r>
            <a:r>
              <a:rPr sz="1350" spc="23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that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are</a:t>
            </a:r>
            <a:r>
              <a:rPr sz="1350" spc="-2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used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all </a:t>
            </a:r>
            <a:r>
              <a:rPr sz="1350" spc="-15" dirty="0">
                <a:latin typeface="Calibri"/>
                <a:cs typeface="Calibri"/>
              </a:rPr>
              <a:t>together</a:t>
            </a:r>
            <a:r>
              <a:rPr sz="1350" spc="2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design</a:t>
            </a:r>
            <a:r>
              <a:rPr sz="1350" spc="3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delivery</a:t>
            </a:r>
            <a:r>
              <a:rPr sz="1350" dirty="0">
                <a:latin typeface="Calibri"/>
                <a:cs typeface="Calibri"/>
              </a:rPr>
              <a:t> a</a:t>
            </a:r>
            <a:r>
              <a:rPr sz="1350" spc="23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good</a:t>
            </a:r>
            <a:r>
              <a:rPr sz="1350" spc="75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or</a:t>
            </a:r>
            <a:r>
              <a:rPr sz="1350" spc="-9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service</a:t>
            </a:r>
            <a:r>
              <a:rPr sz="1350" spc="-8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(product)</a:t>
            </a:r>
            <a:r>
              <a:rPr sz="1350" spc="-6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.</a:t>
            </a:r>
            <a:r>
              <a:rPr sz="1350" spc="323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Conversion</a:t>
            </a:r>
            <a:r>
              <a:rPr sz="1350" spc="2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of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</a:t>
            </a:r>
            <a:r>
              <a:rPr sz="1350" spc="-2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input</a:t>
            </a:r>
            <a:r>
              <a:rPr sz="1350" spc="-15" dirty="0">
                <a:latin typeface="Calibri"/>
                <a:cs typeface="Calibri"/>
              </a:rPr>
              <a:t> into</a:t>
            </a:r>
            <a:r>
              <a:rPr sz="1350" dirty="0">
                <a:latin typeface="Calibri"/>
                <a:cs typeface="Calibri"/>
              </a:rPr>
              <a:t> an</a:t>
            </a:r>
            <a:r>
              <a:rPr sz="1350" spc="-15" dirty="0">
                <a:latin typeface="Calibri"/>
                <a:cs typeface="Calibri"/>
              </a:rPr>
              <a:t> output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through-outprocedures.</a:t>
            </a:r>
            <a:endParaRPr sz="1350">
              <a:latin typeface="Calibri"/>
              <a:cs typeface="Calibri"/>
            </a:endParaRPr>
          </a:p>
          <a:p>
            <a:pPr marL="205740" indent="-186690" algn="just" defTabSz="1371600">
              <a:buFont typeface="Arial MT"/>
              <a:buChar char="•"/>
              <a:tabLst>
                <a:tab pos="205740" algn="l"/>
              </a:tabLst>
            </a:pPr>
            <a:r>
              <a:rPr sz="1350" spc="-15" dirty="0">
                <a:solidFill>
                  <a:srgbClr val="006FBE"/>
                </a:solidFill>
                <a:latin typeface="Calibri"/>
                <a:cs typeface="Calibri"/>
              </a:rPr>
              <a:t>Practice:</a:t>
            </a:r>
            <a:endParaRPr sz="1350">
              <a:latin typeface="Calibri"/>
              <a:cs typeface="Calibri"/>
            </a:endParaRPr>
          </a:p>
          <a:p>
            <a:pPr marL="455295" algn="just" defTabSz="1371600"/>
            <a:r>
              <a:rPr sz="1350" spc="-15" dirty="0">
                <a:latin typeface="Calibri"/>
                <a:cs typeface="Calibri"/>
              </a:rPr>
              <a:t>Series</a:t>
            </a:r>
            <a:r>
              <a:rPr sz="1350" spc="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of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steps</a:t>
            </a:r>
            <a:r>
              <a:rPr sz="1350" spc="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-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achieve</a:t>
            </a:r>
            <a:r>
              <a:rPr sz="1350" spc="2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</a:t>
            </a:r>
            <a:r>
              <a:rPr sz="1350" spc="-6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consistent</a:t>
            </a:r>
            <a:r>
              <a:rPr sz="1350" spc="90" dirty="0">
                <a:latin typeface="Calibri"/>
                <a:cs typeface="Calibri"/>
              </a:rPr>
              <a:t> </a:t>
            </a:r>
            <a:r>
              <a:rPr sz="1350" spc="-45" dirty="0">
                <a:latin typeface="Calibri"/>
                <a:cs typeface="Calibri"/>
              </a:rPr>
              <a:t>result</a:t>
            </a:r>
            <a:r>
              <a:rPr sz="1350" spc="-113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(output).</a:t>
            </a:r>
            <a:endParaRPr sz="1350">
              <a:latin typeface="Calibri"/>
              <a:cs typeface="Calibri"/>
            </a:endParaRPr>
          </a:p>
          <a:p>
            <a:pPr marL="205740" marR="7620" indent="-187643" algn="just" defTabSz="1371600">
              <a:buFont typeface="Arial MT"/>
              <a:buChar char="•"/>
              <a:tabLst>
                <a:tab pos="205740" algn="l"/>
              </a:tabLst>
            </a:pPr>
            <a:r>
              <a:rPr sz="1350" dirty="0">
                <a:solidFill>
                  <a:srgbClr val="006FBE"/>
                </a:solidFill>
                <a:latin typeface="Calibri"/>
                <a:cs typeface="Calibri"/>
              </a:rPr>
              <a:t>A</a:t>
            </a:r>
            <a:r>
              <a:rPr sz="1350" spc="-15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06FBE"/>
                </a:solidFill>
                <a:latin typeface="Calibri"/>
                <a:cs typeface="Calibri"/>
              </a:rPr>
              <a:t>simple</a:t>
            </a:r>
            <a:r>
              <a:rPr sz="1350" spc="75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06FBE"/>
                </a:solidFill>
                <a:latin typeface="Calibri"/>
                <a:cs typeface="Calibri"/>
              </a:rPr>
              <a:t>process</a:t>
            </a:r>
            <a:r>
              <a:rPr sz="1350" spc="60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06FBE"/>
                </a:solidFill>
                <a:latin typeface="Calibri"/>
                <a:cs typeface="Calibri"/>
              </a:rPr>
              <a:t>may</a:t>
            </a:r>
            <a:r>
              <a:rPr sz="1350" spc="45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06FBE"/>
                </a:solidFill>
                <a:latin typeface="Calibri"/>
                <a:cs typeface="Calibri"/>
              </a:rPr>
              <a:t>be</a:t>
            </a:r>
            <a:r>
              <a:rPr sz="1350" spc="90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06FBE"/>
                </a:solidFill>
                <a:latin typeface="Calibri"/>
                <a:cs typeface="Calibri"/>
              </a:rPr>
              <a:t>described</a:t>
            </a:r>
            <a:r>
              <a:rPr sz="1350" spc="6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06FBE"/>
                </a:solidFill>
                <a:latin typeface="Calibri"/>
                <a:cs typeface="Calibri"/>
              </a:rPr>
              <a:t>by</a:t>
            </a:r>
            <a:r>
              <a:rPr sz="1350" spc="45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06FBE"/>
                </a:solidFill>
                <a:latin typeface="Calibri"/>
                <a:cs typeface="Calibri"/>
              </a:rPr>
              <a:t>a</a:t>
            </a:r>
            <a:r>
              <a:rPr sz="1350" spc="45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06FBE"/>
                </a:solidFill>
                <a:latin typeface="Calibri"/>
                <a:cs typeface="Calibri"/>
              </a:rPr>
              <a:t>single</a:t>
            </a:r>
            <a:r>
              <a:rPr sz="1350" spc="9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006FBE"/>
                </a:solidFill>
                <a:latin typeface="Calibri"/>
                <a:cs typeface="Calibri"/>
              </a:rPr>
              <a:t>procedure.</a:t>
            </a:r>
            <a:r>
              <a:rPr sz="1350" spc="45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06FBE"/>
                </a:solidFill>
                <a:latin typeface="Calibri"/>
                <a:cs typeface="Calibri"/>
              </a:rPr>
              <a:t>But</a:t>
            </a:r>
            <a:r>
              <a:rPr sz="1350" spc="60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06FBE"/>
                </a:solidFill>
                <a:latin typeface="Calibri"/>
                <a:cs typeface="Calibri"/>
              </a:rPr>
              <a:t>a</a:t>
            </a:r>
            <a:r>
              <a:rPr sz="1350" spc="60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06FBE"/>
                </a:solidFill>
                <a:latin typeface="Calibri"/>
                <a:cs typeface="Calibri"/>
              </a:rPr>
              <a:t>more</a:t>
            </a:r>
            <a:r>
              <a:rPr sz="1350" spc="45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06FBE"/>
                </a:solidFill>
                <a:latin typeface="Calibri"/>
                <a:cs typeface="Calibri"/>
              </a:rPr>
              <a:t>complex</a:t>
            </a:r>
            <a:r>
              <a:rPr sz="1350" spc="83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06FBE"/>
                </a:solidFill>
                <a:latin typeface="Calibri"/>
                <a:cs typeface="Calibri"/>
              </a:rPr>
              <a:t>process,</a:t>
            </a:r>
            <a:r>
              <a:rPr sz="1350" spc="135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350" spc="-30" dirty="0">
                <a:solidFill>
                  <a:srgbClr val="006FBE"/>
                </a:solidFill>
                <a:latin typeface="Calibri"/>
                <a:cs typeface="Calibri"/>
              </a:rPr>
              <a:t>will</a:t>
            </a:r>
            <a:r>
              <a:rPr sz="1350" spc="750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350" spc="-30" dirty="0">
                <a:solidFill>
                  <a:srgbClr val="006FBE"/>
                </a:solidFill>
                <a:latin typeface="Calibri"/>
                <a:cs typeface="Calibri"/>
              </a:rPr>
              <a:t>have</a:t>
            </a:r>
            <a:r>
              <a:rPr sz="1350" spc="-45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06FBE"/>
                </a:solidFill>
                <a:latin typeface="Calibri"/>
                <a:cs typeface="Calibri"/>
              </a:rPr>
              <a:t>multiple</a:t>
            </a:r>
            <a:r>
              <a:rPr sz="1350" spc="-75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350" spc="-15" dirty="0">
                <a:solidFill>
                  <a:srgbClr val="006FBE"/>
                </a:solidFill>
                <a:latin typeface="Calibri"/>
                <a:cs typeface="Calibri"/>
              </a:rPr>
              <a:t>procedures.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481863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35255">
              <a:spcBef>
                <a:spcPts val="158"/>
              </a:spcBef>
            </a:pPr>
            <a:r>
              <a:rPr sz="3000" dirty="0">
                <a:latin typeface="Calibri"/>
                <a:cs typeface="Calibri"/>
              </a:rPr>
              <a:t>Dimensions</a:t>
            </a:r>
            <a:r>
              <a:rPr sz="3000" spc="203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38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DevOps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6226" y="3017900"/>
            <a:ext cx="810578" cy="736283"/>
            <a:chOff x="184150" y="678433"/>
            <a:chExt cx="540385" cy="4908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4150" y="678433"/>
              <a:ext cx="304800" cy="1737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861313"/>
              <a:ext cx="305409" cy="1737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045" y="1039621"/>
              <a:ext cx="229209" cy="12954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493394" y="4181474"/>
            <a:ext cx="593408" cy="640080"/>
            <a:chOff x="328929" y="1454149"/>
            <a:chExt cx="395605" cy="42672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045" y="1454149"/>
              <a:ext cx="229209" cy="1295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929" y="1563877"/>
              <a:ext cx="305409" cy="17373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5045" y="1751329"/>
              <a:ext cx="229209" cy="129539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2568" y="5038724"/>
            <a:ext cx="343814" cy="19430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36066" y="2980562"/>
            <a:ext cx="6095048" cy="3155929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38125" marR="3343275" indent="-220028" defTabSz="1371600">
              <a:spcBef>
                <a:spcPts val="150"/>
              </a:spcBef>
            </a:pPr>
            <a:r>
              <a:rPr dirty="0">
                <a:latin typeface="Calibri"/>
                <a:cs typeface="Calibri"/>
              </a:rPr>
              <a:t>Three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dimensions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217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DevOps </a:t>
            </a:r>
            <a:r>
              <a:rPr spc="-15" dirty="0">
                <a:solidFill>
                  <a:srgbClr val="006FBE"/>
                </a:solidFill>
                <a:latin typeface="Calibri"/>
                <a:cs typeface="Calibri"/>
              </a:rPr>
              <a:t>People</a:t>
            </a:r>
            <a:endParaRPr>
              <a:latin typeface="Calibri"/>
              <a:cs typeface="Calibri"/>
            </a:endParaRPr>
          </a:p>
          <a:p>
            <a:pPr marL="487680" marR="7620" algn="just" defTabSz="1371600">
              <a:lnSpc>
                <a:spcPts val="1635"/>
              </a:lnSpc>
              <a:spcBef>
                <a:spcPts val="23"/>
              </a:spcBef>
            </a:pPr>
            <a:r>
              <a:rPr sz="1350" dirty="0">
                <a:latin typeface="Calibri"/>
                <a:cs typeface="Calibri"/>
              </a:rPr>
              <a:t>Initially,</a:t>
            </a:r>
            <a:r>
              <a:rPr sz="1350" spc="24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stakeholders</a:t>
            </a:r>
            <a:r>
              <a:rPr sz="1350" spc="25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would</a:t>
            </a:r>
            <a:r>
              <a:rPr sz="1350" spc="25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need</a:t>
            </a:r>
            <a:r>
              <a:rPr sz="1350" spc="27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27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be</a:t>
            </a:r>
            <a:r>
              <a:rPr sz="1350" spc="27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identified,</a:t>
            </a:r>
            <a:r>
              <a:rPr sz="1350" spc="28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ensuring</a:t>
            </a:r>
            <a:r>
              <a:rPr sz="1350" spc="26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that</a:t>
            </a:r>
            <a:r>
              <a:rPr sz="1350" spc="24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everybody</a:t>
            </a:r>
            <a:r>
              <a:rPr sz="1350" spc="75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delivering</a:t>
            </a:r>
            <a:r>
              <a:rPr sz="1350" spc="9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value</a:t>
            </a:r>
            <a:r>
              <a:rPr sz="1350" spc="11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127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127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business</a:t>
            </a:r>
            <a:r>
              <a:rPr sz="1350" spc="15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are</a:t>
            </a:r>
            <a:r>
              <a:rPr sz="1350" spc="9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working</a:t>
            </a:r>
            <a:r>
              <a:rPr sz="1350" spc="9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tightly</a:t>
            </a:r>
            <a:r>
              <a:rPr sz="1350" spc="12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together</a:t>
            </a:r>
            <a:r>
              <a:rPr sz="1350" spc="127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on</a:t>
            </a:r>
            <a:r>
              <a:rPr sz="1350" spc="15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127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common</a:t>
            </a:r>
            <a:r>
              <a:rPr sz="1350" spc="75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goal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of</a:t>
            </a:r>
            <a:r>
              <a:rPr sz="1350" spc="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adding</a:t>
            </a:r>
            <a:r>
              <a:rPr sz="1350" spc="45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value</a:t>
            </a:r>
            <a:r>
              <a:rPr sz="1350" spc="-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the</a:t>
            </a:r>
            <a:r>
              <a:rPr sz="1350" spc="-113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customer.</a:t>
            </a:r>
            <a:endParaRPr sz="1350">
              <a:latin typeface="Calibri"/>
              <a:cs typeface="Calibri"/>
            </a:endParaRPr>
          </a:p>
          <a:p>
            <a:pPr marL="487680" algn="just" defTabSz="1371600">
              <a:lnSpc>
                <a:spcPts val="1388"/>
              </a:lnSpc>
            </a:pPr>
            <a:r>
              <a:rPr sz="1350" dirty="0">
                <a:latin typeface="Calibri"/>
                <a:cs typeface="Calibri"/>
              </a:rPr>
              <a:t>Highly</a:t>
            </a:r>
            <a:r>
              <a:rPr sz="1350" spc="143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motivated</a:t>
            </a:r>
            <a:r>
              <a:rPr sz="1350" spc="-6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people</a:t>
            </a:r>
            <a:r>
              <a:rPr sz="1350" spc="6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with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good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collaboration</a:t>
            </a:r>
            <a:r>
              <a:rPr sz="1350" spc="-6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is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necessary</a:t>
            </a:r>
            <a:endParaRPr sz="1350">
              <a:latin typeface="Calibri"/>
              <a:cs typeface="Calibri"/>
            </a:endParaRPr>
          </a:p>
          <a:p>
            <a:pPr marL="238125" defTabSz="1371600">
              <a:lnSpc>
                <a:spcPts val="1980"/>
              </a:lnSpc>
            </a:pPr>
            <a:r>
              <a:rPr spc="-15" dirty="0">
                <a:solidFill>
                  <a:srgbClr val="006FBE"/>
                </a:solidFill>
                <a:latin typeface="Calibri"/>
                <a:cs typeface="Calibri"/>
              </a:rPr>
              <a:t>Process</a:t>
            </a:r>
            <a:endParaRPr>
              <a:latin typeface="Calibri"/>
              <a:cs typeface="Calibri"/>
            </a:endParaRPr>
          </a:p>
          <a:p>
            <a:pPr marL="487680" marR="7620" algn="just" defTabSz="1371600">
              <a:spcBef>
                <a:spcPts val="90"/>
              </a:spcBef>
            </a:pPr>
            <a:r>
              <a:rPr sz="1350" dirty="0">
                <a:latin typeface="Calibri"/>
                <a:cs typeface="Calibri"/>
              </a:rPr>
              <a:t>Process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of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designing,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building</a:t>
            </a:r>
            <a:r>
              <a:rPr sz="1350" spc="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testing</a:t>
            </a:r>
            <a:r>
              <a:rPr sz="1350" spc="60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software</a:t>
            </a:r>
            <a:r>
              <a:rPr sz="1350" spc="-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should</a:t>
            </a:r>
            <a:r>
              <a:rPr sz="1350" spc="3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be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well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presented</a:t>
            </a:r>
            <a:r>
              <a:rPr sz="1350" spc="38" dirty="0">
                <a:latin typeface="Calibri"/>
                <a:cs typeface="Calibri"/>
              </a:rPr>
              <a:t> </a:t>
            </a:r>
            <a:r>
              <a:rPr sz="1350" spc="-38" dirty="0">
                <a:latin typeface="Calibri"/>
                <a:cs typeface="Calibri"/>
              </a:rPr>
              <a:t>to</a:t>
            </a:r>
            <a:r>
              <a:rPr sz="1350" spc="75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each</a:t>
            </a:r>
            <a:r>
              <a:rPr sz="1350" spc="-8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individual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team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member</a:t>
            </a:r>
            <a:endParaRPr sz="1350">
              <a:latin typeface="Calibri"/>
              <a:cs typeface="Calibri"/>
            </a:endParaRPr>
          </a:p>
          <a:p>
            <a:pPr marL="487680" algn="just" defTabSz="1371600"/>
            <a:r>
              <a:rPr sz="1350" dirty="0">
                <a:latin typeface="Calibri"/>
                <a:cs typeface="Calibri"/>
              </a:rPr>
              <a:t>Processes</a:t>
            </a:r>
            <a:r>
              <a:rPr sz="1350" spc="3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-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practices </a:t>
            </a:r>
            <a:r>
              <a:rPr sz="1350" spc="-15" dirty="0">
                <a:latin typeface="Calibri"/>
                <a:cs typeface="Calibri"/>
              </a:rPr>
              <a:t>that</a:t>
            </a:r>
            <a:r>
              <a:rPr sz="1350" dirty="0">
                <a:latin typeface="Calibri"/>
                <a:cs typeface="Calibri"/>
              </a:rPr>
              <a:t> help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spc="-38" dirty="0">
                <a:latin typeface="Calibri"/>
                <a:cs typeface="Calibri"/>
              </a:rPr>
              <a:t>improve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value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-8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delivery</a:t>
            </a:r>
            <a:r>
              <a:rPr sz="1350" spc="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83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customers</a:t>
            </a:r>
            <a:endParaRPr sz="1350">
              <a:latin typeface="Calibri"/>
              <a:cs typeface="Calibri"/>
            </a:endParaRPr>
          </a:p>
          <a:p>
            <a:pPr marL="280035" defTabSz="1371600">
              <a:spcBef>
                <a:spcPts val="630"/>
              </a:spcBef>
            </a:pPr>
            <a:r>
              <a:rPr spc="-15" dirty="0">
                <a:solidFill>
                  <a:srgbClr val="006FBE"/>
                </a:solidFill>
                <a:latin typeface="Calibri"/>
                <a:cs typeface="Calibri"/>
              </a:rPr>
              <a:t>Tools</a:t>
            </a:r>
            <a:endParaRPr>
              <a:latin typeface="Calibri"/>
              <a:cs typeface="Calibri"/>
            </a:endParaRPr>
          </a:p>
          <a:p>
            <a:pPr marL="334328" marR="168593" defTabSz="1371600">
              <a:lnSpc>
                <a:spcPct val="101099"/>
              </a:lnSpc>
              <a:spcBef>
                <a:spcPts val="1005"/>
              </a:spcBef>
            </a:pPr>
            <a:r>
              <a:rPr sz="1350" dirty="0">
                <a:latin typeface="Calibri"/>
                <a:cs typeface="Calibri"/>
              </a:rPr>
              <a:t>Tools</a:t>
            </a:r>
            <a:r>
              <a:rPr sz="1350" spc="60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44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services</a:t>
            </a:r>
            <a:r>
              <a:rPr sz="1350" spc="4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that</a:t>
            </a:r>
            <a:r>
              <a:rPr sz="1350" spc="381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can</a:t>
            </a:r>
            <a:r>
              <a:rPr sz="1350" spc="42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help</a:t>
            </a:r>
            <a:r>
              <a:rPr sz="1350" spc="41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enable</a:t>
            </a:r>
            <a:r>
              <a:rPr sz="1350" spc="36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different</a:t>
            </a:r>
            <a:r>
              <a:rPr sz="1350" spc="53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DevOps</a:t>
            </a:r>
            <a:r>
              <a:rPr sz="1350" spc="60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practices</a:t>
            </a:r>
            <a:r>
              <a:rPr sz="1350" spc="510" dirty="0">
                <a:latin typeface="Calibri"/>
                <a:cs typeface="Calibri"/>
              </a:rPr>
              <a:t> </a:t>
            </a:r>
            <a:r>
              <a:rPr sz="1350" spc="-38" dirty="0">
                <a:latin typeface="Calibri"/>
                <a:cs typeface="Calibri"/>
              </a:rPr>
              <a:t>and</a:t>
            </a:r>
            <a:r>
              <a:rPr sz="1350" spc="750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different</a:t>
            </a:r>
            <a:r>
              <a:rPr sz="1350" spc="6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teams</a:t>
            </a:r>
            <a:r>
              <a:rPr sz="1350" spc="-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which</a:t>
            </a:r>
            <a:r>
              <a:rPr sz="1350" spc="-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can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be</a:t>
            </a:r>
            <a:r>
              <a:rPr sz="1350" spc="9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used</a:t>
            </a:r>
            <a:r>
              <a:rPr sz="1350" spc="6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23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make</a:t>
            </a:r>
            <a:r>
              <a:rPr sz="1350" spc="-2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things </a:t>
            </a:r>
            <a:r>
              <a:rPr sz="1350" spc="-15" dirty="0">
                <a:latin typeface="Calibri"/>
                <a:cs typeface="Calibri"/>
              </a:rPr>
              <a:t>easier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3299" y="5384481"/>
            <a:ext cx="22860" cy="278892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32529"/>
          </a:xfrm>
          <a:prstGeom prst="rect">
            <a:avLst/>
          </a:prstGeom>
        </p:spPr>
        <p:txBody>
          <a:bodyPr vert="horz" wrap="square" lIns="0" tIns="115899" rIns="0" bIns="0" rtlCol="0">
            <a:spAutoFit/>
          </a:bodyPr>
          <a:lstStyle/>
          <a:p>
            <a:pPr marL="135255">
              <a:spcBef>
                <a:spcPts val="150"/>
              </a:spcBef>
            </a:pPr>
            <a:r>
              <a:rPr sz="2700" dirty="0">
                <a:latin typeface="Calibri"/>
                <a:cs typeface="Calibri"/>
              </a:rPr>
              <a:t>DevOps–</a:t>
            </a:r>
            <a:r>
              <a:rPr sz="2700" spc="38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People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901" y="3108959"/>
            <a:ext cx="384047" cy="22174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901" y="3513581"/>
            <a:ext cx="384047" cy="22174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901" y="4167377"/>
            <a:ext cx="384047" cy="22174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53948" y="3073907"/>
            <a:ext cx="5955981" cy="1354217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9050" marR="208598" defTabSz="1371600">
              <a:lnSpc>
                <a:spcPts val="1650"/>
              </a:lnSpc>
              <a:spcBef>
                <a:spcPts val="360"/>
              </a:spcBef>
            </a:pPr>
            <a:r>
              <a:rPr sz="1500" dirty="0">
                <a:latin typeface="Calibri"/>
                <a:cs typeface="Calibri"/>
              </a:rPr>
              <a:t>Addresses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people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aspect</a:t>
            </a:r>
            <a:r>
              <a:rPr sz="1500" spc="9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adopting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DevOps,</a:t>
            </a:r>
            <a:r>
              <a:rPr sz="1500" spc="1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including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creating</a:t>
            </a:r>
            <a:r>
              <a:rPr sz="1500" spc="435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the</a:t>
            </a:r>
            <a:r>
              <a:rPr sz="1500" dirty="0">
                <a:latin typeface="Calibri"/>
                <a:cs typeface="Calibri"/>
              </a:rPr>
              <a:t> necessary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culture.</a:t>
            </a:r>
            <a:endParaRPr sz="1500">
              <a:latin typeface="Calibri"/>
              <a:cs typeface="Calibri"/>
            </a:endParaRPr>
          </a:p>
          <a:p>
            <a:pPr marL="19050" defTabSz="1371600">
              <a:lnSpc>
                <a:spcPts val="1454"/>
              </a:lnSpc>
            </a:pPr>
            <a:r>
              <a:rPr sz="1500" spc="-15" dirty="0">
                <a:latin typeface="Calibri"/>
                <a:cs typeface="Calibri"/>
              </a:rPr>
              <a:t>An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organization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may adopt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most</a:t>
            </a:r>
            <a:r>
              <a:rPr sz="1500" spc="8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efficient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processes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automated</a:t>
            </a:r>
            <a:endParaRPr sz="1500">
              <a:latin typeface="Calibri"/>
              <a:cs typeface="Calibri"/>
            </a:endParaRPr>
          </a:p>
          <a:p>
            <a:pPr marL="19050" marR="7620" defTabSz="1371600">
              <a:lnSpc>
                <a:spcPts val="1650"/>
              </a:lnSpc>
              <a:spcBef>
                <a:spcPts val="120"/>
              </a:spcBef>
            </a:pPr>
            <a:r>
              <a:rPr sz="1500" dirty="0">
                <a:latin typeface="Calibri"/>
                <a:cs typeface="Calibri"/>
              </a:rPr>
              <a:t>tools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possible,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but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they’re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useless</a:t>
            </a:r>
            <a:r>
              <a:rPr sz="1500" spc="15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without the</a:t>
            </a:r>
            <a:r>
              <a:rPr sz="1500" spc="68" dirty="0"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5589"/>
                </a:solidFill>
                <a:latin typeface="Calibri"/>
                <a:cs typeface="Calibri"/>
              </a:rPr>
              <a:t>people</a:t>
            </a:r>
            <a:r>
              <a:rPr sz="1500" spc="45" dirty="0">
                <a:solidFill>
                  <a:srgbClr val="0D5589"/>
                </a:solidFill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who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eventually</a:t>
            </a:r>
            <a:r>
              <a:rPr sz="1500" spc="353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must </a:t>
            </a:r>
            <a:r>
              <a:rPr sz="1500" dirty="0">
                <a:latin typeface="Calibri"/>
                <a:cs typeface="Calibri"/>
              </a:rPr>
              <a:t>execute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those</a:t>
            </a:r>
            <a:r>
              <a:rPr sz="1500" spc="15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processes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</a:t>
            </a:r>
            <a:r>
              <a:rPr sz="1500" spc="1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those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tools.</a:t>
            </a:r>
            <a:endParaRPr sz="1500">
              <a:latin typeface="Calibri"/>
              <a:cs typeface="Calibri"/>
            </a:endParaRPr>
          </a:p>
          <a:p>
            <a:pPr marL="48576" defTabSz="1371600">
              <a:lnSpc>
                <a:spcPts val="1777"/>
              </a:lnSpc>
            </a:pPr>
            <a:r>
              <a:rPr sz="1500" dirty="0">
                <a:solidFill>
                  <a:srgbClr val="6C1C6B"/>
                </a:solidFill>
                <a:latin typeface="Calibri"/>
                <a:cs typeface="Calibri"/>
              </a:rPr>
              <a:t>DEVOPS</a:t>
            </a:r>
            <a:r>
              <a:rPr sz="1500" spc="23" dirty="0">
                <a:solidFill>
                  <a:srgbClr val="6C1C6B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6C1C6B"/>
                </a:solidFill>
                <a:latin typeface="Calibri"/>
                <a:cs typeface="Calibri"/>
              </a:rPr>
              <a:t>CULTURE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994" y="4860416"/>
            <a:ext cx="384047" cy="22174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243388" y="4825364"/>
            <a:ext cx="1888808" cy="25391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9050" defTabSz="1371600">
              <a:spcBef>
                <a:spcPts val="180"/>
              </a:spcBef>
            </a:pPr>
            <a:r>
              <a:rPr sz="1500" dirty="0">
                <a:latin typeface="Calibri"/>
                <a:cs typeface="Calibri"/>
              </a:rPr>
              <a:t>headed</a:t>
            </a:r>
            <a:r>
              <a:rPr sz="1500" spc="217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270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743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same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994" y="5331332"/>
            <a:ext cx="384047" cy="22174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4851" y="4592192"/>
            <a:ext cx="4024313" cy="119468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9050" defTabSz="1371600">
              <a:spcBef>
                <a:spcPts val="180"/>
              </a:spcBef>
            </a:pPr>
            <a:r>
              <a:rPr sz="1500" spc="-30" dirty="0">
                <a:solidFill>
                  <a:srgbClr val="0D5589"/>
                </a:solidFill>
                <a:latin typeface="Calibri"/>
                <a:cs typeface="Calibri"/>
              </a:rPr>
              <a:t>(1)</a:t>
            </a:r>
            <a:r>
              <a:rPr sz="1500" spc="23" dirty="0">
                <a:solidFill>
                  <a:srgbClr val="0D558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5589"/>
                </a:solidFill>
                <a:latin typeface="Calibri"/>
                <a:cs typeface="Calibri"/>
              </a:rPr>
              <a:t>Identifying</a:t>
            </a:r>
            <a:r>
              <a:rPr sz="1500" spc="23" dirty="0">
                <a:solidFill>
                  <a:srgbClr val="0D558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5589"/>
                </a:solidFill>
                <a:latin typeface="Calibri"/>
                <a:cs typeface="Calibri"/>
              </a:rPr>
              <a:t>business</a:t>
            </a:r>
            <a:r>
              <a:rPr sz="1500" spc="150" dirty="0">
                <a:solidFill>
                  <a:srgbClr val="0D5589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0D5589"/>
                </a:solidFill>
                <a:latin typeface="Calibri"/>
                <a:cs typeface="Calibri"/>
              </a:rPr>
              <a:t>objectives</a:t>
            </a:r>
            <a:endParaRPr sz="1500">
              <a:latin typeface="Calibri"/>
              <a:cs typeface="Calibri"/>
            </a:endParaRPr>
          </a:p>
          <a:p>
            <a:pPr marL="517208" marR="7620" defTabSz="1371600">
              <a:lnSpc>
                <a:spcPct val="101000"/>
              </a:lnSpc>
              <a:spcBef>
                <a:spcPts val="15"/>
              </a:spcBef>
              <a:tabLst>
                <a:tab pos="1364933" algn="l"/>
              </a:tabLst>
            </a:pPr>
            <a:r>
              <a:rPr sz="1500" spc="-15" dirty="0">
                <a:latin typeface="Calibri"/>
                <a:cs typeface="Calibri"/>
              </a:rPr>
              <a:t>Creating</a:t>
            </a:r>
            <a:r>
              <a:rPr sz="1500" dirty="0">
                <a:latin typeface="Calibri"/>
                <a:cs typeface="Calibri"/>
              </a:rPr>
              <a:t>	a</a:t>
            </a:r>
            <a:r>
              <a:rPr sz="1500" spc="68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culture</a:t>
            </a:r>
            <a:r>
              <a:rPr sz="1500" spc="344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233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getting</a:t>
            </a:r>
            <a:r>
              <a:rPr sz="1500" spc="300" dirty="0">
                <a:latin typeface="Calibri"/>
                <a:cs typeface="Calibri"/>
              </a:rPr>
              <a:t>  </a:t>
            </a:r>
            <a:r>
              <a:rPr sz="1500" spc="-15" dirty="0">
                <a:latin typeface="Calibri"/>
                <a:cs typeface="Calibri"/>
              </a:rPr>
              <a:t>everyone </a:t>
            </a:r>
            <a:r>
              <a:rPr sz="1500" dirty="0">
                <a:latin typeface="Calibri"/>
                <a:cs typeface="Calibri"/>
              </a:rPr>
              <a:t>direction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working</a:t>
            </a:r>
            <a:r>
              <a:rPr sz="1500" spc="-53" dirty="0">
                <a:latin typeface="Calibri"/>
                <a:cs typeface="Calibri"/>
              </a:rPr>
              <a:t> toward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6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same</a:t>
            </a:r>
            <a:r>
              <a:rPr sz="1500" spc="127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goal</a:t>
            </a:r>
            <a:endParaRPr sz="1500">
              <a:latin typeface="Calibri"/>
              <a:cs typeface="Calibri"/>
            </a:endParaRPr>
          </a:p>
          <a:p>
            <a:pPr marL="517208" marR="39051" defTabSz="1371600">
              <a:spcBef>
                <a:spcPts val="90"/>
              </a:spcBef>
              <a:tabLst>
                <a:tab pos="1541145" algn="l"/>
              </a:tabLst>
            </a:pPr>
            <a:r>
              <a:rPr sz="1500" spc="-15" dirty="0">
                <a:latin typeface="Calibri"/>
                <a:cs typeface="Calibri"/>
              </a:rPr>
              <a:t>Identifying</a:t>
            </a:r>
            <a:r>
              <a:rPr sz="1500" dirty="0">
                <a:latin typeface="Calibri"/>
                <a:cs typeface="Calibri"/>
              </a:rPr>
              <a:t>	common</a:t>
            </a:r>
            <a:r>
              <a:rPr sz="1500" spc="210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business</a:t>
            </a:r>
            <a:r>
              <a:rPr sz="1500" spc="278" dirty="0">
                <a:latin typeface="Calibri"/>
                <a:cs typeface="Calibri"/>
              </a:rPr>
              <a:t>  </a:t>
            </a:r>
            <a:r>
              <a:rPr sz="1500" spc="-15" dirty="0">
                <a:latin typeface="Calibri"/>
                <a:cs typeface="Calibri"/>
              </a:rPr>
              <a:t>objectives organization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8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whole.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99954" y="5296280"/>
            <a:ext cx="1934528" cy="25391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9050" defTabSz="1371600">
              <a:spcBef>
                <a:spcPts val="180"/>
              </a:spcBef>
            </a:pPr>
            <a:r>
              <a:rPr sz="1500" dirty="0">
                <a:latin typeface="Calibri"/>
                <a:cs typeface="Calibri"/>
              </a:rPr>
              <a:t>for</a:t>
            </a:r>
            <a:r>
              <a:rPr sz="1500" spc="5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49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team</a:t>
            </a:r>
            <a:r>
              <a:rPr sz="1500" spc="5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614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the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994" y="5788532"/>
            <a:ext cx="384047" cy="22174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03122" y="5753480"/>
            <a:ext cx="5532119" cy="946413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9050" marR="7620" defTabSz="1371600">
              <a:spcBef>
                <a:spcPts val="180"/>
              </a:spcBef>
            </a:pPr>
            <a:r>
              <a:rPr sz="1500" dirty="0">
                <a:latin typeface="Calibri"/>
                <a:cs typeface="Calibri"/>
              </a:rPr>
              <a:t>identify</a:t>
            </a:r>
            <a:r>
              <a:rPr sz="1500" spc="210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goals</a:t>
            </a:r>
            <a:r>
              <a:rPr sz="1500" spc="66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57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5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wants</a:t>
            </a:r>
            <a:r>
              <a:rPr sz="1500" spc="68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53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achieve;</a:t>
            </a:r>
            <a:r>
              <a:rPr sz="1500" spc="6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then</a:t>
            </a:r>
            <a:r>
              <a:rPr sz="1500" spc="51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54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</a:t>
            </a:r>
            <a:r>
              <a:rPr sz="1500" spc="6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develop</a:t>
            </a:r>
            <a:r>
              <a:rPr sz="1500" spc="585" dirty="0">
                <a:latin typeface="Calibri"/>
                <a:cs typeface="Calibri"/>
              </a:rPr>
              <a:t> </a:t>
            </a:r>
            <a:r>
              <a:rPr sz="1500" spc="-75" dirty="0">
                <a:latin typeface="Calibri"/>
                <a:cs typeface="Calibri"/>
              </a:rPr>
              <a:t>a</a:t>
            </a:r>
            <a:r>
              <a:rPr sz="1500" dirty="0">
                <a:latin typeface="Calibri"/>
                <a:cs typeface="Calibri"/>
              </a:rPr>
              <a:t> common</a:t>
            </a:r>
            <a:r>
              <a:rPr sz="1500" spc="27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set</a:t>
            </a:r>
            <a:r>
              <a:rPr sz="1500" spc="2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6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milestones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toward</a:t>
            </a:r>
            <a:r>
              <a:rPr sz="1500" spc="-1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those</a:t>
            </a:r>
            <a:r>
              <a:rPr sz="1500" spc="8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goals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for </a:t>
            </a:r>
            <a:r>
              <a:rPr sz="1500" dirty="0">
                <a:latin typeface="Calibri"/>
                <a:cs typeface="Calibri"/>
              </a:rPr>
              <a:t>different</a:t>
            </a:r>
            <a:r>
              <a:rPr sz="1500" spc="27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teams</a:t>
            </a:r>
            <a:endParaRPr sz="1500">
              <a:latin typeface="Calibri"/>
              <a:cs typeface="Calibri"/>
            </a:endParaRPr>
          </a:p>
          <a:p>
            <a:pPr marL="44768" defTabSz="1371600">
              <a:lnSpc>
                <a:spcPts val="1770"/>
              </a:lnSpc>
            </a:pPr>
            <a:r>
              <a:rPr sz="1500" dirty="0">
                <a:latin typeface="Calibri"/>
                <a:cs typeface="Calibri"/>
              </a:rPr>
              <a:t>of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stakeholders</a:t>
            </a:r>
            <a:r>
              <a:rPr sz="1500" spc="9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to</a:t>
            </a:r>
            <a:r>
              <a:rPr sz="1500" spc="-9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</a:t>
            </a:r>
            <a:r>
              <a:rPr sz="1500" spc="31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Collaboration</a:t>
            </a:r>
            <a:r>
              <a:rPr sz="1500" spc="-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 communication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across</a:t>
            </a:r>
            <a:endParaRPr sz="1500">
              <a:latin typeface="Calibri"/>
              <a:cs typeface="Calibri"/>
            </a:endParaRPr>
          </a:p>
          <a:p>
            <a:pPr marL="44768" defTabSz="1371600">
              <a:spcBef>
                <a:spcPts val="38"/>
              </a:spcBef>
            </a:pPr>
            <a:r>
              <a:rPr sz="1500" spc="-15" dirty="0">
                <a:latin typeface="Calibri"/>
                <a:cs typeface="Calibri"/>
              </a:rPr>
              <a:t>stakeholders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44071"/>
          </a:xfrm>
          <a:prstGeom prst="rect">
            <a:avLst/>
          </a:prstGeom>
        </p:spPr>
        <p:txBody>
          <a:bodyPr vert="horz" wrap="square" lIns="0" tIns="127329" rIns="0" bIns="0" rtlCol="0">
            <a:spAutoFit/>
          </a:bodyPr>
          <a:lstStyle/>
          <a:p>
            <a:pPr marL="186690">
              <a:spcBef>
                <a:spcPts val="150"/>
              </a:spcBef>
            </a:pPr>
            <a:r>
              <a:rPr sz="2700" dirty="0">
                <a:latin typeface="Calibri"/>
                <a:cs typeface="Calibri"/>
              </a:rPr>
              <a:t>DevOps–</a:t>
            </a:r>
            <a:r>
              <a:rPr sz="2700" spc="3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People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400" y="3370897"/>
            <a:ext cx="384048" cy="22174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400" y="3834955"/>
            <a:ext cx="384048" cy="22174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20611" y="3029521"/>
            <a:ext cx="6272213" cy="2900409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9050" defTabSz="1371600">
              <a:spcBef>
                <a:spcPts val="465"/>
              </a:spcBef>
            </a:pPr>
            <a:r>
              <a:rPr sz="1500" dirty="0">
                <a:solidFill>
                  <a:srgbClr val="0D5589"/>
                </a:solidFill>
                <a:latin typeface="Calibri"/>
                <a:cs typeface="Calibri"/>
              </a:rPr>
              <a:t>2)</a:t>
            </a:r>
            <a:r>
              <a:rPr sz="1500" spc="45" dirty="0">
                <a:solidFill>
                  <a:srgbClr val="0D5589"/>
                </a:solidFill>
                <a:latin typeface="Calibri"/>
                <a:cs typeface="Calibri"/>
              </a:rPr>
              <a:t> </a:t>
            </a:r>
            <a:r>
              <a:rPr sz="1500" spc="-45" dirty="0">
                <a:solidFill>
                  <a:srgbClr val="0D5589"/>
                </a:solidFill>
                <a:latin typeface="Calibri"/>
                <a:cs typeface="Calibri"/>
              </a:rPr>
              <a:t>Create</a:t>
            </a:r>
            <a:r>
              <a:rPr sz="1500" spc="-38" dirty="0">
                <a:solidFill>
                  <a:srgbClr val="0D558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5589"/>
                </a:solidFill>
                <a:latin typeface="Calibri"/>
                <a:cs typeface="Calibri"/>
              </a:rPr>
              <a:t>an</a:t>
            </a:r>
            <a:r>
              <a:rPr sz="1500" spc="-8" dirty="0">
                <a:solidFill>
                  <a:srgbClr val="0D5589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0D5589"/>
                </a:solidFill>
                <a:latin typeface="Calibri"/>
                <a:cs typeface="Calibri"/>
              </a:rPr>
              <a:t>environment</a:t>
            </a:r>
            <a:r>
              <a:rPr sz="1500" spc="23" dirty="0">
                <a:solidFill>
                  <a:srgbClr val="0D558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D5589"/>
                </a:solidFill>
                <a:latin typeface="Calibri"/>
                <a:cs typeface="Calibri"/>
              </a:rPr>
              <a:t>of</a:t>
            </a:r>
            <a:r>
              <a:rPr sz="1500" spc="278" dirty="0">
                <a:solidFill>
                  <a:srgbClr val="0D5589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0D5589"/>
                </a:solidFill>
                <a:latin typeface="Calibri"/>
                <a:cs typeface="Calibri"/>
              </a:rPr>
              <a:t>sharing</a:t>
            </a:r>
            <a:endParaRPr sz="1500">
              <a:latin typeface="Calibri"/>
              <a:cs typeface="Calibri"/>
            </a:endParaRPr>
          </a:p>
          <a:p>
            <a:pPr marL="487680" marR="20955" defTabSz="1371600">
              <a:lnSpc>
                <a:spcPct val="102000"/>
              </a:lnSpc>
              <a:spcBef>
                <a:spcPts val="293"/>
              </a:spcBef>
            </a:pPr>
            <a:r>
              <a:rPr sz="1500" dirty="0">
                <a:latin typeface="Calibri"/>
                <a:cs typeface="Calibri"/>
              </a:rPr>
              <a:t>leaders</a:t>
            </a:r>
            <a:r>
              <a:rPr sz="1500" spc="5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5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36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organization</a:t>
            </a:r>
            <a:r>
              <a:rPr sz="1500" spc="270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36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work</a:t>
            </a:r>
            <a:r>
              <a:rPr sz="1500" spc="60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47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their</a:t>
            </a:r>
            <a:r>
              <a:rPr sz="1500" spc="3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teams</a:t>
            </a:r>
            <a:r>
              <a:rPr sz="1500" spc="44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360" dirty="0"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create</a:t>
            </a:r>
            <a:r>
              <a:rPr sz="1500" spc="5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spc="-38" dirty="0">
                <a:solidFill>
                  <a:srgbClr val="FF0000"/>
                </a:solidFill>
                <a:latin typeface="Calibri"/>
                <a:cs typeface="Calibri"/>
              </a:rPr>
              <a:t>an</a:t>
            </a:r>
            <a:r>
              <a:rPr sz="1500" spc="-15" dirty="0">
                <a:solidFill>
                  <a:srgbClr val="FF0000"/>
                </a:solidFill>
                <a:latin typeface="Calibri"/>
                <a:cs typeface="Calibri"/>
              </a:rPr>
              <a:t> environment</a:t>
            </a:r>
            <a:r>
              <a:rPr sz="1500" spc="3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500" spc="-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FF0000"/>
                </a:solidFill>
                <a:latin typeface="Calibri"/>
                <a:cs typeface="Calibri"/>
              </a:rPr>
              <a:t>culture</a:t>
            </a:r>
            <a:r>
              <a:rPr sz="15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collaboration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andsharing.</a:t>
            </a:r>
            <a:endParaRPr sz="1500">
              <a:latin typeface="Calibri"/>
              <a:cs typeface="Calibri"/>
            </a:endParaRPr>
          </a:p>
          <a:p>
            <a:pPr marL="487680" defTabSz="1371600">
              <a:spcBef>
                <a:spcPts val="15"/>
              </a:spcBef>
            </a:pPr>
            <a:r>
              <a:rPr sz="1500" spc="-15" dirty="0">
                <a:latin typeface="Calibri"/>
                <a:cs typeface="Calibri"/>
              </a:rPr>
              <a:t>Leaders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must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remove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any</a:t>
            </a:r>
            <a:r>
              <a:rPr sz="1500" dirty="0">
                <a:latin typeface="Calibri"/>
                <a:cs typeface="Calibri"/>
              </a:rPr>
              <a:t> self-imposed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barriers</a:t>
            </a:r>
            <a:r>
              <a:rPr sz="1500" spc="-8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15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cooperation.</a:t>
            </a:r>
            <a:endParaRPr sz="1500">
              <a:latin typeface="Calibri"/>
              <a:cs typeface="Calibri"/>
            </a:endParaRPr>
          </a:p>
          <a:p>
            <a:pPr marL="488633" marR="25718" defTabSz="1371600">
              <a:lnSpc>
                <a:spcPct val="101800"/>
              </a:lnSpc>
              <a:spcBef>
                <a:spcPts val="30"/>
              </a:spcBef>
              <a:tabLst>
                <a:tab pos="1233488" algn="l"/>
              </a:tabLst>
            </a:pPr>
            <a:r>
              <a:rPr sz="1500" spc="-15" dirty="0">
                <a:latin typeface="Calibri"/>
                <a:cs typeface="Calibri"/>
              </a:rPr>
              <a:t>Typical</a:t>
            </a:r>
            <a:r>
              <a:rPr sz="1500" dirty="0">
                <a:latin typeface="Calibri"/>
                <a:cs typeface="Calibri"/>
              </a:rPr>
              <a:t>	measurements</a:t>
            </a:r>
            <a:r>
              <a:rPr sz="1500" spc="240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reward</a:t>
            </a:r>
            <a:r>
              <a:rPr sz="1500" spc="323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operations</a:t>
            </a:r>
            <a:r>
              <a:rPr sz="1500" spc="255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teams</a:t>
            </a:r>
            <a:r>
              <a:rPr sz="1500" spc="69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6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uptime</a:t>
            </a:r>
            <a:r>
              <a:rPr sz="1500" spc="225" dirty="0">
                <a:latin typeface="Calibri"/>
                <a:cs typeface="Calibri"/>
              </a:rPr>
              <a:t>  </a:t>
            </a:r>
            <a:r>
              <a:rPr sz="1500" spc="-38" dirty="0">
                <a:latin typeface="Calibri"/>
                <a:cs typeface="Calibri"/>
              </a:rPr>
              <a:t>and</a:t>
            </a:r>
            <a:r>
              <a:rPr sz="1500" spc="750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stability,</a:t>
            </a:r>
            <a:r>
              <a:rPr sz="1500" spc="-1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spc="-53" dirty="0">
                <a:latin typeface="Calibri"/>
                <a:cs typeface="Calibri"/>
              </a:rPr>
              <a:t>reward</a:t>
            </a:r>
            <a:r>
              <a:rPr sz="1500" spc="-15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developers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for </a:t>
            </a:r>
            <a:r>
              <a:rPr sz="1500" dirty="0">
                <a:latin typeface="Calibri"/>
                <a:cs typeface="Calibri"/>
              </a:rPr>
              <a:t>new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features delivered,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but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they</a:t>
            </a:r>
            <a:r>
              <a:rPr sz="1500" spc="381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pit</a:t>
            </a:r>
            <a:r>
              <a:rPr sz="1500" dirty="0">
                <a:latin typeface="Calibri"/>
                <a:cs typeface="Calibri"/>
              </a:rPr>
              <a:t> these</a:t>
            </a:r>
            <a:r>
              <a:rPr sz="1500" spc="1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groups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against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each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other.</a:t>
            </a:r>
            <a:endParaRPr sz="1500">
              <a:latin typeface="Calibri"/>
              <a:cs typeface="Calibri"/>
            </a:endParaRPr>
          </a:p>
          <a:p>
            <a:pPr marL="487680" marR="7620" algn="just" defTabSz="1371600">
              <a:lnSpc>
                <a:spcPct val="101499"/>
              </a:lnSpc>
              <a:spcBef>
                <a:spcPts val="15"/>
              </a:spcBef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563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leaders</a:t>
            </a:r>
            <a:r>
              <a:rPr sz="1500" spc="510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518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443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organization</a:t>
            </a:r>
            <a:r>
              <a:rPr sz="1500" spc="713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should</a:t>
            </a:r>
            <a:r>
              <a:rPr sz="1500" spc="510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further</a:t>
            </a:r>
            <a:r>
              <a:rPr sz="1500" spc="540" dirty="0">
                <a:latin typeface="Calibri"/>
                <a:cs typeface="Calibri"/>
              </a:rPr>
              <a:t>  </a:t>
            </a:r>
            <a:r>
              <a:rPr sz="1500" spc="-15" dirty="0">
                <a:latin typeface="Calibri"/>
                <a:cs typeface="Calibri"/>
              </a:rPr>
              <a:t>encourage </a:t>
            </a:r>
            <a:r>
              <a:rPr sz="1500" dirty="0">
                <a:latin typeface="Calibri"/>
                <a:cs typeface="Calibri"/>
              </a:rPr>
              <a:t>collaboration</a:t>
            </a:r>
            <a:r>
              <a:rPr sz="1500" spc="59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60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improving</a:t>
            </a:r>
            <a:r>
              <a:rPr sz="1500" spc="5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visibility.</a:t>
            </a:r>
            <a:r>
              <a:rPr sz="1500" spc="60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Establishing</a:t>
            </a:r>
            <a:r>
              <a:rPr sz="1500" spc="6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61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common</a:t>
            </a:r>
            <a:r>
              <a:rPr sz="1500" spc="6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set</a:t>
            </a:r>
            <a:r>
              <a:rPr sz="1500" spc="645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of</a:t>
            </a:r>
            <a:r>
              <a:rPr sz="1500" spc="-15" dirty="0">
                <a:latin typeface="Calibri"/>
                <a:cs typeface="Calibri"/>
              </a:rPr>
              <a:t> collaboration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tools</a:t>
            </a:r>
            <a:r>
              <a:rPr sz="1500" spc="8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essential,</a:t>
            </a:r>
            <a:r>
              <a:rPr sz="1500" spc="8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especially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when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teams</a:t>
            </a:r>
            <a:r>
              <a:rPr sz="1500" spc="8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43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geographically distributed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can’t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work</a:t>
            </a:r>
            <a:r>
              <a:rPr sz="1500" spc="-6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together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9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person</a:t>
            </a:r>
            <a:r>
              <a:rPr sz="900" spc="-15" dirty="0">
                <a:latin typeface="Calibri"/>
                <a:cs typeface="Calibri"/>
              </a:rPr>
              <a:t>.</a:t>
            </a:r>
            <a:endParaRPr sz="900">
              <a:latin typeface="Calibri"/>
              <a:cs typeface="Calibri"/>
            </a:endParaRPr>
          </a:p>
          <a:p>
            <a:pPr marL="398145" algn="just" defTabSz="1371600">
              <a:spcBef>
                <a:spcPts val="30"/>
              </a:spcBef>
            </a:pPr>
            <a:r>
              <a:rPr sz="1500" spc="-15" dirty="0">
                <a:latin typeface="Calibri"/>
                <a:cs typeface="Calibri"/>
              </a:rPr>
              <a:t>Giving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all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stakeholders</a:t>
            </a:r>
            <a:r>
              <a:rPr sz="1500" spc="9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visibility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into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project’s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goals</a:t>
            </a:r>
            <a:r>
              <a:rPr sz="1500" spc="8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statusis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93682" y="5900355"/>
            <a:ext cx="3780473" cy="4219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9050" defTabSz="1371600">
              <a:spcBef>
                <a:spcPts val="180"/>
              </a:spcBef>
              <a:tabLst>
                <a:tab pos="1127760" algn="l"/>
                <a:tab pos="1877378" algn="l"/>
                <a:tab pos="3469005" algn="l"/>
              </a:tabLst>
            </a:pPr>
            <a:r>
              <a:rPr sz="1500" dirty="0">
                <a:latin typeface="Calibri"/>
                <a:cs typeface="Calibri"/>
              </a:rPr>
              <a:t>a</a:t>
            </a:r>
            <a:r>
              <a:rPr sz="1500" spc="338" dirty="0">
                <a:latin typeface="Calibri"/>
                <a:cs typeface="Calibri"/>
              </a:rPr>
              <a:t>  </a:t>
            </a:r>
            <a:r>
              <a:rPr sz="1500" spc="-15" dirty="0">
                <a:latin typeface="Calibri"/>
                <a:cs typeface="Calibri"/>
              </a:rPr>
              <a:t>DevOps</a:t>
            </a:r>
            <a:r>
              <a:rPr sz="1500" dirty="0">
                <a:latin typeface="Calibri"/>
                <a:cs typeface="Calibri"/>
              </a:rPr>
              <a:t>	</a:t>
            </a:r>
            <a:r>
              <a:rPr sz="1500" spc="-15" dirty="0">
                <a:latin typeface="Calibri"/>
                <a:cs typeface="Calibri"/>
              </a:rPr>
              <a:t>culture</a:t>
            </a:r>
            <a:r>
              <a:rPr sz="1500" dirty="0">
                <a:latin typeface="Calibri"/>
                <a:cs typeface="Calibri"/>
              </a:rPr>
              <a:t>	based</a:t>
            </a:r>
            <a:r>
              <a:rPr sz="1500" spc="398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on</a:t>
            </a:r>
            <a:r>
              <a:rPr sz="1500" spc="375" dirty="0">
                <a:latin typeface="Calibri"/>
                <a:cs typeface="Calibri"/>
              </a:rPr>
              <a:t>  </a:t>
            </a:r>
            <a:r>
              <a:rPr sz="1500" spc="-30" dirty="0">
                <a:latin typeface="Calibri"/>
                <a:cs typeface="Calibri"/>
              </a:rPr>
              <a:t>trust</a:t>
            </a:r>
            <a:r>
              <a:rPr sz="1500" dirty="0">
                <a:latin typeface="Calibri"/>
                <a:cs typeface="Calibri"/>
              </a:rPr>
              <a:t>	</a:t>
            </a:r>
            <a:r>
              <a:rPr sz="1500" spc="-38" dirty="0">
                <a:latin typeface="Calibri"/>
                <a:cs typeface="Calibri"/>
              </a:rPr>
              <a:t>and</a:t>
            </a:r>
            <a:endParaRPr sz="1500">
              <a:latin typeface="Calibri"/>
              <a:cs typeface="Calibri"/>
            </a:endParaRPr>
          </a:p>
          <a:p>
            <a:pPr marR="256223" algn="r" defTabSz="1371600">
              <a:spcBef>
                <a:spcPts val="495"/>
              </a:spcBef>
            </a:pPr>
            <a:r>
              <a:rPr sz="675" spc="-75" dirty="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675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0575" y="5900356"/>
            <a:ext cx="1802130" cy="481094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19050" marR="7620" defTabSz="1371600">
              <a:lnSpc>
                <a:spcPct val="102000"/>
              </a:lnSpc>
              <a:spcBef>
                <a:spcPts val="143"/>
              </a:spcBef>
              <a:tabLst>
                <a:tab pos="749618" algn="l"/>
              </a:tabLst>
            </a:pPr>
            <a:r>
              <a:rPr sz="1500" spc="-15" dirty="0">
                <a:latin typeface="Calibri"/>
                <a:cs typeface="Calibri"/>
              </a:rPr>
              <a:t>crucial</a:t>
            </a:r>
            <a:r>
              <a:rPr sz="1500" dirty="0">
                <a:latin typeface="Calibri"/>
                <a:cs typeface="Calibri"/>
              </a:rPr>
              <a:t>	for</a:t>
            </a:r>
            <a:r>
              <a:rPr sz="1500" spc="353" dirty="0">
                <a:latin typeface="Calibri"/>
                <a:cs typeface="Calibri"/>
              </a:rPr>
              <a:t>  </a:t>
            </a:r>
            <a:r>
              <a:rPr sz="1500" spc="-15" dirty="0">
                <a:latin typeface="Calibri"/>
                <a:cs typeface="Calibri"/>
              </a:rPr>
              <a:t>building collaboration.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32529"/>
          </a:xfrm>
          <a:prstGeom prst="rect">
            <a:avLst/>
          </a:prstGeom>
        </p:spPr>
        <p:txBody>
          <a:bodyPr vert="horz" wrap="square" lIns="0" tIns="115899" rIns="0" bIns="0" rtlCol="0">
            <a:spAutoFit/>
          </a:bodyPr>
          <a:lstStyle/>
          <a:p>
            <a:pPr marL="135255">
              <a:spcBef>
                <a:spcPts val="150"/>
              </a:spcBef>
            </a:pPr>
            <a:r>
              <a:rPr sz="2700" dirty="0">
                <a:latin typeface="Calibri"/>
                <a:cs typeface="Calibri"/>
              </a:rPr>
              <a:t>DevOps–</a:t>
            </a:r>
            <a:r>
              <a:rPr sz="2700" spc="38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People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419" y="3188017"/>
            <a:ext cx="384047" cy="22174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589" y="3668077"/>
            <a:ext cx="384048" cy="22174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589" y="4125277"/>
            <a:ext cx="384048" cy="22174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589" y="4583048"/>
            <a:ext cx="384048" cy="22174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589" y="5268848"/>
            <a:ext cx="384048" cy="22174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60260" y="3152964"/>
            <a:ext cx="6028373" cy="317907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9050" defTabSz="1371600">
              <a:spcBef>
                <a:spcPts val="180"/>
              </a:spcBef>
            </a:pPr>
            <a:r>
              <a:rPr sz="1500" dirty="0">
                <a:solidFill>
                  <a:srgbClr val="6C1C6B"/>
                </a:solidFill>
                <a:latin typeface="Calibri"/>
                <a:cs typeface="Calibri"/>
              </a:rPr>
              <a:t>DEVOPS</a:t>
            </a:r>
            <a:r>
              <a:rPr sz="1500" spc="23" dirty="0">
                <a:solidFill>
                  <a:srgbClr val="6C1C6B"/>
                </a:solidFill>
                <a:latin typeface="Calibri"/>
                <a:cs typeface="Calibri"/>
              </a:rPr>
              <a:t> </a:t>
            </a:r>
            <a:r>
              <a:rPr sz="1500" spc="-30" dirty="0">
                <a:solidFill>
                  <a:srgbClr val="6C1C6B"/>
                </a:solidFill>
                <a:latin typeface="Calibri"/>
                <a:cs typeface="Calibri"/>
              </a:rPr>
              <a:t>TEAM</a:t>
            </a:r>
            <a:endParaRPr sz="1500">
              <a:latin typeface="Calibri"/>
              <a:cs typeface="Calibri"/>
            </a:endParaRPr>
          </a:p>
          <a:p>
            <a:pPr defTabSz="1371600">
              <a:spcBef>
                <a:spcPts val="143"/>
              </a:spcBef>
            </a:pPr>
            <a:endParaRPr sz="1500">
              <a:latin typeface="Calibri"/>
              <a:cs typeface="Calibri"/>
            </a:endParaRPr>
          </a:p>
          <a:p>
            <a:pPr marL="238125" marR="11430" algn="just" defTabSz="1371600">
              <a:spcBef>
                <a:spcPts val="8"/>
              </a:spcBef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8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arguments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for</a:t>
            </a:r>
            <a:r>
              <a:rPr sz="1500" dirty="0">
                <a:latin typeface="Calibri"/>
                <a:cs typeface="Calibri"/>
              </a:rPr>
              <a:t> and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against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having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separate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DevOps</a:t>
            </a:r>
            <a:r>
              <a:rPr sz="1500" spc="6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team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420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old</a:t>
            </a:r>
            <a:r>
              <a:rPr sz="1500" dirty="0">
                <a:latin typeface="Calibri"/>
                <a:cs typeface="Calibri"/>
              </a:rPr>
              <a:t> as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concept </a:t>
            </a:r>
            <a:r>
              <a:rPr sz="1500" spc="-15" dirty="0">
                <a:latin typeface="Calibri"/>
                <a:cs typeface="Calibri"/>
              </a:rPr>
              <a:t>itself.</a:t>
            </a:r>
            <a:endParaRPr sz="1500">
              <a:latin typeface="Calibri"/>
              <a:cs typeface="Calibri"/>
            </a:endParaRPr>
          </a:p>
          <a:p>
            <a:pPr marL="238125" marR="8573" algn="just" defTabSz="1371600"/>
            <a:r>
              <a:rPr sz="1500" dirty="0">
                <a:latin typeface="Calibri"/>
                <a:cs typeface="Calibri"/>
              </a:rPr>
              <a:t>DevOps</a:t>
            </a:r>
            <a:r>
              <a:rPr sz="1500" spc="270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liaison</a:t>
            </a:r>
            <a:r>
              <a:rPr sz="1500" spc="255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teams,</a:t>
            </a:r>
            <a:r>
              <a:rPr sz="1500" spc="248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which</a:t>
            </a:r>
            <a:r>
              <a:rPr sz="1500" spc="263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resolve</a:t>
            </a:r>
            <a:r>
              <a:rPr sz="1500" spc="240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any</a:t>
            </a:r>
            <a:r>
              <a:rPr sz="1500" spc="233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conflicts</a:t>
            </a:r>
            <a:r>
              <a:rPr sz="1500" spc="263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240" dirty="0">
                <a:latin typeface="Calibri"/>
                <a:cs typeface="Calibri"/>
              </a:rPr>
              <a:t>  </a:t>
            </a:r>
            <a:r>
              <a:rPr sz="1500" spc="-15" dirty="0">
                <a:latin typeface="Calibri"/>
                <a:cs typeface="Calibri"/>
              </a:rPr>
              <a:t>promote collaboration.</a:t>
            </a:r>
            <a:endParaRPr sz="1500">
              <a:latin typeface="Calibri"/>
              <a:cs typeface="Calibri"/>
            </a:endParaRPr>
          </a:p>
          <a:p>
            <a:pPr marL="238125" marR="7620" algn="just" defTabSz="1371600"/>
            <a:r>
              <a:rPr sz="1500" dirty="0">
                <a:latin typeface="Calibri"/>
                <a:cs typeface="Calibri"/>
              </a:rPr>
              <a:t>Such</a:t>
            </a:r>
            <a:r>
              <a:rPr sz="1500" spc="1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1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team</a:t>
            </a:r>
            <a:r>
              <a:rPr sz="1500" spc="1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may</a:t>
            </a:r>
            <a:r>
              <a:rPr sz="1500" spc="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127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</a:t>
            </a:r>
            <a:r>
              <a:rPr sz="1500" spc="1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existing</a:t>
            </a:r>
            <a:r>
              <a:rPr sz="1500" spc="1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tools</a:t>
            </a:r>
            <a:r>
              <a:rPr sz="1500" spc="1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group</a:t>
            </a:r>
            <a:r>
              <a:rPr sz="1500" spc="1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6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process</a:t>
            </a:r>
            <a:r>
              <a:rPr sz="1500" spc="1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group,</a:t>
            </a:r>
            <a:r>
              <a:rPr sz="1500" spc="1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6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54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may</a:t>
            </a:r>
            <a:r>
              <a:rPr sz="1500" dirty="0">
                <a:latin typeface="Calibri"/>
                <a:cs typeface="Calibri"/>
              </a:rPr>
              <a:t> be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new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team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staffed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representatives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all teams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have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3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stake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in</a:t>
            </a:r>
            <a:r>
              <a:rPr sz="1500" dirty="0">
                <a:latin typeface="Calibri"/>
                <a:cs typeface="Calibri"/>
              </a:rPr>
              <a:t> the</a:t>
            </a:r>
            <a:r>
              <a:rPr sz="1500" spc="6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application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being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delivered.</a:t>
            </a:r>
            <a:endParaRPr sz="1500">
              <a:latin typeface="Calibri"/>
              <a:cs typeface="Calibri"/>
            </a:endParaRPr>
          </a:p>
          <a:p>
            <a:pPr marL="238125" marR="7620" algn="just" defTabSz="1371600"/>
            <a:r>
              <a:rPr sz="1500" dirty="0">
                <a:latin typeface="Calibri"/>
                <a:cs typeface="Calibri"/>
              </a:rPr>
              <a:t>DevOps</a:t>
            </a:r>
            <a:r>
              <a:rPr sz="1500" spc="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team,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your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most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important</a:t>
            </a:r>
            <a:r>
              <a:rPr sz="1500" dirty="0">
                <a:latin typeface="Calibri"/>
                <a:cs typeface="Calibri"/>
              </a:rPr>
              <a:t> goal</a:t>
            </a:r>
            <a:r>
              <a:rPr sz="1500" spc="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ensure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that </a:t>
            </a:r>
            <a:r>
              <a:rPr sz="1500" dirty="0">
                <a:latin typeface="Calibri"/>
                <a:cs typeface="Calibri"/>
              </a:rPr>
              <a:t>it functions</a:t>
            </a:r>
            <a:r>
              <a:rPr sz="1500" spc="3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75" dirty="0">
                <a:latin typeface="Calibri"/>
                <a:cs typeface="Calibri"/>
              </a:rPr>
              <a:t>a</a:t>
            </a:r>
            <a:r>
              <a:rPr sz="1500" dirty="0">
                <a:latin typeface="Calibri"/>
                <a:cs typeface="Calibri"/>
              </a:rPr>
              <a:t> Center</a:t>
            </a:r>
            <a:r>
              <a:rPr sz="1500" spc="1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1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Excellence</a:t>
            </a:r>
            <a:r>
              <a:rPr sz="1500" spc="14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11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facilitates</a:t>
            </a:r>
            <a:r>
              <a:rPr sz="1500" spc="1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collaboration</a:t>
            </a:r>
            <a:r>
              <a:rPr sz="1500" spc="105" dirty="0"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without</a:t>
            </a:r>
            <a:r>
              <a:rPr sz="1500" spc="1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adding</a:t>
            </a:r>
            <a:r>
              <a:rPr sz="1500" spc="59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500" spc="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spc="-38" dirty="0">
                <a:solidFill>
                  <a:srgbClr val="FF0000"/>
                </a:solidFill>
                <a:latin typeface="Calibri"/>
                <a:cs typeface="Calibri"/>
              </a:rPr>
              <a:t>new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 layer</a:t>
            </a:r>
            <a:r>
              <a:rPr sz="1500" spc="2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500" spc="32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bureaucracy</a:t>
            </a:r>
            <a:r>
              <a:rPr sz="1500" spc="2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27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becoming</a:t>
            </a:r>
            <a:r>
              <a:rPr sz="1500" spc="3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3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team</a:t>
            </a:r>
            <a:r>
              <a:rPr sz="1500" spc="3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27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owns</a:t>
            </a:r>
            <a:r>
              <a:rPr sz="1500" spc="323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addressing</a:t>
            </a:r>
            <a:r>
              <a:rPr sz="1500" spc="315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all</a:t>
            </a:r>
            <a:r>
              <a:rPr sz="1500" dirty="0">
                <a:latin typeface="Calibri"/>
                <a:cs typeface="Calibri"/>
              </a:rPr>
              <a:t> DevOps</a:t>
            </a:r>
            <a:r>
              <a:rPr sz="1500" spc="171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related</a:t>
            </a:r>
            <a:r>
              <a:rPr sz="1500" spc="-8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problems</a:t>
            </a:r>
            <a:endParaRPr sz="1500">
              <a:latin typeface="Calibri"/>
              <a:cs typeface="Calibri"/>
            </a:endParaRPr>
          </a:p>
          <a:p>
            <a:pPr marR="324803" algn="r" defTabSz="1371600">
              <a:spcBef>
                <a:spcPts val="278"/>
              </a:spcBef>
            </a:pPr>
            <a:r>
              <a:rPr sz="675" spc="-75" dirty="0">
                <a:solidFill>
                  <a:srgbClr val="888888"/>
                </a:solidFill>
                <a:latin typeface="Calibri"/>
                <a:cs typeface="Calibri"/>
              </a:rPr>
              <a:t>9</a:t>
            </a:r>
            <a:endParaRPr sz="675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2332" y="3200399"/>
            <a:ext cx="6249353" cy="3314700"/>
            <a:chOff x="241554" y="800099"/>
            <a:chExt cx="4166235" cy="2209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70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9140" y="1037716"/>
              <a:ext cx="1553718" cy="135369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554" y="800099"/>
              <a:ext cx="4165727" cy="22098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78510" y="2276476"/>
            <a:ext cx="380904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2700" b="1" spc="-150" dirty="0">
                <a:latin typeface="Arial"/>
                <a:cs typeface="Arial"/>
              </a:rPr>
              <a:t>Test</a:t>
            </a:r>
            <a:r>
              <a:rPr sz="2700" b="1" spc="-195" dirty="0">
                <a:latin typeface="Arial"/>
                <a:cs typeface="Arial"/>
              </a:rPr>
              <a:t> </a:t>
            </a:r>
            <a:r>
              <a:rPr sz="2700" b="1" spc="-120" dirty="0">
                <a:latin typeface="Arial"/>
                <a:cs typeface="Arial"/>
              </a:rPr>
              <a:t>Driven</a:t>
            </a:r>
            <a:r>
              <a:rPr sz="2700" b="1" spc="-150" dirty="0">
                <a:latin typeface="Arial"/>
                <a:cs typeface="Arial"/>
              </a:rPr>
              <a:t> </a:t>
            </a:r>
            <a:r>
              <a:rPr sz="2700" b="1" spc="-98" dirty="0">
                <a:latin typeface="Arial"/>
                <a:cs typeface="Arial"/>
              </a:rPr>
              <a:t>Development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55153" y="2984562"/>
            <a:ext cx="5402580" cy="3886200"/>
            <a:chOff x="570102" y="656208"/>
            <a:chExt cx="3601720" cy="2590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102" y="656208"/>
              <a:ext cx="3601592" cy="25908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78510" y="2275141"/>
            <a:ext cx="380904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2700" b="1" spc="-150" dirty="0">
                <a:latin typeface="Arial"/>
                <a:cs typeface="Arial"/>
              </a:rPr>
              <a:t>Test</a:t>
            </a:r>
            <a:r>
              <a:rPr sz="2700" b="1" spc="-195" dirty="0">
                <a:latin typeface="Arial"/>
                <a:cs typeface="Arial"/>
              </a:rPr>
              <a:t> </a:t>
            </a:r>
            <a:r>
              <a:rPr sz="2700" b="1" spc="-120" dirty="0">
                <a:latin typeface="Arial"/>
                <a:cs typeface="Arial"/>
              </a:rPr>
              <a:t>Driven</a:t>
            </a:r>
            <a:r>
              <a:rPr sz="2700" b="1" spc="-150" dirty="0">
                <a:latin typeface="Arial"/>
                <a:cs typeface="Arial"/>
              </a:rPr>
              <a:t> </a:t>
            </a:r>
            <a:r>
              <a:rPr sz="2700" b="1" spc="-98" dirty="0">
                <a:latin typeface="Arial"/>
                <a:cs typeface="Arial"/>
              </a:rPr>
              <a:t>Development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17519" y="3058858"/>
            <a:ext cx="6623685" cy="3485198"/>
            <a:chOff x="78346" y="705738"/>
            <a:chExt cx="4415790" cy="23234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4900" y="2305557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346" y="705738"/>
              <a:ext cx="4353560" cy="173266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8909" y="1368221"/>
              <a:ext cx="1784731" cy="94228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346" y="1565566"/>
              <a:ext cx="1505966" cy="57730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78510" y="2276476"/>
            <a:ext cx="1890713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2700" b="1" spc="-120" dirty="0">
                <a:solidFill>
                  <a:srgbClr val="006FC0"/>
                </a:solidFill>
                <a:latin typeface="Arial"/>
                <a:cs typeface="Arial"/>
              </a:rPr>
              <a:t>Agile</a:t>
            </a:r>
            <a:r>
              <a:rPr sz="2700" b="1" spc="-127" dirty="0">
                <a:solidFill>
                  <a:srgbClr val="006FC0"/>
                </a:solidFill>
                <a:latin typeface="Arial"/>
                <a:cs typeface="Arial"/>
              </a:rPr>
              <a:t> </a:t>
            </a:r>
            <a:r>
              <a:rPr sz="2700" b="1" spc="-113" dirty="0">
                <a:solidFill>
                  <a:srgbClr val="006FC0"/>
                </a:solidFill>
                <a:latin typeface="Arial"/>
                <a:cs typeface="Arial"/>
              </a:rPr>
              <a:t>Teams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25652" y="3139820"/>
            <a:ext cx="4974906" cy="3810000"/>
            <a:chOff x="683768" y="759713"/>
            <a:chExt cx="3316604" cy="2540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768" y="759713"/>
              <a:ext cx="3316351" cy="14888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1100" y="2307170"/>
              <a:ext cx="2458974" cy="99241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21360" y="2183702"/>
            <a:ext cx="3348990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2700" b="1" spc="-105" dirty="0">
                <a:latin typeface="Arial"/>
                <a:cs typeface="Arial"/>
              </a:rPr>
              <a:t>From</a:t>
            </a:r>
            <a:r>
              <a:rPr sz="2700" b="1" spc="-306" dirty="0">
                <a:latin typeface="Arial"/>
                <a:cs typeface="Arial"/>
              </a:rPr>
              <a:t> </a:t>
            </a:r>
            <a:r>
              <a:rPr sz="2700" b="1" spc="-120" dirty="0">
                <a:latin typeface="Arial"/>
                <a:cs typeface="Arial"/>
              </a:rPr>
              <a:t>Agile</a:t>
            </a:r>
            <a:r>
              <a:rPr sz="2700" b="1" spc="-135" dirty="0">
                <a:latin typeface="Arial"/>
                <a:cs typeface="Arial"/>
              </a:rPr>
              <a:t> </a:t>
            </a:r>
            <a:r>
              <a:rPr sz="2700" b="1" spc="-83" dirty="0">
                <a:latin typeface="Arial"/>
                <a:cs typeface="Arial"/>
              </a:rPr>
              <a:t>to</a:t>
            </a:r>
            <a:r>
              <a:rPr sz="2700" b="1" spc="-188" dirty="0">
                <a:latin typeface="Arial"/>
                <a:cs typeface="Arial"/>
              </a:rPr>
              <a:t> </a:t>
            </a:r>
            <a:r>
              <a:rPr sz="2700" b="1" spc="-75" dirty="0">
                <a:latin typeface="Arial"/>
                <a:cs typeface="Arial"/>
              </a:rPr>
              <a:t>DevOps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4798" y="3261549"/>
            <a:ext cx="6568440" cy="3476625"/>
            <a:chOff x="96532" y="840866"/>
            <a:chExt cx="4378960" cy="23177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70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8452" y="840866"/>
              <a:ext cx="3196463" cy="140703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532" y="2400299"/>
              <a:ext cx="4378960" cy="75778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10883" y="2390775"/>
            <a:ext cx="229553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2700" b="1" spc="-75" dirty="0">
                <a:latin typeface="Arial"/>
                <a:cs typeface="Arial"/>
              </a:rPr>
              <a:t>c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8510" y="2275141"/>
            <a:ext cx="3348990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2700" b="1" spc="-105" dirty="0">
                <a:latin typeface="Arial"/>
                <a:cs typeface="Arial"/>
              </a:rPr>
              <a:t>From</a:t>
            </a:r>
            <a:r>
              <a:rPr sz="2700" b="1" spc="-306" dirty="0">
                <a:latin typeface="Arial"/>
                <a:cs typeface="Arial"/>
              </a:rPr>
              <a:t> </a:t>
            </a:r>
            <a:r>
              <a:rPr sz="2700" b="1" spc="-120" dirty="0">
                <a:latin typeface="Arial"/>
                <a:cs typeface="Arial"/>
              </a:rPr>
              <a:t>Agile</a:t>
            </a:r>
            <a:r>
              <a:rPr sz="2700" b="1" spc="-135" dirty="0">
                <a:latin typeface="Arial"/>
                <a:cs typeface="Arial"/>
              </a:rPr>
              <a:t> </a:t>
            </a:r>
            <a:r>
              <a:rPr sz="2700" b="1" spc="-83" dirty="0">
                <a:latin typeface="Arial"/>
                <a:cs typeface="Arial"/>
              </a:rPr>
              <a:t>to</a:t>
            </a:r>
            <a:r>
              <a:rPr sz="2700" b="1" spc="-188" dirty="0">
                <a:latin typeface="Arial"/>
                <a:cs typeface="Arial"/>
              </a:rPr>
              <a:t> </a:t>
            </a:r>
            <a:r>
              <a:rPr sz="2700" b="1" spc="-75" dirty="0">
                <a:latin typeface="Arial"/>
                <a:cs typeface="Arial"/>
              </a:rPr>
              <a:t>DevOps</a:t>
            </a:r>
            <a:endParaRPr sz="27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9160" y="3457166"/>
            <a:ext cx="6080786" cy="2001066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63217" y="3372611"/>
            <a:ext cx="4637723" cy="3110865"/>
            <a:chOff x="908811" y="914907"/>
            <a:chExt cx="3091815" cy="20739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8811" y="914907"/>
              <a:ext cx="2754249" cy="207352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35661" y="2215249"/>
            <a:ext cx="2903220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2700" b="1" spc="-113" dirty="0">
                <a:latin typeface="Arial"/>
                <a:cs typeface="Arial"/>
              </a:rPr>
              <a:t>Component</a:t>
            </a:r>
            <a:r>
              <a:rPr sz="2700" b="1" spc="-143" dirty="0">
                <a:latin typeface="Arial"/>
                <a:cs typeface="Arial"/>
              </a:rPr>
              <a:t> </a:t>
            </a:r>
            <a:r>
              <a:rPr sz="2700" b="1" spc="-113" dirty="0">
                <a:latin typeface="Arial"/>
                <a:cs typeface="Arial"/>
              </a:rPr>
              <a:t>Teams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92621" y="3098863"/>
            <a:ext cx="5907405" cy="3588068"/>
            <a:chOff x="261747" y="732408"/>
            <a:chExt cx="3938270" cy="23920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1747" y="732408"/>
              <a:ext cx="3937762" cy="239179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78510" y="2103691"/>
            <a:ext cx="3348990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2700" b="1" spc="-105" dirty="0">
                <a:latin typeface="Arial"/>
                <a:cs typeface="Arial"/>
              </a:rPr>
              <a:t>From</a:t>
            </a:r>
            <a:r>
              <a:rPr sz="2700" b="1" spc="-306" dirty="0">
                <a:latin typeface="Arial"/>
                <a:cs typeface="Arial"/>
              </a:rPr>
              <a:t> </a:t>
            </a:r>
            <a:r>
              <a:rPr sz="2700" b="1" spc="-120" dirty="0">
                <a:latin typeface="Arial"/>
                <a:cs typeface="Arial"/>
              </a:rPr>
              <a:t>Agile</a:t>
            </a:r>
            <a:r>
              <a:rPr sz="2700" b="1" spc="-135" dirty="0">
                <a:latin typeface="Arial"/>
                <a:cs typeface="Arial"/>
              </a:rPr>
              <a:t> </a:t>
            </a:r>
            <a:r>
              <a:rPr sz="2700" b="1" spc="-83" dirty="0">
                <a:latin typeface="Arial"/>
                <a:cs typeface="Arial"/>
              </a:rPr>
              <a:t>to</a:t>
            </a:r>
            <a:r>
              <a:rPr sz="2700" b="1" spc="-188" dirty="0">
                <a:latin typeface="Arial"/>
                <a:cs typeface="Arial"/>
              </a:rPr>
              <a:t> </a:t>
            </a:r>
            <a:r>
              <a:rPr sz="2700" b="1" spc="-75" dirty="0">
                <a:latin typeface="Arial"/>
                <a:cs typeface="Arial"/>
              </a:rPr>
              <a:t>DevOps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09563" y="3124656"/>
            <a:ext cx="6238875" cy="3539490"/>
            <a:chOff x="206375" y="749604"/>
            <a:chExt cx="4159250" cy="23596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6375" y="749604"/>
              <a:ext cx="4159250" cy="235966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78510" y="2105026"/>
            <a:ext cx="3348990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2700" b="1" spc="-105" dirty="0">
                <a:latin typeface="Arial"/>
                <a:cs typeface="Arial"/>
              </a:rPr>
              <a:t>From</a:t>
            </a:r>
            <a:r>
              <a:rPr sz="2700" b="1" spc="-306" dirty="0">
                <a:latin typeface="Arial"/>
                <a:cs typeface="Arial"/>
              </a:rPr>
              <a:t> </a:t>
            </a:r>
            <a:r>
              <a:rPr sz="2700" b="1" spc="-120" dirty="0">
                <a:latin typeface="Arial"/>
                <a:cs typeface="Arial"/>
              </a:rPr>
              <a:t>Agile</a:t>
            </a:r>
            <a:r>
              <a:rPr sz="2700" b="1" spc="-135" dirty="0">
                <a:latin typeface="Arial"/>
                <a:cs typeface="Arial"/>
              </a:rPr>
              <a:t> </a:t>
            </a:r>
            <a:r>
              <a:rPr sz="2700" b="1" spc="-83" dirty="0">
                <a:latin typeface="Arial"/>
                <a:cs typeface="Arial"/>
              </a:rPr>
              <a:t>to</a:t>
            </a:r>
            <a:r>
              <a:rPr sz="2700" b="1" spc="-188" dirty="0">
                <a:latin typeface="Arial"/>
                <a:cs typeface="Arial"/>
              </a:rPr>
              <a:t> </a:t>
            </a:r>
            <a:r>
              <a:rPr sz="2700" b="1" spc="-75" dirty="0">
                <a:latin typeface="Arial"/>
                <a:cs typeface="Arial"/>
              </a:rPr>
              <a:t>DevOps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2950" y="3094672"/>
            <a:ext cx="5257800" cy="3763328"/>
            <a:chOff x="495300" y="729614"/>
            <a:chExt cx="3505200" cy="25088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300" y="729614"/>
              <a:ext cx="3473196" cy="250888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48090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35255">
              <a:spcBef>
                <a:spcPts val="150"/>
              </a:spcBef>
            </a:pPr>
            <a:r>
              <a:rPr sz="3000" spc="-105" dirty="0"/>
              <a:t>Infra</a:t>
            </a:r>
            <a:r>
              <a:rPr sz="3000" spc="-195" dirty="0"/>
              <a:t> </a:t>
            </a:r>
            <a:r>
              <a:rPr sz="3000" spc="-90" dirty="0"/>
              <a:t>evolution</a:t>
            </a:r>
            <a:endParaRPr sz="300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1944" y="2000250"/>
            <a:ext cx="6296025" cy="4686300"/>
            <a:chOff x="214629" y="0"/>
            <a:chExt cx="4197350" cy="3124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629" y="337311"/>
              <a:ext cx="3845941" cy="278688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39890" y="3428999"/>
            <a:ext cx="5401628" cy="3128963"/>
            <a:chOff x="426593" y="952499"/>
            <a:chExt cx="3601085" cy="20859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70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593" y="952499"/>
              <a:ext cx="3600957" cy="208597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78510" y="2275141"/>
            <a:ext cx="103155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2700" b="1" spc="-83" dirty="0">
                <a:latin typeface="Arial"/>
                <a:cs typeface="Arial"/>
              </a:rPr>
              <a:t>Squad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8804" y="4927662"/>
            <a:ext cx="4131374" cy="108470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8510" y="2276476"/>
            <a:ext cx="103155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2700" spc="-83" dirty="0"/>
              <a:t>Squad</a:t>
            </a:r>
            <a:endParaRPr sz="2700"/>
          </a:p>
        </p:txBody>
      </p:sp>
      <p:sp>
        <p:nvSpPr>
          <p:cNvPr id="5" name="object 5"/>
          <p:cNvSpPr txBox="1"/>
          <p:nvPr/>
        </p:nvSpPr>
        <p:spPr>
          <a:xfrm>
            <a:off x="278510" y="3206114"/>
            <a:ext cx="6229350" cy="3019096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231458" indent="-212408" defTabSz="1371600">
              <a:spcBef>
                <a:spcPts val="143"/>
              </a:spcBef>
              <a:buFont typeface="Arial MT"/>
              <a:buChar char="•"/>
              <a:tabLst>
                <a:tab pos="231458" algn="l"/>
              </a:tabLst>
            </a:pPr>
            <a:r>
              <a:rPr sz="1500" dirty="0">
                <a:latin typeface="Calibri"/>
                <a:cs typeface="Calibri"/>
              </a:rPr>
              <a:t>A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Squad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similar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Scrum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team.</a:t>
            </a:r>
            <a:endParaRPr sz="1500">
              <a:latin typeface="Calibri"/>
              <a:cs typeface="Calibri"/>
            </a:endParaRPr>
          </a:p>
          <a:p>
            <a:pPr marL="230505" marR="394335" indent="-212408" defTabSz="1371600">
              <a:buFont typeface="Arial MT"/>
              <a:buChar char="•"/>
              <a:tabLst>
                <a:tab pos="233363" algn="l"/>
              </a:tabLst>
            </a:pPr>
            <a:r>
              <a:rPr sz="1500" dirty="0">
                <a:latin typeface="Calibri"/>
                <a:cs typeface="Calibri"/>
              </a:rPr>
              <a:t>They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sit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together,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they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have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all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skills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tools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needed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design, 	</a:t>
            </a:r>
            <a:r>
              <a:rPr sz="1500" dirty="0">
                <a:latin typeface="Calibri"/>
                <a:cs typeface="Calibri"/>
              </a:rPr>
              <a:t>develop,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test,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release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6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production.</a:t>
            </a:r>
            <a:endParaRPr sz="1500">
              <a:latin typeface="Calibri"/>
              <a:cs typeface="Calibri"/>
            </a:endParaRPr>
          </a:p>
          <a:p>
            <a:pPr marL="230505" marR="69533" indent="-212408" defTabSz="1371600">
              <a:buFont typeface="Arial MT"/>
              <a:buChar char="•"/>
              <a:tabLst>
                <a:tab pos="233363" algn="l"/>
              </a:tabLst>
            </a:pPr>
            <a:r>
              <a:rPr sz="1500" dirty="0">
                <a:latin typeface="Calibri"/>
                <a:cs typeface="Calibri"/>
              </a:rPr>
              <a:t>They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self-organizing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team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decide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their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own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way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working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–</a:t>
            </a:r>
            <a:r>
              <a:rPr sz="1500" spc="-30" dirty="0">
                <a:latin typeface="Calibri"/>
                <a:cs typeface="Calibri"/>
              </a:rPr>
              <a:t> some 	</a:t>
            </a:r>
            <a:r>
              <a:rPr sz="1500" dirty="0">
                <a:latin typeface="Calibri"/>
                <a:cs typeface="Calibri"/>
              </a:rPr>
              <a:t>use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Scrum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sprints,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some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Kanban,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some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mix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these</a:t>
            </a:r>
            <a:r>
              <a:rPr sz="1500" spc="-15" dirty="0">
                <a:latin typeface="Calibri"/>
                <a:cs typeface="Calibri"/>
              </a:rPr>
              <a:t> approaches.</a:t>
            </a:r>
            <a:endParaRPr sz="1500">
              <a:latin typeface="Calibri"/>
              <a:cs typeface="Calibri"/>
            </a:endParaRPr>
          </a:p>
          <a:p>
            <a:pPr marL="230505" marR="131445" indent="-212408" defTabSz="1371600">
              <a:buFont typeface="Arial MT"/>
              <a:buChar char="•"/>
              <a:tabLst>
                <a:tab pos="233363" algn="l"/>
              </a:tabLst>
            </a:pPr>
            <a:r>
              <a:rPr sz="1500" dirty="0">
                <a:latin typeface="Calibri"/>
                <a:cs typeface="Calibri"/>
              </a:rPr>
              <a:t>A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tribe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collection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squads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work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related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areas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–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such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8" dirty="0">
                <a:latin typeface="Calibri"/>
                <a:cs typeface="Calibri"/>
              </a:rPr>
              <a:t> web</a:t>
            </a:r>
            <a:r>
              <a:rPr sz="1500" dirty="0">
                <a:latin typeface="Calibri"/>
                <a:cs typeface="Calibri"/>
              </a:rPr>
              <a:t> 	application,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support,</a:t>
            </a:r>
            <a:r>
              <a:rPr sz="1500" spc="-6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backend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infrastructure.</a:t>
            </a:r>
            <a:endParaRPr sz="1500">
              <a:latin typeface="Calibri"/>
              <a:cs typeface="Calibri"/>
            </a:endParaRPr>
          </a:p>
          <a:p>
            <a:pPr marL="230505" marR="241935" indent="-212408" defTabSz="1371600">
              <a:buFont typeface="Arial MT"/>
              <a:buChar char="•"/>
              <a:tabLst>
                <a:tab pos="233363" algn="l"/>
              </a:tabLst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chapter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your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small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family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people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having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similar skills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working 	</a:t>
            </a:r>
            <a:r>
              <a:rPr sz="1500" dirty="0">
                <a:latin typeface="Calibri"/>
                <a:cs typeface="Calibri"/>
              </a:rPr>
              <a:t>within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same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general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competency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area,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within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same</a:t>
            </a:r>
            <a:r>
              <a:rPr sz="1500" spc="-15" dirty="0">
                <a:latin typeface="Calibri"/>
                <a:cs typeface="Calibri"/>
              </a:rPr>
              <a:t> tribe.</a:t>
            </a:r>
            <a:endParaRPr sz="1500">
              <a:latin typeface="Calibri"/>
              <a:cs typeface="Calibri"/>
            </a:endParaRPr>
          </a:p>
          <a:p>
            <a:pPr marL="230505" marR="7620" indent="-212408" defTabSz="1371600">
              <a:buFont typeface="Arial MT"/>
              <a:buChar char="•"/>
              <a:tabLst>
                <a:tab pos="233363" algn="l"/>
              </a:tabLst>
            </a:pPr>
            <a:r>
              <a:rPr sz="1500" dirty="0">
                <a:latin typeface="Calibri"/>
                <a:cs typeface="Calibri"/>
              </a:rPr>
              <a:t>A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Guild is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more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organic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wide-</a:t>
            </a:r>
            <a:r>
              <a:rPr sz="1500" dirty="0">
                <a:latin typeface="Calibri"/>
                <a:cs typeface="Calibri"/>
              </a:rPr>
              <a:t>reaching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“community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interest”,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group 	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people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want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share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knowledge,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tools,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code,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practices.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Chapters 	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always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local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Tribe, </a:t>
            </a:r>
            <a:r>
              <a:rPr sz="1500" dirty="0">
                <a:latin typeface="Calibri"/>
                <a:cs typeface="Calibri"/>
              </a:rPr>
              <a:t>while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guild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usually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cuts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across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whole 	organization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14351" y="3314699"/>
            <a:ext cx="6055043" cy="3086100"/>
            <a:chOff x="342900" y="876299"/>
            <a:chExt cx="4036695" cy="2057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900" y="876299"/>
              <a:ext cx="4036567" cy="20574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88046"/>
          </a:xfrm>
          <a:prstGeom prst="rect">
            <a:avLst/>
          </a:prstGeom>
        </p:spPr>
        <p:txBody>
          <a:bodyPr vert="horz" wrap="square" lIns="0" tIns="170879" rIns="0" bIns="0" rtlCol="0">
            <a:spAutoFit/>
          </a:bodyPr>
          <a:lstStyle/>
          <a:p>
            <a:pPr>
              <a:spcBef>
                <a:spcPts val="150"/>
              </a:spcBef>
            </a:pPr>
            <a:r>
              <a:rPr sz="2700" spc="-105" dirty="0"/>
              <a:t>DevOps</a:t>
            </a:r>
            <a:r>
              <a:rPr sz="2700" spc="-188" dirty="0"/>
              <a:t> </a:t>
            </a:r>
            <a:r>
              <a:rPr sz="2700" dirty="0"/>
              <a:t>–</a:t>
            </a:r>
            <a:r>
              <a:rPr sz="2700" spc="-240" dirty="0"/>
              <a:t> </a:t>
            </a:r>
            <a:r>
              <a:rPr sz="2700" spc="-90" dirty="0"/>
              <a:t>Roles</a:t>
            </a:r>
            <a:r>
              <a:rPr sz="2700" spc="-240" dirty="0"/>
              <a:t> </a:t>
            </a:r>
            <a:r>
              <a:rPr sz="2700" dirty="0"/>
              <a:t>&amp;</a:t>
            </a:r>
            <a:r>
              <a:rPr sz="2700" spc="-240" dirty="0"/>
              <a:t> </a:t>
            </a:r>
            <a:r>
              <a:rPr sz="2700" spc="-105" dirty="0"/>
              <a:t>Responsibilities</a:t>
            </a:r>
            <a:endParaRPr sz="270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481863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53353">
              <a:spcBef>
                <a:spcPts val="158"/>
              </a:spcBef>
            </a:pPr>
            <a:r>
              <a:rPr sz="3000" dirty="0">
                <a:latin typeface="Calibri"/>
                <a:cs typeface="Calibri"/>
              </a:rPr>
              <a:t>DevOps–</a:t>
            </a:r>
            <a:r>
              <a:rPr sz="3000" spc="-38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People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9269" y="3304222"/>
            <a:ext cx="579120" cy="644843"/>
            <a:chOff x="172846" y="869314"/>
            <a:chExt cx="386080" cy="4298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869314"/>
              <a:ext cx="256031" cy="1478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1015618"/>
              <a:ext cx="256031" cy="14782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962" y="1174114"/>
              <a:ext cx="219456" cy="124968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8445" y="4159566"/>
            <a:ext cx="329184" cy="187452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59269" y="4534471"/>
            <a:ext cx="579120" cy="615314"/>
            <a:chOff x="172846" y="1689480"/>
            <a:chExt cx="386080" cy="410209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1689480"/>
              <a:ext cx="256031" cy="14782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962" y="1843404"/>
              <a:ext cx="219456" cy="12496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962" y="1974468"/>
              <a:ext cx="219456" cy="12496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40219" y="3061144"/>
            <a:ext cx="6000750" cy="3105978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9050" defTabSz="1371600">
              <a:lnSpc>
                <a:spcPts val="1718"/>
              </a:lnSpc>
              <a:spcBef>
                <a:spcPts val="180"/>
              </a:spcBef>
            </a:pPr>
            <a:r>
              <a:rPr sz="1500" spc="-45" dirty="0">
                <a:solidFill>
                  <a:srgbClr val="006FBE"/>
                </a:solidFill>
                <a:latin typeface="Calibri"/>
                <a:cs typeface="Calibri"/>
              </a:rPr>
              <a:t>Key </a:t>
            </a:r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competencies</a:t>
            </a:r>
            <a:r>
              <a:rPr sz="1500" spc="135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to</a:t>
            </a:r>
            <a:r>
              <a:rPr sz="1500" spc="113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006FBE"/>
                </a:solidFill>
                <a:latin typeface="Calibri"/>
                <a:cs typeface="Calibri"/>
              </a:rPr>
              <a:t>succeed</a:t>
            </a:r>
            <a:endParaRPr sz="1500">
              <a:latin typeface="Calibri"/>
              <a:cs typeface="Calibri"/>
            </a:endParaRPr>
          </a:p>
          <a:p>
            <a:pPr marL="267653" marR="700088" defTabSz="1371600">
              <a:lnSpc>
                <a:spcPts val="1725"/>
              </a:lnSpc>
              <a:spcBef>
                <a:spcPts val="38"/>
              </a:spcBef>
            </a:pPr>
            <a:r>
              <a:rPr sz="1500" spc="-30" dirty="0">
                <a:latin typeface="Calibri"/>
                <a:cs typeface="Calibri"/>
              </a:rPr>
              <a:t>Culture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–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Shared</a:t>
            </a:r>
            <a:r>
              <a:rPr sz="1500" spc="-6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organizational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assumptions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resolve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problems Leadership</a:t>
            </a:r>
            <a:endParaRPr sz="1500">
              <a:latin typeface="Calibri"/>
              <a:cs typeface="Calibri"/>
            </a:endParaRPr>
          </a:p>
          <a:p>
            <a:pPr marL="517208" marR="260033" defTabSz="1371600">
              <a:lnSpc>
                <a:spcPts val="1590"/>
              </a:lnSpc>
              <a:spcBef>
                <a:spcPts val="45"/>
              </a:spcBef>
            </a:pPr>
            <a:r>
              <a:rPr sz="1275" dirty="0">
                <a:latin typeface="Calibri"/>
                <a:cs typeface="Calibri"/>
              </a:rPr>
              <a:t>visioning,</a:t>
            </a:r>
            <a:r>
              <a:rPr sz="1275" spc="8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strategic</a:t>
            </a:r>
            <a:r>
              <a:rPr sz="1275" spc="8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management,</a:t>
            </a:r>
            <a:r>
              <a:rPr sz="1275" spc="30" dirty="0">
                <a:latin typeface="Calibri"/>
                <a:cs typeface="Calibri"/>
              </a:rPr>
              <a:t> </a:t>
            </a:r>
            <a:r>
              <a:rPr sz="1275" spc="-30" dirty="0">
                <a:latin typeface="Calibri"/>
                <a:cs typeface="Calibri"/>
              </a:rPr>
              <a:t>flexibility,</a:t>
            </a:r>
            <a:r>
              <a:rPr sz="1275" spc="68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and</a:t>
            </a:r>
            <a:r>
              <a:rPr sz="1275" spc="30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the</a:t>
            </a:r>
            <a:r>
              <a:rPr sz="1275" spc="60" dirty="0">
                <a:latin typeface="Calibri"/>
                <a:cs typeface="Calibri"/>
              </a:rPr>
              <a:t> </a:t>
            </a:r>
            <a:r>
              <a:rPr sz="1275" spc="-30" dirty="0">
                <a:latin typeface="Calibri"/>
                <a:cs typeface="Calibri"/>
              </a:rPr>
              <a:t>ability</a:t>
            </a:r>
            <a:r>
              <a:rPr sz="1275" spc="-15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to</a:t>
            </a:r>
            <a:r>
              <a:rPr sz="1275" spc="60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inspire</a:t>
            </a:r>
            <a:r>
              <a:rPr sz="1275" spc="15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others</a:t>
            </a:r>
            <a:r>
              <a:rPr sz="1275" spc="344" dirty="0">
                <a:latin typeface="Calibri"/>
                <a:cs typeface="Calibri"/>
              </a:rPr>
              <a:t> </a:t>
            </a:r>
            <a:r>
              <a:rPr sz="1275" spc="-38" dirty="0">
                <a:latin typeface="Calibri"/>
                <a:cs typeface="Calibri"/>
              </a:rPr>
              <a:t>to</a:t>
            </a:r>
            <a:r>
              <a:rPr sz="1275" spc="750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innovate</a:t>
            </a:r>
            <a:r>
              <a:rPr sz="1275" spc="-68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and</a:t>
            </a:r>
            <a:r>
              <a:rPr sz="1275" spc="-8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perform</a:t>
            </a:r>
            <a:endParaRPr sz="1275">
              <a:latin typeface="Calibri"/>
              <a:cs typeface="Calibri"/>
            </a:endParaRPr>
          </a:p>
          <a:p>
            <a:pPr marL="517208" marR="443865" defTabSz="1371600">
              <a:lnSpc>
                <a:spcPts val="1500"/>
              </a:lnSpc>
              <a:spcBef>
                <a:spcPts val="23"/>
              </a:spcBef>
            </a:pPr>
            <a:r>
              <a:rPr sz="1275" spc="-15" dirty="0">
                <a:latin typeface="Calibri"/>
                <a:cs typeface="Calibri"/>
              </a:rPr>
              <a:t>individuals</a:t>
            </a:r>
            <a:r>
              <a:rPr sz="1275" spc="-8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with</a:t>
            </a:r>
            <a:r>
              <a:rPr sz="1275" spc="-8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advanced</a:t>
            </a:r>
            <a:r>
              <a:rPr sz="1275" dirty="0">
                <a:latin typeface="Calibri"/>
                <a:cs typeface="Calibri"/>
              </a:rPr>
              <a:t> communications</a:t>
            </a:r>
            <a:r>
              <a:rPr sz="1275" spc="53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skills,</a:t>
            </a:r>
            <a:r>
              <a:rPr sz="1275" spc="98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the</a:t>
            </a:r>
            <a:r>
              <a:rPr sz="1275" spc="53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knowledge</a:t>
            </a:r>
            <a:r>
              <a:rPr sz="1275" spc="53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of</a:t>
            </a:r>
            <a:r>
              <a:rPr sz="1275" spc="323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diverse</a:t>
            </a:r>
            <a:r>
              <a:rPr sz="1275" spc="750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cultures, and</a:t>
            </a:r>
            <a:r>
              <a:rPr sz="1275" spc="8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people</a:t>
            </a:r>
            <a:r>
              <a:rPr sz="1275" spc="30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who</a:t>
            </a:r>
            <a:r>
              <a:rPr sz="1275" spc="23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behave</a:t>
            </a:r>
            <a:r>
              <a:rPr sz="1275" spc="-30" dirty="0">
                <a:latin typeface="Calibri"/>
                <a:cs typeface="Calibri"/>
              </a:rPr>
              <a:t> collaboratively</a:t>
            </a:r>
            <a:r>
              <a:rPr sz="1275" dirty="0">
                <a:latin typeface="Calibri"/>
                <a:cs typeface="Calibri"/>
              </a:rPr>
              <a:t> when</a:t>
            </a:r>
            <a:r>
              <a:rPr sz="1275" spc="45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working</a:t>
            </a:r>
            <a:r>
              <a:rPr sz="1275" spc="38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in</a:t>
            </a:r>
            <a:r>
              <a:rPr sz="1275" spc="83" dirty="0">
                <a:latin typeface="Calibri"/>
                <a:cs typeface="Calibri"/>
              </a:rPr>
              <a:t> </a:t>
            </a:r>
            <a:r>
              <a:rPr sz="1275" spc="-30" dirty="0">
                <a:latin typeface="Calibri"/>
                <a:cs typeface="Calibri"/>
              </a:rPr>
              <a:t>teams</a:t>
            </a:r>
            <a:endParaRPr sz="1275">
              <a:latin typeface="Calibri"/>
              <a:cs typeface="Calibri"/>
            </a:endParaRPr>
          </a:p>
          <a:p>
            <a:pPr marL="267653" defTabSz="1371600">
              <a:lnSpc>
                <a:spcPts val="1665"/>
              </a:lnSpc>
            </a:pPr>
            <a:r>
              <a:rPr sz="1500" spc="-15" dirty="0">
                <a:latin typeface="Calibri"/>
                <a:cs typeface="Calibri"/>
              </a:rPr>
              <a:t>Resource/management</a:t>
            </a:r>
            <a:endParaRPr sz="1500">
              <a:latin typeface="Calibri"/>
              <a:cs typeface="Calibri"/>
            </a:endParaRPr>
          </a:p>
          <a:p>
            <a:pPr marL="517208" defTabSz="1371600">
              <a:spcBef>
                <a:spcPts val="30"/>
              </a:spcBef>
            </a:pPr>
            <a:r>
              <a:rPr sz="1275" spc="-15" dirty="0">
                <a:latin typeface="Calibri"/>
                <a:cs typeface="Calibri"/>
              </a:rPr>
              <a:t>effective</a:t>
            </a:r>
            <a:r>
              <a:rPr sz="1275" spc="68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management</a:t>
            </a:r>
            <a:r>
              <a:rPr sz="1275" spc="83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of</a:t>
            </a:r>
            <a:r>
              <a:rPr sz="1275" spc="68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availableresources</a:t>
            </a:r>
            <a:endParaRPr sz="1275">
              <a:latin typeface="Calibri"/>
              <a:cs typeface="Calibri"/>
            </a:endParaRPr>
          </a:p>
          <a:p>
            <a:pPr marL="517208" marR="812483" defTabSz="1371600">
              <a:lnSpc>
                <a:spcPts val="1575"/>
              </a:lnSpc>
              <a:spcBef>
                <a:spcPts val="30"/>
              </a:spcBef>
            </a:pPr>
            <a:r>
              <a:rPr sz="1275" spc="-15" dirty="0">
                <a:latin typeface="Calibri"/>
                <a:cs typeface="Calibri"/>
              </a:rPr>
              <a:t>collaboration</a:t>
            </a:r>
            <a:r>
              <a:rPr sz="1275" spc="-45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across</a:t>
            </a:r>
            <a:r>
              <a:rPr sz="1275" spc="68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multi-</a:t>
            </a:r>
            <a:r>
              <a:rPr sz="1275" spc="-15" dirty="0">
                <a:latin typeface="Calibri"/>
                <a:cs typeface="Calibri"/>
              </a:rPr>
              <a:t>functional</a:t>
            </a:r>
            <a:r>
              <a:rPr sz="1275" spc="8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teams</a:t>
            </a:r>
            <a:r>
              <a:rPr sz="1275" spc="23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is</a:t>
            </a:r>
            <a:r>
              <a:rPr sz="1275" spc="68" dirty="0">
                <a:latin typeface="Calibri"/>
                <a:cs typeface="Calibri"/>
              </a:rPr>
              <a:t> </a:t>
            </a:r>
            <a:r>
              <a:rPr sz="1275" spc="-30" dirty="0">
                <a:latin typeface="Calibri"/>
                <a:cs typeface="Calibri"/>
              </a:rPr>
              <a:t>at</a:t>
            </a:r>
            <a:r>
              <a:rPr sz="1275" spc="-15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the</a:t>
            </a:r>
            <a:r>
              <a:rPr sz="1275" spc="38" dirty="0">
                <a:latin typeface="Calibri"/>
                <a:cs typeface="Calibri"/>
              </a:rPr>
              <a:t> </a:t>
            </a:r>
            <a:r>
              <a:rPr sz="1275" spc="-30" dirty="0">
                <a:latin typeface="Calibri"/>
                <a:cs typeface="Calibri"/>
              </a:rPr>
              <a:t>heart </a:t>
            </a:r>
            <a:r>
              <a:rPr sz="1275" dirty="0">
                <a:latin typeface="Calibri"/>
                <a:cs typeface="Calibri"/>
              </a:rPr>
              <a:t>of</a:t>
            </a:r>
            <a:r>
              <a:rPr sz="1275" spc="338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DevOps,</a:t>
            </a:r>
            <a:r>
              <a:rPr sz="1275" spc="750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delivering</a:t>
            </a:r>
            <a:r>
              <a:rPr sz="1275" dirty="0">
                <a:latin typeface="Calibri"/>
                <a:cs typeface="Calibri"/>
              </a:rPr>
              <a:t> an</a:t>
            </a:r>
            <a:r>
              <a:rPr sz="1275" spc="-38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accountable</a:t>
            </a:r>
            <a:r>
              <a:rPr sz="1275" spc="90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business</a:t>
            </a:r>
            <a:r>
              <a:rPr sz="1275" spc="75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outcome</a:t>
            </a:r>
            <a:endParaRPr sz="1275">
              <a:latin typeface="Calibri"/>
              <a:cs typeface="Calibri"/>
            </a:endParaRPr>
          </a:p>
          <a:p>
            <a:pPr marL="267653" defTabSz="1371600">
              <a:lnSpc>
                <a:spcPts val="1500"/>
              </a:lnSpc>
            </a:pPr>
            <a:r>
              <a:rPr sz="1425" spc="-30" dirty="0">
                <a:latin typeface="Calibri"/>
                <a:cs typeface="Calibri"/>
              </a:rPr>
              <a:t>Subject </a:t>
            </a:r>
            <a:r>
              <a:rPr sz="1425" spc="-45" dirty="0">
                <a:latin typeface="Calibri"/>
                <a:cs typeface="Calibri"/>
              </a:rPr>
              <a:t>matter</a:t>
            </a:r>
            <a:r>
              <a:rPr sz="1425" spc="23" dirty="0">
                <a:latin typeface="Calibri"/>
                <a:cs typeface="Calibri"/>
              </a:rPr>
              <a:t> </a:t>
            </a:r>
            <a:r>
              <a:rPr sz="1425" spc="-15" dirty="0">
                <a:latin typeface="Calibri"/>
                <a:cs typeface="Calibri"/>
              </a:rPr>
              <a:t>experts</a:t>
            </a:r>
            <a:r>
              <a:rPr sz="1425" spc="8" dirty="0">
                <a:latin typeface="Calibri"/>
                <a:cs typeface="Calibri"/>
              </a:rPr>
              <a:t> </a:t>
            </a:r>
            <a:r>
              <a:rPr sz="1425" spc="-45" dirty="0">
                <a:latin typeface="Calibri"/>
                <a:cs typeface="Calibri"/>
              </a:rPr>
              <a:t>(SME’s)</a:t>
            </a:r>
            <a:r>
              <a:rPr sz="1425" spc="-15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in</a:t>
            </a:r>
            <a:r>
              <a:rPr sz="1425" spc="8" dirty="0">
                <a:latin typeface="Calibri"/>
                <a:cs typeface="Calibri"/>
              </a:rPr>
              <a:t> </a:t>
            </a:r>
            <a:r>
              <a:rPr sz="1425" spc="-38" dirty="0">
                <a:latin typeface="Calibri"/>
                <a:cs typeface="Calibri"/>
              </a:rPr>
              <a:t>different</a:t>
            </a:r>
            <a:r>
              <a:rPr sz="1425" spc="-15" dirty="0">
                <a:latin typeface="Calibri"/>
                <a:cs typeface="Calibri"/>
              </a:rPr>
              <a:t> </a:t>
            </a:r>
            <a:r>
              <a:rPr sz="1425" spc="-38" dirty="0">
                <a:latin typeface="Calibri"/>
                <a:cs typeface="Calibri"/>
              </a:rPr>
              <a:t>areas</a:t>
            </a:r>
            <a:r>
              <a:rPr sz="1425" spc="-68" dirty="0">
                <a:latin typeface="Calibri"/>
                <a:cs typeface="Calibri"/>
              </a:rPr>
              <a:t> </a:t>
            </a:r>
            <a:r>
              <a:rPr sz="1425" spc="-30" dirty="0">
                <a:latin typeface="Calibri"/>
                <a:cs typeface="Calibri"/>
              </a:rPr>
              <a:t>like</a:t>
            </a:r>
            <a:r>
              <a:rPr sz="1425" dirty="0">
                <a:latin typeface="Calibri"/>
                <a:cs typeface="Calibri"/>
              </a:rPr>
              <a:t> –</a:t>
            </a:r>
            <a:r>
              <a:rPr sz="1425" spc="15" dirty="0">
                <a:latin typeface="Calibri"/>
                <a:cs typeface="Calibri"/>
              </a:rPr>
              <a:t> </a:t>
            </a:r>
            <a:r>
              <a:rPr sz="1425" spc="-30" dirty="0">
                <a:latin typeface="Calibri"/>
                <a:cs typeface="Calibri"/>
              </a:rPr>
              <a:t>Automation,</a:t>
            </a:r>
            <a:r>
              <a:rPr sz="1425" spc="53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Build</a:t>
            </a:r>
            <a:r>
              <a:rPr sz="1425" spc="330" dirty="0">
                <a:latin typeface="Calibri"/>
                <a:cs typeface="Calibri"/>
              </a:rPr>
              <a:t> </a:t>
            </a:r>
            <a:r>
              <a:rPr sz="1425" spc="-75" dirty="0">
                <a:latin typeface="Calibri"/>
                <a:cs typeface="Calibri"/>
              </a:rPr>
              <a:t>&amp;</a:t>
            </a:r>
            <a:endParaRPr sz="1425">
              <a:latin typeface="Calibri"/>
              <a:cs typeface="Calibri"/>
            </a:endParaRPr>
          </a:p>
          <a:p>
            <a:pPr marL="267653" defTabSz="1371600">
              <a:lnSpc>
                <a:spcPts val="1613"/>
              </a:lnSpc>
            </a:pPr>
            <a:r>
              <a:rPr sz="1425" dirty="0">
                <a:latin typeface="Calibri"/>
                <a:cs typeface="Calibri"/>
              </a:rPr>
              <a:t>Release</a:t>
            </a:r>
            <a:r>
              <a:rPr sz="1425" spc="23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management,</a:t>
            </a:r>
            <a:r>
              <a:rPr sz="1425" spc="98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CI/CD,</a:t>
            </a:r>
            <a:r>
              <a:rPr sz="1425" spc="105" dirty="0">
                <a:latin typeface="Calibri"/>
                <a:cs typeface="Calibri"/>
              </a:rPr>
              <a:t> </a:t>
            </a:r>
            <a:r>
              <a:rPr sz="1425" spc="-30" dirty="0">
                <a:latin typeface="Calibri"/>
                <a:cs typeface="Calibri"/>
              </a:rPr>
              <a:t>Containers,</a:t>
            </a:r>
            <a:r>
              <a:rPr sz="1425" spc="-15" dirty="0">
                <a:latin typeface="Calibri"/>
                <a:cs typeface="Calibri"/>
              </a:rPr>
              <a:t> </a:t>
            </a:r>
            <a:r>
              <a:rPr sz="1425" spc="-60" dirty="0">
                <a:latin typeface="Calibri"/>
                <a:cs typeface="Calibri"/>
              </a:rPr>
              <a:t>Security,</a:t>
            </a:r>
            <a:r>
              <a:rPr sz="1425" spc="-53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Cloud</a:t>
            </a:r>
            <a:r>
              <a:rPr sz="1425" spc="248" dirty="0">
                <a:latin typeface="Calibri"/>
                <a:cs typeface="Calibri"/>
              </a:rPr>
              <a:t> </a:t>
            </a:r>
            <a:r>
              <a:rPr sz="1425" spc="-15" dirty="0">
                <a:latin typeface="Calibri"/>
                <a:cs typeface="Calibri"/>
              </a:rPr>
              <a:t>(AWS/GCP/Azure)</a:t>
            </a:r>
            <a:endParaRPr sz="1425">
              <a:latin typeface="Calibri"/>
              <a:cs typeface="Calibri"/>
            </a:endParaRPr>
          </a:p>
          <a:p>
            <a:pPr marL="297180" defTabSz="1371600">
              <a:spcBef>
                <a:spcPts val="1478"/>
              </a:spcBef>
              <a:tabLst>
                <a:tab pos="1093470" algn="l"/>
                <a:tab pos="5119688" algn="l"/>
              </a:tabLst>
            </a:pPr>
            <a:r>
              <a:rPr sz="1425" spc="-15" dirty="0">
                <a:latin typeface="Calibri"/>
                <a:cs typeface="Calibri"/>
              </a:rPr>
              <a:t>DevOps</a:t>
            </a:r>
            <a:r>
              <a:rPr sz="1425" dirty="0">
                <a:latin typeface="Calibri"/>
                <a:cs typeface="Calibri"/>
              </a:rPr>
              <a:t>	engineers</a:t>
            </a:r>
            <a:r>
              <a:rPr sz="1425" spc="368" dirty="0">
                <a:latin typeface="Calibri"/>
                <a:cs typeface="Calibri"/>
              </a:rPr>
              <a:t>  </a:t>
            </a:r>
            <a:r>
              <a:rPr sz="1425" dirty="0">
                <a:latin typeface="Calibri"/>
                <a:cs typeface="Calibri"/>
              </a:rPr>
              <a:t>who</a:t>
            </a:r>
            <a:r>
              <a:rPr sz="1425" spc="293" dirty="0">
                <a:latin typeface="Calibri"/>
                <a:cs typeface="Calibri"/>
              </a:rPr>
              <a:t>  </a:t>
            </a:r>
            <a:r>
              <a:rPr sz="1425" dirty="0">
                <a:latin typeface="Calibri"/>
                <a:cs typeface="Calibri"/>
              </a:rPr>
              <a:t>are</a:t>
            </a:r>
            <a:r>
              <a:rPr sz="1425" spc="300" dirty="0">
                <a:latin typeface="Calibri"/>
                <a:cs typeface="Calibri"/>
              </a:rPr>
              <a:t>  </a:t>
            </a:r>
            <a:r>
              <a:rPr sz="1425" dirty="0">
                <a:latin typeface="Calibri"/>
                <a:cs typeface="Calibri"/>
              </a:rPr>
              <a:t>members</a:t>
            </a:r>
            <a:r>
              <a:rPr sz="1425" spc="368" dirty="0">
                <a:latin typeface="Calibri"/>
                <a:cs typeface="Calibri"/>
              </a:rPr>
              <a:t>  </a:t>
            </a:r>
            <a:r>
              <a:rPr sz="1425" dirty="0">
                <a:latin typeface="Calibri"/>
                <a:cs typeface="Calibri"/>
              </a:rPr>
              <a:t>from</a:t>
            </a:r>
            <a:r>
              <a:rPr sz="1425" spc="360" dirty="0">
                <a:latin typeface="Calibri"/>
                <a:cs typeface="Calibri"/>
              </a:rPr>
              <a:t>  </a:t>
            </a:r>
            <a:r>
              <a:rPr sz="1425" spc="-15" dirty="0">
                <a:latin typeface="Calibri"/>
                <a:cs typeface="Calibri"/>
              </a:rPr>
              <a:t>different</a:t>
            </a:r>
            <a:r>
              <a:rPr sz="1425" dirty="0">
                <a:latin typeface="Calibri"/>
                <a:cs typeface="Calibri"/>
              </a:rPr>
              <a:t>	</a:t>
            </a:r>
            <a:r>
              <a:rPr sz="1425" spc="-15" dirty="0">
                <a:latin typeface="Calibri"/>
                <a:cs typeface="Calibri"/>
              </a:rPr>
              <a:t>department</a:t>
            </a:r>
            <a:endParaRPr sz="1425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50864" y="6187058"/>
            <a:ext cx="125730" cy="12118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050" defTabSz="1371600">
              <a:spcBef>
                <a:spcPts val="135"/>
              </a:spcBef>
            </a:pPr>
            <a:r>
              <a:rPr sz="675" spc="-38" dirty="0">
                <a:solidFill>
                  <a:srgbClr val="888888"/>
                </a:solidFill>
                <a:latin typeface="Calibri"/>
                <a:cs typeface="Calibri"/>
              </a:rPr>
              <a:t>10</a:t>
            </a:r>
            <a:endParaRPr sz="675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0346" y="6133527"/>
            <a:ext cx="2343150" cy="237566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19050" defTabSz="1371600">
              <a:spcBef>
                <a:spcPts val="143"/>
              </a:spcBef>
            </a:pPr>
            <a:r>
              <a:rPr sz="1425" spc="-15" dirty="0">
                <a:latin typeface="Calibri"/>
                <a:cs typeface="Calibri"/>
              </a:rPr>
              <a:t>(development,</a:t>
            </a:r>
            <a:r>
              <a:rPr sz="1425" spc="75" dirty="0">
                <a:latin typeface="Calibri"/>
                <a:cs typeface="Calibri"/>
              </a:rPr>
              <a:t> </a:t>
            </a:r>
            <a:r>
              <a:rPr sz="1425" spc="-38" dirty="0">
                <a:latin typeface="Calibri"/>
                <a:cs typeface="Calibri"/>
              </a:rPr>
              <a:t>QA,</a:t>
            </a:r>
            <a:r>
              <a:rPr sz="1425" spc="-75" dirty="0">
                <a:latin typeface="Calibri"/>
                <a:cs typeface="Calibri"/>
              </a:rPr>
              <a:t> </a:t>
            </a:r>
            <a:r>
              <a:rPr sz="1425" spc="-30" dirty="0">
                <a:latin typeface="Calibri"/>
                <a:cs typeface="Calibri"/>
              </a:rPr>
              <a:t>Operations</a:t>
            </a:r>
            <a:r>
              <a:rPr sz="1425" spc="105" dirty="0">
                <a:latin typeface="Calibri"/>
                <a:cs typeface="Calibri"/>
              </a:rPr>
              <a:t> </a:t>
            </a:r>
            <a:r>
              <a:rPr sz="1425" spc="-75" dirty="0">
                <a:latin typeface="Calibri"/>
                <a:cs typeface="Calibri"/>
              </a:rPr>
              <a:t>)</a:t>
            </a:r>
            <a:endParaRPr sz="1425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4" y="6708266"/>
            <a:ext cx="3422333" cy="390813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3306128" defTabSz="1371600">
              <a:lnSpc>
                <a:spcPts val="825"/>
              </a:lnSpc>
              <a:spcBef>
                <a:spcPts val="158"/>
              </a:spcBef>
            </a:pPr>
            <a:r>
              <a:rPr sz="750" spc="-38" dirty="0">
                <a:solidFill>
                  <a:srgbClr val="888888"/>
                </a:solidFill>
                <a:latin typeface="Calibri"/>
                <a:cs typeface="Calibri"/>
              </a:rPr>
              <a:t>12</a:t>
            </a:r>
            <a:endParaRPr sz="750">
              <a:latin typeface="Calibri"/>
              <a:cs typeface="Calibri"/>
            </a:endParaRPr>
          </a:p>
          <a:p>
            <a:pPr marL="3306128" defTabSz="1371600">
              <a:lnSpc>
                <a:spcPts val="825"/>
              </a:lnSpc>
            </a:pPr>
            <a:r>
              <a:rPr sz="750" spc="-75" dirty="0">
                <a:solidFill>
                  <a:srgbClr val="888888"/>
                </a:solidFill>
                <a:latin typeface="Calibri"/>
                <a:cs typeface="Calibri"/>
              </a:rPr>
              <a:t>7</a:t>
            </a:r>
            <a:endParaRPr sz="750">
              <a:latin typeface="Calibri"/>
              <a:cs typeface="Calibri"/>
            </a:endParaRPr>
          </a:p>
          <a:p>
            <a:pPr marL="19050" defTabSz="1371600">
              <a:spcBef>
                <a:spcPts val="33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6028" y="2209418"/>
            <a:ext cx="2793683" cy="48090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>
              <a:spcBef>
                <a:spcPts val="150"/>
              </a:spcBef>
            </a:pPr>
            <a:r>
              <a:rPr sz="3000" dirty="0"/>
              <a:t>DevOps–</a:t>
            </a:r>
            <a:r>
              <a:rPr sz="3000" spc="45" dirty="0"/>
              <a:t> </a:t>
            </a:r>
            <a:r>
              <a:rPr sz="3000" spc="-38" dirty="0"/>
              <a:t>Tools</a:t>
            </a:r>
            <a:endParaRPr sz="3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050" y="3163442"/>
            <a:ext cx="379476" cy="214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050" y="3986783"/>
            <a:ext cx="379476" cy="21488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81050" y="4501133"/>
            <a:ext cx="457200" cy="523875"/>
            <a:chOff x="120700" y="1667255"/>
            <a:chExt cx="304800" cy="34925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700" y="1667255"/>
              <a:ext cx="304800" cy="17373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700" y="1872995"/>
              <a:ext cx="252984" cy="143255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81050" y="5598413"/>
            <a:ext cx="674370" cy="1083945"/>
            <a:chOff x="120700" y="2398775"/>
            <a:chExt cx="449580" cy="72263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700" y="2398775"/>
              <a:ext cx="304800" cy="17373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429" y="2581604"/>
              <a:ext cx="304800" cy="17404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429" y="2764789"/>
              <a:ext cx="304800" cy="17373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429" y="2947669"/>
              <a:ext cx="304800" cy="17373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11098" y="3091814"/>
            <a:ext cx="6333173" cy="3620222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marR="10478" indent="29528" algn="just" defTabSz="1371600">
              <a:spcBef>
                <a:spcPts val="150"/>
              </a:spcBef>
            </a:pPr>
            <a:r>
              <a:rPr dirty="0">
                <a:latin typeface="Calibri"/>
                <a:cs typeface="Calibri"/>
              </a:rPr>
              <a:t>Enables</a:t>
            </a:r>
            <a:r>
              <a:rPr spc="217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people</a:t>
            </a:r>
            <a:r>
              <a:rPr spc="225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21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focus</a:t>
            </a:r>
            <a:r>
              <a:rPr spc="233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217" dirty="0">
                <a:latin typeface="Calibri"/>
                <a:cs typeface="Calibri"/>
              </a:rPr>
              <a:t>  </a:t>
            </a:r>
            <a:r>
              <a:rPr spc="-30" dirty="0">
                <a:latin typeface="Calibri"/>
                <a:cs typeface="Calibri"/>
              </a:rPr>
              <a:t>high-</a:t>
            </a:r>
            <a:r>
              <a:rPr dirty="0">
                <a:latin typeface="Calibri"/>
                <a:cs typeface="Calibri"/>
              </a:rPr>
              <a:t>value</a:t>
            </a:r>
            <a:r>
              <a:rPr spc="21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creative</a:t>
            </a:r>
            <a:r>
              <a:rPr spc="21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work</a:t>
            </a:r>
            <a:r>
              <a:rPr spc="188" dirty="0">
                <a:latin typeface="Calibri"/>
                <a:cs typeface="Calibri"/>
              </a:rPr>
              <a:t>  </a:t>
            </a:r>
            <a:r>
              <a:rPr spc="-15" dirty="0">
                <a:latin typeface="Calibri"/>
                <a:cs typeface="Calibri"/>
              </a:rPr>
              <a:t>while </a:t>
            </a:r>
            <a:r>
              <a:rPr dirty="0">
                <a:latin typeface="Calibri"/>
                <a:cs typeface="Calibri"/>
              </a:rPr>
              <a:t>delegating</a:t>
            </a:r>
            <a:r>
              <a:rPr spc="263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routine</a:t>
            </a:r>
            <a:r>
              <a:rPr spc="2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tasks</a:t>
            </a:r>
            <a:r>
              <a:rPr spc="24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2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automation.</a:t>
            </a:r>
            <a:r>
              <a:rPr spc="2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Technology</a:t>
            </a:r>
            <a:r>
              <a:rPr spc="255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also</a:t>
            </a:r>
            <a:r>
              <a:rPr spc="25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allows </a:t>
            </a:r>
            <a:r>
              <a:rPr dirty="0">
                <a:latin typeface="Calibri"/>
                <a:cs typeface="Calibri"/>
              </a:rPr>
              <a:t>teams</a:t>
            </a:r>
            <a:r>
              <a:rPr spc="3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381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practitioners</a:t>
            </a:r>
            <a:r>
              <a:rPr spc="-6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leverage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scale</a:t>
            </a:r>
            <a:r>
              <a:rPr spc="-30" dirty="0">
                <a:latin typeface="Calibri"/>
                <a:cs typeface="Calibri"/>
              </a:rPr>
              <a:t> their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time and</a:t>
            </a:r>
            <a:r>
              <a:rPr spc="6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abilities. </a:t>
            </a:r>
            <a:r>
              <a:rPr dirty="0">
                <a:latin typeface="Calibri"/>
                <a:cs typeface="Calibri"/>
              </a:rPr>
              <a:t>Organization</a:t>
            </a:r>
            <a:r>
              <a:rPr spc="20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2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20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reuse</a:t>
            </a:r>
            <a:r>
              <a:rPr spc="21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assets,</a:t>
            </a:r>
            <a:r>
              <a:rPr spc="21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code,</a:t>
            </a:r>
            <a:r>
              <a:rPr spc="2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20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practices</a:t>
            </a:r>
            <a:r>
              <a:rPr spc="19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21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233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cost- </a:t>
            </a:r>
            <a:r>
              <a:rPr dirty="0">
                <a:latin typeface="Calibri"/>
                <a:cs typeface="Calibri"/>
              </a:rPr>
              <a:t>effective</a:t>
            </a:r>
            <a:r>
              <a:rPr spc="28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83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efficient.</a:t>
            </a:r>
            <a:endParaRPr>
              <a:latin typeface="Calibri"/>
              <a:cs typeface="Calibri"/>
            </a:endParaRPr>
          </a:p>
          <a:p>
            <a:pPr marL="19050" marR="7620" indent="29528" defTabSz="1371600">
              <a:tabLst>
                <a:tab pos="610551" algn="l"/>
              </a:tabLst>
            </a:pPr>
            <a:r>
              <a:rPr spc="-30" dirty="0">
                <a:latin typeface="Calibri"/>
                <a:cs typeface="Calibri"/>
              </a:rPr>
              <a:t>Standardizing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automation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also </a:t>
            </a:r>
            <a:r>
              <a:rPr spc="-15" dirty="0">
                <a:latin typeface="Calibri"/>
                <a:cs typeface="Calibri"/>
              </a:rPr>
              <a:t>makes</a:t>
            </a:r>
            <a:r>
              <a:rPr spc="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people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more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effective </a:t>
            </a:r>
            <a:r>
              <a:rPr dirty="0">
                <a:latin typeface="Calibri"/>
                <a:cs typeface="Calibri"/>
              </a:rPr>
              <a:t>common</a:t>
            </a:r>
            <a:r>
              <a:rPr spc="2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set</a:t>
            </a:r>
            <a:r>
              <a:rPr spc="2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2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tools</a:t>
            </a:r>
            <a:r>
              <a:rPr spc="2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allows</a:t>
            </a:r>
            <a:r>
              <a:rPr spc="233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practitioners</a:t>
            </a:r>
            <a:r>
              <a:rPr spc="21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24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work</a:t>
            </a:r>
            <a:r>
              <a:rPr spc="18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anywhere,</a:t>
            </a:r>
            <a:r>
              <a:rPr spc="225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and new</a:t>
            </a:r>
            <a:r>
              <a:rPr dirty="0">
                <a:latin typeface="Calibri"/>
                <a:cs typeface="Calibri"/>
              </a:rPr>
              <a:t>	team</a:t>
            </a:r>
            <a:r>
              <a:rPr spc="30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members</a:t>
            </a:r>
            <a:r>
              <a:rPr spc="30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need</a:t>
            </a:r>
            <a:r>
              <a:rPr spc="3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3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learn</a:t>
            </a:r>
            <a:r>
              <a:rPr spc="306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only</a:t>
            </a:r>
            <a:r>
              <a:rPr spc="3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one</a:t>
            </a:r>
            <a:r>
              <a:rPr spc="3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set</a:t>
            </a:r>
            <a:r>
              <a:rPr spc="34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3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tools</a:t>
            </a:r>
            <a:r>
              <a:rPr spc="3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300" dirty="0">
                <a:latin typeface="Calibri"/>
                <a:cs typeface="Calibri"/>
              </a:rPr>
              <a:t> </a:t>
            </a:r>
            <a:r>
              <a:rPr spc="-75" dirty="0">
                <a:latin typeface="Calibri"/>
                <a:cs typeface="Calibri"/>
              </a:rPr>
              <a:t>a </a:t>
            </a:r>
            <a:r>
              <a:rPr dirty="0">
                <a:latin typeface="Calibri"/>
                <a:cs typeface="Calibri"/>
              </a:rPr>
              <a:t>process </a:t>
            </a:r>
            <a:r>
              <a:rPr spc="-15" dirty="0">
                <a:latin typeface="Calibri"/>
                <a:cs typeface="Calibri"/>
              </a:rPr>
              <a:t>that’s</a:t>
            </a:r>
            <a:r>
              <a:rPr spc="24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efficient,</a:t>
            </a:r>
            <a:r>
              <a:rPr spc="-6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cost-effective,</a:t>
            </a:r>
            <a:r>
              <a:rPr spc="-30" dirty="0">
                <a:latin typeface="Calibri"/>
                <a:cs typeface="Calibri"/>
              </a:rPr>
              <a:t> repeatable,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 </a:t>
            </a:r>
            <a:r>
              <a:rPr spc="-15" dirty="0">
                <a:latin typeface="Calibri"/>
                <a:cs typeface="Calibri"/>
              </a:rPr>
              <a:t>scalable.</a:t>
            </a:r>
            <a:endParaRPr>
              <a:latin typeface="Calibri"/>
              <a:cs typeface="Calibri"/>
            </a:endParaRPr>
          </a:p>
          <a:p>
            <a:pPr marL="267653" marR="3331845" indent="-220028" defTabSz="1371600"/>
            <a:r>
              <a:rPr spc="-30" dirty="0">
                <a:latin typeface="Calibri"/>
                <a:cs typeface="Calibri"/>
              </a:rPr>
              <a:t>Categorized</a:t>
            </a:r>
            <a:r>
              <a:rPr spc="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into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60" dirty="0">
                <a:latin typeface="Calibri"/>
                <a:cs typeface="Calibri"/>
              </a:rPr>
              <a:t>major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areas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are </a:t>
            </a:r>
            <a:r>
              <a:rPr spc="-53" dirty="0">
                <a:solidFill>
                  <a:srgbClr val="537799"/>
                </a:solidFill>
                <a:latin typeface="Calibri"/>
                <a:cs typeface="Calibri"/>
              </a:rPr>
              <a:t>Infrastructure</a:t>
            </a:r>
            <a:r>
              <a:rPr spc="-15" dirty="0">
                <a:solidFill>
                  <a:srgbClr val="5377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537799"/>
                </a:solidFill>
                <a:latin typeface="Calibri"/>
                <a:cs typeface="Calibri"/>
              </a:rPr>
              <a:t>as</a:t>
            </a:r>
            <a:r>
              <a:rPr spc="105" dirty="0">
                <a:solidFill>
                  <a:srgbClr val="537799"/>
                </a:solidFill>
                <a:latin typeface="Calibri"/>
                <a:cs typeface="Calibri"/>
              </a:rPr>
              <a:t> </a:t>
            </a:r>
            <a:r>
              <a:rPr spc="-30" dirty="0">
                <a:solidFill>
                  <a:srgbClr val="537799"/>
                </a:solidFill>
                <a:latin typeface="Calibri"/>
                <a:cs typeface="Calibri"/>
              </a:rPr>
              <a:t>Code</a:t>
            </a:r>
            <a:r>
              <a:rPr spc="750" dirty="0">
                <a:solidFill>
                  <a:srgbClr val="537799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537799"/>
                </a:solidFill>
                <a:latin typeface="Calibri"/>
                <a:cs typeface="Calibri"/>
              </a:rPr>
              <a:t>Delivery</a:t>
            </a:r>
            <a:r>
              <a:rPr spc="-30" dirty="0">
                <a:solidFill>
                  <a:srgbClr val="537799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537799"/>
                </a:solidFill>
                <a:latin typeface="Calibri"/>
                <a:cs typeface="Calibri"/>
              </a:rPr>
              <a:t>Pipeline</a:t>
            </a:r>
            <a:endParaRPr>
              <a:latin typeface="Calibri"/>
              <a:cs typeface="Calibri"/>
            </a:endParaRPr>
          </a:p>
          <a:p>
            <a:pPr marL="267653" defTabSz="1371600"/>
            <a:r>
              <a:rPr dirty="0">
                <a:solidFill>
                  <a:srgbClr val="537799"/>
                </a:solidFill>
                <a:latin typeface="Calibri"/>
                <a:cs typeface="Calibri"/>
              </a:rPr>
              <a:t>Deployment</a:t>
            </a:r>
            <a:r>
              <a:rPr spc="15" dirty="0">
                <a:solidFill>
                  <a:srgbClr val="537799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537799"/>
                </a:solidFill>
                <a:latin typeface="Calibri"/>
                <a:cs typeface="Calibri"/>
              </a:rPr>
              <a:t>automation</a:t>
            </a:r>
            <a:r>
              <a:rPr spc="-30" dirty="0">
                <a:solidFill>
                  <a:srgbClr val="537799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537799"/>
                </a:solidFill>
                <a:latin typeface="Calibri"/>
                <a:cs typeface="Calibri"/>
              </a:rPr>
              <a:t>and</a:t>
            </a:r>
            <a:r>
              <a:rPr spc="-15" dirty="0">
                <a:solidFill>
                  <a:srgbClr val="537799"/>
                </a:solidFill>
                <a:latin typeface="Calibri"/>
                <a:cs typeface="Calibri"/>
              </a:rPr>
              <a:t> release</a:t>
            </a:r>
            <a:r>
              <a:rPr spc="-83" dirty="0">
                <a:solidFill>
                  <a:srgbClr val="537799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537799"/>
                </a:solidFill>
                <a:latin typeface="Calibri"/>
                <a:cs typeface="Calibri"/>
              </a:rPr>
              <a:t>management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28750" y="3543299"/>
            <a:ext cx="4572000" cy="2627946"/>
            <a:chOff x="952500" y="1028699"/>
            <a:chExt cx="3048000" cy="175196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70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500" y="1028699"/>
              <a:ext cx="2335276" cy="175145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99471"/>
          </a:xfrm>
          <a:prstGeom prst="rect">
            <a:avLst/>
          </a:prstGeom>
        </p:spPr>
        <p:txBody>
          <a:bodyPr vert="horz" wrap="square" lIns="0" tIns="136473" rIns="0" bIns="0" rtlCol="0">
            <a:spAutoFit/>
          </a:bodyPr>
          <a:lstStyle/>
          <a:p>
            <a:pPr marL="249555">
              <a:spcBef>
                <a:spcPts val="158"/>
              </a:spcBef>
            </a:pPr>
            <a:r>
              <a:rPr sz="3000" spc="-113" dirty="0"/>
              <a:t>DevOps</a:t>
            </a:r>
            <a:r>
              <a:rPr sz="3000" spc="-233" dirty="0"/>
              <a:t> </a:t>
            </a:r>
            <a:r>
              <a:rPr sz="3000" dirty="0"/>
              <a:t>-</a:t>
            </a:r>
            <a:r>
              <a:rPr sz="3000" spc="-195" dirty="0"/>
              <a:t> </a:t>
            </a:r>
            <a:r>
              <a:rPr sz="3000" spc="-105" dirty="0"/>
              <a:t>Tools</a:t>
            </a:r>
            <a:endParaRPr sz="300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28650" y="3151631"/>
            <a:ext cx="5606415" cy="3547110"/>
            <a:chOff x="419100" y="767587"/>
            <a:chExt cx="3737610" cy="23647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9100" y="767587"/>
              <a:ext cx="3737355" cy="236448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97162"/>
          </a:xfrm>
          <a:prstGeom prst="rect">
            <a:avLst/>
          </a:prstGeom>
        </p:spPr>
        <p:txBody>
          <a:bodyPr vert="horz" wrap="square" lIns="0" tIns="134187" rIns="0" bIns="0" rtlCol="0">
            <a:spAutoFit/>
          </a:bodyPr>
          <a:lstStyle/>
          <a:p>
            <a:pPr marL="249555">
              <a:spcBef>
                <a:spcPts val="150"/>
              </a:spcBef>
            </a:pPr>
            <a:r>
              <a:rPr sz="3000" spc="-113" dirty="0"/>
              <a:t>DevOps</a:t>
            </a:r>
            <a:r>
              <a:rPr sz="3000" spc="-233" dirty="0"/>
              <a:t> </a:t>
            </a:r>
            <a:r>
              <a:rPr sz="3000" dirty="0"/>
              <a:t>-</a:t>
            </a:r>
            <a:r>
              <a:rPr sz="3000" spc="-195" dirty="0"/>
              <a:t> </a:t>
            </a:r>
            <a:r>
              <a:rPr sz="3000" spc="-105" dirty="0"/>
              <a:t>Tools</a:t>
            </a:r>
            <a:endParaRPr sz="300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47293" y="3312604"/>
            <a:ext cx="5963603" cy="2700338"/>
            <a:chOff x="298195" y="874902"/>
            <a:chExt cx="3975735" cy="1800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70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8195" y="874902"/>
              <a:ext cx="3975608" cy="17998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99471"/>
          </a:xfrm>
          <a:prstGeom prst="rect">
            <a:avLst/>
          </a:prstGeom>
        </p:spPr>
        <p:txBody>
          <a:bodyPr vert="horz" wrap="square" lIns="0" tIns="136473" rIns="0" bIns="0" rtlCol="0">
            <a:spAutoFit/>
          </a:bodyPr>
          <a:lstStyle/>
          <a:p>
            <a:pPr marL="249555">
              <a:spcBef>
                <a:spcPts val="158"/>
              </a:spcBef>
            </a:pPr>
            <a:r>
              <a:rPr sz="3000" spc="-113" dirty="0"/>
              <a:t>DevOps</a:t>
            </a:r>
            <a:r>
              <a:rPr sz="3000" spc="-233" dirty="0"/>
              <a:t> </a:t>
            </a:r>
            <a:r>
              <a:rPr sz="3000" dirty="0"/>
              <a:t>-</a:t>
            </a:r>
            <a:r>
              <a:rPr sz="3000" spc="-195" dirty="0"/>
              <a:t> </a:t>
            </a:r>
            <a:r>
              <a:rPr sz="3000" spc="-105" dirty="0"/>
              <a:t>Tools</a:t>
            </a:r>
            <a:endParaRPr sz="300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70025" y="3121722"/>
            <a:ext cx="5030153" cy="3404235"/>
            <a:chOff x="646683" y="747648"/>
            <a:chExt cx="3353435" cy="22694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683" y="747648"/>
              <a:ext cx="3353435" cy="226898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97162"/>
          </a:xfrm>
          <a:prstGeom prst="rect">
            <a:avLst/>
          </a:prstGeom>
        </p:spPr>
        <p:txBody>
          <a:bodyPr vert="horz" wrap="square" lIns="0" tIns="134187" rIns="0" bIns="0" rtlCol="0">
            <a:spAutoFit/>
          </a:bodyPr>
          <a:lstStyle/>
          <a:p>
            <a:pPr marL="249555">
              <a:spcBef>
                <a:spcPts val="150"/>
              </a:spcBef>
            </a:pPr>
            <a:r>
              <a:rPr sz="3000" spc="-113" dirty="0"/>
              <a:t>DevOps</a:t>
            </a:r>
            <a:r>
              <a:rPr sz="3000" spc="-233" dirty="0"/>
              <a:t> </a:t>
            </a:r>
            <a:r>
              <a:rPr sz="3000" dirty="0"/>
              <a:t>-</a:t>
            </a:r>
            <a:r>
              <a:rPr sz="3000" spc="-195" dirty="0"/>
              <a:t> </a:t>
            </a:r>
            <a:r>
              <a:rPr sz="3000" spc="-105" dirty="0"/>
              <a:t>Tools</a:t>
            </a:r>
            <a:endParaRPr sz="300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57200" y="2954463"/>
            <a:ext cx="5927406" cy="3935730"/>
            <a:chOff x="304800" y="636142"/>
            <a:chExt cx="3951604" cy="26238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636142"/>
              <a:ext cx="3951478" cy="26238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99471"/>
          </a:xfrm>
          <a:prstGeom prst="rect">
            <a:avLst/>
          </a:prstGeom>
        </p:spPr>
        <p:txBody>
          <a:bodyPr vert="horz" wrap="square" lIns="0" tIns="136473" rIns="0" bIns="0" rtlCol="0">
            <a:spAutoFit/>
          </a:bodyPr>
          <a:lstStyle/>
          <a:p>
            <a:pPr marL="249555">
              <a:spcBef>
                <a:spcPts val="158"/>
              </a:spcBef>
            </a:pPr>
            <a:r>
              <a:rPr sz="3000" spc="-113" dirty="0"/>
              <a:t>DevOps</a:t>
            </a:r>
            <a:r>
              <a:rPr sz="3000" spc="-233" dirty="0"/>
              <a:t> </a:t>
            </a:r>
            <a:r>
              <a:rPr sz="3000" dirty="0"/>
              <a:t>-</a:t>
            </a:r>
            <a:r>
              <a:rPr sz="3000" spc="-195" dirty="0"/>
              <a:t> </a:t>
            </a:r>
            <a:r>
              <a:rPr sz="3000" spc="-105" dirty="0"/>
              <a:t>Tools</a:t>
            </a:r>
            <a:endParaRPr sz="300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77870"/>
            <a:ext cx="6858000" cy="3588066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63583"/>
            <a:ext cx="6858000" cy="3616643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4180" y="2000250"/>
            <a:ext cx="396830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99471"/>
          </a:xfrm>
          <a:prstGeom prst="rect">
            <a:avLst/>
          </a:prstGeom>
        </p:spPr>
        <p:txBody>
          <a:bodyPr vert="horz" wrap="square" lIns="0" tIns="136473" rIns="0" bIns="0" rtlCol="0">
            <a:spAutoFit/>
          </a:bodyPr>
          <a:lstStyle/>
          <a:p>
            <a:pPr marL="249555">
              <a:spcBef>
                <a:spcPts val="158"/>
              </a:spcBef>
            </a:pPr>
            <a:r>
              <a:rPr sz="3000" spc="-113" dirty="0"/>
              <a:t>DevOps</a:t>
            </a:r>
            <a:r>
              <a:rPr sz="3000" spc="-233" dirty="0"/>
              <a:t> </a:t>
            </a:r>
            <a:r>
              <a:rPr sz="3000" dirty="0"/>
              <a:t>-</a:t>
            </a:r>
            <a:r>
              <a:rPr sz="3000" spc="-195" dirty="0"/>
              <a:t> </a:t>
            </a:r>
            <a:r>
              <a:rPr sz="3000" spc="-105" dirty="0"/>
              <a:t>Tools</a:t>
            </a:r>
            <a:endParaRPr sz="3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435" y="3143249"/>
            <a:ext cx="5215319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97162"/>
          </a:xfrm>
          <a:prstGeom prst="rect">
            <a:avLst/>
          </a:prstGeom>
        </p:spPr>
        <p:txBody>
          <a:bodyPr vert="horz" wrap="square" lIns="0" tIns="134187" rIns="0" bIns="0" rtlCol="0">
            <a:spAutoFit/>
          </a:bodyPr>
          <a:lstStyle/>
          <a:p>
            <a:pPr marL="249555">
              <a:spcBef>
                <a:spcPts val="150"/>
              </a:spcBef>
            </a:pPr>
            <a:r>
              <a:rPr sz="3000" spc="-113" dirty="0"/>
              <a:t>DevOps</a:t>
            </a:r>
            <a:r>
              <a:rPr sz="3000" spc="-233" dirty="0"/>
              <a:t> </a:t>
            </a:r>
            <a:r>
              <a:rPr sz="3000" dirty="0"/>
              <a:t>-</a:t>
            </a:r>
            <a:r>
              <a:rPr sz="3000" spc="-195" dirty="0"/>
              <a:t> </a:t>
            </a:r>
            <a:r>
              <a:rPr sz="3000" spc="-105" dirty="0"/>
              <a:t>Tools</a:t>
            </a:r>
            <a:endParaRPr sz="3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50" y="3261301"/>
            <a:ext cx="5185029" cy="3642659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5949" y="3486149"/>
            <a:ext cx="6071235" cy="2953703"/>
            <a:chOff x="243966" y="990599"/>
            <a:chExt cx="4047490" cy="19691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966" y="990599"/>
              <a:ext cx="4047363" cy="196875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99471"/>
          </a:xfrm>
          <a:prstGeom prst="rect">
            <a:avLst/>
          </a:prstGeom>
        </p:spPr>
        <p:txBody>
          <a:bodyPr vert="horz" wrap="square" lIns="0" tIns="136473" rIns="0" bIns="0" rtlCol="0">
            <a:spAutoFit/>
          </a:bodyPr>
          <a:lstStyle/>
          <a:p>
            <a:pPr marL="249555">
              <a:spcBef>
                <a:spcPts val="158"/>
              </a:spcBef>
            </a:pPr>
            <a:r>
              <a:rPr sz="3000" spc="-113" dirty="0"/>
              <a:t>DevOps</a:t>
            </a:r>
            <a:r>
              <a:rPr sz="3000" spc="-233" dirty="0"/>
              <a:t> </a:t>
            </a:r>
            <a:r>
              <a:rPr sz="3000" dirty="0"/>
              <a:t>-</a:t>
            </a:r>
            <a:r>
              <a:rPr sz="3000" spc="-195" dirty="0"/>
              <a:t> </a:t>
            </a:r>
            <a:r>
              <a:rPr sz="3000" spc="-105" dirty="0"/>
              <a:t>Tools</a:t>
            </a:r>
            <a:endParaRPr sz="300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28700" y="3428999"/>
            <a:ext cx="4972050" cy="2902268"/>
            <a:chOff x="685800" y="952499"/>
            <a:chExt cx="3314700" cy="19348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952499"/>
              <a:ext cx="3258058" cy="193484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97162"/>
          </a:xfrm>
          <a:prstGeom prst="rect">
            <a:avLst/>
          </a:prstGeom>
        </p:spPr>
        <p:txBody>
          <a:bodyPr vert="horz" wrap="square" lIns="0" tIns="134187" rIns="0" bIns="0" rtlCol="0">
            <a:spAutoFit/>
          </a:bodyPr>
          <a:lstStyle/>
          <a:p>
            <a:pPr marL="249555">
              <a:spcBef>
                <a:spcPts val="150"/>
              </a:spcBef>
            </a:pPr>
            <a:r>
              <a:rPr sz="3000" spc="-113" dirty="0"/>
              <a:t>DevOps</a:t>
            </a:r>
            <a:r>
              <a:rPr sz="3000" spc="-233" dirty="0"/>
              <a:t> </a:t>
            </a:r>
            <a:r>
              <a:rPr sz="3000" dirty="0"/>
              <a:t>-</a:t>
            </a:r>
            <a:r>
              <a:rPr sz="3000" spc="-195" dirty="0"/>
              <a:t> </a:t>
            </a:r>
            <a:r>
              <a:rPr sz="3000" spc="-105" dirty="0"/>
              <a:t>Tools</a:t>
            </a:r>
            <a:endParaRPr sz="300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57300" y="2989896"/>
            <a:ext cx="4743450" cy="3423285"/>
            <a:chOff x="838200" y="659764"/>
            <a:chExt cx="3162300" cy="22821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200" y="659764"/>
              <a:ext cx="3085719" cy="228206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99471"/>
          </a:xfrm>
          <a:prstGeom prst="rect">
            <a:avLst/>
          </a:prstGeom>
        </p:spPr>
        <p:txBody>
          <a:bodyPr vert="horz" wrap="square" lIns="0" tIns="136473" rIns="0" bIns="0" rtlCol="0">
            <a:spAutoFit/>
          </a:bodyPr>
          <a:lstStyle/>
          <a:p>
            <a:pPr marL="249555">
              <a:spcBef>
                <a:spcPts val="158"/>
              </a:spcBef>
            </a:pPr>
            <a:r>
              <a:rPr sz="3000" spc="-113" dirty="0"/>
              <a:t>DevOps</a:t>
            </a:r>
            <a:r>
              <a:rPr sz="3000" spc="-233" dirty="0"/>
              <a:t> </a:t>
            </a:r>
            <a:r>
              <a:rPr sz="3000" dirty="0"/>
              <a:t>-</a:t>
            </a:r>
            <a:r>
              <a:rPr sz="3000" spc="-195" dirty="0"/>
              <a:t> </a:t>
            </a:r>
            <a:r>
              <a:rPr sz="3000" spc="-105" dirty="0"/>
              <a:t>Tools</a:t>
            </a:r>
            <a:endParaRPr sz="300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57300" y="3257549"/>
            <a:ext cx="4743450" cy="2963228"/>
            <a:chOff x="838200" y="838199"/>
            <a:chExt cx="3162300" cy="19754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200" y="838199"/>
              <a:ext cx="3097656" cy="197510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97162"/>
          </a:xfrm>
          <a:prstGeom prst="rect">
            <a:avLst/>
          </a:prstGeom>
        </p:spPr>
        <p:txBody>
          <a:bodyPr vert="horz" wrap="square" lIns="0" tIns="134187" rIns="0" bIns="0" rtlCol="0">
            <a:spAutoFit/>
          </a:bodyPr>
          <a:lstStyle/>
          <a:p>
            <a:pPr marL="249555">
              <a:spcBef>
                <a:spcPts val="150"/>
              </a:spcBef>
            </a:pPr>
            <a:r>
              <a:rPr sz="3000" spc="-113" dirty="0"/>
              <a:t>DevOps</a:t>
            </a:r>
            <a:r>
              <a:rPr sz="3000" spc="-233" dirty="0"/>
              <a:t> </a:t>
            </a:r>
            <a:r>
              <a:rPr sz="3000" dirty="0"/>
              <a:t>-</a:t>
            </a:r>
            <a:r>
              <a:rPr sz="3000" spc="-195" dirty="0"/>
              <a:t> </a:t>
            </a:r>
            <a:r>
              <a:rPr sz="3000" spc="-105" dirty="0"/>
              <a:t>Tools</a:t>
            </a:r>
            <a:endParaRPr sz="300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9200" y="3257549"/>
            <a:ext cx="6539865" cy="3204210"/>
            <a:chOff x="106133" y="838199"/>
            <a:chExt cx="4359910" cy="21361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133" y="838199"/>
              <a:ext cx="4359783" cy="213588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99471"/>
          </a:xfrm>
          <a:prstGeom prst="rect">
            <a:avLst/>
          </a:prstGeom>
        </p:spPr>
        <p:txBody>
          <a:bodyPr vert="horz" wrap="square" lIns="0" tIns="136473" rIns="0" bIns="0" rtlCol="0">
            <a:spAutoFit/>
          </a:bodyPr>
          <a:lstStyle/>
          <a:p>
            <a:pPr marL="249555">
              <a:spcBef>
                <a:spcPts val="158"/>
              </a:spcBef>
            </a:pPr>
            <a:r>
              <a:rPr sz="3000" spc="-113" dirty="0"/>
              <a:t>DevOps</a:t>
            </a:r>
            <a:r>
              <a:rPr sz="3000" spc="-233" dirty="0"/>
              <a:t> </a:t>
            </a:r>
            <a:r>
              <a:rPr sz="3000" dirty="0"/>
              <a:t>-</a:t>
            </a:r>
            <a:r>
              <a:rPr sz="3000" spc="-195" dirty="0"/>
              <a:t> </a:t>
            </a:r>
            <a:r>
              <a:rPr sz="3000" spc="-105" dirty="0"/>
              <a:t>Tools</a:t>
            </a:r>
            <a:endParaRPr sz="300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48869" y="3312413"/>
            <a:ext cx="5152073" cy="3230880"/>
            <a:chOff x="565912" y="874775"/>
            <a:chExt cx="3434715" cy="21539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70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912" y="874775"/>
              <a:ext cx="3378580" cy="215353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97162"/>
          </a:xfrm>
          <a:prstGeom prst="rect">
            <a:avLst/>
          </a:prstGeom>
        </p:spPr>
        <p:txBody>
          <a:bodyPr vert="horz" wrap="square" lIns="0" tIns="134187" rIns="0" bIns="0" rtlCol="0">
            <a:spAutoFit/>
          </a:bodyPr>
          <a:lstStyle/>
          <a:p>
            <a:pPr marL="249555">
              <a:spcBef>
                <a:spcPts val="150"/>
              </a:spcBef>
            </a:pPr>
            <a:r>
              <a:rPr sz="3000" spc="-113" dirty="0"/>
              <a:t>DevOps</a:t>
            </a:r>
            <a:r>
              <a:rPr sz="3000" spc="-233" dirty="0"/>
              <a:t> </a:t>
            </a:r>
            <a:r>
              <a:rPr sz="3000" dirty="0"/>
              <a:t>-</a:t>
            </a:r>
            <a:r>
              <a:rPr sz="3000" spc="-195" dirty="0"/>
              <a:t> </a:t>
            </a:r>
            <a:r>
              <a:rPr sz="3000" spc="-105" dirty="0"/>
              <a:t>Tools</a:t>
            </a:r>
            <a:endParaRPr sz="300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96112" y="3136200"/>
            <a:ext cx="5219700" cy="3665220"/>
            <a:chOff x="597408" y="757300"/>
            <a:chExt cx="3479800" cy="24434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70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7408" y="757300"/>
              <a:ext cx="3479546" cy="24430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99471"/>
          </a:xfrm>
          <a:prstGeom prst="rect">
            <a:avLst/>
          </a:prstGeom>
        </p:spPr>
        <p:txBody>
          <a:bodyPr vert="horz" wrap="square" lIns="0" tIns="136473" rIns="0" bIns="0" rtlCol="0">
            <a:spAutoFit/>
          </a:bodyPr>
          <a:lstStyle/>
          <a:p>
            <a:pPr marL="249555">
              <a:spcBef>
                <a:spcPts val="158"/>
              </a:spcBef>
            </a:pPr>
            <a:r>
              <a:rPr sz="3000" spc="-113" dirty="0"/>
              <a:t>DevOps</a:t>
            </a:r>
            <a:r>
              <a:rPr sz="3000" spc="-233" dirty="0"/>
              <a:t> </a:t>
            </a:r>
            <a:r>
              <a:rPr sz="3000" dirty="0"/>
              <a:t>-</a:t>
            </a:r>
            <a:r>
              <a:rPr sz="3000" spc="-195" dirty="0"/>
              <a:t> </a:t>
            </a:r>
            <a:r>
              <a:rPr sz="3000" spc="-105" dirty="0"/>
              <a:t>Tools</a:t>
            </a:r>
            <a:endParaRPr sz="300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28700" y="3356418"/>
            <a:ext cx="4972050" cy="3143250"/>
            <a:chOff x="685800" y="904112"/>
            <a:chExt cx="3314700" cy="2095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5869" y="1951608"/>
              <a:ext cx="2754249" cy="7231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904112"/>
              <a:ext cx="3124200" cy="209499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97162"/>
          </a:xfrm>
          <a:prstGeom prst="rect">
            <a:avLst/>
          </a:prstGeom>
        </p:spPr>
        <p:txBody>
          <a:bodyPr vert="horz" wrap="square" lIns="0" tIns="134187" rIns="0" bIns="0" rtlCol="0">
            <a:spAutoFit/>
          </a:bodyPr>
          <a:lstStyle/>
          <a:p>
            <a:pPr marL="249555">
              <a:spcBef>
                <a:spcPts val="150"/>
              </a:spcBef>
            </a:pPr>
            <a:r>
              <a:rPr sz="3000" spc="-113" dirty="0"/>
              <a:t>DevOps</a:t>
            </a:r>
            <a:r>
              <a:rPr sz="3000" spc="-233" dirty="0"/>
              <a:t> </a:t>
            </a:r>
            <a:r>
              <a:rPr sz="3000" dirty="0"/>
              <a:t>-</a:t>
            </a:r>
            <a:r>
              <a:rPr sz="3000" spc="-195" dirty="0"/>
              <a:t> </a:t>
            </a:r>
            <a:r>
              <a:rPr sz="3000" spc="-105" dirty="0"/>
              <a:t>Tools</a:t>
            </a:r>
            <a:endParaRPr sz="300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8804" y="4927662"/>
            <a:ext cx="4131374" cy="108470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99471"/>
          </a:xfrm>
          <a:prstGeom prst="rect">
            <a:avLst/>
          </a:prstGeom>
        </p:spPr>
        <p:txBody>
          <a:bodyPr vert="horz" wrap="square" lIns="0" tIns="136473" rIns="0" bIns="0" rtlCol="0">
            <a:spAutoFit/>
          </a:bodyPr>
          <a:lstStyle/>
          <a:p>
            <a:pPr marL="78104">
              <a:spcBef>
                <a:spcPts val="158"/>
              </a:spcBef>
            </a:pPr>
            <a:r>
              <a:rPr sz="3000" dirty="0"/>
              <a:t>DevOps–</a:t>
            </a:r>
            <a:r>
              <a:rPr sz="3000" spc="120" dirty="0"/>
              <a:t> </a:t>
            </a:r>
            <a:r>
              <a:rPr sz="3000" spc="-53" dirty="0"/>
              <a:t>Infrastructure</a:t>
            </a:r>
            <a:r>
              <a:rPr sz="3000" spc="-98" dirty="0"/>
              <a:t> </a:t>
            </a:r>
            <a:r>
              <a:rPr sz="3000" dirty="0"/>
              <a:t>as</a:t>
            </a:r>
            <a:r>
              <a:rPr sz="3000" spc="-15" dirty="0"/>
              <a:t> </a:t>
            </a:r>
            <a:r>
              <a:rPr sz="3000" spc="-30" dirty="0"/>
              <a:t>Code</a:t>
            </a:r>
            <a:endParaRPr sz="3000"/>
          </a:p>
        </p:txBody>
      </p:sp>
      <p:sp>
        <p:nvSpPr>
          <p:cNvPr id="5" name="object 5"/>
          <p:cNvSpPr txBox="1"/>
          <p:nvPr/>
        </p:nvSpPr>
        <p:spPr>
          <a:xfrm>
            <a:off x="6147245" y="6189725"/>
            <a:ext cx="125730" cy="12118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050" defTabSz="1371600">
              <a:spcBef>
                <a:spcPts val="135"/>
              </a:spcBef>
            </a:pPr>
            <a:r>
              <a:rPr sz="675" spc="-38" dirty="0">
                <a:solidFill>
                  <a:srgbClr val="888888"/>
                </a:solidFill>
                <a:latin typeface="Calibri"/>
                <a:cs typeface="Calibri"/>
              </a:rPr>
              <a:t>23</a:t>
            </a:r>
            <a:endParaRPr sz="675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270" y="5073585"/>
            <a:ext cx="361187" cy="20574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270" y="5738811"/>
            <a:ext cx="361187" cy="2057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40219" y="3095435"/>
            <a:ext cx="6041706" cy="3103927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67653" marR="54293" indent="29528" defTabSz="1371600">
              <a:lnSpc>
                <a:spcPct val="99600"/>
              </a:lnSpc>
              <a:spcBef>
                <a:spcPts val="150"/>
              </a:spcBef>
              <a:tabLst>
                <a:tab pos="1544003" algn="l"/>
                <a:tab pos="2626995" algn="l"/>
                <a:tab pos="3108008" algn="l"/>
                <a:tab pos="4127183" algn="l"/>
                <a:tab pos="4468178" algn="l"/>
                <a:tab pos="5158740" algn="l"/>
              </a:tabLst>
            </a:pPr>
            <a:r>
              <a:rPr sz="1425" spc="-15" dirty="0">
                <a:latin typeface="Calibri"/>
                <a:cs typeface="Calibri"/>
              </a:rPr>
              <a:t>organizations</a:t>
            </a:r>
            <a:r>
              <a:rPr sz="1425" spc="-75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to</a:t>
            </a:r>
            <a:r>
              <a:rPr sz="1425" spc="-23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manage</a:t>
            </a:r>
            <a:r>
              <a:rPr sz="1425" spc="-38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the</a:t>
            </a:r>
            <a:r>
              <a:rPr sz="1425" spc="8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scale</a:t>
            </a:r>
            <a:r>
              <a:rPr sz="1425" spc="8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and</a:t>
            </a:r>
            <a:r>
              <a:rPr sz="1425" spc="-38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the</a:t>
            </a:r>
            <a:r>
              <a:rPr sz="1425" spc="-30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speed</a:t>
            </a:r>
            <a:r>
              <a:rPr sz="1425" spc="23" dirty="0">
                <a:latin typeface="Calibri"/>
                <a:cs typeface="Calibri"/>
              </a:rPr>
              <a:t> </a:t>
            </a:r>
            <a:r>
              <a:rPr sz="1425" spc="-15" dirty="0">
                <a:latin typeface="Calibri"/>
                <a:cs typeface="Calibri"/>
              </a:rPr>
              <a:t>with</a:t>
            </a:r>
            <a:r>
              <a:rPr sz="1425" spc="-38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which</a:t>
            </a:r>
            <a:r>
              <a:rPr sz="1425" spc="-15" dirty="0">
                <a:latin typeface="Calibri"/>
                <a:cs typeface="Calibri"/>
              </a:rPr>
              <a:t> environments </a:t>
            </a:r>
            <a:r>
              <a:rPr sz="1425" dirty="0">
                <a:latin typeface="Calibri"/>
                <a:cs typeface="Calibri"/>
              </a:rPr>
              <a:t>need</a:t>
            </a:r>
            <a:r>
              <a:rPr sz="1425" spc="390" dirty="0">
                <a:latin typeface="Calibri"/>
                <a:cs typeface="Calibri"/>
              </a:rPr>
              <a:t>  </a:t>
            </a:r>
            <a:r>
              <a:rPr sz="1425" dirty="0">
                <a:latin typeface="Calibri"/>
                <a:cs typeface="Calibri"/>
              </a:rPr>
              <a:t>to</a:t>
            </a:r>
            <a:r>
              <a:rPr sz="1425" spc="405" dirty="0">
                <a:latin typeface="Calibri"/>
                <a:cs typeface="Calibri"/>
              </a:rPr>
              <a:t>  </a:t>
            </a:r>
            <a:r>
              <a:rPr sz="1425" spc="-38" dirty="0">
                <a:latin typeface="Calibri"/>
                <a:cs typeface="Calibri"/>
              </a:rPr>
              <a:t>be</a:t>
            </a:r>
            <a:r>
              <a:rPr sz="1425" dirty="0">
                <a:latin typeface="Calibri"/>
                <a:cs typeface="Calibri"/>
              </a:rPr>
              <a:t>	</a:t>
            </a:r>
            <a:r>
              <a:rPr sz="1425" spc="-15" dirty="0">
                <a:latin typeface="Calibri"/>
                <a:cs typeface="Calibri"/>
              </a:rPr>
              <a:t>provisioned</a:t>
            </a:r>
            <a:r>
              <a:rPr sz="1425" dirty="0">
                <a:latin typeface="Calibri"/>
                <a:cs typeface="Calibri"/>
              </a:rPr>
              <a:t>	</a:t>
            </a:r>
            <a:r>
              <a:rPr sz="1425" spc="-38" dirty="0">
                <a:latin typeface="Calibri"/>
                <a:cs typeface="Calibri"/>
              </a:rPr>
              <a:t>and</a:t>
            </a:r>
            <a:r>
              <a:rPr sz="1425" dirty="0">
                <a:latin typeface="Calibri"/>
                <a:cs typeface="Calibri"/>
              </a:rPr>
              <a:t>	</a:t>
            </a:r>
            <a:r>
              <a:rPr sz="1425" spc="-15" dirty="0">
                <a:latin typeface="Calibri"/>
                <a:cs typeface="Calibri"/>
              </a:rPr>
              <a:t>configured</a:t>
            </a:r>
            <a:r>
              <a:rPr sz="1425" dirty="0">
                <a:latin typeface="Calibri"/>
                <a:cs typeface="Calibri"/>
              </a:rPr>
              <a:t>	</a:t>
            </a:r>
            <a:r>
              <a:rPr sz="1425" spc="-38" dirty="0">
                <a:latin typeface="Calibri"/>
                <a:cs typeface="Calibri"/>
              </a:rPr>
              <a:t>to</a:t>
            </a:r>
            <a:r>
              <a:rPr sz="1425" dirty="0">
                <a:latin typeface="Calibri"/>
                <a:cs typeface="Calibri"/>
              </a:rPr>
              <a:t>	</a:t>
            </a:r>
            <a:r>
              <a:rPr sz="1425" spc="-15" dirty="0">
                <a:latin typeface="Calibri"/>
                <a:cs typeface="Calibri"/>
              </a:rPr>
              <a:t>enable</a:t>
            </a:r>
            <a:r>
              <a:rPr sz="1425" dirty="0">
                <a:latin typeface="Calibri"/>
                <a:cs typeface="Calibri"/>
              </a:rPr>
              <a:t>	</a:t>
            </a:r>
            <a:r>
              <a:rPr sz="1425" spc="-15" dirty="0">
                <a:latin typeface="Calibri"/>
                <a:cs typeface="Calibri"/>
              </a:rPr>
              <a:t>continuous delivery/deployment.</a:t>
            </a:r>
            <a:endParaRPr sz="1425">
              <a:latin typeface="Calibri"/>
              <a:cs typeface="Calibri"/>
            </a:endParaRPr>
          </a:p>
          <a:p>
            <a:pPr marL="297180" defTabSz="1371600">
              <a:lnSpc>
                <a:spcPts val="1680"/>
              </a:lnSpc>
            </a:pPr>
            <a:r>
              <a:rPr sz="1425" spc="-45" dirty="0">
                <a:latin typeface="Calibri"/>
                <a:cs typeface="Calibri"/>
              </a:rPr>
              <a:t>Infrastructure</a:t>
            </a:r>
            <a:r>
              <a:rPr sz="1425" spc="15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as</a:t>
            </a:r>
            <a:r>
              <a:rPr sz="1425" spc="23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code</a:t>
            </a:r>
            <a:r>
              <a:rPr sz="1425" spc="75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is</a:t>
            </a:r>
            <a:r>
              <a:rPr sz="1425" spc="30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the</a:t>
            </a:r>
            <a:r>
              <a:rPr sz="1425" spc="30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notion</a:t>
            </a:r>
            <a:r>
              <a:rPr sz="1425" spc="23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of</a:t>
            </a:r>
            <a:r>
              <a:rPr sz="1425" spc="-8" dirty="0">
                <a:latin typeface="Calibri"/>
                <a:cs typeface="Calibri"/>
              </a:rPr>
              <a:t> </a:t>
            </a:r>
            <a:r>
              <a:rPr sz="1425" spc="-38" dirty="0">
                <a:latin typeface="Calibri"/>
                <a:cs typeface="Calibri"/>
              </a:rPr>
              <a:t>software-defined</a:t>
            </a:r>
            <a:r>
              <a:rPr sz="1425" spc="-68" dirty="0">
                <a:latin typeface="Calibri"/>
                <a:cs typeface="Calibri"/>
              </a:rPr>
              <a:t> </a:t>
            </a:r>
            <a:r>
              <a:rPr sz="1425" spc="-15" dirty="0">
                <a:latin typeface="Calibri"/>
                <a:cs typeface="Calibri"/>
              </a:rPr>
              <a:t>environments</a:t>
            </a:r>
            <a:endParaRPr sz="1425">
              <a:latin typeface="Calibri"/>
              <a:cs typeface="Calibri"/>
            </a:endParaRPr>
          </a:p>
          <a:p>
            <a:pPr marL="267653" marR="7620" indent="31433" algn="just" defTabSz="1371600">
              <a:spcBef>
                <a:spcPts val="23"/>
              </a:spcBef>
            </a:pPr>
            <a:r>
              <a:rPr sz="1425" dirty="0">
                <a:latin typeface="Calibri"/>
                <a:cs typeface="Calibri"/>
              </a:rPr>
              <a:t>Infrastructure</a:t>
            </a:r>
            <a:r>
              <a:rPr sz="1425" spc="585" dirty="0">
                <a:latin typeface="Calibri"/>
                <a:cs typeface="Calibri"/>
              </a:rPr>
              <a:t>  </a:t>
            </a:r>
            <a:r>
              <a:rPr sz="1425" dirty="0">
                <a:latin typeface="Calibri"/>
                <a:cs typeface="Calibri"/>
              </a:rPr>
              <a:t>as</a:t>
            </a:r>
            <a:r>
              <a:rPr sz="1425" spc="217" dirty="0">
                <a:latin typeface="Calibri"/>
                <a:cs typeface="Calibri"/>
              </a:rPr>
              <a:t>  </a:t>
            </a:r>
            <a:r>
              <a:rPr sz="1425" dirty="0">
                <a:latin typeface="Calibri"/>
                <a:cs typeface="Calibri"/>
              </a:rPr>
              <a:t>code</a:t>
            </a:r>
            <a:r>
              <a:rPr sz="1425" spc="713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deals</a:t>
            </a:r>
            <a:r>
              <a:rPr sz="1425" spc="240" dirty="0">
                <a:latin typeface="Calibri"/>
                <a:cs typeface="Calibri"/>
              </a:rPr>
              <a:t>  </a:t>
            </a:r>
            <a:r>
              <a:rPr sz="1425" dirty="0">
                <a:latin typeface="Calibri"/>
                <a:cs typeface="Calibri"/>
              </a:rPr>
              <a:t>with</a:t>
            </a:r>
            <a:r>
              <a:rPr sz="1425" spc="240" dirty="0">
                <a:latin typeface="Calibri"/>
                <a:cs typeface="Calibri"/>
              </a:rPr>
              <a:t>  </a:t>
            </a:r>
            <a:r>
              <a:rPr sz="1425" dirty="0">
                <a:latin typeface="Calibri"/>
                <a:cs typeface="Calibri"/>
              </a:rPr>
              <a:t>capturing</a:t>
            </a:r>
            <a:r>
              <a:rPr sz="1425" spc="420" dirty="0">
                <a:latin typeface="Calibri"/>
                <a:cs typeface="Calibri"/>
              </a:rPr>
              <a:t>  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node</a:t>
            </a:r>
            <a:r>
              <a:rPr sz="1425" spc="713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definitions</a:t>
            </a:r>
            <a:r>
              <a:rPr sz="1425" spc="353" dirty="0">
                <a:solidFill>
                  <a:srgbClr val="006FBE"/>
                </a:solidFill>
                <a:latin typeface="Calibri"/>
                <a:cs typeface="Calibri"/>
              </a:rPr>
              <a:t>  </a:t>
            </a:r>
            <a:r>
              <a:rPr sz="1425" spc="-38" dirty="0">
                <a:latin typeface="Calibri"/>
                <a:cs typeface="Calibri"/>
              </a:rPr>
              <a:t>and</a:t>
            </a:r>
            <a:r>
              <a:rPr sz="1425" spc="-15" dirty="0">
                <a:latin typeface="Calibri"/>
                <a:cs typeface="Calibri"/>
              </a:rPr>
              <a:t> </a:t>
            </a:r>
            <a:r>
              <a:rPr sz="1425" spc="-15" dirty="0">
                <a:solidFill>
                  <a:srgbClr val="006FBE"/>
                </a:solidFill>
                <a:latin typeface="Calibri"/>
                <a:cs typeface="Calibri"/>
              </a:rPr>
              <a:t>configurations</a:t>
            </a:r>
            <a:r>
              <a:rPr sz="1425" spc="120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as</a:t>
            </a:r>
            <a:r>
              <a:rPr sz="1425" spc="90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code</a:t>
            </a:r>
            <a:r>
              <a:rPr sz="1425" spc="113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spc="-30" dirty="0">
                <a:latin typeface="Calibri"/>
                <a:cs typeface="Calibri"/>
              </a:rPr>
              <a:t>software-</a:t>
            </a:r>
            <a:r>
              <a:rPr sz="1425" dirty="0">
                <a:latin typeface="Calibri"/>
                <a:cs typeface="Calibri"/>
              </a:rPr>
              <a:t>defined</a:t>
            </a:r>
            <a:r>
              <a:rPr sz="1425" spc="105" dirty="0">
                <a:latin typeface="Calibri"/>
                <a:cs typeface="Calibri"/>
              </a:rPr>
              <a:t> </a:t>
            </a:r>
            <a:r>
              <a:rPr sz="1425" spc="-15" dirty="0">
                <a:latin typeface="Calibri"/>
                <a:cs typeface="Calibri"/>
              </a:rPr>
              <a:t>environments</a:t>
            </a:r>
            <a:r>
              <a:rPr sz="1425" spc="98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use</a:t>
            </a:r>
            <a:r>
              <a:rPr sz="1425" spc="127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technologies</a:t>
            </a:r>
            <a:r>
              <a:rPr sz="1425" spc="563" dirty="0">
                <a:latin typeface="Calibri"/>
                <a:cs typeface="Calibri"/>
              </a:rPr>
              <a:t> </a:t>
            </a:r>
            <a:r>
              <a:rPr sz="1425" spc="-30" dirty="0">
                <a:latin typeface="Calibri"/>
                <a:cs typeface="Calibri"/>
              </a:rPr>
              <a:t>that</a:t>
            </a:r>
            <a:r>
              <a:rPr sz="1425" dirty="0">
                <a:latin typeface="Calibri"/>
                <a:cs typeface="Calibri"/>
              </a:rPr>
              <a:t> define</a:t>
            </a:r>
            <a:r>
              <a:rPr sz="1425" spc="-15" dirty="0">
                <a:latin typeface="Calibri"/>
                <a:cs typeface="Calibri"/>
              </a:rPr>
              <a:t> entire</a:t>
            </a:r>
            <a:r>
              <a:rPr sz="1425" spc="-30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systems</a:t>
            </a:r>
            <a:r>
              <a:rPr sz="1425" spc="-8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made</a:t>
            </a:r>
            <a:r>
              <a:rPr sz="1425" spc="-8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up</a:t>
            </a:r>
            <a:r>
              <a:rPr sz="1425" spc="-23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of</a:t>
            </a:r>
            <a:r>
              <a:rPr sz="1425" spc="-23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multiple</a:t>
            </a:r>
            <a:r>
              <a:rPr sz="1425" spc="-15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nodes</a:t>
            </a:r>
            <a:r>
              <a:rPr sz="1425" spc="-8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not</a:t>
            </a:r>
            <a:r>
              <a:rPr sz="1425" spc="-30" dirty="0">
                <a:latin typeface="Calibri"/>
                <a:cs typeface="Calibri"/>
              </a:rPr>
              <a:t> </a:t>
            </a:r>
            <a:r>
              <a:rPr sz="1425" spc="-15" dirty="0">
                <a:latin typeface="Calibri"/>
                <a:cs typeface="Calibri"/>
              </a:rPr>
              <a:t>just</a:t>
            </a:r>
            <a:r>
              <a:rPr sz="1425" spc="-30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their</a:t>
            </a:r>
            <a:r>
              <a:rPr sz="1425" spc="293" dirty="0">
                <a:latin typeface="Calibri"/>
                <a:cs typeface="Calibri"/>
              </a:rPr>
              <a:t> </a:t>
            </a:r>
            <a:r>
              <a:rPr sz="1425" spc="-15" dirty="0">
                <a:latin typeface="Calibri"/>
                <a:cs typeface="Calibri"/>
              </a:rPr>
              <a:t>configurations, </a:t>
            </a:r>
            <a:r>
              <a:rPr sz="1425" dirty="0">
                <a:latin typeface="Calibri"/>
                <a:cs typeface="Calibri"/>
              </a:rPr>
              <a:t>but</a:t>
            </a:r>
            <a:r>
              <a:rPr sz="1425" spc="300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also</a:t>
            </a:r>
            <a:r>
              <a:rPr sz="1425" spc="338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their</a:t>
            </a:r>
            <a:r>
              <a:rPr sz="1425" spc="300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definitions,</a:t>
            </a:r>
            <a:r>
              <a:rPr sz="1425" spc="344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topologies,</a:t>
            </a:r>
            <a:r>
              <a:rPr sz="1425" spc="344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roles,</a:t>
            </a:r>
            <a:r>
              <a:rPr sz="1425" spc="300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relationships,</a:t>
            </a:r>
            <a:r>
              <a:rPr sz="1425" spc="323" dirty="0">
                <a:latin typeface="Calibri"/>
                <a:cs typeface="Calibri"/>
              </a:rPr>
              <a:t>  </a:t>
            </a:r>
            <a:r>
              <a:rPr sz="1425" dirty="0">
                <a:latin typeface="Calibri"/>
                <a:cs typeface="Calibri"/>
              </a:rPr>
              <a:t>workloads</a:t>
            </a:r>
            <a:r>
              <a:rPr sz="1425" spc="315" dirty="0">
                <a:latin typeface="Calibri"/>
                <a:cs typeface="Calibri"/>
              </a:rPr>
              <a:t> </a:t>
            </a:r>
            <a:r>
              <a:rPr sz="1425" spc="-38" dirty="0">
                <a:latin typeface="Calibri"/>
                <a:cs typeface="Calibri"/>
              </a:rPr>
              <a:t>and</a:t>
            </a:r>
            <a:r>
              <a:rPr sz="1425" spc="750" dirty="0">
                <a:latin typeface="Calibri"/>
                <a:cs typeface="Calibri"/>
              </a:rPr>
              <a:t> </a:t>
            </a:r>
            <a:r>
              <a:rPr sz="1425" spc="-45" dirty="0">
                <a:latin typeface="Calibri"/>
                <a:cs typeface="Calibri"/>
              </a:rPr>
              <a:t>workload</a:t>
            </a:r>
            <a:r>
              <a:rPr sz="1425" dirty="0">
                <a:latin typeface="Calibri"/>
                <a:cs typeface="Calibri"/>
              </a:rPr>
              <a:t> policies,</a:t>
            </a:r>
            <a:r>
              <a:rPr sz="1425" spc="8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and</a:t>
            </a:r>
            <a:r>
              <a:rPr sz="1425" spc="38" dirty="0">
                <a:latin typeface="Calibri"/>
                <a:cs typeface="Calibri"/>
              </a:rPr>
              <a:t> </a:t>
            </a:r>
            <a:r>
              <a:rPr sz="1425" spc="-15" dirty="0">
                <a:latin typeface="Calibri"/>
                <a:cs typeface="Calibri"/>
              </a:rPr>
              <a:t>behavior.</a:t>
            </a:r>
            <a:endParaRPr sz="1425">
              <a:latin typeface="Calibri"/>
              <a:cs typeface="Calibri"/>
            </a:endParaRPr>
          </a:p>
          <a:p>
            <a:pPr marL="297180" algn="just" defTabSz="1371600">
              <a:lnSpc>
                <a:spcPts val="1665"/>
              </a:lnSpc>
            </a:pPr>
            <a:r>
              <a:rPr sz="1425" spc="-30" dirty="0">
                <a:latin typeface="Calibri"/>
                <a:cs typeface="Calibri"/>
              </a:rPr>
              <a:t>Application</a:t>
            </a:r>
            <a:r>
              <a:rPr sz="1425" spc="8" dirty="0">
                <a:latin typeface="Calibri"/>
                <a:cs typeface="Calibri"/>
              </a:rPr>
              <a:t> </a:t>
            </a:r>
            <a:r>
              <a:rPr sz="1425" spc="-38" dirty="0">
                <a:latin typeface="Calibri"/>
                <a:cs typeface="Calibri"/>
              </a:rPr>
              <a:t>or</a:t>
            </a:r>
            <a:r>
              <a:rPr sz="1425" spc="-105" dirty="0">
                <a:latin typeface="Calibri"/>
                <a:cs typeface="Calibri"/>
              </a:rPr>
              <a:t> </a:t>
            </a:r>
            <a:r>
              <a:rPr sz="1425" spc="-38" dirty="0">
                <a:latin typeface="Calibri"/>
                <a:cs typeface="Calibri"/>
              </a:rPr>
              <a:t>middleware-</a:t>
            </a:r>
            <a:r>
              <a:rPr sz="1425" spc="-15" dirty="0">
                <a:latin typeface="Calibri"/>
                <a:cs typeface="Calibri"/>
              </a:rPr>
              <a:t>centric</a:t>
            </a:r>
            <a:r>
              <a:rPr sz="1425" spc="23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tools</a:t>
            </a:r>
            <a:r>
              <a:rPr sz="1425" spc="38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-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code</a:t>
            </a:r>
            <a:r>
              <a:rPr sz="1425" spc="3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both</a:t>
            </a:r>
            <a:r>
              <a:rPr sz="1425" spc="6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spc="-15" dirty="0">
                <a:solidFill>
                  <a:srgbClr val="006FBE"/>
                </a:solidFill>
                <a:latin typeface="Calibri"/>
                <a:cs typeface="Calibri"/>
              </a:rPr>
              <a:t>application</a:t>
            </a:r>
            <a:endParaRPr sz="1425">
              <a:latin typeface="Calibri"/>
              <a:cs typeface="Calibri"/>
            </a:endParaRPr>
          </a:p>
          <a:p>
            <a:pPr marL="19050" marR="32385" indent="88583" algn="just" defTabSz="1371600">
              <a:lnSpc>
                <a:spcPct val="101099"/>
              </a:lnSpc>
              <a:spcBef>
                <a:spcPts val="75"/>
              </a:spcBef>
            </a:pP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servers</a:t>
            </a:r>
            <a:r>
              <a:rPr sz="1425" spc="743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and</a:t>
            </a:r>
            <a:r>
              <a:rPr sz="1425" spc="623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the</a:t>
            </a:r>
            <a:r>
              <a:rPr sz="1425" spc="51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applications</a:t>
            </a:r>
            <a:r>
              <a:rPr sz="1425" spc="330" dirty="0">
                <a:solidFill>
                  <a:srgbClr val="006FBE"/>
                </a:solidFill>
                <a:latin typeface="Calibri"/>
                <a:cs typeface="Calibri"/>
              </a:rPr>
              <a:t>  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that</a:t>
            </a:r>
            <a:r>
              <a:rPr sz="1425" spc="593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run</a:t>
            </a:r>
            <a:r>
              <a:rPr sz="1425" spc="69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on</a:t>
            </a:r>
            <a:r>
              <a:rPr sz="1425" spc="533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them.</a:t>
            </a:r>
            <a:r>
              <a:rPr sz="1425" spc="570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Automate</a:t>
            </a:r>
            <a:r>
              <a:rPr sz="1425" spc="248" dirty="0">
                <a:latin typeface="Calibri"/>
                <a:cs typeface="Calibri"/>
              </a:rPr>
              <a:t>  </a:t>
            </a:r>
            <a:r>
              <a:rPr sz="1425" dirty="0">
                <a:latin typeface="Calibri"/>
                <a:cs typeface="Calibri"/>
              </a:rPr>
              <a:t>server</a:t>
            </a:r>
            <a:r>
              <a:rPr sz="1425" spc="600" dirty="0">
                <a:latin typeface="Calibri"/>
                <a:cs typeface="Calibri"/>
              </a:rPr>
              <a:t> </a:t>
            </a:r>
            <a:r>
              <a:rPr sz="1425" spc="-38" dirty="0">
                <a:latin typeface="Calibri"/>
                <a:cs typeface="Calibri"/>
              </a:rPr>
              <a:t>and</a:t>
            </a:r>
            <a:r>
              <a:rPr sz="1425" spc="750" dirty="0">
                <a:latin typeface="Calibri"/>
                <a:cs typeface="Calibri"/>
              </a:rPr>
              <a:t> </a:t>
            </a:r>
            <a:r>
              <a:rPr sz="1425" spc="-30" dirty="0">
                <a:latin typeface="Calibri"/>
                <a:cs typeface="Calibri"/>
              </a:rPr>
              <a:t>application-</a:t>
            </a:r>
            <a:r>
              <a:rPr sz="1425" dirty="0">
                <a:latin typeface="Calibri"/>
                <a:cs typeface="Calibri"/>
              </a:rPr>
              <a:t>level</a:t>
            </a:r>
            <a:r>
              <a:rPr sz="1425" spc="105" dirty="0">
                <a:latin typeface="Calibri"/>
                <a:cs typeface="Calibri"/>
              </a:rPr>
              <a:t> </a:t>
            </a:r>
            <a:r>
              <a:rPr sz="1425" spc="-30" dirty="0">
                <a:latin typeface="Calibri"/>
                <a:cs typeface="Calibri"/>
              </a:rPr>
              <a:t>tasks</a:t>
            </a:r>
            <a:endParaRPr sz="1425">
              <a:latin typeface="Calibri"/>
              <a:cs typeface="Calibri"/>
            </a:endParaRPr>
          </a:p>
          <a:p>
            <a:pPr marL="267653" marR="522923" indent="29528" algn="just" defTabSz="1371600"/>
            <a:r>
              <a:rPr sz="1425" spc="-30" dirty="0">
                <a:latin typeface="Calibri"/>
                <a:cs typeface="Calibri"/>
              </a:rPr>
              <a:t>Generic</a:t>
            </a:r>
            <a:r>
              <a:rPr sz="1425" spc="-53" dirty="0">
                <a:latin typeface="Calibri"/>
                <a:cs typeface="Calibri"/>
              </a:rPr>
              <a:t> </a:t>
            </a:r>
            <a:r>
              <a:rPr sz="1425" dirty="0">
                <a:latin typeface="Calibri"/>
                <a:cs typeface="Calibri"/>
              </a:rPr>
              <a:t>tools</a:t>
            </a:r>
            <a:r>
              <a:rPr sz="1425" spc="-83" dirty="0">
                <a:latin typeface="Calibri"/>
                <a:cs typeface="Calibri"/>
              </a:rPr>
              <a:t> </a:t>
            </a:r>
            <a:r>
              <a:rPr sz="1425" spc="-23" dirty="0">
                <a:latin typeface="Calibri"/>
                <a:cs typeface="Calibri"/>
              </a:rPr>
              <a:t>-</a:t>
            </a:r>
            <a:r>
              <a:rPr sz="1425" spc="-15" dirty="0">
                <a:solidFill>
                  <a:srgbClr val="006FBE"/>
                </a:solidFill>
                <a:latin typeface="Calibri"/>
                <a:cs typeface="Calibri"/>
              </a:rPr>
              <a:t>scripted</a:t>
            </a:r>
            <a:r>
              <a:rPr sz="1425" spc="6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to</a:t>
            </a:r>
            <a:r>
              <a:rPr sz="1425" spc="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spc="-45" dirty="0">
                <a:solidFill>
                  <a:srgbClr val="006FBE"/>
                </a:solidFill>
                <a:latin typeface="Calibri"/>
                <a:cs typeface="Calibri"/>
              </a:rPr>
              <a:t>perform</a:t>
            </a:r>
            <a:r>
              <a:rPr sz="1425" spc="-30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spc="-45" dirty="0">
                <a:solidFill>
                  <a:srgbClr val="006FBE"/>
                </a:solidFill>
                <a:latin typeface="Calibri"/>
                <a:cs typeface="Calibri"/>
              </a:rPr>
              <a:t>several</a:t>
            </a:r>
            <a:r>
              <a:rPr sz="1425" spc="-3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spc="-15" dirty="0">
                <a:solidFill>
                  <a:srgbClr val="006FBE"/>
                </a:solidFill>
                <a:latin typeface="Calibri"/>
                <a:cs typeface="Calibri"/>
              </a:rPr>
              <a:t>kinds</a:t>
            </a:r>
            <a:r>
              <a:rPr sz="1425" spc="-3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of</a:t>
            </a:r>
            <a:r>
              <a:rPr sz="1425" spc="-15" dirty="0">
                <a:solidFill>
                  <a:srgbClr val="006FBE"/>
                </a:solidFill>
                <a:latin typeface="Calibri"/>
                <a:cs typeface="Calibri"/>
              </a:rPr>
              <a:t> tasks,</a:t>
            </a:r>
            <a:r>
              <a:rPr sz="1425" spc="15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spc="-30" dirty="0">
                <a:solidFill>
                  <a:srgbClr val="006FBE"/>
                </a:solidFill>
                <a:latin typeface="Calibri"/>
                <a:cs typeface="Calibri"/>
              </a:rPr>
              <a:t>all</a:t>
            </a:r>
            <a:r>
              <a:rPr sz="1425" spc="-23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the</a:t>
            </a:r>
            <a:r>
              <a:rPr sz="1425" spc="3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spc="-75" dirty="0">
                <a:solidFill>
                  <a:srgbClr val="006FBE"/>
                </a:solidFill>
                <a:latin typeface="Calibri"/>
                <a:cs typeface="Calibri"/>
              </a:rPr>
              <a:t>way</a:t>
            </a:r>
            <a:r>
              <a:rPr sz="1425" spc="-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spc="-30" dirty="0">
                <a:solidFill>
                  <a:srgbClr val="006FBE"/>
                </a:solidFill>
                <a:latin typeface="Calibri"/>
                <a:cs typeface="Calibri"/>
              </a:rPr>
              <a:t>from</a:t>
            </a:r>
            <a:r>
              <a:rPr sz="1425" spc="-15" dirty="0">
                <a:solidFill>
                  <a:srgbClr val="006FBE"/>
                </a:solidFill>
                <a:latin typeface="Calibri"/>
                <a:cs typeface="Calibri"/>
              </a:rPr>
              <a:t> configuring</a:t>
            </a:r>
            <a:r>
              <a:rPr sz="1425" spc="-3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an</a:t>
            </a:r>
            <a:r>
              <a:rPr sz="1425" spc="-30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spc="-15" dirty="0">
                <a:solidFill>
                  <a:srgbClr val="006FBE"/>
                </a:solidFill>
                <a:latin typeface="Calibri"/>
                <a:cs typeface="Calibri"/>
              </a:rPr>
              <a:t>OS</a:t>
            </a:r>
            <a:r>
              <a:rPr sz="1425" spc="-3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on</a:t>
            </a:r>
            <a:r>
              <a:rPr sz="1425" spc="23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a</a:t>
            </a:r>
            <a:r>
              <a:rPr sz="1425" spc="-60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spc="-38" dirty="0">
                <a:solidFill>
                  <a:srgbClr val="006FBE"/>
                </a:solidFill>
                <a:latin typeface="Calibri"/>
                <a:cs typeface="Calibri"/>
              </a:rPr>
              <a:t>virtual</a:t>
            </a:r>
            <a:r>
              <a:rPr sz="1425" spc="-60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spc="-38" dirty="0">
                <a:solidFill>
                  <a:srgbClr val="006FBE"/>
                </a:solidFill>
                <a:latin typeface="Calibri"/>
                <a:cs typeface="Calibri"/>
              </a:rPr>
              <a:t>or</a:t>
            </a:r>
            <a:r>
              <a:rPr sz="1425" spc="-127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spc="-15" dirty="0">
                <a:solidFill>
                  <a:srgbClr val="006FBE"/>
                </a:solidFill>
                <a:latin typeface="Calibri"/>
                <a:cs typeface="Calibri"/>
              </a:rPr>
              <a:t>physical</a:t>
            </a:r>
            <a:r>
              <a:rPr sz="1425" spc="53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node</a:t>
            </a:r>
            <a:r>
              <a:rPr sz="1425" spc="15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dirty="0">
                <a:solidFill>
                  <a:srgbClr val="006FBE"/>
                </a:solidFill>
                <a:latin typeface="Calibri"/>
                <a:cs typeface="Calibri"/>
              </a:rPr>
              <a:t>to</a:t>
            </a:r>
            <a:r>
              <a:rPr sz="1425" spc="-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spc="-15" dirty="0">
                <a:solidFill>
                  <a:srgbClr val="006FBE"/>
                </a:solidFill>
                <a:latin typeface="Calibri"/>
                <a:cs typeface="Calibri"/>
              </a:rPr>
              <a:t>configuring</a:t>
            </a:r>
            <a:r>
              <a:rPr sz="1425" spc="-135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425" spc="-15" dirty="0">
                <a:solidFill>
                  <a:srgbClr val="006FBE"/>
                </a:solidFill>
                <a:latin typeface="Calibri"/>
                <a:cs typeface="Calibri"/>
              </a:rPr>
              <a:t>firewall</a:t>
            </a:r>
            <a:endParaRPr sz="1425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0346" y="6123927"/>
            <a:ext cx="411480" cy="238527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1425" spc="-15" dirty="0">
                <a:solidFill>
                  <a:srgbClr val="006FBE"/>
                </a:solidFill>
                <a:latin typeface="Calibri"/>
                <a:cs typeface="Calibri"/>
              </a:rPr>
              <a:t>ports</a:t>
            </a:r>
            <a:endParaRPr sz="1425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636981"/>
          </a:xfrm>
          <a:prstGeom prst="rect">
            <a:avLst/>
          </a:prstGeom>
        </p:spPr>
        <p:txBody>
          <a:bodyPr vert="horz" wrap="square" lIns="0" tIns="173621" rIns="0" bIns="0" rtlCol="0">
            <a:spAutoFit/>
          </a:bodyPr>
          <a:lstStyle/>
          <a:p>
            <a:pPr marL="79058">
              <a:spcBef>
                <a:spcPts val="150"/>
              </a:spcBef>
            </a:pPr>
            <a:r>
              <a:rPr sz="3000" dirty="0"/>
              <a:t>DevOps–</a:t>
            </a:r>
            <a:r>
              <a:rPr sz="3000" spc="38" dirty="0"/>
              <a:t> </a:t>
            </a:r>
            <a:r>
              <a:rPr sz="3000" spc="-15" dirty="0"/>
              <a:t>Delivery</a:t>
            </a:r>
            <a:r>
              <a:rPr sz="3000" spc="-113" dirty="0"/>
              <a:t> </a:t>
            </a:r>
            <a:r>
              <a:rPr sz="3000" spc="-15" dirty="0"/>
              <a:t>pipeline</a:t>
            </a:r>
            <a:endParaRPr sz="3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269" y="3163442"/>
            <a:ext cx="379476" cy="21488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59269" y="3678173"/>
            <a:ext cx="457200" cy="523875"/>
            <a:chOff x="172846" y="1118615"/>
            <a:chExt cx="304800" cy="3492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846" y="1118615"/>
              <a:ext cx="304800" cy="17373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1324355"/>
              <a:ext cx="252984" cy="14325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89395" y="3091814"/>
            <a:ext cx="5987415" cy="1681229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48576" algn="just" defTabSz="1371600">
              <a:spcBef>
                <a:spcPts val="150"/>
              </a:spcBef>
            </a:pPr>
            <a:r>
              <a:rPr dirty="0">
                <a:latin typeface="Calibri"/>
                <a:cs typeface="Calibri"/>
              </a:rPr>
              <a:t>A</a:t>
            </a:r>
            <a:r>
              <a:rPr spc="1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delivery</a:t>
            </a:r>
            <a:r>
              <a:rPr spc="2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pipeline</a:t>
            </a:r>
            <a:r>
              <a:rPr spc="2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consists</a:t>
            </a:r>
            <a:r>
              <a:rPr spc="26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2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2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stages</a:t>
            </a:r>
            <a:r>
              <a:rPr spc="2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</a:t>
            </a:r>
            <a:r>
              <a:rPr spc="20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application</a:t>
            </a:r>
            <a:r>
              <a:rPr spc="233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goes</a:t>
            </a:r>
            <a:endParaRPr>
              <a:latin typeface="Calibri"/>
              <a:cs typeface="Calibri"/>
            </a:endParaRPr>
          </a:p>
          <a:p>
            <a:pPr marL="19050" algn="just" defTabSz="1371600"/>
            <a:r>
              <a:rPr dirty="0">
                <a:latin typeface="Calibri"/>
                <a:cs typeface="Calibri"/>
              </a:rPr>
              <a:t>through</a:t>
            </a:r>
            <a:r>
              <a:rPr spc="278" dirty="0">
                <a:latin typeface="Calibri"/>
                <a:cs typeface="Calibri"/>
              </a:rPr>
              <a:t> </a:t>
            </a:r>
            <a:r>
              <a:rPr spc="-53" dirty="0">
                <a:latin typeface="Calibri"/>
                <a:cs typeface="Calibri"/>
              </a:rPr>
              <a:t>from</a:t>
            </a:r>
            <a:r>
              <a:rPr spc="-6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development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through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production</a:t>
            </a:r>
            <a:endParaRPr>
              <a:latin typeface="Calibri"/>
              <a:cs typeface="Calibri"/>
            </a:endParaRPr>
          </a:p>
          <a:p>
            <a:pPr marL="48576" algn="just" defTabSz="1371600"/>
            <a:r>
              <a:rPr dirty="0">
                <a:latin typeface="Calibri"/>
                <a:cs typeface="Calibri"/>
              </a:rPr>
              <a:t>Stages</a:t>
            </a:r>
            <a:r>
              <a:rPr spc="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may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spc="-75" dirty="0">
                <a:latin typeface="Calibri"/>
                <a:cs typeface="Calibri"/>
              </a:rPr>
              <a:t>vary</a:t>
            </a:r>
            <a:r>
              <a:rPr spc="-127" dirty="0">
                <a:latin typeface="Calibri"/>
                <a:cs typeface="Calibri"/>
              </a:rPr>
              <a:t> </a:t>
            </a:r>
            <a:r>
              <a:rPr spc="-53" dirty="0">
                <a:latin typeface="Calibri"/>
                <a:cs typeface="Calibri"/>
              </a:rPr>
              <a:t>from</a:t>
            </a:r>
            <a:r>
              <a:rPr spc="-6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one</a:t>
            </a:r>
            <a:r>
              <a:rPr spc="3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organization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another.</a:t>
            </a:r>
            <a:endParaRPr>
              <a:latin typeface="Calibri"/>
              <a:cs typeface="Calibri"/>
            </a:endParaRPr>
          </a:p>
          <a:p>
            <a:pPr marL="19050" marR="7620" indent="29528" algn="just" defTabSz="1371600"/>
            <a:r>
              <a:rPr dirty="0">
                <a:latin typeface="Calibri"/>
                <a:cs typeface="Calibri"/>
              </a:rPr>
              <a:t>Some</a:t>
            </a:r>
            <a:r>
              <a:rPr spc="57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organizations</a:t>
            </a:r>
            <a:r>
              <a:rPr spc="57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fully</a:t>
            </a:r>
            <a:r>
              <a:rPr spc="5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automate</a:t>
            </a:r>
            <a:r>
              <a:rPr spc="5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their</a:t>
            </a:r>
            <a:r>
              <a:rPr spc="5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delivery</a:t>
            </a:r>
            <a:r>
              <a:rPr spc="563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pipelines; </a:t>
            </a:r>
            <a:r>
              <a:rPr dirty="0">
                <a:latin typeface="Calibri"/>
                <a:cs typeface="Calibri"/>
              </a:rPr>
              <a:t>others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put</a:t>
            </a:r>
            <a:r>
              <a:rPr spc="39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their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software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through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manual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checks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gates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due </a:t>
            </a:r>
            <a:r>
              <a:rPr dirty="0">
                <a:latin typeface="Calibri"/>
                <a:cs typeface="Calibri"/>
              </a:rPr>
              <a:t>to </a:t>
            </a:r>
            <a:r>
              <a:rPr spc="-38" dirty="0">
                <a:latin typeface="Calibri"/>
                <a:cs typeface="Calibri"/>
              </a:rPr>
              <a:t>regulatory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</a:t>
            </a:r>
            <a:r>
              <a:rPr spc="24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company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requirements</a:t>
            </a:r>
            <a:r>
              <a:rPr sz="1050" spc="-15" dirty="0"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1663" y="5017189"/>
            <a:ext cx="4459824" cy="1783661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81583"/>
          </a:xfrm>
          <a:prstGeom prst="rect">
            <a:avLst/>
          </a:prstGeom>
        </p:spPr>
        <p:txBody>
          <a:bodyPr vert="horz" wrap="square" lIns="0" tIns="118758" rIns="0" bIns="0" rtlCol="0">
            <a:spAutoFit/>
          </a:bodyPr>
          <a:lstStyle/>
          <a:p>
            <a:pPr marL="113348">
              <a:spcBef>
                <a:spcPts val="158"/>
              </a:spcBef>
            </a:pPr>
            <a:r>
              <a:rPr sz="3000" dirty="0"/>
              <a:t>DevOps–</a:t>
            </a:r>
            <a:r>
              <a:rPr sz="3000" spc="45" dirty="0"/>
              <a:t> </a:t>
            </a:r>
            <a:r>
              <a:rPr sz="3000" spc="-15" dirty="0"/>
              <a:t>Delivery</a:t>
            </a:r>
            <a:r>
              <a:rPr sz="3000" spc="-135" dirty="0"/>
              <a:t> </a:t>
            </a:r>
            <a:r>
              <a:rPr sz="3000" spc="-15" dirty="0"/>
              <a:t>pipeline</a:t>
            </a:r>
            <a:endParaRPr sz="3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270" y="3362324"/>
            <a:ext cx="384047" cy="22174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269" y="3846956"/>
            <a:ext cx="342900" cy="19430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270" y="4521326"/>
            <a:ext cx="384047" cy="22174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59269" y="5227700"/>
            <a:ext cx="384810" cy="457200"/>
            <a:chOff x="172846" y="2151633"/>
            <a:chExt cx="256540" cy="30480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2151633"/>
              <a:ext cx="256031" cy="14782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846" y="2326588"/>
              <a:ext cx="228600" cy="12984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40220" y="3094100"/>
            <a:ext cx="6384608" cy="2830262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9050" algn="just" defTabSz="1371600">
              <a:spcBef>
                <a:spcPts val="180"/>
              </a:spcBef>
            </a:pPr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Development</a:t>
            </a:r>
            <a:r>
              <a:rPr sz="1500" spc="105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006FBE"/>
                </a:solidFill>
                <a:latin typeface="Calibri"/>
                <a:cs typeface="Calibri"/>
              </a:rPr>
              <a:t>environment</a:t>
            </a:r>
            <a:endParaRPr sz="1500">
              <a:latin typeface="Calibri"/>
              <a:cs typeface="Calibri"/>
            </a:endParaRPr>
          </a:p>
          <a:p>
            <a:pPr marL="267653" marR="214313" indent="29528" algn="just" defTabSz="1371600">
              <a:lnSpc>
                <a:spcPct val="101000"/>
              </a:lnSpc>
              <a:spcBef>
                <a:spcPts val="15"/>
              </a:spcBef>
            </a:pPr>
            <a:r>
              <a:rPr sz="1500" dirty="0">
                <a:latin typeface="Calibri"/>
                <a:cs typeface="Calibri"/>
              </a:rPr>
              <a:t>provides</a:t>
            </a:r>
            <a:r>
              <a:rPr sz="1500" spc="6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multiple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tools</a:t>
            </a:r>
            <a:r>
              <a:rPr sz="1500" spc="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enable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1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developers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11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write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test</a:t>
            </a:r>
            <a:r>
              <a:rPr sz="1500" spc="11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code. </a:t>
            </a:r>
            <a:r>
              <a:rPr sz="1500" dirty="0">
                <a:latin typeface="Calibri"/>
                <a:cs typeface="Calibri"/>
              </a:rPr>
              <a:t>Beyond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integrated</a:t>
            </a:r>
            <a:r>
              <a:rPr sz="1500" spc="9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development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environment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(IDE)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tools</a:t>
            </a:r>
            <a:endParaRPr sz="1500">
              <a:latin typeface="Calibri"/>
              <a:cs typeface="Calibri"/>
            </a:endParaRPr>
          </a:p>
          <a:p>
            <a:pPr marL="267653" marR="7620" indent="29528" algn="just" defTabSz="1371600">
              <a:lnSpc>
                <a:spcPct val="101499"/>
              </a:lnSpc>
              <a:spcBef>
                <a:spcPts val="8"/>
              </a:spcBef>
            </a:pPr>
            <a:r>
              <a:rPr sz="1500" dirty="0">
                <a:latin typeface="Calibri"/>
                <a:cs typeface="Calibri"/>
              </a:rPr>
              <a:t>Developers</a:t>
            </a:r>
            <a:r>
              <a:rPr sz="1500" spc="69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</a:t>
            </a:r>
            <a:r>
              <a:rPr sz="1500" spc="7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7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write</a:t>
            </a:r>
            <a:r>
              <a:rPr sz="1500" spc="65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code,</a:t>
            </a:r>
            <a:r>
              <a:rPr sz="1500" spc="7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this</a:t>
            </a:r>
            <a:r>
              <a:rPr sz="1500" spc="71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stage</a:t>
            </a:r>
            <a:r>
              <a:rPr sz="1500" spc="71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includes</a:t>
            </a:r>
            <a:r>
              <a:rPr sz="1500" spc="7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tools</a:t>
            </a:r>
            <a:r>
              <a:rPr sz="1500" spc="7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66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enable </a:t>
            </a:r>
            <a:r>
              <a:rPr sz="1500" dirty="0">
                <a:latin typeface="Calibri"/>
                <a:cs typeface="Calibri"/>
              </a:rPr>
              <a:t>collaborative</a:t>
            </a:r>
            <a:r>
              <a:rPr sz="1500" spc="29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development,</a:t>
            </a:r>
            <a:r>
              <a:rPr sz="1500" spc="3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such</a:t>
            </a:r>
            <a:r>
              <a:rPr sz="1500" spc="34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3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tools</a:t>
            </a:r>
            <a:r>
              <a:rPr sz="1500" spc="3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2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source</a:t>
            </a:r>
            <a:r>
              <a:rPr sz="1500" spc="3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control</a:t>
            </a:r>
            <a:r>
              <a:rPr sz="1500" spc="306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management, work-item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management,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collaboration,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unit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testing,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project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planning.</a:t>
            </a:r>
            <a:endParaRPr sz="1500">
              <a:latin typeface="Calibri"/>
              <a:cs typeface="Calibri"/>
            </a:endParaRPr>
          </a:p>
          <a:p>
            <a:pPr marL="297180" algn="just" defTabSz="1371600">
              <a:spcBef>
                <a:spcPts val="23"/>
              </a:spcBef>
            </a:pPr>
            <a:r>
              <a:rPr sz="1500" spc="-15" dirty="0">
                <a:latin typeface="Calibri"/>
                <a:cs typeface="Calibri"/>
              </a:rPr>
              <a:t>Tools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this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stage</a:t>
            </a:r>
            <a:r>
              <a:rPr sz="1500" spc="6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typically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are</a:t>
            </a:r>
            <a:r>
              <a:rPr sz="1500" spc="-9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cross-</a:t>
            </a:r>
            <a:r>
              <a:rPr sz="1500" dirty="0">
                <a:latin typeface="Calibri"/>
                <a:cs typeface="Calibri"/>
              </a:rPr>
              <a:t>platform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cross-</a:t>
            </a:r>
            <a:r>
              <a:rPr sz="1500" spc="-15" dirty="0">
                <a:latin typeface="Calibri"/>
                <a:cs typeface="Calibri"/>
              </a:rPr>
              <a:t>technology.</a:t>
            </a:r>
            <a:endParaRPr sz="1500">
              <a:latin typeface="Calibri"/>
              <a:cs typeface="Calibri"/>
            </a:endParaRPr>
          </a:p>
          <a:p>
            <a:pPr defTabSz="1371600">
              <a:spcBef>
                <a:spcPts val="113"/>
              </a:spcBef>
            </a:pPr>
            <a:endParaRPr sz="1500">
              <a:latin typeface="Calibri"/>
              <a:cs typeface="Calibri"/>
            </a:endParaRPr>
          </a:p>
          <a:p>
            <a:pPr marL="19050" defTabSz="1371600"/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Build</a:t>
            </a:r>
            <a:r>
              <a:rPr sz="1500" spc="-15" dirty="0">
                <a:solidFill>
                  <a:srgbClr val="006FBE"/>
                </a:solidFill>
                <a:latin typeface="Calibri"/>
                <a:cs typeface="Calibri"/>
              </a:rPr>
              <a:t> stage</a:t>
            </a:r>
            <a:endParaRPr sz="1500">
              <a:latin typeface="Calibri"/>
              <a:cs typeface="Calibri"/>
            </a:endParaRPr>
          </a:p>
          <a:p>
            <a:pPr marL="297180" defTabSz="1371600">
              <a:spcBef>
                <a:spcPts val="15"/>
              </a:spcBef>
            </a:pPr>
            <a:r>
              <a:rPr sz="1500" dirty="0">
                <a:latin typeface="Calibri"/>
                <a:cs typeface="Calibri"/>
              </a:rPr>
              <a:t>code</a:t>
            </a:r>
            <a:r>
              <a:rPr sz="1500" spc="9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compiled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create</a:t>
            </a:r>
            <a:r>
              <a:rPr sz="1500" dirty="0">
                <a:latin typeface="Calibri"/>
                <a:cs typeface="Calibri"/>
              </a:rPr>
              <a:t> and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unit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test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binaries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deployed.</a:t>
            </a:r>
            <a:endParaRPr sz="1500">
              <a:latin typeface="Calibri"/>
              <a:cs typeface="Calibri"/>
            </a:endParaRPr>
          </a:p>
          <a:p>
            <a:pPr marL="297180" defTabSz="1371600">
              <a:spcBef>
                <a:spcPts val="113"/>
              </a:spcBef>
            </a:pPr>
            <a:r>
              <a:rPr sz="1500" dirty="0">
                <a:latin typeface="Calibri"/>
                <a:cs typeface="Calibri"/>
              </a:rPr>
              <a:t>organizations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typically</a:t>
            </a:r>
            <a:r>
              <a:rPr sz="1500" spc="-6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</a:t>
            </a:r>
            <a:r>
              <a:rPr sz="1500" spc="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build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servers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facilitate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large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number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of</a:t>
            </a:r>
            <a:endParaRPr sz="1500">
              <a:latin typeface="Calibri"/>
              <a:cs typeface="Calibri"/>
            </a:endParaRPr>
          </a:p>
          <a:p>
            <a:pPr marL="267653" defTabSz="1371600">
              <a:spcBef>
                <a:spcPts val="15"/>
              </a:spcBef>
            </a:pPr>
            <a:r>
              <a:rPr sz="1500" dirty="0">
                <a:latin typeface="Calibri"/>
                <a:cs typeface="Calibri"/>
              </a:rPr>
              <a:t>builds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required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</a:t>
            </a:r>
            <a:r>
              <a:rPr sz="1500" spc="1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ongoing</a:t>
            </a:r>
            <a:r>
              <a:rPr sz="1500" spc="15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basis</a:t>
            </a:r>
            <a:r>
              <a:rPr sz="1500" spc="8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1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enable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continuous</a:t>
            </a:r>
            <a:r>
              <a:rPr sz="1500" spc="-6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integration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63884"/>
          </a:xfrm>
          <a:prstGeom prst="rect">
            <a:avLst/>
          </a:prstGeom>
        </p:spPr>
        <p:txBody>
          <a:bodyPr vert="horz" wrap="square" lIns="0" tIns="101231" rIns="0" bIns="0" rtlCol="0">
            <a:spAutoFit/>
          </a:bodyPr>
          <a:lstStyle/>
          <a:p>
            <a:pPr marL="75248">
              <a:spcBef>
                <a:spcPts val="150"/>
              </a:spcBef>
            </a:pPr>
            <a:r>
              <a:rPr sz="3000" dirty="0"/>
              <a:t>DevOps–</a:t>
            </a:r>
            <a:r>
              <a:rPr sz="3000" spc="38" dirty="0"/>
              <a:t> </a:t>
            </a:r>
            <a:r>
              <a:rPr sz="3000" spc="-15" dirty="0"/>
              <a:t>Delivery</a:t>
            </a:r>
            <a:r>
              <a:rPr sz="3000" spc="-120" dirty="0"/>
              <a:t> </a:t>
            </a:r>
            <a:r>
              <a:rPr sz="3000" spc="-15" dirty="0"/>
              <a:t>pipeline</a:t>
            </a:r>
            <a:endParaRPr sz="3000"/>
          </a:p>
        </p:txBody>
      </p:sp>
      <p:grpSp>
        <p:nvGrpSpPr>
          <p:cNvPr id="4" name="object 4"/>
          <p:cNvGrpSpPr/>
          <p:nvPr/>
        </p:nvGrpSpPr>
        <p:grpSpPr>
          <a:xfrm>
            <a:off x="259269" y="3385946"/>
            <a:ext cx="342900" cy="422910"/>
            <a:chOff x="172846" y="923797"/>
            <a:chExt cx="228600" cy="2819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923797"/>
              <a:ext cx="228600" cy="1295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1076197"/>
              <a:ext cx="228600" cy="129540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269" y="4769548"/>
            <a:ext cx="342900" cy="19430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269" y="5240464"/>
            <a:ext cx="342900" cy="19430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9269" y="5918453"/>
            <a:ext cx="22860" cy="27889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40220" y="3092576"/>
            <a:ext cx="6382703" cy="339015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9050" defTabSz="1371600">
              <a:spcBef>
                <a:spcPts val="180"/>
              </a:spcBef>
            </a:pPr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Package</a:t>
            </a:r>
            <a:r>
              <a:rPr sz="1500" spc="6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006FBE"/>
                </a:solidFill>
                <a:latin typeface="Calibri"/>
                <a:cs typeface="Calibri"/>
              </a:rPr>
              <a:t>repository</a:t>
            </a:r>
            <a:r>
              <a:rPr sz="1500" spc="-30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006FBE"/>
                </a:solidFill>
                <a:latin typeface="Calibri"/>
                <a:cs typeface="Calibri"/>
              </a:rPr>
              <a:t>(artifact</a:t>
            </a:r>
            <a:r>
              <a:rPr sz="1500" spc="-60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006FBE"/>
                </a:solidFill>
                <a:latin typeface="Calibri"/>
                <a:cs typeface="Calibri"/>
              </a:rPr>
              <a:t>repository)</a:t>
            </a:r>
            <a:endParaRPr sz="1500">
              <a:latin typeface="Calibri"/>
              <a:cs typeface="Calibri"/>
            </a:endParaRPr>
          </a:p>
          <a:p>
            <a:pPr marL="267653" marR="7620" indent="29528" defTabSz="1371600">
              <a:spcBef>
                <a:spcPts val="68"/>
              </a:spcBef>
            </a:pPr>
            <a:r>
              <a:rPr sz="1500" dirty="0">
                <a:latin typeface="Calibri"/>
                <a:cs typeface="Calibri"/>
              </a:rPr>
              <a:t>common</a:t>
            </a:r>
            <a:r>
              <a:rPr sz="1500" spc="1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storage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mechanism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for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binaries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created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during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build</a:t>
            </a:r>
            <a:r>
              <a:rPr sz="1500" spc="33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stage </a:t>
            </a:r>
            <a:r>
              <a:rPr sz="1500" dirty="0">
                <a:latin typeface="Calibri"/>
                <a:cs typeface="Calibri"/>
              </a:rPr>
              <a:t>need</a:t>
            </a:r>
            <a:r>
              <a:rPr sz="1500" spc="4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45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store</a:t>
            </a:r>
            <a:r>
              <a:rPr sz="1500" spc="42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44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assets</a:t>
            </a:r>
            <a:r>
              <a:rPr sz="1500" spc="47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associated</a:t>
            </a:r>
            <a:r>
              <a:rPr sz="1500" spc="48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4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44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binaries</a:t>
            </a:r>
            <a:r>
              <a:rPr sz="1500" spc="4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4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facilitate</a:t>
            </a:r>
            <a:r>
              <a:rPr sz="1500" spc="44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their </a:t>
            </a:r>
            <a:r>
              <a:rPr sz="1500" dirty="0">
                <a:latin typeface="Calibri"/>
                <a:cs typeface="Calibri"/>
              </a:rPr>
              <a:t>deployment,</a:t>
            </a:r>
            <a:r>
              <a:rPr sz="1500" spc="56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such</a:t>
            </a:r>
            <a:r>
              <a:rPr sz="1500" spc="58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54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configuration</a:t>
            </a:r>
            <a:r>
              <a:rPr sz="1500" spc="5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files,</a:t>
            </a:r>
            <a:r>
              <a:rPr sz="1500" spc="53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infrastructure-as-</a:t>
            </a:r>
            <a:r>
              <a:rPr sz="1500" dirty="0">
                <a:latin typeface="Calibri"/>
                <a:cs typeface="Calibri"/>
              </a:rPr>
              <a:t>code</a:t>
            </a:r>
            <a:r>
              <a:rPr sz="1500" spc="51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files,</a:t>
            </a:r>
            <a:r>
              <a:rPr sz="1500" spc="54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and</a:t>
            </a:r>
            <a:r>
              <a:rPr sz="1500" dirty="0">
                <a:latin typeface="Calibri"/>
                <a:cs typeface="Calibri"/>
              </a:rPr>
              <a:t> deployment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scripts</a:t>
            </a:r>
            <a:endParaRPr sz="1500">
              <a:latin typeface="Calibri"/>
              <a:cs typeface="Calibri"/>
            </a:endParaRPr>
          </a:p>
          <a:p>
            <a:pPr defTabSz="1371600">
              <a:spcBef>
                <a:spcPts val="30"/>
              </a:spcBef>
            </a:pPr>
            <a:endParaRPr sz="1500">
              <a:latin typeface="Calibri"/>
              <a:cs typeface="Calibri"/>
            </a:endParaRPr>
          </a:p>
          <a:p>
            <a:pPr marL="19050" defTabSz="1371600"/>
            <a:r>
              <a:rPr sz="1500" spc="-38" dirty="0">
                <a:solidFill>
                  <a:srgbClr val="006FBE"/>
                </a:solidFill>
                <a:latin typeface="Calibri"/>
                <a:cs typeface="Calibri"/>
              </a:rPr>
              <a:t>Test </a:t>
            </a:r>
            <a:r>
              <a:rPr sz="1500" spc="-15" dirty="0">
                <a:solidFill>
                  <a:srgbClr val="006FBE"/>
                </a:solidFill>
                <a:latin typeface="Calibri"/>
                <a:cs typeface="Calibri"/>
              </a:rPr>
              <a:t>environment</a:t>
            </a:r>
            <a:endParaRPr sz="1500">
              <a:latin typeface="Calibri"/>
              <a:cs typeface="Calibri"/>
            </a:endParaRPr>
          </a:p>
          <a:p>
            <a:pPr marL="267653" marR="41910" indent="29528" defTabSz="1371600">
              <a:lnSpc>
                <a:spcPct val="101000"/>
              </a:lnSpc>
              <a:spcBef>
                <a:spcPts val="15"/>
              </a:spcBef>
            </a:pPr>
            <a:r>
              <a:rPr sz="1500" dirty="0">
                <a:latin typeface="Calibri"/>
                <a:cs typeface="Calibri"/>
              </a:rPr>
              <a:t>QA,</a:t>
            </a:r>
            <a:r>
              <a:rPr sz="1500" spc="315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user</a:t>
            </a:r>
            <a:r>
              <a:rPr sz="1500" spc="5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acceptance,</a:t>
            </a:r>
            <a:r>
              <a:rPr sz="1500" spc="217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689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development/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testing</a:t>
            </a:r>
            <a:r>
              <a:rPr sz="1500" spc="210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teams</a:t>
            </a:r>
            <a:r>
              <a:rPr sz="1500" spc="6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do</a:t>
            </a:r>
            <a:r>
              <a:rPr sz="1500" spc="6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58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actual </a:t>
            </a:r>
            <a:r>
              <a:rPr sz="1500" dirty="0">
                <a:latin typeface="Calibri"/>
                <a:cs typeface="Calibri"/>
              </a:rPr>
              <a:t>testing. </a:t>
            </a:r>
            <a:r>
              <a:rPr sz="1500" spc="-30" dirty="0">
                <a:latin typeface="Calibri"/>
                <a:cs typeface="Calibri"/>
              </a:rPr>
              <a:t>Many</a:t>
            </a:r>
            <a:r>
              <a:rPr sz="1500" spc="-6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tools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are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used</a:t>
            </a:r>
            <a:endParaRPr sz="1500">
              <a:latin typeface="Calibri"/>
              <a:cs typeface="Calibri"/>
            </a:endParaRPr>
          </a:p>
          <a:p>
            <a:pPr marL="267653" marR="236220" indent="29528" defTabSz="1371600">
              <a:spcBef>
                <a:spcPts val="90"/>
              </a:spcBef>
            </a:pPr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Test</a:t>
            </a:r>
            <a:r>
              <a:rPr sz="1500" spc="330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environment</a:t>
            </a:r>
            <a:r>
              <a:rPr sz="1500" spc="353" dirty="0">
                <a:solidFill>
                  <a:srgbClr val="006FBE"/>
                </a:solidFill>
                <a:latin typeface="Calibri"/>
                <a:cs typeface="Calibri"/>
              </a:rPr>
              <a:t>  </a:t>
            </a:r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management</a:t>
            </a:r>
            <a:r>
              <a:rPr sz="1500" dirty="0">
                <a:latin typeface="Calibri"/>
                <a:cs typeface="Calibri"/>
              </a:rPr>
              <a:t>:</a:t>
            </a:r>
            <a:r>
              <a:rPr sz="1500" spc="24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These</a:t>
            </a:r>
            <a:r>
              <a:rPr sz="1500" spc="30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tools</a:t>
            </a:r>
            <a:r>
              <a:rPr sz="1500" spc="255" dirty="0">
                <a:latin typeface="Calibri"/>
                <a:cs typeface="Calibri"/>
              </a:rPr>
              <a:t>  </a:t>
            </a:r>
            <a:r>
              <a:rPr sz="1500" spc="-15" dirty="0">
                <a:latin typeface="Calibri"/>
                <a:cs typeface="Calibri"/>
              </a:rPr>
              <a:t>facilitate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provisioning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and</a:t>
            </a:r>
            <a:r>
              <a:rPr sz="1500" dirty="0">
                <a:latin typeface="Calibri"/>
                <a:cs typeface="Calibri"/>
              </a:rPr>
              <a:t> configuring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test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environments.</a:t>
            </a:r>
            <a:endParaRPr sz="1500">
              <a:latin typeface="Calibri"/>
              <a:cs typeface="Calibri"/>
            </a:endParaRPr>
          </a:p>
          <a:p>
            <a:pPr defTabSz="1371600">
              <a:spcBef>
                <a:spcPts val="75"/>
              </a:spcBef>
            </a:pPr>
            <a:endParaRPr sz="1500">
              <a:latin typeface="Calibri"/>
              <a:cs typeface="Calibri"/>
            </a:endParaRPr>
          </a:p>
          <a:p>
            <a:pPr marL="297180" marR="445770" defTabSz="1371600"/>
            <a:r>
              <a:rPr spc="-53" dirty="0">
                <a:latin typeface="Calibri"/>
                <a:cs typeface="Calibri"/>
              </a:rPr>
              <a:t>Infrastructure-</a:t>
            </a:r>
            <a:r>
              <a:rPr spc="-15" dirty="0">
                <a:latin typeface="Calibri"/>
                <a:cs typeface="Calibri"/>
              </a:rPr>
              <a:t>as-</a:t>
            </a:r>
            <a:r>
              <a:rPr dirty="0">
                <a:latin typeface="Calibri"/>
                <a:cs typeface="Calibri"/>
              </a:rPr>
              <a:t>code</a:t>
            </a:r>
            <a:r>
              <a:rPr spc="-14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technologies</a:t>
            </a:r>
            <a:r>
              <a:rPr spc="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344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cloud</a:t>
            </a:r>
            <a:r>
              <a:rPr spc="278" dirty="0">
                <a:latin typeface="Calibri"/>
                <a:cs typeface="Calibri"/>
              </a:rPr>
              <a:t>  </a:t>
            </a:r>
            <a:r>
              <a:rPr spc="-15" dirty="0">
                <a:latin typeface="Calibri"/>
                <a:cs typeface="Calibri"/>
              </a:rPr>
              <a:t>provisioning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3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management</a:t>
            </a:r>
            <a:r>
              <a:rPr spc="-9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tools.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4" y="6709562"/>
            <a:ext cx="3422333" cy="390813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3306128" defTabSz="1371600">
              <a:lnSpc>
                <a:spcPts val="825"/>
              </a:lnSpc>
              <a:spcBef>
                <a:spcPts val="158"/>
              </a:spcBef>
            </a:pPr>
            <a:r>
              <a:rPr sz="750" spc="-38" dirty="0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750">
              <a:latin typeface="Calibri"/>
              <a:cs typeface="Calibri"/>
            </a:endParaRPr>
          </a:p>
          <a:p>
            <a:pPr marL="3306128" defTabSz="1371600">
              <a:lnSpc>
                <a:spcPts val="825"/>
              </a:lnSpc>
            </a:pPr>
            <a:r>
              <a:rPr sz="750" spc="-75" dirty="0">
                <a:solidFill>
                  <a:srgbClr val="888888"/>
                </a:solidFill>
                <a:latin typeface="Calibri"/>
                <a:cs typeface="Calibri"/>
              </a:rPr>
              <a:t>0</a:t>
            </a:r>
            <a:endParaRPr sz="750">
              <a:latin typeface="Calibri"/>
              <a:cs typeface="Calibri"/>
            </a:endParaRPr>
          </a:p>
          <a:p>
            <a:pPr marL="19050" defTabSz="1371600">
              <a:spcBef>
                <a:spcPts val="33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88892"/>
          </a:xfrm>
          <a:prstGeom prst="rect">
            <a:avLst/>
          </a:prstGeom>
        </p:spPr>
        <p:txBody>
          <a:bodyPr vert="horz" wrap="square" lIns="0" tIns="125997" rIns="0" bIns="0" rtlCol="0">
            <a:spAutoFit/>
          </a:bodyPr>
          <a:lstStyle/>
          <a:p>
            <a:pPr marL="97154">
              <a:spcBef>
                <a:spcPts val="158"/>
              </a:spcBef>
            </a:pPr>
            <a:r>
              <a:rPr sz="3000" dirty="0"/>
              <a:t>DevOps–</a:t>
            </a:r>
            <a:r>
              <a:rPr sz="3000" spc="38" dirty="0"/>
              <a:t> </a:t>
            </a:r>
            <a:r>
              <a:rPr sz="3000" spc="-15" dirty="0"/>
              <a:t>Delivery</a:t>
            </a:r>
            <a:r>
              <a:rPr sz="3000" spc="-113" dirty="0"/>
              <a:t> </a:t>
            </a:r>
            <a:r>
              <a:rPr sz="3000" spc="-15" dirty="0"/>
              <a:t>pipeline</a:t>
            </a:r>
            <a:endParaRPr sz="3000"/>
          </a:p>
        </p:txBody>
      </p:sp>
      <p:grpSp>
        <p:nvGrpSpPr>
          <p:cNvPr id="4" name="object 4"/>
          <p:cNvGrpSpPr/>
          <p:nvPr/>
        </p:nvGrpSpPr>
        <p:grpSpPr>
          <a:xfrm>
            <a:off x="259269" y="3361752"/>
            <a:ext cx="384810" cy="1150620"/>
            <a:chOff x="172846" y="907668"/>
            <a:chExt cx="256540" cy="7670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907668"/>
              <a:ext cx="256031" cy="14782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1063116"/>
              <a:ext cx="256031" cy="14782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1217040"/>
              <a:ext cx="256031" cy="14782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1372488"/>
              <a:ext cx="256031" cy="1478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846" y="1526793"/>
              <a:ext cx="256031" cy="14782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40219" y="2975676"/>
            <a:ext cx="6158865" cy="2009397"/>
          </a:xfrm>
          <a:prstGeom prst="rect">
            <a:avLst/>
          </a:prstGeom>
        </p:spPr>
        <p:txBody>
          <a:bodyPr vert="horz" wrap="square" lIns="0" tIns="60008" rIns="0" bIns="0" rtlCol="0">
            <a:spAutoFit/>
          </a:bodyPr>
          <a:lstStyle/>
          <a:p>
            <a:pPr marL="19050" defTabSz="1371600">
              <a:spcBef>
                <a:spcPts val="472"/>
              </a:spcBef>
            </a:pPr>
            <a:r>
              <a:rPr b="1" spc="-60" dirty="0">
                <a:solidFill>
                  <a:srgbClr val="006FBE"/>
                </a:solidFill>
                <a:latin typeface="Calibri"/>
                <a:cs typeface="Calibri"/>
              </a:rPr>
              <a:t>Test</a:t>
            </a:r>
            <a:r>
              <a:rPr b="1" spc="15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b="1" spc="-30" dirty="0">
                <a:solidFill>
                  <a:srgbClr val="006FBE"/>
                </a:solidFill>
                <a:latin typeface="Calibri"/>
                <a:cs typeface="Calibri"/>
              </a:rPr>
              <a:t>environment</a:t>
            </a:r>
            <a:r>
              <a:rPr b="1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b="1" spc="-15" dirty="0">
                <a:solidFill>
                  <a:srgbClr val="006FBE"/>
                </a:solidFill>
                <a:latin typeface="Calibri"/>
                <a:cs typeface="Calibri"/>
              </a:rPr>
              <a:t>management</a:t>
            </a:r>
            <a:endParaRPr>
              <a:latin typeface="Calibri"/>
              <a:cs typeface="Calibri"/>
            </a:endParaRPr>
          </a:p>
          <a:p>
            <a:pPr marL="297180" defTabSz="1371600">
              <a:spcBef>
                <a:spcPts val="306"/>
              </a:spcBef>
            </a:pPr>
            <a:r>
              <a:rPr sz="1500" spc="-15" dirty="0">
                <a:latin typeface="Calibri"/>
                <a:cs typeface="Calibri"/>
              </a:rPr>
              <a:t>Environment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(Infrastructure) </a:t>
            </a:r>
            <a:r>
              <a:rPr sz="1500" spc="-15" dirty="0">
                <a:latin typeface="Calibri"/>
                <a:cs typeface="Calibri"/>
              </a:rPr>
              <a:t>Orchestration</a:t>
            </a:r>
            <a:r>
              <a:rPr sz="1500" spc="68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Tool</a:t>
            </a:r>
            <a:endParaRPr sz="1500">
              <a:latin typeface="Calibri"/>
              <a:cs typeface="Calibri"/>
            </a:endParaRPr>
          </a:p>
          <a:p>
            <a:pPr marL="297180" marR="1362075" defTabSz="1371600">
              <a:lnSpc>
                <a:spcPct val="101000"/>
              </a:lnSpc>
              <a:spcBef>
                <a:spcPts val="23"/>
              </a:spcBef>
            </a:pPr>
            <a:r>
              <a:rPr sz="1500" dirty="0">
                <a:latin typeface="Calibri"/>
                <a:cs typeface="Calibri"/>
              </a:rPr>
              <a:t>Build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&amp;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Deployment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Tools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/</a:t>
            </a:r>
            <a:r>
              <a:rPr sz="1500" spc="5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Continuous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Integration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Tools </a:t>
            </a:r>
            <a:r>
              <a:rPr sz="1500" spc="-38" dirty="0">
                <a:latin typeface="Calibri"/>
                <a:cs typeface="Calibri"/>
              </a:rPr>
              <a:t>Infrastructure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Configuration</a:t>
            </a:r>
            <a:r>
              <a:rPr sz="1500" spc="98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Tools</a:t>
            </a:r>
            <a:endParaRPr sz="1500">
              <a:latin typeface="Calibri"/>
              <a:cs typeface="Calibri"/>
            </a:endParaRPr>
          </a:p>
          <a:p>
            <a:pPr marL="297180" marR="2596515" defTabSz="1371600">
              <a:lnSpc>
                <a:spcPct val="101200"/>
              </a:lnSpc>
              <a:spcBef>
                <a:spcPts val="15"/>
              </a:spcBef>
            </a:pPr>
            <a:r>
              <a:rPr sz="1500" spc="-15" dirty="0">
                <a:latin typeface="Calibri"/>
                <a:cs typeface="Calibri"/>
              </a:rPr>
              <a:t>Service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Support</a:t>
            </a:r>
            <a:r>
              <a:rPr sz="1500" spc="-9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Tools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(Incident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&amp;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Change) Environment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Health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Dashboards</a:t>
            </a:r>
            <a:endParaRPr sz="1500">
              <a:latin typeface="Calibri"/>
              <a:cs typeface="Calibri"/>
            </a:endParaRPr>
          </a:p>
          <a:p>
            <a:pPr marL="268605" marR="7620" indent="30480" defTabSz="1371600">
              <a:lnSpc>
                <a:spcPct val="102000"/>
              </a:lnSpc>
              <a:spcBef>
                <a:spcPts val="75"/>
              </a:spcBef>
            </a:pPr>
            <a:r>
              <a:rPr sz="1500" b="1" dirty="0">
                <a:latin typeface="Times New Roman"/>
                <a:cs typeface="Times New Roman"/>
              </a:rPr>
              <a:t>Ex:</a:t>
            </a:r>
            <a:r>
              <a:rPr sz="1500" b="1" spc="210" dirty="0">
                <a:latin typeface="Times New Roman"/>
                <a:cs typeface="Times New Roman"/>
              </a:rPr>
              <a:t>  </a:t>
            </a:r>
            <a:r>
              <a:rPr sz="1500" b="1" spc="-15" dirty="0">
                <a:latin typeface="Times New Roman"/>
                <a:cs typeface="Times New Roman"/>
              </a:rPr>
              <a:t>Jenkins</a:t>
            </a:r>
            <a:r>
              <a:rPr sz="1500" b="1" spc="-23" dirty="0">
                <a:latin typeface="Times New Roman"/>
                <a:cs typeface="Times New Roman"/>
              </a:rPr>
              <a:t> </a:t>
            </a:r>
            <a:r>
              <a:rPr sz="1500" b="1" spc="-38" dirty="0">
                <a:latin typeface="Times New Roman"/>
                <a:cs typeface="Times New Roman"/>
              </a:rPr>
              <a:t>for</a:t>
            </a:r>
            <a:r>
              <a:rPr sz="1500" b="1" spc="-127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app</a:t>
            </a:r>
            <a:r>
              <a:rPr sz="1500" b="1" spc="-8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builds,</a:t>
            </a:r>
            <a:r>
              <a:rPr sz="1500" b="1" spc="53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Puppet</a:t>
            </a:r>
            <a:r>
              <a:rPr sz="1500" b="1" spc="15" dirty="0">
                <a:latin typeface="Times New Roman"/>
                <a:cs typeface="Times New Roman"/>
              </a:rPr>
              <a:t> </a:t>
            </a:r>
            <a:r>
              <a:rPr sz="1500" b="1" spc="-38" dirty="0">
                <a:latin typeface="Times New Roman"/>
                <a:cs typeface="Times New Roman"/>
              </a:rPr>
              <a:t>for</a:t>
            </a:r>
            <a:r>
              <a:rPr sz="1500" b="1" spc="-120" dirty="0">
                <a:latin typeface="Times New Roman"/>
                <a:cs typeface="Times New Roman"/>
              </a:rPr>
              <a:t> </a:t>
            </a:r>
            <a:r>
              <a:rPr sz="1500" b="1" spc="-38" dirty="0">
                <a:latin typeface="Times New Roman"/>
                <a:cs typeface="Times New Roman"/>
              </a:rPr>
              <a:t>infrastructure</a:t>
            </a:r>
            <a:r>
              <a:rPr sz="1500" b="1" spc="-23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configuration,</a:t>
            </a:r>
            <a:r>
              <a:rPr sz="1500" b="1" spc="113" dirty="0">
                <a:latin typeface="Times New Roman"/>
                <a:cs typeface="Times New Roman"/>
              </a:rPr>
              <a:t> </a:t>
            </a:r>
            <a:r>
              <a:rPr sz="1500" b="1" spc="-38" dirty="0">
                <a:latin typeface="Times New Roman"/>
                <a:cs typeface="Times New Roman"/>
              </a:rPr>
              <a:t>CA </a:t>
            </a:r>
            <a:r>
              <a:rPr sz="1500" b="1" dirty="0">
                <a:latin typeface="Times New Roman"/>
                <a:cs typeface="Times New Roman"/>
              </a:rPr>
              <a:t>Lisa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38" dirty="0">
                <a:latin typeface="Times New Roman"/>
                <a:cs typeface="Times New Roman"/>
              </a:rPr>
              <a:t>for</a:t>
            </a:r>
            <a:r>
              <a:rPr sz="1500" b="1" spc="-113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service</a:t>
            </a:r>
            <a:r>
              <a:rPr sz="1500" b="1" spc="68" dirty="0">
                <a:latin typeface="Times New Roman"/>
                <a:cs typeface="Times New Roman"/>
              </a:rPr>
              <a:t> </a:t>
            </a:r>
            <a:r>
              <a:rPr sz="1500" b="1" spc="-15" dirty="0">
                <a:latin typeface="Times New Roman"/>
                <a:cs typeface="Times New Roman"/>
              </a:rPr>
              <a:t>virtualization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4" y="6708266"/>
            <a:ext cx="3422333" cy="390813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3306128" defTabSz="1371600">
              <a:lnSpc>
                <a:spcPts val="825"/>
              </a:lnSpc>
              <a:spcBef>
                <a:spcPts val="158"/>
              </a:spcBef>
            </a:pPr>
            <a:r>
              <a:rPr sz="750" spc="-38" dirty="0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750">
              <a:latin typeface="Calibri"/>
              <a:cs typeface="Calibri"/>
            </a:endParaRPr>
          </a:p>
          <a:p>
            <a:pPr marL="3306128" defTabSz="1371600">
              <a:lnSpc>
                <a:spcPts val="825"/>
              </a:lnSpc>
            </a:pPr>
            <a:r>
              <a:rPr sz="750" spc="-75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750">
              <a:latin typeface="Calibri"/>
              <a:cs typeface="Calibri"/>
            </a:endParaRPr>
          </a:p>
          <a:p>
            <a:pPr marL="19050" defTabSz="1371600">
              <a:spcBef>
                <a:spcPts val="33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481863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246698">
              <a:spcBef>
                <a:spcPts val="158"/>
              </a:spcBef>
            </a:pPr>
            <a:r>
              <a:rPr sz="3000" dirty="0">
                <a:latin typeface="Calibri"/>
                <a:cs typeface="Calibri"/>
              </a:rPr>
              <a:t>DevOps–</a:t>
            </a:r>
            <a:r>
              <a:rPr sz="3000" spc="45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Delivery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pipeline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2506" y="3036378"/>
            <a:ext cx="6354128" cy="484748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9050" defTabSz="1371600">
              <a:spcBef>
                <a:spcPts val="180"/>
              </a:spcBef>
            </a:pPr>
            <a:r>
              <a:rPr sz="1500" spc="-38" dirty="0">
                <a:solidFill>
                  <a:srgbClr val="006FBE"/>
                </a:solidFill>
                <a:latin typeface="Calibri"/>
                <a:cs typeface="Calibri"/>
              </a:rPr>
              <a:t>Test</a:t>
            </a:r>
            <a:r>
              <a:rPr sz="1500" spc="75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006FBE"/>
                </a:solidFill>
                <a:latin typeface="Calibri"/>
                <a:cs typeface="Calibri"/>
              </a:rPr>
              <a:t>data</a:t>
            </a:r>
            <a:r>
              <a:rPr sz="1500" spc="-60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management</a:t>
            </a:r>
            <a:r>
              <a:rPr sz="1500" spc="-15" dirty="0">
                <a:solidFill>
                  <a:srgbClr val="006FBE"/>
                </a:solidFill>
                <a:latin typeface="Calibri"/>
                <a:cs typeface="Calibri"/>
              </a:rPr>
              <a:t> (TDM)</a:t>
            </a:r>
            <a:r>
              <a:rPr sz="1500" spc="-15" dirty="0">
                <a:latin typeface="Calibri"/>
                <a:cs typeface="Calibri"/>
              </a:rPr>
              <a:t>:</a:t>
            </a:r>
            <a:endParaRPr sz="1500">
              <a:latin typeface="Calibri"/>
              <a:cs typeface="Calibri"/>
            </a:endParaRPr>
          </a:p>
          <a:p>
            <a:pPr marL="297180" defTabSz="1371600">
              <a:spcBef>
                <a:spcPts val="30"/>
              </a:spcBef>
              <a:tabLst>
                <a:tab pos="1689735" algn="l"/>
                <a:tab pos="5126355" algn="l"/>
              </a:tabLst>
            </a:pPr>
            <a:r>
              <a:rPr sz="1500" spc="-15" dirty="0">
                <a:latin typeface="Calibri"/>
                <a:cs typeface="Calibri"/>
              </a:rPr>
              <a:t>Administration</a:t>
            </a:r>
            <a:r>
              <a:rPr sz="1500" dirty="0">
                <a:latin typeface="Calibri"/>
                <a:cs typeface="Calibri"/>
              </a:rPr>
              <a:t>	of</a:t>
            </a:r>
            <a:r>
              <a:rPr sz="1500" spc="353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263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323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necessary</a:t>
            </a:r>
            <a:r>
              <a:rPr sz="1500" spc="330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270" dirty="0">
                <a:latin typeface="Calibri"/>
                <a:cs typeface="Calibri"/>
              </a:rPr>
              <a:t>  </a:t>
            </a:r>
            <a:r>
              <a:rPr sz="1500" spc="-15" dirty="0">
                <a:latin typeface="Calibri"/>
                <a:cs typeface="Calibri"/>
              </a:rPr>
              <a:t>fulfilling</a:t>
            </a:r>
            <a:r>
              <a:rPr sz="1500" dirty="0">
                <a:latin typeface="Calibri"/>
                <a:cs typeface="Calibri"/>
              </a:rPr>
              <a:t>	the</a:t>
            </a:r>
            <a:r>
              <a:rPr sz="1500" spc="278" dirty="0">
                <a:latin typeface="Calibri"/>
                <a:cs typeface="Calibri"/>
              </a:rPr>
              <a:t>  </a:t>
            </a:r>
            <a:r>
              <a:rPr sz="1500" dirty="0">
                <a:latin typeface="Calibri"/>
                <a:cs typeface="Calibri"/>
              </a:rPr>
              <a:t>needs</a:t>
            </a:r>
            <a:r>
              <a:rPr sz="1500" spc="248" dirty="0">
                <a:latin typeface="Calibri"/>
                <a:cs typeface="Calibri"/>
              </a:rPr>
              <a:t>  </a:t>
            </a:r>
            <a:r>
              <a:rPr sz="1500" spc="-38" dirty="0">
                <a:latin typeface="Calibri"/>
                <a:cs typeface="Calibri"/>
              </a:rPr>
              <a:t>of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555" y="3791139"/>
            <a:ext cx="342900" cy="19431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91679" y="3502341"/>
            <a:ext cx="3097530" cy="71269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9050" defTabSz="1371600">
              <a:spcBef>
                <a:spcPts val="180"/>
              </a:spcBef>
            </a:pPr>
            <a:r>
              <a:rPr sz="1500" dirty="0">
                <a:latin typeface="Calibri"/>
                <a:cs typeface="Calibri"/>
              </a:rPr>
              <a:t>automated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test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processes.</a:t>
            </a:r>
            <a:endParaRPr sz="1500">
              <a:latin typeface="Calibri"/>
              <a:cs typeface="Calibri"/>
            </a:endParaRPr>
          </a:p>
          <a:p>
            <a:pPr marL="19050" marR="7620" indent="29528" defTabSz="1371600">
              <a:lnSpc>
                <a:spcPct val="101000"/>
              </a:lnSpc>
              <a:spcBef>
                <a:spcPts val="15"/>
              </a:spcBef>
            </a:pPr>
            <a:r>
              <a:rPr sz="1500" dirty="0">
                <a:latin typeface="Calibri"/>
                <a:cs typeface="Calibri"/>
              </a:rPr>
              <a:t>TDM</a:t>
            </a:r>
            <a:r>
              <a:rPr sz="1500" spc="9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should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also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ensure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34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quality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of</a:t>
            </a:r>
            <a:r>
              <a:rPr sz="1500" spc="-15" dirty="0">
                <a:latin typeface="Calibri"/>
                <a:cs typeface="Calibri"/>
              </a:rPr>
              <a:t> at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correct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time.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22762" y="3735513"/>
            <a:ext cx="2589846" cy="25391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9050" defTabSz="1371600">
              <a:spcBef>
                <a:spcPts val="180"/>
              </a:spcBef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data,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well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its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availability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61555" y="4234623"/>
            <a:ext cx="384810" cy="453390"/>
            <a:chOff x="174370" y="1489582"/>
            <a:chExt cx="256540" cy="30226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370" y="1489582"/>
              <a:ext cx="256031" cy="14782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370" y="1643506"/>
              <a:ext cx="256031" cy="147828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261555" y="4929568"/>
            <a:ext cx="384810" cy="448628"/>
            <a:chOff x="174370" y="1952878"/>
            <a:chExt cx="256540" cy="29908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370" y="1952878"/>
              <a:ext cx="256031" cy="1478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370" y="2122296"/>
              <a:ext cx="228600" cy="12953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42505" y="4199572"/>
            <a:ext cx="6387465" cy="1644682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210503" marR="321944" indent="86678" algn="just" defTabSz="1371600">
              <a:lnSpc>
                <a:spcPct val="101000"/>
              </a:lnSpc>
              <a:spcBef>
                <a:spcPts val="158"/>
              </a:spcBef>
            </a:pPr>
            <a:r>
              <a:rPr sz="1500" spc="-135" dirty="0">
                <a:latin typeface="Calibri"/>
                <a:cs typeface="Calibri"/>
              </a:rPr>
              <a:t>To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enable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continuous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testing,</a:t>
            </a:r>
            <a:r>
              <a:rPr sz="1500" spc="8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managing</a:t>
            </a:r>
            <a:r>
              <a:rPr sz="1500" spc="6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test</a:t>
            </a:r>
            <a:r>
              <a:rPr sz="1500" spc="120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data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14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essential</a:t>
            </a:r>
            <a:r>
              <a:rPr sz="1500" spc="9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function. </a:t>
            </a:r>
            <a:r>
              <a:rPr sz="1500" dirty="0">
                <a:latin typeface="Calibri"/>
                <a:cs typeface="Calibri"/>
              </a:rPr>
              <a:t>Ex: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IBM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InfoSphere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Optim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,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Informatica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Test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Management</a:t>
            </a:r>
            <a:endParaRPr sz="1500">
              <a:latin typeface="Calibri"/>
              <a:cs typeface="Calibri"/>
            </a:endParaRPr>
          </a:p>
          <a:p>
            <a:pPr marL="297180" marR="1260158" indent="-279083" algn="just" defTabSz="1371600">
              <a:lnSpc>
                <a:spcPct val="101000"/>
              </a:lnSpc>
              <a:spcBef>
                <a:spcPts val="23"/>
              </a:spcBef>
            </a:pPr>
            <a:r>
              <a:rPr sz="1500" spc="-15" dirty="0">
                <a:solidFill>
                  <a:srgbClr val="006FBE"/>
                </a:solidFill>
                <a:latin typeface="Calibri"/>
                <a:cs typeface="Calibri"/>
              </a:rPr>
              <a:t>Integration, </a:t>
            </a:r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functional,</a:t>
            </a:r>
            <a:r>
              <a:rPr sz="1500" spc="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006FBE"/>
                </a:solidFill>
                <a:latin typeface="Calibri"/>
                <a:cs typeface="Calibri"/>
              </a:rPr>
              <a:t>performance,</a:t>
            </a:r>
            <a:r>
              <a:rPr sz="1500" spc="9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and</a:t>
            </a:r>
            <a:r>
              <a:rPr sz="1500" spc="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006FBE"/>
                </a:solidFill>
                <a:latin typeface="Calibri"/>
                <a:cs typeface="Calibri"/>
              </a:rPr>
              <a:t>security</a:t>
            </a:r>
            <a:r>
              <a:rPr sz="1500" spc="45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testing</a:t>
            </a:r>
            <a:r>
              <a:rPr sz="1500" spc="9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006FBE"/>
                </a:solidFill>
                <a:latin typeface="Calibri"/>
                <a:cs typeface="Calibri"/>
              </a:rPr>
              <a:t>tools: </a:t>
            </a:r>
            <a:r>
              <a:rPr sz="1500" spc="-15" dirty="0">
                <a:latin typeface="Calibri"/>
                <a:cs typeface="Calibri"/>
              </a:rPr>
              <a:t>Automated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tools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are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available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for </a:t>
            </a:r>
            <a:r>
              <a:rPr sz="1500" dirty="0">
                <a:latin typeface="Calibri"/>
                <a:cs typeface="Calibri"/>
              </a:rPr>
              <a:t>each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these</a:t>
            </a:r>
            <a:r>
              <a:rPr sz="1500" spc="9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types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19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tests.</a:t>
            </a:r>
            <a:endParaRPr sz="1500">
              <a:latin typeface="Calibri"/>
              <a:cs typeface="Calibri"/>
            </a:endParaRPr>
          </a:p>
          <a:p>
            <a:pPr marL="267653" marR="7620" indent="29528" algn="just" defTabSz="1371600">
              <a:lnSpc>
                <a:spcPct val="101499"/>
              </a:lnSpc>
              <a:spcBef>
                <a:spcPts val="8"/>
              </a:spcBef>
            </a:pPr>
            <a:r>
              <a:rPr sz="1500" dirty="0">
                <a:latin typeface="Calibri"/>
                <a:cs typeface="Calibri"/>
              </a:rPr>
              <a:t>Tools</a:t>
            </a:r>
            <a:r>
              <a:rPr sz="1500" spc="2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should</a:t>
            </a:r>
            <a:r>
              <a:rPr sz="1500" spc="20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23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integrated</a:t>
            </a:r>
            <a:r>
              <a:rPr sz="1500" spc="20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18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1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common</a:t>
            </a:r>
            <a:r>
              <a:rPr sz="1500" spc="24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test</a:t>
            </a:r>
            <a:r>
              <a:rPr sz="1500" spc="20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asset</a:t>
            </a:r>
            <a:r>
              <a:rPr sz="1500" spc="23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management</a:t>
            </a:r>
            <a:r>
              <a:rPr sz="1500" spc="2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tool</a:t>
            </a:r>
            <a:r>
              <a:rPr sz="1500" spc="210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or</a:t>
            </a:r>
            <a:r>
              <a:rPr sz="1500" dirty="0">
                <a:latin typeface="Calibri"/>
                <a:cs typeface="Calibri"/>
              </a:rPr>
              <a:t> repository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where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all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test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scenarios,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test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scripts,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associated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results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</a:t>
            </a:r>
            <a:r>
              <a:rPr sz="1500" spc="42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be</a:t>
            </a:r>
            <a:r>
              <a:rPr sz="1500" dirty="0">
                <a:latin typeface="Calibri"/>
                <a:cs typeface="Calibri"/>
              </a:rPr>
              <a:t> stored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traceability</a:t>
            </a:r>
            <a:r>
              <a:rPr sz="1500" spc="-1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established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back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code,</a:t>
            </a:r>
            <a:r>
              <a:rPr sz="1500" spc="11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requirements,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344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defects.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14173" y="6709562"/>
            <a:ext cx="135255" cy="225383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9050" defTabSz="1371600">
              <a:lnSpc>
                <a:spcPts val="825"/>
              </a:lnSpc>
              <a:spcBef>
                <a:spcPts val="158"/>
              </a:spcBef>
            </a:pPr>
            <a:r>
              <a:rPr sz="750" spc="-38" dirty="0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750">
              <a:latin typeface="Calibri"/>
              <a:cs typeface="Calibri"/>
            </a:endParaRPr>
          </a:p>
          <a:p>
            <a:pPr marL="19050" defTabSz="1371600">
              <a:lnSpc>
                <a:spcPts val="825"/>
              </a:lnSpc>
            </a:pPr>
            <a:r>
              <a:rPr sz="750" spc="-75" dirty="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81583"/>
          </a:xfrm>
          <a:prstGeom prst="rect">
            <a:avLst/>
          </a:prstGeom>
        </p:spPr>
        <p:txBody>
          <a:bodyPr vert="horz" wrap="square" lIns="0" tIns="118758" rIns="0" bIns="0" rtlCol="0">
            <a:spAutoFit/>
          </a:bodyPr>
          <a:lstStyle/>
          <a:p>
            <a:pPr marL="115253">
              <a:spcBef>
                <a:spcPts val="158"/>
              </a:spcBef>
            </a:pPr>
            <a:r>
              <a:rPr sz="3000" dirty="0"/>
              <a:t>DevOps–</a:t>
            </a:r>
            <a:r>
              <a:rPr sz="3000" spc="38" dirty="0"/>
              <a:t> </a:t>
            </a:r>
            <a:r>
              <a:rPr sz="3000" spc="-15" dirty="0"/>
              <a:t>Delivery</a:t>
            </a:r>
            <a:r>
              <a:rPr sz="3000" spc="-113" dirty="0"/>
              <a:t> </a:t>
            </a:r>
            <a:r>
              <a:rPr sz="3000" spc="-15" dirty="0"/>
              <a:t>pipeline</a:t>
            </a:r>
            <a:endParaRPr sz="3000"/>
          </a:p>
        </p:txBody>
      </p:sp>
      <p:sp>
        <p:nvSpPr>
          <p:cNvPr id="5" name="object 5"/>
          <p:cNvSpPr txBox="1"/>
          <p:nvPr/>
        </p:nvSpPr>
        <p:spPr>
          <a:xfrm>
            <a:off x="242505" y="3052381"/>
            <a:ext cx="6389370" cy="377475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algn="just" defTabSz="1371600">
              <a:spcBef>
                <a:spcPts val="150"/>
              </a:spcBef>
            </a:pPr>
            <a:r>
              <a:rPr spc="-15" dirty="0">
                <a:solidFill>
                  <a:srgbClr val="006FBE"/>
                </a:solidFill>
                <a:latin typeface="Calibri"/>
                <a:cs typeface="Calibri"/>
              </a:rPr>
              <a:t>Service</a:t>
            </a:r>
            <a:r>
              <a:rPr spc="-30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006FBE"/>
                </a:solidFill>
                <a:latin typeface="Calibri"/>
                <a:cs typeface="Calibri"/>
              </a:rPr>
              <a:t>virtualization:</a:t>
            </a:r>
            <a:endParaRPr>
              <a:latin typeface="Calibri"/>
              <a:cs typeface="Calibri"/>
            </a:endParaRPr>
          </a:p>
          <a:p>
            <a:pPr marL="276225" indent="-257175" algn="just" defTabSz="1371600">
              <a:buClr>
                <a:srgbClr val="006FBE"/>
              </a:buClr>
              <a:buFont typeface="Arial MT"/>
              <a:buChar char="•"/>
              <a:tabLst>
                <a:tab pos="276225" algn="l"/>
              </a:tabLst>
            </a:pPr>
            <a:r>
              <a:rPr dirty="0">
                <a:latin typeface="Calibri"/>
                <a:cs typeface="Calibri"/>
              </a:rPr>
              <a:t>Modern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applications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45" dirty="0">
                <a:latin typeface="Calibri"/>
                <a:cs typeface="Calibri"/>
              </a:rPr>
              <a:t>aren’t</a:t>
            </a:r>
            <a:r>
              <a:rPr spc="-1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simple, monolithic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applications.</a:t>
            </a:r>
            <a:endParaRPr>
              <a:latin typeface="Calibri"/>
              <a:cs typeface="Calibri"/>
            </a:endParaRPr>
          </a:p>
          <a:p>
            <a:pPr marL="274320" marR="8573" indent="-256223" algn="just" defTabSz="1371600">
              <a:buSzPct val="83333"/>
              <a:buFont typeface="Arial MT"/>
              <a:buChar char="•"/>
              <a:tabLst>
                <a:tab pos="274320" algn="l"/>
                <a:tab pos="312419" algn="l"/>
              </a:tabLst>
            </a:pPr>
            <a:r>
              <a:rPr dirty="0">
                <a:latin typeface="Calibri"/>
                <a:cs typeface="Calibri"/>
              </a:rPr>
              <a:t>	They’re</a:t>
            </a:r>
            <a:r>
              <a:rPr spc="24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complex</a:t>
            </a:r>
            <a:r>
              <a:rPr spc="263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systems</a:t>
            </a:r>
            <a:r>
              <a:rPr spc="255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472" dirty="0">
                <a:latin typeface="Calibri"/>
                <a:cs typeface="Calibri"/>
              </a:rPr>
              <a:t>  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248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dependent</a:t>
            </a:r>
            <a:r>
              <a:rPr spc="263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255" dirty="0">
                <a:latin typeface="Calibri"/>
                <a:cs typeface="Calibri"/>
              </a:rPr>
              <a:t>  </a:t>
            </a:r>
            <a:r>
              <a:rPr spc="-15" dirty="0">
                <a:latin typeface="Calibri"/>
                <a:cs typeface="Calibri"/>
              </a:rPr>
              <a:t>other </a:t>
            </a:r>
            <a:r>
              <a:rPr dirty="0">
                <a:latin typeface="Calibri"/>
                <a:cs typeface="Calibri"/>
              </a:rPr>
              <a:t>applications,</a:t>
            </a:r>
            <a:r>
              <a:rPr spc="5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application</a:t>
            </a:r>
            <a:r>
              <a:rPr spc="53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servers,</a:t>
            </a:r>
            <a:r>
              <a:rPr spc="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databases,</a:t>
            </a:r>
            <a:r>
              <a:rPr spc="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even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spc="-53" dirty="0">
                <a:latin typeface="Calibri"/>
                <a:cs typeface="Calibri"/>
              </a:rPr>
              <a:t>third-</a:t>
            </a:r>
            <a:r>
              <a:rPr spc="-15" dirty="0">
                <a:latin typeface="Calibri"/>
                <a:cs typeface="Calibri"/>
              </a:rPr>
              <a:t>party applications</a:t>
            </a:r>
            <a:r>
              <a:rPr spc="-6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and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data</a:t>
            </a:r>
            <a:r>
              <a:rPr spc="28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sources.</a:t>
            </a:r>
            <a:endParaRPr>
              <a:latin typeface="Calibri"/>
              <a:cs typeface="Calibri"/>
            </a:endParaRPr>
          </a:p>
          <a:p>
            <a:pPr marL="274320" marR="9525" indent="-256223" algn="just" defTabSz="1371600">
              <a:buFont typeface="Arial MT"/>
              <a:buChar char="•"/>
              <a:tabLst>
                <a:tab pos="274320" algn="l"/>
              </a:tabLst>
            </a:pPr>
            <a:r>
              <a:rPr spc="-45" dirty="0">
                <a:latin typeface="Calibri"/>
                <a:cs typeface="Calibri"/>
              </a:rPr>
              <a:t>Unfortunately,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test</a:t>
            </a:r>
            <a:r>
              <a:rPr spc="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time, these</a:t>
            </a:r>
            <a:r>
              <a:rPr spc="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components</a:t>
            </a:r>
            <a:r>
              <a:rPr spc="23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may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 </a:t>
            </a:r>
            <a:r>
              <a:rPr spc="-15" dirty="0">
                <a:latin typeface="Calibri"/>
                <a:cs typeface="Calibri"/>
              </a:rPr>
              <a:t>unavailable </a:t>
            </a:r>
            <a:r>
              <a:rPr dirty="0">
                <a:latin typeface="Calibri"/>
                <a:cs typeface="Calibri"/>
              </a:rPr>
              <a:t>or</a:t>
            </a:r>
            <a:r>
              <a:rPr spc="171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costly.</a:t>
            </a:r>
            <a:endParaRPr>
              <a:latin typeface="Calibri"/>
              <a:cs typeface="Calibri"/>
            </a:endParaRPr>
          </a:p>
          <a:p>
            <a:pPr marL="274320" marR="7620" indent="-256223" algn="just" defTabSz="1371600">
              <a:buFont typeface="Arial MT"/>
              <a:buChar char="•"/>
              <a:tabLst>
                <a:tab pos="274320" algn="l"/>
              </a:tabLst>
            </a:pPr>
            <a:r>
              <a:rPr dirty="0">
                <a:latin typeface="Calibri"/>
                <a:cs typeface="Calibri"/>
              </a:rPr>
              <a:t>Service</a:t>
            </a:r>
            <a:r>
              <a:rPr spc="375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virtualization</a:t>
            </a:r>
            <a:r>
              <a:rPr spc="368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solutions</a:t>
            </a:r>
            <a:r>
              <a:rPr spc="381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simulate</a:t>
            </a:r>
            <a:r>
              <a:rPr spc="381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39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behavior</a:t>
            </a:r>
            <a:r>
              <a:rPr spc="368" dirty="0">
                <a:latin typeface="Calibri"/>
                <a:cs typeface="Calibri"/>
              </a:rPr>
              <a:t>  </a:t>
            </a:r>
            <a:r>
              <a:rPr spc="-75" dirty="0">
                <a:latin typeface="Calibri"/>
                <a:cs typeface="Calibri"/>
              </a:rPr>
              <a:t>— </a:t>
            </a:r>
            <a:r>
              <a:rPr dirty="0">
                <a:latin typeface="Calibri"/>
                <a:cs typeface="Calibri"/>
              </a:rPr>
              <a:t>functionality</a:t>
            </a:r>
            <a:r>
              <a:rPr spc="1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18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performance</a:t>
            </a:r>
            <a:r>
              <a:rPr spc="1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19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select</a:t>
            </a:r>
            <a:r>
              <a:rPr spc="21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components</a:t>
            </a:r>
            <a:r>
              <a:rPr spc="21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within</a:t>
            </a:r>
            <a:r>
              <a:rPr spc="203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an </a:t>
            </a:r>
            <a:r>
              <a:rPr dirty="0">
                <a:latin typeface="Calibri"/>
                <a:cs typeface="Calibri"/>
              </a:rPr>
              <a:t>application</a:t>
            </a:r>
            <a:r>
              <a:rPr spc="6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enable</a:t>
            </a:r>
            <a:r>
              <a:rPr spc="8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end-</a:t>
            </a:r>
            <a:r>
              <a:rPr spc="210" dirty="0">
                <a:latin typeface="Calibri"/>
                <a:cs typeface="Calibri"/>
              </a:rPr>
              <a:t>  </a:t>
            </a:r>
            <a:r>
              <a:rPr spc="-15" dirty="0">
                <a:latin typeface="Calibri"/>
                <a:cs typeface="Calibri"/>
              </a:rPr>
              <a:t>to-</a:t>
            </a:r>
            <a:r>
              <a:rPr dirty="0">
                <a:latin typeface="Calibri"/>
                <a:cs typeface="Calibri"/>
              </a:rPr>
              <a:t>end</a:t>
            </a:r>
            <a:r>
              <a:rPr spc="6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testing</a:t>
            </a:r>
            <a:r>
              <a:rPr spc="9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3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application</a:t>
            </a:r>
            <a:r>
              <a:rPr spc="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</a:t>
            </a:r>
            <a:r>
              <a:rPr spc="38" dirty="0">
                <a:latin typeface="Calibri"/>
                <a:cs typeface="Calibri"/>
              </a:rPr>
              <a:t> </a:t>
            </a:r>
            <a:r>
              <a:rPr spc="-75" dirty="0">
                <a:latin typeface="Calibri"/>
                <a:cs typeface="Calibri"/>
              </a:rPr>
              <a:t>a </a:t>
            </a:r>
            <a:r>
              <a:rPr spc="-15" dirty="0">
                <a:latin typeface="Calibri"/>
                <a:cs typeface="Calibri"/>
              </a:rPr>
              <a:t>whole.</a:t>
            </a:r>
            <a:endParaRPr>
              <a:latin typeface="Calibri"/>
              <a:cs typeface="Calibri"/>
            </a:endParaRPr>
          </a:p>
          <a:p>
            <a:pPr marL="274320" marR="19050" indent="-256223" algn="just" defTabSz="1371600">
              <a:lnSpc>
                <a:spcPts val="1800"/>
              </a:lnSpc>
              <a:spcBef>
                <a:spcPts val="90"/>
              </a:spcBef>
              <a:buFont typeface="Arial MT"/>
              <a:buChar char="•"/>
              <a:tabLst>
                <a:tab pos="274320" algn="l"/>
              </a:tabLst>
            </a:pPr>
            <a:r>
              <a:rPr spc="-45" dirty="0">
                <a:latin typeface="Calibri"/>
                <a:cs typeface="Calibri"/>
              </a:rPr>
              <a:t>Create </a:t>
            </a:r>
            <a:r>
              <a:rPr dirty="0">
                <a:latin typeface="Calibri"/>
                <a:cs typeface="Calibri"/>
              </a:rPr>
              <a:t>stubs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(virtual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components)</a:t>
            </a:r>
            <a:r>
              <a:rPr spc="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applications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services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300" dirty="0">
                <a:latin typeface="Calibri"/>
                <a:cs typeface="Calibri"/>
              </a:rPr>
              <a:t> </a:t>
            </a:r>
            <a:r>
              <a:rPr spc="-45" dirty="0">
                <a:latin typeface="Calibri"/>
                <a:cs typeface="Calibri"/>
              </a:rPr>
              <a:t>are</a:t>
            </a:r>
            <a:r>
              <a:rPr spc="-113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required</a:t>
            </a:r>
            <a:r>
              <a:rPr spc="-105" dirty="0">
                <a:latin typeface="Calibri"/>
                <a:cs typeface="Calibri"/>
              </a:rPr>
              <a:t> </a:t>
            </a:r>
            <a:r>
              <a:rPr spc="-53" dirty="0">
                <a:latin typeface="Calibri"/>
                <a:cs typeface="Calibri"/>
              </a:rPr>
              <a:t>for</a:t>
            </a:r>
            <a:r>
              <a:rPr spc="-9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tests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68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run.</a:t>
            </a:r>
            <a:endParaRPr>
              <a:latin typeface="Calibri"/>
              <a:cs typeface="Calibri"/>
            </a:endParaRPr>
          </a:p>
          <a:p>
            <a:pPr marL="276225" indent="-257175" algn="just" defTabSz="1371600">
              <a:lnSpc>
                <a:spcPts val="1800"/>
              </a:lnSpc>
              <a:buFont typeface="Arial MT"/>
              <a:buChar char="•"/>
              <a:tabLst>
                <a:tab pos="276225" algn="l"/>
              </a:tabLst>
            </a:pPr>
            <a:r>
              <a:rPr spc="-15" dirty="0">
                <a:latin typeface="Calibri"/>
                <a:cs typeface="Calibri"/>
              </a:rPr>
              <a:t>Ex: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53" dirty="0">
                <a:latin typeface="Calibri"/>
                <a:cs typeface="Calibri"/>
              </a:rPr>
              <a:t>IBM’s</a:t>
            </a:r>
            <a:r>
              <a:rPr spc="-6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Rational</a:t>
            </a:r>
            <a:r>
              <a:rPr dirty="0">
                <a:latin typeface="Calibri"/>
                <a:cs typeface="Calibri"/>
              </a:rPr>
              <a:t> </a:t>
            </a:r>
            <a:r>
              <a:rPr spc="-68" dirty="0">
                <a:latin typeface="Calibri"/>
                <a:cs typeface="Calibri"/>
              </a:rPr>
              <a:t>Test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Virtualization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83" dirty="0">
                <a:latin typeface="Calibri"/>
                <a:cs typeface="Calibri"/>
              </a:rPr>
              <a:t>Server,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Soap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UI,</a:t>
            </a:r>
            <a:r>
              <a:rPr spc="16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Microfocus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48090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2873">
              <a:spcBef>
                <a:spcPts val="150"/>
              </a:spcBef>
            </a:pPr>
            <a:r>
              <a:rPr sz="3000" dirty="0"/>
              <a:t>DevOps–</a:t>
            </a:r>
            <a:r>
              <a:rPr sz="3000" spc="45" dirty="0"/>
              <a:t> </a:t>
            </a:r>
            <a:r>
              <a:rPr sz="3000" spc="-15" dirty="0"/>
              <a:t>Delivery</a:t>
            </a:r>
            <a:r>
              <a:rPr sz="3000" spc="-135" dirty="0"/>
              <a:t> </a:t>
            </a:r>
            <a:r>
              <a:rPr sz="3000" spc="-15" dirty="0"/>
              <a:t>pipeline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201358" y="3120580"/>
            <a:ext cx="6466523" cy="334322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dirty="0">
                <a:solidFill>
                  <a:srgbClr val="006FBE"/>
                </a:solidFill>
                <a:latin typeface="Calibri"/>
                <a:cs typeface="Calibri"/>
              </a:rPr>
              <a:t>Stage</a:t>
            </a:r>
            <a:r>
              <a:rPr spc="-6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6FBE"/>
                </a:solidFill>
                <a:latin typeface="Calibri"/>
                <a:cs typeface="Calibri"/>
              </a:rPr>
              <a:t>and</a:t>
            </a:r>
            <a:r>
              <a:rPr spc="-3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006FBE"/>
                </a:solidFill>
                <a:latin typeface="Calibri"/>
                <a:cs typeface="Calibri"/>
              </a:rPr>
              <a:t>production</a:t>
            </a:r>
            <a:r>
              <a:rPr spc="-75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006FBE"/>
                </a:solidFill>
                <a:latin typeface="Calibri"/>
                <a:cs typeface="Calibri"/>
              </a:rPr>
              <a:t>environments</a:t>
            </a:r>
            <a:endParaRPr>
              <a:latin typeface="Calibri"/>
              <a:cs typeface="Calibri"/>
            </a:endParaRPr>
          </a:p>
          <a:p>
            <a:pPr marL="276225" indent="-257175" defTabSz="1371600">
              <a:buFont typeface="Arial MT"/>
              <a:buChar char="•"/>
              <a:tabLst>
                <a:tab pos="276225" algn="l"/>
                <a:tab pos="1601153" algn="l"/>
                <a:tab pos="2083118" algn="l"/>
                <a:tab pos="3142296" algn="l"/>
                <a:tab pos="3509963" algn="l"/>
                <a:tab pos="4019550" algn="l"/>
                <a:tab pos="4888230" algn="l"/>
                <a:tab pos="5431155" algn="l"/>
              </a:tabLst>
            </a:pPr>
            <a:r>
              <a:rPr spc="-15" dirty="0">
                <a:latin typeface="Calibri"/>
                <a:cs typeface="Calibri"/>
              </a:rPr>
              <a:t>Applications</a:t>
            </a:r>
            <a:r>
              <a:rPr dirty="0">
                <a:latin typeface="Calibri"/>
                <a:cs typeface="Calibri"/>
              </a:rPr>
              <a:t>	</a:t>
            </a:r>
            <a:r>
              <a:rPr spc="-38" dirty="0">
                <a:latin typeface="Calibri"/>
                <a:cs typeface="Calibri"/>
              </a:rPr>
              <a:t>are</a:t>
            </a:r>
            <a:r>
              <a:rPr dirty="0">
                <a:latin typeface="Calibri"/>
                <a:cs typeface="Calibri"/>
              </a:rPr>
              <a:t>	</a:t>
            </a:r>
            <a:r>
              <a:rPr spc="-15" dirty="0">
                <a:latin typeface="Calibri"/>
                <a:cs typeface="Calibri"/>
              </a:rPr>
              <a:t>deployed</a:t>
            </a:r>
            <a:r>
              <a:rPr dirty="0">
                <a:latin typeface="Calibri"/>
                <a:cs typeface="Calibri"/>
              </a:rPr>
              <a:t>	</a:t>
            </a:r>
            <a:r>
              <a:rPr spc="-38" dirty="0">
                <a:latin typeface="Calibri"/>
                <a:cs typeface="Calibri"/>
              </a:rPr>
              <a:t>in</a:t>
            </a:r>
            <a:r>
              <a:rPr dirty="0">
                <a:latin typeface="Calibri"/>
                <a:cs typeface="Calibri"/>
              </a:rPr>
              <a:t>	</a:t>
            </a:r>
            <a:r>
              <a:rPr spc="-38" dirty="0">
                <a:latin typeface="Calibri"/>
                <a:cs typeface="Calibri"/>
              </a:rPr>
              <a:t>the</a:t>
            </a:r>
            <a:r>
              <a:rPr dirty="0">
                <a:latin typeface="Calibri"/>
                <a:cs typeface="Calibri"/>
              </a:rPr>
              <a:t>	</a:t>
            </a:r>
            <a:r>
              <a:rPr spc="-15" dirty="0">
                <a:latin typeface="Calibri"/>
                <a:cs typeface="Calibri"/>
              </a:rPr>
              <a:t>staging</a:t>
            </a:r>
            <a:r>
              <a:rPr dirty="0">
                <a:latin typeface="Calibri"/>
                <a:cs typeface="Calibri"/>
              </a:rPr>
              <a:t>	</a:t>
            </a:r>
            <a:r>
              <a:rPr spc="-38" dirty="0">
                <a:latin typeface="Calibri"/>
                <a:cs typeface="Calibri"/>
              </a:rPr>
              <a:t>and</a:t>
            </a:r>
            <a:r>
              <a:rPr dirty="0">
                <a:latin typeface="Calibri"/>
                <a:cs typeface="Calibri"/>
              </a:rPr>
              <a:t>	</a:t>
            </a:r>
            <a:r>
              <a:rPr spc="-15" dirty="0">
                <a:latin typeface="Calibri"/>
                <a:cs typeface="Calibri"/>
              </a:rPr>
              <a:t>production</a:t>
            </a:r>
            <a:endParaRPr>
              <a:latin typeface="Calibri"/>
              <a:cs typeface="Calibri"/>
            </a:endParaRPr>
          </a:p>
          <a:p>
            <a:pPr marL="274320" defTabSz="1371600"/>
            <a:r>
              <a:rPr spc="-15" dirty="0">
                <a:latin typeface="Calibri"/>
                <a:cs typeface="Calibri"/>
              </a:rPr>
              <a:t>environments.</a:t>
            </a:r>
            <a:endParaRPr>
              <a:latin typeface="Calibri"/>
              <a:cs typeface="Calibri"/>
            </a:endParaRPr>
          </a:p>
          <a:p>
            <a:pPr marL="274320" marR="12383" indent="-256223" algn="just" defTabSz="1371600">
              <a:buFont typeface="Arial MT"/>
              <a:buChar char="•"/>
              <a:tabLst>
                <a:tab pos="274320" algn="l"/>
              </a:tabLst>
            </a:pPr>
            <a:r>
              <a:rPr dirty="0">
                <a:latin typeface="Calibri"/>
                <a:cs typeface="Calibri"/>
              </a:rPr>
              <a:t>Tools</a:t>
            </a:r>
            <a:r>
              <a:rPr spc="36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used</a:t>
            </a:r>
            <a:r>
              <a:rPr spc="3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3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these</a:t>
            </a:r>
            <a:r>
              <a:rPr spc="3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stages</a:t>
            </a:r>
            <a:r>
              <a:rPr spc="38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include</a:t>
            </a:r>
            <a:r>
              <a:rPr spc="375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environment</a:t>
            </a:r>
            <a:r>
              <a:rPr spc="36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management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42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provisioning</a:t>
            </a:r>
            <a:r>
              <a:rPr spc="-83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tools.</a:t>
            </a:r>
            <a:endParaRPr>
              <a:latin typeface="Calibri"/>
              <a:cs typeface="Calibri"/>
            </a:endParaRPr>
          </a:p>
          <a:p>
            <a:pPr marL="274320" marR="11430" indent="-256223" algn="just" defTabSz="1371600">
              <a:buFont typeface="Arial MT"/>
              <a:buChar char="•"/>
              <a:tabLst>
                <a:tab pos="274320" algn="l"/>
              </a:tabLst>
            </a:pPr>
            <a:r>
              <a:rPr dirty="0">
                <a:latin typeface="Calibri"/>
                <a:cs typeface="Calibri"/>
              </a:rPr>
              <a:t>Tools</a:t>
            </a:r>
            <a:r>
              <a:rPr spc="26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22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infrastructure</a:t>
            </a:r>
            <a:r>
              <a:rPr spc="21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</a:t>
            </a:r>
            <a:r>
              <a:rPr spc="26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code</a:t>
            </a:r>
            <a:r>
              <a:rPr spc="2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also</a:t>
            </a:r>
            <a:r>
              <a:rPr spc="2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play</a:t>
            </a:r>
            <a:r>
              <a:rPr spc="24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2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critical</a:t>
            </a:r>
            <a:r>
              <a:rPr spc="2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role</a:t>
            </a:r>
            <a:r>
              <a:rPr spc="2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24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these </a:t>
            </a:r>
            <a:r>
              <a:rPr dirty="0">
                <a:latin typeface="Calibri"/>
                <a:cs typeface="Calibri"/>
              </a:rPr>
              <a:t>stages,</a:t>
            </a:r>
            <a:r>
              <a:rPr spc="6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due</a:t>
            </a:r>
            <a:r>
              <a:rPr spc="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8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large</a:t>
            </a:r>
            <a:r>
              <a:rPr spc="6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scale</a:t>
            </a:r>
            <a:r>
              <a:rPr spc="1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at</a:t>
            </a:r>
            <a:r>
              <a:rPr spc="6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which</a:t>
            </a:r>
            <a:r>
              <a:rPr spc="1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10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environment</a:t>
            </a:r>
            <a:r>
              <a:rPr spc="8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10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these </a:t>
            </a:r>
            <a:r>
              <a:rPr dirty="0">
                <a:latin typeface="Calibri"/>
                <a:cs typeface="Calibri"/>
              </a:rPr>
              <a:t>stages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exist.</a:t>
            </a:r>
            <a:endParaRPr>
              <a:latin typeface="Calibri"/>
              <a:cs typeface="Calibri"/>
            </a:endParaRPr>
          </a:p>
          <a:p>
            <a:pPr marL="274320" marR="8573" indent="-256223" algn="just" defTabSz="1371600">
              <a:buFont typeface="Arial MT"/>
              <a:buChar char="•"/>
              <a:tabLst>
                <a:tab pos="274320" algn="l"/>
              </a:tabLst>
            </a:pPr>
            <a:r>
              <a:rPr spc="-38" dirty="0">
                <a:latin typeface="Calibri"/>
                <a:cs typeface="Calibri"/>
              </a:rPr>
              <a:t>With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 </a:t>
            </a:r>
            <a:r>
              <a:rPr spc="-30" dirty="0">
                <a:latin typeface="Calibri"/>
                <a:cs typeface="Calibri"/>
              </a:rPr>
              <a:t>advent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8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virtualization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cloud</a:t>
            </a:r>
            <a:r>
              <a:rPr spc="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technologies,</a:t>
            </a:r>
            <a:r>
              <a:rPr spc="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stage </a:t>
            </a:r>
            <a:r>
              <a:rPr spc="-38" dirty="0">
                <a:latin typeface="Calibri"/>
                <a:cs typeface="Calibri"/>
              </a:rPr>
              <a:t>and </a:t>
            </a:r>
            <a:r>
              <a:rPr dirty="0">
                <a:latin typeface="Calibri"/>
                <a:cs typeface="Calibri"/>
              </a:rPr>
              <a:t>production</a:t>
            </a:r>
            <a:r>
              <a:rPr spc="19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environments</a:t>
            </a:r>
            <a:r>
              <a:rPr spc="21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217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today</a:t>
            </a:r>
            <a:r>
              <a:rPr spc="20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</a:t>
            </a:r>
            <a:r>
              <a:rPr spc="2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made</a:t>
            </a:r>
            <a:r>
              <a:rPr spc="2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up</a:t>
            </a:r>
            <a:r>
              <a:rPr spc="20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2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hundreds</a:t>
            </a:r>
            <a:r>
              <a:rPr spc="165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or </a:t>
            </a:r>
            <a:r>
              <a:rPr dirty="0">
                <a:latin typeface="Calibri"/>
                <a:cs typeface="Calibri"/>
              </a:rPr>
              <a:t>even</a:t>
            </a:r>
            <a:r>
              <a:rPr spc="3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thousands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servers.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Monitoring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tools</a:t>
            </a:r>
            <a:r>
              <a:rPr spc="-8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allow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organizations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to </a:t>
            </a:r>
            <a:r>
              <a:rPr spc="-15" dirty="0">
                <a:latin typeface="Calibri"/>
                <a:cs typeface="Calibri"/>
              </a:rPr>
              <a:t>monitor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3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deployed</a:t>
            </a:r>
            <a:r>
              <a:rPr spc="-15" dirty="0">
                <a:latin typeface="Calibri"/>
                <a:cs typeface="Calibri"/>
              </a:rPr>
              <a:t> applications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production.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2996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6680" marR="7620">
              <a:lnSpc>
                <a:spcPct val="100800"/>
              </a:lnSpc>
              <a:spcBef>
                <a:spcPts val="120"/>
              </a:spcBef>
            </a:pPr>
            <a:r>
              <a:rPr sz="1950" dirty="0"/>
              <a:t>DevOps–</a:t>
            </a:r>
            <a:r>
              <a:rPr sz="1950" spc="68" dirty="0"/>
              <a:t> </a:t>
            </a:r>
            <a:r>
              <a:rPr sz="1950" dirty="0"/>
              <a:t>Deployment</a:t>
            </a:r>
            <a:r>
              <a:rPr sz="1950" spc="113" dirty="0"/>
              <a:t> </a:t>
            </a:r>
            <a:r>
              <a:rPr sz="1950" dirty="0"/>
              <a:t>automation</a:t>
            </a:r>
            <a:r>
              <a:rPr sz="1950" spc="-15" dirty="0"/>
              <a:t> </a:t>
            </a:r>
            <a:r>
              <a:rPr sz="1950" dirty="0"/>
              <a:t>and</a:t>
            </a:r>
            <a:r>
              <a:rPr sz="1950" spc="-45" dirty="0"/>
              <a:t> </a:t>
            </a:r>
            <a:r>
              <a:rPr sz="1950" spc="-15" dirty="0"/>
              <a:t>release management</a:t>
            </a:r>
            <a:endParaRPr sz="19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555" y="3087052"/>
            <a:ext cx="379476" cy="21488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61555" y="3772852"/>
            <a:ext cx="628650" cy="662939"/>
            <a:chOff x="174370" y="1181734"/>
            <a:chExt cx="419100" cy="44195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370" y="1181734"/>
              <a:ext cx="252984" cy="14325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0486" y="1328038"/>
              <a:ext cx="252984" cy="14325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0486" y="1480438"/>
              <a:ext cx="252984" cy="143256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729" y="4648389"/>
            <a:ext cx="379476" cy="21488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510729" y="5275134"/>
            <a:ext cx="592455" cy="1301115"/>
            <a:chOff x="340486" y="2183256"/>
            <a:chExt cx="394970" cy="86741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0486" y="2183256"/>
              <a:ext cx="304800" cy="17373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602" y="2369184"/>
              <a:ext cx="228600" cy="12953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602" y="2506344"/>
              <a:ext cx="228600" cy="1295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602" y="2643504"/>
              <a:ext cx="228600" cy="12954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602" y="2780664"/>
              <a:ext cx="228600" cy="12954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6602" y="2920898"/>
              <a:ext cx="228600" cy="12954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91680" y="3054285"/>
            <a:ext cx="6123623" cy="3768019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19050" marR="151448" defTabSz="1371600">
              <a:spcBef>
                <a:spcPts val="143"/>
              </a:spcBef>
            </a:pPr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Managing</a:t>
            </a:r>
            <a:r>
              <a:rPr sz="1500" spc="360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the</a:t>
            </a:r>
            <a:r>
              <a:rPr sz="1500" spc="203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006FBE"/>
                </a:solidFill>
                <a:latin typeface="Calibri"/>
                <a:cs typeface="Calibri"/>
              </a:rPr>
              <a:t>automation</a:t>
            </a:r>
            <a:r>
              <a:rPr sz="1500" spc="353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of</a:t>
            </a:r>
            <a:r>
              <a:rPr sz="1500" spc="344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006FBE"/>
                </a:solidFill>
                <a:latin typeface="Calibri"/>
                <a:cs typeface="Calibri"/>
              </a:rPr>
              <a:t>application</a:t>
            </a:r>
            <a:r>
              <a:rPr sz="1500" spc="-6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006FBE"/>
                </a:solidFill>
                <a:latin typeface="Calibri"/>
                <a:cs typeface="Calibri"/>
              </a:rPr>
              <a:t>deployment </a:t>
            </a:r>
            <a:r>
              <a:rPr sz="1500" spc="-45" dirty="0">
                <a:solidFill>
                  <a:srgbClr val="006FBE"/>
                </a:solidFill>
                <a:latin typeface="Calibri"/>
                <a:cs typeface="Calibri"/>
              </a:rPr>
              <a:t>from</a:t>
            </a:r>
            <a:r>
              <a:rPr sz="1500" spc="-60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one</a:t>
            </a:r>
            <a:r>
              <a:rPr sz="1500" spc="23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stage</a:t>
            </a:r>
            <a:r>
              <a:rPr sz="1500" spc="60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to</a:t>
            </a:r>
            <a:r>
              <a:rPr sz="1500" spc="-23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spc="-38" dirty="0">
                <a:solidFill>
                  <a:srgbClr val="006FBE"/>
                </a:solidFill>
                <a:latin typeface="Calibri"/>
                <a:cs typeface="Calibri"/>
              </a:rPr>
              <a:t>the</a:t>
            </a:r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 next</a:t>
            </a:r>
            <a:r>
              <a:rPr sz="1500" spc="-53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spc="-30" dirty="0">
                <a:solidFill>
                  <a:srgbClr val="006FBE"/>
                </a:solidFill>
                <a:latin typeface="Calibri"/>
                <a:cs typeface="Calibri"/>
              </a:rPr>
              <a:t>requires</a:t>
            </a:r>
            <a:r>
              <a:rPr sz="1500" spc="-53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specialized</a:t>
            </a:r>
            <a:r>
              <a:rPr sz="1500" spc="68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006FBE"/>
                </a:solidFill>
                <a:latin typeface="Calibri"/>
                <a:cs typeface="Calibri"/>
              </a:rPr>
              <a:t>tools</a:t>
            </a:r>
            <a:endParaRPr sz="1500">
              <a:latin typeface="Calibri"/>
              <a:cs typeface="Calibri"/>
            </a:endParaRPr>
          </a:p>
          <a:p>
            <a:pPr defTabSz="1371600">
              <a:spcBef>
                <a:spcPts val="90"/>
              </a:spcBef>
            </a:pPr>
            <a:endParaRPr sz="1500">
              <a:latin typeface="Calibri"/>
              <a:cs typeface="Calibri"/>
            </a:endParaRPr>
          </a:p>
          <a:p>
            <a:pPr marL="267653" marR="3933825" indent="-249555" defTabSz="1371600">
              <a:lnSpc>
                <a:spcPts val="1725"/>
              </a:lnSpc>
            </a:pPr>
            <a:r>
              <a:rPr sz="1500" dirty="0">
                <a:solidFill>
                  <a:srgbClr val="006FBE"/>
                </a:solidFill>
                <a:latin typeface="Calibri"/>
                <a:cs typeface="Calibri"/>
              </a:rPr>
              <a:t>Deployment</a:t>
            </a:r>
            <a:r>
              <a:rPr sz="1500" spc="-23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006FBE"/>
                </a:solidFill>
                <a:latin typeface="Calibri"/>
                <a:cs typeface="Calibri"/>
              </a:rPr>
              <a:t>automation </a:t>
            </a:r>
            <a:r>
              <a:rPr sz="1500" spc="-53" dirty="0">
                <a:latin typeface="Calibri"/>
                <a:cs typeface="Calibri"/>
              </a:rPr>
              <a:t>Core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tools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DevOps</a:t>
            </a:r>
            <a:endParaRPr sz="1500">
              <a:latin typeface="Calibri"/>
              <a:cs typeface="Calibri"/>
            </a:endParaRPr>
          </a:p>
          <a:p>
            <a:pPr marL="267653" marR="212408" defTabSz="1371600">
              <a:lnSpc>
                <a:spcPts val="1725"/>
              </a:lnSpc>
              <a:spcBef>
                <a:spcPts val="75"/>
              </a:spcBef>
            </a:pPr>
            <a:r>
              <a:rPr sz="1500" spc="-45" dirty="0">
                <a:latin typeface="Calibri"/>
                <a:cs typeface="Calibri"/>
              </a:rPr>
              <a:t>Perform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orchestrated</a:t>
            </a:r>
            <a:r>
              <a:rPr sz="1500" dirty="0">
                <a:latin typeface="Calibri"/>
                <a:cs typeface="Calibri"/>
              </a:rPr>
              <a:t> deployments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53" dirty="0">
                <a:latin typeface="Calibri"/>
                <a:cs typeface="Calibri"/>
              </a:rPr>
              <a:t>track</a:t>
            </a:r>
            <a:r>
              <a:rPr sz="1500" spc="-1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which </a:t>
            </a:r>
            <a:r>
              <a:rPr sz="1500" spc="-30" dirty="0">
                <a:latin typeface="Calibri"/>
                <a:cs typeface="Calibri"/>
              </a:rPr>
              <a:t>version</a:t>
            </a:r>
            <a:r>
              <a:rPr sz="1500" dirty="0">
                <a:latin typeface="Calibri"/>
                <a:cs typeface="Calibri"/>
              </a:rPr>
              <a:t> is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deployed</a:t>
            </a:r>
            <a:r>
              <a:rPr sz="1500" spc="-38" dirty="0">
                <a:latin typeface="Calibri"/>
                <a:cs typeface="Calibri"/>
              </a:rPr>
              <a:t> on</a:t>
            </a:r>
            <a:r>
              <a:rPr sz="1500" dirty="0">
                <a:latin typeface="Calibri"/>
                <a:cs typeface="Calibri"/>
              </a:rPr>
              <a:t> which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node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at</a:t>
            </a:r>
            <a:r>
              <a:rPr sz="1500" spc="-68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any</a:t>
            </a:r>
            <a:r>
              <a:rPr sz="1500" spc="-8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stage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build and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delivery</a:t>
            </a:r>
            <a:r>
              <a:rPr sz="1500" spc="-8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pipeline</a:t>
            </a:r>
            <a:endParaRPr sz="1500">
              <a:latin typeface="Calibri"/>
              <a:cs typeface="Calibri"/>
            </a:endParaRPr>
          </a:p>
          <a:p>
            <a:pPr marL="267653" defTabSz="1371600">
              <a:lnSpc>
                <a:spcPts val="1560"/>
              </a:lnSpc>
            </a:pPr>
            <a:r>
              <a:rPr sz="1500" spc="-45" dirty="0">
                <a:latin typeface="Calibri"/>
                <a:cs typeface="Calibri"/>
              </a:rPr>
              <a:t>Can </a:t>
            </a:r>
            <a:r>
              <a:rPr sz="1500" dirty="0">
                <a:latin typeface="Calibri"/>
                <a:cs typeface="Calibri"/>
              </a:rPr>
              <a:t>also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manage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configurations</a:t>
            </a:r>
            <a:r>
              <a:rPr sz="1500" spc="-8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environments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all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stages</a:t>
            </a:r>
            <a:r>
              <a:rPr sz="1500" spc="24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to</a:t>
            </a:r>
            <a:endParaRPr sz="1500">
              <a:latin typeface="Calibri"/>
              <a:cs typeface="Calibri"/>
            </a:endParaRPr>
          </a:p>
          <a:p>
            <a:pPr marL="267653" defTabSz="1371600">
              <a:lnSpc>
                <a:spcPts val="1763"/>
              </a:lnSpc>
            </a:pPr>
            <a:r>
              <a:rPr sz="1500" dirty="0">
                <a:latin typeface="Calibri"/>
                <a:cs typeface="Calibri"/>
              </a:rPr>
              <a:t>which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application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components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must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deployed.</a:t>
            </a:r>
            <a:endParaRPr sz="1500">
              <a:latin typeface="Calibri"/>
              <a:cs typeface="Calibri"/>
            </a:endParaRPr>
          </a:p>
          <a:p>
            <a:pPr marL="267653" defTabSz="1371600">
              <a:spcBef>
                <a:spcPts val="1379"/>
              </a:spcBef>
            </a:pPr>
            <a:r>
              <a:rPr spc="-15" dirty="0">
                <a:latin typeface="Calibri"/>
                <a:cs typeface="Calibri"/>
              </a:rPr>
              <a:t>Manage</a:t>
            </a:r>
            <a:endParaRPr>
              <a:latin typeface="Calibri"/>
              <a:cs typeface="Calibri"/>
            </a:endParaRPr>
          </a:p>
          <a:p>
            <a:pPr marL="517208" marR="3746183" defTabSz="1371600">
              <a:spcBef>
                <a:spcPts val="68"/>
              </a:spcBef>
            </a:pPr>
            <a:r>
              <a:rPr sz="1350" spc="-30" dirty="0">
                <a:latin typeface="Calibri"/>
                <a:cs typeface="Calibri"/>
              </a:rPr>
              <a:t>Middleware</a:t>
            </a:r>
            <a:r>
              <a:rPr sz="1350" spc="53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components</a:t>
            </a:r>
            <a:r>
              <a:rPr sz="1350" spc="75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middleware</a:t>
            </a:r>
            <a:r>
              <a:rPr sz="1350" spc="-53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configurations</a:t>
            </a:r>
            <a:endParaRPr sz="1350">
              <a:latin typeface="Calibri"/>
              <a:cs typeface="Calibri"/>
            </a:endParaRPr>
          </a:p>
          <a:p>
            <a:pPr marL="517208" defTabSz="1371600"/>
            <a:r>
              <a:rPr sz="1350" dirty="0">
                <a:latin typeface="Calibri"/>
                <a:cs typeface="Calibri"/>
              </a:rPr>
              <a:t>Database</a:t>
            </a:r>
            <a:r>
              <a:rPr sz="1350" spc="6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components</a:t>
            </a:r>
            <a:r>
              <a:rPr sz="1350" spc="83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that</a:t>
            </a:r>
            <a:r>
              <a:rPr sz="1350" spc="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need</a:t>
            </a:r>
            <a:r>
              <a:rPr sz="1350" spc="5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be </a:t>
            </a:r>
            <a:r>
              <a:rPr sz="1350" spc="-15" dirty="0">
                <a:latin typeface="Calibri"/>
                <a:cs typeface="Calibri"/>
              </a:rPr>
              <a:t>changed;</a:t>
            </a:r>
            <a:endParaRPr sz="1350">
              <a:latin typeface="Calibri"/>
              <a:cs typeface="Calibri"/>
            </a:endParaRPr>
          </a:p>
          <a:p>
            <a:pPr marL="517208" defTabSz="1371600"/>
            <a:r>
              <a:rPr sz="1350" spc="-15" dirty="0">
                <a:latin typeface="Calibri"/>
                <a:cs typeface="Calibri"/>
              </a:rPr>
              <a:t>Environment configuration</a:t>
            </a:r>
            <a:endParaRPr sz="1350">
              <a:latin typeface="Calibri"/>
              <a:cs typeface="Calibri"/>
            </a:endParaRPr>
          </a:p>
          <a:p>
            <a:pPr marL="517208" marR="7620" defTabSz="1371600">
              <a:lnSpc>
                <a:spcPts val="1590"/>
              </a:lnSpc>
              <a:spcBef>
                <a:spcPts val="120"/>
              </a:spcBef>
            </a:pPr>
            <a:r>
              <a:rPr sz="1350" dirty="0">
                <a:latin typeface="Calibri"/>
                <a:cs typeface="Calibri"/>
              </a:rPr>
              <a:t>capture</a:t>
            </a:r>
            <a:r>
              <a:rPr sz="1350" spc="48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39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automate</a:t>
            </a:r>
            <a:r>
              <a:rPr sz="1350" spc="29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338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processes</a:t>
            </a:r>
            <a:r>
              <a:rPr sz="1350" spc="27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to</a:t>
            </a:r>
            <a:r>
              <a:rPr sz="1350" spc="35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carry</a:t>
            </a:r>
            <a:r>
              <a:rPr sz="1350" spc="614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out</a:t>
            </a:r>
            <a:r>
              <a:rPr sz="1350" spc="30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these</a:t>
            </a:r>
            <a:r>
              <a:rPr sz="1350" spc="22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deployments</a:t>
            </a:r>
            <a:r>
              <a:rPr sz="1350" spc="306" dirty="0">
                <a:latin typeface="Calibri"/>
                <a:cs typeface="Calibri"/>
              </a:rPr>
              <a:t> </a:t>
            </a:r>
            <a:r>
              <a:rPr sz="1350" spc="-38" dirty="0">
                <a:latin typeface="Calibri"/>
                <a:cs typeface="Calibri"/>
              </a:rPr>
              <a:t>and</a:t>
            </a:r>
            <a:r>
              <a:rPr sz="1350" spc="750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configuration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spc="-15" dirty="0">
                <a:latin typeface="Calibri"/>
                <a:cs typeface="Calibri"/>
              </a:rPr>
              <a:t>changes.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4" y="6708266"/>
            <a:ext cx="3422333" cy="390813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3306128" defTabSz="1371600">
              <a:lnSpc>
                <a:spcPts val="825"/>
              </a:lnSpc>
              <a:spcBef>
                <a:spcPts val="158"/>
              </a:spcBef>
            </a:pPr>
            <a:r>
              <a:rPr sz="750" spc="-38" dirty="0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750">
              <a:latin typeface="Calibri"/>
              <a:cs typeface="Calibri"/>
            </a:endParaRPr>
          </a:p>
          <a:p>
            <a:pPr marL="3306128" defTabSz="1371600">
              <a:lnSpc>
                <a:spcPts val="825"/>
              </a:lnSpc>
            </a:pPr>
            <a:r>
              <a:rPr sz="750" spc="-75" dirty="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endParaRPr sz="750">
              <a:latin typeface="Calibri"/>
              <a:cs typeface="Calibri"/>
            </a:endParaRPr>
          </a:p>
          <a:p>
            <a:pPr marL="19050" defTabSz="1371600">
              <a:spcBef>
                <a:spcPts val="33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618439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95250">
              <a:spcBef>
                <a:spcPts val="143"/>
              </a:spcBef>
            </a:pPr>
            <a:r>
              <a:rPr sz="1950" dirty="0"/>
              <a:t>DevOps–</a:t>
            </a:r>
            <a:r>
              <a:rPr sz="1950" spc="60" dirty="0"/>
              <a:t> </a:t>
            </a:r>
            <a:r>
              <a:rPr sz="1950" dirty="0"/>
              <a:t>Deployment</a:t>
            </a:r>
            <a:r>
              <a:rPr sz="1950" spc="98" dirty="0"/>
              <a:t> </a:t>
            </a:r>
            <a:r>
              <a:rPr sz="1950" dirty="0"/>
              <a:t>automation</a:t>
            </a:r>
            <a:r>
              <a:rPr sz="1950" spc="-23" dirty="0"/>
              <a:t> </a:t>
            </a:r>
            <a:r>
              <a:rPr sz="1950" dirty="0"/>
              <a:t>and</a:t>
            </a:r>
            <a:r>
              <a:rPr sz="1950" spc="-53" dirty="0"/>
              <a:t> </a:t>
            </a:r>
            <a:r>
              <a:rPr sz="1950" spc="-15" dirty="0"/>
              <a:t>release</a:t>
            </a:r>
            <a:endParaRPr sz="1950"/>
          </a:p>
          <a:p>
            <a:pPr marL="95250">
              <a:spcBef>
                <a:spcPts val="23"/>
              </a:spcBef>
            </a:pPr>
            <a:r>
              <a:rPr sz="1950" spc="-15" dirty="0"/>
              <a:t>management</a:t>
            </a:r>
            <a:endParaRPr sz="19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555" y="3088004"/>
            <a:ext cx="457200" cy="2606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729" y="3645330"/>
            <a:ext cx="457200" cy="2610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729" y="4418837"/>
            <a:ext cx="457200" cy="26060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0729" y="4905755"/>
            <a:ext cx="457200" cy="26060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91680" y="3050666"/>
            <a:ext cx="6140768" cy="2116733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b="1" dirty="0">
                <a:solidFill>
                  <a:srgbClr val="006FBE"/>
                </a:solidFill>
                <a:latin typeface="Calibri"/>
                <a:cs typeface="Calibri"/>
              </a:rPr>
              <a:t>Release</a:t>
            </a:r>
            <a:r>
              <a:rPr b="1" spc="-53" dirty="0">
                <a:solidFill>
                  <a:srgbClr val="006FBE"/>
                </a:solidFill>
                <a:latin typeface="Calibri"/>
                <a:cs typeface="Calibri"/>
              </a:rPr>
              <a:t> </a:t>
            </a:r>
            <a:r>
              <a:rPr b="1" spc="-15" dirty="0">
                <a:solidFill>
                  <a:srgbClr val="006FBE"/>
                </a:solidFill>
                <a:latin typeface="Calibri"/>
                <a:cs typeface="Calibri"/>
              </a:rPr>
              <a:t>management</a:t>
            </a:r>
            <a:endParaRPr>
              <a:latin typeface="Calibri"/>
              <a:cs typeface="Calibri"/>
            </a:endParaRPr>
          </a:p>
          <a:p>
            <a:pPr defTabSz="1371600">
              <a:spcBef>
                <a:spcPts val="30"/>
              </a:spcBef>
            </a:pPr>
            <a:endParaRPr>
              <a:latin typeface="Calibri"/>
              <a:cs typeface="Calibri"/>
            </a:endParaRPr>
          </a:p>
          <a:p>
            <a:pPr marL="267653" marR="15240" algn="just" defTabSz="1371600"/>
            <a:r>
              <a:rPr dirty="0">
                <a:latin typeface="Calibri"/>
                <a:cs typeface="Calibri"/>
              </a:rPr>
              <a:t>Orchestrating</a:t>
            </a:r>
            <a:r>
              <a:rPr spc="2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29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release</a:t>
            </a:r>
            <a:r>
              <a:rPr spc="29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plans</a:t>
            </a:r>
            <a:r>
              <a:rPr spc="29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3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deployments</a:t>
            </a:r>
            <a:r>
              <a:rPr spc="30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associated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14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each</a:t>
            </a:r>
            <a:r>
              <a:rPr spc="203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release</a:t>
            </a:r>
            <a:r>
              <a:rPr spc="1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requires</a:t>
            </a:r>
            <a:r>
              <a:rPr spc="1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coordination</a:t>
            </a:r>
            <a:r>
              <a:rPr spc="14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across</a:t>
            </a:r>
            <a:r>
              <a:rPr spc="1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143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business, development,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53" dirty="0">
                <a:latin typeface="Calibri"/>
                <a:cs typeface="Calibri"/>
              </a:rPr>
              <a:t>QA,</a:t>
            </a:r>
            <a:r>
              <a:rPr spc="-9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390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operations</a:t>
            </a:r>
            <a:r>
              <a:rPr spc="23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teams.</a:t>
            </a:r>
            <a:endParaRPr>
              <a:latin typeface="Calibri"/>
              <a:cs typeface="Calibri"/>
            </a:endParaRPr>
          </a:p>
          <a:p>
            <a:pPr marL="267653" marR="7620" algn="just" defTabSz="1371600">
              <a:lnSpc>
                <a:spcPct val="80000"/>
              </a:lnSpc>
              <a:spcBef>
                <a:spcPts val="45"/>
              </a:spcBef>
            </a:pPr>
            <a:r>
              <a:rPr dirty="0">
                <a:latin typeface="Calibri"/>
                <a:cs typeface="Calibri"/>
              </a:rPr>
              <a:t>Release</a:t>
            </a:r>
            <a:r>
              <a:rPr spc="39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management</a:t>
            </a:r>
            <a:r>
              <a:rPr spc="40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tools</a:t>
            </a:r>
            <a:r>
              <a:rPr spc="3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allow</a:t>
            </a:r>
            <a:r>
              <a:rPr spc="3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organizations</a:t>
            </a:r>
            <a:r>
              <a:rPr spc="3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3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plan</a:t>
            </a:r>
            <a:r>
              <a:rPr spc="381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and </a:t>
            </a:r>
            <a:r>
              <a:rPr dirty="0">
                <a:latin typeface="Calibri"/>
                <a:cs typeface="Calibri"/>
              </a:rPr>
              <a:t>execute</a:t>
            </a:r>
            <a:r>
              <a:rPr spc="-53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releases,</a:t>
            </a:r>
            <a:endParaRPr>
              <a:latin typeface="Calibri"/>
              <a:cs typeface="Calibri"/>
            </a:endParaRPr>
          </a:p>
          <a:p>
            <a:pPr marL="267653" algn="just" defTabSz="1371600">
              <a:lnSpc>
                <a:spcPts val="2108"/>
              </a:lnSpc>
            </a:pPr>
            <a:r>
              <a:rPr dirty="0">
                <a:latin typeface="Calibri"/>
                <a:cs typeface="Calibri"/>
              </a:rPr>
              <a:t>provide</a:t>
            </a:r>
            <a:r>
              <a:rPr spc="2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2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single</a:t>
            </a:r>
            <a:r>
              <a:rPr spc="30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collaboration</a:t>
            </a:r>
            <a:r>
              <a:rPr spc="24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portal</a:t>
            </a:r>
            <a:r>
              <a:rPr spc="2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23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all</a:t>
            </a:r>
            <a:r>
              <a:rPr spc="240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stakeholders</a:t>
            </a:r>
            <a:r>
              <a:rPr spc="2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285" dirty="0">
                <a:latin typeface="Calibri"/>
                <a:cs typeface="Calibri"/>
              </a:rPr>
              <a:t> </a:t>
            </a:r>
            <a:r>
              <a:rPr spc="-75" dirty="0">
                <a:latin typeface="Calibri"/>
                <a:cs typeface="Calibri"/>
              </a:rPr>
              <a:t>a</a:t>
            </a:r>
            <a:endParaRPr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0853" y="5142737"/>
            <a:ext cx="2299335" cy="29623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  <a:tabLst>
                <a:tab pos="1591628" algn="l"/>
              </a:tabLst>
            </a:pPr>
            <a:r>
              <a:rPr dirty="0">
                <a:latin typeface="Calibri"/>
                <a:cs typeface="Calibri"/>
              </a:rPr>
              <a:t>release,</a:t>
            </a:r>
            <a:r>
              <a:rPr spc="210" dirty="0">
                <a:latin typeface="Calibri"/>
                <a:cs typeface="Calibri"/>
              </a:rPr>
              <a:t>  </a:t>
            </a:r>
            <a:r>
              <a:rPr spc="-38" dirty="0">
                <a:latin typeface="Calibri"/>
                <a:cs typeface="Calibri"/>
              </a:rPr>
              <a:t>and</a:t>
            </a:r>
            <a:r>
              <a:rPr dirty="0">
                <a:latin typeface="Calibri"/>
                <a:cs typeface="Calibri"/>
              </a:rPr>
              <a:t>	</a:t>
            </a:r>
            <a:r>
              <a:rPr spc="-15" dirty="0">
                <a:latin typeface="Calibri"/>
                <a:cs typeface="Calibri"/>
              </a:rPr>
              <a:t>provide</a:t>
            </a:r>
            <a:endParaRPr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18676" y="5142737"/>
            <a:ext cx="2653665" cy="5732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marR="7620" indent="47625" defTabSz="1371600">
              <a:spcBef>
                <a:spcPts val="150"/>
              </a:spcBef>
              <a:tabLst>
                <a:tab pos="1685925" algn="l"/>
              </a:tabLst>
            </a:pPr>
            <a:r>
              <a:rPr dirty="0">
                <a:latin typeface="Calibri"/>
                <a:cs typeface="Calibri"/>
              </a:rPr>
              <a:t>traceability</a:t>
            </a:r>
            <a:r>
              <a:rPr spc="7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71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70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release </a:t>
            </a:r>
            <a:r>
              <a:rPr dirty="0">
                <a:latin typeface="Calibri"/>
                <a:cs typeface="Calibri"/>
              </a:rPr>
              <a:t>stages</a:t>
            </a:r>
            <a:r>
              <a:rPr spc="7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698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the</a:t>
            </a:r>
            <a:r>
              <a:rPr dirty="0">
                <a:latin typeface="Calibri"/>
                <a:cs typeface="Calibri"/>
              </a:rPr>
              <a:t>	build</a:t>
            </a:r>
            <a:r>
              <a:rPr spc="638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and</a:t>
            </a:r>
            <a:endParaRPr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57875" y="5142737"/>
            <a:ext cx="773430" cy="5732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34290" marR="7620" indent="-16193" defTabSz="1371600">
              <a:spcBef>
                <a:spcPts val="150"/>
              </a:spcBef>
            </a:pPr>
            <a:r>
              <a:rPr dirty="0">
                <a:latin typeface="Calibri"/>
                <a:cs typeface="Calibri"/>
              </a:rPr>
              <a:t>and</a:t>
            </a:r>
            <a:r>
              <a:rPr spc="225" dirty="0">
                <a:latin typeface="Calibri"/>
                <a:cs typeface="Calibri"/>
              </a:rPr>
              <a:t>  </a:t>
            </a:r>
            <a:r>
              <a:rPr spc="-38" dirty="0">
                <a:latin typeface="Calibri"/>
                <a:cs typeface="Calibri"/>
              </a:rPr>
              <a:t>its delivery</a:t>
            </a:r>
            <a:endParaRPr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0854" y="5417057"/>
            <a:ext cx="2279333" cy="5732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marR="7620" defTabSz="1371600">
              <a:spcBef>
                <a:spcPts val="150"/>
              </a:spcBef>
            </a:pPr>
            <a:r>
              <a:rPr dirty="0">
                <a:latin typeface="Calibri"/>
                <a:cs typeface="Calibri"/>
              </a:rPr>
              <a:t>components</a:t>
            </a:r>
            <a:r>
              <a:rPr spc="68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across</a:t>
            </a:r>
            <a:r>
              <a:rPr spc="660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all </a:t>
            </a:r>
            <a:r>
              <a:rPr spc="-15" dirty="0">
                <a:latin typeface="Calibri"/>
                <a:cs typeface="Calibri"/>
              </a:rPr>
              <a:t>pipeline.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481863"/>
          </a:xfrm>
          <a:prstGeom prst="rect">
            <a:avLst/>
          </a:prstGeom>
        </p:spPr>
        <p:txBody>
          <a:bodyPr vert="horz" wrap="square" lIns="0" tIns="20003" rIns="0" bIns="0" rtlCol="0">
            <a:spAutoFit/>
          </a:bodyPr>
          <a:lstStyle/>
          <a:p>
            <a:pPr marL="120968">
              <a:spcBef>
                <a:spcPts val="158"/>
              </a:spcBef>
            </a:pPr>
            <a:r>
              <a:rPr sz="3000" dirty="0"/>
              <a:t>DevOps–</a:t>
            </a:r>
            <a:r>
              <a:rPr sz="3000" spc="45" dirty="0"/>
              <a:t> </a:t>
            </a:r>
            <a:r>
              <a:rPr sz="3000" spc="-15" dirty="0"/>
              <a:t>Cloud</a:t>
            </a:r>
            <a:r>
              <a:rPr sz="3000" spc="-105" dirty="0"/>
              <a:t> </a:t>
            </a:r>
            <a:r>
              <a:rPr sz="3000" dirty="0"/>
              <a:t>as</a:t>
            </a:r>
            <a:r>
              <a:rPr sz="3000" spc="-8" dirty="0"/>
              <a:t> </a:t>
            </a:r>
            <a:r>
              <a:rPr sz="3000" dirty="0"/>
              <a:t>a</a:t>
            </a:r>
            <a:r>
              <a:rPr sz="3000" spc="-127" dirty="0"/>
              <a:t> </a:t>
            </a:r>
            <a:r>
              <a:rPr sz="3000" spc="-15" dirty="0"/>
              <a:t>catalyst</a:t>
            </a:r>
            <a:endParaRPr sz="3000"/>
          </a:p>
        </p:txBody>
      </p:sp>
      <p:sp>
        <p:nvSpPr>
          <p:cNvPr id="4" name="object 4"/>
          <p:cNvSpPr/>
          <p:nvPr/>
        </p:nvSpPr>
        <p:spPr>
          <a:xfrm>
            <a:off x="291465" y="3138867"/>
            <a:ext cx="1693545" cy="3131820"/>
          </a:xfrm>
          <a:custGeom>
            <a:avLst/>
            <a:gdLst/>
            <a:ahLst/>
            <a:cxnLst/>
            <a:rect l="l" t="t" r="r" b="b"/>
            <a:pathLst>
              <a:path w="1129030" h="2087880">
                <a:moveTo>
                  <a:pt x="1128903" y="49149"/>
                </a:moveTo>
                <a:lnTo>
                  <a:pt x="1126871" y="38354"/>
                </a:lnTo>
                <a:lnTo>
                  <a:pt x="1124204" y="33108"/>
                </a:lnTo>
                <a:lnTo>
                  <a:pt x="1124204" y="49149"/>
                </a:lnTo>
                <a:lnTo>
                  <a:pt x="1124204" y="2037969"/>
                </a:lnTo>
                <a:lnTo>
                  <a:pt x="1123442" y="2042668"/>
                </a:lnTo>
                <a:lnTo>
                  <a:pt x="1122172" y="2048002"/>
                </a:lnTo>
                <a:lnTo>
                  <a:pt x="1122172" y="2047367"/>
                </a:lnTo>
                <a:lnTo>
                  <a:pt x="1120140" y="2052066"/>
                </a:lnTo>
                <a:lnTo>
                  <a:pt x="1120775" y="2052066"/>
                </a:lnTo>
                <a:lnTo>
                  <a:pt x="1118108" y="2056765"/>
                </a:lnTo>
                <a:lnTo>
                  <a:pt x="1118743" y="2056765"/>
                </a:lnTo>
                <a:lnTo>
                  <a:pt x="1116076" y="2060829"/>
                </a:lnTo>
                <a:lnTo>
                  <a:pt x="1112774" y="2064766"/>
                </a:lnTo>
                <a:lnTo>
                  <a:pt x="1113409" y="2064131"/>
                </a:lnTo>
                <a:lnTo>
                  <a:pt x="1110107" y="2068195"/>
                </a:lnTo>
                <a:lnTo>
                  <a:pt x="1106043" y="2071497"/>
                </a:lnTo>
                <a:lnTo>
                  <a:pt x="1102614" y="2074164"/>
                </a:lnTo>
                <a:lnTo>
                  <a:pt x="1097915" y="2076958"/>
                </a:lnTo>
                <a:lnTo>
                  <a:pt x="1098677" y="2076958"/>
                </a:lnTo>
                <a:lnTo>
                  <a:pt x="1093978" y="2078863"/>
                </a:lnTo>
                <a:lnTo>
                  <a:pt x="1084453" y="2081657"/>
                </a:lnTo>
                <a:lnTo>
                  <a:pt x="1074420" y="2082927"/>
                </a:lnTo>
                <a:lnTo>
                  <a:pt x="55118" y="2082927"/>
                </a:lnTo>
                <a:lnTo>
                  <a:pt x="45085" y="2081657"/>
                </a:lnTo>
                <a:lnTo>
                  <a:pt x="39624" y="2080260"/>
                </a:lnTo>
                <a:lnTo>
                  <a:pt x="40386" y="2080260"/>
                </a:lnTo>
                <a:lnTo>
                  <a:pt x="35687" y="2078863"/>
                </a:lnTo>
                <a:lnTo>
                  <a:pt x="30988" y="2076958"/>
                </a:lnTo>
                <a:lnTo>
                  <a:pt x="22860" y="2071497"/>
                </a:lnTo>
                <a:lnTo>
                  <a:pt x="23495" y="2071497"/>
                </a:lnTo>
                <a:lnTo>
                  <a:pt x="19558" y="2068195"/>
                </a:lnTo>
                <a:lnTo>
                  <a:pt x="16637" y="2064766"/>
                </a:lnTo>
                <a:lnTo>
                  <a:pt x="16129" y="2064131"/>
                </a:lnTo>
                <a:lnTo>
                  <a:pt x="16129" y="2064766"/>
                </a:lnTo>
                <a:lnTo>
                  <a:pt x="10795" y="2056765"/>
                </a:lnTo>
                <a:lnTo>
                  <a:pt x="8763" y="2052066"/>
                </a:lnTo>
                <a:lnTo>
                  <a:pt x="7620" y="2048002"/>
                </a:lnTo>
                <a:lnTo>
                  <a:pt x="7366" y="2047367"/>
                </a:lnTo>
                <a:lnTo>
                  <a:pt x="7366" y="2048002"/>
                </a:lnTo>
                <a:lnTo>
                  <a:pt x="6096" y="2042668"/>
                </a:lnTo>
                <a:lnTo>
                  <a:pt x="4699" y="2032508"/>
                </a:lnTo>
                <a:lnTo>
                  <a:pt x="4699" y="54483"/>
                </a:lnTo>
                <a:lnTo>
                  <a:pt x="6096" y="44323"/>
                </a:lnTo>
                <a:lnTo>
                  <a:pt x="8763" y="34925"/>
                </a:lnTo>
                <a:lnTo>
                  <a:pt x="10795" y="30226"/>
                </a:lnTo>
                <a:lnTo>
                  <a:pt x="16129" y="22225"/>
                </a:lnTo>
                <a:lnTo>
                  <a:pt x="16129" y="22860"/>
                </a:lnTo>
                <a:lnTo>
                  <a:pt x="16637" y="22225"/>
                </a:lnTo>
                <a:lnTo>
                  <a:pt x="19558" y="18796"/>
                </a:lnTo>
                <a:lnTo>
                  <a:pt x="23495" y="15494"/>
                </a:lnTo>
                <a:lnTo>
                  <a:pt x="22860" y="15494"/>
                </a:lnTo>
                <a:lnTo>
                  <a:pt x="30988" y="10033"/>
                </a:lnTo>
                <a:lnTo>
                  <a:pt x="35687" y="8128"/>
                </a:lnTo>
                <a:lnTo>
                  <a:pt x="40386" y="6731"/>
                </a:lnTo>
                <a:lnTo>
                  <a:pt x="39624" y="6731"/>
                </a:lnTo>
                <a:lnTo>
                  <a:pt x="45085" y="5334"/>
                </a:lnTo>
                <a:lnTo>
                  <a:pt x="55118" y="4064"/>
                </a:lnTo>
                <a:lnTo>
                  <a:pt x="1074420" y="4064"/>
                </a:lnTo>
                <a:lnTo>
                  <a:pt x="1084453" y="5334"/>
                </a:lnTo>
                <a:lnTo>
                  <a:pt x="1093978" y="8128"/>
                </a:lnTo>
                <a:lnTo>
                  <a:pt x="1098677" y="10033"/>
                </a:lnTo>
                <a:lnTo>
                  <a:pt x="1097915" y="10033"/>
                </a:lnTo>
                <a:lnTo>
                  <a:pt x="1102614" y="12827"/>
                </a:lnTo>
                <a:lnTo>
                  <a:pt x="1106043" y="15494"/>
                </a:lnTo>
                <a:lnTo>
                  <a:pt x="1110107" y="18796"/>
                </a:lnTo>
                <a:lnTo>
                  <a:pt x="1113409" y="22860"/>
                </a:lnTo>
                <a:lnTo>
                  <a:pt x="1112774" y="22225"/>
                </a:lnTo>
                <a:lnTo>
                  <a:pt x="1116076" y="26289"/>
                </a:lnTo>
                <a:lnTo>
                  <a:pt x="1118743" y="30226"/>
                </a:lnTo>
                <a:lnTo>
                  <a:pt x="1118108" y="30226"/>
                </a:lnTo>
                <a:lnTo>
                  <a:pt x="1120775" y="34925"/>
                </a:lnTo>
                <a:lnTo>
                  <a:pt x="1120140" y="34925"/>
                </a:lnTo>
                <a:lnTo>
                  <a:pt x="1122172" y="39624"/>
                </a:lnTo>
                <a:lnTo>
                  <a:pt x="1123442" y="44323"/>
                </a:lnTo>
                <a:lnTo>
                  <a:pt x="1124204" y="49149"/>
                </a:lnTo>
                <a:lnTo>
                  <a:pt x="1124204" y="33108"/>
                </a:lnTo>
                <a:lnTo>
                  <a:pt x="1095883" y="4064"/>
                </a:lnTo>
                <a:lnTo>
                  <a:pt x="1079754" y="0"/>
                </a:lnTo>
                <a:lnTo>
                  <a:pt x="49022" y="0"/>
                </a:lnTo>
                <a:lnTo>
                  <a:pt x="9398" y="23495"/>
                </a:lnTo>
                <a:lnTo>
                  <a:pt x="0" y="54483"/>
                </a:lnTo>
                <a:lnTo>
                  <a:pt x="0" y="2032508"/>
                </a:lnTo>
                <a:lnTo>
                  <a:pt x="28956" y="2080895"/>
                </a:lnTo>
                <a:lnTo>
                  <a:pt x="55118" y="2087626"/>
                </a:lnTo>
                <a:lnTo>
                  <a:pt x="1074420" y="2087626"/>
                </a:lnTo>
                <a:lnTo>
                  <a:pt x="1113409" y="2071497"/>
                </a:lnTo>
                <a:lnTo>
                  <a:pt x="1118997" y="2064131"/>
                </a:lnTo>
                <a:lnTo>
                  <a:pt x="1119505" y="2063496"/>
                </a:lnTo>
                <a:lnTo>
                  <a:pt x="1124839" y="2054098"/>
                </a:lnTo>
                <a:lnTo>
                  <a:pt x="1126871" y="2048637"/>
                </a:lnTo>
                <a:lnTo>
                  <a:pt x="1126998" y="2048002"/>
                </a:lnTo>
                <a:lnTo>
                  <a:pt x="1128268" y="2043938"/>
                </a:lnTo>
                <a:lnTo>
                  <a:pt x="1128903" y="2038604"/>
                </a:lnTo>
                <a:lnTo>
                  <a:pt x="1128903" y="491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defTabSz="1371600"/>
            <a:endParaRPr sz="2700"/>
          </a:p>
        </p:txBody>
      </p:sp>
      <p:sp>
        <p:nvSpPr>
          <p:cNvPr id="5" name="object 5"/>
          <p:cNvSpPr txBox="1"/>
          <p:nvPr/>
        </p:nvSpPr>
        <p:spPr>
          <a:xfrm>
            <a:off x="502538" y="3193160"/>
            <a:ext cx="1335404" cy="164469"/>
          </a:xfrm>
          <a:prstGeom prst="rect">
            <a:avLst/>
          </a:prstGeom>
        </p:spPr>
        <p:txBody>
          <a:bodyPr vert="horz" wrap="square" lIns="0" tIns="25718" rIns="0" bIns="0" rtlCol="0">
            <a:spAutoFit/>
          </a:bodyPr>
          <a:lstStyle/>
          <a:p>
            <a:pPr marL="19050" defTabSz="1371600">
              <a:spcBef>
                <a:spcPts val="203"/>
              </a:spcBef>
            </a:pPr>
            <a:r>
              <a:rPr sz="900" b="1" spc="15" dirty="0">
                <a:latin typeface="Times New Roman"/>
                <a:cs typeface="Times New Roman"/>
              </a:rPr>
              <a:t>Essential</a:t>
            </a:r>
            <a:r>
              <a:rPr sz="900" b="1" spc="188" dirty="0">
                <a:latin typeface="Times New Roman"/>
                <a:cs typeface="Times New Roman"/>
              </a:rPr>
              <a:t> </a:t>
            </a:r>
            <a:r>
              <a:rPr sz="900" b="1" spc="-15" dirty="0">
                <a:latin typeface="Times New Roman"/>
                <a:cs typeface="Times New Roman"/>
              </a:rPr>
              <a:t>Characteristics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8048" y="4059554"/>
            <a:ext cx="482918" cy="303289"/>
          </a:xfrm>
          <a:prstGeom prst="rect">
            <a:avLst/>
          </a:prstGeom>
        </p:spPr>
        <p:txBody>
          <a:bodyPr vert="horz" wrap="square" lIns="0" tIns="14288" rIns="0" bIns="0" rtlCol="0">
            <a:spAutoFit/>
          </a:bodyPr>
          <a:lstStyle/>
          <a:p>
            <a:pPr marL="55245" marR="7620" indent="-37148" defTabSz="1371600">
              <a:lnSpc>
                <a:spcPct val="108300"/>
              </a:lnSpc>
              <a:spcBef>
                <a:spcPts val="113"/>
              </a:spcBef>
            </a:pPr>
            <a:r>
              <a:rPr sz="900" spc="-15" dirty="0">
                <a:latin typeface="Times New Roman"/>
                <a:cs typeface="Times New Roman"/>
              </a:rPr>
              <a:t>Resource</a:t>
            </a:r>
            <a:r>
              <a:rPr sz="900" spc="750" dirty="0">
                <a:latin typeface="Times New Roman"/>
                <a:cs typeface="Times New Roman"/>
              </a:rPr>
              <a:t> </a:t>
            </a:r>
            <a:r>
              <a:rPr sz="900" spc="-15" dirty="0">
                <a:latin typeface="Times New Roman"/>
                <a:cs typeface="Times New Roman"/>
              </a:rPr>
              <a:t>pooling</a:t>
            </a:r>
            <a:endParaRPr sz="9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8929" y="4111046"/>
            <a:ext cx="367112" cy="27330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91680" y="4522278"/>
            <a:ext cx="757238" cy="303289"/>
          </a:xfrm>
          <a:prstGeom prst="rect">
            <a:avLst/>
          </a:prstGeom>
        </p:spPr>
        <p:txBody>
          <a:bodyPr vert="horz" wrap="square" lIns="0" tIns="14288" rIns="0" bIns="0" rtlCol="0">
            <a:spAutoFit/>
          </a:bodyPr>
          <a:lstStyle/>
          <a:p>
            <a:pPr marL="228600" marR="7620" indent="-210503" defTabSz="1371600">
              <a:lnSpc>
                <a:spcPct val="108300"/>
              </a:lnSpc>
              <a:spcBef>
                <a:spcPts val="113"/>
              </a:spcBef>
            </a:pPr>
            <a:r>
              <a:rPr sz="900" dirty="0">
                <a:latin typeface="Times New Roman"/>
                <a:cs typeface="Times New Roman"/>
              </a:rPr>
              <a:t>Broad</a:t>
            </a:r>
            <a:r>
              <a:rPr sz="900" spc="68" dirty="0">
                <a:latin typeface="Times New Roman"/>
                <a:cs typeface="Times New Roman"/>
              </a:rPr>
              <a:t> </a:t>
            </a:r>
            <a:r>
              <a:rPr sz="900" spc="-15" dirty="0">
                <a:latin typeface="Times New Roman"/>
                <a:cs typeface="Times New Roman"/>
              </a:rPr>
              <a:t>network</a:t>
            </a:r>
            <a:r>
              <a:rPr sz="900" spc="750" dirty="0">
                <a:latin typeface="Times New Roman"/>
                <a:cs typeface="Times New Roman"/>
              </a:rPr>
              <a:t> </a:t>
            </a:r>
            <a:r>
              <a:rPr sz="900" spc="-15" dirty="0">
                <a:latin typeface="Times New Roman"/>
                <a:cs typeface="Times New Roman"/>
              </a:rPr>
              <a:t>access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203197" y="4575943"/>
            <a:ext cx="491490" cy="1524953"/>
            <a:chOff x="802131" y="1717128"/>
            <a:chExt cx="327660" cy="101663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002" y="1717128"/>
              <a:ext cx="224561" cy="19498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2131" y="2492463"/>
              <a:ext cx="257505" cy="240703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83121" y="5117591"/>
            <a:ext cx="1153478" cy="869213"/>
          </a:xfrm>
          <a:prstGeom prst="rect">
            <a:avLst/>
          </a:prstGeom>
        </p:spPr>
        <p:txBody>
          <a:bodyPr vert="horz" wrap="square" lIns="0" tIns="14288" rIns="0" bIns="0" rtlCol="0">
            <a:spAutoFit/>
          </a:bodyPr>
          <a:lstStyle/>
          <a:p>
            <a:pPr marL="686751" marR="7620" indent="77153" defTabSz="1371600">
              <a:lnSpc>
                <a:spcPct val="108300"/>
              </a:lnSpc>
              <a:spcBef>
                <a:spcPts val="113"/>
              </a:spcBef>
            </a:pPr>
            <a:r>
              <a:rPr sz="900" spc="-15" dirty="0">
                <a:latin typeface="Times New Roman"/>
                <a:cs typeface="Times New Roman"/>
              </a:rPr>
              <a:t>Rapid</a:t>
            </a:r>
            <a:r>
              <a:rPr sz="900" spc="750" dirty="0">
                <a:latin typeface="Times New Roman"/>
                <a:cs typeface="Times New Roman"/>
              </a:rPr>
              <a:t> </a:t>
            </a:r>
            <a:r>
              <a:rPr sz="900" spc="-15" dirty="0">
                <a:latin typeface="Times New Roman"/>
                <a:cs typeface="Times New Roman"/>
              </a:rPr>
              <a:t>Elasticity</a:t>
            </a:r>
            <a:endParaRPr sz="900">
              <a:latin typeface="Times New Roman"/>
              <a:cs typeface="Times New Roman"/>
            </a:endParaRPr>
          </a:p>
          <a:p>
            <a:pPr defTabSz="1371600">
              <a:spcBef>
                <a:spcPts val="998"/>
              </a:spcBef>
            </a:pPr>
            <a:endParaRPr sz="900">
              <a:latin typeface="Times New Roman"/>
              <a:cs typeface="Times New Roman"/>
            </a:endParaRPr>
          </a:p>
          <a:p>
            <a:pPr marL="78104" marR="654368" indent="-60008" defTabSz="1371600">
              <a:lnSpc>
                <a:spcPct val="108300"/>
              </a:lnSpc>
            </a:pPr>
            <a:r>
              <a:rPr sz="900" spc="-15" dirty="0">
                <a:latin typeface="Times New Roman"/>
                <a:cs typeface="Times New Roman"/>
              </a:rPr>
              <a:t>Measured</a:t>
            </a:r>
            <a:r>
              <a:rPr sz="900" spc="750" dirty="0">
                <a:latin typeface="Times New Roman"/>
                <a:cs typeface="Times New Roman"/>
              </a:rPr>
              <a:t> </a:t>
            </a:r>
            <a:r>
              <a:rPr sz="900" spc="-15" dirty="0">
                <a:latin typeface="Times New Roman"/>
                <a:cs typeface="Times New Roman"/>
              </a:rPr>
              <a:t>Service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01383" y="3563435"/>
            <a:ext cx="1395413" cy="1966913"/>
            <a:chOff x="267588" y="1042123"/>
            <a:chExt cx="930275" cy="131127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1286" y="2046655"/>
              <a:ext cx="367779" cy="19565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7250" y="1042123"/>
              <a:ext cx="217169" cy="19498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67588" y="1385061"/>
              <a:ext cx="930275" cy="967105"/>
            </a:xfrm>
            <a:custGeom>
              <a:avLst/>
              <a:gdLst/>
              <a:ahLst/>
              <a:cxnLst/>
              <a:rect l="l" t="t" r="r" b="b"/>
              <a:pathLst>
                <a:path w="930275" h="967105">
                  <a:moveTo>
                    <a:pt x="0" y="0"/>
                  </a:moveTo>
                  <a:lnTo>
                    <a:pt x="886206" y="0"/>
                  </a:lnTo>
                </a:path>
                <a:path w="930275" h="967105">
                  <a:moveTo>
                    <a:pt x="28194" y="318008"/>
                  </a:moveTo>
                  <a:lnTo>
                    <a:pt x="914400" y="318008"/>
                  </a:lnTo>
                </a:path>
                <a:path w="930275" h="967105">
                  <a:moveTo>
                    <a:pt x="43688" y="602361"/>
                  </a:moveTo>
                  <a:lnTo>
                    <a:pt x="929894" y="602361"/>
                  </a:lnTo>
                </a:path>
                <a:path w="930275" h="967105">
                  <a:moveTo>
                    <a:pt x="28194" y="966851"/>
                  </a:moveTo>
                  <a:lnTo>
                    <a:pt x="914400" y="966851"/>
                  </a:lnTo>
                </a:path>
              </a:pathLst>
            </a:custGeom>
            <a:ln w="3175">
              <a:solidFill>
                <a:srgbClr val="E9E3EB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99490" y="3502722"/>
            <a:ext cx="620076" cy="303289"/>
          </a:xfrm>
          <a:prstGeom prst="rect">
            <a:avLst/>
          </a:prstGeom>
        </p:spPr>
        <p:txBody>
          <a:bodyPr vert="horz" wrap="square" lIns="0" tIns="14288" rIns="0" bIns="0" rtlCol="0">
            <a:spAutoFit/>
          </a:bodyPr>
          <a:lstStyle/>
          <a:p>
            <a:pPr marL="34290" marR="7620" indent="-16193" defTabSz="1371600">
              <a:lnSpc>
                <a:spcPct val="108300"/>
              </a:lnSpc>
              <a:spcBef>
                <a:spcPts val="113"/>
              </a:spcBef>
            </a:pPr>
            <a:r>
              <a:rPr sz="900" dirty="0">
                <a:latin typeface="Times New Roman"/>
                <a:cs typeface="Times New Roman"/>
              </a:rPr>
              <a:t>On-</a:t>
            </a:r>
            <a:r>
              <a:rPr sz="900" spc="-15" dirty="0">
                <a:latin typeface="Times New Roman"/>
                <a:cs typeface="Times New Roman"/>
              </a:rPr>
              <a:t>demand</a:t>
            </a:r>
            <a:r>
              <a:rPr sz="900" spc="750" dirty="0">
                <a:latin typeface="Times New Roman"/>
                <a:cs typeface="Times New Roman"/>
              </a:rPr>
              <a:t> </a:t>
            </a:r>
            <a:r>
              <a:rPr sz="900" spc="-15" dirty="0">
                <a:latin typeface="Times New Roman"/>
                <a:cs typeface="Times New Roman"/>
              </a:rPr>
              <a:t>Self-service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16192" y="6171056"/>
            <a:ext cx="157163" cy="164469"/>
          </a:xfrm>
          <a:prstGeom prst="rect">
            <a:avLst/>
          </a:prstGeom>
        </p:spPr>
        <p:txBody>
          <a:bodyPr vert="horz" wrap="square" lIns="0" tIns="25718" rIns="0" bIns="0" rtlCol="0">
            <a:spAutoFit/>
          </a:bodyPr>
          <a:lstStyle/>
          <a:p>
            <a:pPr marL="19050" defTabSz="1371600">
              <a:spcBef>
                <a:spcPts val="203"/>
              </a:spcBef>
            </a:pPr>
            <a:r>
              <a:rPr sz="900" spc="-38" dirty="0">
                <a:solidFill>
                  <a:srgbClr val="888888"/>
                </a:solidFill>
                <a:latin typeface="Times New Roman"/>
                <a:cs typeface="Times New Roman"/>
              </a:rPr>
              <a:t>33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xfrm>
            <a:off x="3364136" y="5161025"/>
            <a:ext cx="6525102" cy="1500411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9050">
              <a:lnSpc>
                <a:spcPts val="1515"/>
              </a:lnSpc>
              <a:spcBef>
                <a:spcPts val="165"/>
              </a:spcBef>
            </a:pPr>
            <a:r>
              <a:rPr spc="-15" dirty="0"/>
              <a:t>Scalability:</a:t>
            </a:r>
          </a:p>
          <a:p>
            <a:pPr marL="206693" indent="-187643">
              <a:lnSpc>
                <a:spcPts val="1515"/>
              </a:lnSpc>
              <a:buFont typeface="Arial MT"/>
              <a:buChar char="•"/>
              <a:tabLst>
                <a:tab pos="206693" algn="l"/>
              </a:tabLst>
            </a:pPr>
            <a:r>
              <a:rPr b="0" spc="-38" dirty="0"/>
              <a:t>Ability</a:t>
            </a:r>
            <a:r>
              <a:rPr b="0" spc="-68" dirty="0"/>
              <a:t> </a:t>
            </a:r>
            <a:r>
              <a:rPr b="0" dirty="0">
                <a:latin typeface="Times New Roman"/>
                <a:cs typeface="Times New Roman"/>
              </a:rPr>
              <a:t>to</a:t>
            </a:r>
            <a:r>
              <a:rPr b="0" spc="113" dirty="0"/>
              <a:t> </a:t>
            </a:r>
            <a:r>
              <a:rPr b="0" spc="-30" dirty="0"/>
              <a:t>system</a:t>
            </a:r>
            <a:r>
              <a:rPr b="0" spc="15" dirty="0"/>
              <a:t> </a:t>
            </a:r>
            <a:r>
              <a:rPr b="0" dirty="0">
                <a:latin typeface="Times New Roman"/>
                <a:cs typeface="Times New Roman"/>
              </a:rPr>
              <a:t>to</a:t>
            </a:r>
            <a:r>
              <a:rPr b="0" spc="127" dirty="0"/>
              <a:t> </a:t>
            </a:r>
            <a:r>
              <a:rPr b="0" spc="-15" dirty="0"/>
              <a:t>handle</a:t>
            </a:r>
            <a:r>
              <a:rPr b="0" spc="68" dirty="0"/>
              <a:t> </a:t>
            </a:r>
            <a:r>
              <a:rPr b="0" spc="-30" dirty="0"/>
              <a:t>increasing</a:t>
            </a:r>
            <a:r>
              <a:rPr b="0" spc="-45" dirty="0"/>
              <a:t> </a:t>
            </a:r>
            <a:r>
              <a:rPr b="0" spc="-30" dirty="0"/>
              <a:t>workload</a:t>
            </a:r>
            <a:r>
              <a:rPr b="0" spc="-8" dirty="0"/>
              <a:t> </a:t>
            </a:r>
            <a:r>
              <a:rPr b="0" spc="-38" dirty="0"/>
              <a:t>by</a:t>
            </a:r>
            <a:r>
              <a:rPr b="0" spc="-23" dirty="0"/>
              <a:t> </a:t>
            </a:r>
            <a:r>
              <a:rPr b="0" spc="-30" dirty="0"/>
              <a:t>increasing</a:t>
            </a:r>
            <a:r>
              <a:rPr b="0" spc="-83" dirty="0"/>
              <a:t> </a:t>
            </a:r>
            <a:r>
              <a:rPr b="0" spc="-38" dirty="0"/>
              <a:t>in</a:t>
            </a:r>
          </a:p>
          <a:p>
            <a:pPr marL="205740">
              <a:spcBef>
                <a:spcPts val="60"/>
              </a:spcBef>
            </a:pPr>
            <a:r>
              <a:rPr b="0" dirty="0">
                <a:latin typeface="Times New Roman"/>
                <a:cs typeface="Times New Roman"/>
              </a:rPr>
              <a:t>proportion</a:t>
            </a:r>
            <a:r>
              <a:rPr b="0" spc="23" dirty="0"/>
              <a:t> </a:t>
            </a: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30" dirty="0"/>
              <a:t> </a:t>
            </a:r>
            <a:r>
              <a:rPr b="0" dirty="0">
                <a:latin typeface="Times New Roman"/>
                <a:cs typeface="Times New Roman"/>
              </a:rPr>
              <a:t>amount</a:t>
            </a:r>
            <a:r>
              <a:rPr b="0" spc="38" dirty="0"/>
              <a:t> </a:t>
            </a:r>
            <a:r>
              <a:rPr b="0" dirty="0">
                <a:latin typeface="Times New Roman"/>
                <a:cs typeface="Times New Roman"/>
              </a:rPr>
              <a:t>of</a:t>
            </a:r>
            <a:r>
              <a:rPr b="0" spc="68" dirty="0"/>
              <a:t> </a:t>
            </a:r>
            <a:r>
              <a:rPr b="0" spc="-15" dirty="0"/>
              <a:t>resource</a:t>
            </a:r>
            <a:r>
              <a:rPr b="0" spc="-83" dirty="0"/>
              <a:t> </a:t>
            </a:r>
            <a:r>
              <a:rPr b="0" spc="-15" dirty="0"/>
              <a:t>capacity.</a:t>
            </a:r>
          </a:p>
          <a:p>
            <a:pPr marL="205740" marR="560070" indent="-187643">
              <a:lnSpc>
                <a:spcPct val="103499"/>
              </a:lnSpc>
              <a:spcBef>
                <a:spcPts val="53"/>
              </a:spcBef>
              <a:buFont typeface="Arial MT"/>
              <a:buChar char="•"/>
              <a:tabLst>
                <a:tab pos="205740" algn="l"/>
              </a:tabLst>
            </a:pPr>
            <a:r>
              <a:rPr b="0" spc="-15" dirty="0"/>
              <a:t>Architecture</a:t>
            </a:r>
            <a:r>
              <a:rPr b="0" spc="8" dirty="0"/>
              <a:t> </a:t>
            </a:r>
            <a:r>
              <a:rPr b="0" spc="-38" dirty="0"/>
              <a:t>allows</a:t>
            </a:r>
            <a:r>
              <a:rPr b="0" spc="-120" dirty="0"/>
              <a:t> </a:t>
            </a:r>
            <a:r>
              <a:rPr b="0" spc="-15" dirty="0"/>
              <a:t>on-</a:t>
            </a:r>
            <a:r>
              <a:rPr b="0" dirty="0">
                <a:latin typeface="Times New Roman"/>
                <a:cs typeface="Times New Roman"/>
              </a:rPr>
              <a:t>demand</a:t>
            </a:r>
            <a:r>
              <a:rPr b="0" spc="23" dirty="0"/>
              <a:t> </a:t>
            </a:r>
            <a:r>
              <a:rPr b="0" spc="-15" dirty="0"/>
              <a:t>resources</a:t>
            </a:r>
            <a:r>
              <a:rPr b="0" spc="53" dirty="0"/>
              <a:t> </a:t>
            </a:r>
            <a:r>
              <a:rPr b="0" dirty="0">
                <a:latin typeface="Times New Roman"/>
                <a:cs typeface="Times New Roman"/>
              </a:rPr>
              <a:t>for</a:t>
            </a:r>
            <a:r>
              <a:rPr b="0" spc="53" dirty="0"/>
              <a:t> </a:t>
            </a:r>
            <a:r>
              <a:rPr b="0" spc="-15" dirty="0"/>
              <a:t>increasing workload</a:t>
            </a:r>
          </a:p>
          <a:p>
            <a:pPr marL="19050">
              <a:spcBef>
                <a:spcPts val="675"/>
              </a:spcBef>
            </a:pPr>
            <a:r>
              <a:rPr spc="-15" dirty="0"/>
              <a:t>Elasticity:</a:t>
            </a:r>
          </a:p>
          <a:p>
            <a:pPr marL="206693" indent="-187643">
              <a:lnSpc>
                <a:spcPts val="1500"/>
              </a:lnSpc>
              <a:spcBef>
                <a:spcPts val="45"/>
              </a:spcBef>
              <a:buFont typeface="Arial MT"/>
              <a:buChar char="•"/>
              <a:tabLst>
                <a:tab pos="206693" algn="l"/>
              </a:tabLst>
            </a:pPr>
            <a:r>
              <a:rPr b="0" spc="-45" dirty="0"/>
              <a:t>Dynamically</a:t>
            </a:r>
            <a:r>
              <a:rPr b="0" spc="-60" dirty="0"/>
              <a:t> </a:t>
            </a:r>
            <a:r>
              <a:rPr b="0" spc="-15" dirty="0"/>
              <a:t>Commissioning</a:t>
            </a:r>
            <a:r>
              <a:rPr b="0" spc="-8" dirty="0"/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-8" dirty="0"/>
              <a:t> </a:t>
            </a:r>
            <a:r>
              <a:rPr b="0" spc="-15" dirty="0"/>
              <a:t>decommissioning</a:t>
            </a:r>
            <a:r>
              <a:rPr b="0" spc="45" dirty="0"/>
              <a:t> </a:t>
            </a:r>
            <a:r>
              <a:rPr b="0" dirty="0">
                <a:latin typeface="Times New Roman"/>
                <a:cs typeface="Times New Roman"/>
              </a:rPr>
              <a:t>of</a:t>
            </a:r>
            <a:r>
              <a:rPr b="0" spc="330" dirty="0"/>
              <a:t> </a:t>
            </a:r>
            <a:r>
              <a:rPr b="0" spc="-15" dirty="0"/>
              <a:t>resources</a:t>
            </a:r>
          </a:p>
          <a:p>
            <a:pPr marL="205740" marR="66675" indent="-187643">
              <a:lnSpc>
                <a:spcPts val="1560"/>
              </a:lnSpc>
              <a:buFont typeface="Arial MT"/>
              <a:buChar char="•"/>
              <a:tabLst>
                <a:tab pos="205740" algn="l"/>
              </a:tabLst>
            </a:pPr>
            <a:r>
              <a:rPr b="0" spc="-30" dirty="0"/>
              <a:t>Speed</a:t>
            </a:r>
            <a:r>
              <a:rPr b="0" spc="-75" dirty="0"/>
              <a:t> </a:t>
            </a:r>
            <a:r>
              <a:rPr b="0" dirty="0">
                <a:latin typeface="Times New Roman"/>
                <a:cs typeface="Times New Roman"/>
              </a:rPr>
              <a:t>at</a:t>
            </a:r>
            <a:r>
              <a:rPr b="0" spc="-38" dirty="0"/>
              <a:t> </a:t>
            </a:r>
            <a:r>
              <a:rPr b="0" spc="-15" dirty="0"/>
              <a:t>which</a:t>
            </a:r>
            <a:r>
              <a:rPr b="0" spc="-105" dirty="0"/>
              <a:t> </a:t>
            </a:r>
            <a:r>
              <a:rPr b="0" spc="-15" dirty="0"/>
              <a:t>resources</a:t>
            </a:r>
            <a:r>
              <a:rPr b="0" spc="53" dirty="0"/>
              <a:t> </a:t>
            </a:r>
            <a:r>
              <a:rPr b="0" spc="-15" dirty="0"/>
              <a:t>are</a:t>
            </a:r>
            <a:r>
              <a:rPr b="0" spc="-60" dirty="0"/>
              <a:t> </a:t>
            </a:r>
            <a:r>
              <a:rPr b="0" spc="-15" dirty="0"/>
              <a:t>provisioned</a:t>
            </a:r>
            <a:r>
              <a:rPr b="0" spc="60" dirty="0"/>
              <a:t> </a:t>
            </a:r>
            <a:r>
              <a:rPr b="0" dirty="0">
                <a:latin typeface="Times New Roman"/>
                <a:cs typeface="Times New Roman"/>
              </a:rPr>
              <a:t>on</a:t>
            </a:r>
            <a:r>
              <a:rPr b="0" spc="53" dirty="0"/>
              <a:t> </a:t>
            </a:r>
            <a:r>
              <a:rPr b="0" dirty="0">
                <a:latin typeface="Times New Roman"/>
                <a:cs typeface="Times New Roman"/>
              </a:rPr>
              <a:t>demand</a:t>
            </a:r>
            <a:r>
              <a:rPr b="0" spc="-38" dirty="0"/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8" dirty="0"/>
              <a:t> </a:t>
            </a:r>
            <a:r>
              <a:rPr b="0" spc="-30" dirty="0"/>
              <a:t>usage</a:t>
            </a:r>
            <a:r>
              <a:rPr b="0" dirty="0">
                <a:latin typeface="Times New Roman"/>
                <a:cs typeface="Times New Roman"/>
              </a:rPr>
              <a:t> of</a:t>
            </a:r>
            <a:r>
              <a:rPr b="0" spc="180" dirty="0"/>
              <a:t> </a:t>
            </a:r>
            <a:r>
              <a:rPr b="0" spc="-15" dirty="0"/>
              <a:t>resources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640059"/>
          </a:xfrm>
          <a:prstGeom prst="rect">
            <a:avLst/>
          </a:prstGeom>
        </p:spPr>
        <p:txBody>
          <a:bodyPr vert="horz" wrap="square" lIns="0" tIns="268109" rIns="0" bIns="0" rtlCol="0">
            <a:spAutoFit/>
          </a:bodyPr>
          <a:lstStyle/>
          <a:p>
            <a:pPr marL="132398">
              <a:spcBef>
                <a:spcPts val="143"/>
              </a:spcBef>
            </a:pPr>
            <a:r>
              <a:rPr dirty="0"/>
              <a:t>DevOps–</a:t>
            </a:r>
            <a:r>
              <a:rPr spc="75" dirty="0"/>
              <a:t> </a:t>
            </a:r>
            <a:r>
              <a:rPr dirty="0"/>
              <a:t>Cloud as a</a:t>
            </a:r>
            <a:r>
              <a:rPr spc="-158" dirty="0"/>
              <a:t> </a:t>
            </a:r>
            <a:r>
              <a:rPr spc="-15" dirty="0"/>
              <a:t>catalyst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530" y="4339056"/>
            <a:ext cx="649490" cy="5375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625" y="3494951"/>
            <a:ext cx="650499" cy="53755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88062" y="5197259"/>
            <a:ext cx="650558" cy="538163"/>
            <a:chOff x="325374" y="2131339"/>
            <a:chExt cx="433705" cy="35877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5374" y="2131339"/>
              <a:ext cx="433666" cy="35836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4114" y="2277871"/>
              <a:ext cx="277495" cy="100330"/>
            </a:xfrm>
            <a:custGeom>
              <a:avLst/>
              <a:gdLst/>
              <a:ahLst/>
              <a:cxnLst/>
              <a:rect l="l" t="t" r="r" b="b"/>
              <a:pathLst>
                <a:path w="277495" h="100330">
                  <a:moveTo>
                    <a:pt x="635" y="0"/>
                  </a:moveTo>
                  <a:lnTo>
                    <a:pt x="0" y="2032"/>
                  </a:lnTo>
                  <a:lnTo>
                    <a:pt x="275590" y="100202"/>
                  </a:lnTo>
                  <a:lnTo>
                    <a:pt x="276987" y="98171"/>
                  </a:lnTo>
                  <a:lnTo>
                    <a:pt x="6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1371600"/>
              <a:endParaRPr sz="2700"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0685" y="2219392"/>
              <a:ext cx="136486" cy="11766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4736" y="2303542"/>
              <a:ext cx="136486" cy="11631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30911" y="3315270"/>
            <a:ext cx="741045" cy="151003"/>
          </a:xfrm>
          <a:prstGeom prst="rect">
            <a:avLst/>
          </a:prstGeom>
        </p:spPr>
        <p:txBody>
          <a:bodyPr vert="horz" wrap="square" lIns="0" tIns="23813" rIns="0" bIns="0" rtlCol="0">
            <a:spAutoFit/>
          </a:bodyPr>
          <a:lstStyle/>
          <a:p>
            <a:pPr marL="19050" defTabSz="1371600">
              <a:spcBef>
                <a:spcPts val="188"/>
              </a:spcBef>
            </a:pPr>
            <a:r>
              <a:rPr sz="825" b="1" dirty="0">
                <a:latin typeface="Arial"/>
                <a:cs typeface="Arial"/>
              </a:rPr>
              <a:t>Private</a:t>
            </a:r>
            <a:r>
              <a:rPr sz="825" b="1" spc="90" dirty="0">
                <a:latin typeface="Arial"/>
                <a:cs typeface="Arial"/>
              </a:rPr>
              <a:t> </a:t>
            </a:r>
            <a:r>
              <a:rPr sz="825" b="1" spc="-15" dirty="0">
                <a:latin typeface="Arial"/>
                <a:cs typeface="Arial"/>
              </a:rPr>
              <a:t>Cloud</a:t>
            </a:r>
            <a:endParaRPr sz="825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6528" y="4151567"/>
            <a:ext cx="701993" cy="151003"/>
          </a:xfrm>
          <a:prstGeom prst="rect">
            <a:avLst/>
          </a:prstGeom>
        </p:spPr>
        <p:txBody>
          <a:bodyPr vert="horz" wrap="square" lIns="0" tIns="23813" rIns="0" bIns="0" rtlCol="0">
            <a:spAutoFit/>
          </a:bodyPr>
          <a:lstStyle/>
          <a:p>
            <a:pPr marL="19050" defTabSz="1371600">
              <a:spcBef>
                <a:spcPts val="188"/>
              </a:spcBef>
            </a:pPr>
            <a:r>
              <a:rPr sz="825" b="1" dirty="0">
                <a:latin typeface="Arial"/>
                <a:cs typeface="Arial"/>
              </a:rPr>
              <a:t>Public</a:t>
            </a:r>
            <a:r>
              <a:rPr sz="825" b="1" spc="75" dirty="0">
                <a:latin typeface="Arial"/>
                <a:cs typeface="Arial"/>
              </a:rPr>
              <a:t> </a:t>
            </a:r>
            <a:r>
              <a:rPr sz="825" b="1" spc="-15" dirty="0">
                <a:latin typeface="Arial"/>
                <a:cs typeface="Arial"/>
              </a:rPr>
              <a:t>Cloud</a:t>
            </a:r>
            <a:endParaRPr sz="825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7392" y="5033009"/>
            <a:ext cx="722948" cy="151003"/>
          </a:xfrm>
          <a:prstGeom prst="rect">
            <a:avLst/>
          </a:prstGeom>
        </p:spPr>
        <p:txBody>
          <a:bodyPr vert="horz" wrap="square" lIns="0" tIns="23813" rIns="0" bIns="0" rtlCol="0">
            <a:spAutoFit/>
          </a:bodyPr>
          <a:lstStyle/>
          <a:p>
            <a:pPr marL="19050" defTabSz="1371600">
              <a:spcBef>
                <a:spcPts val="188"/>
              </a:spcBef>
            </a:pPr>
            <a:r>
              <a:rPr sz="825" b="1" dirty="0">
                <a:latin typeface="Arial"/>
                <a:cs typeface="Arial"/>
              </a:rPr>
              <a:t>Hybrid</a:t>
            </a:r>
            <a:r>
              <a:rPr sz="825" b="1" spc="75" dirty="0">
                <a:latin typeface="Arial"/>
                <a:cs typeface="Arial"/>
              </a:rPr>
              <a:t> </a:t>
            </a:r>
            <a:r>
              <a:rPr sz="825" b="1" spc="-15" dirty="0">
                <a:latin typeface="Arial"/>
                <a:cs typeface="Arial"/>
              </a:rPr>
              <a:t>Cloud</a:t>
            </a:r>
            <a:endParaRPr sz="825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73124" y="3291458"/>
            <a:ext cx="5063490" cy="6108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050" marR="7620" defTabSz="1371600">
              <a:lnSpc>
                <a:spcPct val="102400"/>
              </a:lnSpc>
              <a:spcBef>
                <a:spcPts val="135"/>
              </a:spcBef>
            </a:pPr>
            <a:r>
              <a:rPr sz="1275" b="1" spc="-45" dirty="0">
                <a:latin typeface="Calibri"/>
                <a:cs typeface="Calibri"/>
              </a:rPr>
              <a:t>Private</a:t>
            </a:r>
            <a:r>
              <a:rPr sz="1275" b="1" spc="-15" dirty="0">
                <a:latin typeface="Calibri"/>
                <a:cs typeface="Calibri"/>
              </a:rPr>
              <a:t> Cloud:</a:t>
            </a:r>
            <a:r>
              <a:rPr sz="1275" b="1" spc="-38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The</a:t>
            </a:r>
            <a:r>
              <a:rPr sz="1275" spc="23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infrastructure </a:t>
            </a:r>
            <a:r>
              <a:rPr sz="1275" spc="-30" dirty="0">
                <a:latin typeface="Calibri"/>
                <a:cs typeface="Calibri"/>
              </a:rPr>
              <a:t>is</a:t>
            </a:r>
            <a:r>
              <a:rPr sz="1275" spc="-75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operated</a:t>
            </a:r>
            <a:r>
              <a:rPr sz="1275" spc="-23" dirty="0">
                <a:latin typeface="Calibri"/>
                <a:cs typeface="Calibri"/>
              </a:rPr>
              <a:t> </a:t>
            </a:r>
            <a:r>
              <a:rPr sz="1275" spc="-38" dirty="0">
                <a:latin typeface="Calibri"/>
                <a:cs typeface="Calibri"/>
              </a:rPr>
              <a:t>solely</a:t>
            </a:r>
            <a:r>
              <a:rPr sz="1275" spc="-98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for</a:t>
            </a:r>
            <a:r>
              <a:rPr sz="1275" spc="53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an</a:t>
            </a:r>
            <a:r>
              <a:rPr sz="1275" spc="15" dirty="0">
                <a:latin typeface="Calibri"/>
                <a:cs typeface="Calibri"/>
              </a:rPr>
              <a:t> </a:t>
            </a:r>
            <a:r>
              <a:rPr sz="1275" spc="-30" dirty="0">
                <a:latin typeface="Calibri"/>
                <a:cs typeface="Calibri"/>
              </a:rPr>
              <a:t>organization.</a:t>
            </a:r>
            <a:r>
              <a:rPr sz="1275" spc="8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It</a:t>
            </a:r>
            <a:r>
              <a:rPr sz="1275" spc="90" dirty="0">
                <a:latin typeface="Calibri"/>
                <a:cs typeface="Calibri"/>
              </a:rPr>
              <a:t> </a:t>
            </a:r>
            <a:r>
              <a:rPr sz="1275" spc="-38" dirty="0">
                <a:latin typeface="Calibri"/>
                <a:cs typeface="Calibri"/>
              </a:rPr>
              <a:t>may</a:t>
            </a:r>
            <a:r>
              <a:rPr sz="1275" spc="750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be</a:t>
            </a:r>
            <a:r>
              <a:rPr sz="1275" spc="-23" dirty="0">
                <a:latin typeface="Calibri"/>
                <a:cs typeface="Calibri"/>
              </a:rPr>
              <a:t> </a:t>
            </a:r>
            <a:r>
              <a:rPr sz="1275" spc="-30" dirty="0">
                <a:latin typeface="Calibri"/>
                <a:cs typeface="Calibri"/>
              </a:rPr>
              <a:t>managed</a:t>
            </a:r>
            <a:r>
              <a:rPr sz="1275" spc="-45" dirty="0">
                <a:latin typeface="Calibri"/>
                <a:cs typeface="Calibri"/>
              </a:rPr>
              <a:t> </a:t>
            </a:r>
            <a:r>
              <a:rPr sz="1275" spc="-38" dirty="0">
                <a:latin typeface="Calibri"/>
                <a:cs typeface="Calibri"/>
              </a:rPr>
              <a:t>by</a:t>
            </a:r>
            <a:r>
              <a:rPr sz="1275" spc="-90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the</a:t>
            </a:r>
            <a:r>
              <a:rPr sz="1275" spc="15" dirty="0">
                <a:latin typeface="Calibri"/>
                <a:cs typeface="Calibri"/>
              </a:rPr>
              <a:t> </a:t>
            </a:r>
            <a:r>
              <a:rPr sz="1275" spc="-30" dirty="0">
                <a:latin typeface="Calibri"/>
                <a:cs typeface="Calibri"/>
              </a:rPr>
              <a:t>organization</a:t>
            </a:r>
            <a:r>
              <a:rPr sz="1275" spc="23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or</a:t>
            </a:r>
            <a:r>
              <a:rPr sz="1275" spc="30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a</a:t>
            </a:r>
            <a:r>
              <a:rPr sz="1275" spc="-68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third</a:t>
            </a:r>
            <a:r>
              <a:rPr sz="1275" spc="-23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party </a:t>
            </a:r>
            <a:r>
              <a:rPr sz="1275" dirty="0">
                <a:latin typeface="Calibri"/>
                <a:cs typeface="Calibri"/>
              </a:rPr>
              <a:t>and</a:t>
            </a:r>
            <a:r>
              <a:rPr sz="1275" spc="15" dirty="0">
                <a:latin typeface="Calibri"/>
                <a:cs typeface="Calibri"/>
              </a:rPr>
              <a:t> </a:t>
            </a:r>
            <a:r>
              <a:rPr sz="1275" spc="-53" dirty="0">
                <a:latin typeface="Calibri"/>
                <a:cs typeface="Calibri"/>
              </a:rPr>
              <a:t>may</a:t>
            </a:r>
            <a:r>
              <a:rPr sz="1275" spc="-120" dirty="0">
                <a:latin typeface="Calibri"/>
                <a:cs typeface="Calibri"/>
              </a:rPr>
              <a:t> </a:t>
            </a:r>
            <a:r>
              <a:rPr sz="1275" spc="-38" dirty="0">
                <a:latin typeface="Calibri"/>
                <a:cs typeface="Calibri"/>
              </a:rPr>
              <a:t>exist</a:t>
            </a:r>
            <a:r>
              <a:rPr sz="1275" spc="-23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on</a:t>
            </a:r>
            <a:r>
              <a:rPr sz="1275" spc="53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or</a:t>
            </a:r>
            <a:r>
              <a:rPr sz="1275" spc="38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off</a:t>
            </a:r>
            <a:r>
              <a:rPr sz="1275" spc="15" dirty="0">
                <a:latin typeface="Calibri"/>
                <a:cs typeface="Calibri"/>
              </a:rPr>
              <a:t> </a:t>
            </a:r>
            <a:r>
              <a:rPr sz="1275" spc="-38" dirty="0">
                <a:latin typeface="Calibri"/>
                <a:cs typeface="Calibri"/>
              </a:rPr>
              <a:t>the</a:t>
            </a:r>
            <a:r>
              <a:rPr sz="1275" spc="750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premises</a:t>
            </a:r>
            <a:r>
              <a:rPr sz="1275" spc="-75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of</a:t>
            </a:r>
            <a:r>
              <a:rPr sz="1275" spc="15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the</a:t>
            </a:r>
            <a:r>
              <a:rPr sz="1275" spc="-120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organization.</a:t>
            </a:r>
            <a:endParaRPr sz="1275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73125" y="4091177"/>
            <a:ext cx="4913948" cy="411267"/>
          </a:xfrm>
          <a:prstGeom prst="rect">
            <a:avLst/>
          </a:prstGeom>
        </p:spPr>
        <p:txBody>
          <a:bodyPr vert="horz" wrap="square" lIns="0" tIns="14288" rIns="0" bIns="0" rtlCol="0">
            <a:spAutoFit/>
          </a:bodyPr>
          <a:lstStyle/>
          <a:p>
            <a:pPr marL="19050" marR="7620" defTabSz="1371600">
              <a:lnSpc>
                <a:spcPct val="103499"/>
              </a:lnSpc>
              <a:spcBef>
                <a:spcPts val="113"/>
              </a:spcBef>
            </a:pPr>
            <a:r>
              <a:rPr sz="1275" b="1" dirty="0">
                <a:latin typeface="Calibri"/>
                <a:cs typeface="Calibri"/>
              </a:rPr>
              <a:t>Public</a:t>
            </a:r>
            <a:r>
              <a:rPr sz="1275" b="1" spc="83" dirty="0">
                <a:latin typeface="Calibri"/>
                <a:cs typeface="Calibri"/>
              </a:rPr>
              <a:t> </a:t>
            </a:r>
            <a:r>
              <a:rPr sz="1275" b="1" spc="-15" dirty="0">
                <a:latin typeface="Calibri"/>
                <a:cs typeface="Calibri"/>
              </a:rPr>
              <a:t>Cloud:</a:t>
            </a:r>
            <a:r>
              <a:rPr sz="1275" b="1" spc="-45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The</a:t>
            </a:r>
            <a:r>
              <a:rPr sz="1275" spc="38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infrastructure</a:t>
            </a:r>
            <a:r>
              <a:rPr sz="1275" spc="-8" dirty="0">
                <a:latin typeface="Calibri"/>
                <a:cs typeface="Calibri"/>
              </a:rPr>
              <a:t> </a:t>
            </a:r>
            <a:r>
              <a:rPr sz="1275" spc="-30" dirty="0">
                <a:latin typeface="Calibri"/>
                <a:cs typeface="Calibri"/>
              </a:rPr>
              <a:t>is</a:t>
            </a:r>
            <a:r>
              <a:rPr sz="1275" spc="-75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made</a:t>
            </a:r>
            <a:r>
              <a:rPr sz="1275" dirty="0">
                <a:latin typeface="Calibri"/>
                <a:cs typeface="Calibri"/>
              </a:rPr>
              <a:t> </a:t>
            </a:r>
            <a:r>
              <a:rPr sz="1275" spc="-53" dirty="0">
                <a:latin typeface="Calibri"/>
                <a:cs typeface="Calibri"/>
              </a:rPr>
              <a:t>available</a:t>
            </a:r>
            <a:r>
              <a:rPr sz="1275" spc="-120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to</a:t>
            </a:r>
            <a:r>
              <a:rPr sz="1275" spc="98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the</a:t>
            </a:r>
            <a:r>
              <a:rPr sz="1275" spc="45" dirty="0">
                <a:latin typeface="Calibri"/>
                <a:cs typeface="Calibri"/>
              </a:rPr>
              <a:t> </a:t>
            </a:r>
            <a:r>
              <a:rPr sz="1275" spc="-30" dirty="0">
                <a:latin typeface="Calibri"/>
                <a:cs typeface="Calibri"/>
              </a:rPr>
              <a:t>general</a:t>
            </a:r>
            <a:r>
              <a:rPr sz="1275" spc="-83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public</a:t>
            </a:r>
            <a:r>
              <a:rPr sz="1275" spc="-75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or</a:t>
            </a:r>
            <a:r>
              <a:rPr sz="1275" spc="53" dirty="0">
                <a:latin typeface="Calibri"/>
                <a:cs typeface="Calibri"/>
              </a:rPr>
              <a:t> </a:t>
            </a:r>
            <a:r>
              <a:rPr sz="1275" spc="-75" dirty="0">
                <a:latin typeface="Calibri"/>
                <a:cs typeface="Calibri"/>
              </a:rPr>
              <a:t>a</a:t>
            </a:r>
            <a:r>
              <a:rPr sz="1275" spc="750" dirty="0">
                <a:latin typeface="Calibri"/>
                <a:cs typeface="Calibri"/>
              </a:rPr>
              <a:t> </a:t>
            </a:r>
            <a:r>
              <a:rPr sz="1275" spc="-45" dirty="0">
                <a:latin typeface="Calibri"/>
                <a:cs typeface="Calibri"/>
              </a:rPr>
              <a:t>large</a:t>
            </a:r>
            <a:r>
              <a:rPr sz="1275" spc="-53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industry </a:t>
            </a:r>
            <a:r>
              <a:rPr sz="1275" dirty="0">
                <a:latin typeface="Calibri"/>
                <a:cs typeface="Calibri"/>
              </a:rPr>
              <a:t>group</a:t>
            </a:r>
            <a:r>
              <a:rPr sz="1275" spc="-15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and</a:t>
            </a:r>
            <a:r>
              <a:rPr sz="1275" spc="-23" dirty="0">
                <a:latin typeface="Calibri"/>
                <a:cs typeface="Calibri"/>
              </a:rPr>
              <a:t> </a:t>
            </a:r>
            <a:r>
              <a:rPr sz="1275" spc="-30" dirty="0">
                <a:latin typeface="Calibri"/>
                <a:cs typeface="Calibri"/>
              </a:rPr>
              <a:t>is</a:t>
            </a:r>
            <a:r>
              <a:rPr sz="1275" spc="-98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owned</a:t>
            </a:r>
            <a:r>
              <a:rPr sz="1275" spc="-38" dirty="0">
                <a:latin typeface="Calibri"/>
                <a:cs typeface="Calibri"/>
              </a:rPr>
              <a:t> by</a:t>
            </a:r>
            <a:r>
              <a:rPr sz="1275" spc="-98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an </a:t>
            </a:r>
            <a:r>
              <a:rPr sz="1275" spc="-30" dirty="0">
                <a:latin typeface="Calibri"/>
                <a:cs typeface="Calibri"/>
              </a:rPr>
              <a:t>organization</a:t>
            </a:r>
            <a:r>
              <a:rPr sz="1275" dirty="0">
                <a:latin typeface="Calibri"/>
                <a:cs typeface="Calibri"/>
              </a:rPr>
              <a:t> </a:t>
            </a:r>
            <a:r>
              <a:rPr sz="1275" spc="-38" dirty="0">
                <a:latin typeface="Calibri"/>
                <a:cs typeface="Calibri"/>
              </a:rPr>
              <a:t>selling</a:t>
            </a:r>
            <a:r>
              <a:rPr sz="1275" spc="-120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cloud</a:t>
            </a:r>
            <a:r>
              <a:rPr sz="1275" spc="255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services.</a:t>
            </a:r>
            <a:endParaRPr sz="1275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73125" y="4689728"/>
            <a:ext cx="4753928" cy="217367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9050" defTabSz="1371600">
              <a:spcBef>
                <a:spcPts val="165"/>
              </a:spcBef>
            </a:pPr>
            <a:r>
              <a:rPr sz="1275" b="1" dirty="0">
                <a:latin typeface="Calibri"/>
                <a:cs typeface="Calibri"/>
              </a:rPr>
              <a:t>Hybrid</a:t>
            </a:r>
            <a:r>
              <a:rPr sz="1275" b="1" spc="-23" dirty="0">
                <a:latin typeface="Calibri"/>
                <a:cs typeface="Calibri"/>
              </a:rPr>
              <a:t> </a:t>
            </a:r>
            <a:r>
              <a:rPr sz="1275" b="1" spc="-15" dirty="0">
                <a:latin typeface="Calibri"/>
                <a:cs typeface="Calibri"/>
              </a:rPr>
              <a:t>Cloud:</a:t>
            </a:r>
            <a:r>
              <a:rPr sz="1275" b="1" spc="-53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The</a:t>
            </a:r>
            <a:r>
              <a:rPr sz="1275" spc="30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infrastructure</a:t>
            </a:r>
            <a:r>
              <a:rPr sz="1275" spc="-45" dirty="0">
                <a:latin typeface="Calibri"/>
                <a:cs typeface="Calibri"/>
              </a:rPr>
              <a:t> </a:t>
            </a:r>
            <a:r>
              <a:rPr sz="1275" spc="-30" dirty="0">
                <a:latin typeface="Calibri"/>
                <a:cs typeface="Calibri"/>
              </a:rPr>
              <a:t>is</a:t>
            </a:r>
            <a:r>
              <a:rPr sz="1275" spc="-75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a</a:t>
            </a:r>
            <a:r>
              <a:rPr sz="1275" spc="-60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composition</a:t>
            </a:r>
            <a:r>
              <a:rPr sz="1275" spc="-53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of</a:t>
            </a:r>
            <a:r>
              <a:rPr sz="1275" spc="53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two</a:t>
            </a:r>
            <a:r>
              <a:rPr sz="1275" spc="30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or</a:t>
            </a:r>
            <a:r>
              <a:rPr sz="1275" spc="45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more</a:t>
            </a:r>
            <a:r>
              <a:rPr sz="1275" spc="8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clouds</a:t>
            </a:r>
            <a:endParaRPr sz="1275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73125" y="4888610"/>
            <a:ext cx="4852988" cy="6108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050" marR="7620" defTabSz="1371600">
              <a:lnSpc>
                <a:spcPct val="102400"/>
              </a:lnSpc>
              <a:spcBef>
                <a:spcPts val="135"/>
              </a:spcBef>
            </a:pPr>
            <a:r>
              <a:rPr sz="1275" spc="-45" dirty="0">
                <a:latin typeface="Calibri"/>
                <a:cs typeface="Calibri"/>
              </a:rPr>
              <a:t>(private,</a:t>
            </a:r>
            <a:r>
              <a:rPr sz="1275" spc="-8" dirty="0">
                <a:latin typeface="Calibri"/>
                <a:cs typeface="Calibri"/>
              </a:rPr>
              <a:t> </a:t>
            </a:r>
            <a:r>
              <a:rPr sz="1275" spc="-45" dirty="0">
                <a:latin typeface="Calibri"/>
                <a:cs typeface="Calibri"/>
              </a:rPr>
              <a:t>community,</a:t>
            </a:r>
            <a:r>
              <a:rPr sz="1275" spc="-23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or</a:t>
            </a:r>
            <a:r>
              <a:rPr sz="1275" spc="60" dirty="0">
                <a:latin typeface="Calibri"/>
                <a:cs typeface="Calibri"/>
              </a:rPr>
              <a:t> </a:t>
            </a:r>
            <a:r>
              <a:rPr sz="1275" spc="-30" dirty="0">
                <a:latin typeface="Calibri"/>
                <a:cs typeface="Calibri"/>
              </a:rPr>
              <a:t>public)</a:t>
            </a:r>
            <a:r>
              <a:rPr sz="1275" spc="-90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that</a:t>
            </a:r>
            <a:r>
              <a:rPr sz="1275" spc="83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remain</a:t>
            </a:r>
            <a:r>
              <a:rPr sz="1275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unique</a:t>
            </a:r>
            <a:r>
              <a:rPr sz="1275" spc="-23" dirty="0">
                <a:latin typeface="Calibri"/>
                <a:cs typeface="Calibri"/>
              </a:rPr>
              <a:t> </a:t>
            </a:r>
            <a:r>
              <a:rPr sz="1275" spc="-30" dirty="0">
                <a:latin typeface="Calibri"/>
                <a:cs typeface="Calibri"/>
              </a:rPr>
              <a:t>entities</a:t>
            </a:r>
            <a:r>
              <a:rPr sz="1275" spc="-15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but</a:t>
            </a:r>
            <a:r>
              <a:rPr sz="1275" spc="30" dirty="0">
                <a:latin typeface="Calibri"/>
                <a:cs typeface="Calibri"/>
              </a:rPr>
              <a:t> </a:t>
            </a:r>
            <a:r>
              <a:rPr sz="1275" spc="-30" dirty="0">
                <a:latin typeface="Calibri"/>
                <a:cs typeface="Calibri"/>
              </a:rPr>
              <a:t>are</a:t>
            </a:r>
            <a:r>
              <a:rPr sz="1275" spc="-15" dirty="0">
                <a:latin typeface="Calibri"/>
                <a:cs typeface="Calibri"/>
              </a:rPr>
              <a:t> </a:t>
            </a:r>
            <a:r>
              <a:rPr sz="1275" spc="-30" dirty="0">
                <a:latin typeface="Calibri"/>
                <a:cs typeface="Calibri"/>
              </a:rPr>
              <a:t>bound</a:t>
            </a:r>
            <a:r>
              <a:rPr sz="1275" spc="750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together</a:t>
            </a:r>
            <a:r>
              <a:rPr sz="1275" spc="255" dirty="0">
                <a:latin typeface="Calibri"/>
                <a:cs typeface="Calibri"/>
              </a:rPr>
              <a:t> </a:t>
            </a:r>
            <a:r>
              <a:rPr sz="1275" spc="-38" dirty="0">
                <a:latin typeface="Calibri"/>
                <a:cs typeface="Calibri"/>
              </a:rPr>
              <a:t>by</a:t>
            </a:r>
            <a:r>
              <a:rPr sz="1275" spc="-98" dirty="0">
                <a:latin typeface="Calibri"/>
                <a:cs typeface="Calibri"/>
              </a:rPr>
              <a:t> </a:t>
            </a:r>
            <a:r>
              <a:rPr sz="1275" spc="-30" dirty="0">
                <a:latin typeface="Calibri"/>
                <a:cs typeface="Calibri"/>
              </a:rPr>
              <a:t>standardized</a:t>
            </a:r>
            <a:r>
              <a:rPr sz="1275" spc="30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or</a:t>
            </a:r>
            <a:r>
              <a:rPr sz="1275" spc="30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proprietary</a:t>
            </a:r>
            <a:r>
              <a:rPr sz="1275" spc="45" dirty="0">
                <a:latin typeface="Calibri"/>
                <a:cs typeface="Calibri"/>
              </a:rPr>
              <a:t> </a:t>
            </a:r>
            <a:r>
              <a:rPr sz="1275" spc="-30" dirty="0">
                <a:latin typeface="Calibri"/>
                <a:cs typeface="Calibri"/>
              </a:rPr>
              <a:t>technology</a:t>
            </a:r>
            <a:r>
              <a:rPr sz="1275" spc="-45" dirty="0">
                <a:latin typeface="Calibri"/>
                <a:cs typeface="Calibri"/>
              </a:rPr>
              <a:t> </a:t>
            </a:r>
            <a:r>
              <a:rPr sz="1275" dirty="0">
                <a:latin typeface="Calibri"/>
                <a:cs typeface="Calibri"/>
              </a:rPr>
              <a:t>that</a:t>
            </a:r>
            <a:r>
              <a:rPr sz="1275" spc="30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enables</a:t>
            </a:r>
            <a:r>
              <a:rPr sz="1275" spc="-90" dirty="0">
                <a:latin typeface="Calibri"/>
                <a:cs typeface="Calibri"/>
              </a:rPr>
              <a:t> </a:t>
            </a:r>
            <a:r>
              <a:rPr sz="1275" spc="-30" dirty="0">
                <a:latin typeface="Calibri"/>
                <a:cs typeface="Calibri"/>
              </a:rPr>
              <a:t>data</a:t>
            </a:r>
            <a:r>
              <a:rPr sz="1275" spc="-8" dirty="0">
                <a:latin typeface="Calibri"/>
                <a:cs typeface="Calibri"/>
              </a:rPr>
              <a:t> </a:t>
            </a:r>
            <a:r>
              <a:rPr sz="1275" spc="-38" dirty="0">
                <a:latin typeface="Calibri"/>
                <a:cs typeface="Calibri"/>
              </a:rPr>
              <a:t>and</a:t>
            </a:r>
            <a:r>
              <a:rPr sz="1275" spc="750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application</a:t>
            </a:r>
            <a:r>
              <a:rPr sz="1275" spc="98" dirty="0">
                <a:latin typeface="Calibri"/>
                <a:cs typeface="Calibri"/>
              </a:rPr>
              <a:t> </a:t>
            </a:r>
            <a:r>
              <a:rPr sz="1275" spc="-15" dirty="0">
                <a:latin typeface="Calibri"/>
                <a:cs typeface="Calibri"/>
              </a:rPr>
              <a:t>portability.</a:t>
            </a:r>
            <a:endParaRPr sz="1275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81583"/>
          </a:xfrm>
          <a:prstGeom prst="rect">
            <a:avLst/>
          </a:prstGeom>
        </p:spPr>
        <p:txBody>
          <a:bodyPr vert="horz" wrap="square" lIns="0" tIns="118758" rIns="0" bIns="0" rtlCol="0">
            <a:spAutoFit/>
          </a:bodyPr>
          <a:lstStyle/>
          <a:p>
            <a:pPr marL="418148">
              <a:spcBef>
                <a:spcPts val="158"/>
              </a:spcBef>
            </a:pPr>
            <a:r>
              <a:rPr sz="3000" spc="-38" dirty="0"/>
              <a:t>Virtualization</a:t>
            </a:r>
            <a:endParaRPr sz="3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63" y="3187064"/>
            <a:ext cx="379476" cy="21488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563" y="3635120"/>
            <a:ext cx="379476" cy="21488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90513" y="3154298"/>
            <a:ext cx="6238875" cy="3594125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267653" marR="801053" defTabSz="1371600">
              <a:spcBef>
                <a:spcPts val="143"/>
              </a:spcBef>
            </a:pPr>
            <a:r>
              <a:rPr sz="1500" dirty="0">
                <a:latin typeface="Calibri"/>
                <a:cs typeface="Calibri"/>
              </a:rPr>
              <a:t>A</a:t>
            </a:r>
            <a:r>
              <a:rPr sz="1500" spc="-113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virtual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machine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spc="-68" dirty="0">
                <a:latin typeface="Calibri"/>
                <a:cs typeface="Calibri"/>
              </a:rPr>
              <a:t>(VM)</a:t>
            </a:r>
            <a:r>
              <a:rPr sz="1500" spc="-113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is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83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software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implementation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83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machine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(for </a:t>
            </a:r>
            <a:r>
              <a:rPr sz="1500" spc="-60" dirty="0">
                <a:latin typeface="Calibri"/>
                <a:cs typeface="Calibri"/>
              </a:rPr>
              <a:t>example,</a:t>
            </a:r>
            <a:r>
              <a:rPr sz="1500" spc="-8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188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computer)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 </a:t>
            </a:r>
            <a:r>
              <a:rPr sz="1500" spc="-60" dirty="0">
                <a:latin typeface="Calibri"/>
                <a:cs typeface="Calibri"/>
              </a:rPr>
              <a:t>executes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programs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68" dirty="0">
                <a:latin typeface="Calibri"/>
                <a:cs typeface="Calibri"/>
              </a:rPr>
              <a:t>like</a:t>
            </a:r>
            <a:r>
              <a:rPr sz="1500" spc="-127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90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physical</a:t>
            </a:r>
            <a:r>
              <a:rPr sz="1500" spc="20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machine</a:t>
            </a:r>
            <a:endParaRPr sz="1500">
              <a:latin typeface="Calibri"/>
              <a:cs typeface="Calibri"/>
            </a:endParaRPr>
          </a:p>
          <a:p>
            <a:pPr marL="267653" marR="309563" defTabSz="1371600">
              <a:lnSpc>
                <a:spcPts val="1725"/>
              </a:lnSpc>
              <a:spcBef>
                <a:spcPts val="45"/>
              </a:spcBef>
            </a:pPr>
            <a:r>
              <a:rPr sz="1500" dirty="0">
                <a:latin typeface="Calibri"/>
                <a:cs typeface="Calibri"/>
              </a:rPr>
              <a:t>Each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VM</a:t>
            </a:r>
            <a:r>
              <a:rPr sz="1500" spc="-143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is</a:t>
            </a:r>
            <a:r>
              <a:rPr sz="1500" spc="-90" dirty="0">
                <a:latin typeface="Calibri"/>
                <a:cs typeface="Calibri"/>
              </a:rPr>
              <a:t> </a:t>
            </a:r>
            <a:r>
              <a:rPr sz="1500" spc="-60" dirty="0">
                <a:latin typeface="Calibri"/>
                <a:cs typeface="Calibri"/>
              </a:rPr>
              <a:t>fully</a:t>
            </a:r>
            <a:r>
              <a:rPr sz="1500" spc="-12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protected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isolated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copy</a:t>
            </a:r>
            <a:r>
              <a:rPr sz="1500" spc="-1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68" dirty="0">
                <a:latin typeface="Calibri"/>
                <a:cs typeface="Calibri"/>
              </a:rPr>
              <a:t>physical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machine.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is</a:t>
            </a:r>
            <a:r>
              <a:rPr sz="1500" spc="-90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used</a:t>
            </a:r>
            <a:r>
              <a:rPr sz="1500" spc="-6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to</a:t>
            </a:r>
            <a:r>
              <a:rPr sz="1500" spc="-15" dirty="0">
                <a:latin typeface="Calibri"/>
                <a:cs typeface="Calibri"/>
              </a:rPr>
              <a:t> share</a:t>
            </a:r>
            <a:endParaRPr sz="1500">
              <a:latin typeface="Calibri"/>
              <a:cs typeface="Calibri"/>
            </a:endParaRPr>
          </a:p>
          <a:p>
            <a:pPr marL="267653" marR="554355" algn="just" defTabSz="1371600">
              <a:lnSpc>
                <a:spcPct val="95600"/>
              </a:lnSpc>
              <a:spcBef>
                <a:spcPts val="38"/>
              </a:spcBef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68" dirty="0">
                <a:latin typeface="Calibri"/>
                <a:cs typeface="Calibri"/>
              </a:rPr>
              <a:t> </a:t>
            </a:r>
            <a:r>
              <a:rPr sz="1500" spc="-60" dirty="0">
                <a:latin typeface="Calibri"/>
                <a:cs typeface="Calibri"/>
              </a:rPr>
              <a:t>expensive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hardware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which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helped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reduce </a:t>
            </a:r>
            <a:r>
              <a:rPr sz="1500" spc="-15" dirty="0">
                <a:latin typeface="Calibri"/>
                <a:cs typeface="Calibri"/>
              </a:rPr>
              <a:t>costs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and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also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helped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to</a:t>
            </a:r>
            <a:r>
              <a:rPr sz="1500" spc="750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improve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330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productivity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spc="-53" dirty="0">
                <a:latin typeface="Calibri"/>
                <a:cs typeface="Calibri"/>
              </a:rPr>
              <a:t>as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75" dirty="0">
                <a:latin typeface="Calibri"/>
                <a:cs typeface="Calibri"/>
              </a:rPr>
              <a:t>many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users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can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concurrently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used</a:t>
            </a:r>
            <a:r>
              <a:rPr sz="1500" dirty="0">
                <a:latin typeface="Calibri"/>
                <a:cs typeface="Calibri"/>
              </a:rPr>
              <a:t> the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same </a:t>
            </a:r>
            <a:r>
              <a:rPr sz="1500" spc="-15" dirty="0">
                <a:latin typeface="Calibri"/>
                <a:cs typeface="Calibri"/>
              </a:rPr>
              <a:t>hardware</a:t>
            </a:r>
            <a:endParaRPr sz="1500">
              <a:latin typeface="Calibri"/>
              <a:cs typeface="Calibri"/>
            </a:endParaRPr>
          </a:p>
          <a:p>
            <a:pPr marL="172403" indent="-153353" defTabSz="1371600">
              <a:spcBef>
                <a:spcPts val="1800"/>
              </a:spcBef>
              <a:buFont typeface="Arial MT"/>
              <a:buChar char="•"/>
              <a:tabLst>
                <a:tab pos="172403" algn="l"/>
              </a:tabLst>
            </a:pPr>
            <a:r>
              <a:rPr sz="1500" b="1" dirty="0">
                <a:latin typeface="Calibri"/>
                <a:cs typeface="Calibri"/>
              </a:rPr>
              <a:t>Need</a:t>
            </a:r>
            <a:r>
              <a:rPr sz="1500" b="1" spc="217" dirty="0">
                <a:latin typeface="Calibri"/>
                <a:cs typeface="Calibri"/>
              </a:rPr>
              <a:t> </a:t>
            </a:r>
            <a:r>
              <a:rPr sz="1500" b="1" spc="-60" dirty="0">
                <a:latin typeface="Calibri"/>
                <a:cs typeface="Calibri"/>
              </a:rPr>
              <a:t>for</a:t>
            </a:r>
            <a:r>
              <a:rPr sz="1500" b="1" spc="-53" dirty="0">
                <a:latin typeface="Calibri"/>
                <a:cs typeface="Calibri"/>
              </a:rPr>
              <a:t> Server</a:t>
            </a:r>
            <a:r>
              <a:rPr sz="1500" b="1" spc="38" dirty="0">
                <a:latin typeface="Calibri"/>
                <a:cs typeface="Calibri"/>
              </a:rPr>
              <a:t> </a:t>
            </a:r>
            <a:r>
              <a:rPr sz="1500" b="1" spc="-15" dirty="0">
                <a:latin typeface="Calibri"/>
                <a:cs typeface="Calibri"/>
              </a:rPr>
              <a:t>virtualization</a:t>
            </a:r>
            <a:endParaRPr sz="1500">
              <a:latin typeface="Calibri"/>
              <a:cs typeface="Calibri"/>
            </a:endParaRPr>
          </a:p>
          <a:p>
            <a:pPr marL="420053" marR="7620" lvl="1" indent="-153353" defTabSz="1371600">
              <a:buFont typeface="Arial MT"/>
              <a:buChar char="•"/>
              <a:tabLst>
                <a:tab pos="422910" algn="l"/>
              </a:tabLst>
            </a:pPr>
            <a:r>
              <a:rPr sz="1500" dirty="0">
                <a:latin typeface="Calibri"/>
                <a:cs typeface="Calibri"/>
              </a:rPr>
              <a:t>In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case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server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consolidation,</a:t>
            </a:r>
            <a:r>
              <a:rPr sz="1500" spc="-98" dirty="0">
                <a:latin typeface="Calibri"/>
                <a:cs typeface="Calibri"/>
              </a:rPr>
              <a:t> </a:t>
            </a:r>
            <a:r>
              <a:rPr sz="1500" spc="-60" dirty="0">
                <a:latin typeface="Calibri"/>
                <a:cs typeface="Calibri"/>
              </a:rPr>
              <a:t>many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spc="-60" dirty="0">
                <a:latin typeface="Calibri"/>
                <a:cs typeface="Calibri"/>
              </a:rPr>
              <a:t>small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spc="-68" dirty="0">
                <a:latin typeface="Calibri"/>
                <a:cs typeface="Calibri"/>
              </a:rPr>
              <a:t>physical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servers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are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replaced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by</a:t>
            </a:r>
            <a:r>
              <a:rPr sz="1500" dirty="0">
                <a:latin typeface="Calibri"/>
                <a:cs typeface="Calibri"/>
              </a:rPr>
              <a:t> 	one</a:t>
            </a:r>
            <a:r>
              <a:rPr sz="1500" spc="338" dirty="0">
                <a:latin typeface="Calibri"/>
                <a:cs typeface="Calibri"/>
              </a:rPr>
              <a:t> </a:t>
            </a:r>
            <a:r>
              <a:rPr sz="1500" spc="-53" dirty="0">
                <a:latin typeface="Calibri"/>
                <a:cs typeface="Calibri"/>
              </a:rPr>
              <a:t>larger </a:t>
            </a:r>
            <a:r>
              <a:rPr sz="1500" spc="-68" dirty="0">
                <a:latin typeface="Calibri"/>
                <a:cs typeface="Calibri"/>
              </a:rPr>
              <a:t>physical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server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increase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 </a:t>
            </a:r>
            <a:r>
              <a:rPr sz="1500" spc="-45" dirty="0">
                <a:latin typeface="Calibri"/>
                <a:cs typeface="Calibri"/>
              </a:rPr>
              <a:t>utilization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53" dirty="0">
                <a:latin typeface="Calibri"/>
                <a:cs typeface="Calibri"/>
              </a:rPr>
              <a:t>costly</a:t>
            </a:r>
            <a:r>
              <a:rPr sz="1500" spc="-8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hardware 	</a:t>
            </a:r>
            <a:r>
              <a:rPr sz="1500" spc="-38" dirty="0">
                <a:latin typeface="Calibri"/>
                <a:cs typeface="Calibri"/>
              </a:rPr>
              <a:t>resources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such</a:t>
            </a:r>
            <a:r>
              <a:rPr sz="1500" spc="263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as</a:t>
            </a:r>
            <a:r>
              <a:rPr sz="1500" spc="-83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CPU.</a:t>
            </a:r>
            <a:endParaRPr sz="1500">
              <a:latin typeface="Calibri"/>
              <a:cs typeface="Calibri"/>
            </a:endParaRPr>
          </a:p>
          <a:p>
            <a:pPr marL="420053" marR="217170" lvl="1" indent="-153353" defTabSz="1371600">
              <a:lnSpc>
                <a:spcPts val="1725"/>
              </a:lnSpc>
              <a:spcBef>
                <a:spcPts val="120"/>
              </a:spcBef>
              <a:buFont typeface="Arial MT"/>
              <a:buChar char="•"/>
              <a:tabLst>
                <a:tab pos="422910" algn="l"/>
              </a:tabLst>
            </a:pPr>
            <a:r>
              <a:rPr sz="1500" dirty="0">
                <a:latin typeface="Calibri"/>
                <a:cs typeface="Calibri"/>
              </a:rPr>
              <a:t>A</a:t>
            </a:r>
            <a:r>
              <a:rPr sz="1500" spc="-127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virtual machine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can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be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more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75" dirty="0">
                <a:latin typeface="Calibri"/>
                <a:cs typeface="Calibri"/>
              </a:rPr>
              <a:t>easily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controlled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and</a:t>
            </a:r>
            <a:r>
              <a:rPr sz="1500" spc="-38" dirty="0">
                <a:latin typeface="Calibri"/>
                <a:cs typeface="Calibri"/>
              </a:rPr>
              <a:t> inspected </a:t>
            </a:r>
            <a:r>
              <a:rPr sz="1500" dirty="0">
                <a:latin typeface="Calibri"/>
                <a:cs typeface="Calibri"/>
              </a:rPr>
              <a:t>from</a:t>
            </a:r>
            <a:r>
              <a:rPr sz="1500" spc="-15" dirty="0">
                <a:latin typeface="Calibri"/>
                <a:cs typeface="Calibri"/>
              </a:rPr>
              <a:t> outside 	</a:t>
            </a:r>
            <a:r>
              <a:rPr sz="1500" dirty="0">
                <a:latin typeface="Calibri"/>
                <a:cs typeface="Calibri"/>
              </a:rPr>
              <a:t>than a</a:t>
            </a:r>
            <a:r>
              <a:rPr sz="1500" spc="180" dirty="0">
                <a:latin typeface="Calibri"/>
                <a:cs typeface="Calibri"/>
              </a:rPr>
              <a:t> </a:t>
            </a:r>
            <a:r>
              <a:rPr sz="1500" spc="-68" dirty="0">
                <a:latin typeface="Calibri"/>
                <a:cs typeface="Calibri"/>
              </a:rPr>
              <a:t>physical</a:t>
            </a:r>
            <a:r>
              <a:rPr sz="1500" spc="-30" dirty="0">
                <a:latin typeface="Calibri"/>
                <a:cs typeface="Calibri"/>
              </a:rPr>
              <a:t> one,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its</a:t>
            </a:r>
            <a:r>
              <a:rPr sz="1500" spc="-38" dirty="0">
                <a:latin typeface="Calibri"/>
                <a:cs typeface="Calibri"/>
              </a:rPr>
              <a:t> configuration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is</a:t>
            </a:r>
            <a:r>
              <a:rPr sz="1500" spc="-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more</a:t>
            </a:r>
            <a:r>
              <a:rPr sz="1500" spc="19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flexible.</a:t>
            </a:r>
            <a:endParaRPr sz="1500">
              <a:latin typeface="Calibri"/>
              <a:cs typeface="Calibri"/>
            </a:endParaRPr>
          </a:p>
          <a:p>
            <a:pPr marL="421005" lvl="1" indent="-153353" defTabSz="1371600">
              <a:lnSpc>
                <a:spcPts val="1545"/>
              </a:lnSpc>
              <a:buFont typeface="Arial MT"/>
              <a:buChar char="•"/>
              <a:tabLst>
                <a:tab pos="421005" algn="l"/>
              </a:tabLst>
            </a:pPr>
            <a:r>
              <a:rPr sz="1500" dirty="0">
                <a:latin typeface="Calibri"/>
                <a:cs typeface="Calibri"/>
              </a:rPr>
              <a:t>A</a:t>
            </a:r>
            <a:r>
              <a:rPr sz="1500" spc="-120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new</a:t>
            </a:r>
            <a:r>
              <a:rPr sz="1500" spc="-90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virtual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machine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can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be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provisioned</a:t>
            </a:r>
            <a:r>
              <a:rPr sz="1500" spc="-6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needed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without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need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an</a:t>
            </a:r>
            <a:endParaRPr sz="1500">
              <a:latin typeface="Calibri"/>
              <a:cs typeface="Calibri"/>
            </a:endParaRPr>
          </a:p>
          <a:p>
            <a:pPr marL="422910" defTabSz="1371600">
              <a:lnSpc>
                <a:spcPts val="1725"/>
              </a:lnSpc>
            </a:pPr>
            <a:r>
              <a:rPr sz="1500" dirty="0">
                <a:latin typeface="Calibri"/>
                <a:cs typeface="Calibri"/>
              </a:rPr>
              <a:t>up-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front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hardware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purchase.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71386"/>
          </a:xfrm>
          <a:prstGeom prst="rect">
            <a:avLst/>
          </a:prstGeom>
        </p:spPr>
        <p:txBody>
          <a:bodyPr vert="horz" wrap="square" lIns="0" tIns="154380" rIns="0" bIns="0" rtlCol="0">
            <a:spAutoFit/>
          </a:bodyPr>
          <a:lstStyle/>
          <a:p>
            <a:pPr marL="246698">
              <a:spcBef>
                <a:spcPts val="150"/>
              </a:spcBef>
            </a:pPr>
            <a:r>
              <a:rPr sz="2700" spc="-15" dirty="0"/>
              <a:t>Container</a:t>
            </a:r>
            <a:endParaRPr sz="2700"/>
          </a:p>
        </p:txBody>
      </p:sp>
      <p:sp>
        <p:nvSpPr>
          <p:cNvPr id="4" name="object 4"/>
          <p:cNvSpPr txBox="1"/>
          <p:nvPr/>
        </p:nvSpPr>
        <p:spPr>
          <a:xfrm>
            <a:off x="100736" y="3067049"/>
            <a:ext cx="6629400" cy="3750066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172403" indent="-153353" defTabSz="1371600">
              <a:spcBef>
                <a:spcPts val="143"/>
              </a:spcBef>
              <a:buFont typeface="Arial MT"/>
              <a:buChar char="•"/>
              <a:tabLst>
                <a:tab pos="172403" algn="l"/>
              </a:tabLst>
            </a:pPr>
            <a:r>
              <a:rPr sz="1500" b="1" spc="-30" dirty="0">
                <a:latin typeface="Calibri"/>
                <a:cs typeface="Calibri"/>
              </a:rPr>
              <a:t>Containers </a:t>
            </a:r>
            <a:r>
              <a:rPr sz="1500" b="1" dirty="0">
                <a:latin typeface="Calibri"/>
                <a:cs typeface="Calibri"/>
              </a:rPr>
              <a:t>and</a:t>
            </a:r>
            <a:r>
              <a:rPr sz="1500" b="1" spc="-15" dirty="0">
                <a:latin typeface="Calibri"/>
                <a:cs typeface="Calibri"/>
              </a:rPr>
              <a:t> </a:t>
            </a:r>
            <a:r>
              <a:rPr sz="1500" b="1" spc="-38" dirty="0">
                <a:latin typeface="Calibri"/>
                <a:cs typeface="Calibri"/>
              </a:rPr>
              <a:t>VMs</a:t>
            </a:r>
            <a:endParaRPr sz="1500">
              <a:latin typeface="Calibri"/>
              <a:cs typeface="Calibri"/>
            </a:endParaRPr>
          </a:p>
          <a:p>
            <a:pPr marL="420053" marR="256223" lvl="1" indent="-153353" defTabSz="1371600">
              <a:lnSpc>
                <a:spcPts val="1725"/>
              </a:lnSpc>
              <a:spcBef>
                <a:spcPts val="120"/>
              </a:spcBef>
              <a:buFont typeface="Arial MT"/>
              <a:buChar char="•"/>
              <a:tabLst>
                <a:tab pos="422910" algn="l"/>
              </a:tabLst>
            </a:pPr>
            <a:r>
              <a:rPr sz="1500" spc="-113" dirty="0">
                <a:latin typeface="Calibri"/>
                <a:cs typeface="Calibri"/>
              </a:rPr>
              <a:t>To</a:t>
            </a:r>
            <a:r>
              <a:rPr sz="1500" spc="-68" dirty="0">
                <a:latin typeface="Calibri"/>
                <a:cs typeface="Calibri"/>
              </a:rPr>
              <a:t> </a:t>
            </a:r>
            <a:r>
              <a:rPr sz="1500" spc="-53" dirty="0">
                <a:latin typeface="Calibri"/>
                <a:cs typeface="Calibri"/>
              </a:rPr>
              <a:t>isolate </a:t>
            </a:r>
            <a:r>
              <a:rPr sz="1500" dirty="0">
                <a:latin typeface="Calibri"/>
                <a:cs typeface="Calibri"/>
              </a:rPr>
              <a:t>an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application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and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its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dependencies </a:t>
            </a:r>
            <a:r>
              <a:rPr sz="1500" spc="-15" dirty="0">
                <a:latin typeface="Calibri"/>
                <a:cs typeface="Calibri"/>
              </a:rPr>
              <a:t>into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90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self-contained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unit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can</a:t>
            </a:r>
            <a:r>
              <a:rPr sz="1500" dirty="0">
                <a:latin typeface="Calibri"/>
                <a:cs typeface="Calibri"/>
              </a:rPr>
              <a:t> 	run</a:t>
            </a:r>
            <a:r>
              <a:rPr sz="1500" spc="381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anywhere</a:t>
            </a:r>
            <a:endParaRPr sz="1500">
              <a:latin typeface="Calibri"/>
              <a:cs typeface="Calibri"/>
            </a:endParaRPr>
          </a:p>
          <a:p>
            <a:pPr marL="421005" lvl="1" indent="-153353" defTabSz="1371600">
              <a:lnSpc>
                <a:spcPts val="1650"/>
              </a:lnSpc>
              <a:buFont typeface="Arial MT"/>
              <a:buChar char="•"/>
              <a:tabLst>
                <a:tab pos="421005" algn="l"/>
              </a:tabLst>
            </a:pPr>
            <a:r>
              <a:rPr sz="1500" spc="-75" dirty="0">
                <a:latin typeface="Calibri"/>
                <a:cs typeface="Calibri"/>
              </a:rPr>
              <a:t>Remove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need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spc="-68" dirty="0">
                <a:latin typeface="Calibri"/>
                <a:cs typeface="Calibri"/>
              </a:rPr>
              <a:t>physical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53" dirty="0">
                <a:latin typeface="Calibri"/>
                <a:cs typeface="Calibri"/>
              </a:rPr>
              <a:t>hardware,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60" dirty="0">
                <a:latin typeface="Calibri"/>
                <a:cs typeface="Calibri"/>
              </a:rPr>
              <a:t>allowing</a:t>
            </a:r>
            <a:r>
              <a:rPr sz="1500" spc="-9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for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more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efficient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use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of</a:t>
            </a:r>
            <a:endParaRPr sz="1500">
              <a:latin typeface="Calibri"/>
              <a:cs typeface="Calibri"/>
            </a:endParaRPr>
          </a:p>
          <a:p>
            <a:pPr marL="422910" marR="1017270" defTabSz="1371600">
              <a:lnSpc>
                <a:spcPts val="1710"/>
              </a:lnSpc>
              <a:spcBef>
                <a:spcPts val="98"/>
              </a:spcBef>
            </a:pPr>
            <a:r>
              <a:rPr sz="1500" spc="-15" dirty="0">
                <a:latin typeface="Calibri"/>
                <a:cs typeface="Calibri"/>
              </a:rPr>
              <a:t>computing</a:t>
            </a:r>
            <a:r>
              <a:rPr sz="1500" spc="225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resources,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both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in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terms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53" dirty="0">
                <a:latin typeface="Calibri"/>
                <a:cs typeface="Calibri"/>
              </a:rPr>
              <a:t>energy</a:t>
            </a:r>
            <a:r>
              <a:rPr sz="1500" spc="-9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consumption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and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cost </a:t>
            </a:r>
            <a:r>
              <a:rPr sz="1500" spc="-15" dirty="0">
                <a:latin typeface="Calibri"/>
                <a:cs typeface="Calibri"/>
              </a:rPr>
              <a:t>effectiveness.</a:t>
            </a:r>
            <a:endParaRPr sz="1500">
              <a:latin typeface="Calibri"/>
              <a:cs typeface="Calibri"/>
            </a:endParaRPr>
          </a:p>
          <a:p>
            <a:pPr marL="172403" indent="-153353" defTabSz="1371600">
              <a:lnSpc>
                <a:spcPts val="1613"/>
              </a:lnSpc>
              <a:buFont typeface="Arial MT"/>
              <a:buChar char="•"/>
              <a:tabLst>
                <a:tab pos="172403" algn="l"/>
              </a:tabLst>
            </a:pPr>
            <a:r>
              <a:rPr sz="1500" b="1" spc="-15" dirty="0">
                <a:latin typeface="Calibri"/>
                <a:cs typeface="Calibri"/>
              </a:rPr>
              <a:t>Containers</a:t>
            </a:r>
            <a:endParaRPr sz="1500">
              <a:latin typeface="Calibri"/>
              <a:cs typeface="Calibri"/>
            </a:endParaRPr>
          </a:p>
          <a:p>
            <a:pPr marL="420053" marR="180021" lvl="1" indent="-153353" defTabSz="1371600">
              <a:lnSpc>
                <a:spcPts val="1725"/>
              </a:lnSpc>
              <a:spcBef>
                <a:spcPts val="120"/>
              </a:spcBef>
              <a:buFont typeface="Arial MT"/>
              <a:buChar char="•"/>
              <a:tabLst>
                <a:tab pos="422910" algn="l"/>
              </a:tabLst>
            </a:pPr>
            <a:r>
              <a:rPr sz="1500" spc="-53" dirty="0">
                <a:latin typeface="Calibri"/>
                <a:cs typeface="Calibri"/>
              </a:rPr>
              <a:t>virtualize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at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 </a:t>
            </a:r>
            <a:r>
              <a:rPr sz="1500" spc="-38" dirty="0">
                <a:latin typeface="Calibri"/>
                <a:cs typeface="Calibri"/>
              </a:rPr>
              <a:t>operating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spc="-60" dirty="0">
                <a:latin typeface="Calibri"/>
                <a:cs typeface="Calibri"/>
              </a:rPr>
              <a:t>system</a:t>
            </a:r>
            <a:r>
              <a:rPr sz="1500" spc="-38" dirty="0">
                <a:latin typeface="Calibri"/>
                <a:cs typeface="Calibri"/>
              </a:rPr>
              <a:t> </a:t>
            </a:r>
            <a:r>
              <a:rPr sz="1500" spc="-68" dirty="0">
                <a:latin typeface="Calibri"/>
                <a:cs typeface="Calibri"/>
              </a:rPr>
              <a:t>level,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with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multiple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containers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running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atop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the</a:t>
            </a:r>
            <a:r>
              <a:rPr sz="1500" dirty="0">
                <a:latin typeface="Calibri"/>
                <a:cs typeface="Calibri"/>
              </a:rPr>
              <a:t> 	OS</a:t>
            </a:r>
            <a:r>
              <a:rPr sz="1500" spc="24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kernel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directly</a:t>
            </a:r>
            <a:endParaRPr sz="1500">
              <a:latin typeface="Calibri"/>
              <a:cs typeface="Calibri"/>
            </a:endParaRPr>
          </a:p>
          <a:p>
            <a:pPr marL="420053" marR="294323" lvl="1" indent="-153353" defTabSz="1371600">
              <a:lnSpc>
                <a:spcPts val="1635"/>
              </a:lnSpc>
              <a:spcBef>
                <a:spcPts val="8"/>
              </a:spcBef>
              <a:buFont typeface="Arial MT"/>
              <a:buChar char="•"/>
              <a:tabLst>
                <a:tab pos="422910" algn="l"/>
              </a:tabLst>
            </a:pPr>
            <a:r>
              <a:rPr sz="1500" spc="-30" dirty="0">
                <a:latin typeface="Calibri"/>
                <a:cs typeface="Calibri"/>
              </a:rPr>
              <a:t>container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provides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spc="-60" dirty="0">
                <a:latin typeface="Calibri"/>
                <a:cs typeface="Calibri"/>
              </a:rPr>
              <a:t>operating-</a:t>
            </a:r>
            <a:r>
              <a:rPr sz="1500" spc="-68" dirty="0">
                <a:latin typeface="Calibri"/>
                <a:cs typeface="Calibri"/>
              </a:rPr>
              <a:t>system-</a:t>
            </a:r>
            <a:r>
              <a:rPr sz="1500" spc="-30" dirty="0">
                <a:latin typeface="Calibri"/>
                <a:cs typeface="Calibri"/>
              </a:rPr>
              <a:t>level</a:t>
            </a:r>
            <a:r>
              <a:rPr sz="1500" spc="105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virtualization</a:t>
            </a:r>
            <a:r>
              <a:rPr sz="1500" spc="113" dirty="0">
                <a:latin typeface="Calibri"/>
                <a:cs typeface="Calibri"/>
              </a:rPr>
              <a:t> </a:t>
            </a:r>
            <a:r>
              <a:rPr sz="1500" spc="-53" dirty="0">
                <a:latin typeface="Calibri"/>
                <a:cs typeface="Calibri"/>
              </a:rPr>
              <a:t>by</a:t>
            </a:r>
            <a:r>
              <a:rPr sz="1500" spc="-120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abstracting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“user 	space”</a:t>
            </a:r>
            <a:endParaRPr sz="1500">
              <a:latin typeface="Calibri"/>
              <a:cs typeface="Calibri"/>
            </a:endParaRPr>
          </a:p>
          <a:p>
            <a:pPr marL="421005" lvl="1" indent="-153353" defTabSz="1371600">
              <a:lnSpc>
                <a:spcPts val="1673"/>
              </a:lnSpc>
              <a:buFont typeface="Arial MT"/>
              <a:buChar char="•"/>
              <a:tabLst>
                <a:tab pos="421005" algn="l"/>
              </a:tabLst>
            </a:pPr>
            <a:r>
              <a:rPr sz="1500" spc="-60" dirty="0">
                <a:latin typeface="Calibri"/>
                <a:cs typeface="Calibri"/>
              </a:rPr>
              <a:t>ability</a:t>
            </a:r>
            <a:r>
              <a:rPr sz="1500" spc="-9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create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predictable</a:t>
            </a:r>
            <a:r>
              <a:rPr sz="1500" spc="-135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environments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 </a:t>
            </a:r>
            <a:r>
              <a:rPr sz="1500" spc="-38" dirty="0">
                <a:latin typeface="Calibri"/>
                <a:cs typeface="Calibri"/>
              </a:rPr>
              <a:t>are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isolated</a:t>
            </a:r>
            <a:r>
              <a:rPr sz="1500" dirty="0">
                <a:latin typeface="Calibri"/>
                <a:cs typeface="Calibri"/>
              </a:rPr>
              <a:t> from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other</a:t>
            </a:r>
            <a:r>
              <a:rPr sz="1500" spc="171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applications</a:t>
            </a:r>
            <a:endParaRPr sz="1500">
              <a:latin typeface="Calibri"/>
              <a:cs typeface="Calibri"/>
            </a:endParaRPr>
          </a:p>
          <a:p>
            <a:pPr marL="421005" lvl="1" indent="-153353" defTabSz="1371600">
              <a:lnSpc>
                <a:spcPts val="1763"/>
              </a:lnSpc>
              <a:buFont typeface="Arial MT"/>
              <a:buChar char="•"/>
              <a:tabLst>
                <a:tab pos="421005" algn="l"/>
              </a:tabLst>
            </a:pPr>
            <a:r>
              <a:rPr sz="1500" dirty="0">
                <a:latin typeface="Calibri"/>
                <a:cs typeface="Calibri"/>
              </a:rPr>
              <a:t>run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virtually</a:t>
            </a:r>
            <a:r>
              <a:rPr sz="1500" spc="-90" dirty="0">
                <a:latin typeface="Calibri"/>
                <a:cs typeface="Calibri"/>
              </a:rPr>
              <a:t> </a:t>
            </a:r>
            <a:r>
              <a:rPr sz="1500" spc="-60" dirty="0">
                <a:latin typeface="Calibri"/>
                <a:cs typeface="Calibri"/>
              </a:rPr>
              <a:t>anywhere,</a:t>
            </a:r>
            <a:r>
              <a:rPr sz="1500" spc="-83" dirty="0">
                <a:latin typeface="Calibri"/>
                <a:cs typeface="Calibri"/>
              </a:rPr>
              <a:t> </a:t>
            </a:r>
            <a:r>
              <a:rPr sz="1500" spc="-60" dirty="0">
                <a:latin typeface="Calibri"/>
                <a:cs typeface="Calibri"/>
              </a:rPr>
              <a:t>greatly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60" dirty="0">
                <a:latin typeface="Calibri"/>
                <a:cs typeface="Calibri"/>
              </a:rPr>
              <a:t>easing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development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15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deployment</a:t>
            </a:r>
            <a:endParaRPr sz="1500">
              <a:latin typeface="Calibri"/>
              <a:cs typeface="Calibri"/>
            </a:endParaRPr>
          </a:p>
          <a:p>
            <a:pPr marL="420053" marR="196215" lvl="1" indent="-153353" defTabSz="1371600">
              <a:lnSpc>
                <a:spcPts val="1725"/>
              </a:lnSpc>
              <a:spcBef>
                <a:spcPts val="120"/>
              </a:spcBef>
              <a:buFont typeface="Arial MT"/>
              <a:buChar char="•"/>
              <a:tabLst>
                <a:tab pos="422910" algn="l"/>
              </a:tabLst>
            </a:pPr>
            <a:r>
              <a:rPr sz="1500" spc="-53" dirty="0">
                <a:latin typeface="Calibri"/>
                <a:cs typeface="Calibri"/>
              </a:rPr>
              <a:t>virtualize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60" dirty="0">
                <a:latin typeface="Calibri"/>
                <a:cs typeface="Calibri"/>
              </a:rPr>
              <a:t>CPU,</a:t>
            </a:r>
            <a:r>
              <a:rPr sz="1500" spc="-120" dirty="0">
                <a:latin typeface="Calibri"/>
                <a:cs typeface="Calibri"/>
              </a:rPr>
              <a:t> </a:t>
            </a:r>
            <a:r>
              <a:rPr sz="1500" spc="-68" dirty="0">
                <a:latin typeface="Calibri"/>
                <a:cs typeface="Calibri"/>
              </a:rPr>
              <a:t>memory,</a:t>
            </a:r>
            <a:r>
              <a:rPr sz="1500" spc="-45" dirty="0">
                <a:latin typeface="Calibri"/>
                <a:cs typeface="Calibri"/>
              </a:rPr>
              <a:t> storage,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network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resources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at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60" dirty="0">
                <a:latin typeface="Calibri"/>
                <a:cs typeface="Calibri"/>
              </a:rPr>
              <a:t>OS-</a:t>
            </a:r>
            <a:r>
              <a:rPr sz="1500" spc="-53" dirty="0">
                <a:latin typeface="Calibri"/>
                <a:cs typeface="Calibri"/>
              </a:rPr>
              <a:t>level,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providing 	</a:t>
            </a:r>
            <a:r>
              <a:rPr sz="1500" spc="-45" dirty="0">
                <a:latin typeface="Calibri"/>
                <a:cs typeface="Calibri"/>
              </a:rPr>
              <a:t>developers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with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98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sandboxed</a:t>
            </a:r>
            <a:r>
              <a:rPr sz="1500" spc="-90" dirty="0">
                <a:latin typeface="Calibri"/>
                <a:cs typeface="Calibri"/>
              </a:rPr>
              <a:t> </a:t>
            </a:r>
            <a:r>
              <a:rPr sz="1500" spc="-60" dirty="0">
                <a:latin typeface="Calibri"/>
                <a:cs typeface="Calibri"/>
              </a:rPr>
              <a:t>view</a:t>
            </a:r>
            <a:r>
              <a:rPr sz="1500" spc="-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 the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OS </a:t>
            </a:r>
            <a:r>
              <a:rPr sz="1500" spc="-68" dirty="0">
                <a:latin typeface="Calibri"/>
                <a:cs typeface="Calibri"/>
              </a:rPr>
              <a:t>logically</a:t>
            </a:r>
            <a:r>
              <a:rPr sz="1500" spc="-158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isolated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from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other 	applications.</a:t>
            </a:r>
            <a:endParaRPr sz="1500">
              <a:latin typeface="Calibri"/>
              <a:cs typeface="Calibri"/>
            </a:endParaRPr>
          </a:p>
          <a:p>
            <a:pPr marL="421005" lvl="1" indent="-153353" defTabSz="1371600">
              <a:lnSpc>
                <a:spcPts val="1598"/>
              </a:lnSpc>
              <a:buFont typeface="Arial MT"/>
              <a:buChar char="•"/>
              <a:tabLst>
                <a:tab pos="421005" algn="l"/>
              </a:tabLst>
            </a:pPr>
            <a:r>
              <a:rPr sz="1500" spc="-38" dirty="0">
                <a:latin typeface="Calibri"/>
                <a:cs typeface="Calibri"/>
              </a:rPr>
              <a:t>Ex:</a:t>
            </a:r>
            <a:r>
              <a:rPr sz="1500" spc="-68" dirty="0">
                <a:latin typeface="Calibri"/>
                <a:cs typeface="Calibri"/>
              </a:rPr>
              <a:t> </a:t>
            </a:r>
            <a:r>
              <a:rPr sz="1500" spc="-53" dirty="0">
                <a:latin typeface="Calibri"/>
                <a:cs typeface="Calibri"/>
              </a:rPr>
              <a:t>Docker,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75" dirty="0">
                <a:latin typeface="Calibri"/>
                <a:cs typeface="Calibri"/>
              </a:rPr>
              <a:t>LXC,</a:t>
            </a:r>
            <a:r>
              <a:rPr sz="1500" spc="-180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Kubernetes,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FreeBSD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Jails</a:t>
            </a:r>
            <a:r>
              <a:rPr sz="1500" spc="90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etc..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574079"/>
          </a:xfrm>
          <a:prstGeom prst="rect">
            <a:avLst/>
          </a:prstGeom>
        </p:spPr>
        <p:txBody>
          <a:bodyPr vert="horz" wrap="square" lIns="0" tIns="202767" rIns="0" bIns="0" rtlCol="0">
            <a:spAutoFit/>
          </a:bodyPr>
          <a:lstStyle/>
          <a:p>
            <a:pPr marL="99060">
              <a:spcBef>
                <a:spcPts val="143"/>
              </a:spcBef>
            </a:pPr>
            <a:r>
              <a:rPr dirty="0"/>
              <a:t>DevOps–</a:t>
            </a:r>
            <a:r>
              <a:rPr spc="68" dirty="0"/>
              <a:t> </a:t>
            </a:r>
            <a:r>
              <a:rPr dirty="0"/>
              <a:t>Cloud as a</a:t>
            </a:r>
            <a:r>
              <a:rPr spc="-158" dirty="0"/>
              <a:t> </a:t>
            </a:r>
            <a:r>
              <a:rPr spc="-15" dirty="0"/>
              <a:t>catalyst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60605" y="3269360"/>
            <a:ext cx="380048" cy="443865"/>
            <a:chOff x="173736" y="846073"/>
            <a:chExt cx="253365" cy="2959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736" y="846073"/>
              <a:ext cx="252984" cy="1432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3736" y="998473"/>
              <a:ext cx="252984" cy="14325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604" y="4412360"/>
            <a:ext cx="379476" cy="2148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0604" y="4851843"/>
            <a:ext cx="379476" cy="21488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604" y="5507925"/>
            <a:ext cx="379476" cy="21488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604" y="5937694"/>
            <a:ext cx="379476" cy="21488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90729" y="3236594"/>
            <a:ext cx="6135053" cy="3147336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19050" algn="just" defTabSz="1371600">
              <a:spcBef>
                <a:spcPts val="143"/>
              </a:spcBef>
            </a:pPr>
            <a:r>
              <a:rPr sz="1500" spc="-15" dirty="0">
                <a:latin typeface="Calibri"/>
                <a:cs typeface="Calibri"/>
              </a:rPr>
              <a:t>Cloud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spc="-53" dirty="0">
                <a:latin typeface="Calibri"/>
                <a:cs typeface="Calibri"/>
              </a:rPr>
              <a:t>key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enabler</a:t>
            </a:r>
            <a:r>
              <a:rPr sz="1500" spc="-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has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affected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DevOps.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helps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DevOps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mature.</a:t>
            </a:r>
            <a:endParaRPr sz="1500">
              <a:latin typeface="Calibri"/>
              <a:cs typeface="Calibri"/>
            </a:endParaRPr>
          </a:p>
          <a:p>
            <a:pPr marL="19050" marR="7620" algn="just" defTabSz="1371600"/>
            <a:r>
              <a:rPr sz="1500" dirty="0">
                <a:latin typeface="Calibri"/>
                <a:cs typeface="Calibri"/>
              </a:rPr>
              <a:t>In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traditional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organizations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that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physical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servers,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requesting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new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server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is</a:t>
            </a:r>
            <a:r>
              <a:rPr sz="1500" dirty="0">
                <a:latin typeface="Calibri"/>
                <a:cs typeface="Calibri"/>
              </a:rPr>
              <a:t> a</a:t>
            </a:r>
            <a:r>
              <a:rPr sz="1500" spc="38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complex,</a:t>
            </a:r>
            <a:r>
              <a:rPr sz="1500" spc="42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time-consuming</a:t>
            </a:r>
            <a:r>
              <a:rPr sz="1500" spc="44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process.</a:t>
            </a:r>
            <a:r>
              <a:rPr sz="1500" spc="41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</a:t>
            </a:r>
            <a:r>
              <a:rPr sz="1500" spc="4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may</a:t>
            </a:r>
            <a:r>
              <a:rPr sz="1500" spc="40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take</a:t>
            </a:r>
            <a:r>
              <a:rPr sz="1500" spc="39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days</a:t>
            </a:r>
            <a:r>
              <a:rPr sz="1500" spc="41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or</a:t>
            </a:r>
            <a:r>
              <a:rPr sz="1500" spc="3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even</a:t>
            </a:r>
            <a:r>
              <a:rPr sz="1500" spc="42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weeks</a:t>
            </a:r>
            <a:r>
              <a:rPr sz="1500" spc="413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to</a:t>
            </a:r>
            <a:r>
              <a:rPr sz="1500" dirty="0">
                <a:latin typeface="Calibri"/>
                <a:cs typeface="Calibri"/>
              </a:rPr>
              <a:t> requisition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 new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physical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server,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install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set</a:t>
            </a:r>
            <a:r>
              <a:rPr sz="1500" spc="6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up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operating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system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(OS),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configure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all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 </a:t>
            </a:r>
            <a:r>
              <a:rPr sz="1500" spc="-38" dirty="0">
                <a:latin typeface="Calibri"/>
                <a:cs typeface="Calibri"/>
              </a:rPr>
              <a:t>software</a:t>
            </a:r>
            <a:r>
              <a:rPr sz="1500" spc="-6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required</a:t>
            </a:r>
            <a:r>
              <a:rPr sz="1500" spc="-8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deploy</a:t>
            </a:r>
            <a:r>
              <a:rPr sz="1500" spc="-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application.</a:t>
            </a:r>
            <a:endParaRPr sz="1500">
              <a:latin typeface="Calibri"/>
              <a:cs typeface="Calibri"/>
            </a:endParaRPr>
          </a:p>
          <a:p>
            <a:pPr marL="19050" marR="701993" defTabSz="1371600">
              <a:lnSpc>
                <a:spcPts val="1740"/>
              </a:lnSpc>
              <a:spcBef>
                <a:spcPts val="105"/>
              </a:spcBef>
            </a:pPr>
            <a:r>
              <a:rPr sz="1500" spc="-15" dirty="0">
                <a:latin typeface="Calibri"/>
                <a:cs typeface="Calibri"/>
              </a:rPr>
              <a:t>Pervasiveness</a:t>
            </a:r>
            <a:r>
              <a:rPr sz="1500" spc="29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3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cloud</a:t>
            </a:r>
            <a:r>
              <a:rPr sz="1500" spc="24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technology,</a:t>
            </a:r>
            <a:r>
              <a:rPr sz="1500" spc="195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private,</a:t>
            </a:r>
            <a:r>
              <a:rPr sz="1500" spc="3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public,</a:t>
            </a:r>
            <a:r>
              <a:rPr sz="1500" spc="3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2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hybrid,</a:t>
            </a:r>
            <a:r>
              <a:rPr sz="1500" spc="458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has</a:t>
            </a:r>
            <a:r>
              <a:rPr sz="1500" dirty="0">
                <a:latin typeface="Calibri"/>
                <a:cs typeface="Calibri"/>
              </a:rPr>
              <a:t> enabled</a:t>
            </a:r>
            <a:r>
              <a:rPr sz="1500" spc="32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organizations</a:t>
            </a:r>
            <a:r>
              <a:rPr sz="1500" spc="-6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provision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environments</a:t>
            </a:r>
            <a:r>
              <a:rPr sz="1500" spc="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demand.</a:t>
            </a:r>
            <a:endParaRPr sz="1500">
              <a:latin typeface="Calibri"/>
              <a:cs typeface="Calibri"/>
            </a:endParaRPr>
          </a:p>
          <a:p>
            <a:pPr marL="19050" defTabSz="1371600">
              <a:lnSpc>
                <a:spcPts val="1635"/>
              </a:lnSpc>
            </a:pPr>
            <a:r>
              <a:rPr sz="1500" spc="-38" dirty="0">
                <a:solidFill>
                  <a:srgbClr val="FF0000"/>
                </a:solidFill>
                <a:latin typeface="Calibri"/>
                <a:cs typeface="Calibri"/>
              </a:rPr>
              <a:t>Virtualization</a:t>
            </a:r>
            <a:r>
              <a:rPr sz="1500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Cloud </a:t>
            </a:r>
            <a:r>
              <a:rPr sz="1500" dirty="0">
                <a:latin typeface="Calibri"/>
                <a:cs typeface="Calibri"/>
              </a:rPr>
              <a:t>solve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that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problem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large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extent.</a:t>
            </a:r>
            <a:r>
              <a:rPr sz="1500" spc="5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This</a:t>
            </a:r>
            <a:r>
              <a:rPr sz="1500" spc="6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has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led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to</a:t>
            </a:r>
            <a:endParaRPr sz="1500">
              <a:latin typeface="Calibri"/>
              <a:cs typeface="Calibri"/>
            </a:endParaRPr>
          </a:p>
          <a:p>
            <a:pPr marL="19050" marR="20003" defTabSz="1371600">
              <a:lnSpc>
                <a:spcPts val="1635"/>
              </a:lnSpc>
              <a:spcBef>
                <a:spcPts val="158"/>
              </a:spcBef>
            </a:pPr>
            <a:r>
              <a:rPr sz="1500" dirty="0">
                <a:latin typeface="Calibri"/>
                <a:cs typeface="Calibri"/>
              </a:rPr>
              <a:t>tremendous</a:t>
            </a:r>
            <a:r>
              <a:rPr sz="1500" spc="45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growth</a:t>
            </a:r>
            <a:r>
              <a:rPr sz="1500" spc="59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6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49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scale</a:t>
            </a:r>
            <a:r>
              <a:rPr sz="1500" spc="5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57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which</a:t>
            </a:r>
            <a:r>
              <a:rPr sz="1500" spc="62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503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environments</a:t>
            </a:r>
            <a:r>
              <a:rPr sz="1500" spc="57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52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which applications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spc="-45" dirty="0">
                <a:latin typeface="Calibri"/>
                <a:cs typeface="Calibri"/>
              </a:rPr>
              <a:t>are</a:t>
            </a:r>
            <a:r>
              <a:rPr sz="1500" spc="-9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deployed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are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used.</a:t>
            </a:r>
            <a:endParaRPr sz="1500">
              <a:latin typeface="Calibri"/>
              <a:cs typeface="Calibri"/>
            </a:endParaRPr>
          </a:p>
          <a:p>
            <a:pPr marL="19050" marR="171450" defTabSz="1371600">
              <a:lnSpc>
                <a:spcPts val="1725"/>
              </a:lnSpc>
              <a:spcBef>
                <a:spcPts val="98"/>
              </a:spcBef>
            </a:pPr>
            <a:r>
              <a:rPr sz="1500" dirty="0">
                <a:latin typeface="Calibri"/>
                <a:cs typeface="Calibri"/>
              </a:rPr>
              <a:t>This</a:t>
            </a:r>
            <a:r>
              <a:rPr sz="1500" spc="60" dirty="0"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scale</a:t>
            </a:r>
            <a:r>
              <a:rPr sz="15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has</a:t>
            </a:r>
            <a:r>
              <a:rPr sz="1500" spc="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necessitated</a:t>
            </a:r>
            <a:r>
              <a:rPr sz="1500" spc="3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automation</a:t>
            </a:r>
            <a:r>
              <a:rPr sz="1500" spc="6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38" dirty="0">
                <a:latin typeface="Calibri"/>
                <a:cs typeface="Calibri"/>
              </a:rPr>
              <a:t>software</a:t>
            </a:r>
            <a:r>
              <a:rPr sz="1500" spc="-68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deployment</a:t>
            </a:r>
            <a:r>
              <a:rPr sz="1500" spc="-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tasks,</a:t>
            </a:r>
            <a:r>
              <a:rPr sz="1500" spc="23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which </a:t>
            </a:r>
            <a:r>
              <a:rPr sz="1500" dirty="0">
                <a:latin typeface="Calibri"/>
                <a:cs typeface="Calibri"/>
              </a:rPr>
              <a:t>DevOps</a:t>
            </a:r>
            <a:r>
              <a:rPr sz="1500" spc="4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addresses</a:t>
            </a:r>
            <a:endParaRPr sz="1500">
              <a:latin typeface="Calibri"/>
              <a:cs typeface="Calibri"/>
            </a:endParaRPr>
          </a:p>
          <a:p>
            <a:pPr marL="19050" defTabSz="1371600">
              <a:lnSpc>
                <a:spcPts val="1613"/>
              </a:lnSpc>
            </a:pPr>
            <a:r>
              <a:rPr sz="1500" spc="-15" dirty="0">
                <a:latin typeface="Calibri"/>
                <a:cs typeface="Calibri"/>
              </a:rPr>
              <a:t>Ability</a:t>
            </a:r>
            <a:r>
              <a:rPr sz="1500" spc="15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240" dirty="0"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create</a:t>
            </a:r>
            <a:r>
              <a:rPr sz="1500" spc="20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1500" spc="18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switch</a:t>
            </a:r>
            <a:r>
              <a:rPr sz="1500" spc="3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FF0000"/>
                </a:solidFill>
                <a:latin typeface="Calibri"/>
                <a:cs typeface="Calibri"/>
              </a:rPr>
              <a:t>environments</a:t>
            </a:r>
            <a:r>
              <a:rPr sz="1500" spc="2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simply,</a:t>
            </a:r>
            <a:r>
              <a:rPr sz="1500" spc="338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53" dirty="0">
                <a:latin typeface="Calibri"/>
                <a:cs typeface="Calibri"/>
              </a:rPr>
              <a:t> </a:t>
            </a:r>
            <a:r>
              <a:rPr sz="1500" spc="-30" dirty="0">
                <a:solidFill>
                  <a:srgbClr val="FF0000"/>
                </a:solidFill>
                <a:latin typeface="Calibri"/>
                <a:cs typeface="Calibri"/>
              </a:rPr>
              <a:t>ability</a:t>
            </a:r>
            <a:r>
              <a:rPr sz="1500" spc="-8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5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FF0000"/>
                </a:solidFill>
                <a:latin typeface="Calibri"/>
                <a:cs typeface="Calibri"/>
              </a:rPr>
              <a:t>create</a:t>
            </a:r>
            <a:r>
              <a:rPr sz="1500" spc="8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spc="-38" dirty="0">
                <a:solidFill>
                  <a:srgbClr val="FF0000"/>
                </a:solidFill>
                <a:latin typeface="Calibri"/>
                <a:cs typeface="Calibri"/>
              </a:rPr>
              <a:t>VMs</a:t>
            </a:r>
            <a:endParaRPr sz="1500">
              <a:latin typeface="Calibri"/>
              <a:cs typeface="Calibri"/>
            </a:endParaRPr>
          </a:p>
          <a:p>
            <a:pPr marL="19050" defTabSz="1371600"/>
            <a:r>
              <a:rPr sz="1500" spc="-38" dirty="0">
                <a:latin typeface="Calibri"/>
                <a:cs typeface="Calibri"/>
              </a:rPr>
              <a:t>easily,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management</a:t>
            </a:r>
            <a:r>
              <a:rPr sz="1500" spc="6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1500" spc="-3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FF0000"/>
                </a:solidFill>
                <a:latin typeface="Calibri"/>
                <a:cs typeface="Calibri"/>
              </a:rPr>
              <a:t>databases</a:t>
            </a:r>
            <a:r>
              <a:rPr sz="1500" spc="-1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spc="-30" dirty="0">
                <a:solidFill>
                  <a:srgbClr val="FF0000"/>
                </a:solidFill>
                <a:latin typeface="Calibri"/>
                <a:cs typeface="Calibri"/>
              </a:rPr>
              <a:t>etc..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629979"/>
          </a:xfrm>
          <a:prstGeom prst="rect">
            <a:avLst/>
          </a:prstGeom>
        </p:spPr>
        <p:txBody>
          <a:bodyPr vert="horz" wrap="square" lIns="0" tIns="258126" rIns="0" bIns="0" rtlCol="0">
            <a:spAutoFit/>
          </a:bodyPr>
          <a:lstStyle/>
          <a:p>
            <a:pPr marL="189546">
              <a:spcBef>
                <a:spcPts val="143"/>
              </a:spcBef>
            </a:pPr>
            <a:r>
              <a:rPr dirty="0"/>
              <a:t>DevOps–</a:t>
            </a:r>
            <a:r>
              <a:rPr spc="83" dirty="0"/>
              <a:t> </a:t>
            </a:r>
            <a:r>
              <a:rPr dirty="0"/>
              <a:t>Cloud</a:t>
            </a:r>
            <a:r>
              <a:rPr spc="8" dirty="0"/>
              <a:t> </a:t>
            </a:r>
            <a:r>
              <a:rPr dirty="0"/>
              <a:t>as</a:t>
            </a:r>
            <a:r>
              <a:rPr spc="8" dirty="0"/>
              <a:t> </a:t>
            </a:r>
            <a:r>
              <a:rPr dirty="0"/>
              <a:t>a</a:t>
            </a:r>
            <a:r>
              <a:rPr spc="-150" dirty="0"/>
              <a:t> </a:t>
            </a:r>
            <a:r>
              <a:rPr spc="-15" dirty="0"/>
              <a:t>catalyst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050" y="3328415"/>
            <a:ext cx="457200" cy="2606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050" y="4151375"/>
            <a:ext cx="457200" cy="26060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11098" y="3291077"/>
            <a:ext cx="6136956" cy="1958228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marR="7620" algn="just" defTabSz="1371600">
              <a:spcBef>
                <a:spcPts val="150"/>
              </a:spcBef>
            </a:pPr>
            <a:r>
              <a:rPr dirty="0">
                <a:latin typeface="Calibri"/>
                <a:cs typeface="Calibri"/>
              </a:rPr>
              <a:t>advent</a:t>
            </a:r>
            <a:r>
              <a:rPr spc="24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24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cloud</a:t>
            </a:r>
            <a:r>
              <a:rPr spc="2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actually</a:t>
            </a:r>
            <a:r>
              <a:rPr spc="2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facilitates</a:t>
            </a:r>
            <a:r>
              <a:rPr spc="24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continuous</a:t>
            </a:r>
            <a:r>
              <a:rPr spc="2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deployment</a:t>
            </a:r>
            <a:r>
              <a:rPr spc="278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and </a:t>
            </a:r>
            <a:r>
              <a:rPr spc="-15" dirty="0">
                <a:latin typeface="Calibri"/>
                <a:cs typeface="Calibri"/>
              </a:rPr>
              <a:t>provides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easier</a:t>
            </a:r>
            <a:r>
              <a:rPr spc="375" dirty="0"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access</a:t>
            </a:r>
            <a:r>
              <a:rPr spc="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pc="-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FF0000"/>
                </a:solidFill>
                <a:latin typeface="Calibri"/>
                <a:cs typeface="Calibri"/>
              </a:rPr>
              <a:t>production</a:t>
            </a:r>
            <a:r>
              <a:rPr spc="-2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FF0000"/>
                </a:solidFill>
                <a:latin typeface="Calibri"/>
                <a:cs typeface="Calibri"/>
              </a:rPr>
              <a:t>like</a:t>
            </a:r>
            <a:r>
              <a:rPr spc="-30" dirty="0">
                <a:solidFill>
                  <a:srgbClr val="FF0000"/>
                </a:solidFill>
                <a:latin typeface="Calibri"/>
                <a:cs typeface="Calibri"/>
              </a:rPr>
              <a:t> environments </a:t>
            </a:r>
            <a:r>
              <a:rPr spc="-15" dirty="0">
                <a:latin typeface="Calibri"/>
                <a:cs typeface="Calibri"/>
              </a:rPr>
              <a:t>during</a:t>
            </a:r>
            <a:r>
              <a:rPr spc="-68" dirty="0">
                <a:latin typeface="Calibri"/>
                <a:cs typeface="Calibri"/>
              </a:rPr>
              <a:t> </a:t>
            </a:r>
            <a:r>
              <a:rPr spc="-38" dirty="0">
                <a:latin typeface="Calibri"/>
                <a:cs typeface="Calibri"/>
              </a:rPr>
              <a:t>the </a:t>
            </a:r>
            <a:r>
              <a:rPr spc="-15" dirty="0">
                <a:latin typeface="Calibri"/>
                <a:cs typeface="Calibri"/>
              </a:rPr>
              <a:t>development</a:t>
            </a:r>
            <a:r>
              <a:rPr spc="-6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testing</a:t>
            </a:r>
            <a:r>
              <a:rPr spc="39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stages of</a:t>
            </a:r>
            <a:r>
              <a:rPr spc="-3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3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deliverypipeline.</a:t>
            </a:r>
            <a:endParaRPr>
              <a:latin typeface="Calibri"/>
              <a:cs typeface="Calibri"/>
            </a:endParaRPr>
          </a:p>
          <a:p>
            <a:pPr marL="19050" marR="7620" algn="just" defTabSz="1371600"/>
            <a:r>
              <a:rPr dirty="0">
                <a:latin typeface="Calibri"/>
                <a:cs typeface="Calibri"/>
              </a:rPr>
              <a:t>Developer</a:t>
            </a:r>
            <a:r>
              <a:rPr spc="4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can</a:t>
            </a:r>
            <a:r>
              <a:rPr spc="44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not</a:t>
            </a:r>
            <a:r>
              <a:rPr spc="4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only</a:t>
            </a:r>
            <a:r>
              <a:rPr spc="4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invoke</a:t>
            </a:r>
            <a:r>
              <a:rPr spc="4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</a:t>
            </a:r>
            <a:r>
              <a:rPr spc="4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automated</a:t>
            </a:r>
            <a:r>
              <a:rPr spc="45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build,</a:t>
            </a:r>
            <a:r>
              <a:rPr spc="44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but</a:t>
            </a:r>
            <a:r>
              <a:rPr spc="458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also </a:t>
            </a:r>
            <a:r>
              <a:rPr dirty="0">
                <a:latin typeface="Calibri"/>
                <a:cs typeface="Calibri"/>
              </a:rPr>
              <a:t>request</a:t>
            </a:r>
            <a:r>
              <a:rPr spc="17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18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provisioning</a:t>
            </a:r>
            <a:r>
              <a:rPr spc="1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1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configuration</a:t>
            </a:r>
            <a:r>
              <a:rPr spc="1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17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171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production</a:t>
            </a:r>
            <a:r>
              <a:rPr spc="180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like </a:t>
            </a:r>
            <a:r>
              <a:rPr spc="-15" dirty="0">
                <a:latin typeface="Calibri"/>
                <a:cs typeface="Calibri"/>
              </a:rPr>
              <a:t>environment</a:t>
            </a:r>
            <a:r>
              <a:rPr spc="8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cloud</a:t>
            </a:r>
            <a:r>
              <a:rPr spc="60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6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then</a:t>
            </a:r>
            <a:r>
              <a:rPr spc="98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deploy</a:t>
            </a:r>
            <a:r>
              <a:rPr spc="5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7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application</a:t>
            </a:r>
            <a:r>
              <a:rPr spc="75" dirty="0">
                <a:latin typeface="Calibri"/>
                <a:cs typeface="Calibri"/>
              </a:rPr>
              <a:t> </a:t>
            </a:r>
            <a:r>
              <a:rPr spc="-15" dirty="0">
                <a:latin typeface="Calibri"/>
                <a:cs typeface="Calibri"/>
              </a:rPr>
              <a:t>being built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83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</a:t>
            </a:r>
            <a:r>
              <a:rPr spc="-83" dirty="0"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FF0000"/>
                </a:solidFill>
                <a:latin typeface="Calibri"/>
                <a:cs typeface="Calibri"/>
              </a:rPr>
              <a:t>without</a:t>
            </a:r>
            <a:r>
              <a:rPr spc="-2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45" dirty="0">
                <a:solidFill>
                  <a:srgbClr val="FF0000"/>
                </a:solidFill>
                <a:latin typeface="Calibri"/>
                <a:cs typeface="Calibri"/>
              </a:rPr>
              <a:t>any</a:t>
            </a:r>
            <a:r>
              <a:rPr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30" dirty="0">
                <a:solidFill>
                  <a:srgbClr val="FF0000"/>
                </a:solidFill>
                <a:latin typeface="Calibri"/>
                <a:cs typeface="Calibri"/>
              </a:rPr>
              <a:t>direct</a:t>
            </a:r>
            <a:r>
              <a:rPr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FF0000"/>
                </a:solidFill>
                <a:latin typeface="Calibri"/>
                <a:cs typeface="Calibri"/>
              </a:rPr>
              <a:t>involvement</a:t>
            </a:r>
            <a:r>
              <a:rPr spc="3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FF0000"/>
                </a:solidFill>
                <a:latin typeface="Calibri"/>
                <a:cs typeface="Calibri"/>
              </a:rPr>
              <a:t>by</a:t>
            </a:r>
            <a:r>
              <a:rPr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pc="-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FF0000"/>
                </a:solidFill>
                <a:latin typeface="Calibri"/>
                <a:cs typeface="Calibri"/>
              </a:rPr>
              <a:t>operations</a:t>
            </a:r>
            <a:r>
              <a:rPr spc="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FF0000"/>
                </a:solidFill>
                <a:latin typeface="Calibri"/>
                <a:cs typeface="Calibri"/>
              </a:rPr>
              <a:t>team</a:t>
            </a:r>
            <a:r>
              <a:rPr sz="1200" spc="-15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2393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9076" y="2380297"/>
            <a:ext cx="4712018" cy="43473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2700" b="1" dirty="0">
                <a:latin typeface="Arial"/>
                <a:cs typeface="Arial"/>
              </a:rPr>
              <a:t>DevOps–</a:t>
            </a:r>
            <a:r>
              <a:rPr sz="2700" b="1" spc="75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Cloud</a:t>
            </a:r>
            <a:r>
              <a:rPr sz="2700" b="1" spc="-45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as</a:t>
            </a:r>
            <a:r>
              <a:rPr sz="2700" b="1" spc="23" dirty="0">
                <a:latin typeface="Arial"/>
                <a:cs typeface="Arial"/>
              </a:rPr>
              <a:t> </a:t>
            </a:r>
            <a:r>
              <a:rPr sz="2700" b="1" dirty="0">
                <a:latin typeface="Arial"/>
                <a:cs typeface="Arial"/>
              </a:rPr>
              <a:t>a</a:t>
            </a:r>
            <a:r>
              <a:rPr sz="2700" b="1" spc="-158" dirty="0">
                <a:latin typeface="Arial"/>
                <a:cs typeface="Arial"/>
              </a:rPr>
              <a:t> </a:t>
            </a:r>
            <a:r>
              <a:rPr sz="2700" b="1" spc="-15" dirty="0">
                <a:latin typeface="Arial"/>
                <a:cs typeface="Arial"/>
              </a:rPr>
              <a:t>catalyst</a:t>
            </a:r>
            <a:endParaRPr sz="27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950" y="3200399"/>
            <a:ext cx="542925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903" y="6961440"/>
            <a:ext cx="3377565" cy="14619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9050" defTabSz="1371600">
              <a:spcBef>
                <a:spcPts val="150"/>
              </a:spcBef>
            </a:pPr>
            <a:r>
              <a:rPr sz="825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25" b="1" spc="8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Pilani, Deemed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to</a:t>
            </a:r>
            <a:r>
              <a:rPr sz="825" spc="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be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University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 under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Section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3</a:t>
            </a:r>
            <a:r>
              <a:rPr sz="825" spc="8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of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UGC</a:t>
            </a:r>
            <a:r>
              <a:rPr sz="825" spc="23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dirty="0">
                <a:solidFill>
                  <a:srgbClr val="0F1141"/>
                </a:solidFill>
                <a:latin typeface="Arial MT"/>
                <a:cs typeface="Arial MT"/>
              </a:rPr>
              <a:t>Act,</a:t>
            </a:r>
            <a:r>
              <a:rPr sz="825" spc="-1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825" spc="-30" dirty="0">
                <a:solidFill>
                  <a:srgbClr val="0F1141"/>
                </a:solidFill>
                <a:latin typeface="Arial MT"/>
                <a:cs typeface="Arial MT"/>
              </a:rPr>
              <a:t>1956</a:t>
            </a:r>
            <a:endParaRPr sz="825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66295" y="6228015"/>
            <a:ext cx="87629" cy="805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371600">
              <a:lnSpc>
                <a:spcPts val="638"/>
              </a:lnSpc>
            </a:pPr>
            <a:r>
              <a:rPr sz="675" spc="-38" dirty="0">
                <a:solidFill>
                  <a:srgbClr val="888888"/>
                </a:solidFill>
                <a:latin typeface="Calibri"/>
                <a:cs typeface="Calibri"/>
              </a:rPr>
              <a:t>40</a:t>
            </a:r>
            <a:endParaRPr sz="675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3001" y="2450639"/>
            <a:ext cx="9800996" cy="756938"/>
          </a:xfrm>
          <a:prstGeom prst="rect">
            <a:avLst/>
          </a:prstGeom>
        </p:spPr>
        <p:txBody>
          <a:bodyPr vert="horz" wrap="square" lIns="0" tIns="18098" rIns="0" bIns="0" rtlCol="0">
            <a:spAutoFit/>
          </a:bodyPr>
          <a:lstStyle/>
          <a:p>
            <a:pPr marL="19050">
              <a:spcBef>
                <a:spcPts val="143"/>
              </a:spcBef>
            </a:pPr>
            <a:r>
              <a:rPr dirty="0"/>
              <a:t>DevOps–</a:t>
            </a:r>
            <a:r>
              <a:rPr spc="263" dirty="0"/>
              <a:t> </a:t>
            </a:r>
            <a:r>
              <a:rPr dirty="0"/>
              <a:t>Tools/technology</a:t>
            </a:r>
            <a:r>
              <a:rPr spc="344" dirty="0"/>
              <a:t> </a:t>
            </a:r>
            <a:r>
              <a:rPr spc="-38" dirty="0"/>
              <a:t>as</a:t>
            </a:r>
          </a:p>
          <a:p>
            <a:pPr marL="19050">
              <a:spcBef>
                <a:spcPts val="8"/>
              </a:spcBef>
            </a:pPr>
            <a:r>
              <a:rPr spc="-15" dirty="0"/>
              <a:t>enablers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69952" y="3135629"/>
          <a:ext cx="6312218" cy="3428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0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0513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Phase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3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882DB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Purpose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3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882DB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Tools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3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882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Development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Source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control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Git,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SVN,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CVS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Static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Code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Analysis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SonarQube,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FindBugs,</a:t>
                      </a:r>
                      <a:r>
                        <a:rPr sz="1400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CheckStyle,PMD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CI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Jenkins,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pupper,</a:t>
                      </a:r>
                      <a:r>
                        <a:rPr sz="14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cruise</a:t>
                      </a:r>
                      <a:r>
                        <a:rPr sz="1400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control,Anthil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601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Testing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3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Unit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Performance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53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297815" indent="1270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Junit,</a:t>
                      </a:r>
                      <a:r>
                        <a:rPr sz="14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TestNG,Jmeter,Selenium,cucumber,</a:t>
                      </a:r>
                      <a:r>
                        <a:rPr sz="14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SOAP</a:t>
                      </a:r>
                      <a:r>
                        <a:rPr sz="140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UI,HtmlUnit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Code</a:t>
                      </a:r>
                      <a:r>
                        <a:rPr sz="14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Coverage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Jacaco,</a:t>
                      </a:r>
                      <a:r>
                        <a:rPr sz="14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Cobertura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Release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Build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Release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ANT,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Maven,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Gradle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863">
                <a:tc>
                  <a:txBody>
                    <a:bodyPr/>
                    <a:lstStyle/>
                    <a:p>
                      <a:pPr marL="381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Deployment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495934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Deployment</a:t>
                      </a:r>
                      <a:r>
                        <a:rPr sz="14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Automation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-25" dirty="0">
                          <a:latin typeface="Calibri"/>
                          <a:cs typeface="Calibri"/>
                        </a:rPr>
                        <a:t>Jenkins</a:t>
                      </a:r>
                      <a:r>
                        <a:rPr sz="1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plugin,deployment</a:t>
                      </a:r>
                      <a:r>
                        <a:rPr sz="14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scripts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D1D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9601">
                <a:tc>
                  <a:txBody>
                    <a:bodyPr/>
                    <a:lstStyle/>
                    <a:p>
                      <a:pPr marL="38100" marR="502920">
                        <a:lnSpc>
                          <a:spcPct val="100000"/>
                        </a:lnSpc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Monitoring</a:t>
                      </a:r>
                      <a:r>
                        <a:rPr sz="14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Maintenance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 marL="3683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Continuous</a:t>
                      </a:r>
                      <a:r>
                        <a:rPr sz="14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monitor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  <a:tc>
                  <a:txBody>
                    <a:bodyPr/>
                    <a:lstStyle/>
                    <a:p>
                      <a:pPr marL="36830" marR="226695">
                        <a:lnSpc>
                          <a:spcPct val="100000"/>
                        </a:lnSpc>
                      </a:pPr>
                      <a:r>
                        <a:rPr sz="1400" spc="-55" dirty="0">
                          <a:latin typeface="Calibri"/>
                          <a:cs typeface="Calibri"/>
                        </a:rPr>
                        <a:t>Web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analytics</a:t>
                      </a:r>
                      <a:r>
                        <a:rPr sz="14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scripts,</a:t>
                      </a:r>
                      <a:r>
                        <a:rPr sz="14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health</a:t>
                      </a:r>
                      <a:r>
                        <a:rPr sz="14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monitoring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tools,</a:t>
                      </a:r>
                      <a:r>
                        <a:rPr sz="1400" spc="2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5" dirty="0">
                          <a:latin typeface="Calibri"/>
                          <a:cs typeface="Calibri"/>
                        </a:rPr>
                        <a:t>server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 monitoring</a:t>
                      </a:r>
                      <a:r>
                        <a:rPr sz="14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latin typeface="Calibri"/>
                          <a:cs typeface="Calibri"/>
                        </a:rPr>
                        <a:t>tools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FFFFFF"/>
                      </a:solidFill>
                      <a:prstDash val="solid"/>
                    </a:lnL>
                    <a:lnR w="635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16917</Words>
  <Application>Microsoft Office PowerPoint</Application>
  <PresentationFormat>On-screen Show (4:3)</PresentationFormat>
  <Paragraphs>2216</Paragraphs>
  <Slides>179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179</vt:i4>
      </vt:variant>
    </vt:vector>
  </HeadingPairs>
  <TitlesOfParts>
    <vt:vector size="195" baseType="lpstr">
      <vt:lpstr>Arial</vt:lpstr>
      <vt:lpstr>Arial Black</vt:lpstr>
      <vt:lpstr>Arial MT</vt:lpstr>
      <vt:lpstr>Calibri</vt:lpstr>
      <vt:lpstr>Franklin Gothic Medium</vt:lpstr>
      <vt:lpstr>Segoe UI</vt:lpstr>
      <vt:lpstr>Segoe UI Light</vt:lpstr>
      <vt:lpstr>Symbol</vt:lpstr>
      <vt:lpstr>Tahoma</vt:lpstr>
      <vt:lpstr>Times New Roman</vt:lpstr>
      <vt:lpstr>Verdana</vt:lpstr>
      <vt:lpstr>Wingdings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Problems of Delivering Software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DevOps</vt:lpstr>
      <vt:lpstr>Dimensions of DevOps</vt:lpstr>
      <vt:lpstr>DevOps– People</vt:lpstr>
      <vt:lpstr>DevOps– People</vt:lpstr>
      <vt:lpstr>DevOps– People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Infra evolution</vt:lpstr>
      <vt:lpstr>PowerPoint Presentation</vt:lpstr>
      <vt:lpstr>PowerPoint Presentation</vt:lpstr>
      <vt:lpstr>Squad</vt:lpstr>
      <vt:lpstr>DevOps – Roles &amp; Responsibilities</vt:lpstr>
      <vt:lpstr>DevOps– People</vt:lpstr>
      <vt:lpstr>DevOps– Tools</vt:lpstr>
      <vt:lpstr>DevOps - Tools</vt:lpstr>
      <vt:lpstr>DevOps - Tools</vt:lpstr>
      <vt:lpstr>DevOps - Tools</vt:lpstr>
      <vt:lpstr>DevOps - Tools</vt:lpstr>
      <vt:lpstr>DevOps - Tools</vt:lpstr>
      <vt:lpstr>PowerPoint Presentation</vt:lpstr>
      <vt:lpstr>PowerPoint Presentation</vt:lpstr>
      <vt:lpstr>PowerPoint Presentation</vt:lpstr>
      <vt:lpstr>DevOps - Tools</vt:lpstr>
      <vt:lpstr>DevOps - Tools</vt:lpstr>
      <vt:lpstr>DevOps - Tools</vt:lpstr>
      <vt:lpstr>DevOps - Tools</vt:lpstr>
      <vt:lpstr>DevOps - Tools</vt:lpstr>
      <vt:lpstr>DevOps - Tools</vt:lpstr>
      <vt:lpstr>DevOps - Tools</vt:lpstr>
      <vt:lpstr>DevOps - Tools</vt:lpstr>
      <vt:lpstr>DevOps - Tools</vt:lpstr>
      <vt:lpstr>DevOps - Tools</vt:lpstr>
      <vt:lpstr>DevOps– Infrastructure as Code</vt:lpstr>
      <vt:lpstr>DevOps– Delivery pipeline</vt:lpstr>
      <vt:lpstr>DevOps– Delivery pipeline</vt:lpstr>
      <vt:lpstr>DevOps– Delivery pipeline</vt:lpstr>
      <vt:lpstr>DevOps– Delivery pipeline</vt:lpstr>
      <vt:lpstr>DevOps– Delivery pipeline</vt:lpstr>
      <vt:lpstr>DevOps– Delivery pipeline</vt:lpstr>
      <vt:lpstr>DevOps– Delivery pipeline</vt:lpstr>
      <vt:lpstr>DevOps– Deployment automation and release management</vt:lpstr>
      <vt:lpstr>DevOps– Deployment automation and release management</vt:lpstr>
      <vt:lpstr>DevOps– Cloud as a catalyst</vt:lpstr>
      <vt:lpstr>DevOps– Cloud as a catalyst</vt:lpstr>
      <vt:lpstr>Virtualization</vt:lpstr>
      <vt:lpstr>Container</vt:lpstr>
      <vt:lpstr>DevOps– Cloud as a catalyst</vt:lpstr>
      <vt:lpstr>DevOps– Cloud as a catalyst</vt:lpstr>
      <vt:lpstr>PowerPoint Presentation</vt:lpstr>
      <vt:lpstr>DevOps– Tools/technology as enablers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UDHAYAKUMAR S</dc:creator>
  <cp:lastModifiedBy>Abid AK</cp:lastModifiedBy>
  <cp:revision>1</cp:revision>
  <dcterms:created xsi:type="dcterms:W3CDTF">2025-04-18T12:04:48Z</dcterms:created>
  <dcterms:modified xsi:type="dcterms:W3CDTF">2025-04-18T12:21:58Z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2025-04-18T00:00:00Z</vt:filetime>
  </property>
  <property fmtid="{D5CDD505-2E9C-101B-9397-08002B2CF9AE}" pid="5" name="Producer">
    <vt:lpwstr>Microsoft® PowerPoint® 2019</vt:lpwstr>
  </property>
</Properties>
</file>