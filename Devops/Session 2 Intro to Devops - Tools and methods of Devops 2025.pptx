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6858000" cy="9144000"/>
  <p:notesSz cx="6858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2834640"/>
            <a:ext cx="58293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120640"/>
            <a:ext cx="48006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4290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531870" y="2103120"/>
            <a:ext cx="298323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6324" y="967180"/>
            <a:ext cx="3415665" cy="3314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321" y="1621663"/>
            <a:ext cx="5415280" cy="19297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331720" y="8503920"/>
            <a:ext cx="219456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42900" y="8503920"/>
            <a:ext cx="157734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71233" y="8932951"/>
            <a:ext cx="2444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21.jpg"/><Relationship Id="rId4" Type="http://schemas.openxmlformats.org/officeDocument/2006/relationships/image" Target="../media/image2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23.jpg"/><Relationship Id="rId4" Type="http://schemas.openxmlformats.org/officeDocument/2006/relationships/image" Target="../media/image24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14.jpg"/><Relationship Id="rId4" Type="http://schemas.openxmlformats.org/officeDocument/2006/relationships/image" Target="../media/image30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35.jpg"/><Relationship Id="rId4" Type="http://schemas.openxmlformats.org/officeDocument/2006/relationships/image" Target="../media/image36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37.jpg"/><Relationship Id="rId4" Type="http://schemas.openxmlformats.org/officeDocument/2006/relationships/image" Target="../media/image3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39.jpg"/><Relationship Id="rId4" Type="http://schemas.openxmlformats.org/officeDocument/2006/relationships/image" Target="../media/image40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jpg"/><Relationship Id="rId7" Type="http://schemas.openxmlformats.org/officeDocument/2006/relationships/image" Target="../media/image45.jpg"/><Relationship Id="rId8" Type="http://schemas.openxmlformats.org/officeDocument/2006/relationships/image" Target="../media/image46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47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48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49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50.jpg"/><Relationship Id="rId4" Type="http://schemas.openxmlformats.org/officeDocument/2006/relationships/hyperlink" Target="https://www.kovair.com/devops/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.jpg"/><Relationship Id="rId3" Type="http://schemas.openxmlformats.org/officeDocument/2006/relationships/image" Target="../media/image5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868680"/>
            <a:ext cx="6096000" cy="2665730"/>
            <a:chOff x="381000" y="868680"/>
            <a:chExt cx="6096000" cy="2665730"/>
          </a:xfrm>
        </p:grpSpPr>
        <p:sp>
          <p:nvSpPr>
            <p:cNvPr id="4" name="object 4" descr=""/>
            <p:cNvSpPr/>
            <p:nvPr/>
          </p:nvSpPr>
          <p:spPr>
            <a:xfrm>
              <a:off x="381000" y="868680"/>
              <a:ext cx="6096000" cy="2433320"/>
            </a:xfrm>
            <a:custGeom>
              <a:avLst/>
              <a:gdLst/>
              <a:ahLst/>
              <a:cxnLst/>
              <a:rect l="l" t="t" r="r" b="b"/>
              <a:pathLst>
                <a:path w="6096000" h="2433320">
                  <a:moveTo>
                    <a:pt x="6096000" y="0"/>
                  </a:moveTo>
                  <a:lnTo>
                    <a:pt x="0" y="0"/>
                  </a:lnTo>
                  <a:lnTo>
                    <a:pt x="0" y="2433193"/>
                  </a:lnTo>
                  <a:lnTo>
                    <a:pt x="6096000" y="2433193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8679" y="868680"/>
              <a:ext cx="4632960" cy="2665222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1188821" y="3585819"/>
            <a:ext cx="5083175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985895">
              <a:lnSpc>
                <a:spcPct val="152700"/>
              </a:lnSpc>
              <a:spcBef>
                <a:spcPts val="100"/>
              </a:spcBef>
            </a:pPr>
            <a:r>
              <a:rPr dirty="0" sz="1100" spc="-10">
                <a:solidFill>
                  <a:srgbClr val="D24625"/>
                </a:solidFill>
                <a:latin typeface="Segoe UI Light"/>
                <a:cs typeface="Segoe UI Light"/>
              </a:rPr>
              <a:t>Dr.S.Udhayakumar </a:t>
            </a:r>
            <a:r>
              <a:rPr dirty="0" sz="1100">
                <a:solidFill>
                  <a:srgbClr val="D24625"/>
                </a:solidFill>
                <a:latin typeface="Segoe UI Light"/>
                <a:cs typeface="Segoe UI Light"/>
              </a:rPr>
              <a:t>Associate</a:t>
            </a:r>
            <a:r>
              <a:rPr dirty="0" sz="1100" spc="-1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100" spc="-20">
                <a:solidFill>
                  <a:srgbClr val="D24625"/>
                </a:solidFill>
                <a:latin typeface="Segoe UI Light"/>
                <a:cs typeface="Segoe UI Light"/>
              </a:rPr>
              <a:t>Professor,</a:t>
            </a:r>
            <a:r>
              <a:rPr dirty="0" sz="1100" spc="-1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100">
                <a:solidFill>
                  <a:srgbClr val="D24625"/>
                </a:solidFill>
                <a:latin typeface="Segoe UI Light"/>
                <a:cs typeface="Segoe UI Light"/>
              </a:rPr>
              <a:t>Department</a:t>
            </a:r>
            <a:r>
              <a:rPr dirty="0" sz="1100" spc="-1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100">
                <a:solidFill>
                  <a:srgbClr val="D24625"/>
                </a:solidFill>
                <a:latin typeface="Segoe UI Light"/>
                <a:cs typeface="Segoe UI Light"/>
              </a:rPr>
              <a:t>of</a:t>
            </a:r>
            <a:r>
              <a:rPr dirty="0" sz="1100" spc="1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100">
                <a:solidFill>
                  <a:srgbClr val="D24625"/>
                </a:solidFill>
                <a:latin typeface="Segoe UI Light"/>
                <a:cs typeface="Segoe UI Light"/>
              </a:rPr>
              <a:t>Computer</a:t>
            </a:r>
            <a:r>
              <a:rPr dirty="0" sz="1100" spc="-1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100">
                <a:solidFill>
                  <a:srgbClr val="D24625"/>
                </a:solidFill>
                <a:latin typeface="Segoe UI Light"/>
                <a:cs typeface="Segoe UI Light"/>
              </a:rPr>
              <a:t>Science</a:t>
            </a:r>
            <a:r>
              <a:rPr dirty="0" sz="1100" spc="-10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100">
                <a:solidFill>
                  <a:srgbClr val="D24625"/>
                </a:solidFill>
                <a:latin typeface="Segoe UI Light"/>
                <a:cs typeface="Segoe UI Light"/>
              </a:rPr>
              <a:t>and</a:t>
            </a:r>
            <a:r>
              <a:rPr dirty="0" sz="1100" spc="15">
                <a:solidFill>
                  <a:srgbClr val="D24625"/>
                </a:solidFill>
                <a:latin typeface="Segoe UI Light"/>
                <a:cs typeface="Segoe UI Light"/>
              </a:rPr>
              <a:t> </a:t>
            </a:r>
            <a:r>
              <a:rPr dirty="0" sz="1100" spc="-10">
                <a:solidFill>
                  <a:srgbClr val="D24625"/>
                </a:solidFill>
                <a:latin typeface="Segoe UI Light"/>
                <a:cs typeface="Segoe UI Light"/>
              </a:rPr>
              <a:t>Engineering(Cyber Security)</a:t>
            </a:r>
            <a:endParaRPr sz="1100">
              <a:latin typeface="Segoe UI Light"/>
              <a:cs typeface="Segoe UI Ligh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Module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2</a:t>
            </a:r>
            <a:r>
              <a:rPr dirty="0" sz="18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Why</a:t>
            </a:r>
            <a:r>
              <a:rPr dirty="0" sz="1800" spc="-2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dirty="0" sz="1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dirty="0" sz="1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dirty="0" sz="1800" spc="-2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DevOps?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26237" y="5757633"/>
            <a:ext cx="1918970" cy="2176145"/>
          </a:xfrm>
          <a:prstGeom prst="rect">
            <a:avLst/>
          </a:prstGeom>
          <a:solidFill>
            <a:srgbClr val="EC7C30"/>
          </a:solidFill>
        </p:spPr>
        <p:txBody>
          <a:bodyPr wrap="square" lIns="0" tIns="27940" rIns="0" bIns="0" rtlCol="0" vert="horz">
            <a:spAutoFit/>
          </a:bodyPr>
          <a:lstStyle/>
          <a:p>
            <a:pPr marL="45720">
              <a:lnSpc>
                <a:spcPct val="100000"/>
              </a:lnSpc>
              <a:spcBef>
                <a:spcPts val="220"/>
              </a:spcBef>
            </a:pPr>
            <a:r>
              <a:rPr dirty="0" sz="900">
                <a:latin typeface="Times New Roman"/>
                <a:cs typeface="Times New Roman"/>
              </a:rPr>
              <a:t>About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DevOps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900">
              <a:latin typeface="Times New Roman"/>
              <a:cs typeface="Times New Roman"/>
            </a:endParaRPr>
          </a:p>
          <a:p>
            <a:pPr marL="217170" indent="-171450">
              <a:lnSpc>
                <a:spcPct val="100000"/>
              </a:lnSpc>
              <a:buFont typeface="Symbol"/>
              <a:buChar char=""/>
              <a:tabLst>
                <a:tab pos="217170" algn="l"/>
              </a:tabLst>
            </a:pPr>
            <a:r>
              <a:rPr dirty="0" sz="900">
                <a:solidFill>
                  <a:srgbClr val="7E7E7E"/>
                </a:solidFill>
                <a:latin typeface="Times New Roman"/>
                <a:cs typeface="Times New Roman"/>
              </a:rPr>
              <a:t>RL2.2.1</a:t>
            </a:r>
            <a:r>
              <a:rPr dirty="0" sz="900" spc="-25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7E7E7E"/>
                </a:solidFill>
                <a:latin typeface="Times New Roman"/>
                <a:cs typeface="Times New Roman"/>
              </a:rPr>
              <a:t>Need</a:t>
            </a:r>
            <a:r>
              <a:rPr dirty="0" sz="900" spc="-5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7E7E7E"/>
                </a:solidFill>
                <a:latin typeface="Times New Roman"/>
                <a:cs typeface="Times New Roman"/>
              </a:rPr>
              <a:t>for</a:t>
            </a:r>
            <a:r>
              <a:rPr dirty="0" sz="900" spc="-2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Times New Roman"/>
                <a:cs typeface="Times New Roman"/>
              </a:rPr>
              <a:t>DevOps</a:t>
            </a:r>
            <a:endParaRPr sz="900">
              <a:latin typeface="Times New Roman"/>
              <a:cs typeface="Times New Roman"/>
            </a:endParaRPr>
          </a:p>
          <a:p>
            <a:pPr marL="45720" marR="313055" indent="171450">
              <a:lnSpc>
                <a:spcPct val="207799"/>
              </a:lnSpc>
              <a:spcBef>
                <a:spcPts val="300"/>
              </a:spcBef>
              <a:buFont typeface="Symbol"/>
              <a:buChar char=""/>
              <a:tabLst>
                <a:tab pos="217170" algn="l"/>
              </a:tabLst>
            </a:pPr>
            <a:r>
              <a:rPr dirty="0" sz="900">
                <a:solidFill>
                  <a:srgbClr val="7E7E7E"/>
                </a:solidFill>
                <a:latin typeface="Times New Roman"/>
                <a:cs typeface="Times New Roman"/>
              </a:rPr>
              <a:t>RL2.2.2</a:t>
            </a:r>
            <a:r>
              <a:rPr dirty="0" sz="900" spc="-10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7E7E7E"/>
                </a:solidFill>
                <a:latin typeface="Times New Roman"/>
                <a:cs typeface="Times New Roman"/>
              </a:rPr>
              <a:t>Evolution</a:t>
            </a:r>
            <a:r>
              <a:rPr dirty="0" sz="900" spc="-25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dirty="0" sz="900">
                <a:solidFill>
                  <a:srgbClr val="7E7E7E"/>
                </a:solidFill>
                <a:latin typeface="Times New Roman"/>
                <a:cs typeface="Times New Roman"/>
              </a:rPr>
              <a:t>of</a:t>
            </a:r>
            <a:r>
              <a:rPr dirty="0" sz="900" spc="-15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dirty="0" sz="900" spc="-10">
                <a:solidFill>
                  <a:srgbClr val="7E7E7E"/>
                </a:solidFill>
                <a:latin typeface="Times New Roman"/>
                <a:cs typeface="Times New Roman"/>
              </a:rPr>
              <a:t>DevOps </a:t>
            </a:r>
            <a:r>
              <a:rPr dirty="0" sz="900">
                <a:latin typeface="Times New Roman"/>
                <a:cs typeface="Times New Roman"/>
              </a:rPr>
              <a:t>RL2.2.2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DevOps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Practices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233166" y="5757633"/>
            <a:ext cx="2917825" cy="2176145"/>
          </a:xfrm>
          <a:custGeom>
            <a:avLst/>
            <a:gdLst/>
            <a:ahLst/>
            <a:cxnLst/>
            <a:rect l="l" t="t" r="r" b="b"/>
            <a:pathLst>
              <a:path w="2917825" h="2176145">
                <a:moveTo>
                  <a:pt x="2917571" y="0"/>
                </a:moveTo>
                <a:lnTo>
                  <a:pt x="0" y="0"/>
                </a:lnTo>
                <a:lnTo>
                  <a:pt x="0" y="2175637"/>
                </a:lnTo>
                <a:lnTo>
                  <a:pt x="2917571" y="2175637"/>
                </a:lnTo>
                <a:lnTo>
                  <a:pt x="2917571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3279647" y="5773292"/>
            <a:ext cx="2040255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171450" algn="l"/>
              </a:tabLst>
            </a:pPr>
            <a:r>
              <a:rPr dirty="0" sz="900" spc="-10">
                <a:latin typeface="Times New Roman"/>
                <a:cs typeface="Times New Roman"/>
              </a:rPr>
              <a:t>DevOps</a:t>
            </a:r>
            <a:endParaRPr sz="900">
              <a:latin typeface="Times New Roman"/>
              <a:cs typeface="Times New Roman"/>
            </a:endParaRPr>
          </a:p>
          <a:p>
            <a:pPr marL="171450" indent="-171450">
              <a:lnSpc>
                <a:spcPct val="100000"/>
              </a:lnSpc>
              <a:spcBef>
                <a:spcPts val="985"/>
              </a:spcBef>
              <a:buFont typeface="Symbol"/>
              <a:buChar char=""/>
              <a:tabLst>
                <a:tab pos="171450" algn="l"/>
              </a:tabLst>
            </a:pPr>
            <a:r>
              <a:rPr dirty="0" sz="900">
                <a:latin typeface="Times New Roman"/>
                <a:cs typeface="Times New Roman"/>
              </a:rPr>
              <a:t>Define</a:t>
            </a:r>
            <a:r>
              <a:rPr dirty="0" sz="900" spc="-1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the</a:t>
            </a:r>
            <a:r>
              <a:rPr dirty="0" sz="900" spc="-3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stages</a:t>
            </a:r>
            <a:r>
              <a:rPr dirty="0" sz="900" spc="-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of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a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DevOps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evolution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1" name="object 11" descr=""/>
          <p:cNvSpPr txBox="1"/>
          <p:nvPr/>
        </p:nvSpPr>
        <p:spPr>
          <a:xfrm>
            <a:off x="3279647" y="6297929"/>
            <a:ext cx="2840355" cy="667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171450" algn="l"/>
              </a:tabLst>
            </a:pPr>
            <a:r>
              <a:rPr dirty="0" sz="900">
                <a:latin typeface="Times New Roman"/>
                <a:cs typeface="Times New Roman"/>
              </a:rPr>
              <a:t>DevOps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practices</a:t>
            </a:r>
            <a:r>
              <a:rPr dirty="0" sz="900" spc="-2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in</a:t>
            </a:r>
            <a:r>
              <a:rPr dirty="0" sz="900" spc="-2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organizations</a:t>
            </a:r>
            <a:endParaRPr sz="900">
              <a:latin typeface="Times New Roman"/>
              <a:cs typeface="Times New Roman"/>
            </a:endParaRPr>
          </a:p>
          <a:p>
            <a:pPr marL="170815" marR="5080" indent="-171450">
              <a:lnSpc>
                <a:spcPct val="150000"/>
              </a:lnSpc>
              <a:spcBef>
                <a:spcPts val="730"/>
              </a:spcBef>
              <a:buFont typeface="Symbol"/>
              <a:buChar char=""/>
              <a:tabLst>
                <a:tab pos="172085" algn="l"/>
                <a:tab pos="892810" algn="l"/>
                <a:tab pos="1607820" algn="l"/>
              </a:tabLst>
            </a:pPr>
            <a:r>
              <a:rPr dirty="0" sz="900">
                <a:latin typeface="Times New Roman"/>
                <a:cs typeface="Times New Roman"/>
              </a:rPr>
              <a:t>The</a:t>
            </a:r>
            <a:r>
              <a:rPr dirty="0" sz="900" spc="7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Continuous</a:t>
            </a:r>
            <a:r>
              <a:rPr dirty="0" sz="900" spc="8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DevOps</a:t>
            </a:r>
            <a:r>
              <a:rPr dirty="0" sz="900" spc="7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LifeCycle</a:t>
            </a:r>
            <a:r>
              <a:rPr dirty="0" sz="900" spc="60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Process</a:t>
            </a:r>
            <a:r>
              <a:rPr dirty="0" sz="900" spc="75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(Continuous 	Integration,</a:t>
            </a:r>
            <a:r>
              <a:rPr dirty="0" sz="900">
                <a:latin typeface="Times New Roman"/>
                <a:cs typeface="Times New Roman"/>
              </a:rPr>
              <a:t>	</a:t>
            </a:r>
            <a:r>
              <a:rPr dirty="0" sz="900" spc="-10">
                <a:latin typeface="Times New Roman"/>
                <a:cs typeface="Times New Roman"/>
              </a:rPr>
              <a:t>Continuous</a:t>
            </a:r>
            <a:r>
              <a:rPr dirty="0" sz="900">
                <a:latin typeface="Times New Roman"/>
                <a:cs typeface="Times New Roman"/>
              </a:rPr>
              <a:t>	</a:t>
            </a:r>
            <a:r>
              <a:rPr dirty="0" sz="900" spc="-10">
                <a:latin typeface="Times New Roman"/>
                <a:cs typeface="Times New Roman"/>
              </a:rPr>
              <a:t>Inspection,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962397" y="6733793"/>
            <a:ext cx="11576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617220">
              <a:lnSpc>
                <a:spcPct val="150000"/>
              </a:lnSpc>
              <a:spcBef>
                <a:spcPts val="100"/>
              </a:spcBef>
              <a:tabLst>
                <a:tab pos="614045" algn="l"/>
              </a:tabLst>
            </a:pPr>
            <a:r>
              <a:rPr dirty="0" sz="900" spc="-10">
                <a:latin typeface="Times New Roman"/>
                <a:cs typeface="Times New Roman"/>
              </a:rPr>
              <a:t>Continuous Delivery,</a:t>
            </a:r>
            <a:r>
              <a:rPr dirty="0" sz="900">
                <a:latin typeface="Times New Roman"/>
                <a:cs typeface="Times New Roman"/>
              </a:rPr>
              <a:t>	</a:t>
            </a:r>
            <a:r>
              <a:rPr dirty="0" sz="900" spc="-10">
                <a:latin typeface="Times New Roman"/>
                <a:cs typeface="Times New Roman"/>
              </a:rPr>
              <a:t>Continuous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451859" y="6939533"/>
            <a:ext cx="132969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  <a:tabLst>
                <a:tab pos="789305" algn="l"/>
              </a:tabLst>
            </a:pPr>
            <a:r>
              <a:rPr dirty="0" sz="900" spc="-10">
                <a:latin typeface="Times New Roman"/>
                <a:cs typeface="Times New Roman"/>
              </a:rPr>
              <a:t>Deployment,</a:t>
            </a:r>
            <a:r>
              <a:rPr dirty="0" sz="900">
                <a:latin typeface="Times New Roman"/>
                <a:cs typeface="Times New Roman"/>
              </a:rPr>
              <a:t>	</a:t>
            </a:r>
            <a:r>
              <a:rPr dirty="0" sz="900" spc="-10">
                <a:latin typeface="Times New Roman"/>
                <a:cs typeface="Times New Roman"/>
              </a:rPr>
              <a:t>Continuous Monitoring)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279647" y="7498842"/>
            <a:ext cx="17475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Case</a:t>
            </a:r>
            <a:r>
              <a:rPr dirty="0" sz="900" spc="-15">
                <a:latin typeface="Times New Roman"/>
                <a:cs typeface="Times New Roman"/>
              </a:rPr>
              <a:t> </a:t>
            </a:r>
            <a:r>
              <a:rPr dirty="0" sz="900">
                <a:latin typeface="Times New Roman"/>
                <a:cs typeface="Times New Roman"/>
              </a:rPr>
              <a:t>Study-</a:t>
            </a:r>
            <a:r>
              <a:rPr dirty="0" sz="900" spc="-30">
                <a:latin typeface="Times New Roman"/>
                <a:cs typeface="Times New Roman"/>
              </a:rPr>
              <a:t> </a:t>
            </a:r>
            <a:r>
              <a:rPr dirty="0" sz="900" spc="-10">
                <a:latin typeface="Times New Roman"/>
                <a:cs typeface="Times New Roman"/>
              </a:rPr>
              <a:t>(IBM/Facebook/NetFlix)</a:t>
            </a:r>
            <a:endParaRPr sz="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868680"/>
            <a:ext cx="6096000" cy="2433320"/>
            <a:chOff x="381000" y="868680"/>
            <a:chExt cx="6096000" cy="2433320"/>
          </a:xfrm>
        </p:grpSpPr>
        <p:sp>
          <p:nvSpPr>
            <p:cNvPr id="4" name="object 4" descr=""/>
            <p:cNvSpPr/>
            <p:nvPr/>
          </p:nvSpPr>
          <p:spPr>
            <a:xfrm>
              <a:off x="381000" y="868680"/>
              <a:ext cx="6096000" cy="2433320"/>
            </a:xfrm>
            <a:custGeom>
              <a:avLst/>
              <a:gdLst/>
              <a:ahLst/>
              <a:cxnLst/>
              <a:rect l="l" t="t" r="r" b="b"/>
              <a:pathLst>
                <a:path w="6096000" h="2433320">
                  <a:moveTo>
                    <a:pt x="6096000" y="0"/>
                  </a:moveTo>
                  <a:lnTo>
                    <a:pt x="0" y="0"/>
                  </a:lnTo>
                  <a:lnTo>
                    <a:pt x="0" y="2433193"/>
                  </a:lnTo>
                  <a:lnTo>
                    <a:pt x="6096000" y="2433193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68374" y="1802155"/>
              <a:ext cx="3776599" cy="1040612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381000" y="4844732"/>
            <a:ext cx="6096000" cy="666750"/>
            <a:chOff x="381000" y="4844732"/>
            <a:chExt cx="6096000" cy="666750"/>
          </a:xfrm>
        </p:grpSpPr>
        <p:sp>
          <p:nvSpPr>
            <p:cNvPr id="7" name="object 7" descr="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618996" y="5121528"/>
              <a:ext cx="2834640" cy="304800"/>
            </a:xfrm>
            <a:custGeom>
              <a:avLst/>
              <a:gdLst/>
              <a:ahLst/>
              <a:cxnLst/>
              <a:rect l="l" t="t" r="r" b="b"/>
              <a:pathLst>
                <a:path w="2834640" h="304800">
                  <a:moveTo>
                    <a:pt x="37338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373380" y="304800"/>
                  </a:lnTo>
                  <a:lnTo>
                    <a:pt x="373380" y="0"/>
                  </a:lnTo>
                  <a:close/>
                </a:path>
                <a:path w="2834640" h="304800">
                  <a:moveTo>
                    <a:pt x="2075688" y="0"/>
                  </a:moveTo>
                  <a:lnTo>
                    <a:pt x="1773936" y="0"/>
                  </a:lnTo>
                  <a:lnTo>
                    <a:pt x="1773936" y="304800"/>
                  </a:lnTo>
                  <a:lnTo>
                    <a:pt x="2075688" y="304800"/>
                  </a:lnTo>
                  <a:lnTo>
                    <a:pt x="2075688" y="0"/>
                  </a:lnTo>
                  <a:close/>
                </a:path>
                <a:path w="2834640" h="304800">
                  <a:moveTo>
                    <a:pt x="2834640" y="0"/>
                  </a:moveTo>
                  <a:lnTo>
                    <a:pt x="2746248" y="0"/>
                  </a:lnTo>
                  <a:lnTo>
                    <a:pt x="2746248" y="304800"/>
                  </a:lnTo>
                  <a:lnTo>
                    <a:pt x="2834640" y="304800"/>
                  </a:lnTo>
                  <a:lnTo>
                    <a:pt x="2834640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DevOps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(Development</a:t>
            </a:r>
            <a:r>
              <a:rPr dirty="0" sz="18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dirty="0" sz="18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Operations)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699922" y="5705348"/>
            <a:ext cx="5391785" cy="125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83895">
              <a:lnSpc>
                <a:spcPct val="150000"/>
              </a:lnSpc>
              <a:spcBef>
                <a:spcPts val="100"/>
              </a:spcBef>
            </a:pPr>
            <a:r>
              <a:rPr dirty="0" sz="1200" b="1">
                <a:latin typeface="Segoe UI"/>
                <a:cs typeface="Segoe UI"/>
              </a:rPr>
              <a:t>DevOps</a:t>
            </a:r>
            <a:r>
              <a:rPr dirty="0" sz="1200" spc="-4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(development</a:t>
            </a:r>
            <a:r>
              <a:rPr dirty="0" sz="1200" spc="-2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and</a:t>
            </a:r>
            <a:r>
              <a:rPr dirty="0" sz="1200" spc="-4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operations)</a:t>
            </a:r>
            <a:r>
              <a:rPr dirty="0" sz="1200" spc="-3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is</a:t>
            </a:r>
            <a:r>
              <a:rPr dirty="0" sz="1200" spc="-3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a</a:t>
            </a:r>
            <a:r>
              <a:rPr dirty="0" sz="1200" spc="-4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collection</a:t>
            </a:r>
            <a:r>
              <a:rPr dirty="0" sz="1200" spc="-2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of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tools</a:t>
            </a:r>
            <a:r>
              <a:rPr dirty="0" sz="1200" spc="-45" b="1">
                <a:latin typeface="Segoe UI"/>
                <a:cs typeface="Segoe UI"/>
              </a:rPr>
              <a:t> </a:t>
            </a:r>
            <a:r>
              <a:rPr dirty="0" sz="1200" spc="-25" b="1">
                <a:latin typeface="Segoe UI"/>
                <a:cs typeface="Segoe UI"/>
              </a:rPr>
              <a:t>and </a:t>
            </a:r>
            <a:r>
              <a:rPr dirty="0" sz="1200" b="1">
                <a:latin typeface="Segoe UI"/>
                <a:cs typeface="Segoe UI"/>
              </a:rPr>
              <a:t>technologies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combined</a:t>
            </a:r>
            <a:r>
              <a:rPr dirty="0" sz="1200" spc="-2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to</a:t>
            </a:r>
            <a:r>
              <a:rPr dirty="0" sz="1200" spc="-4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carry</a:t>
            </a:r>
            <a:r>
              <a:rPr dirty="0" sz="1200" spc="-5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out</a:t>
            </a:r>
            <a:r>
              <a:rPr dirty="0" sz="1200" spc="-3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various</a:t>
            </a:r>
            <a:r>
              <a:rPr dirty="0" sz="1200" spc="-3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business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processes.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Segoe UI"/>
                <a:cs typeface="Segoe UI"/>
              </a:rPr>
              <a:t>It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aims</a:t>
            </a:r>
            <a:r>
              <a:rPr dirty="0" sz="1200" spc="-1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to</a:t>
            </a:r>
            <a:r>
              <a:rPr dirty="0" sz="1200" spc="-3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bridge</a:t>
            </a:r>
            <a:r>
              <a:rPr dirty="0" sz="1200" spc="-2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the</a:t>
            </a:r>
            <a:r>
              <a:rPr dirty="0" sz="1200" spc="-1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gap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between</a:t>
            </a:r>
            <a:r>
              <a:rPr dirty="0" sz="1200" spc="-3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two</a:t>
            </a:r>
            <a:r>
              <a:rPr dirty="0" sz="1200" spc="-4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of</a:t>
            </a:r>
            <a:r>
              <a:rPr dirty="0" sz="1200" spc="-1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the</a:t>
            </a:r>
            <a:r>
              <a:rPr dirty="0" sz="1200" spc="-2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most</a:t>
            </a:r>
            <a:r>
              <a:rPr dirty="0" sz="1200" spc="-3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significant</a:t>
            </a:r>
            <a:r>
              <a:rPr dirty="0" sz="1200" spc="5" b="1">
                <a:latin typeface="Segoe UI"/>
                <a:cs typeface="Segoe UI"/>
              </a:rPr>
              <a:t> </a:t>
            </a:r>
            <a:r>
              <a:rPr dirty="0" sz="1200" spc="-10" b="1">
                <a:latin typeface="Segoe UI"/>
                <a:cs typeface="Segoe UI"/>
              </a:rPr>
              <a:t>departments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200" b="1">
                <a:latin typeface="Segoe UI"/>
                <a:cs typeface="Segoe UI"/>
              </a:rPr>
              <a:t>in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any</a:t>
            </a:r>
            <a:r>
              <a:rPr dirty="0" sz="1200" spc="-3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IT</a:t>
            </a:r>
            <a:r>
              <a:rPr dirty="0" sz="1200" spc="-3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organization,</a:t>
            </a:r>
            <a:r>
              <a:rPr dirty="0" sz="1200" spc="-25" b="1">
                <a:latin typeface="Segoe UI"/>
                <a:cs typeface="Segoe UI"/>
              </a:rPr>
              <a:t> the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216913" y="7182993"/>
            <a:ext cx="2566670" cy="26987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222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dirty="0" sz="1600" b="1">
                <a:latin typeface="Segoe UI"/>
                <a:cs typeface="Segoe UI"/>
              </a:rPr>
              <a:t>development</a:t>
            </a:r>
            <a:r>
              <a:rPr dirty="0" sz="1600" spc="-35" b="1">
                <a:latin typeface="Segoe UI"/>
                <a:cs typeface="Segoe UI"/>
              </a:rPr>
              <a:t> </a:t>
            </a:r>
            <a:r>
              <a:rPr dirty="0" sz="1600" spc="-10" b="1">
                <a:latin typeface="Segoe UI"/>
                <a:cs typeface="Segoe UI"/>
              </a:rPr>
              <a:t>department,</a:t>
            </a:r>
            <a:endParaRPr sz="1600">
              <a:latin typeface="Segoe UI"/>
              <a:cs typeface="Segoe U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771391" y="7243317"/>
            <a:ext cx="570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Segoe UI"/>
                <a:cs typeface="Segoe UI"/>
              </a:rPr>
              <a:t>and</a:t>
            </a:r>
            <a:r>
              <a:rPr dirty="0" sz="1200" spc="-10" b="1">
                <a:latin typeface="Segoe UI"/>
                <a:cs typeface="Segoe UI"/>
              </a:rPr>
              <a:t> </a:t>
            </a:r>
            <a:r>
              <a:rPr dirty="0" sz="1200" spc="-25" b="1">
                <a:latin typeface="Segoe UI"/>
                <a:cs typeface="Segoe UI"/>
              </a:rPr>
              <a:t>the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774442" y="7548753"/>
            <a:ext cx="2268220" cy="269875"/>
          </a:xfrm>
          <a:prstGeom prst="rect">
            <a:avLst/>
          </a:prstGeom>
          <a:solidFill>
            <a:srgbClr val="00FFFF"/>
          </a:solidFill>
        </p:spPr>
        <p:txBody>
          <a:bodyPr wrap="square" lIns="0" tIns="2222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5"/>
              </a:spcBef>
            </a:pPr>
            <a:r>
              <a:rPr dirty="0" sz="1600" b="1">
                <a:latin typeface="Segoe UI"/>
                <a:cs typeface="Segoe UI"/>
              </a:rPr>
              <a:t>operations</a:t>
            </a:r>
            <a:r>
              <a:rPr dirty="0" sz="1600" spc="-35" b="1">
                <a:latin typeface="Segoe UI"/>
                <a:cs typeface="Segoe UI"/>
              </a:rPr>
              <a:t> </a:t>
            </a:r>
            <a:r>
              <a:rPr dirty="0" sz="1600" spc="-10" b="1">
                <a:latin typeface="Segoe UI"/>
                <a:cs typeface="Segoe UI"/>
              </a:rPr>
              <a:t>department.</a:t>
            </a:r>
            <a:endParaRPr sz="16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History</a:t>
            </a:r>
            <a:r>
              <a:rPr dirty="0" sz="180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dirty="0" sz="1800" spc="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DevOps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3424" y="1676806"/>
            <a:ext cx="547624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89255">
              <a:lnSpc>
                <a:spcPct val="150000"/>
              </a:lnSpc>
              <a:spcBef>
                <a:spcPts val="100"/>
              </a:spcBef>
            </a:pPr>
            <a:r>
              <a:rPr dirty="0" sz="1000">
                <a:latin typeface="Segoe UI"/>
                <a:cs typeface="Segoe UI"/>
              </a:rPr>
              <a:t>Before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DevOps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came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into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limelight,</a:t>
            </a:r>
            <a:r>
              <a:rPr dirty="0" sz="1000" spc="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IT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had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two</a:t>
            </a:r>
            <a:r>
              <a:rPr dirty="0" sz="1000" spc="-10">
                <a:latin typeface="Segoe UI"/>
                <a:cs typeface="Segoe UI"/>
              </a:rPr>
              <a:t> separate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teams in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organization</a:t>
            </a:r>
            <a:r>
              <a:rPr dirty="0" sz="1000" spc="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–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 spc="-25">
                <a:latin typeface="Segoe UI"/>
                <a:cs typeface="Segoe UI"/>
              </a:rPr>
              <a:t>the </a:t>
            </a:r>
            <a:r>
              <a:rPr dirty="0" sz="1000">
                <a:latin typeface="Segoe UI"/>
                <a:cs typeface="Segoe UI"/>
              </a:rPr>
              <a:t>Development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4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 spc="-20">
                <a:latin typeface="Segoe UI"/>
                <a:cs typeface="Segoe UI"/>
              </a:rPr>
              <a:t>team.</a:t>
            </a:r>
            <a:endParaRPr sz="1000">
              <a:latin typeface="Segoe UI"/>
              <a:cs typeface="Segoe UI"/>
            </a:endParaRPr>
          </a:p>
          <a:p>
            <a:pPr marL="12700" marR="256540">
              <a:lnSpc>
                <a:spcPct val="150000"/>
              </a:lnSpc>
              <a:spcBef>
                <a:spcPts val="960"/>
              </a:spcBef>
            </a:pP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development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worked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on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software,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developing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it</a:t>
            </a:r>
            <a:r>
              <a:rPr dirty="0" sz="1000" spc="-4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making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sure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that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 spc="-20">
                <a:latin typeface="Segoe UI"/>
                <a:cs typeface="Segoe UI"/>
              </a:rPr>
              <a:t>code </a:t>
            </a:r>
            <a:r>
              <a:rPr dirty="0" sz="1000">
                <a:latin typeface="Segoe UI"/>
                <a:cs typeface="Segoe UI"/>
              </a:rPr>
              <a:t>worked</a:t>
            </a:r>
            <a:r>
              <a:rPr dirty="0" sz="1000" spc="-60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perfectly.</a:t>
            </a:r>
            <a:endParaRPr sz="1000">
              <a:latin typeface="Segoe UI"/>
              <a:cs typeface="Segoe UI"/>
            </a:endParaRPr>
          </a:p>
          <a:p>
            <a:pPr marL="12700" marR="72390">
              <a:lnSpc>
                <a:spcPct val="150000"/>
              </a:lnSpc>
              <a:spcBef>
                <a:spcPts val="960"/>
              </a:spcBef>
            </a:pPr>
            <a:r>
              <a:rPr dirty="0" sz="1000">
                <a:latin typeface="Segoe UI"/>
                <a:cs typeface="Segoe UI"/>
              </a:rPr>
              <a:t>After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hours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of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hard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work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lot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of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trial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error,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releases</a:t>
            </a:r>
            <a:r>
              <a:rPr dirty="0" sz="1000" spc="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that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has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to</a:t>
            </a:r>
            <a:r>
              <a:rPr dirty="0" sz="1000" spc="-25">
                <a:latin typeface="Segoe UI"/>
                <a:cs typeface="Segoe UI"/>
              </a:rPr>
              <a:t> be </a:t>
            </a:r>
            <a:r>
              <a:rPr dirty="0" sz="1000">
                <a:latin typeface="Segoe UI"/>
                <a:cs typeface="Segoe UI"/>
              </a:rPr>
              <a:t>executed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by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which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is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responsible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for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release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of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code.</a:t>
            </a:r>
            <a:endParaRPr sz="10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960"/>
              </a:spcBef>
            </a:pP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will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be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checking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application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its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performance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reporting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back</a:t>
            </a:r>
            <a:r>
              <a:rPr dirty="0" sz="1000" spc="-25">
                <a:latin typeface="Segoe UI"/>
                <a:cs typeface="Segoe UI"/>
              </a:rPr>
              <a:t> any </a:t>
            </a:r>
            <a:r>
              <a:rPr dirty="0" sz="1000">
                <a:latin typeface="Segoe UI"/>
                <a:cs typeface="Segoe UI"/>
              </a:rPr>
              <a:t>bugs, if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present.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844732"/>
            <a:ext cx="6096000" cy="3347377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81000" y="868616"/>
            <a:ext cx="6096000" cy="3429635"/>
            <a:chOff x="381000" y="868616"/>
            <a:chExt cx="6096000" cy="3429635"/>
          </a:xfrm>
        </p:grpSpPr>
        <p:sp>
          <p:nvSpPr>
            <p:cNvPr id="4" name="object 4" descr=""/>
            <p:cNvSpPr/>
            <p:nvPr/>
          </p:nvSpPr>
          <p:spPr>
            <a:xfrm>
              <a:off x="381000" y="868616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5767" y="868679"/>
              <a:ext cx="5589524" cy="3428999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18859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Before</a:t>
            </a:r>
            <a:r>
              <a:rPr dirty="0" sz="18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DevOps</a:t>
            </a:r>
            <a:r>
              <a:rPr dirty="0" sz="18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scenario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019175" y="7640446"/>
            <a:ext cx="4958080" cy="169545"/>
          </a:xfrm>
          <a:custGeom>
            <a:avLst/>
            <a:gdLst/>
            <a:ahLst/>
            <a:cxnLst/>
            <a:rect l="l" t="t" r="r" b="b"/>
            <a:pathLst>
              <a:path w="4958080" h="169545">
                <a:moveTo>
                  <a:pt x="4957572" y="0"/>
                </a:moveTo>
                <a:lnTo>
                  <a:pt x="0" y="0"/>
                </a:lnTo>
                <a:lnTo>
                  <a:pt x="0" y="169163"/>
                </a:lnTo>
                <a:lnTo>
                  <a:pt x="4957572" y="169163"/>
                </a:lnTo>
                <a:lnTo>
                  <a:pt x="4957572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56971" y="5583658"/>
            <a:ext cx="5690235" cy="2237105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705"/>
              </a:spcBef>
            </a:pPr>
            <a:r>
              <a:rPr dirty="0" sz="1000">
                <a:latin typeface="Segoe UI"/>
                <a:cs typeface="Segoe UI"/>
              </a:rPr>
              <a:t>As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simple</a:t>
            </a:r>
            <a:r>
              <a:rPr dirty="0" sz="1000" spc="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planned out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it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may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sound,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two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major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teams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always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had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conflict when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it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 spc="-20">
                <a:latin typeface="Segoe UI"/>
                <a:cs typeface="Segoe UI"/>
              </a:rPr>
              <a:t>came</a:t>
            </a:r>
            <a:endParaRPr sz="1000">
              <a:latin typeface="Segoe UI"/>
              <a:cs typeface="Segoe UI"/>
            </a:endParaRPr>
          </a:p>
          <a:p>
            <a:pPr algn="just" marL="12700">
              <a:lnSpc>
                <a:spcPct val="100000"/>
              </a:lnSpc>
              <a:spcBef>
                <a:spcPts val="600"/>
              </a:spcBef>
            </a:pPr>
            <a:r>
              <a:rPr dirty="0" sz="1000">
                <a:latin typeface="Segoe UI"/>
                <a:cs typeface="Segoe UI"/>
              </a:rPr>
              <a:t>to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execution.</a:t>
            </a:r>
            <a:endParaRPr sz="1000">
              <a:latin typeface="Segoe UI"/>
              <a:cs typeface="Segoe UI"/>
            </a:endParaRPr>
          </a:p>
          <a:p>
            <a:pPr algn="just" marL="12700" marR="14604">
              <a:lnSpc>
                <a:spcPct val="150000"/>
              </a:lnSpc>
              <a:spcBef>
                <a:spcPts val="300"/>
              </a:spcBef>
            </a:pPr>
            <a:r>
              <a:rPr dirty="0" sz="1000">
                <a:latin typeface="Segoe UI"/>
                <a:cs typeface="Segoe UI"/>
              </a:rPr>
              <a:t>For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instance,</a:t>
            </a:r>
            <a:r>
              <a:rPr dirty="0" sz="1000" spc="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let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us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say,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development team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developed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using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i7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processor,</a:t>
            </a:r>
            <a:r>
              <a:rPr dirty="0" sz="1000">
                <a:latin typeface="Segoe UI"/>
                <a:cs typeface="Segoe UI"/>
              </a:rPr>
              <a:t> 8GB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RAM,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 spc="-25">
                <a:latin typeface="Segoe UI"/>
                <a:cs typeface="Segoe UI"/>
              </a:rPr>
              <a:t>OS </a:t>
            </a:r>
            <a:r>
              <a:rPr dirty="0" sz="1000">
                <a:latin typeface="Segoe UI"/>
                <a:cs typeface="Segoe UI"/>
              </a:rPr>
              <a:t>as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Ubuntu,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PHP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5.6</a:t>
            </a:r>
            <a:r>
              <a:rPr dirty="0" sz="1000" spc="-4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scripting</a:t>
            </a:r>
            <a:r>
              <a:rPr dirty="0" sz="1000" spc="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language, whereas 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ran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same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using </a:t>
            </a:r>
            <a:r>
              <a:rPr dirty="0" sz="1000" spc="-25">
                <a:latin typeface="Segoe UI"/>
                <a:cs typeface="Segoe UI"/>
              </a:rPr>
              <a:t>i5 </a:t>
            </a:r>
            <a:r>
              <a:rPr dirty="0" sz="1000" spc="-10">
                <a:latin typeface="Segoe UI"/>
                <a:cs typeface="Segoe UI"/>
              </a:rPr>
              <a:t>processor, </a:t>
            </a:r>
            <a:r>
              <a:rPr dirty="0" sz="1000">
                <a:latin typeface="Segoe UI"/>
                <a:cs typeface="Segoe UI"/>
              </a:rPr>
              <a:t>16GB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RAM,</a:t>
            </a:r>
            <a:r>
              <a:rPr dirty="0" sz="1000" spc="-4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OS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as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Centos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PHP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7.0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programming </a:t>
            </a:r>
            <a:r>
              <a:rPr dirty="0" sz="1000" spc="-10">
                <a:latin typeface="Segoe UI"/>
                <a:cs typeface="Segoe UI"/>
              </a:rPr>
              <a:t>language.</a:t>
            </a:r>
            <a:endParaRPr sz="1000">
              <a:latin typeface="Segoe UI"/>
              <a:cs typeface="Segoe UI"/>
            </a:endParaRPr>
          </a:p>
          <a:p>
            <a:pPr algn="just" marL="12700">
              <a:lnSpc>
                <a:spcPct val="100000"/>
              </a:lnSpc>
              <a:spcBef>
                <a:spcPts val="900"/>
              </a:spcBef>
            </a:pPr>
            <a:r>
              <a:rPr dirty="0" sz="1000">
                <a:latin typeface="Segoe UI"/>
                <a:cs typeface="Segoe UI"/>
              </a:rPr>
              <a:t>When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ran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same code,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it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wouldn’t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work.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reason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for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this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could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be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difference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in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system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environment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or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any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missing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software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library.</a:t>
            </a:r>
            <a:endParaRPr sz="1000">
              <a:latin typeface="Segoe UI"/>
              <a:cs typeface="Segoe UI"/>
            </a:endParaRPr>
          </a:p>
          <a:p>
            <a:pPr marL="12700" marR="183515">
              <a:lnSpc>
                <a:spcPct val="150000"/>
              </a:lnSpc>
              <a:spcBef>
                <a:spcPts val="305"/>
              </a:spcBef>
            </a:pP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flagged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this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as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faulty,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even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though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problem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could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exist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in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their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 spc="-25">
                <a:latin typeface="Segoe UI"/>
                <a:cs typeface="Segoe UI"/>
              </a:rPr>
              <a:t>own </a:t>
            </a:r>
            <a:r>
              <a:rPr dirty="0" sz="1000">
                <a:latin typeface="Segoe UI"/>
                <a:cs typeface="Segoe UI"/>
              </a:rPr>
              <a:t>system.</a:t>
            </a:r>
            <a:r>
              <a:rPr dirty="0" sz="1000" spc="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This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resulted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in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lot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of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back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forth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between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Developers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team.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After</a:t>
            </a:r>
            <a:r>
              <a:rPr dirty="0" sz="1800" spc="-2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DevOps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8941" y="1759330"/>
            <a:ext cx="5492750" cy="16954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latin typeface="Segoe UI"/>
                <a:cs typeface="Segoe UI"/>
              </a:rPr>
              <a:t>To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bridge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this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gap,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Development(‘Dev’)</a:t>
            </a:r>
            <a:r>
              <a:rPr dirty="0" sz="1000" spc="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(‘Ops’)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collaborated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giving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 spc="-20">
                <a:latin typeface="Segoe UI"/>
                <a:cs typeface="Segoe UI"/>
              </a:rPr>
              <a:t>rise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28941" y="1987930"/>
            <a:ext cx="617220" cy="169545"/>
          </a:xfrm>
          <a:prstGeom prst="rect">
            <a:avLst/>
          </a:prstGeom>
          <a:solidFill>
            <a:srgbClr val="FFFF00"/>
          </a:solidFill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000">
                <a:latin typeface="Segoe UI"/>
                <a:cs typeface="Segoe UI"/>
              </a:rPr>
              <a:t>to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DevOps.</a:t>
            </a:r>
            <a:endParaRPr sz="1000">
              <a:latin typeface="Segoe UI"/>
              <a:cs typeface="Segoe U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6381" y="2262100"/>
            <a:ext cx="5454650" cy="1993264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>
                <a:latin typeface="Segoe UI"/>
                <a:cs typeface="Segoe UI"/>
              </a:rPr>
              <a:t>For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example, to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solve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above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problem,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Development</a:t>
            </a:r>
            <a:r>
              <a:rPr dirty="0" sz="1000" spc="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team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encapsulated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their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in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 spc="-50">
                <a:latin typeface="Segoe UI"/>
                <a:cs typeface="Segoe UI"/>
              </a:rPr>
              <a:t>a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000">
                <a:latin typeface="Segoe UI"/>
                <a:cs typeface="Segoe UI"/>
              </a:rPr>
              <a:t>container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which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is</a:t>
            </a:r>
            <a:r>
              <a:rPr dirty="0" sz="1000" spc="-4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lightweight software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environment.</a:t>
            </a:r>
            <a:endParaRPr sz="10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960"/>
              </a:spcBef>
            </a:pPr>
            <a:r>
              <a:rPr dirty="0" sz="1000">
                <a:latin typeface="Segoe UI"/>
                <a:cs typeface="Segoe UI"/>
              </a:rPr>
              <a:t>This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software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environment</a:t>
            </a:r>
            <a:r>
              <a:rPr dirty="0" sz="1000" spc="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had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all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required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software</a:t>
            </a:r>
            <a:r>
              <a:rPr dirty="0" sz="1000" spc="-10">
                <a:latin typeface="Segoe UI"/>
                <a:cs typeface="Segoe UI"/>
              </a:rPr>
              <a:t> encapsulated</a:t>
            </a:r>
            <a:r>
              <a:rPr dirty="0" sz="1000" spc="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in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it,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which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or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 spc="-25">
                <a:latin typeface="Segoe UI"/>
                <a:cs typeface="Segoe UI"/>
              </a:rPr>
              <a:t>the </a:t>
            </a:r>
            <a:r>
              <a:rPr dirty="0" sz="1000">
                <a:latin typeface="Segoe UI"/>
                <a:cs typeface="Segoe UI"/>
              </a:rPr>
              <a:t>application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will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require to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run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as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expected.</a:t>
            </a:r>
            <a:endParaRPr sz="1000">
              <a:latin typeface="Segoe UI"/>
              <a:cs typeface="Segoe UI"/>
            </a:endParaRPr>
          </a:p>
          <a:p>
            <a:pPr marL="12700" marR="47625">
              <a:lnSpc>
                <a:spcPct val="150000"/>
              </a:lnSpc>
              <a:spcBef>
                <a:spcPts val="960"/>
              </a:spcBef>
            </a:pPr>
            <a:r>
              <a:rPr dirty="0" sz="1000">
                <a:latin typeface="Segoe UI"/>
                <a:cs typeface="Segoe UI"/>
              </a:rPr>
              <a:t>When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developers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were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done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with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their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work,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they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would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simply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pass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on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this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container</a:t>
            </a:r>
            <a:r>
              <a:rPr dirty="0" sz="1000" spc="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along </a:t>
            </a:r>
            <a:r>
              <a:rPr dirty="0" sz="1000">
                <a:latin typeface="Segoe UI"/>
                <a:cs typeface="Segoe UI"/>
              </a:rPr>
              <a:t>with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to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operations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 spc="-20">
                <a:latin typeface="Segoe UI"/>
                <a:cs typeface="Segoe UI"/>
              </a:rPr>
              <a:t>team.</a:t>
            </a:r>
            <a:endParaRPr sz="10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Ops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will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run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this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container,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along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with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the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it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worked as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expected!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0897" y="2294348"/>
            <a:ext cx="437637" cy="385351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1282" y="3668991"/>
            <a:ext cx="857288" cy="58804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dirty="0" sz="180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DevOps?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10" name="object 10" descr=""/>
          <p:cNvSpPr txBox="1"/>
          <p:nvPr/>
        </p:nvSpPr>
        <p:spPr>
          <a:xfrm>
            <a:off x="872134" y="5687669"/>
            <a:ext cx="5090795" cy="2156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dirty="0" sz="1100">
                <a:latin typeface="Segoe UI"/>
                <a:cs typeface="Segoe UI"/>
              </a:rPr>
              <a:t>DevOps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is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not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tool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or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team,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it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is</a:t>
            </a:r>
            <a:r>
              <a:rPr dirty="0" sz="1100" spc="-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process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or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</a:t>
            </a:r>
            <a:r>
              <a:rPr dirty="0" sz="1100" spc="-10">
                <a:latin typeface="Segoe UI"/>
                <a:cs typeface="Segoe UI"/>
              </a:rPr>
              <a:t> methodology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of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using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various </a:t>
            </a:r>
            <a:r>
              <a:rPr dirty="0" sz="1100">
                <a:latin typeface="Segoe UI"/>
                <a:cs typeface="Segoe UI"/>
              </a:rPr>
              <a:t>tools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to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solve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problems</a:t>
            </a:r>
            <a:r>
              <a:rPr dirty="0" sz="1100" spc="-5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between</a:t>
            </a:r>
            <a:r>
              <a:rPr dirty="0" sz="1100" spc="-4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Developers</a:t>
            </a:r>
            <a:r>
              <a:rPr dirty="0" sz="1100" spc="-4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and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Operations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team,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hence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 spc="-25">
                <a:latin typeface="Segoe UI"/>
                <a:cs typeface="Segoe UI"/>
              </a:rPr>
              <a:t>the </a:t>
            </a:r>
            <a:r>
              <a:rPr dirty="0" sz="1100">
                <a:latin typeface="Segoe UI"/>
                <a:cs typeface="Segoe UI"/>
              </a:rPr>
              <a:t>term</a:t>
            </a:r>
            <a:r>
              <a:rPr dirty="0" sz="1100" spc="-5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“Dev-</a:t>
            </a:r>
            <a:r>
              <a:rPr dirty="0" sz="1100" spc="-20">
                <a:latin typeface="Segoe UI"/>
                <a:cs typeface="Segoe UI"/>
              </a:rPr>
              <a:t>Ops”</a:t>
            </a:r>
            <a:endParaRPr sz="1100">
              <a:latin typeface="Segoe UI"/>
              <a:cs typeface="Segoe UI"/>
            </a:endParaRPr>
          </a:p>
          <a:p>
            <a:pPr marL="12700" marR="47625">
              <a:lnSpc>
                <a:spcPct val="140100"/>
              </a:lnSpc>
              <a:spcBef>
                <a:spcPts val="990"/>
              </a:spcBef>
            </a:pP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development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team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always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had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pressure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of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completing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old,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pending </a:t>
            </a:r>
            <a:r>
              <a:rPr dirty="0" sz="1100">
                <a:latin typeface="Segoe UI"/>
                <a:cs typeface="Segoe UI"/>
              </a:rPr>
              <a:t>work</a:t>
            </a:r>
            <a:r>
              <a:rPr dirty="0" sz="1100" spc="-4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that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was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considered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faulty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by</a:t>
            </a:r>
            <a:r>
              <a:rPr dirty="0" sz="1100" spc="-4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operations</a:t>
            </a:r>
            <a:r>
              <a:rPr dirty="0" sz="1100" spc="-4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team.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With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DevOps,</a:t>
            </a:r>
            <a:r>
              <a:rPr dirty="0" sz="1100" spc="-5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there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is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 spc="-25">
                <a:latin typeface="Segoe UI"/>
                <a:cs typeface="Segoe UI"/>
              </a:rPr>
              <a:t>no </a:t>
            </a:r>
            <a:r>
              <a:rPr dirty="0" sz="1100">
                <a:latin typeface="Segoe UI"/>
                <a:cs typeface="Segoe UI"/>
              </a:rPr>
              <a:t>wait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time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to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deploy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code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and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get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it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tested.</a:t>
            </a:r>
            <a:endParaRPr sz="1100">
              <a:latin typeface="Segoe UI"/>
              <a:cs typeface="Segoe UI"/>
            </a:endParaRPr>
          </a:p>
          <a:p>
            <a:pPr marL="12700" marR="28575">
              <a:lnSpc>
                <a:spcPct val="140000"/>
              </a:lnSpc>
              <a:spcBef>
                <a:spcPts val="1000"/>
              </a:spcBef>
            </a:pPr>
            <a:r>
              <a:rPr dirty="0" sz="1100">
                <a:latin typeface="Segoe UI"/>
                <a:cs typeface="Segoe UI"/>
              </a:rPr>
              <a:t>Hence,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developer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gets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instantaneous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feedback</a:t>
            </a:r>
            <a:r>
              <a:rPr dirty="0" sz="1100" spc="-4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on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code,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and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therefore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 spc="-25">
                <a:latin typeface="Segoe UI"/>
                <a:cs typeface="Segoe UI"/>
              </a:rPr>
              <a:t>can </a:t>
            </a:r>
            <a:r>
              <a:rPr dirty="0" sz="1100">
                <a:latin typeface="Segoe UI"/>
                <a:cs typeface="Segoe UI"/>
              </a:rPr>
              <a:t>close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bugs,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and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can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make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code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production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ready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faster!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9906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80"/>
              </a:spcBef>
            </a:pPr>
            <a:endParaRPr sz="16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DevOps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6945" y="1649349"/>
            <a:ext cx="5464175" cy="221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It</a:t>
            </a:r>
            <a:r>
              <a:rPr dirty="0" sz="1200" spc="-30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is</a:t>
            </a:r>
            <a:r>
              <a:rPr dirty="0" sz="1200" spc="-20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a</a:t>
            </a:r>
            <a:r>
              <a:rPr dirty="0" sz="1200" spc="-15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Segoe UI"/>
                <a:cs typeface="Segoe UI"/>
              </a:rPr>
              <a:t>philosophy</a:t>
            </a:r>
            <a:r>
              <a:rPr dirty="0" sz="1200" spc="-5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that</a:t>
            </a:r>
            <a:r>
              <a:rPr dirty="0" sz="1200" spc="-25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encourages</a:t>
            </a:r>
            <a:r>
              <a:rPr dirty="0" sz="1200" spc="-20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adopting</a:t>
            </a:r>
            <a:r>
              <a:rPr dirty="0" sz="1200" spc="-20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iterative</a:t>
            </a:r>
            <a:r>
              <a:rPr dirty="0" sz="1200" spc="-10" b="1">
                <a:solidFill>
                  <a:srgbClr val="FF0000"/>
                </a:solidFill>
                <a:latin typeface="Segoe UI"/>
                <a:cs typeface="Segoe UI"/>
              </a:rPr>
              <a:t> software</a:t>
            </a:r>
            <a:r>
              <a:rPr dirty="0" sz="1200" spc="-25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spc="-10" b="1">
                <a:solidFill>
                  <a:srgbClr val="FF0000"/>
                </a:solidFill>
                <a:latin typeface="Segoe UI"/>
                <a:cs typeface="Segoe UI"/>
              </a:rPr>
              <a:t>development, automation,</a:t>
            </a:r>
            <a:r>
              <a:rPr dirty="0" sz="1200" spc="-25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and</a:t>
            </a:r>
            <a:r>
              <a:rPr dirty="0" sz="1200" spc="-35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programmable</a:t>
            </a:r>
            <a:r>
              <a:rPr dirty="0" sz="1200" spc="-45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infrastructure</a:t>
            </a:r>
            <a:r>
              <a:rPr dirty="0" sz="1200" spc="-25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b="1">
                <a:solidFill>
                  <a:srgbClr val="FF0000"/>
                </a:solidFill>
                <a:latin typeface="Segoe UI"/>
                <a:cs typeface="Segoe UI"/>
              </a:rPr>
              <a:t>deployment</a:t>
            </a:r>
            <a:r>
              <a:rPr dirty="0" sz="1200" spc="-10" b="1">
                <a:solidFill>
                  <a:srgbClr val="FF0000"/>
                </a:solidFill>
                <a:latin typeface="Segoe UI"/>
                <a:cs typeface="Segoe UI"/>
              </a:rPr>
              <a:t> </a:t>
            </a:r>
            <a:r>
              <a:rPr dirty="0" sz="1200" spc="-25" b="1">
                <a:solidFill>
                  <a:srgbClr val="FF0000"/>
                </a:solidFill>
                <a:latin typeface="Segoe UI"/>
                <a:cs typeface="Segoe UI"/>
              </a:rPr>
              <a:t>and </a:t>
            </a:r>
            <a:r>
              <a:rPr dirty="0" sz="1200" spc="-10" b="1">
                <a:solidFill>
                  <a:srgbClr val="FF0000"/>
                </a:solidFill>
                <a:latin typeface="Segoe UI"/>
                <a:cs typeface="Segoe UI"/>
              </a:rPr>
              <a:t>maintenance.</a:t>
            </a:r>
            <a:endParaRPr sz="1200">
              <a:latin typeface="Segoe UI"/>
              <a:cs typeface="Segoe UI"/>
            </a:endParaRPr>
          </a:p>
          <a:p>
            <a:pPr marL="12700" marR="13335">
              <a:lnSpc>
                <a:spcPct val="130000"/>
              </a:lnSpc>
              <a:spcBef>
                <a:spcPts val="1010"/>
              </a:spcBef>
            </a:pPr>
            <a:r>
              <a:rPr dirty="0" sz="1100">
                <a:latin typeface="Segoe UI"/>
                <a:cs typeface="Segoe UI"/>
              </a:rPr>
              <a:t>DevOps</a:t>
            </a:r>
            <a:r>
              <a:rPr dirty="0" sz="1100" spc="-4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emphasizes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building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trust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and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better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liasioning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between</a:t>
            </a:r>
            <a:r>
              <a:rPr dirty="0" sz="1100" spc="-4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developers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and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system administrators.</a:t>
            </a:r>
            <a:endParaRPr sz="11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dirty="0" sz="1100">
                <a:latin typeface="Segoe UI"/>
                <a:cs typeface="Segoe UI"/>
              </a:rPr>
              <a:t>This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helps</a:t>
            </a:r>
            <a:r>
              <a:rPr dirty="0" sz="1100" spc="-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organization</a:t>
            </a:r>
            <a:r>
              <a:rPr dirty="0" sz="1100" spc="-2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in</a:t>
            </a:r>
            <a:r>
              <a:rPr dirty="0" sz="1100" spc="-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aligning </a:t>
            </a:r>
            <a:r>
              <a:rPr dirty="0" sz="1100" spc="-10">
                <a:latin typeface="Segoe UI"/>
                <a:cs typeface="Segoe UI"/>
              </a:rPr>
              <a:t>technological</a:t>
            </a:r>
            <a:r>
              <a:rPr dirty="0" sz="1100" spc="-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projects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to</a:t>
            </a:r>
            <a:r>
              <a:rPr dirty="0" sz="1100" spc="-1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business</a:t>
            </a:r>
            <a:r>
              <a:rPr dirty="0" sz="1100" spc="-15">
                <a:latin typeface="Segoe UI"/>
                <a:cs typeface="Segoe UI"/>
              </a:rPr>
              <a:t> </a:t>
            </a:r>
            <a:r>
              <a:rPr dirty="0" sz="1100" spc="-10">
                <a:latin typeface="Segoe UI"/>
                <a:cs typeface="Segoe UI"/>
              </a:rPr>
              <a:t>requirements.</a:t>
            </a:r>
            <a:endParaRPr sz="1100">
              <a:latin typeface="Segoe UI"/>
              <a:cs typeface="Segoe UI"/>
            </a:endParaRPr>
          </a:p>
          <a:p>
            <a:pPr marL="12700" marR="304165">
              <a:lnSpc>
                <a:spcPct val="130000"/>
              </a:lnSpc>
              <a:spcBef>
                <a:spcPts val="994"/>
              </a:spcBef>
            </a:pPr>
            <a:r>
              <a:rPr dirty="0" sz="1100">
                <a:latin typeface="Segoe UI"/>
                <a:cs typeface="Segoe UI"/>
              </a:rPr>
              <a:t>Changes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rolled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out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are</a:t>
            </a:r>
            <a:r>
              <a:rPr dirty="0" sz="1100" spc="-4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usually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small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and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reversible,</a:t>
            </a:r>
            <a:r>
              <a:rPr dirty="0" sz="1100" spc="-4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which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the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entire</a:t>
            </a:r>
            <a:r>
              <a:rPr dirty="0" sz="1100" spc="-35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team</a:t>
            </a:r>
            <a:r>
              <a:rPr dirty="0" sz="1100" spc="-20">
                <a:latin typeface="Segoe UI"/>
                <a:cs typeface="Segoe UI"/>
              </a:rPr>
              <a:t> </a:t>
            </a:r>
            <a:r>
              <a:rPr dirty="0" sz="1100">
                <a:latin typeface="Segoe UI"/>
                <a:cs typeface="Segoe UI"/>
              </a:rPr>
              <a:t>begins</a:t>
            </a:r>
            <a:r>
              <a:rPr dirty="0" sz="1100" spc="-30">
                <a:latin typeface="Segoe UI"/>
                <a:cs typeface="Segoe UI"/>
              </a:rPr>
              <a:t> </a:t>
            </a:r>
            <a:r>
              <a:rPr dirty="0" sz="1100" spc="-25">
                <a:latin typeface="Segoe UI"/>
                <a:cs typeface="Segoe UI"/>
              </a:rPr>
              <a:t>to </a:t>
            </a:r>
            <a:r>
              <a:rPr dirty="0" sz="1100" spc="-10">
                <a:latin typeface="Segoe UI"/>
                <a:cs typeface="Segoe UI"/>
              </a:rPr>
              <a:t>comprehend.</a:t>
            </a:r>
            <a:endParaRPr sz="1100">
              <a:latin typeface="Segoe UI"/>
              <a:cs typeface="Segoe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infinite</a:t>
            </a:r>
            <a:r>
              <a:rPr dirty="0" sz="1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Segoe UI Light"/>
                <a:cs typeface="Segoe UI Light"/>
              </a:rPr>
              <a:t>Loop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74319" y="5672686"/>
            <a:ext cx="5136515" cy="48387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000">
                <a:latin typeface="Segoe UI"/>
                <a:cs typeface="Segoe UI"/>
              </a:rPr>
              <a:t>DevOps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is</a:t>
            </a:r>
            <a:r>
              <a:rPr dirty="0" sz="1000" spc="-3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visualized</a:t>
            </a:r>
            <a:r>
              <a:rPr dirty="0" sz="1000" spc="-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as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</a:t>
            </a:r>
            <a:r>
              <a:rPr dirty="0" sz="1000" spc="-3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infinite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loop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comprising the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steps:</a:t>
            </a:r>
            <a:r>
              <a:rPr dirty="0" sz="1000" spc="1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plan,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code,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build,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test,</a:t>
            </a:r>
            <a:r>
              <a:rPr dirty="0" sz="1000" spc="-10">
                <a:latin typeface="Segoe UI"/>
                <a:cs typeface="Segoe UI"/>
              </a:rPr>
              <a:t> release,</a:t>
            </a:r>
            <a:endParaRPr sz="10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000" spc="-10">
                <a:latin typeface="Segoe UI"/>
                <a:cs typeface="Segoe UI"/>
              </a:rPr>
              <a:t>deploy,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operate,</a:t>
            </a:r>
            <a:r>
              <a:rPr dirty="0" sz="1000" spc="-5">
                <a:latin typeface="Segoe UI"/>
                <a:cs typeface="Segoe UI"/>
              </a:rPr>
              <a:t> </a:t>
            </a:r>
            <a:r>
              <a:rPr dirty="0" sz="1000" spc="-10">
                <a:latin typeface="Segoe UI"/>
                <a:cs typeface="Segoe UI"/>
              </a:rPr>
              <a:t>monitor,</a:t>
            </a:r>
            <a:r>
              <a:rPr dirty="0" sz="1000">
                <a:latin typeface="Segoe UI"/>
                <a:cs typeface="Segoe UI"/>
              </a:rPr>
              <a:t> then back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to</a:t>
            </a:r>
            <a:r>
              <a:rPr dirty="0" sz="1000" spc="-2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plan,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and</a:t>
            </a:r>
            <a:r>
              <a:rPr dirty="0" sz="1000" spc="-15">
                <a:latin typeface="Segoe UI"/>
                <a:cs typeface="Segoe UI"/>
              </a:rPr>
              <a:t> </a:t>
            </a:r>
            <a:r>
              <a:rPr dirty="0" sz="1000">
                <a:latin typeface="Segoe UI"/>
                <a:cs typeface="Segoe UI"/>
              </a:rPr>
              <a:t>so</a:t>
            </a:r>
            <a:r>
              <a:rPr dirty="0" sz="1000" spc="-20">
                <a:latin typeface="Segoe UI"/>
                <a:cs typeface="Segoe UI"/>
              </a:rPr>
              <a:t> </a:t>
            </a:r>
            <a:r>
              <a:rPr dirty="0" sz="1000" spc="-25">
                <a:latin typeface="Segoe UI"/>
                <a:cs typeface="Segoe UI"/>
              </a:rPr>
              <a:t>on.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5970" y="6214376"/>
            <a:ext cx="3017774" cy="1848739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68616"/>
            <a:ext cx="6096000" cy="3429063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381000" y="4844732"/>
            <a:ext cx="6096000" cy="3429635"/>
            <a:chOff x="381000" y="4844732"/>
            <a:chExt cx="6096000" cy="3429635"/>
          </a:xfrm>
        </p:grpSpPr>
        <p:sp>
          <p:nvSpPr>
            <p:cNvPr id="5" name="object 5" descr="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4844796"/>
              <a:ext cx="2424049" cy="3429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76676" y="4844796"/>
              <a:ext cx="2584450" cy="17475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08423" y="6673850"/>
              <a:ext cx="1961769" cy="147294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158239" y="1630629"/>
            <a:ext cx="5318760" cy="2538095"/>
            <a:chOff x="1158239" y="1630629"/>
            <a:chExt cx="5318760" cy="253809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4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8239" y="1630629"/>
              <a:ext cx="2601087" cy="103865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3479" y="2699257"/>
              <a:ext cx="2585847" cy="1427480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5" name="object 15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17321" y="937641"/>
            <a:ext cx="395351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8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Evolution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of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DevOps-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75" b="1">
                <a:latin typeface="Arial"/>
                <a:cs typeface="Arial"/>
              </a:rPr>
              <a:t>Define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the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stages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980"/>
              </a:lnSpc>
            </a:pPr>
            <a:r>
              <a:rPr dirty="0" sz="1800" spc="-35" b="1">
                <a:latin typeface="Arial"/>
                <a:cs typeface="Arial"/>
              </a:rPr>
              <a:t>of</a:t>
            </a:r>
            <a:r>
              <a:rPr dirty="0" sz="1800" spc="-1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</a:t>
            </a:r>
            <a:r>
              <a:rPr dirty="0" sz="1800" spc="-160" b="1">
                <a:latin typeface="Arial"/>
                <a:cs typeface="Arial"/>
              </a:rPr>
              <a:t> </a:t>
            </a:r>
            <a:r>
              <a:rPr dirty="0" sz="1800" spc="-70" b="1">
                <a:latin typeface="Arial"/>
                <a:cs typeface="Arial"/>
              </a:rPr>
              <a:t>DevOps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evolution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79290" y="1630743"/>
            <a:ext cx="1598549" cy="101530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2" name="object 22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30" name="object 30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617321" y="4914646"/>
            <a:ext cx="3953510" cy="52832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459"/>
              </a:spcBef>
            </a:pPr>
            <a:r>
              <a:rPr dirty="0" sz="1800" spc="-80" b="1">
                <a:latin typeface="Arial"/>
                <a:cs typeface="Arial"/>
              </a:rPr>
              <a:t>Evolution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of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DevOps-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75" b="1">
                <a:latin typeface="Arial"/>
                <a:cs typeface="Arial"/>
              </a:rPr>
              <a:t>Define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the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40" b="1">
                <a:latin typeface="Arial"/>
                <a:cs typeface="Arial"/>
              </a:rPr>
              <a:t>stages </a:t>
            </a:r>
            <a:r>
              <a:rPr dirty="0" sz="1800" spc="-50" b="1">
                <a:latin typeface="Arial"/>
                <a:cs typeface="Arial"/>
              </a:rPr>
              <a:t>of</a:t>
            </a:r>
            <a:r>
              <a:rPr dirty="0" sz="1800" spc="-1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</a:t>
            </a:r>
            <a:r>
              <a:rPr dirty="0" sz="1800" spc="-145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DevOps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evolution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1287780" y="5606796"/>
            <a:ext cx="4122420" cy="2432685"/>
            <a:chOff x="1287780" y="5606796"/>
            <a:chExt cx="4122420" cy="2432685"/>
          </a:xfrm>
        </p:grpSpPr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87780" y="5606796"/>
              <a:ext cx="4122420" cy="224345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6550" y="7557389"/>
              <a:ext cx="1009650" cy="481520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95800" y="7552270"/>
              <a:ext cx="880986" cy="487172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34709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DevOps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practices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in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organizations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4048" y="1732660"/>
            <a:ext cx="3424177" cy="2043112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321" y="5028946"/>
            <a:ext cx="1280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 b="1">
                <a:latin typeface="Arial"/>
                <a:cs typeface="Arial"/>
              </a:rPr>
              <a:t>The</a:t>
            </a:r>
            <a:r>
              <a:rPr dirty="0" sz="1800" spc="-155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Practice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45755" y="5884726"/>
            <a:ext cx="4289204" cy="1707467"/>
          </a:xfrm>
          <a:prstGeom prst="rect">
            <a:avLst/>
          </a:prstGeom>
        </p:spPr>
      </p:pic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1335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How</a:t>
            </a:r>
            <a:r>
              <a:rPr dirty="0" sz="1800" spc="-140" b="1">
                <a:latin typeface="Arial"/>
                <a:cs typeface="Arial"/>
              </a:rPr>
              <a:t> </a:t>
            </a:r>
            <a:r>
              <a:rPr dirty="0" sz="1800" spc="-45" b="1">
                <a:latin typeface="Arial"/>
                <a:cs typeface="Arial"/>
              </a:rPr>
              <a:t>it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40" b="1">
                <a:latin typeface="Arial"/>
                <a:cs typeface="Arial"/>
              </a:rPr>
              <a:t>works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2535" y="1642236"/>
            <a:ext cx="3805175" cy="220980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321" y="5028946"/>
            <a:ext cx="183451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Agile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spc="-65" b="1">
                <a:latin typeface="Arial"/>
                <a:cs typeface="Arial"/>
              </a:rPr>
              <a:t>and</a:t>
            </a:r>
            <a:r>
              <a:rPr dirty="0" sz="1800" spc="-130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DevOps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2608" y="5644832"/>
            <a:ext cx="4197604" cy="2375280"/>
          </a:xfrm>
          <a:prstGeom prst="rect">
            <a:avLst/>
          </a:prstGeom>
        </p:spPr>
      </p:pic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407160"/>
            <a:ext cx="6043295" cy="2413000"/>
            <a:chOff x="381000" y="1407160"/>
            <a:chExt cx="6043295" cy="2413000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1407160"/>
              <a:ext cx="6042787" cy="241300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617321" y="1051941"/>
            <a:ext cx="183451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Agile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 spc="-65" b="1">
                <a:latin typeface="Arial"/>
                <a:cs typeface="Arial"/>
              </a:rPr>
              <a:t>and</a:t>
            </a:r>
            <a:r>
              <a:rPr dirty="0" sz="1800" spc="-130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DevOps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4844732"/>
            <a:ext cx="6096000" cy="3382822"/>
          </a:xfrm>
          <a:prstGeom prst="rect">
            <a:avLst/>
          </a:prstGeom>
        </p:spPr>
      </p:pic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1.BUILD</a:t>
            </a:r>
            <a:r>
              <a:rPr dirty="0" sz="18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AUTOMATION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3424" y="1753869"/>
            <a:ext cx="5106035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200">
                <a:latin typeface="Segoe UI"/>
                <a:cs typeface="Segoe UI"/>
              </a:rPr>
              <a:t>An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automated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code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prepared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deployed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live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environment</a:t>
            </a:r>
            <a:r>
              <a:rPr dirty="0" sz="1200" spc="-4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where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tool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used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tied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programming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language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chosen.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makes</a:t>
            </a:r>
            <a:r>
              <a:rPr dirty="0" sz="1200" spc="-4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4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whole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process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 spc="-20">
                <a:latin typeface="Segoe UI"/>
                <a:cs typeface="Segoe UI"/>
              </a:rPr>
              <a:t>faster,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consistent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more</a:t>
            </a:r>
            <a:r>
              <a:rPr dirty="0" sz="1200" spc="-4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repeatable.</a:t>
            </a:r>
            <a:endParaRPr sz="1200">
              <a:latin typeface="Segoe UI"/>
              <a:cs typeface="Segoe UI"/>
            </a:endParaRPr>
          </a:p>
          <a:p>
            <a:pPr marL="12700" marR="144780">
              <a:lnSpc>
                <a:spcPct val="150000"/>
              </a:lnSpc>
              <a:spcBef>
                <a:spcPts val="1035"/>
              </a:spcBef>
            </a:pPr>
            <a:r>
              <a:rPr dirty="0" sz="1200">
                <a:latin typeface="Segoe UI"/>
                <a:cs typeface="Segoe UI"/>
              </a:rPr>
              <a:t>Further,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it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also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ensures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that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your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process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more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reliable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than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any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manual build.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996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6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2.</a:t>
            </a:r>
            <a:r>
              <a:rPr dirty="0" sz="16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CI/</a:t>
            </a:r>
            <a:r>
              <a:rPr dirty="0" sz="1600" spc="-6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CD</a:t>
            </a:r>
            <a:r>
              <a:rPr dirty="0" sz="16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dirty="0" sz="16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Continuous</a:t>
            </a:r>
            <a:r>
              <a:rPr dirty="0" sz="1600" spc="-4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Integration</a:t>
            </a:r>
            <a:r>
              <a:rPr dirty="0" sz="1600" spc="-1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dirty="0" sz="16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>
                <a:solidFill>
                  <a:srgbClr val="FFFFFF"/>
                </a:solidFill>
                <a:latin typeface="Segoe UI Light"/>
                <a:cs typeface="Segoe UI Light"/>
              </a:rPr>
              <a:t>Continuous</a:t>
            </a:r>
            <a:r>
              <a:rPr dirty="0" sz="16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Segoe UI Light"/>
                <a:cs typeface="Segoe UI Light"/>
              </a:rPr>
              <a:t>Deployment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3424" y="5730239"/>
            <a:ext cx="5222875" cy="220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53060">
              <a:lnSpc>
                <a:spcPct val="150200"/>
              </a:lnSpc>
              <a:spcBef>
                <a:spcPts val="100"/>
              </a:spcBef>
            </a:pPr>
            <a:r>
              <a:rPr dirty="0" sz="1200">
                <a:latin typeface="Segoe UI"/>
                <a:cs typeface="Segoe UI"/>
              </a:rPr>
              <a:t>CI/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CD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–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Continuous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Integration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Continuous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Deployment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deals</a:t>
            </a:r>
            <a:r>
              <a:rPr dirty="0" sz="1200" spc="-20">
                <a:latin typeface="Segoe UI"/>
                <a:cs typeface="Segoe UI"/>
              </a:rPr>
              <a:t> with </a:t>
            </a:r>
            <a:r>
              <a:rPr dirty="0" sz="1200">
                <a:latin typeface="Segoe UI"/>
                <a:cs typeface="Segoe UI"/>
              </a:rPr>
              <a:t>frequent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merging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codes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unit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testing.</a:t>
            </a:r>
            <a:endParaRPr sz="1200">
              <a:latin typeface="Segoe UI"/>
              <a:cs typeface="Segoe UI"/>
            </a:endParaRPr>
          </a:p>
          <a:p>
            <a:pPr marL="12700" marR="328295">
              <a:lnSpc>
                <a:spcPct val="150000"/>
              </a:lnSpc>
              <a:spcBef>
                <a:spcPts val="1030"/>
              </a:spcBef>
            </a:pPr>
            <a:r>
              <a:rPr dirty="0" sz="1200">
                <a:latin typeface="Segoe UI"/>
                <a:cs typeface="Segoe UI"/>
              </a:rPr>
              <a:t>Further,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deployment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small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code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changes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routine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frequent </a:t>
            </a:r>
            <a:r>
              <a:rPr dirty="0" sz="1200">
                <a:latin typeface="Segoe UI"/>
                <a:cs typeface="Segoe UI"/>
              </a:rPr>
              <a:t>process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also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part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method.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50100"/>
              </a:lnSpc>
              <a:spcBef>
                <a:spcPts val="1030"/>
              </a:spcBef>
            </a:pPr>
            <a:r>
              <a:rPr dirty="0" sz="1200">
                <a:latin typeface="Segoe UI"/>
                <a:cs typeface="Segoe UI"/>
              </a:rPr>
              <a:t>CI/CD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helps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massively as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helps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detect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bugs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early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maintains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25">
                <a:latin typeface="Segoe UI"/>
                <a:cs typeface="Segoe UI"/>
              </a:rPr>
              <a:t>use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modular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code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with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minimal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effort.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It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also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reduces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time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market</a:t>
            </a:r>
            <a:r>
              <a:rPr dirty="0" sz="1200" spc="-25">
                <a:latin typeface="Segoe UI"/>
                <a:cs typeface="Segoe UI"/>
              </a:rPr>
              <a:t> and </a:t>
            </a:r>
            <a:r>
              <a:rPr dirty="0" sz="1200">
                <a:latin typeface="Segoe UI"/>
                <a:cs typeface="Segoe UI"/>
              </a:rPr>
              <a:t>introduces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reliable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rollbacks.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3.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INFRASTRUCTURE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Segoe UI Light"/>
                <a:cs typeface="Segoe UI Light"/>
              </a:rPr>
              <a:t>CODE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3424" y="1753869"/>
            <a:ext cx="5122545" cy="1659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9715">
              <a:lnSpc>
                <a:spcPct val="150000"/>
              </a:lnSpc>
              <a:spcBef>
                <a:spcPts val="100"/>
              </a:spcBef>
            </a:pPr>
            <a:r>
              <a:rPr dirty="0" sz="1200">
                <a:latin typeface="Segoe UI"/>
                <a:cs typeface="Segoe UI"/>
              </a:rPr>
              <a:t>INFRASTRUCTURE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AS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CODE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–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usually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manage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provision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25">
                <a:latin typeface="Segoe UI"/>
                <a:cs typeface="Segoe UI"/>
              </a:rPr>
              <a:t>IT </a:t>
            </a:r>
            <a:r>
              <a:rPr dirty="0" sz="1200">
                <a:latin typeface="Segoe UI"/>
                <a:cs typeface="Segoe UI"/>
              </a:rPr>
              <a:t>infrastructure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through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code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10">
                <a:latin typeface="Segoe UI"/>
                <a:cs typeface="Segoe UI"/>
              </a:rPr>
              <a:t> automation.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reusable,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helps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consistent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resource</a:t>
            </a:r>
            <a:r>
              <a:rPr dirty="0" sz="1200" spc="-4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creation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management.</a:t>
            </a:r>
            <a:endParaRPr sz="1200">
              <a:latin typeface="Segoe UI"/>
              <a:cs typeface="Segoe UI"/>
            </a:endParaRPr>
          </a:p>
          <a:p>
            <a:pPr marL="12700" marR="83185">
              <a:lnSpc>
                <a:spcPct val="150000"/>
              </a:lnSpc>
              <a:spcBef>
                <a:spcPts val="1035"/>
              </a:spcBef>
            </a:pPr>
            <a:r>
              <a:rPr dirty="0" sz="1200">
                <a:latin typeface="Segoe UI"/>
                <a:cs typeface="Segoe UI"/>
              </a:rPr>
              <a:t>Furthermore,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infrastructure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self-</a:t>
            </a:r>
            <a:r>
              <a:rPr dirty="0" sz="1200">
                <a:latin typeface="Segoe UI"/>
                <a:cs typeface="Segoe UI"/>
              </a:rPr>
              <a:t>documenting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simplifies</a:t>
            </a:r>
            <a:r>
              <a:rPr dirty="0" sz="1200" spc="1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complex </a:t>
            </a:r>
            <a:r>
              <a:rPr dirty="0" sz="1200">
                <a:latin typeface="Segoe UI"/>
                <a:cs typeface="Segoe UI"/>
              </a:rPr>
              <a:t>material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like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authentication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application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servers.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4.</a:t>
            </a:r>
            <a:r>
              <a:rPr dirty="0" sz="1800" spc="-25">
                <a:solidFill>
                  <a:srgbClr val="FFFFFF"/>
                </a:solidFill>
                <a:latin typeface="Segoe UI Light"/>
                <a:cs typeface="Segoe UI Light"/>
              </a:rPr>
              <a:t> CONFIGURATION</a:t>
            </a:r>
            <a:r>
              <a:rPr dirty="0" sz="18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MANAGEMENT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3424" y="5730239"/>
            <a:ext cx="5262245" cy="1934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1200" spc="-10">
                <a:latin typeface="Segoe UI"/>
                <a:cs typeface="Segoe UI"/>
              </a:rPr>
              <a:t>CONFIGURATION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MANAGEMENT</a:t>
            </a:r>
            <a:r>
              <a:rPr dirty="0" sz="1200" spc="-4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–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process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where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can</a:t>
            </a:r>
            <a:r>
              <a:rPr dirty="0" sz="1200" spc="-10">
                <a:latin typeface="Segoe UI"/>
                <a:cs typeface="Segoe UI"/>
              </a:rPr>
              <a:t> manage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change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state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infrastructure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constant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maintainable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ways.</a:t>
            </a:r>
            <a:endParaRPr sz="1200">
              <a:latin typeface="Segoe UI"/>
              <a:cs typeface="Segoe UI"/>
            </a:endParaRPr>
          </a:p>
          <a:p>
            <a:pPr marL="12700" marR="76200">
              <a:lnSpc>
                <a:spcPct val="150000"/>
              </a:lnSpc>
              <a:spcBef>
                <a:spcPts val="1030"/>
              </a:spcBef>
            </a:pP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way,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end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up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saving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lot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time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while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also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minimizing </a:t>
            </a:r>
            <a:r>
              <a:rPr dirty="0" sz="1200" spc="-10">
                <a:latin typeface="Segoe UI"/>
                <a:cs typeface="Segoe UI"/>
              </a:rPr>
              <a:t>configuration </a:t>
            </a:r>
            <a:r>
              <a:rPr dirty="0" sz="1200">
                <a:latin typeface="Segoe UI"/>
                <a:cs typeface="Segoe UI"/>
              </a:rPr>
              <a:t>drift,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especially</a:t>
            </a:r>
            <a:r>
              <a:rPr dirty="0" sz="1200" spc="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large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server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environments.</a:t>
            </a:r>
            <a:endParaRPr sz="1200">
              <a:latin typeface="Segoe UI"/>
              <a:cs typeface="Segoe UI"/>
            </a:endParaRPr>
          </a:p>
          <a:p>
            <a:pPr marL="12700" marR="331470">
              <a:lnSpc>
                <a:spcPct val="150000"/>
              </a:lnSpc>
              <a:spcBef>
                <a:spcPts val="1035"/>
              </a:spcBef>
            </a:pPr>
            <a:r>
              <a:rPr dirty="0" sz="1200">
                <a:latin typeface="Segoe UI"/>
                <a:cs typeface="Segoe UI"/>
              </a:rPr>
              <a:t>Configuration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Management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also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helps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provide</a:t>
            </a:r>
            <a:r>
              <a:rPr dirty="0" sz="1200" spc="-4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insight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documentation</a:t>
            </a:r>
            <a:r>
              <a:rPr dirty="0" sz="1200" spc="-25">
                <a:latin typeface="Segoe UI"/>
                <a:cs typeface="Segoe UI"/>
              </a:rPr>
              <a:t> on </a:t>
            </a:r>
            <a:r>
              <a:rPr dirty="0" sz="1200" spc="-10">
                <a:latin typeface="Segoe UI"/>
                <a:cs typeface="Segoe UI"/>
              </a:rPr>
              <a:t>infrastructure.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5.</a:t>
            </a:r>
            <a:r>
              <a:rPr dirty="0" sz="18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ORCHESTRATION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3424" y="1753869"/>
            <a:ext cx="5343525" cy="1254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9220">
              <a:lnSpc>
                <a:spcPct val="150000"/>
              </a:lnSpc>
              <a:spcBef>
                <a:spcPts val="100"/>
              </a:spcBef>
            </a:pPr>
            <a:r>
              <a:rPr dirty="0" sz="1200" spc="-10">
                <a:latin typeface="Segoe UI"/>
                <a:cs typeface="Segoe UI"/>
              </a:rPr>
              <a:t>ORCHESTRATION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–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Orchestration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nothing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but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automation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that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supports </a:t>
            </a:r>
            <a:r>
              <a:rPr dirty="0" sz="1200">
                <a:latin typeface="Segoe UI"/>
                <a:cs typeface="Segoe UI"/>
              </a:rPr>
              <a:t>processes</a:t>
            </a:r>
            <a:r>
              <a:rPr dirty="0" sz="1200" spc="-4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4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workflows,</a:t>
            </a:r>
            <a:r>
              <a:rPr dirty="0" sz="1200" spc="-4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like</a:t>
            </a:r>
            <a:r>
              <a:rPr dirty="0" sz="1200" spc="-4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Resource</a:t>
            </a:r>
            <a:r>
              <a:rPr dirty="0" sz="1200" spc="-4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Planning.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50200"/>
              </a:lnSpc>
              <a:spcBef>
                <a:spcPts val="1030"/>
              </a:spcBef>
            </a:pPr>
            <a:r>
              <a:rPr dirty="0" sz="1200">
                <a:latin typeface="Segoe UI"/>
                <a:cs typeface="Segoe UI"/>
              </a:rPr>
              <a:t>It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not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only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helps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save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time,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but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also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achieve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stability,</a:t>
            </a:r>
            <a:r>
              <a:rPr dirty="0" sz="1200">
                <a:latin typeface="Segoe UI"/>
                <a:cs typeface="Segoe UI"/>
              </a:rPr>
              <a:t> especially</a:t>
            </a:r>
            <a:r>
              <a:rPr dirty="0" sz="1200" spc="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with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25">
                <a:latin typeface="Segoe UI"/>
                <a:cs typeface="Segoe UI"/>
              </a:rPr>
              <a:t>an </a:t>
            </a:r>
            <a:r>
              <a:rPr dirty="0" sz="1200">
                <a:latin typeface="Segoe UI"/>
                <a:cs typeface="Segoe UI"/>
              </a:rPr>
              <a:t>automatic</a:t>
            </a:r>
            <a:r>
              <a:rPr dirty="0" sz="1200" spc="-5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response</a:t>
            </a:r>
            <a:r>
              <a:rPr dirty="0" sz="1200" spc="-4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detection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various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problems.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6.</a:t>
            </a:r>
            <a:r>
              <a:rPr dirty="0" sz="1800" spc="-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MONITORING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33424" y="5730239"/>
            <a:ext cx="5372735" cy="180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0665">
              <a:lnSpc>
                <a:spcPct val="150100"/>
              </a:lnSpc>
              <a:spcBef>
                <a:spcPts val="100"/>
              </a:spcBef>
            </a:pPr>
            <a:r>
              <a:rPr dirty="0" sz="1200" spc="-10">
                <a:latin typeface="Segoe UI"/>
                <a:cs typeface="Segoe UI"/>
              </a:rPr>
              <a:t>MONITORING </a:t>
            </a:r>
            <a:r>
              <a:rPr dirty="0" sz="1200">
                <a:latin typeface="Segoe UI"/>
                <a:cs typeface="Segoe UI"/>
              </a:rPr>
              <a:t>–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By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method,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collect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present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data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about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25">
                <a:latin typeface="Segoe UI"/>
                <a:cs typeface="Segoe UI"/>
              </a:rPr>
              <a:t>the </a:t>
            </a:r>
            <a:r>
              <a:rPr dirty="0" sz="1200">
                <a:latin typeface="Segoe UI"/>
                <a:cs typeface="Segoe UI"/>
              </a:rPr>
              <a:t>performance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stability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services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infrastructure,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while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also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detecting problems.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1030"/>
              </a:spcBef>
            </a:pP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enables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faster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recovery,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helps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with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cross-</a:t>
            </a:r>
            <a:r>
              <a:rPr dirty="0" sz="1200">
                <a:latin typeface="Segoe UI"/>
                <a:cs typeface="Segoe UI"/>
              </a:rPr>
              <a:t>team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visibility,</a:t>
            </a:r>
            <a:r>
              <a:rPr dirty="0" sz="1200">
                <a:latin typeface="Segoe UI"/>
                <a:cs typeface="Segoe UI"/>
              </a:rPr>
              <a:t> provides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more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 spc="-20">
                <a:latin typeface="Segoe UI"/>
                <a:cs typeface="Segoe UI"/>
              </a:rPr>
              <a:t>data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analyze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for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better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root-</a:t>
            </a:r>
            <a:r>
              <a:rPr dirty="0" sz="1200">
                <a:latin typeface="Segoe UI"/>
                <a:cs typeface="Segoe UI"/>
              </a:rPr>
              <a:t>cause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analysis and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also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generates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automated response.</a:t>
            </a:r>
            <a:endParaRPr sz="1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7.</a:t>
            </a:r>
            <a:r>
              <a:rPr dirty="0" sz="1800" spc="-2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Segoe UI Light"/>
                <a:cs typeface="Segoe UI Light"/>
              </a:rPr>
              <a:t>MICROSERVICES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16381" y="1753869"/>
            <a:ext cx="2833370" cy="2077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40029">
              <a:lnSpc>
                <a:spcPct val="150100"/>
              </a:lnSpc>
              <a:spcBef>
                <a:spcPts val="95"/>
              </a:spcBef>
            </a:pPr>
            <a:r>
              <a:rPr dirty="0" sz="1200" spc="-10">
                <a:latin typeface="Segoe UI"/>
                <a:cs typeface="Segoe UI"/>
              </a:rPr>
              <a:t>MICROSERVICES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–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It</a:t>
            </a:r>
            <a:r>
              <a:rPr dirty="0" sz="1200" spc="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basically</a:t>
            </a:r>
            <a:r>
              <a:rPr dirty="0" sz="1200" spc="5">
                <a:latin typeface="Segoe UI"/>
                <a:cs typeface="Segoe UI"/>
              </a:rPr>
              <a:t> </a:t>
            </a:r>
            <a:r>
              <a:rPr dirty="0" sz="1200" spc="-25">
                <a:latin typeface="Segoe UI"/>
                <a:cs typeface="Segoe UI"/>
              </a:rPr>
              <a:t>an </a:t>
            </a:r>
            <a:r>
              <a:rPr dirty="0" sz="1200">
                <a:latin typeface="Segoe UI"/>
                <a:cs typeface="Segoe UI"/>
              </a:rPr>
              <a:t>architecture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that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breaks</a:t>
            </a:r>
            <a:r>
              <a:rPr dirty="0" sz="1200" spc="-3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application </a:t>
            </a:r>
            <a:r>
              <a:rPr dirty="0" sz="1200">
                <a:latin typeface="Segoe UI"/>
                <a:cs typeface="Segoe UI"/>
              </a:rPr>
              <a:t>into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many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small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loosely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collected services.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1035"/>
              </a:spcBef>
            </a:pPr>
            <a:r>
              <a:rPr dirty="0" sz="1200">
                <a:latin typeface="Segoe UI"/>
                <a:cs typeface="Segoe UI"/>
              </a:rPr>
              <a:t>This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way,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</a:t>
            </a:r>
            <a:r>
              <a:rPr dirty="0" sz="1200" spc="-3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end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up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reducing</a:t>
            </a:r>
            <a:r>
              <a:rPr dirty="0" sz="1200" spc="-2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complexity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increase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flexibility</a:t>
            </a:r>
            <a:r>
              <a:rPr dirty="0" sz="1200" spc="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choice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25">
                <a:latin typeface="Segoe UI"/>
                <a:cs typeface="Segoe UI"/>
              </a:rPr>
              <a:t>of </a:t>
            </a:r>
            <a:r>
              <a:rPr dirty="0" sz="1200" spc="-10">
                <a:latin typeface="Segoe UI"/>
                <a:cs typeface="Segoe UI"/>
              </a:rPr>
              <a:t>technology.</a:t>
            </a:r>
            <a:endParaRPr sz="1200">
              <a:latin typeface="Segoe UI"/>
              <a:cs typeface="Segoe U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1361" y="1849627"/>
            <a:ext cx="2893822" cy="2170430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381000" y="4844732"/>
            <a:ext cx="6096000" cy="3011170"/>
            <a:chOff x="381000" y="4844732"/>
            <a:chExt cx="6096000" cy="3011170"/>
          </a:xfrm>
        </p:grpSpPr>
        <p:sp>
          <p:nvSpPr>
            <p:cNvPr id="7" name="object 7" descr="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5355463"/>
              <a:ext cx="5910199" cy="250024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81000" y="868616"/>
            <a:ext cx="6096000" cy="666750"/>
          </a:xfrm>
          <a:custGeom>
            <a:avLst/>
            <a:gdLst/>
            <a:ahLst/>
            <a:cxnLst/>
            <a:rect l="l" t="t" r="r" b="b"/>
            <a:pathLst>
              <a:path w="6096000" h="666750">
                <a:moveTo>
                  <a:pt x="6096000" y="0"/>
                </a:moveTo>
                <a:lnTo>
                  <a:pt x="0" y="0"/>
                </a:lnTo>
                <a:lnTo>
                  <a:pt x="0" y="666432"/>
                </a:lnTo>
                <a:lnTo>
                  <a:pt x="6096000" y="666432"/>
                </a:lnTo>
                <a:lnTo>
                  <a:pt x="6096000" y="0"/>
                </a:lnTo>
                <a:close/>
              </a:path>
            </a:pathLst>
          </a:custGeom>
          <a:solidFill>
            <a:srgbClr val="D2462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901" y="2154280"/>
            <a:ext cx="5690309" cy="181205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7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7</a:t>
            </a:r>
            <a:r>
              <a:rPr dirty="0" sz="1800" spc="-3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key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practices</a:t>
            </a:r>
            <a:r>
              <a:rPr dirty="0" sz="18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dirty="0" sz="1800" spc="-3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DevOps</a:t>
            </a:r>
            <a:r>
              <a:rPr dirty="0" sz="18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dirty="0" sz="18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: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6381" y="5810758"/>
            <a:ext cx="1944370" cy="20980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240029" algn="l"/>
              </a:tabLst>
            </a:pPr>
            <a:r>
              <a:rPr dirty="0" sz="1000" spc="-10" b="1">
                <a:latin typeface="Segoe UI"/>
                <a:cs typeface="Segoe UI"/>
              </a:rPr>
              <a:t>Configuration</a:t>
            </a:r>
            <a:r>
              <a:rPr dirty="0" sz="1000" spc="35" b="1">
                <a:latin typeface="Segoe UI"/>
                <a:cs typeface="Segoe UI"/>
              </a:rPr>
              <a:t> </a:t>
            </a:r>
            <a:r>
              <a:rPr dirty="0" sz="1000" spc="-10" b="1">
                <a:latin typeface="Segoe UI"/>
                <a:cs typeface="Segoe UI"/>
              </a:rPr>
              <a:t>Management.</a:t>
            </a:r>
            <a:endParaRPr sz="100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40029" algn="l"/>
              </a:tabLst>
            </a:pPr>
            <a:r>
              <a:rPr dirty="0" sz="1000" b="1">
                <a:latin typeface="Segoe UI"/>
                <a:cs typeface="Segoe UI"/>
              </a:rPr>
              <a:t>Continuous</a:t>
            </a:r>
            <a:r>
              <a:rPr dirty="0" sz="1000" spc="-40" b="1">
                <a:latin typeface="Segoe UI"/>
                <a:cs typeface="Segoe UI"/>
              </a:rPr>
              <a:t> </a:t>
            </a:r>
            <a:r>
              <a:rPr dirty="0" sz="1000" spc="-10" b="1">
                <a:latin typeface="Segoe UI"/>
                <a:cs typeface="Segoe UI"/>
              </a:rPr>
              <a:t>Integration.</a:t>
            </a:r>
            <a:endParaRPr sz="100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40029" algn="l"/>
              </a:tabLst>
            </a:pPr>
            <a:r>
              <a:rPr dirty="0" sz="1000" b="1">
                <a:latin typeface="Segoe UI"/>
                <a:cs typeface="Segoe UI"/>
              </a:rPr>
              <a:t>Automated</a:t>
            </a:r>
            <a:r>
              <a:rPr dirty="0" sz="1000" spc="-55" b="1">
                <a:latin typeface="Segoe UI"/>
                <a:cs typeface="Segoe UI"/>
              </a:rPr>
              <a:t> </a:t>
            </a:r>
            <a:r>
              <a:rPr dirty="0" sz="1000" spc="-10" b="1">
                <a:latin typeface="Segoe UI"/>
                <a:cs typeface="Segoe UI"/>
              </a:rPr>
              <a:t>Testing.</a:t>
            </a:r>
            <a:endParaRPr sz="100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240029" algn="l"/>
              </a:tabLst>
            </a:pPr>
            <a:r>
              <a:rPr dirty="0" sz="1000" b="1">
                <a:latin typeface="Segoe UI"/>
                <a:cs typeface="Segoe UI"/>
              </a:rPr>
              <a:t>Infrastructure</a:t>
            </a:r>
            <a:r>
              <a:rPr dirty="0" sz="1000" spc="-10" b="1">
                <a:latin typeface="Segoe UI"/>
                <a:cs typeface="Segoe UI"/>
              </a:rPr>
              <a:t> </a:t>
            </a:r>
            <a:r>
              <a:rPr dirty="0" sz="1000" b="1">
                <a:latin typeface="Segoe UI"/>
                <a:cs typeface="Segoe UI"/>
              </a:rPr>
              <a:t>as</a:t>
            </a:r>
            <a:r>
              <a:rPr dirty="0" sz="1000" spc="-40" b="1">
                <a:latin typeface="Segoe UI"/>
                <a:cs typeface="Segoe UI"/>
              </a:rPr>
              <a:t> </a:t>
            </a:r>
            <a:r>
              <a:rPr dirty="0" sz="1000" spc="-10" b="1">
                <a:latin typeface="Segoe UI"/>
                <a:cs typeface="Segoe UI"/>
              </a:rPr>
              <a:t>Code.</a:t>
            </a:r>
            <a:endParaRPr sz="100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240029" algn="l"/>
              </a:tabLst>
            </a:pPr>
            <a:r>
              <a:rPr dirty="0" sz="1000" b="1">
                <a:latin typeface="Segoe UI"/>
                <a:cs typeface="Segoe UI"/>
              </a:rPr>
              <a:t>Continuous</a:t>
            </a:r>
            <a:r>
              <a:rPr dirty="0" sz="1000" spc="-40" b="1">
                <a:latin typeface="Segoe UI"/>
                <a:cs typeface="Segoe UI"/>
              </a:rPr>
              <a:t> </a:t>
            </a:r>
            <a:r>
              <a:rPr dirty="0" sz="1000" spc="-10" b="1">
                <a:latin typeface="Segoe UI"/>
                <a:cs typeface="Segoe UI"/>
              </a:rPr>
              <a:t>Delivery.</a:t>
            </a:r>
            <a:endParaRPr sz="100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315"/>
              </a:spcBef>
              <a:buAutoNum type="arabicPeriod"/>
              <a:tabLst>
                <a:tab pos="240029" algn="l"/>
              </a:tabLst>
            </a:pPr>
            <a:r>
              <a:rPr dirty="0" sz="1000" b="1">
                <a:latin typeface="Segoe UI"/>
                <a:cs typeface="Segoe UI"/>
              </a:rPr>
              <a:t>Continuous</a:t>
            </a:r>
            <a:r>
              <a:rPr dirty="0" sz="1000" spc="-40" b="1">
                <a:latin typeface="Segoe UI"/>
                <a:cs typeface="Segoe UI"/>
              </a:rPr>
              <a:t> </a:t>
            </a:r>
            <a:r>
              <a:rPr dirty="0" sz="1000" spc="-10" b="1">
                <a:latin typeface="Segoe UI"/>
                <a:cs typeface="Segoe UI"/>
              </a:rPr>
              <a:t>Deployment.</a:t>
            </a:r>
            <a:endParaRPr sz="1000">
              <a:latin typeface="Segoe UI"/>
              <a:cs typeface="Segoe UI"/>
            </a:endParaRPr>
          </a:p>
          <a:p>
            <a:pPr marL="240029" indent="-227329">
              <a:lnSpc>
                <a:spcPct val="100000"/>
              </a:lnSpc>
              <a:spcBef>
                <a:spcPts val="1325"/>
              </a:spcBef>
              <a:buAutoNum type="arabicPeriod"/>
              <a:tabLst>
                <a:tab pos="240029" algn="l"/>
              </a:tabLst>
            </a:pPr>
            <a:r>
              <a:rPr dirty="0" sz="1000" b="1">
                <a:latin typeface="Segoe UI"/>
                <a:cs typeface="Segoe UI"/>
              </a:rPr>
              <a:t>Continuous</a:t>
            </a:r>
            <a:r>
              <a:rPr dirty="0" sz="1000" spc="-40" b="1">
                <a:latin typeface="Segoe UI"/>
                <a:cs typeface="Segoe UI"/>
              </a:rPr>
              <a:t> </a:t>
            </a:r>
            <a:r>
              <a:rPr dirty="0" sz="1000" spc="-10" b="1">
                <a:latin typeface="Segoe UI"/>
                <a:cs typeface="Segoe UI"/>
              </a:rPr>
              <a:t>Monitoring.</a:t>
            </a:r>
            <a:endParaRPr sz="1000">
              <a:latin typeface="Segoe UI"/>
              <a:cs typeface="Segoe U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0688" y="5502402"/>
            <a:ext cx="3604767" cy="2699766"/>
          </a:xfrm>
          <a:prstGeom prst="rect">
            <a:avLst/>
          </a:prstGeom>
        </p:spPr>
      </p:pic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68616"/>
            <a:ext cx="6096000" cy="342906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6" name="object 6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13" name="object 13" descr=""/>
          <p:cNvGrpSpPr/>
          <p:nvPr/>
        </p:nvGrpSpPr>
        <p:grpSpPr>
          <a:xfrm>
            <a:off x="381000" y="5492464"/>
            <a:ext cx="4953000" cy="2569845"/>
            <a:chOff x="381000" y="5492464"/>
            <a:chExt cx="4953000" cy="2569845"/>
          </a:xfrm>
        </p:grpSpPr>
        <p:sp>
          <p:nvSpPr>
            <p:cNvPr id="14" name="object 14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0200" y="5538559"/>
              <a:ext cx="3733800" cy="2523744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617321" y="4914646"/>
            <a:ext cx="3488054" cy="52832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459"/>
              </a:spcBef>
            </a:pPr>
            <a:r>
              <a:rPr dirty="0" sz="1800" spc="-60" b="1">
                <a:latin typeface="Arial"/>
                <a:cs typeface="Arial"/>
              </a:rPr>
              <a:t>The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Continuous</a:t>
            </a:r>
            <a:r>
              <a:rPr dirty="0" sz="1800" spc="-145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DevOps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LifeCycle </a:t>
            </a:r>
            <a:r>
              <a:rPr dirty="0" sz="1800" spc="-10" b="1"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28981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DevOps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Lifecycle</a:t>
            </a:r>
            <a:r>
              <a:rPr dirty="0" sz="1800" spc="-110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Processes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1725802"/>
            <a:ext cx="4336796" cy="2152777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321" y="5028946"/>
            <a:ext cx="2398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Continuous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Integration,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7993" y="5609124"/>
            <a:ext cx="3440261" cy="2219409"/>
          </a:xfrm>
          <a:prstGeom prst="rect">
            <a:avLst/>
          </a:prstGeom>
        </p:spPr>
      </p:pic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2369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Continuous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Inspection,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7370" y="1637326"/>
            <a:ext cx="3997255" cy="2215141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5105400" cy="2556510"/>
            <a:chOff x="381000" y="5492464"/>
            <a:chExt cx="5105400" cy="2556510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19200" y="5548528"/>
              <a:ext cx="4267200" cy="2499995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617321" y="5028946"/>
            <a:ext cx="25311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Continuous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60" b="1">
                <a:latin typeface="Arial"/>
                <a:cs typeface="Arial"/>
              </a:rPr>
              <a:t>Deployment,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2107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Continuous</a:t>
            </a:r>
            <a:r>
              <a:rPr dirty="0" sz="1800" spc="-135" b="1">
                <a:latin typeface="Arial"/>
                <a:cs typeface="Arial"/>
              </a:rPr>
              <a:t> </a:t>
            </a:r>
            <a:r>
              <a:rPr dirty="0" sz="1800" spc="-75" b="1">
                <a:latin typeface="Arial"/>
                <a:cs typeface="Arial"/>
              </a:rPr>
              <a:t>Delivery,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9200" y="1615566"/>
            <a:ext cx="4381500" cy="2415412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321" y="5028946"/>
            <a:ext cx="23533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Continuous</a:t>
            </a:r>
            <a:r>
              <a:rPr dirty="0" sz="1800" spc="-145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Monitoring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7334" y="5679235"/>
            <a:ext cx="4137127" cy="2217125"/>
          </a:xfrm>
          <a:prstGeom prst="rect">
            <a:avLst/>
          </a:prstGeom>
        </p:spPr>
      </p:pic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16319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DevOps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Culture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1615566"/>
            <a:ext cx="4267200" cy="217841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321" y="4952187"/>
            <a:ext cx="402145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250" spc="-80" b="1">
                <a:latin typeface="Arial"/>
                <a:cs typeface="Arial"/>
              </a:rPr>
              <a:t>Continuous</a:t>
            </a:r>
            <a:r>
              <a:rPr dirty="0" sz="1250" spc="-100" b="1">
                <a:latin typeface="Arial"/>
                <a:cs typeface="Arial"/>
              </a:rPr>
              <a:t> </a:t>
            </a:r>
            <a:r>
              <a:rPr dirty="0" sz="1250" spc="-80" b="1">
                <a:latin typeface="Arial"/>
                <a:cs typeface="Arial"/>
              </a:rPr>
              <a:t>Integration,</a:t>
            </a:r>
            <a:r>
              <a:rPr dirty="0" sz="1250" spc="-100" b="1">
                <a:latin typeface="Arial"/>
                <a:cs typeface="Arial"/>
              </a:rPr>
              <a:t> </a:t>
            </a:r>
            <a:r>
              <a:rPr dirty="0" sz="1250" spc="-80" b="1">
                <a:latin typeface="Arial"/>
                <a:cs typeface="Arial"/>
              </a:rPr>
              <a:t>Continuous</a:t>
            </a:r>
            <a:r>
              <a:rPr dirty="0" sz="1250" spc="-100" b="1">
                <a:latin typeface="Arial"/>
                <a:cs typeface="Arial"/>
              </a:rPr>
              <a:t> </a:t>
            </a:r>
            <a:r>
              <a:rPr dirty="0" sz="1250" spc="-80" b="1">
                <a:latin typeface="Arial"/>
                <a:cs typeface="Arial"/>
              </a:rPr>
              <a:t>Inspection,</a:t>
            </a:r>
            <a:r>
              <a:rPr dirty="0" sz="1250" spc="-100" b="1">
                <a:latin typeface="Arial"/>
                <a:cs typeface="Arial"/>
              </a:rPr>
              <a:t> </a:t>
            </a:r>
            <a:r>
              <a:rPr dirty="0" sz="1250" spc="-45" b="1">
                <a:latin typeface="Arial"/>
                <a:cs typeface="Arial"/>
              </a:rPr>
              <a:t>Continuous </a:t>
            </a:r>
            <a:r>
              <a:rPr dirty="0" sz="1250" spc="-85" b="1">
                <a:latin typeface="Arial"/>
                <a:cs typeface="Arial"/>
              </a:rPr>
              <a:t>Deployment,</a:t>
            </a:r>
            <a:r>
              <a:rPr dirty="0" sz="1250" spc="-75" b="1">
                <a:latin typeface="Arial"/>
                <a:cs typeface="Arial"/>
              </a:rPr>
              <a:t> </a:t>
            </a:r>
            <a:r>
              <a:rPr dirty="0" sz="1250" spc="-80" b="1">
                <a:latin typeface="Arial"/>
                <a:cs typeface="Arial"/>
              </a:rPr>
              <a:t>Continuous</a:t>
            </a:r>
            <a:r>
              <a:rPr dirty="0" sz="1250" spc="-110" b="1">
                <a:latin typeface="Arial"/>
                <a:cs typeface="Arial"/>
              </a:rPr>
              <a:t> </a:t>
            </a:r>
            <a:r>
              <a:rPr dirty="0" sz="1250" spc="-95" b="1">
                <a:latin typeface="Arial"/>
                <a:cs typeface="Arial"/>
              </a:rPr>
              <a:t>Delivery,</a:t>
            </a:r>
            <a:r>
              <a:rPr dirty="0" sz="1250" spc="-5" b="1">
                <a:latin typeface="Arial"/>
                <a:cs typeface="Arial"/>
              </a:rPr>
              <a:t> </a:t>
            </a:r>
            <a:r>
              <a:rPr dirty="0" sz="1250" spc="-80" b="1">
                <a:latin typeface="Arial"/>
                <a:cs typeface="Arial"/>
              </a:rPr>
              <a:t>Continuous</a:t>
            </a:r>
            <a:r>
              <a:rPr dirty="0" sz="1250" spc="-110" b="1">
                <a:latin typeface="Arial"/>
                <a:cs typeface="Arial"/>
              </a:rPr>
              <a:t> </a:t>
            </a:r>
            <a:r>
              <a:rPr dirty="0" sz="1250" spc="-10" b="1">
                <a:latin typeface="Arial"/>
                <a:cs typeface="Arial"/>
              </a:rPr>
              <a:t>Monitoring)</a:t>
            </a:r>
            <a:endParaRPr sz="1250">
              <a:latin typeface="Arial"/>
              <a:cs typeface="Arial"/>
            </a:endParaRPr>
          </a:p>
        </p:txBody>
      </p:sp>
      <p:pic>
        <p:nvPicPr>
          <p:cNvPr id="32" name="object 3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8832" y="5599315"/>
            <a:ext cx="3814326" cy="2245753"/>
          </a:xfrm>
          <a:prstGeom prst="rect">
            <a:avLst/>
          </a:prstGeom>
        </p:spPr>
      </p:pic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381000" y="868680"/>
            <a:ext cx="6096000" cy="3175000"/>
            <a:chOff x="381000" y="868680"/>
            <a:chExt cx="6096000" cy="3175000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0600" y="868680"/>
              <a:ext cx="1462659" cy="346075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00" y="1123061"/>
              <a:ext cx="6096000" cy="292036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19" name="object 19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7" name="object 27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17321" y="5028946"/>
            <a:ext cx="17005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DevOps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Pipeline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1" name="object 3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1899" y="5646269"/>
            <a:ext cx="4567567" cy="2259070"/>
          </a:xfrm>
          <a:prstGeom prst="rect">
            <a:avLst/>
          </a:prstGeom>
        </p:spPr>
      </p:pic>
      <p:sp>
        <p:nvSpPr>
          <p:cNvPr id="32" name="object 3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182116" y="865378"/>
            <a:ext cx="3138170" cy="65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95" b="1">
                <a:latin typeface="Arial"/>
                <a:cs typeface="Arial"/>
              </a:rPr>
              <a:t>Typical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70" b="1">
                <a:latin typeface="Arial"/>
                <a:cs typeface="Arial"/>
              </a:rPr>
              <a:t>Case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Study</a:t>
            </a:r>
            <a:endParaRPr sz="1800">
              <a:latin typeface="Arial"/>
              <a:cs typeface="Arial"/>
            </a:endParaRPr>
          </a:p>
          <a:p>
            <a:pPr marL="151130" marR="5080">
              <a:lnSpc>
                <a:spcPct val="102499"/>
              </a:lnSpc>
              <a:spcBef>
                <a:spcPts val="844"/>
              </a:spcBef>
            </a:pPr>
            <a:r>
              <a:rPr dirty="0" sz="800">
                <a:latin typeface="Franklin Gothic Medium"/>
                <a:cs typeface="Franklin Gothic Medium"/>
              </a:rPr>
              <a:t>Delivery</a:t>
            </a:r>
            <a:r>
              <a:rPr dirty="0" sz="800" spc="-2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pipeline is</a:t>
            </a:r>
            <a:r>
              <a:rPr dirty="0" sz="800" spc="2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an</a:t>
            </a:r>
            <a:r>
              <a:rPr dirty="0" sz="800" spc="2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automated</a:t>
            </a:r>
            <a:r>
              <a:rPr dirty="0" sz="800" spc="15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manifestation</a:t>
            </a:r>
            <a:r>
              <a:rPr dirty="0" sz="800" spc="2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of</a:t>
            </a:r>
            <a:r>
              <a:rPr dirty="0" sz="800" spc="25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your</a:t>
            </a:r>
            <a:r>
              <a:rPr dirty="0" sz="800" spc="15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process</a:t>
            </a:r>
            <a:r>
              <a:rPr dirty="0" sz="800" spc="-5">
                <a:latin typeface="Franklin Gothic Medium"/>
                <a:cs typeface="Franklin Gothic Medium"/>
              </a:rPr>
              <a:t> </a:t>
            </a:r>
            <a:r>
              <a:rPr dirty="0" sz="800" spc="-25">
                <a:latin typeface="Franklin Gothic Medium"/>
                <a:cs typeface="Franklin Gothic Medium"/>
              </a:rPr>
              <a:t>for</a:t>
            </a:r>
            <a:r>
              <a:rPr dirty="0" sz="800" spc="50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getting</a:t>
            </a:r>
            <a:r>
              <a:rPr dirty="0" sz="800" spc="1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software</a:t>
            </a:r>
            <a:r>
              <a:rPr dirty="0" sz="800" spc="15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from</a:t>
            </a:r>
            <a:r>
              <a:rPr dirty="0" sz="800" spc="15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version</a:t>
            </a:r>
            <a:r>
              <a:rPr dirty="0" sz="800" spc="1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control</a:t>
            </a:r>
            <a:r>
              <a:rPr dirty="0" sz="800" spc="-1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into</a:t>
            </a:r>
            <a:r>
              <a:rPr dirty="0" sz="800" spc="5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the</a:t>
            </a:r>
            <a:r>
              <a:rPr dirty="0" sz="800" spc="15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hands</a:t>
            </a:r>
            <a:r>
              <a:rPr dirty="0" sz="800" spc="10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of</a:t>
            </a:r>
            <a:r>
              <a:rPr dirty="0" sz="800" spc="15">
                <a:latin typeface="Franklin Gothic Medium"/>
                <a:cs typeface="Franklin Gothic Medium"/>
              </a:rPr>
              <a:t> </a:t>
            </a:r>
            <a:r>
              <a:rPr dirty="0" sz="800">
                <a:latin typeface="Franklin Gothic Medium"/>
                <a:cs typeface="Franklin Gothic Medium"/>
              </a:rPr>
              <a:t>your</a:t>
            </a:r>
            <a:r>
              <a:rPr dirty="0" sz="800" spc="5">
                <a:latin typeface="Franklin Gothic Medium"/>
                <a:cs typeface="Franklin Gothic Medium"/>
              </a:rPr>
              <a:t> </a:t>
            </a:r>
            <a:r>
              <a:rPr dirty="0" sz="800" spc="-10">
                <a:latin typeface="Franklin Gothic Medium"/>
                <a:cs typeface="Franklin Gothic Medium"/>
              </a:rPr>
              <a:t>users.</a:t>
            </a:r>
            <a:endParaRPr sz="800">
              <a:latin typeface="Franklin Gothic Medium"/>
              <a:cs typeface="Franklin Gothic Medium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924811" y="3714536"/>
            <a:ext cx="43180" cy="5270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r>
              <a:rPr dirty="0" sz="300" spc="-25">
                <a:solidFill>
                  <a:srgbClr val="006BB5"/>
                </a:solidFill>
                <a:latin typeface="Segoe UI"/>
                <a:cs typeface="Segoe UI"/>
              </a:rPr>
              <a:t>45</a:t>
            </a:r>
            <a:endParaRPr sz="300">
              <a:latin typeface="Segoe UI"/>
              <a:cs typeface="Segoe U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1383411" y="2813430"/>
            <a:ext cx="4267200" cy="1303020"/>
            <a:chOff x="1383411" y="2813430"/>
            <a:chExt cx="4267200" cy="1303020"/>
          </a:xfrm>
        </p:grpSpPr>
        <p:pic>
          <p:nvPicPr>
            <p:cNvPr id="19" name="object 1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8869" y="2820288"/>
              <a:ext cx="2754249" cy="723138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79600" y="3705938"/>
              <a:ext cx="411518" cy="84249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36007" y="3614648"/>
              <a:ext cx="507111" cy="16309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3411" y="2813430"/>
              <a:ext cx="4266819" cy="1302893"/>
            </a:xfrm>
            <a:prstGeom prst="rect">
              <a:avLst/>
            </a:prstGeom>
          </p:spPr>
        </p:pic>
      </p:grpSp>
      <p:pic>
        <p:nvPicPr>
          <p:cNvPr id="23" name="object 2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61387" y="1656271"/>
            <a:ext cx="3007952" cy="1106848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6" name="object 26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2" name="object 3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33" name="object 33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34" name="object 34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176324" y="4807458"/>
            <a:ext cx="118745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Case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45" b="1">
                <a:latin typeface="Arial"/>
                <a:cs typeface="Arial"/>
              </a:rPr>
              <a:t>Study</a:t>
            </a:r>
            <a:endParaRPr sz="1800">
              <a:latin typeface="Arial"/>
              <a:cs typeface="Arial"/>
            </a:endParaRPr>
          </a:p>
          <a:p>
            <a:pPr marL="356235">
              <a:lnSpc>
                <a:spcPct val="100000"/>
              </a:lnSpc>
              <a:spcBef>
                <a:spcPts val="1200"/>
              </a:spcBef>
            </a:pPr>
            <a:r>
              <a:rPr dirty="0" sz="800" spc="-75" b="1">
                <a:latin typeface="Arial"/>
                <a:cs typeface="Arial"/>
              </a:rPr>
              <a:t>DevOps</a:t>
            </a:r>
            <a:r>
              <a:rPr dirty="0" sz="800" spc="40" b="1">
                <a:latin typeface="Arial"/>
                <a:cs typeface="Arial"/>
              </a:rPr>
              <a:t> </a:t>
            </a:r>
            <a:r>
              <a:rPr dirty="0" sz="800" spc="-10" b="1">
                <a:latin typeface="Arial"/>
                <a:cs typeface="Arial"/>
              </a:rPr>
              <a:t>Tools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912111" y="7681721"/>
            <a:ext cx="68580" cy="73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00" spc="-25">
                <a:solidFill>
                  <a:srgbClr val="006BB5"/>
                </a:solidFill>
                <a:latin typeface="Segoe UI"/>
                <a:cs typeface="Segoe UI"/>
              </a:rPr>
              <a:t>46</a:t>
            </a:r>
            <a:endParaRPr sz="300">
              <a:latin typeface="Segoe UI"/>
              <a:cs typeface="Segoe UI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8870" y="6796405"/>
            <a:ext cx="2754249" cy="723138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79600" y="7682055"/>
            <a:ext cx="411518" cy="84247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36008" y="7590764"/>
            <a:ext cx="507111" cy="163093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26477" y="5553709"/>
            <a:ext cx="4145661" cy="2263013"/>
          </a:xfrm>
          <a:prstGeom prst="rect">
            <a:avLst/>
          </a:prstGeom>
        </p:spPr>
      </p:pic>
      <p:sp>
        <p:nvSpPr>
          <p:cNvPr id="43" name="object 4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1187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Case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spc="-45" b="1">
                <a:latin typeface="Arial"/>
                <a:cs typeface="Arial"/>
              </a:rPr>
              <a:t>Study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2146396"/>
            <a:ext cx="4114800" cy="1248550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321" y="5028946"/>
            <a:ext cx="2107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latin typeface="Arial"/>
                <a:cs typeface="Arial"/>
              </a:rPr>
              <a:t>Release</a:t>
            </a:r>
            <a:r>
              <a:rPr dirty="0" sz="1800" spc="-175" b="1">
                <a:latin typeface="Arial"/>
                <a:cs typeface="Arial"/>
              </a:rPr>
              <a:t> </a:t>
            </a:r>
            <a:r>
              <a:rPr dirty="0" sz="1800" spc="-70" b="1">
                <a:latin typeface="Arial"/>
                <a:cs typeface="Arial"/>
              </a:rPr>
              <a:t>Antipatterns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32" name="object 32" descr=""/>
          <p:cNvSpPr txBox="1"/>
          <p:nvPr/>
        </p:nvSpPr>
        <p:spPr>
          <a:xfrm>
            <a:off x="1328674" y="5598414"/>
            <a:ext cx="3995420" cy="1466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MT"/>
                <a:cs typeface="Arial MT"/>
              </a:rPr>
              <a:t>Common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Quote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“The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day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software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release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tends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to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be </a:t>
            </a:r>
            <a:r>
              <a:rPr dirty="0" sz="1200">
                <a:latin typeface="Arial MT"/>
                <a:cs typeface="Arial MT"/>
              </a:rPr>
              <a:t>a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tense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 spc="-20">
                <a:latin typeface="Arial MT"/>
                <a:cs typeface="Arial MT"/>
              </a:rPr>
              <a:t>one”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>
                <a:latin typeface="Arial MT"/>
                <a:cs typeface="Arial MT"/>
              </a:rPr>
              <a:t>Antipattern:</a:t>
            </a:r>
            <a:r>
              <a:rPr dirty="0" sz="1200" spc="-6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Deploying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Software</a:t>
            </a:r>
            <a:r>
              <a:rPr dirty="0" sz="1200" spc="-5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Manually</a:t>
            </a:r>
            <a:endParaRPr sz="1200">
              <a:latin typeface="Arial MT"/>
              <a:cs typeface="Arial MT"/>
            </a:endParaRPr>
          </a:p>
          <a:p>
            <a:pPr marL="384175" marR="407034" indent="-143510">
              <a:lnSpc>
                <a:spcPct val="100000"/>
              </a:lnSpc>
              <a:spcBef>
                <a:spcPts val="210"/>
              </a:spcBef>
              <a:buChar char="–"/>
              <a:tabLst>
                <a:tab pos="384175" algn="l"/>
              </a:tabLst>
            </a:pP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production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extensive</a:t>
            </a:r>
            <a:r>
              <a:rPr dirty="0" sz="800">
                <a:latin typeface="Arial MT"/>
                <a:cs typeface="Arial MT"/>
              </a:rPr>
              <a:t> and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detailed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documentation</a:t>
            </a:r>
            <a:r>
              <a:rPr dirty="0" sz="800" spc="-5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for steps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 </a:t>
            </a:r>
            <a:r>
              <a:rPr dirty="0" sz="800" spc="-25">
                <a:latin typeface="Arial MT"/>
                <a:cs typeface="Arial MT"/>
              </a:rPr>
              <a:t>be</a:t>
            </a:r>
            <a:r>
              <a:rPr dirty="0" sz="800" spc="-10">
                <a:latin typeface="Arial MT"/>
                <a:cs typeface="Arial MT"/>
              </a:rPr>
              <a:t> performed</a:t>
            </a:r>
            <a:endParaRPr sz="800">
              <a:latin typeface="Arial MT"/>
              <a:cs typeface="Arial MT"/>
            </a:endParaRPr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dirty="0" sz="800" spc="-10">
                <a:latin typeface="Arial MT"/>
                <a:cs typeface="Arial MT"/>
              </a:rPr>
              <a:t>Reliance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on</a:t>
            </a:r>
            <a:r>
              <a:rPr dirty="0" sz="800" spc="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manual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testing</a:t>
            </a:r>
            <a:endParaRPr sz="800">
              <a:latin typeface="Arial MT"/>
              <a:cs typeface="Arial MT"/>
            </a:endParaRPr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dirty="0" sz="800">
                <a:latin typeface="Arial MT"/>
                <a:cs typeface="Arial MT"/>
              </a:rPr>
              <a:t>Frequent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calls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10">
                <a:latin typeface="Arial MT"/>
                <a:cs typeface="Arial MT"/>
              </a:rPr>
              <a:t> development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team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explain</a:t>
            </a:r>
            <a:endParaRPr sz="800">
              <a:latin typeface="Arial MT"/>
              <a:cs typeface="Arial MT"/>
            </a:endParaRPr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dirty="0" sz="800">
                <a:latin typeface="Arial MT"/>
                <a:cs typeface="Arial MT"/>
              </a:rPr>
              <a:t>Frequent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corrections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to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the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release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process</a:t>
            </a:r>
            <a:endParaRPr sz="800">
              <a:latin typeface="Arial MT"/>
              <a:cs typeface="Arial MT"/>
            </a:endParaRPr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dirty="0" sz="800">
                <a:latin typeface="Arial MT"/>
                <a:cs typeface="Arial MT"/>
              </a:rPr>
              <a:t>Sitting</a:t>
            </a:r>
            <a:r>
              <a:rPr dirty="0" sz="800" spc="-40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bleary-</a:t>
            </a:r>
            <a:r>
              <a:rPr dirty="0" sz="800">
                <a:latin typeface="Arial MT"/>
                <a:cs typeface="Arial MT"/>
              </a:rPr>
              <a:t>eyed</a:t>
            </a:r>
            <a:r>
              <a:rPr dirty="0" sz="800" spc="-1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in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front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-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</a:t>
            </a:r>
            <a:r>
              <a:rPr dirty="0" sz="800" spc="-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monitor</a:t>
            </a:r>
            <a:r>
              <a:rPr dirty="0" sz="800" spc="-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at</a:t>
            </a:r>
            <a:r>
              <a:rPr dirty="0" sz="800" spc="-1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2</a:t>
            </a:r>
            <a:r>
              <a:rPr dirty="0" sz="800" spc="-55">
                <a:latin typeface="Arial MT"/>
                <a:cs typeface="Arial MT"/>
              </a:rPr>
              <a:t> </a:t>
            </a:r>
            <a:r>
              <a:rPr dirty="0" sz="800" spc="-25">
                <a:latin typeface="Arial MT"/>
                <a:cs typeface="Arial MT"/>
              </a:rPr>
              <a:t>A.M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</a:pPr>
            <a:r>
              <a:rPr dirty="0"/>
              <a:t>Antipattern:</a:t>
            </a:r>
            <a:r>
              <a:rPr dirty="0" spc="-40"/>
              <a:t> </a:t>
            </a:r>
            <a:r>
              <a:rPr dirty="0"/>
              <a:t>Deploying</a:t>
            </a:r>
            <a:r>
              <a:rPr dirty="0" spc="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10"/>
              <a:t>Production-</a:t>
            </a:r>
            <a:r>
              <a:rPr dirty="0"/>
              <a:t>like</a:t>
            </a:r>
            <a:r>
              <a:rPr dirty="0" spc="-10"/>
              <a:t> </a:t>
            </a:r>
            <a:r>
              <a:rPr dirty="0"/>
              <a:t>Environment</a:t>
            </a:r>
            <a:r>
              <a:rPr dirty="0" spc="-20"/>
              <a:t> </a:t>
            </a:r>
            <a:r>
              <a:rPr dirty="0"/>
              <a:t>Only</a:t>
            </a:r>
            <a:r>
              <a:rPr dirty="0" spc="-10"/>
              <a:t> </a:t>
            </a:r>
            <a:r>
              <a:rPr dirty="0"/>
              <a:t>after</a:t>
            </a:r>
            <a:r>
              <a:rPr dirty="0" spc="-40"/>
              <a:t> </a:t>
            </a:r>
            <a:r>
              <a:rPr dirty="0" spc="-10"/>
              <a:t>Development </a:t>
            </a:r>
            <a:r>
              <a:rPr dirty="0"/>
              <a:t>Is</a:t>
            </a:r>
            <a:r>
              <a:rPr dirty="0" spc="-20"/>
              <a:t> </a:t>
            </a:r>
            <a:r>
              <a:rPr dirty="0" spc="-10"/>
              <a:t>Complete</a:t>
            </a:r>
          </a:p>
          <a:p>
            <a:pPr marL="384810" indent="-143510">
              <a:lnSpc>
                <a:spcPct val="100000"/>
              </a:lnSpc>
              <a:spcBef>
                <a:spcPts val="204"/>
              </a:spcBef>
              <a:buChar char="–"/>
              <a:tabLst>
                <a:tab pos="384810" algn="l"/>
              </a:tabLst>
            </a:pPr>
            <a:r>
              <a:rPr dirty="0" sz="800" spc="-20"/>
              <a:t>Tester</a:t>
            </a:r>
            <a:r>
              <a:rPr dirty="0" sz="800" spc="-30"/>
              <a:t> </a:t>
            </a:r>
            <a:r>
              <a:rPr dirty="0" sz="800"/>
              <a:t>tested</a:t>
            </a:r>
            <a:r>
              <a:rPr dirty="0" sz="800" spc="-15"/>
              <a:t> </a:t>
            </a:r>
            <a:r>
              <a:rPr dirty="0" sz="800"/>
              <a:t>the</a:t>
            </a:r>
            <a:r>
              <a:rPr dirty="0" sz="800" spc="-10"/>
              <a:t> </a:t>
            </a:r>
            <a:r>
              <a:rPr dirty="0" sz="800"/>
              <a:t>system</a:t>
            </a:r>
            <a:r>
              <a:rPr dirty="0" sz="800" spc="-10"/>
              <a:t> </a:t>
            </a:r>
            <a:r>
              <a:rPr dirty="0" sz="800"/>
              <a:t>on</a:t>
            </a:r>
            <a:r>
              <a:rPr dirty="0" sz="800" spc="-10"/>
              <a:t> development</a:t>
            </a:r>
            <a:r>
              <a:rPr dirty="0" sz="800" spc="-20"/>
              <a:t> </a:t>
            </a:r>
            <a:r>
              <a:rPr dirty="0" sz="800" spc="-10"/>
              <a:t>machines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dirty="0" sz="800" spc="-10"/>
              <a:t>Releasing</a:t>
            </a:r>
            <a:r>
              <a:rPr dirty="0" sz="800" spc="-30"/>
              <a:t> </a:t>
            </a:r>
            <a:r>
              <a:rPr dirty="0" sz="800"/>
              <a:t>into</a:t>
            </a:r>
            <a:r>
              <a:rPr dirty="0" sz="800" spc="-20"/>
              <a:t> </a:t>
            </a:r>
            <a:r>
              <a:rPr dirty="0" sz="800" spc="-10"/>
              <a:t>staging</a:t>
            </a:r>
            <a:r>
              <a:rPr dirty="0" sz="800" spc="-25"/>
              <a:t> </a:t>
            </a:r>
            <a:r>
              <a:rPr dirty="0" sz="800"/>
              <a:t>is</a:t>
            </a:r>
            <a:r>
              <a:rPr dirty="0" sz="800" spc="-10"/>
              <a:t> </a:t>
            </a:r>
            <a:r>
              <a:rPr dirty="0" sz="800"/>
              <a:t>the</a:t>
            </a:r>
            <a:r>
              <a:rPr dirty="0" sz="800" spc="-5"/>
              <a:t> </a:t>
            </a:r>
            <a:r>
              <a:rPr dirty="0" sz="800"/>
              <a:t>first</a:t>
            </a:r>
            <a:r>
              <a:rPr dirty="0" sz="800" spc="-20"/>
              <a:t> </a:t>
            </a:r>
            <a:r>
              <a:rPr dirty="0" sz="800"/>
              <a:t>time</a:t>
            </a:r>
            <a:r>
              <a:rPr dirty="0" sz="800" spc="-30"/>
              <a:t> </a:t>
            </a:r>
            <a:r>
              <a:rPr dirty="0" sz="800"/>
              <a:t>that</a:t>
            </a:r>
            <a:r>
              <a:rPr dirty="0" sz="800" spc="-10"/>
              <a:t> operations </a:t>
            </a:r>
            <a:r>
              <a:rPr dirty="0" sz="800"/>
              <a:t>people</a:t>
            </a:r>
            <a:r>
              <a:rPr dirty="0" sz="800" spc="-15"/>
              <a:t> </a:t>
            </a:r>
            <a:r>
              <a:rPr dirty="0" sz="800"/>
              <a:t>interact</a:t>
            </a:r>
            <a:r>
              <a:rPr dirty="0" sz="800" spc="-10"/>
              <a:t> </a:t>
            </a:r>
            <a:r>
              <a:rPr dirty="0" sz="800"/>
              <a:t>with</a:t>
            </a:r>
            <a:r>
              <a:rPr dirty="0" sz="800" spc="-5"/>
              <a:t> </a:t>
            </a:r>
            <a:r>
              <a:rPr dirty="0" sz="800"/>
              <a:t>the</a:t>
            </a:r>
            <a:r>
              <a:rPr dirty="0" sz="800" spc="-15"/>
              <a:t> </a:t>
            </a:r>
            <a:r>
              <a:rPr dirty="0" sz="800"/>
              <a:t>new</a:t>
            </a:r>
            <a:r>
              <a:rPr dirty="0" sz="800" spc="-5"/>
              <a:t> </a:t>
            </a:r>
            <a:r>
              <a:rPr dirty="0" sz="800" spc="-10"/>
              <a:t>release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dirty="0" sz="800"/>
              <a:t>Who</a:t>
            </a:r>
            <a:r>
              <a:rPr dirty="0" sz="800" spc="-65"/>
              <a:t> </a:t>
            </a:r>
            <a:r>
              <a:rPr dirty="0" sz="800" spc="-10"/>
              <a:t>Assembles?</a:t>
            </a:r>
            <a:r>
              <a:rPr dirty="0" sz="800" spc="-35"/>
              <a:t> </a:t>
            </a:r>
            <a:r>
              <a:rPr dirty="0" sz="800"/>
              <a:t>The</a:t>
            </a:r>
            <a:r>
              <a:rPr dirty="0" sz="800" spc="20"/>
              <a:t> </a:t>
            </a:r>
            <a:r>
              <a:rPr dirty="0" sz="800" spc="-10"/>
              <a:t>Development</a:t>
            </a:r>
            <a:r>
              <a:rPr dirty="0" sz="800"/>
              <a:t> </a:t>
            </a:r>
            <a:r>
              <a:rPr dirty="0" sz="800" spc="-20"/>
              <a:t>Team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dirty="0" sz="800" spc="-10"/>
              <a:t>Collaboration</a:t>
            </a:r>
            <a:r>
              <a:rPr dirty="0" sz="800" spc="-25"/>
              <a:t> </a:t>
            </a:r>
            <a:r>
              <a:rPr dirty="0" sz="800"/>
              <a:t>between</a:t>
            </a:r>
            <a:r>
              <a:rPr dirty="0" sz="800" spc="10"/>
              <a:t> </a:t>
            </a:r>
            <a:r>
              <a:rPr dirty="0" sz="800" spc="-10"/>
              <a:t>development </a:t>
            </a:r>
            <a:r>
              <a:rPr dirty="0" sz="800"/>
              <a:t>and</a:t>
            </a:r>
            <a:r>
              <a:rPr dirty="0" sz="800" spc="-10"/>
              <a:t> Operations?</a:t>
            </a:r>
            <a:endParaRPr sz="800"/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/>
              <a:t>Antipattern:</a:t>
            </a:r>
            <a:r>
              <a:rPr dirty="0" spc="-60"/>
              <a:t> </a:t>
            </a:r>
            <a:r>
              <a:rPr dirty="0"/>
              <a:t>Manual</a:t>
            </a:r>
            <a:r>
              <a:rPr dirty="0" spc="-40"/>
              <a:t> </a:t>
            </a:r>
            <a:r>
              <a:rPr dirty="0"/>
              <a:t>Configuration</a:t>
            </a:r>
            <a:r>
              <a:rPr dirty="0" spc="-35"/>
              <a:t> </a:t>
            </a:r>
            <a:r>
              <a:rPr dirty="0"/>
              <a:t>Management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Production</a:t>
            </a:r>
            <a:r>
              <a:rPr dirty="0" spc="-45"/>
              <a:t> </a:t>
            </a:r>
            <a:r>
              <a:rPr dirty="0" spc="-10"/>
              <a:t>Environments</a:t>
            </a:r>
          </a:p>
          <a:p>
            <a:pPr marL="384810" indent="-143510">
              <a:lnSpc>
                <a:spcPct val="100000"/>
              </a:lnSpc>
              <a:spcBef>
                <a:spcPts val="204"/>
              </a:spcBef>
              <a:buChar char="–"/>
              <a:tabLst>
                <a:tab pos="384810" algn="l"/>
              </a:tabLst>
            </a:pPr>
            <a:r>
              <a:rPr dirty="0" sz="800" spc="-10"/>
              <a:t>Difference</a:t>
            </a:r>
            <a:r>
              <a:rPr dirty="0" sz="800" spc="-20"/>
              <a:t> </a:t>
            </a:r>
            <a:r>
              <a:rPr dirty="0" sz="800"/>
              <a:t>in</a:t>
            </a:r>
            <a:r>
              <a:rPr dirty="0" sz="800" spc="5"/>
              <a:t> </a:t>
            </a:r>
            <a:r>
              <a:rPr dirty="0" sz="800" spc="-10"/>
              <a:t>Deployment</a:t>
            </a:r>
            <a:r>
              <a:rPr dirty="0" sz="800" spc="-20"/>
              <a:t> </a:t>
            </a:r>
            <a:r>
              <a:rPr dirty="0" sz="800"/>
              <a:t>to</a:t>
            </a:r>
            <a:r>
              <a:rPr dirty="0" sz="800" spc="5"/>
              <a:t> </a:t>
            </a:r>
            <a:r>
              <a:rPr dirty="0" sz="800"/>
              <a:t>Stage and</a:t>
            </a:r>
            <a:r>
              <a:rPr dirty="0" sz="800" spc="-5"/>
              <a:t> </a:t>
            </a:r>
            <a:r>
              <a:rPr dirty="0" sz="800" spc="-10"/>
              <a:t>Production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dirty="0" sz="800"/>
              <a:t>Different</a:t>
            </a:r>
            <a:r>
              <a:rPr dirty="0" sz="800" spc="-50"/>
              <a:t> </a:t>
            </a:r>
            <a:r>
              <a:rPr dirty="0" sz="800"/>
              <a:t>host</a:t>
            </a:r>
            <a:r>
              <a:rPr dirty="0" sz="800" spc="-55"/>
              <a:t> </a:t>
            </a:r>
            <a:r>
              <a:rPr dirty="0" sz="800"/>
              <a:t>behave</a:t>
            </a:r>
            <a:r>
              <a:rPr dirty="0" sz="800" spc="-40"/>
              <a:t> </a:t>
            </a:r>
            <a:r>
              <a:rPr dirty="0" sz="800" spc="-10"/>
              <a:t>differently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dirty="0" sz="800"/>
              <a:t>Long</a:t>
            </a:r>
            <a:r>
              <a:rPr dirty="0" sz="800" spc="-20"/>
              <a:t> </a:t>
            </a:r>
            <a:r>
              <a:rPr dirty="0" sz="800"/>
              <a:t>time</a:t>
            </a:r>
            <a:r>
              <a:rPr dirty="0" sz="800" spc="-50"/>
              <a:t> </a:t>
            </a:r>
            <a:r>
              <a:rPr dirty="0" sz="800"/>
              <a:t>to</a:t>
            </a:r>
            <a:r>
              <a:rPr dirty="0" sz="800" spc="-15"/>
              <a:t> </a:t>
            </a:r>
            <a:r>
              <a:rPr dirty="0" sz="800"/>
              <a:t>prepare</a:t>
            </a:r>
            <a:r>
              <a:rPr dirty="0" sz="800" spc="-20"/>
              <a:t> </a:t>
            </a:r>
            <a:r>
              <a:rPr dirty="0" sz="800"/>
              <a:t>an</a:t>
            </a:r>
            <a:r>
              <a:rPr dirty="0" sz="800" spc="-15"/>
              <a:t> </a:t>
            </a:r>
            <a:r>
              <a:rPr dirty="0" sz="800" spc="-10"/>
              <a:t>environment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5"/>
              </a:spcBef>
              <a:buChar char="–"/>
              <a:tabLst>
                <a:tab pos="384810" algn="l"/>
              </a:tabLst>
            </a:pPr>
            <a:r>
              <a:rPr dirty="0" sz="800"/>
              <a:t>Cannot</a:t>
            </a:r>
            <a:r>
              <a:rPr dirty="0" sz="800" spc="-20"/>
              <a:t> </a:t>
            </a:r>
            <a:r>
              <a:rPr dirty="0" sz="800"/>
              <a:t>step</a:t>
            </a:r>
            <a:r>
              <a:rPr dirty="0" sz="800" spc="-20"/>
              <a:t> </a:t>
            </a:r>
            <a:r>
              <a:rPr dirty="0" sz="800"/>
              <a:t>back</a:t>
            </a:r>
            <a:r>
              <a:rPr dirty="0" sz="800" spc="-15"/>
              <a:t> </a:t>
            </a:r>
            <a:r>
              <a:rPr dirty="0" sz="800"/>
              <a:t>to</a:t>
            </a:r>
            <a:r>
              <a:rPr dirty="0" sz="800" spc="-20"/>
              <a:t> </a:t>
            </a:r>
            <a:r>
              <a:rPr dirty="0" sz="800"/>
              <a:t>an</a:t>
            </a:r>
            <a:r>
              <a:rPr dirty="0" sz="800" spc="-10"/>
              <a:t> </a:t>
            </a:r>
            <a:r>
              <a:rPr dirty="0" sz="800"/>
              <a:t>earlier</a:t>
            </a:r>
            <a:r>
              <a:rPr dirty="0" sz="800" spc="-20"/>
              <a:t> </a:t>
            </a:r>
            <a:r>
              <a:rPr dirty="0" sz="800" spc="-10"/>
              <a:t>configuration</a:t>
            </a:r>
            <a:r>
              <a:rPr dirty="0" sz="800" spc="-35"/>
              <a:t> </a:t>
            </a:r>
            <a:r>
              <a:rPr dirty="0" sz="800"/>
              <a:t>of</a:t>
            </a:r>
            <a:r>
              <a:rPr dirty="0" sz="800" spc="-5"/>
              <a:t> </a:t>
            </a:r>
            <a:r>
              <a:rPr dirty="0" sz="800"/>
              <a:t>a</a:t>
            </a:r>
            <a:r>
              <a:rPr dirty="0" sz="800" spc="-15"/>
              <a:t> </a:t>
            </a:r>
            <a:r>
              <a:rPr dirty="0" sz="800" spc="-10"/>
              <a:t>system</a:t>
            </a:r>
            <a:endParaRPr sz="800"/>
          </a:p>
          <a:p>
            <a:pPr marL="384810" indent="-143510">
              <a:lnSpc>
                <a:spcPct val="100000"/>
              </a:lnSpc>
              <a:spcBef>
                <a:spcPts val="190"/>
              </a:spcBef>
              <a:buChar char="–"/>
              <a:tabLst>
                <a:tab pos="384810" algn="l"/>
              </a:tabLst>
            </a:pPr>
            <a:r>
              <a:rPr dirty="0" sz="800" spc="-10"/>
              <a:t>Modification</a:t>
            </a:r>
            <a:r>
              <a:rPr dirty="0" sz="800" spc="10"/>
              <a:t> </a:t>
            </a:r>
            <a:r>
              <a:rPr dirty="0" sz="800"/>
              <a:t>to</a:t>
            </a:r>
            <a:r>
              <a:rPr dirty="0" sz="800" spc="25"/>
              <a:t> </a:t>
            </a:r>
            <a:r>
              <a:rPr dirty="0" sz="800" spc="-10"/>
              <a:t>Configuration</a:t>
            </a:r>
            <a:r>
              <a:rPr dirty="0" sz="800" spc="25"/>
              <a:t> </a:t>
            </a:r>
            <a:r>
              <a:rPr dirty="0" sz="800" spc="-10"/>
              <a:t>Directly</a:t>
            </a:r>
            <a:endParaRPr sz="800"/>
          </a:p>
        </p:txBody>
      </p:sp>
      <p:sp>
        <p:nvSpPr>
          <p:cNvPr id="17" name="object 17" descr=""/>
          <p:cNvSpPr txBox="1"/>
          <p:nvPr/>
        </p:nvSpPr>
        <p:spPr>
          <a:xfrm>
            <a:off x="1328674" y="1223518"/>
            <a:ext cx="2821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latin typeface="Arial"/>
                <a:cs typeface="Arial"/>
              </a:rPr>
              <a:t>Release</a:t>
            </a:r>
            <a:r>
              <a:rPr dirty="0" sz="1800" spc="-165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Antipatterns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spc="-35" b="1">
                <a:latin typeface="Arial"/>
                <a:cs typeface="Arial"/>
              </a:rPr>
              <a:t>Cond..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1176324" y="967180"/>
            <a:ext cx="3415665" cy="3314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Problems</a:t>
            </a:r>
            <a:r>
              <a:rPr dirty="0" spc="-105"/>
              <a:t> </a:t>
            </a:r>
            <a:r>
              <a:rPr dirty="0"/>
              <a:t>of</a:t>
            </a:r>
            <a:r>
              <a:rPr dirty="0" spc="-95"/>
              <a:t> </a:t>
            </a:r>
            <a:r>
              <a:rPr dirty="0"/>
              <a:t>Delivering</a:t>
            </a:r>
            <a:r>
              <a:rPr dirty="0" spc="-85"/>
              <a:t> </a:t>
            </a:r>
            <a:r>
              <a:rPr dirty="0" spc="-10"/>
              <a:t>Software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1" name="object 21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9" name="object 29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17321" y="4914646"/>
            <a:ext cx="3545204" cy="528320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459"/>
              </a:spcBef>
            </a:pPr>
            <a:r>
              <a:rPr dirty="0" sz="1800" spc="-75" b="1">
                <a:latin typeface="Arial"/>
                <a:cs typeface="Arial"/>
              </a:rPr>
              <a:t>Five</a:t>
            </a:r>
            <a:r>
              <a:rPr dirty="0" sz="1800" spc="-80" b="1">
                <a:latin typeface="Arial"/>
                <a:cs typeface="Arial"/>
              </a:rPr>
              <a:t> different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80" b="1">
                <a:latin typeface="Arial"/>
                <a:cs typeface="Arial"/>
              </a:rPr>
              <a:t>categories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of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spc="-55" b="1">
                <a:latin typeface="Arial"/>
                <a:cs typeface="Arial"/>
              </a:rPr>
              <a:t>DevOps </a:t>
            </a:r>
            <a:r>
              <a:rPr dirty="0" sz="1800" spc="-10" b="1">
                <a:latin typeface="Arial"/>
                <a:cs typeface="Arial"/>
              </a:rPr>
              <a:t>practices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33" name="object 33" descr=""/>
          <p:cNvSpPr txBox="1"/>
          <p:nvPr/>
        </p:nvSpPr>
        <p:spPr>
          <a:xfrm>
            <a:off x="1328674" y="5598414"/>
            <a:ext cx="3983354" cy="1635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20320" indent="-172720">
              <a:lnSpc>
                <a:spcPct val="100000"/>
              </a:lnSpc>
              <a:spcBef>
                <a:spcPts val="100"/>
              </a:spcBef>
              <a:buClr>
                <a:srgbClr val="0F1141"/>
              </a:buClr>
              <a:buChar char="•"/>
              <a:tabLst>
                <a:tab pos="184785" algn="l"/>
              </a:tabLst>
            </a:pPr>
            <a:r>
              <a:rPr dirty="0" sz="1200">
                <a:latin typeface="Arial MT"/>
                <a:cs typeface="Arial MT"/>
              </a:rPr>
              <a:t>Treat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Ops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first-</a:t>
            </a:r>
            <a:r>
              <a:rPr dirty="0" sz="1200">
                <a:latin typeface="Arial MT"/>
                <a:cs typeface="Arial MT"/>
              </a:rPr>
              <a:t>class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citizens</a:t>
            </a:r>
            <a:r>
              <a:rPr dirty="0" sz="1200" spc="-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from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point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of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view</a:t>
            </a:r>
            <a:r>
              <a:rPr dirty="0" sz="1200" spc="5">
                <a:latin typeface="Arial MT"/>
                <a:cs typeface="Arial MT"/>
              </a:rPr>
              <a:t> </a:t>
            </a:r>
            <a:r>
              <a:rPr dirty="0" sz="1200" spc="-25">
                <a:latin typeface="Arial MT"/>
                <a:cs typeface="Arial MT"/>
              </a:rPr>
              <a:t>of </a:t>
            </a:r>
            <a:r>
              <a:rPr dirty="0" sz="1200" spc="-10">
                <a:latin typeface="Arial MT"/>
                <a:cs typeface="Arial MT"/>
              </a:rPr>
              <a:t>requirements</a:t>
            </a:r>
            <a:endParaRPr sz="1200">
              <a:latin typeface="Arial MT"/>
              <a:cs typeface="Arial MT"/>
            </a:endParaRPr>
          </a:p>
          <a:p>
            <a:pPr marL="184785" marR="520065" indent="-172720">
              <a:lnSpc>
                <a:spcPct val="100000"/>
              </a:lnSpc>
              <a:spcBef>
                <a:spcPts val="285"/>
              </a:spcBef>
              <a:buClr>
                <a:srgbClr val="0F1141"/>
              </a:buClr>
              <a:buChar char="•"/>
              <a:tabLst>
                <a:tab pos="184785" algn="l"/>
              </a:tabLst>
            </a:pPr>
            <a:r>
              <a:rPr dirty="0" sz="1200">
                <a:latin typeface="Arial MT"/>
                <a:cs typeface="Arial MT"/>
              </a:rPr>
              <a:t>Make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Dev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more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responsible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for</a:t>
            </a:r>
            <a:r>
              <a:rPr dirty="0" sz="1200" spc="-4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relevant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incident handling</a:t>
            </a:r>
            <a:endParaRPr sz="1200">
              <a:latin typeface="Arial MT"/>
              <a:cs typeface="Arial MT"/>
            </a:endParaRPr>
          </a:p>
          <a:p>
            <a:pPr marL="185420" indent="-172720">
              <a:lnSpc>
                <a:spcPct val="100000"/>
              </a:lnSpc>
              <a:spcBef>
                <a:spcPts val="290"/>
              </a:spcBef>
              <a:buClr>
                <a:srgbClr val="0F1141"/>
              </a:buClr>
              <a:buChar char="•"/>
              <a:tabLst>
                <a:tab pos="185420" algn="l"/>
              </a:tabLst>
            </a:pPr>
            <a:r>
              <a:rPr dirty="0" sz="1200">
                <a:latin typeface="Arial MT"/>
                <a:cs typeface="Arial MT"/>
              </a:rPr>
              <a:t>Enforce</a:t>
            </a:r>
            <a:r>
              <a:rPr dirty="0" sz="1200" spc="-4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the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deployment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process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used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by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all,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including</a:t>
            </a:r>
            <a:endParaRPr sz="1200">
              <a:latin typeface="Arial MT"/>
              <a:cs typeface="Arial MT"/>
            </a:endParaRPr>
          </a:p>
          <a:p>
            <a:pPr marL="184785">
              <a:lnSpc>
                <a:spcPct val="100000"/>
              </a:lnSpc>
            </a:pPr>
            <a:r>
              <a:rPr dirty="0" sz="1200">
                <a:latin typeface="Arial MT"/>
                <a:cs typeface="Arial MT"/>
              </a:rPr>
              <a:t>Dev and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Ops</a:t>
            </a:r>
            <a:r>
              <a:rPr dirty="0" sz="1200" spc="-2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personnel</a:t>
            </a:r>
            <a:endParaRPr sz="1200">
              <a:latin typeface="Arial MT"/>
              <a:cs typeface="Arial MT"/>
            </a:endParaRPr>
          </a:p>
          <a:p>
            <a:pPr marL="186055" indent="-173355">
              <a:lnSpc>
                <a:spcPct val="100000"/>
              </a:lnSpc>
              <a:spcBef>
                <a:spcPts val="290"/>
              </a:spcBef>
              <a:buClr>
                <a:srgbClr val="0F1141"/>
              </a:buClr>
              <a:buChar char="•"/>
              <a:tabLst>
                <a:tab pos="186055" algn="l"/>
              </a:tabLst>
            </a:pPr>
            <a:r>
              <a:rPr dirty="0" sz="1200">
                <a:latin typeface="Arial MT"/>
                <a:cs typeface="Arial MT"/>
              </a:rPr>
              <a:t>Use</a:t>
            </a:r>
            <a:r>
              <a:rPr dirty="0" sz="1200" spc="-1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continuous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deployment</a:t>
            </a:r>
            <a:endParaRPr sz="1200">
              <a:latin typeface="Arial MT"/>
              <a:cs typeface="Arial MT"/>
            </a:endParaRPr>
          </a:p>
          <a:p>
            <a:pPr marL="186055" indent="-173355">
              <a:lnSpc>
                <a:spcPct val="100000"/>
              </a:lnSpc>
              <a:spcBef>
                <a:spcPts val="285"/>
              </a:spcBef>
              <a:buClr>
                <a:srgbClr val="0F1141"/>
              </a:buClr>
              <a:buChar char="•"/>
              <a:tabLst>
                <a:tab pos="186055" algn="l"/>
              </a:tabLst>
            </a:pPr>
            <a:r>
              <a:rPr dirty="0" sz="1200">
                <a:latin typeface="Arial MT"/>
                <a:cs typeface="Arial MT"/>
              </a:rPr>
              <a:t>Develop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infrastructure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code,</a:t>
            </a:r>
            <a:r>
              <a:rPr dirty="0" sz="1200" spc="-3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such</a:t>
            </a:r>
            <a:r>
              <a:rPr dirty="0" sz="1200" spc="-2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as</a:t>
            </a:r>
            <a:r>
              <a:rPr dirty="0" sz="1200" spc="-10">
                <a:latin typeface="Arial MT"/>
                <a:cs typeface="Arial MT"/>
              </a:rPr>
              <a:t> </a:t>
            </a:r>
            <a:r>
              <a:rPr dirty="0" sz="1200">
                <a:latin typeface="Arial MT"/>
                <a:cs typeface="Arial MT"/>
              </a:rPr>
              <a:t>deployment</a:t>
            </a:r>
            <a:r>
              <a:rPr dirty="0" sz="1200" spc="-35">
                <a:latin typeface="Arial MT"/>
                <a:cs typeface="Arial MT"/>
              </a:rPr>
              <a:t> </a:t>
            </a:r>
            <a:r>
              <a:rPr dirty="0" sz="1200" spc="-10">
                <a:latin typeface="Arial MT"/>
                <a:cs typeface="Arial MT"/>
              </a:rPr>
              <a:t>scripts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1328674" y="1588744"/>
            <a:ext cx="3896995" cy="1836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Create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Repeatable,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Reliable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Process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Releasing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Software Automate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Almost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Everything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1100">
                <a:latin typeface="Arial MT"/>
                <a:cs typeface="Arial MT"/>
              </a:rPr>
              <a:t>Keep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Everything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Version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Control</a:t>
            </a:r>
            <a:endParaRPr sz="1100">
              <a:latin typeface="Arial MT"/>
              <a:cs typeface="Arial MT"/>
            </a:endParaRPr>
          </a:p>
          <a:p>
            <a:pPr marL="12700" marR="110489">
              <a:lnSpc>
                <a:spcPct val="120000"/>
              </a:lnSpc>
            </a:pPr>
            <a:r>
              <a:rPr dirty="0" sz="1100">
                <a:latin typeface="Arial MT"/>
                <a:cs typeface="Arial MT"/>
              </a:rPr>
              <a:t>If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Hurts,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More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Frequently, </a:t>
            </a:r>
            <a:r>
              <a:rPr dirty="0" sz="1100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Bring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Pain</a:t>
            </a:r>
            <a:r>
              <a:rPr dirty="0" sz="1100" spc="-10">
                <a:latin typeface="Arial MT"/>
                <a:cs typeface="Arial MT"/>
              </a:rPr>
              <a:t> Forward </a:t>
            </a:r>
            <a:r>
              <a:rPr dirty="0" sz="1100">
                <a:latin typeface="Arial MT"/>
                <a:cs typeface="Arial MT"/>
              </a:rPr>
              <a:t>Build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Quality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In</a:t>
            </a:r>
            <a:endParaRPr sz="1100">
              <a:latin typeface="Arial MT"/>
              <a:cs typeface="Arial MT"/>
            </a:endParaRPr>
          </a:p>
          <a:p>
            <a:pPr marL="12700" marR="43815">
              <a:lnSpc>
                <a:spcPct val="120000"/>
              </a:lnSpc>
            </a:pPr>
            <a:r>
              <a:rPr dirty="0" sz="1100">
                <a:latin typeface="Arial MT"/>
                <a:cs typeface="Arial MT"/>
              </a:rPr>
              <a:t>“The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Earlier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you catch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defects,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cheaper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they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fix” </a:t>
            </a:r>
            <a:r>
              <a:rPr dirty="0" sz="1100">
                <a:latin typeface="Arial MT"/>
                <a:cs typeface="Arial MT"/>
              </a:rPr>
              <a:t>Done,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Means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Released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>
                <a:latin typeface="Arial MT"/>
                <a:cs typeface="Arial MT"/>
              </a:rPr>
              <a:t>Everybody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Responsible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Delivery </a:t>
            </a:r>
            <a:r>
              <a:rPr dirty="0" sz="1100" spc="-10">
                <a:latin typeface="Arial MT"/>
                <a:cs typeface="Arial MT"/>
              </a:rPr>
              <a:t>Process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1100">
                <a:latin typeface="Arial MT"/>
                <a:cs typeface="Arial MT"/>
              </a:rPr>
              <a:t>Continuous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Improvement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28674" y="945261"/>
            <a:ext cx="2326640" cy="5213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950"/>
              </a:lnSpc>
              <a:spcBef>
                <a:spcPts val="100"/>
              </a:spcBef>
            </a:pPr>
            <a:r>
              <a:rPr dirty="0" sz="1750" spc="-80" b="1">
                <a:latin typeface="Arial"/>
                <a:cs typeface="Arial"/>
              </a:rPr>
              <a:t>Principle</a:t>
            </a:r>
            <a:r>
              <a:rPr dirty="0" sz="1750" spc="-140" b="1">
                <a:latin typeface="Arial"/>
                <a:cs typeface="Arial"/>
              </a:rPr>
              <a:t> </a:t>
            </a:r>
            <a:r>
              <a:rPr dirty="0" sz="1750" spc="-55" b="1">
                <a:latin typeface="Arial"/>
                <a:cs typeface="Arial"/>
              </a:rPr>
              <a:t>of</a:t>
            </a:r>
            <a:r>
              <a:rPr dirty="0" sz="1750" spc="-120" b="1">
                <a:latin typeface="Arial"/>
                <a:cs typeface="Arial"/>
              </a:rPr>
              <a:t> </a:t>
            </a:r>
            <a:r>
              <a:rPr dirty="0" sz="1750" spc="-60" b="1">
                <a:latin typeface="Arial"/>
                <a:cs typeface="Arial"/>
              </a:rPr>
              <a:t>Continuous</a:t>
            </a:r>
            <a:endParaRPr sz="1750">
              <a:latin typeface="Arial"/>
              <a:cs typeface="Arial"/>
            </a:endParaRPr>
          </a:p>
          <a:p>
            <a:pPr marL="12700">
              <a:lnSpc>
                <a:spcPts val="1950"/>
              </a:lnSpc>
            </a:pPr>
            <a:r>
              <a:rPr dirty="0" sz="1750" spc="-10" b="1">
                <a:latin typeface="Arial"/>
                <a:cs typeface="Arial"/>
              </a:rPr>
              <a:t>Delivery</a:t>
            </a:r>
            <a:endParaRPr sz="17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0" name="object 20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8" name="object 28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617321" y="5028946"/>
            <a:ext cx="733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 b="1">
                <a:latin typeface="Arial"/>
                <a:cs typeface="Arial"/>
              </a:rPr>
              <a:t>NetFlix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3348354" y="7634732"/>
            <a:ext cx="2176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Segoe UI"/>
                <a:cs typeface="Segoe UI"/>
              </a:rPr>
              <a:t>https://netflixtechblog.com/how-we-build- code-at-netflix-c5d9bd727f15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65365" y="5739751"/>
            <a:ext cx="4344289" cy="989370"/>
          </a:xfrm>
          <a:prstGeom prst="rect">
            <a:avLst/>
          </a:prstGeom>
        </p:spPr>
      </p:pic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621663"/>
            <a:ext cx="6972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Arial MT"/>
                <a:cs typeface="Arial MT"/>
              </a:rPr>
              <a:t>Facebook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20800" y="3824096"/>
            <a:ext cx="36887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Segoe UI"/>
                <a:cs typeface="Segoe UI"/>
              </a:rPr>
              <a:t>https://netflixtechblog.com/how-we-build-code-at-netflix-c5d9bd727f15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0716" y="2002221"/>
            <a:ext cx="4259453" cy="1412821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5575808" y="8152892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770633" y="8119802"/>
            <a:ext cx="4706620" cy="24765"/>
            <a:chOff x="1770633" y="8119802"/>
            <a:chExt cx="4706620" cy="24765"/>
          </a:xfrm>
        </p:grpSpPr>
        <p:sp>
          <p:nvSpPr>
            <p:cNvPr id="21" name="object 21" descr=""/>
            <p:cNvSpPr/>
            <p:nvPr/>
          </p:nvSpPr>
          <p:spPr>
            <a:xfrm>
              <a:off x="3468116" y="8119802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5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986908" y="8119802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770633" y="8119802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5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378200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803399" y="8121389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924425" y="8121389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4844796"/>
            <a:ext cx="1462659" cy="346075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381000" y="5492464"/>
            <a:ext cx="4673600" cy="23495"/>
            <a:chOff x="381000" y="5492464"/>
            <a:chExt cx="4673600" cy="23495"/>
          </a:xfrm>
        </p:grpSpPr>
        <p:sp>
          <p:nvSpPr>
            <p:cNvPr id="29" name="object 29" descr=""/>
            <p:cNvSpPr/>
            <p:nvPr/>
          </p:nvSpPr>
          <p:spPr>
            <a:xfrm>
              <a:off x="1955800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81000" y="5492464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502025" y="5492464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617321" y="5028946"/>
            <a:ext cx="1028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latin typeface="Arial"/>
                <a:cs typeface="Arial"/>
              </a:rPr>
              <a:t>Facebook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8358" y="6039530"/>
            <a:ext cx="3947661" cy="1241631"/>
          </a:xfrm>
          <a:prstGeom prst="rect">
            <a:avLst/>
          </a:prstGeom>
        </p:spPr>
      </p:pic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575808" y="4176141"/>
            <a:ext cx="868044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b="1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dirty="0" sz="550" spc="-15" b="1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dirty="0" sz="550" spc="-1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dirty="0" sz="550" spc="-5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dirty="0" sz="550" spc="-1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55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0633" y="4143660"/>
            <a:ext cx="4706620" cy="24765"/>
            <a:chOff x="1770633" y="4143660"/>
            <a:chExt cx="4706620" cy="24765"/>
          </a:xfrm>
        </p:grpSpPr>
        <p:sp>
          <p:nvSpPr>
            <p:cNvPr id="5" name="object 5" descr=""/>
            <p:cNvSpPr/>
            <p:nvPr/>
          </p:nvSpPr>
          <p:spPr>
            <a:xfrm>
              <a:off x="3468116" y="4143660"/>
              <a:ext cx="1552575" cy="24765"/>
            </a:xfrm>
            <a:custGeom>
              <a:avLst/>
              <a:gdLst/>
              <a:ahLst/>
              <a:cxnLst/>
              <a:rect l="l" t="t" r="r" b="b"/>
              <a:pathLst>
                <a:path w="1552575" h="24764">
                  <a:moveTo>
                    <a:pt x="1552575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552575" y="24606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986908" y="4143724"/>
              <a:ext cx="1490345" cy="23495"/>
            </a:xfrm>
            <a:custGeom>
              <a:avLst/>
              <a:gdLst/>
              <a:ahLst/>
              <a:cxnLst/>
              <a:rect l="l" t="t" r="r" b="b"/>
              <a:pathLst>
                <a:path w="1490345" h="23495">
                  <a:moveTo>
                    <a:pt x="149009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490090" y="23018"/>
                  </a:lnTo>
                  <a:lnTo>
                    <a:pt x="1490090" y="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770633" y="4143660"/>
              <a:ext cx="1720850" cy="24765"/>
            </a:xfrm>
            <a:custGeom>
              <a:avLst/>
              <a:gdLst/>
              <a:ahLst/>
              <a:cxnLst/>
              <a:rect l="l" t="t" r="r" b="b"/>
              <a:pathLst>
                <a:path w="1720850" h="24764">
                  <a:moveTo>
                    <a:pt x="1720849" y="0"/>
                  </a:moveTo>
                  <a:lnTo>
                    <a:pt x="0" y="0"/>
                  </a:lnTo>
                  <a:lnTo>
                    <a:pt x="0" y="24606"/>
                  </a:lnTo>
                  <a:lnTo>
                    <a:pt x="1720849" y="24606"/>
                  </a:lnTo>
                  <a:lnTo>
                    <a:pt x="1720849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78200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803399" y="41452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5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24425" y="41452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5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00600" y="868680"/>
            <a:ext cx="1462659" cy="346075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81000" y="1516348"/>
            <a:ext cx="4673600" cy="23495"/>
            <a:chOff x="381000" y="1516348"/>
            <a:chExt cx="4673600" cy="23495"/>
          </a:xfrm>
        </p:grpSpPr>
        <p:sp>
          <p:nvSpPr>
            <p:cNvPr id="13" name="object 13" descr=""/>
            <p:cNvSpPr/>
            <p:nvPr/>
          </p:nvSpPr>
          <p:spPr>
            <a:xfrm>
              <a:off x="1955800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76C2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81000" y="1516348"/>
              <a:ext cx="1574800" cy="23495"/>
            </a:xfrm>
            <a:custGeom>
              <a:avLst/>
              <a:gdLst/>
              <a:ahLst/>
              <a:cxnLst/>
              <a:rect l="l" t="t" r="r" b="b"/>
              <a:pathLst>
                <a:path w="1574800" h="23494">
                  <a:moveTo>
                    <a:pt x="1574800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74800" y="23018"/>
                  </a:lnTo>
                  <a:lnTo>
                    <a:pt x="1574800" y="0"/>
                  </a:lnTo>
                  <a:close/>
                </a:path>
              </a:pathLst>
            </a:custGeom>
            <a:solidFill>
              <a:srgbClr val="FBAF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502025" y="1516348"/>
              <a:ext cx="1552575" cy="23495"/>
            </a:xfrm>
            <a:custGeom>
              <a:avLst/>
              <a:gdLst/>
              <a:ahLst/>
              <a:cxnLst/>
              <a:rect l="l" t="t" r="r" b="b"/>
              <a:pathLst>
                <a:path w="1552575" h="23494">
                  <a:moveTo>
                    <a:pt x="1552575" y="0"/>
                  </a:moveTo>
                  <a:lnTo>
                    <a:pt x="0" y="0"/>
                  </a:lnTo>
                  <a:lnTo>
                    <a:pt x="0" y="23018"/>
                  </a:lnTo>
                  <a:lnTo>
                    <a:pt x="1552575" y="23018"/>
                  </a:lnTo>
                  <a:lnTo>
                    <a:pt x="1552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617321" y="1051941"/>
            <a:ext cx="9645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latin typeface="Arial"/>
                <a:cs typeface="Arial"/>
              </a:rPr>
              <a:t>facebook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2436" y="2069071"/>
            <a:ext cx="3881004" cy="1441728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381000" y="4844732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22860" rIns="0" bIns="0" rtlCol="0" vert="horz">
            <a:spAutoFit/>
          </a:bodyPr>
          <a:lstStyle/>
          <a:p>
            <a:pPr marL="347980" marR="581660">
              <a:lnSpc>
                <a:spcPct val="100000"/>
              </a:lnSpc>
              <a:spcBef>
                <a:spcPts val="180"/>
              </a:spcBef>
            </a:pPr>
            <a:r>
              <a:rPr dirty="0" sz="1800" spc="-210" b="1">
                <a:solidFill>
                  <a:srgbClr val="202429"/>
                </a:solidFill>
                <a:latin typeface="Verdana"/>
                <a:cs typeface="Verdana"/>
              </a:rPr>
              <a:t>5</a:t>
            </a:r>
            <a:r>
              <a:rPr dirty="0" sz="1800" spc="-10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1800" spc="-70" b="1">
                <a:solidFill>
                  <a:srgbClr val="202429"/>
                </a:solidFill>
                <a:latin typeface="Verdana"/>
                <a:cs typeface="Verdana"/>
              </a:rPr>
              <a:t>trends</a:t>
            </a:r>
            <a:r>
              <a:rPr dirty="0" sz="1800" spc="-11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1800" spc="-70" b="1">
                <a:solidFill>
                  <a:srgbClr val="202429"/>
                </a:solidFill>
                <a:latin typeface="Verdana"/>
                <a:cs typeface="Verdana"/>
              </a:rPr>
              <a:t>that</a:t>
            </a:r>
            <a:r>
              <a:rPr dirty="0" sz="1800" spc="-10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1800" spc="-95" b="1">
                <a:solidFill>
                  <a:srgbClr val="202429"/>
                </a:solidFill>
                <a:latin typeface="Verdana"/>
                <a:cs typeface="Verdana"/>
              </a:rPr>
              <a:t>are</a:t>
            </a:r>
            <a:r>
              <a:rPr dirty="0" sz="1800" spc="-9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1800" spc="-55" b="1">
                <a:solidFill>
                  <a:srgbClr val="202429"/>
                </a:solidFill>
                <a:latin typeface="Verdana"/>
                <a:cs typeface="Verdana"/>
              </a:rPr>
              <a:t>influencing</a:t>
            </a:r>
            <a:r>
              <a:rPr dirty="0" sz="1800" spc="-9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1800" spc="-60" b="1">
                <a:solidFill>
                  <a:srgbClr val="202429"/>
                </a:solidFill>
                <a:latin typeface="Verdana"/>
                <a:cs typeface="Verdana"/>
              </a:rPr>
              <a:t>the</a:t>
            </a:r>
            <a:r>
              <a:rPr dirty="0" sz="1800" spc="-95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1800" spc="-45" b="1">
                <a:solidFill>
                  <a:srgbClr val="202429"/>
                </a:solidFill>
                <a:latin typeface="Verdana"/>
                <a:cs typeface="Verdana"/>
              </a:rPr>
              <a:t>adoptions </a:t>
            </a:r>
            <a:r>
              <a:rPr dirty="0" sz="1800" spc="-70" b="1">
                <a:solidFill>
                  <a:srgbClr val="202429"/>
                </a:solidFill>
                <a:latin typeface="Verdana"/>
                <a:cs typeface="Verdana"/>
              </a:rPr>
              <a:t>of</a:t>
            </a:r>
            <a:r>
              <a:rPr dirty="0" sz="1800" spc="-11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1800" spc="-10" b="1">
                <a:solidFill>
                  <a:srgbClr val="202429"/>
                </a:solidFill>
                <a:latin typeface="Verdana"/>
                <a:cs typeface="Verdana"/>
              </a:rPr>
              <a:t>DevOps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2125979" y="6108064"/>
            <a:ext cx="27940" cy="5080"/>
          </a:xfrm>
          <a:custGeom>
            <a:avLst/>
            <a:gdLst/>
            <a:ahLst/>
            <a:cxnLst/>
            <a:rect l="l" t="t" r="r" b="b"/>
            <a:pathLst>
              <a:path w="27939" h="5079">
                <a:moveTo>
                  <a:pt x="27431" y="0"/>
                </a:moveTo>
                <a:lnTo>
                  <a:pt x="0" y="0"/>
                </a:lnTo>
                <a:lnTo>
                  <a:pt x="0" y="4572"/>
                </a:lnTo>
                <a:lnTo>
                  <a:pt x="27431" y="4572"/>
                </a:lnTo>
                <a:lnTo>
                  <a:pt x="27431" y="0"/>
                </a:lnTo>
                <a:close/>
              </a:path>
            </a:pathLst>
          </a:custGeom>
          <a:solidFill>
            <a:srgbClr val="0462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833424" y="5743905"/>
            <a:ext cx="5221605" cy="20523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90"/>
              </a:spcBef>
            </a:pPr>
            <a:r>
              <a:rPr dirty="0" u="sng" sz="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The DevOps</a:t>
            </a:r>
            <a:r>
              <a:rPr dirty="0" u="sng" sz="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process</a:t>
            </a:r>
            <a:r>
              <a:rPr dirty="0" u="sng" sz="800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involves </a:t>
            </a:r>
            <a:r>
              <a:rPr dirty="0" u="sng" sz="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an</a:t>
            </a:r>
            <a:r>
              <a:rPr dirty="0" u="sng" sz="800" spc="-3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amalgamation</a:t>
            </a:r>
            <a:r>
              <a:rPr dirty="0" u="sng" sz="800" spc="-6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of</a:t>
            </a:r>
            <a:r>
              <a:rPr dirty="0" u="sng" sz="8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software</a:t>
            </a:r>
            <a:r>
              <a:rPr dirty="0" u="sng" sz="800" spc="-4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development</a:t>
            </a:r>
            <a:r>
              <a:rPr dirty="0" u="sng" sz="800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and</a:t>
            </a:r>
            <a:r>
              <a:rPr dirty="0" u="sng" sz="800" spc="-1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 spc="-7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IT</a:t>
            </a:r>
            <a:r>
              <a:rPr dirty="0" u="sng" sz="8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 </a:t>
            </a:r>
            <a:r>
              <a:rPr dirty="0" u="sng" sz="8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Verdana"/>
                <a:cs typeface="Verdana"/>
                <a:hlinkClick r:id="rId4"/>
              </a:rPr>
              <a:t>operations</a:t>
            </a:r>
            <a:r>
              <a:rPr dirty="0" sz="800" spc="-10">
                <a:solidFill>
                  <a:srgbClr val="202429"/>
                </a:solidFill>
                <a:latin typeface="Verdana"/>
                <a:cs typeface="Verdana"/>
              </a:rPr>
              <a:t>.</a:t>
            </a:r>
            <a:r>
              <a:rPr dirty="0" sz="800" spc="-4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The</a:t>
            </a:r>
            <a:r>
              <a:rPr dirty="0" sz="800" spc="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202429"/>
                </a:solidFill>
                <a:latin typeface="Verdana"/>
                <a:cs typeface="Verdana"/>
              </a:rPr>
              <a:t>major objective</a:t>
            </a:r>
            <a:r>
              <a:rPr dirty="0" sz="800" spc="-25">
                <a:solidFill>
                  <a:srgbClr val="202429"/>
                </a:solidFill>
                <a:latin typeface="Verdana"/>
                <a:cs typeface="Verdana"/>
              </a:rPr>
              <a:t> is</a:t>
            </a:r>
            <a:r>
              <a:rPr dirty="0" sz="800" spc="-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to</a:t>
            </a:r>
            <a:r>
              <a:rPr dirty="0" sz="800" spc="-1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reduce</a:t>
            </a:r>
            <a:r>
              <a:rPr dirty="0" sz="800" spc="-2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the</a:t>
            </a:r>
            <a:r>
              <a:rPr dirty="0" sz="800" spc="-10">
                <a:solidFill>
                  <a:srgbClr val="202429"/>
                </a:solidFill>
                <a:latin typeface="Verdana"/>
                <a:cs typeface="Verdana"/>
              </a:rPr>
              <a:t> system’s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 development </a:t>
            </a:r>
            <a:r>
              <a:rPr dirty="0" sz="800" spc="-10">
                <a:solidFill>
                  <a:srgbClr val="202429"/>
                </a:solidFill>
                <a:latin typeface="Verdana"/>
                <a:cs typeface="Verdana"/>
              </a:rPr>
              <a:t>life</a:t>
            </a:r>
            <a:r>
              <a:rPr dirty="0" sz="800" spc="-4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20">
                <a:solidFill>
                  <a:srgbClr val="202429"/>
                </a:solidFill>
                <a:latin typeface="Verdana"/>
                <a:cs typeface="Verdana"/>
              </a:rPr>
              <a:t>cycle,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which</a:t>
            </a:r>
            <a:r>
              <a:rPr dirty="0" sz="800" spc="-2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can</a:t>
            </a:r>
            <a:r>
              <a:rPr dirty="0" sz="800" spc="-2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provide</a:t>
            </a:r>
            <a:r>
              <a:rPr dirty="0" sz="800" spc="-1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high</a:t>
            </a:r>
            <a:r>
              <a:rPr dirty="0" sz="800" spc="-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software</a:t>
            </a:r>
            <a:r>
              <a:rPr dirty="0" sz="800" spc="-5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202429"/>
                </a:solidFill>
                <a:latin typeface="Verdana"/>
                <a:cs typeface="Verdana"/>
              </a:rPr>
              <a:t>quality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along</a:t>
            </a:r>
            <a:r>
              <a:rPr dirty="0" sz="800" spc="1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with</a:t>
            </a:r>
            <a:r>
              <a:rPr dirty="0" sz="800" spc="15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>
                <a:solidFill>
                  <a:srgbClr val="202429"/>
                </a:solidFill>
                <a:latin typeface="Verdana"/>
                <a:cs typeface="Verdana"/>
              </a:rPr>
              <a:t>continuous</a:t>
            </a:r>
            <a:r>
              <a:rPr dirty="0" sz="800" spc="20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10">
                <a:solidFill>
                  <a:srgbClr val="202429"/>
                </a:solidFill>
                <a:latin typeface="Verdana"/>
                <a:cs typeface="Verdana"/>
              </a:rPr>
              <a:t>delivery.</a:t>
            </a:r>
            <a:endParaRPr sz="800">
              <a:latin typeface="Verdana"/>
              <a:cs typeface="Verdana"/>
            </a:endParaRPr>
          </a:p>
          <a:p>
            <a:pPr marL="469265" marR="2626995">
              <a:lnSpc>
                <a:spcPct val="242499"/>
              </a:lnSpc>
            </a:pPr>
            <a:r>
              <a:rPr dirty="0" sz="800" spc="-30" b="1">
                <a:solidFill>
                  <a:srgbClr val="202429"/>
                </a:solidFill>
                <a:latin typeface="Verdana"/>
                <a:cs typeface="Verdana"/>
              </a:rPr>
              <a:t>Monolithic</a:t>
            </a:r>
            <a:r>
              <a:rPr dirty="0" sz="800" spc="5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20" b="1">
                <a:solidFill>
                  <a:srgbClr val="202429"/>
                </a:solidFill>
                <a:latin typeface="Verdana"/>
                <a:cs typeface="Verdana"/>
              </a:rPr>
              <a:t>to</a:t>
            </a:r>
            <a:r>
              <a:rPr dirty="0" sz="800" spc="1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40" b="1">
                <a:solidFill>
                  <a:srgbClr val="202429"/>
                </a:solidFill>
                <a:latin typeface="Verdana"/>
                <a:cs typeface="Verdana"/>
              </a:rPr>
              <a:t>Microservice</a:t>
            </a:r>
            <a:r>
              <a:rPr dirty="0" sz="800" spc="-2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202429"/>
                </a:solidFill>
                <a:latin typeface="Verdana"/>
                <a:cs typeface="Verdana"/>
              </a:rPr>
              <a:t>Architecture </a:t>
            </a:r>
            <a:r>
              <a:rPr dirty="0" sz="800" spc="-25" b="1">
                <a:solidFill>
                  <a:srgbClr val="202429"/>
                </a:solidFill>
                <a:latin typeface="Verdana"/>
                <a:cs typeface="Verdana"/>
              </a:rPr>
              <a:t>Cloud</a:t>
            </a:r>
            <a:r>
              <a:rPr dirty="0" sz="800" spc="-3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60" b="1">
                <a:solidFill>
                  <a:srgbClr val="202429"/>
                </a:solidFill>
                <a:latin typeface="Verdana"/>
                <a:cs typeface="Verdana"/>
              </a:rPr>
              <a:t>as</a:t>
            </a:r>
            <a:r>
              <a:rPr dirty="0" sz="800" spc="-30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202429"/>
                </a:solidFill>
                <a:latin typeface="Verdana"/>
                <a:cs typeface="Verdana"/>
              </a:rPr>
              <a:t>default</a:t>
            </a:r>
            <a:endParaRPr sz="800">
              <a:latin typeface="Verdana"/>
              <a:cs typeface="Verdana"/>
            </a:endParaRPr>
          </a:p>
          <a:p>
            <a:pPr marL="469265" marR="2765425">
              <a:lnSpc>
                <a:spcPct val="242499"/>
              </a:lnSpc>
            </a:pPr>
            <a:r>
              <a:rPr dirty="0" sz="800" spc="-45" b="1">
                <a:solidFill>
                  <a:srgbClr val="202429"/>
                </a:solidFill>
                <a:latin typeface="Verdana"/>
                <a:cs typeface="Verdana"/>
              </a:rPr>
              <a:t>Release</a:t>
            </a:r>
            <a:r>
              <a:rPr dirty="0" sz="800" spc="-30" b="1">
                <a:solidFill>
                  <a:srgbClr val="202429"/>
                </a:solidFill>
                <a:latin typeface="Verdana"/>
                <a:cs typeface="Verdana"/>
              </a:rPr>
              <a:t> and deployment</a:t>
            </a:r>
            <a:r>
              <a:rPr dirty="0" sz="800" spc="-15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202429"/>
                </a:solidFill>
                <a:latin typeface="Verdana"/>
                <a:cs typeface="Verdana"/>
              </a:rPr>
              <a:t>automation Agile</a:t>
            </a:r>
            <a:r>
              <a:rPr dirty="0" sz="800" spc="-25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10" b="1">
                <a:solidFill>
                  <a:srgbClr val="202429"/>
                </a:solidFill>
                <a:latin typeface="Verdana"/>
                <a:cs typeface="Verdana"/>
              </a:rPr>
              <a:t>infrastructure</a:t>
            </a: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Verdana"/>
              <a:cs typeface="Verdana"/>
            </a:endParaRPr>
          </a:p>
          <a:p>
            <a:pPr marL="469265">
              <a:lnSpc>
                <a:spcPct val="100000"/>
              </a:lnSpc>
              <a:spcBef>
                <a:spcPts val="5"/>
              </a:spcBef>
            </a:pPr>
            <a:r>
              <a:rPr dirty="0" sz="800" spc="-105" b="1">
                <a:solidFill>
                  <a:srgbClr val="202429"/>
                </a:solidFill>
                <a:latin typeface="Verdana"/>
                <a:cs typeface="Verdana"/>
              </a:rPr>
              <a:t>AI</a:t>
            </a:r>
            <a:r>
              <a:rPr dirty="0" sz="800" spc="-45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30" b="1">
                <a:solidFill>
                  <a:srgbClr val="202429"/>
                </a:solidFill>
                <a:latin typeface="Verdana"/>
                <a:cs typeface="Verdana"/>
              </a:rPr>
              <a:t>and</a:t>
            </a:r>
            <a:r>
              <a:rPr dirty="0" sz="800" spc="-45" b="1">
                <a:solidFill>
                  <a:srgbClr val="202429"/>
                </a:solidFill>
                <a:latin typeface="Verdana"/>
                <a:cs typeface="Verdana"/>
              </a:rPr>
              <a:t> </a:t>
            </a:r>
            <a:r>
              <a:rPr dirty="0" sz="800" spc="-35" b="1">
                <a:solidFill>
                  <a:srgbClr val="202429"/>
                </a:solidFill>
                <a:latin typeface="Verdana"/>
                <a:cs typeface="Verdana"/>
              </a:rPr>
              <a:t>ML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1000" y="868616"/>
            <a:ext cx="6096000" cy="666750"/>
          </a:xfrm>
          <a:prstGeom prst="rect">
            <a:avLst/>
          </a:prstGeom>
          <a:solidFill>
            <a:srgbClr val="D24625"/>
          </a:solidFill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34798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DevOps</a:t>
            </a:r>
            <a:r>
              <a:rPr dirty="0" sz="1800" spc="-5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multiple</a:t>
            </a:r>
            <a:r>
              <a:rPr dirty="0" sz="1800" spc="-6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tools</a:t>
            </a:r>
            <a:r>
              <a:rPr dirty="0" sz="1800" spc="-45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dirty="0" sz="18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used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few</a:t>
            </a:r>
            <a:r>
              <a:rPr dirty="0" sz="1800" spc="-6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>
                <a:solidFill>
                  <a:srgbClr val="FFFFFF"/>
                </a:solidFill>
                <a:latin typeface="Segoe UI Light"/>
                <a:cs typeface="Segoe UI Light"/>
              </a:rPr>
              <a:t>them</a:t>
            </a:r>
            <a:r>
              <a:rPr dirty="0" sz="1800" spc="-5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Segoe UI Light"/>
                <a:cs typeface="Segoe UI Light"/>
              </a:rPr>
              <a:t>are: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33424" y="1845309"/>
            <a:ext cx="5306695" cy="2105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Segoe UI"/>
                <a:cs typeface="Segoe UI"/>
              </a:rPr>
              <a:t>Git</a:t>
            </a:r>
            <a:r>
              <a:rPr dirty="0" sz="1200" spc="5" b="1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-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For </a:t>
            </a:r>
            <a:r>
              <a:rPr dirty="0" sz="1200" spc="-10">
                <a:latin typeface="Segoe UI"/>
                <a:cs typeface="Segoe UI"/>
              </a:rPr>
              <a:t>Version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control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system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50000"/>
              </a:lnSpc>
              <a:spcBef>
                <a:spcPts val="1030"/>
              </a:spcBef>
            </a:pPr>
            <a:r>
              <a:rPr dirty="0" sz="1200" spc="-10" b="1">
                <a:latin typeface="Segoe UI"/>
                <a:cs typeface="Segoe UI"/>
              </a:rPr>
              <a:t>React/Flask/Django</a:t>
            </a:r>
            <a:r>
              <a:rPr dirty="0" sz="1200" spc="-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or</a:t>
            </a:r>
            <a:r>
              <a:rPr dirty="0" sz="1200" spc="-2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any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other</a:t>
            </a:r>
            <a:r>
              <a:rPr dirty="0" sz="1200" spc="-10" b="1">
                <a:latin typeface="Segoe UI"/>
                <a:cs typeface="Segoe UI"/>
              </a:rPr>
              <a:t> webframework</a:t>
            </a:r>
            <a:r>
              <a:rPr dirty="0" sz="1200" spc="-4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or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techsta</a:t>
            </a:r>
            <a:r>
              <a:rPr dirty="0" sz="1200" spc="-20" b="1">
                <a:latin typeface="Segoe UI"/>
                <a:cs typeface="Segoe UI"/>
              </a:rPr>
              <a:t> </a:t>
            </a:r>
            <a:r>
              <a:rPr dirty="0" sz="1200" b="1">
                <a:latin typeface="Segoe UI"/>
                <a:cs typeface="Segoe UI"/>
              </a:rPr>
              <a:t>k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-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For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building </a:t>
            </a:r>
            <a:r>
              <a:rPr dirty="0" sz="1200">
                <a:latin typeface="Segoe UI"/>
                <a:cs typeface="Segoe UI"/>
              </a:rPr>
              <a:t>web</a:t>
            </a:r>
            <a:r>
              <a:rPr dirty="0" sz="1200" spc="-10">
                <a:latin typeface="Segoe UI"/>
                <a:cs typeface="Segoe UI"/>
              </a:rPr>
              <a:t> </a:t>
            </a:r>
            <a:r>
              <a:rPr dirty="0" sz="1200" spc="-25">
                <a:latin typeface="Segoe UI"/>
                <a:cs typeface="Segoe UI"/>
              </a:rPr>
              <a:t>app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Segoe UI"/>
                <a:cs typeface="Segoe UI"/>
              </a:rPr>
              <a:t>Docker</a:t>
            </a:r>
            <a:r>
              <a:rPr dirty="0" sz="1200" spc="-40" b="1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-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For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Containerizing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,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Building</a:t>
            </a:r>
            <a:r>
              <a:rPr dirty="0" sz="1200" spc="-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image,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deployment.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Segoe UI"/>
                <a:cs typeface="Segoe UI"/>
              </a:rPr>
              <a:t>Kubernetes</a:t>
            </a:r>
            <a:r>
              <a:rPr dirty="0" sz="1200" spc="-25" b="1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-</a:t>
            </a:r>
            <a:r>
              <a:rPr dirty="0" sz="1200" spc="-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For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Management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of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containers.</a:t>
            </a:r>
            <a:endParaRPr sz="1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Segoe UI"/>
                <a:cs typeface="Segoe UI"/>
              </a:rPr>
              <a:t>GitHub/Gitlab</a:t>
            </a:r>
            <a:r>
              <a:rPr dirty="0" sz="1200" spc="35" b="1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-</a:t>
            </a:r>
            <a:r>
              <a:rPr dirty="0" sz="1200" spc="1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For</a:t>
            </a:r>
            <a:r>
              <a:rPr dirty="0" sz="1200" spc="5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CI/CD(Continuous </a:t>
            </a:r>
            <a:r>
              <a:rPr dirty="0" sz="1200" spc="-10">
                <a:latin typeface="Segoe UI"/>
                <a:cs typeface="Segoe UI"/>
              </a:rPr>
              <a:t>Integration/Continuous</a:t>
            </a:r>
            <a:r>
              <a:rPr dirty="0" sz="1200" spc="-20">
                <a:latin typeface="Segoe UI"/>
                <a:cs typeface="Segoe UI"/>
              </a:rPr>
              <a:t> </a:t>
            </a:r>
            <a:r>
              <a:rPr dirty="0" sz="1200" spc="-10">
                <a:latin typeface="Segoe UI"/>
                <a:cs typeface="Segoe UI"/>
              </a:rPr>
              <a:t>Deployment)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81000" y="4844732"/>
            <a:ext cx="6096000" cy="3429635"/>
            <a:chOff x="381000" y="4844732"/>
            <a:chExt cx="6096000" cy="3429635"/>
          </a:xfrm>
        </p:grpSpPr>
        <p:sp>
          <p:nvSpPr>
            <p:cNvPr id="6" name="object 6" descr=""/>
            <p:cNvSpPr/>
            <p:nvPr/>
          </p:nvSpPr>
          <p:spPr>
            <a:xfrm>
              <a:off x="381000" y="4844732"/>
              <a:ext cx="6096000" cy="666750"/>
            </a:xfrm>
            <a:custGeom>
              <a:avLst/>
              <a:gdLst/>
              <a:ahLst/>
              <a:cxnLst/>
              <a:rect l="l" t="t" r="r" b="b"/>
              <a:pathLst>
                <a:path w="6096000" h="666750">
                  <a:moveTo>
                    <a:pt x="6096000" y="0"/>
                  </a:moveTo>
                  <a:lnTo>
                    <a:pt x="0" y="0"/>
                  </a:lnTo>
                  <a:lnTo>
                    <a:pt x="0" y="666432"/>
                  </a:lnTo>
                  <a:lnTo>
                    <a:pt x="6096000" y="666432"/>
                  </a:lnTo>
                  <a:lnTo>
                    <a:pt x="6096000" y="0"/>
                  </a:lnTo>
                  <a:close/>
                </a:path>
              </a:pathLst>
            </a:custGeom>
            <a:solidFill>
              <a:srgbClr val="D2462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12213" y="4844796"/>
              <a:ext cx="2433574" cy="3429000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035802" y="23876"/>
            <a:ext cx="741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Calibri"/>
                <a:cs typeface="Calibri"/>
              </a:rPr>
              <a:t>05-04-</a:t>
            </a:r>
            <a:r>
              <a:rPr dirty="0" sz="1200" spc="-20">
                <a:latin typeface="Calibri"/>
                <a:cs typeface="Calibri"/>
              </a:rPr>
              <a:t>2025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867" y="1140205"/>
            <a:ext cx="5945132" cy="2927731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3668" y="5099847"/>
            <a:ext cx="5209475" cy="2962351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UDHAYAKUMAR S</dc:creator>
  <dc:title>PowerPoint Presentation</dc:title>
  <dcterms:created xsi:type="dcterms:W3CDTF">2025-04-18T12:05:19Z</dcterms:created>
  <dcterms:modified xsi:type="dcterms:W3CDTF">2025-04-18T12:05:19Z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2025-04-18T00:00:00Z</vt:filetime>
  </property>
  <property fmtid="{D5CDD505-2E9C-101B-9397-08002B2CF9AE}" pid="5" name="Producer">
    <vt:lpwstr>Microsoft® PowerPoint® 2019</vt:lpwstr>
  </property>
</Properties>
</file>