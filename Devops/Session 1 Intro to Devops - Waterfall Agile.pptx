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6858000" cy="9144000"/>
  <p:notesSz cx="6858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65760"/>
            <a:ext cx="61722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71233" y="8932951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hyperlink" Target="mailto:udhayakumars@wilp.bits-pilani.ac.in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jp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image" Target="../media/image29.png"/><Relationship Id="rId26" Type="http://schemas.openxmlformats.org/officeDocument/2006/relationships/image" Target="../media/image30.png"/><Relationship Id="rId27" Type="http://schemas.openxmlformats.org/officeDocument/2006/relationships/image" Target="../media/image31.png"/><Relationship Id="rId28" Type="http://schemas.openxmlformats.org/officeDocument/2006/relationships/image" Target="../media/image32.png"/><Relationship Id="rId29" Type="http://schemas.openxmlformats.org/officeDocument/2006/relationships/image" Target="../media/image33.png"/><Relationship Id="rId30" Type="http://schemas.openxmlformats.org/officeDocument/2006/relationships/image" Target="../media/image34.png"/><Relationship Id="rId31" Type="http://schemas.openxmlformats.org/officeDocument/2006/relationships/image" Target="../media/image35.png"/><Relationship Id="rId32" Type="http://schemas.openxmlformats.org/officeDocument/2006/relationships/image" Target="../media/image36.png"/><Relationship Id="rId33" Type="http://schemas.openxmlformats.org/officeDocument/2006/relationships/image" Target="../media/image37.png"/><Relationship Id="rId34" Type="http://schemas.openxmlformats.org/officeDocument/2006/relationships/hyperlink" Target="https://youtu.be/j-UeCN9K5lg" TargetMode="External"/><Relationship Id="rId35" Type="http://schemas.openxmlformats.org/officeDocument/2006/relationships/hyperlink" Target="https://youtu.be/DNU-QKsjvUk" TargetMode="External"/><Relationship Id="rId36" Type="http://schemas.openxmlformats.org/officeDocument/2006/relationships/hyperlink" Target="https://youtu.be/ftStdp8w8PA" TargetMode="External"/><Relationship Id="rId37" Type="http://schemas.openxmlformats.org/officeDocument/2006/relationships/hyperlink" Target="https://youtu.be/A6PepHl2soc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hyperlink" Target="https://youtu.be/yCJAehJYkTI" TargetMode="External"/><Relationship Id="rId4" Type="http://schemas.openxmlformats.org/officeDocument/2006/relationships/hyperlink" Target="https://youtu.be/i8JxNKx6Ybk" TargetMode="External"/><Relationship Id="rId5" Type="http://schemas.openxmlformats.org/officeDocument/2006/relationships/hyperlink" Target="https://youtu.be/0Z6-hKw-21U" TargetMode="External"/><Relationship Id="rId6" Type="http://schemas.openxmlformats.org/officeDocument/2006/relationships/image" Target="../media/image3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hyperlink" Target="mailto:mailtoudhay@gmail.com" TargetMode="External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jenkins.io/" TargetMode="External"/><Relationship Id="rId3" Type="http://schemas.openxmlformats.org/officeDocument/2006/relationships/hyperlink" Target="https://xebialabs.com/solutions/devops/" TargetMode="External"/><Relationship Id="rId4" Type="http://schemas.openxmlformats.org/officeDocument/2006/relationships/hyperlink" Target="https://www.ibm.com/ibm/devops/us/en/casestudies/#all" TargetMode="External"/><Relationship Id="rId5" Type="http://schemas.openxmlformats.org/officeDocument/2006/relationships/hyperlink" Target="https://git-scm.com/" TargetMode="External"/><Relationship Id="rId6" Type="http://schemas.openxmlformats.org/officeDocument/2006/relationships/hyperlink" Target="https://hub.docker.com/" TargetMode="External"/><Relationship Id="rId7" Type="http://schemas.openxmlformats.org/officeDocument/2006/relationships/hyperlink" Target="https://www.atlassian.com/git/tutorials/comparing-workflows" TargetMode="External"/><Relationship Id="rId8" Type="http://schemas.openxmlformats.org/officeDocument/2006/relationships/hyperlink" Target="https://www.tutorialspoint.com/puppet/" TargetMode="External"/><Relationship Id="rId9" Type="http://schemas.openxmlformats.org/officeDocument/2006/relationships/hyperlink" Target="http://www.tutorialspoint.com/chef/" TargetMode="External"/><Relationship Id="rId10" Type="http://schemas.openxmlformats.org/officeDocument/2006/relationships/image" Target="../media/image4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4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3.jpg"/><Relationship Id="rId5" Type="http://schemas.openxmlformats.org/officeDocument/2006/relationships/image" Target="../media/image5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jp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67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6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69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jpg"/><Relationship Id="rId3" Type="http://schemas.openxmlformats.org/officeDocument/2006/relationships/image" Target="../media/image71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jp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73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868680"/>
            <a:ext cx="6096000" cy="2433320"/>
            <a:chOff x="381000" y="868680"/>
            <a:chExt cx="6096000" cy="2433320"/>
          </a:xfrm>
        </p:grpSpPr>
        <p:sp>
          <p:nvSpPr>
            <p:cNvPr id="4" name="object 4" descr=""/>
            <p:cNvSpPr/>
            <p:nvPr/>
          </p:nvSpPr>
          <p:spPr>
            <a:xfrm>
              <a:off x="381000" y="868680"/>
              <a:ext cx="6096000" cy="2433320"/>
            </a:xfrm>
            <a:custGeom>
              <a:avLst/>
              <a:gdLst/>
              <a:ahLst/>
              <a:cxnLst/>
              <a:rect l="l" t="t" r="r" b="b"/>
              <a:pathLst>
                <a:path w="6096000" h="2433320">
                  <a:moveTo>
                    <a:pt x="6096000" y="0"/>
                  </a:moveTo>
                  <a:lnTo>
                    <a:pt x="0" y="0"/>
                  </a:lnTo>
                  <a:lnTo>
                    <a:pt x="0" y="2433193"/>
                  </a:lnTo>
                  <a:lnTo>
                    <a:pt x="6096000" y="2433193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958850"/>
              <a:ext cx="4192016" cy="2209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037945" y="3480561"/>
            <a:ext cx="4662170" cy="71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D24625"/>
                </a:solidFill>
                <a:latin typeface="Segoe UI Light"/>
                <a:cs typeface="Segoe UI Light"/>
              </a:rPr>
              <a:t>Dr.S.Udhayakumar</a:t>
            </a:r>
            <a:endParaRPr sz="10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1000">
                <a:solidFill>
                  <a:srgbClr val="D24625"/>
                </a:solidFill>
                <a:latin typeface="Segoe UI Light"/>
                <a:cs typeface="Segoe UI Light"/>
              </a:rPr>
              <a:t>Associate</a:t>
            </a:r>
            <a:r>
              <a:rPr dirty="0" sz="1000" spc="-3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000" spc="-20">
                <a:solidFill>
                  <a:srgbClr val="D24625"/>
                </a:solidFill>
                <a:latin typeface="Segoe UI Light"/>
                <a:cs typeface="Segoe UI Light"/>
              </a:rPr>
              <a:t>Professor,</a:t>
            </a:r>
            <a:r>
              <a:rPr dirty="0" sz="1000" spc="-3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D24625"/>
                </a:solidFill>
                <a:latin typeface="Segoe UI Light"/>
                <a:cs typeface="Segoe UI Light"/>
              </a:rPr>
              <a:t>Department</a:t>
            </a:r>
            <a:r>
              <a:rPr dirty="0" sz="1000" spc="-3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D24625"/>
                </a:solidFill>
                <a:latin typeface="Segoe UI Light"/>
                <a:cs typeface="Segoe UI Light"/>
              </a:rPr>
              <a:t>of</a:t>
            </a:r>
            <a:r>
              <a:rPr dirty="0" sz="1000" spc="-15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D24625"/>
                </a:solidFill>
                <a:latin typeface="Segoe UI Light"/>
                <a:cs typeface="Segoe UI Light"/>
              </a:rPr>
              <a:t>Computer</a:t>
            </a:r>
            <a:r>
              <a:rPr dirty="0" sz="1000" spc="-2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D24625"/>
                </a:solidFill>
                <a:latin typeface="Segoe UI Light"/>
                <a:cs typeface="Segoe UI Light"/>
              </a:rPr>
              <a:t>Science</a:t>
            </a:r>
            <a:r>
              <a:rPr dirty="0" sz="1000" spc="-3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D24625"/>
                </a:solidFill>
                <a:latin typeface="Segoe UI Light"/>
                <a:cs typeface="Segoe UI Light"/>
              </a:rPr>
              <a:t>and</a:t>
            </a:r>
            <a:r>
              <a:rPr dirty="0" sz="1000" spc="-1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D24625"/>
                </a:solidFill>
                <a:latin typeface="Segoe UI Light"/>
                <a:cs typeface="Segoe UI Light"/>
              </a:rPr>
              <a:t>Engineering</a:t>
            </a:r>
            <a:r>
              <a:rPr dirty="0" sz="1000" spc="-2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000">
                <a:solidFill>
                  <a:srgbClr val="D24625"/>
                </a:solidFill>
                <a:latin typeface="Segoe UI Light"/>
                <a:cs typeface="Segoe UI Light"/>
              </a:rPr>
              <a:t>(Cyber</a:t>
            </a:r>
            <a:r>
              <a:rPr dirty="0" sz="1000" spc="-35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000" spc="-10">
                <a:solidFill>
                  <a:srgbClr val="D24625"/>
                </a:solidFill>
                <a:latin typeface="Segoe UI Light"/>
                <a:cs typeface="Segoe UI Light"/>
              </a:rPr>
              <a:t>Security)</a:t>
            </a:r>
            <a:endParaRPr sz="1000">
              <a:latin typeface="Segoe UI Light"/>
              <a:cs typeface="Segoe UI Light"/>
            </a:endParaRPr>
          </a:p>
          <a:p>
            <a:pPr algn="ctr" marL="5715">
              <a:lnSpc>
                <a:spcPct val="100000"/>
              </a:lnSpc>
              <a:spcBef>
                <a:spcPts val="900"/>
              </a:spcBef>
            </a:pPr>
            <a:r>
              <a:rPr dirty="0" sz="1000" spc="-10">
                <a:solidFill>
                  <a:srgbClr val="444646"/>
                </a:solidFill>
                <a:latin typeface="Calibri"/>
                <a:cs typeface="Calibri"/>
                <a:hlinkClick r:id="rId3"/>
              </a:rPr>
              <a:t>udhayakumars@wilp.bits-pilani.ac.in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4844796"/>
              <a:ext cx="6096000" cy="34290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81000" y="6521196"/>
              <a:ext cx="5791200" cy="1371600"/>
            </a:xfrm>
            <a:custGeom>
              <a:avLst/>
              <a:gdLst/>
              <a:ahLst/>
              <a:cxnLst/>
              <a:rect l="l" t="t" r="r" b="b"/>
              <a:pathLst>
                <a:path w="5791200" h="1371600">
                  <a:moveTo>
                    <a:pt x="5791200" y="0"/>
                  </a:moveTo>
                  <a:lnTo>
                    <a:pt x="0" y="0"/>
                  </a:lnTo>
                  <a:lnTo>
                    <a:pt x="0" y="1371599"/>
                  </a:lnTo>
                  <a:lnTo>
                    <a:pt x="5791200" y="1371599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0F11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311400" y="7892796"/>
              <a:ext cx="1930400" cy="38100"/>
            </a:xfrm>
            <a:custGeom>
              <a:avLst/>
              <a:gdLst/>
              <a:ahLst/>
              <a:cxnLst/>
              <a:rect l="l" t="t" r="r" b="b"/>
              <a:pathLst>
                <a:path w="1930400" h="38100">
                  <a:moveTo>
                    <a:pt x="1930400" y="0"/>
                  </a:moveTo>
                  <a:lnTo>
                    <a:pt x="0" y="0"/>
                  </a:lnTo>
                  <a:lnTo>
                    <a:pt x="0" y="38099"/>
                  </a:lnTo>
                  <a:lnTo>
                    <a:pt x="1930400" y="38099"/>
                  </a:lnTo>
                  <a:lnTo>
                    <a:pt x="1930400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1000" y="7892796"/>
              <a:ext cx="1930400" cy="38100"/>
            </a:xfrm>
            <a:custGeom>
              <a:avLst/>
              <a:gdLst/>
              <a:ahLst/>
              <a:cxnLst/>
              <a:rect l="l" t="t" r="r" b="b"/>
              <a:pathLst>
                <a:path w="1930400" h="38100">
                  <a:moveTo>
                    <a:pt x="1930400" y="0"/>
                  </a:moveTo>
                  <a:lnTo>
                    <a:pt x="0" y="0"/>
                  </a:lnTo>
                  <a:lnTo>
                    <a:pt x="0" y="38099"/>
                  </a:lnTo>
                  <a:lnTo>
                    <a:pt x="1930400" y="38099"/>
                  </a:lnTo>
                  <a:lnTo>
                    <a:pt x="19304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41800" y="7892796"/>
              <a:ext cx="1930400" cy="38100"/>
            </a:xfrm>
            <a:custGeom>
              <a:avLst/>
              <a:gdLst/>
              <a:ahLst/>
              <a:cxnLst/>
              <a:rect l="l" t="t" r="r" b="b"/>
              <a:pathLst>
                <a:path w="1930400" h="38100">
                  <a:moveTo>
                    <a:pt x="1930400" y="0"/>
                  </a:moveTo>
                  <a:lnTo>
                    <a:pt x="0" y="0"/>
                  </a:lnTo>
                  <a:lnTo>
                    <a:pt x="0" y="38099"/>
                  </a:lnTo>
                  <a:lnTo>
                    <a:pt x="1930400" y="38099"/>
                  </a:lnTo>
                  <a:lnTo>
                    <a:pt x="1930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1800" y="6521234"/>
              <a:ext cx="1371600" cy="989799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528523" y="7480807"/>
            <a:ext cx="970280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>
              <a:lnSpc>
                <a:spcPts val="1689"/>
              </a:lnSpc>
              <a:spcBef>
                <a:spcPts val="100"/>
              </a:spcBef>
            </a:pPr>
            <a:r>
              <a:rPr dirty="0" sz="1450" spc="-70" b="1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dirty="0" sz="145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FFFFFF"/>
                </a:solidFill>
                <a:latin typeface="Arial MT"/>
                <a:cs typeface="Arial MT"/>
              </a:rPr>
              <a:t>Pilani</a:t>
            </a:r>
            <a:endParaRPr sz="1450">
              <a:latin typeface="Arial MT"/>
              <a:cs typeface="Arial MT"/>
            </a:endParaRPr>
          </a:p>
          <a:p>
            <a:pPr>
              <a:lnSpc>
                <a:spcPts val="670"/>
              </a:lnSpc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Pilani</a:t>
            </a:r>
            <a:r>
              <a:rPr dirty="0" sz="6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Campus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5" name="object 15" descr=""/>
          <p:cNvSpPr txBox="1"/>
          <p:nvPr/>
        </p:nvSpPr>
        <p:spPr>
          <a:xfrm>
            <a:off x="2103373" y="6904101"/>
            <a:ext cx="27190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FFFFFF"/>
                </a:solidFill>
                <a:latin typeface="Segoe UI Light"/>
                <a:cs typeface="Segoe UI Light"/>
              </a:rPr>
              <a:t>BITS</a:t>
            </a:r>
            <a:r>
              <a:rPr dirty="0" sz="22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2200">
                <a:solidFill>
                  <a:srgbClr val="FFFFFF"/>
                </a:solidFill>
                <a:latin typeface="Segoe UI Light"/>
                <a:cs typeface="Segoe UI Light"/>
              </a:rPr>
              <a:t>Pilani</a:t>
            </a:r>
            <a:r>
              <a:rPr dirty="0" sz="22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Segoe UI Light"/>
                <a:cs typeface="Segoe UI Light"/>
              </a:rPr>
              <a:t>presentation</a:t>
            </a:r>
            <a:endParaRPr sz="2200">
              <a:latin typeface="Segoe UI Light"/>
              <a:cs typeface="Segoe UI Ligh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40757" y="7528052"/>
            <a:ext cx="998219" cy="27686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R="5080" indent="303530">
              <a:lnSpc>
                <a:spcPts val="900"/>
              </a:lnSpc>
              <a:spcBef>
                <a:spcPts val="28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Faculty</a:t>
            </a:r>
            <a:r>
              <a:rPr dirty="0" sz="900" spc="-6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Segoe UI"/>
                <a:cs typeface="Segoe UI"/>
              </a:rPr>
              <a:t>Name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Faculty</a:t>
            </a:r>
            <a:r>
              <a:rPr dirty="0" sz="900" spc="-6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Department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4" name="object 4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4340" y="868680"/>
            <a:ext cx="1462659" cy="34607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2" name="object 12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487" y="2107182"/>
            <a:ext cx="3193998" cy="1336823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17" name="object 17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4340" y="4844796"/>
            <a:ext cx="1462659" cy="346075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381000" y="5492464"/>
            <a:ext cx="5988685" cy="2509520"/>
            <a:chOff x="381000" y="5492464"/>
            <a:chExt cx="5988685" cy="2509520"/>
          </a:xfrm>
        </p:grpSpPr>
        <p:sp>
          <p:nvSpPr>
            <p:cNvPr id="25" name="object 25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155" y="5556502"/>
              <a:ext cx="5883403" cy="2445260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506069" y="5521832"/>
            <a:ext cx="584835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3515" marR="5080" indent="-171450">
              <a:lnSpc>
                <a:spcPct val="150000"/>
              </a:lnSpc>
              <a:spcBef>
                <a:spcPts val="100"/>
              </a:spcBef>
              <a:buClr>
                <a:srgbClr val="0F1141"/>
              </a:buClr>
              <a:buFont typeface="Wingdings"/>
              <a:buChar char=""/>
              <a:tabLst>
                <a:tab pos="184785" algn="l"/>
                <a:tab pos="1341755" algn="l"/>
              </a:tabLst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	to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just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login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session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does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guarantee</a:t>
            </a:r>
            <a:r>
              <a:rPr dirty="0" sz="1200" spc="30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the </a:t>
            </a:r>
            <a:r>
              <a:rPr dirty="0" sz="1200" spc="-25">
                <a:latin typeface="Arial MT"/>
                <a:cs typeface="Arial MT"/>
              </a:rPr>
              <a:t>	</a:t>
            </a:r>
            <a:r>
              <a:rPr dirty="0" sz="1200" spc="-10">
                <a:latin typeface="Arial MT"/>
                <a:cs typeface="Arial MT"/>
              </a:rPr>
              <a:t>attendance.</a:t>
            </a:r>
            <a:endParaRPr sz="1200">
              <a:latin typeface="Arial MT"/>
              <a:cs typeface="Arial MT"/>
            </a:endParaRPr>
          </a:p>
          <a:p>
            <a:pPr marL="183515" marR="5080" indent="-171450">
              <a:lnSpc>
                <a:spcPct val="150000"/>
              </a:lnSpc>
              <a:buClr>
                <a:srgbClr val="0F1141"/>
              </a:buClr>
              <a:buFont typeface="Wingdings"/>
              <a:buChar char=""/>
              <a:tabLst>
                <a:tab pos="184785" algn="l"/>
              </a:tabLst>
            </a:pPr>
            <a:r>
              <a:rPr dirty="0" sz="1200">
                <a:latin typeface="Arial MT"/>
                <a:cs typeface="Arial MT"/>
              </a:rPr>
              <a:t>Once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join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session,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continue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till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consider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present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the </a:t>
            </a:r>
            <a:r>
              <a:rPr dirty="0" sz="1200" spc="-25">
                <a:latin typeface="Arial MT"/>
                <a:cs typeface="Arial MT"/>
              </a:rPr>
              <a:t>	</a:t>
            </a:r>
            <a:r>
              <a:rPr dirty="0" sz="1200" spc="-10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  <a:p>
            <a:pPr marL="183515" marR="5080" indent="-171450">
              <a:lnSpc>
                <a:spcPct val="150000"/>
              </a:lnSpc>
              <a:buClr>
                <a:srgbClr val="0F1141"/>
              </a:buClr>
              <a:buFont typeface="Wingdings"/>
              <a:buChar char=""/>
              <a:tabLst>
                <a:tab pos="184785" algn="l"/>
              </a:tabLst>
            </a:pPr>
            <a:r>
              <a:rPr dirty="0" sz="1200" spc="-25">
                <a:latin typeface="Arial MT"/>
                <a:cs typeface="Arial MT"/>
              </a:rPr>
              <a:t>IMPORTANTLY,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need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interactive</a:t>
            </a:r>
            <a:r>
              <a:rPr dirty="0" sz="1200" spc="25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responding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to </a:t>
            </a:r>
            <a:r>
              <a:rPr dirty="0" sz="1200" spc="-25">
                <a:latin typeface="Arial MT"/>
                <a:cs typeface="Arial MT"/>
              </a:rPr>
              <a:t>	</a:t>
            </a:r>
            <a:r>
              <a:rPr dirty="0" sz="1200">
                <a:latin typeface="Arial MT"/>
                <a:cs typeface="Arial MT"/>
              </a:rPr>
              <a:t>Professors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queries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 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session.</a:t>
            </a:r>
            <a:endParaRPr sz="1200">
              <a:latin typeface="Arial MT"/>
              <a:cs typeface="Arial MT"/>
            </a:endParaRPr>
          </a:p>
          <a:p>
            <a:pPr marL="184785" marR="5080" indent="-172720">
              <a:lnSpc>
                <a:spcPct val="150000"/>
              </a:lnSpc>
              <a:buFont typeface="Wingdings"/>
              <a:buChar char=""/>
              <a:tabLst>
                <a:tab pos="184785" algn="l"/>
                <a:tab pos="226060" algn="l"/>
              </a:tabLst>
            </a:pPr>
            <a:r>
              <a:rPr dirty="0" sz="1200">
                <a:solidFill>
                  <a:srgbClr val="0F1141"/>
                </a:solidFill>
                <a:latin typeface="Arial"/>
                <a:cs typeface="Arial"/>
              </a:rPr>
              <a:t>	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Whenever</a:t>
            </a:r>
            <a:r>
              <a:rPr dirty="0" sz="1200" spc="4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Professor</a:t>
            </a:r>
            <a:r>
              <a:rPr dirty="0" sz="1200" spc="4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calls</a:t>
            </a:r>
            <a:r>
              <a:rPr dirty="0" sz="1200" spc="4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your</a:t>
            </a:r>
            <a:r>
              <a:rPr dirty="0" sz="1200" spc="4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number</a:t>
            </a:r>
            <a:r>
              <a:rPr dirty="0" sz="1200" spc="4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/</a:t>
            </a:r>
            <a:r>
              <a:rPr dirty="0" sz="1200" spc="4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dirty="0" sz="1200" spc="45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,you</a:t>
            </a:r>
            <a:r>
              <a:rPr dirty="0" sz="1200" spc="45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need</a:t>
            </a:r>
            <a:r>
              <a:rPr dirty="0" sz="1200" spc="4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200" spc="4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respond,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otherwise</a:t>
            </a:r>
            <a:r>
              <a:rPr dirty="0" sz="1200" spc="-5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r>
              <a:rPr dirty="0" sz="12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considered</a:t>
            </a:r>
            <a:r>
              <a:rPr dirty="0" sz="12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dirty="0" sz="12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ABSENT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0" name="object 30" descr=""/>
          <p:cNvSpPr txBox="1"/>
          <p:nvPr/>
        </p:nvSpPr>
        <p:spPr>
          <a:xfrm>
            <a:off x="1731391" y="5080761"/>
            <a:ext cx="25260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Segoe UI Light"/>
                <a:cs typeface="Segoe UI Light"/>
              </a:rPr>
              <a:t>IMP</a:t>
            </a:r>
            <a:r>
              <a:rPr dirty="0" sz="2200" spc="-40">
                <a:latin typeface="Segoe UI Light"/>
                <a:cs typeface="Segoe UI Light"/>
              </a:rPr>
              <a:t> </a:t>
            </a:r>
            <a:r>
              <a:rPr dirty="0" sz="2200">
                <a:latin typeface="Segoe UI Light"/>
                <a:cs typeface="Segoe UI Light"/>
              </a:rPr>
              <a:t>Note</a:t>
            </a:r>
            <a:r>
              <a:rPr dirty="0" sz="2200" spc="-40">
                <a:latin typeface="Segoe UI Light"/>
                <a:cs typeface="Segoe UI Light"/>
              </a:rPr>
              <a:t> </a:t>
            </a:r>
            <a:r>
              <a:rPr dirty="0" sz="2200">
                <a:latin typeface="Segoe UI Light"/>
                <a:cs typeface="Segoe UI Light"/>
              </a:rPr>
              <a:t>to</a:t>
            </a:r>
            <a:r>
              <a:rPr dirty="0" sz="2200" spc="-40">
                <a:latin typeface="Segoe UI Light"/>
                <a:cs typeface="Segoe UI Light"/>
              </a:rPr>
              <a:t> </a:t>
            </a:r>
            <a:r>
              <a:rPr dirty="0" sz="2200" spc="-10">
                <a:latin typeface="Segoe UI Light"/>
                <a:cs typeface="Segoe UI Light"/>
              </a:rPr>
              <a:t>Students</a:t>
            </a:r>
            <a:endParaRPr sz="22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996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Coverage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785873" y="1575333"/>
            <a:ext cx="3123565" cy="148844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 sz="1000">
                <a:latin typeface="Times New Roman"/>
                <a:cs typeface="Times New Roman"/>
              </a:rPr>
              <a:t>Software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development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lifecycle</a:t>
            </a:r>
            <a:endParaRPr sz="10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Waterfall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approach</a:t>
            </a:r>
            <a:endParaRPr sz="10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 sz="1000">
                <a:latin typeface="Times New Roman"/>
                <a:cs typeface="Times New Roman"/>
              </a:rPr>
              <a:t>Agile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Methodology</a:t>
            </a:r>
            <a:endParaRPr sz="10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 sz="1000">
                <a:latin typeface="Times New Roman"/>
                <a:cs typeface="Times New Roman"/>
              </a:rPr>
              <a:t>Operational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Methodologies: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ITIL</a:t>
            </a:r>
            <a:endParaRPr sz="10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 sz="1000">
                <a:latin typeface="Times New Roman"/>
                <a:cs typeface="Times New Roman"/>
              </a:rPr>
              <a:t>Development,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Testing,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Release,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Deployment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Concepts</a:t>
            </a:r>
            <a:endParaRPr sz="10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 sz="1000" spc="-10">
                <a:latin typeface="Times New Roman"/>
                <a:cs typeface="Times New Roman"/>
              </a:rPr>
              <a:t>Provisioning,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Version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Control</a:t>
            </a:r>
            <a:endParaRPr sz="10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 sz="1000" spc="-10">
                <a:latin typeface="Times New Roman"/>
                <a:cs typeface="Times New Roman"/>
              </a:rPr>
              <a:t>Test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Driven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Development,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Feature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Driven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Development</a:t>
            </a:r>
            <a:endParaRPr sz="10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 sz="1000" spc="-10">
                <a:latin typeface="Times New Roman"/>
                <a:cs typeface="Times New Roman"/>
              </a:rPr>
              <a:t>Behavior-</a:t>
            </a:r>
            <a:r>
              <a:rPr dirty="0" sz="1000">
                <a:latin typeface="Times New Roman"/>
                <a:cs typeface="Times New Roman"/>
              </a:rPr>
              <a:t>driven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development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1" name="object 31" descr=""/>
          <p:cNvGraphicFramePr>
            <a:graphicFrameLocks noGrp="1"/>
          </p:cNvGraphicFramePr>
          <p:nvPr/>
        </p:nvGraphicFramePr>
        <p:xfrm>
          <a:off x="1139825" y="5603621"/>
          <a:ext cx="4654550" cy="2474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  <a:gridCol w="4191000"/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00">
                        <a:latin typeface="Segoe UI"/>
                        <a:cs typeface="Segoe UI"/>
                      </a:endParaRPr>
                    </a:p>
                  </a:txBody>
                  <a:tcPr marL="0" marR="0" marB="0" marT="203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35"/>
                        </a:lnSpc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Why</a:t>
                      </a:r>
                      <a:r>
                        <a:rPr dirty="0" sz="1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DevOps?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35"/>
                        </a:lnSpc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DevOps</a:t>
                      </a:r>
                      <a:r>
                        <a:rPr dirty="0" sz="1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Dimensions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35"/>
                        </a:lnSpc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Source</a:t>
                      </a:r>
                      <a:r>
                        <a:rPr dirty="0" sz="1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 (Using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GIT</a:t>
                      </a:r>
                      <a:r>
                        <a:rPr dirty="0" sz="1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example</a:t>
                      </a:r>
                      <a:r>
                        <a:rPr dirty="0" sz="1000" spc="-20">
                          <a:latin typeface="Times New Roman"/>
                          <a:cs typeface="Times New Roman"/>
                        </a:rPr>
                        <a:t> tool)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35"/>
                        </a:lnSpc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Continuous</a:t>
                      </a:r>
                      <a:r>
                        <a:rPr dirty="0" sz="1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dirty="0" sz="1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quality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50"/>
                        </a:lnSpc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Continuous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Integration</a:t>
                      </a:r>
                      <a:r>
                        <a:rPr dirty="0" sz="10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0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Continuous</a:t>
                      </a:r>
                      <a:r>
                        <a:rPr dirty="0" sz="10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Delivery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45"/>
                        </a:lnSpc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Continuous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Deployment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50"/>
                        </a:lnSpc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Continuous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 Monitoring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50"/>
                        </a:lnSpc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Configuration</a:t>
                      </a:r>
                      <a:r>
                        <a:rPr dirty="0" sz="10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Management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sz="1000" spc="-50">
                          <a:latin typeface="Arial MT"/>
                          <a:cs typeface="Arial MT"/>
                        </a:rPr>
                        <a:t>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150"/>
                        </a:lnSpc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Virtualization</a:t>
                      </a:r>
                      <a:r>
                        <a:rPr dirty="0" sz="10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0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Containerization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</a:tbl>
          </a:graphicData>
        </a:graphic>
      </p:graphicFrame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2" name="object 32" descr=""/>
          <p:cNvSpPr txBox="1"/>
          <p:nvPr/>
        </p:nvSpPr>
        <p:spPr>
          <a:xfrm>
            <a:off x="617321" y="5028946"/>
            <a:ext cx="1543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 b="1">
                <a:latin typeface="Arial"/>
                <a:cs typeface="Arial"/>
              </a:rPr>
              <a:t>Course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Outline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1607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latin typeface="Arial"/>
                <a:cs typeface="Arial"/>
              </a:rPr>
              <a:t>Self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70" b="1">
                <a:latin typeface="Arial"/>
                <a:cs typeface="Arial"/>
              </a:rPr>
              <a:t>Study</a:t>
            </a:r>
            <a:r>
              <a:rPr dirty="0" sz="1800" spc="-140" b="1">
                <a:latin typeface="Arial"/>
                <a:cs typeface="Arial"/>
              </a:rPr>
              <a:t> </a:t>
            </a:r>
            <a:r>
              <a:rPr dirty="0" sz="1800" spc="-35" b="1">
                <a:latin typeface="Arial"/>
                <a:cs typeface="Arial"/>
              </a:rPr>
              <a:t>Labs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1001750" y="1626235"/>
          <a:ext cx="4791075" cy="2355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804"/>
                <a:gridCol w="4490085"/>
              </a:tblGrid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Self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Study</a:t>
                      </a:r>
                      <a:r>
                        <a:rPr dirty="0" sz="9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Lab</a:t>
                      </a:r>
                      <a:r>
                        <a:rPr dirty="0" sz="9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Exercise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4705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50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Version</a:t>
                      </a:r>
                      <a:r>
                        <a:rPr dirty="0" sz="900" spc="9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900" spc="9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900" spc="9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GIT,</a:t>
                      </a:r>
                      <a:r>
                        <a:rPr dirty="0" sz="900" spc="1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Creating</a:t>
                      </a:r>
                      <a:r>
                        <a:rPr dirty="0" sz="900" spc="10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repositories</a:t>
                      </a:r>
                      <a:r>
                        <a:rPr dirty="0" sz="900" spc="9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00" spc="9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GIT,</a:t>
                      </a:r>
                      <a:r>
                        <a:rPr dirty="0" sz="900" spc="1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Exercises</a:t>
                      </a:r>
                      <a:r>
                        <a:rPr dirty="0" sz="900" spc="9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00" spc="9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demonstrate</a:t>
                      </a:r>
                      <a:r>
                        <a:rPr dirty="0" sz="900" spc="9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use</a:t>
                      </a:r>
                      <a:r>
                        <a:rPr dirty="0" sz="900" spc="1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00" spc="46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GIT</a:t>
                      </a:r>
                      <a:r>
                        <a:rPr dirty="0" sz="900" spc="8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operations</a:t>
                      </a:r>
                      <a:r>
                        <a:rPr dirty="0" sz="900" spc="114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00" spc="1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commands(Push,</a:t>
                      </a:r>
                      <a:r>
                        <a:rPr dirty="0" sz="900" spc="1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pull,</a:t>
                      </a:r>
                      <a:r>
                        <a:rPr dirty="0" sz="900" spc="9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clone</a:t>
                      </a:r>
                      <a:r>
                        <a:rPr dirty="0" sz="900" spc="1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etc.,)</a:t>
                      </a:r>
                      <a:r>
                        <a:rPr dirty="0" sz="900" spc="10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Creating</a:t>
                      </a:r>
                      <a:r>
                        <a:rPr dirty="0" sz="900" spc="1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branches</a:t>
                      </a:r>
                      <a:r>
                        <a:rPr dirty="0" sz="900" spc="114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merging</a:t>
                      </a:r>
                      <a:r>
                        <a:rPr dirty="0" sz="900" spc="-2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branches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GIT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900" spc="-5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0160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Installation of</a:t>
                      </a:r>
                      <a:r>
                        <a:rPr dirty="0" sz="900" spc="-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Jenkins and</a:t>
                      </a:r>
                      <a:r>
                        <a:rPr dirty="0" sz="900" spc="-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Configuration of</a:t>
                      </a:r>
                      <a:r>
                        <a:rPr dirty="0" sz="900" spc="-2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Jenkins to work with</a:t>
                      </a:r>
                      <a:r>
                        <a:rPr dirty="0" sz="900" spc="-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different</a:t>
                      </a:r>
                      <a:r>
                        <a:rPr dirty="0" sz="900" spc="-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version </a:t>
                      </a:r>
                      <a:r>
                        <a:rPr dirty="0" sz="900" spc="-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control,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build</a:t>
                      </a:r>
                      <a:r>
                        <a:rPr dirty="0" sz="900" spc="-3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00" spc="-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testing</a:t>
                      </a:r>
                      <a:r>
                        <a:rPr dirty="0" sz="900" spc="-1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2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tools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32384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2923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900" spc="-5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Create</a:t>
                      </a:r>
                      <a:r>
                        <a:rPr dirty="0" sz="900" spc="-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jobs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00" spc="-1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projects</a:t>
                      </a:r>
                      <a:r>
                        <a:rPr dirty="0" sz="900" spc="-3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900" spc="-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Jenkins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425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900" spc="-5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0160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Continuous</a:t>
                      </a:r>
                      <a:r>
                        <a:rPr dirty="0" sz="900" spc="-3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integration</a:t>
                      </a:r>
                      <a:r>
                        <a:rPr dirty="0" sz="900" spc="-3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with Jenkins</a:t>
                      </a:r>
                      <a:r>
                        <a:rPr dirty="0" sz="900" spc="-3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through</a:t>
                      </a:r>
                      <a:r>
                        <a:rPr dirty="0" sz="900" spc="-1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source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r>
                        <a:rPr dirty="0" sz="900" spc="-2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polling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00" spc="-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build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triggers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0160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900" spc="-5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5651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Continuous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inspection</a:t>
                      </a:r>
                      <a:r>
                        <a:rPr dirty="0" sz="900" spc="-4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00" spc="2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Jenkins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900" spc="-2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sonarqube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00" spc="-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ensure</a:t>
                      </a:r>
                      <a:r>
                        <a:rPr dirty="0" sz="900" spc="-2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r>
                        <a:rPr dirty="0" sz="900" spc="-2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quality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5651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900" spc="-5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0160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Continuous</a:t>
                      </a:r>
                      <a:r>
                        <a:rPr dirty="0" sz="900" spc="-2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deployment/delivery</a:t>
                      </a:r>
                      <a:r>
                        <a:rPr dirty="0" sz="900" spc="-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900" spc="-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staging/production</a:t>
                      </a:r>
                      <a:r>
                        <a:rPr dirty="0" sz="900" spc="-3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environment</a:t>
                      </a:r>
                      <a:r>
                        <a:rPr dirty="0" sz="900" spc="-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00" spc="15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10">
                          <a:solidFill>
                            <a:srgbClr val="000009"/>
                          </a:solidFill>
                          <a:latin typeface="Arial MT"/>
                          <a:cs typeface="Arial MT"/>
                        </a:rPr>
                        <a:t>Jenkins.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0160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1" name="object 31" descr=""/>
          <p:cNvGraphicFramePr>
            <a:graphicFrameLocks noGrp="1"/>
          </p:cNvGraphicFramePr>
          <p:nvPr/>
        </p:nvGraphicFramePr>
        <p:xfrm>
          <a:off x="1292225" y="5588508"/>
          <a:ext cx="4197350" cy="1419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1371600"/>
                <a:gridCol w="1371600"/>
              </a:tblGrid>
              <a:tr h="18478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Skill</a:t>
                      </a:r>
                      <a:r>
                        <a:rPr dirty="0" sz="900" spc="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spc="-2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Area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Activity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Activity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 spc="-25">
                          <a:latin typeface="Segoe UI"/>
                          <a:cs typeface="Segoe UI"/>
                        </a:rPr>
                        <a:t>GIT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>
                          <a:latin typeface="Segoe UI"/>
                          <a:cs typeface="Segoe UI"/>
                        </a:rPr>
                        <a:t>Install</a:t>
                      </a:r>
                      <a:r>
                        <a:rPr dirty="0" sz="90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spc="-25">
                          <a:latin typeface="Segoe UI"/>
                          <a:cs typeface="Segoe UI"/>
                        </a:rPr>
                        <a:t>GIT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2222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 b="1">
                          <a:latin typeface="Segoe UI"/>
                          <a:cs typeface="Segoe UI"/>
                        </a:rPr>
                        <a:t>Create</a:t>
                      </a:r>
                      <a:r>
                        <a:rPr dirty="0" sz="900" spc="-55" b="1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b="1">
                          <a:latin typeface="Segoe UI"/>
                          <a:cs typeface="Segoe UI"/>
                        </a:rPr>
                        <a:t>an</a:t>
                      </a:r>
                      <a:r>
                        <a:rPr dirty="0" sz="900" spc="-25" b="1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b="1">
                          <a:latin typeface="Segoe UI"/>
                          <a:cs typeface="Segoe UI"/>
                        </a:rPr>
                        <a:t>account</a:t>
                      </a:r>
                      <a:r>
                        <a:rPr dirty="0" sz="900" spc="-30" b="1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spc="-25" b="1">
                          <a:latin typeface="Segoe UI"/>
                          <a:cs typeface="Segoe UI"/>
                        </a:rPr>
                        <a:t>in </a:t>
                      </a:r>
                      <a:r>
                        <a:rPr dirty="0" sz="900" spc="-10" b="1">
                          <a:latin typeface="Segoe UI"/>
                          <a:cs typeface="Segoe UI"/>
                        </a:rPr>
                        <a:t>github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 spc="-10">
                          <a:latin typeface="Segoe UI"/>
                          <a:cs typeface="Segoe UI"/>
                        </a:rPr>
                        <a:t>Jenkins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>
                          <a:latin typeface="Segoe UI"/>
                          <a:cs typeface="Segoe UI"/>
                        </a:rPr>
                        <a:t>Install</a:t>
                      </a:r>
                      <a:r>
                        <a:rPr dirty="0" sz="90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spc="-10">
                          <a:latin typeface="Segoe UI"/>
                          <a:cs typeface="Segoe UI"/>
                        </a:rPr>
                        <a:t>Jenkins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1155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>
                          <a:latin typeface="Segoe UI"/>
                          <a:cs typeface="Segoe UI"/>
                        </a:rPr>
                        <a:t>Experiment</a:t>
                      </a:r>
                      <a:r>
                        <a:rPr dirty="0" sz="900" spc="-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90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spc="-10">
                          <a:latin typeface="Segoe UI"/>
                          <a:cs typeface="Segoe UI"/>
                        </a:rPr>
                        <a:t>Jenkins </a:t>
                      </a:r>
                      <a:r>
                        <a:rPr dirty="0" sz="900">
                          <a:latin typeface="Segoe UI"/>
                          <a:cs typeface="Segoe UI"/>
                        </a:rPr>
                        <a:t>as</a:t>
                      </a:r>
                      <a:r>
                        <a:rPr dirty="0" sz="90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>
                          <a:latin typeface="Segoe UI"/>
                          <a:cs typeface="Segoe UI"/>
                        </a:rPr>
                        <a:t>required</a:t>
                      </a:r>
                      <a:r>
                        <a:rPr dirty="0" sz="90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>
                          <a:latin typeface="Segoe UI"/>
                          <a:cs typeface="Segoe UI"/>
                        </a:rPr>
                        <a:t>in</a:t>
                      </a:r>
                      <a:r>
                        <a:rPr dirty="0" sz="900" spc="-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spc="-25"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900" spc="-10">
                          <a:latin typeface="Segoe UI"/>
                          <a:cs typeface="Segoe UI"/>
                        </a:rPr>
                        <a:t>Assignment.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 spc="-10">
                          <a:latin typeface="Segoe UI"/>
                          <a:cs typeface="Segoe UI"/>
                        </a:rPr>
                        <a:t>Docker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>
                          <a:latin typeface="Segoe UI"/>
                          <a:cs typeface="Segoe UI"/>
                        </a:rPr>
                        <a:t>Install</a:t>
                      </a:r>
                      <a:r>
                        <a:rPr dirty="0" sz="90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spc="-10">
                          <a:latin typeface="Segoe UI"/>
                          <a:cs typeface="Segoe UI"/>
                        </a:rPr>
                        <a:t>Docker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1225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900">
                          <a:latin typeface="Segoe UI"/>
                          <a:cs typeface="Segoe UI"/>
                        </a:rPr>
                        <a:t>Experiment</a:t>
                      </a:r>
                      <a:r>
                        <a:rPr dirty="0" sz="900" spc="-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90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spc="-10">
                          <a:latin typeface="Segoe UI"/>
                          <a:cs typeface="Segoe UI"/>
                        </a:rPr>
                        <a:t>Docker </a:t>
                      </a:r>
                      <a:r>
                        <a:rPr dirty="0" sz="900">
                          <a:latin typeface="Segoe UI"/>
                          <a:cs typeface="Segoe UI"/>
                        </a:rPr>
                        <a:t>as</a:t>
                      </a:r>
                      <a:r>
                        <a:rPr dirty="0" sz="90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>
                          <a:latin typeface="Segoe UI"/>
                          <a:cs typeface="Segoe UI"/>
                        </a:rPr>
                        <a:t>required</a:t>
                      </a:r>
                      <a:r>
                        <a:rPr dirty="0" sz="90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>
                          <a:latin typeface="Segoe UI"/>
                          <a:cs typeface="Segoe UI"/>
                        </a:rPr>
                        <a:t>in</a:t>
                      </a:r>
                      <a:r>
                        <a:rPr dirty="0" sz="900" spc="-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00" spc="-25"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900" spc="-10">
                          <a:latin typeface="Segoe UI"/>
                          <a:cs typeface="Segoe UI"/>
                        </a:rPr>
                        <a:t>Assignment.</a:t>
                      </a:r>
                      <a:endParaRPr sz="90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</a:tbl>
          </a:graphicData>
        </a:graphic>
      </p:graphicFrame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2" name="object 32" descr=""/>
          <p:cNvSpPr txBox="1"/>
          <p:nvPr/>
        </p:nvSpPr>
        <p:spPr>
          <a:xfrm>
            <a:off x="617321" y="5028946"/>
            <a:ext cx="1362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 b="1">
                <a:latin typeface="Arial"/>
                <a:cs typeface="Arial"/>
              </a:rPr>
              <a:t>Assignments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3982084"/>
            <a:ext cx="4706620" cy="186690"/>
            <a:chOff x="1770633" y="3982084"/>
            <a:chExt cx="4706620" cy="186690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907" y="3986783"/>
              <a:ext cx="2081021" cy="13944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5684" y="3982084"/>
              <a:ext cx="2081022" cy="138049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5" name="object 15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17321" y="1051941"/>
            <a:ext cx="2599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Evaluation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of</a:t>
            </a:r>
            <a:r>
              <a:rPr dirty="0" sz="1800" spc="-195" b="1">
                <a:latin typeface="Arial"/>
                <a:cs typeface="Arial"/>
              </a:rPr>
              <a:t> </a:t>
            </a:r>
            <a:r>
              <a:rPr dirty="0" sz="1800" spc="-65" b="1">
                <a:latin typeface="Arial"/>
                <a:cs typeface="Arial"/>
              </a:rPr>
              <a:t>Assignment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62886" y="1679955"/>
            <a:ext cx="3177540" cy="175895"/>
            <a:chOff x="1762886" y="1679955"/>
            <a:chExt cx="3177540" cy="175895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7839" y="1685518"/>
              <a:ext cx="3172206" cy="16995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65934" y="1683003"/>
              <a:ext cx="3164713" cy="162814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639182" y="1716150"/>
              <a:ext cx="291465" cy="97155"/>
            </a:xfrm>
            <a:custGeom>
              <a:avLst/>
              <a:gdLst/>
              <a:ahLst/>
              <a:cxnLst/>
              <a:rect l="l" t="t" r="r" b="b"/>
              <a:pathLst>
                <a:path w="291464" h="97155">
                  <a:moveTo>
                    <a:pt x="57530" y="50165"/>
                  </a:moveTo>
                  <a:lnTo>
                    <a:pt x="54355" y="51180"/>
                  </a:lnTo>
                  <a:lnTo>
                    <a:pt x="49402" y="52450"/>
                  </a:lnTo>
                  <a:lnTo>
                    <a:pt x="42671" y="53848"/>
                  </a:lnTo>
                  <a:lnTo>
                    <a:pt x="35813" y="55372"/>
                  </a:lnTo>
                  <a:lnTo>
                    <a:pt x="31368" y="56769"/>
                  </a:lnTo>
                  <a:lnTo>
                    <a:pt x="29337" y="58166"/>
                  </a:lnTo>
                  <a:lnTo>
                    <a:pt x="26162" y="60451"/>
                  </a:lnTo>
                  <a:lnTo>
                    <a:pt x="24511" y="63246"/>
                  </a:lnTo>
                  <a:lnTo>
                    <a:pt x="24511" y="66801"/>
                  </a:lnTo>
                  <a:lnTo>
                    <a:pt x="24511" y="70230"/>
                  </a:lnTo>
                  <a:lnTo>
                    <a:pt x="25780" y="73151"/>
                  </a:lnTo>
                  <a:lnTo>
                    <a:pt x="28320" y="75565"/>
                  </a:lnTo>
                  <a:lnTo>
                    <a:pt x="30861" y="78104"/>
                  </a:lnTo>
                  <a:lnTo>
                    <a:pt x="34162" y="79375"/>
                  </a:lnTo>
                  <a:lnTo>
                    <a:pt x="38100" y="79375"/>
                  </a:lnTo>
                  <a:lnTo>
                    <a:pt x="42544" y="79375"/>
                  </a:lnTo>
                  <a:lnTo>
                    <a:pt x="56514" y="66928"/>
                  </a:lnTo>
                  <a:lnTo>
                    <a:pt x="57150" y="64770"/>
                  </a:lnTo>
                  <a:lnTo>
                    <a:pt x="57530" y="60832"/>
                  </a:lnTo>
                  <a:lnTo>
                    <a:pt x="57530" y="54991"/>
                  </a:lnTo>
                  <a:lnTo>
                    <a:pt x="57530" y="50165"/>
                  </a:lnTo>
                  <a:close/>
                </a:path>
                <a:path w="291464" h="97155">
                  <a:moveTo>
                    <a:pt x="149225" y="18669"/>
                  </a:moveTo>
                  <a:lnTo>
                    <a:pt x="143382" y="18669"/>
                  </a:lnTo>
                  <a:lnTo>
                    <a:pt x="138556" y="20954"/>
                  </a:lnTo>
                  <a:lnTo>
                    <a:pt x="134619" y="25526"/>
                  </a:lnTo>
                  <a:lnTo>
                    <a:pt x="130682" y="30099"/>
                  </a:lnTo>
                  <a:lnTo>
                    <a:pt x="128777" y="36956"/>
                  </a:lnTo>
                  <a:lnTo>
                    <a:pt x="128777" y="46227"/>
                  </a:lnTo>
                  <a:lnTo>
                    <a:pt x="128777" y="55879"/>
                  </a:lnTo>
                  <a:lnTo>
                    <a:pt x="130301" y="62992"/>
                  </a:lnTo>
                  <a:lnTo>
                    <a:pt x="133350" y="67564"/>
                  </a:lnTo>
                  <a:lnTo>
                    <a:pt x="137540" y="74041"/>
                  </a:lnTo>
                  <a:lnTo>
                    <a:pt x="143128" y="77343"/>
                  </a:lnTo>
                  <a:lnTo>
                    <a:pt x="150240" y="77343"/>
                  </a:lnTo>
                  <a:lnTo>
                    <a:pt x="155575" y="77343"/>
                  </a:lnTo>
                  <a:lnTo>
                    <a:pt x="160146" y="74929"/>
                  </a:lnTo>
                  <a:lnTo>
                    <a:pt x="163956" y="70357"/>
                  </a:lnTo>
                  <a:lnTo>
                    <a:pt x="167766" y="65785"/>
                  </a:lnTo>
                  <a:lnTo>
                    <a:pt x="169671" y="58420"/>
                  </a:lnTo>
                  <a:lnTo>
                    <a:pt x="169671" y="48514"/>
                  </a:lnTo>
                  <a:lnTo>
                    <a:pt x="169671" y="37973"/>
                  </a:lnTo>
                  <a:lnTo>
                    <a:pt x="167766" y="30352"/>
                  </a:lnTo>
                  <a:lnTo>
                    <a:pt x="163956" y="25653"/>
                  </a:lnTo>
                  <a:lnTo>
                    <a:pt x="160146" y="21081"/>
                  </a:lnTo>
                  <a:lnTo>
                    <a:pt x="155193" y="18669"/>
                  </a:lnTo>
                  <a:lnTo>
                    <a:pt x="149225" y="18669"/>
                  </a:lnTo>
                  <a:close/>
                </a:path>
                <a:path w="291464" h="97155">
                  <a:moveTo>
                    <a:pt x="247395" y="0"/>
                  </a:moveTo>
                  <a:lnTo>
                    <a:pt x="286003" y="16382"/>
                  </a:lnTo>
                  <a:lnTo>
                    <a:pt x="288416" y="24383"/>
                  </a:lnTo>
                  <a:lnTo>
                    <a:pt x="265302" y="28701"/>
                  </a:lnTo>
                  <a:lnTo>
                    <a:pt x="264287" y="25146"/>
                  </a:lnTo>
                  <a:lnTo>
                    <a:pt x="262381" y="22351"/>
                  </a:lnTo>
                  <a:lnTo>
                    <a:pt x="259714" y="20447"/>
                  </a:lnTo>
                  <a:lnTo>
                    <a:pt x="256920" y="18542"/>
                  </a:lnTo>
                  <a:lnTo>
                    <a:pt x="252983" y="17525"/>
                  </a:lnTo>
                  <a:lnTo>
                    <a:pt x="247903" y="17525"/>
                  </a:lnTo>
                  <a:lnTo>
                    <a:pt x="241426" y="17525"/>
                  </a:lnTo>
                  <a:lnTo>
                    <a:pt x="236854" y="18415"/>
                  </a:lnTo>
                  <a:lnTo>
                    <a:pt x="234061" y="20193"/>
                  </a:lnTo>
                  <a:lnTo>
                    <a:pt x="232155" y="21590"/>
                  </a:lnTo>
                  <a:lnTo>
                    <a:pt x="231266" y="23241"/>
                  </a:lnTo>
                  <a:lnTo>
                    <a:pt x="231266" y="25273"/>
                  </a:lnTo>
                  <a:lnTo>
                    <a:pt x="231266" y="26924"/>
                  </a:lnTo>
                  <a:lnTo>
                    <a:pt x="256539" y="36575"/>
                  </a:lnTo>
                  <a:lnTo>
                    <a:pt x="265592" y="38905"/>
                  </a:lnTo>
                  <a:lnTo>
                    <a:pt x="291464" y="57784"/>
                  </a:lnTo>
                  <a:lnTo>
                    <a:pt x="291464" y="65658"/>
                  </a:lnTo>
                  <a:lnTo>
                    <a:pt x="291464" y="74041"/>
                  </a:lnTo>
                  <a:lnTo>
                    <a:pt x="259189" y="96075"/>
                  </a:lnTo>
                  <a:lnTo>
                    <a:pt x="249427" y="96647"/>
                  </a:lnTo>
                  <a:lnTo>
                    <a:pt x="240478" y="96168"/>
                  </a:lnTo>
                  <a:lnTo>
                    <a:pt x="207390" y="76962"/>
                  </a:lnTo>
                  <a:lnTo>
                    <a:pt x="205104" y="68199"/>
                  </a:lnTo>
                  <a:lnTo>
                    <a:pt x="229615" y="64389"/>
                  </a:lnTo>
                  <a:lnTo>
                    <a:pt x="230758" y="69215"/>
                  </a:lnTo>
                  <a:lnTo>
                    <a:pt x="232790" y="72771"/>
                  </a:lnTo>
                  <a:lnTo>
                    <a:pt x="236092" y="75183"/>
                  </a:lnTo>
                  <a:lnTo>
                    <a:pt x="239267" y="77724"/>
                  </a:lnTo>
                  <a:lnTo>
                    <a:pt x="243712" y="78994"/>
                  </a:lnTo>
                  <a:lnTo>
                    <a:pt x="249427" y="78994"/>
                  </a:lnTo>
                  <a:lnTo>
                    <a:pt x="255777" y="78994"/>
                  </a:lnTo>
                  <a:lnTo>
                    <a:pt x="260476" y="77724"/>
                  </a:lnTo>
                  <a:lnTo>
                    <a:pt x="263778" y="75438"/>
                  </a:lnTo>
                  <a:lnTo>
                    <a:pt x="265811" y="73787"/>
                  </a:lnTo>
                  <a:lnTo>
                    <a:pt x="266953" y="71627"/>
                  </a:lnTo>
                  <a:lnTo>
                    <a:pt x="266953" y="68960"/>
                  </a:lnTo>
                  <a:lnTo>
                    <a:pt x="266953" y="67055"/>
                  </a:lnTo>
                  <a:lnTo>
                    <a:pt x="243566" y="57900"/>
                  </a:lnTo>
                  <a:lnTo>
                    <a:pt x="232822" y="54832"/>
                  </a:lnTo>
                  <a:lnTo>
                    <a:pt x="224793" y="51907"/>
                  </a:lnTo>
                  <a:lnTo>
                    <a:pt x="219455" y="49149"/>
                  </a:lnTo>
                  <a:lnTo>
                    <a:pt x="212216" y="44196"/>
                  </a:lnTo>
                  <a:lnTo>
                    <a:pt x="208533" y="37210"/>
                  </a:lnTo>
                  <a:lnTo>
                    <a:pt x="208533" y="28321"/>
                  </a:lnTo>
                  <a:lnTo>
                    <a:pt x="208533" y="20320"/>
                  </a:lnTo>
                  <a:lnTo>
                    <a:pt x="238115" y="502"/>
                  </a:lnTo>
                  <a:lnTo>
                    <a:pt x="247395" y="0"/>
                  </a:lnTo>
                  <a:close/>
                </a:path>
                <a:path w="291464" h="97155">
                  <a:moveTo>
                    <a:pt x="42671" y="0"/>
                  </a:moveTo>
                  <a:lnTo>
                    <a:pt x="53466" y="0"/>
                  </a:lnTo>
                  <a:lnTo>
                    <a:pt x="61594" y="1270"/>
                  </a:lnTo>
                  <a:lnTo>
                    <a:pt x="66928" y="3809"/>
                  </a:lnTo>
                  <a:lnTo>
                    <a:pt x="72389" y="6476"/>
                  </a:lnTo>
                  <a:lnTo>
                    <a:pt x="76072" y="9651"/>
                  </a:lnTo>
                  <a:lnTo>
                    <a:pt x="78231" y="13716"/>
                  </a:lnTo>
                  <a:lnTo>
                    <a:pt x="80390" y="17652"/>
                  </a:lnTo>
                  <a:lnTo>
                    <a:pt x="81533" y="24892"/>
                  </a:lnTo>
                  <a:lnTo>
                    <a:pt x="81533" y="35559"/>
                  </a:lnTo>
                  <a:lnTo>
                    <a:pt x="81279" y="64134"/>
                  </a:lnTo>
                  <a:lnTo>
                    <a:pt x="81279" y="72263"/>
                  </a:lnTo>
                  <a:lnTo>
                    <a:pt x="86867" y="94488"/>
                  </a:lnTo>
                  <a:lnTo>
                    <a:pt x="62611" y="94488"/>
                  </a:lnTo>
                  <a:lnTo>
                    <a:pt x="61975" y="92837"/>
                  </a:lnTo>
                  <a:lnTo>
                    <a:pt x="61213" y="90424"/>
                  </a:lnTo>
                  <a:lnTo>
                    <a:pt x="60325" y="87249"/>
                  </a:lnTo>
                  <a:lnTo>
                    <a:pt x="59943" y="85851"/>
                  </a:lnTo>
                  <a:lnTo>
                    <a:pt x="59562" y="84835"/>
                  </a:lnTo>
                  <a:lnTo>
                    <a:pt x="59436" y="84454"/>
                  </a:lnTo>
                  <a:lnTo>
                    <a:pt x="55244" y="88519"/>
                  </a:lnTo>
                  <a:lnTo>
                    <a:pt x="50800" y="91567"/>
                  </a:lnTo>
                  <a:lnTo>
                    <a:pt x="45974" y="93599"/>
                  </a:lnTo>
                  <a:lnTo>
                    <a:pt x="41275" y="95630"/>
                  </a:lnTo>
                  <a:lnTo>
                    <a:pt x="36194" y="96647"/>
                  </a:lnTo>
                  <a:lnTo>
                    <a:pt x="30733" y="96647"/>
                  </a:lnTo>
                  <a:lnTo>
                    <a:pt x="21208" y="96647"/>
                  </a:lnTo>
                  <a:lnTo>
                    <a:pt x="13715" y="93979"/>
                  </a:lnTo>
                  <a:lnTo>
                    <a:pt x="8254" y="88900"/>
                  </a:lnTo>
                  <a:lnTo>
                    <a:pt x="2793" y="83693"/>
                  </a:lnTo>
                  <a:lnTo>
                    <a:pt x="0" y="77216"/>
                  </a:lnTo>
                  <a:lnTo>
                    <a:pt x="0" y="69215"/>
                  </a:lnTo>
                  <a:lnTo>
                    <a:pt x="0" y="64007"/>
                  </a:lnTo>
                  <a:lnTo>
                    <a:pt x="1269" y="59435"/>
                  </a:lnTo>
                  <a:lnTo>
                    <a:pt x="3809" y="55245"/>
                  </a:lnTo>
                  <a:lnTo>
                    <a:pt x="6222" y="51180"/>
                  </a:lnTo>
                  <a:lnTo>
                    <a:pt x="45212" y="38100"/>
                  </a:lnTo>
                  <a:lnTo>
                    <a:pt x="53086" y="36068"/>
                  </a:lnTo>
                  <a:lnTo>
                    <a:pt x="57530" y="34163"/>
                  </a:lnTo>
                  <a:lnTo>
                    <a:pt x="57530" y="31750"/>
                  </a:lnTo>
                  <a:lnTo>
                    <a:pt x="57530" y="27050"/>
                  </a:lnTo>
                  <a:lnTo>
                    <a:pt x="56387" y="23749"/>
                  </a:lnTo>
                  <a:lnTo>
                    <a:pt x="53975" y="21717"/>
                  </a:lnTo>
                  <a:lnTo>
                    <a:pt x="51688" y="19684"/>
                  </a:lnTo>
                  <a:lnTo>
                    <a:pt x="47370" y="18669"/>
                  </a:lnTo>
                  <a:lnTo>
                    <a:pt x="40893" y="18669"/>
                  </a:lnTo>
                  <a:lnTo>
                    <a:pt x="36575" y="18669"/>
                  </a:lnTo>
                  <a:lnTo>
                    <a:pt x="24764" y="30225"/>
                  </a:lnTo>
                  <a:lnTo>
                    <a:pt x="2539" y="26289"/>
                  </a:lnTo>
                  <a:lnTo>
                    <a:pt x="34192" y="402"/>
                  </a:lnTo>
                  <a:lnTo>
                    <a:pt x="42671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2886" y="1679955"/>
              <a:ext cx="2707513" cy="16891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4538344" y="1683003"/>
              <a:ext cx="295910" cy="130175"/>
            </a:xfrm>
            <a:custGeom>
              <a:avLst/>
              <a:gdLst/>
              <a:ahLst/>
              <a:cxnLst/>
              <a:rect l="l" t="t" r="r" b="b"/>
              <a:pathLst>
                <a:path w="295910" h="130175">
                  <a:moveTo>
                    <a:pt x="0" y="1016"/>
                  </a:moveTo>
                  <a:lnTo>
                    <a:pt x="25780" y="1016"/>
                  </a:lnTo>
                  <a:lnTo>
                    <a:pt x="25780" y="106172"/>
                  </a:lnTo>
                  <a:lnTo>
                    <a:pt x="89788" y="106172"/>
                  </a:lnTo>
                  <a:lnTo>
                    <a:pt x="89788" y="127635"/>
                  </a:lnTo>
                  <a:lnTo>
                    <a:pt x="0" y="127635"/>
                  </a:lnTo>
                  <a:lnTo>
                    <a:pt x="0" y="1016"/>
                  </a:lnTo>
                  <a:close/>
                </a:path>
                <a:path w="295910" h="130175">
                  <a:moveTo>
                    <a:pt x="205358" y="0"/>
                  </a:moveTo>
                  <a:lnTo>
                    <a:pt x="229742" y="0"/>
                  </a:lnTo>
                  <a:lnTo>
                    <a:pt x="229742" y="45974"/>
                  </a:lnTo>
                  <a:lnTo>
                    <a:pt x="235700" y="40380"/>
                  </a:lnTo>
                  <a:lnTo>
                    <a:pt x="242157" y="36369"/>
                  </a:lnTo>
                  <a:lnTo>
                    <a:pt x="249138" y="33954"/>
                  </a:lnTo>
                  <a:lnTo>
                    <a:pt x="256666" y="33147"/>
                  </a:lnTo>
                  <a:lnTo>
                    <a:pt x="264711" y="33909"/>
                  </a:lnTo>
                  <a:lnTo>
                    <a:pt x="292893" y="60213"/>
                  </a:lnTo>
                  <a:lnTo>
                    <a:pt x="295655" y="80518"/>
                  </a:lnTo>
                  <a:lnTo>
                    <a:pt x="294943" y="91660"/>
                  </a:lnTo>
                  <a:lnTo>
                    <a:pt x="271875" y="126571"/>
                  </a:lnTo>
                  <a:lnTo>
                    <a:pt x="256920" y="129794"/>
                  </a:lnTo>
                  <a:lnTo>
                    <a:pt x="251713" y="129794"/>
                  </a:lnTo>
                  <a:lnTo>
                    <a:pt x="228091" y="114046"/>
                  </a:lnTo>
                  <a:lnTo>
                    <a:pt x="228091" y="127635"/>
                  </a:lnTo>
                  <a:lnTo>
                    <a:pt x="205358" y="127635"/>
                  </a:lnTo>
                  <a:lnTo>
                    <a:pt x="205358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1432178" y="1935988"/>
            <a:ext cx="3834129" cy="177165"/>
            <a:chOff x="1432178" y="1935988"/>
            <a:chExt cx="3834129" cy="177165"/>
          </a:xfrm>
        </p:grpSpPr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37131" y="1941576"/>
              <a:ext cx="3829050" cy="17145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2178" y="1935988"/>
              <a:ext cx="3827779" cy="171323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2175382" y="2192020"/>
            <a:ext cx="2310765" cy="142240"/>
            <a:chOff x="2175382" y="2192020"/>
            <a:chExt cx="2310765" cy="142240"/>
          </a:xfrm>
        </p:grpSpPr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80843" y="2197633"/>
              <a:ext cx="2305050" cy="136372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78430" y="2195068"/>
              <a:ext cx="2298319" cy="129793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2285364" y="2230247"/>
              <a:ext cx="1010285" cy="94615"/>
            </a:xfrm>
            <a:custGeom>
              <a:avLst/>
              <a:gdLst/>
              <a:ahLst/>
              <a:cxnLst/>
              <a:rect l="l" t="t" r="r" b="b"/>
              <a:pathLst>
                <a:path w="1010285" h="94614">
                  <a:moveTo>
                    <a:pt x="417957" y="48132"/>
                  </a:moveTo>
                  <a:lnTo>
                    <a:pt x="414782" y="49149"/>
                  </a:lnTo>
                  <a:lnTo>
                    <a:pt x="409829" y="50419"/>
                  </a:lnTo>
                  <a:lnTo>
                    <a:pt x="403098" y="51816"/>
                  </a:lnTo>
                  <a:lnTo>
                    <a:pt x="396240" y="53339"/>
                  </a:lnTo>
                  <a:lnTo>
                    <a:pt x="391795" y="54736"/>
                  </a:lnTo>
                  <a:lnTo>
                    <a:pt x="389763" y="56133"/>
                  </a:lnTo>
                  <a:lnTo>
                    <a:pt x="386588" y="58420"/>
                  </a:lnTo>
                  <a:lnTo>
                    <a:pt x="384937" y="61213"/>
                  </a:lnTo>
                  <a:lnTo>
                    <a:pt x="384937" y="64770"/>
                  </a:lnTo>
                  <a:lnTo>
                    <a:pt x="384937" y="68199"/>
                  </a:lnTo>
                  <a:lnTo>
                    <a:pt x="386207" y="71120"/>
                  </a:lnTo>
                  <a:lnTo>
                    <a:pt x="388747" y="73532"/>
                  </a:lnTo>
                  <a:lnTo>
                    <a:pt x="391287" y="76073"/>
                  </a:lnTo>
                  <a:lnTo>
                    <a:pt x="394589" y="77343"/>
                  </a:lnTo>
                  <a:lnTo>
                    <a:pt x="398526" y="77343"/>
                  </a:lnTo>
                  <a:lnTo>
                    <a:pt x="402971" y="77343"/>
                  </a:lnTo>
                  <a:lnTo>
                    <a:pt x="416941" y="64897"/>
                  </a:lnTo>
                  <a:lnTo>
                    <a:pt x="417576" y="62737"/>
                  </a:lnTo>
                  <a:lnTo>
                    <a:pt x="417957" y="58800"/>
                  </a:lnTo>
                  <a:lnTo>
                    <a:pt x="417957" y="52958"/>
                  </a:lnTo>
                  <a:lnTo>
                    <a:pt x="417957" y="48132"/>
                  </a:lnTo>
                  <a:close/>
                </a:path>
                <a:path w="1010285" h="94614">
                  <a:moveTo>
                    <a:pt x="160401" y="48132"/>
                  </a:moveTo>
                  <a:lnTo>
                    <a:pt x="157226" y="49149"/>
                  </a:lnTo>
                  <a:lnTo>
                    <a:pt x="152273" y="50419"/>
                  </a:lnTo>
                  <a:lnTo>
                    <a:pt x="145542" y="51816"/>
                  </a:lnTo>
                  <a:lnTo>
                    <a:pt x="138684" y="53339"/>
                  </a:lnTo>
                  <a:lnTo>
                    <a:pt x="134239" y="54736"/>
                  </a:lnTo>
                  <a:lnTo>
                    <a:pt x="132207" y="56133"/>
                  </a:lnTo>
                  <a:lnTo>
                    <a:pt x="129032" y="58420"/>
                  </a:lnTo>
                  <a:lnTo>
                    <a:pt x="127381" y="61213"/>
                  </a:lnTo>
                  <a:lnTo>
                    <a:pt x="127381" y="64770"/>
                  </a:lnTo>
                  <a:lnTo>
                    <a:pt x="127381" y="68199"/>
                  </a:lnTo>
                  <a:lnTo>
                    <a:pt x="128651" y="71120"/>
                  </a:lnTo>
                  <a:lnTo>
                    <a:pt x="131191" y="73532"/>
                  </a:lnTo>
                  <a:lnTo>
                    <a:pt x="133731" y="76073"/>
                  </a:lnTo>
                  <a:lnTo>
                    <a:pt x="137033" y="77343"/>
                  </a:lnTo>
                  <a:lnTo>
                    <a:pt x="140970" y="77343"/>
                  </a:lnTo>
                  <a:lnTo>
                    <a:pt x="145415" y="77343"/>
                  </a:lnTo>
                  <a:lnTo>
                    <a:pt x="159385" y="64897"/>
                  </a:lnTo>
                  <a:lnTo>
                    <a:pt x="160020" y="62737"/>
                  </a:lnTo>
                  <a:lnTo>
                    <a:pt x="160401" y="58800"/>
                  </a:lnTo>
                  <a:lnTo>
                    <a:pt x="160401" y="52958"/>
                  </a:lnTo>
                  <a:lnTo>
                    <a:pt x="160401" y="48132"/>
                  </a:lnTo>
                  <a:close/>
                </a:path>
                <a:path w="1010285" h="94614">
                  <a:moveTo>
                    <a:pt x="617728" y="17906"/>
                  </a:moveTo>
                  <a:lnTo>
                    <a:pt x="611378" y="17906"/>
                  </a:lnTo>
                  <a:lnTo>
                    <a:pt x="606044" y="20320"/>
                  </a:lnTo>
                  <a:lnTo>
                    <a:pt x="601599" y="25146"/>
                  </a:lnTo>
                  <a:lnTo>
                    <a:pt x="597281" y="30099"/>
                  </a:lnTo>
                  <a:lnTo>
                    <a:pt x="595122" y="37083"/>
                  </a:lnTo>
                  <a:lnTo>
                    <a:pt x="595122" y="46227"/>
                  </a:lnTo>
                  <a:lnTo>
                    <a:pt x="595122" y="55372"/>
                  </a:lnTo>
                  <a:lnTo>
                    <a:pt x="597281" y="62483"/>
                  </a:lnTo>
                  <a:lnTo>
                    <a:pt x="601599" y="67309"/>
                  </a:lnTo>
                  <a:lnTo>
                    <a:pt x="606044" y="72262"/>
                  </a:lnTo>
                  <a:lnTo>
                    <a:pt x="611378" y="74675"/>
                  </a:lnTo>
                  <a:lnTo>
                    <a:pt x="617728" y="74675"/>
                  </a:lnTo>
                  <a:lnTo>
                    <a:pt x="624078" y="74675"/>
                  </a:lnTo>
                  <a:lnTo>
                    <a:pt x="629539" y="72262"/>
                  </a:lnTo>
                  <a:lnTo>
                    <a:pt x="633857" y="67309"/>
                  </a:lnTo>
                  <a:lnTo>
                    <a:pt x="638175" y="62483"/>
                  </a:lnTo>
                  <a:lnTo>
                    <a:pt x="640334" y="55372"/>
                  </a:lnTo>
                  <a:lnTo>
                    <a:pt x="640334" y="46100"/>
                  </a:lnTo>
                  <a:lnTo>
                    <a:pt x="640334" y="37083"/>
                  </a:lnTo>
                  <a:lnTo>
                    <a:pt x="638175" y="30099"/>
                  </a:lnTo>
                  <a:lnTo>
                    <a:pt x="633857" y="25146"/>
                  </a:lnTo>
                  <a:lnTo>
                    <a:pt x="629539" y="20320"/>
                  </a:lnTo>
                  <a:lnTo>
                    <a:pt x="624078" y="17906"/>
                  </a:lnTo>
                  <a:lnTo>
                    <a:pt x="617728" y="17906"/>
                  </a:lnTo>
                  <a:close/>
                </a:path>
                <a:path w="1010285" h="94614">
                  <a:moveTo>
                    <a:pt x="985647" y="0"/>
                  </a:moveTo>
                  <a:lnTo>
                    <a:pt x="1010158" y="0"/>
                  </a:lnTo>
                  <a:lnTo>
                    <a:pt x="1010158" y="92455"/>
                  </a:lnTo>
                  <a:lnTo>
                    <a:pt x="985647" y="92455"/>
                  </a:lnTo>
                  <a:lnTo>
                    <a:pt x="985647" y="0"/>
                  </a:lnTo>
                  <a:close/>
                </a:path>
                <a:path w="1010285" h="94614">
                  <a:moveTo>
                    <a:pt x="830326" y="0"/>
                  </a:moveTo>
                  <a:lnTo>
                    <a:pt x="854202" y="0"/>
                  </a:lnTo>
                  <a:lnTo>
                    <a:pt x="871474" y="60578"/>
                  </a:lnTo>
                  <a:lnTo>
                    <a:pt x="887349" y="0"/>
                  </a:lnTo>
                  <a:lnTo>
                    <a:pt x="910971" y="0"/>
                  </a:lnTo>
                  <a:lnTo>
                    <a:pt x="926465" y="60578"/>
                  </a:lnTo>
                  <a:lnTo>
                    <a:pt x="944118" y="0"/>
                  </a:lnTo>
                  <a:lnTo>
                    <a:pt x="968248" y="0"/>
                  </a:lnTo>
                  <a:lnTo>
                    <a:pt x="938530" y="92455"/>
                  </a:lnTo>
                  <a:lnTo>
                    <a:pt x="915035" y="92455"/>
                  </a:lnTo>
                  <a:lnTo>
                    <a:pt x="899033" y="33020"/>
                  </a:lnTo>
                  <a:lnTo>
                    <a:pt x="883412" y="92455"/>
                  </a:lnTo>
                  <a:lnTo>
                    <a:pt x="859663" y="92455"/>
                  </a:lnTo>
                  <a:lnTo>
                    <a:pt x="830326" y="0"/>
                  </a:lnTo>
                  <a:close/>
                </a:path>
                <a:path w="1010285" h="94614">
                  <a:moveTo>
                    <a:pt x="525399" y="0"/>
                  </a:moveTo>
                  <a:lnTo>
                    <a:pt x="549910" y="0"/>
                  </a:lnTo>
                  <a:lnTo>
                    <a:pt x="549910" y="92455"/>
                  </a:lnTo>
                  <a:lnTo>
                    <a:pt x="525399" y="92455"/>
                  </a:lnTo>
                  <a:lnTo>
                    <a:pt x="525399" y="0"/>
                  </a:lnTo>
                  <a:close/>
                </a:path>
                <a:path w="1010285" h="94614">
                  <a:moveTo>
                    <a:pt x="258191" y="0"/>
                  </a:moveTo>
                  <a:lnTo>
                    <a:pt x="282702" y="0"/>
                  </a:lnTo>
                  <a:lnTo>
                    <a:pt x="282702" y="42545"/>
                  </a:lnTo>
                  <a:lnTo>
                    <a:pt x="282702" y="55499"/>
                  </a:lnTo>
                  <a:lnTo>
                    <a:pt x="283083" y="63500"/>
                  </a:lnTo>
                  <a:lnTo>
                    <a:pt x="283972" y="66421"/>
                  </a:lnTo>
                  <a:lnTo>
                    <a:pt x="284861" y="69342"/>
                  </a:lnTo>
                  <a:lnTo>
                    <a:pt x="286512" y="71627"/>
                  </a:lnTo>
                  <a:lnTo>
                    <a:pt x="288925" y="73405"/>
                  </a:lnTo>
                  <a:lnTo>
                    <a:pt x="291338" y="75056"/>
                  </a:lnTo>
                  <a:lnTo>
                    <a:pt x="294259" y="75946"/>
                  </a:lnTo>
                  <a:lnTo>
                    <a:pt x="297942" y="75946"/>
                  </a:lnTo>
                  <a:lnTo>
                    <a:pt x="302133" y="75946"/>
                  </a:lnTo>
                  <a:lnTo>
                    <a:pt x="315976" y="64007"/>
                  </a:lnTo>
                  <a:lnTo>
                    <a:pt x="317246" y="60578"/>
                  </a:lnTo>
                  <a:lnTo>
                    <a:pt x="317881" y="52324"/>
                  </a:lnTo>
                  <a:lnTo>
                    <a:pt x="317881" y="38988"/>
                  </a:lnTo>
                  <a:lnTo>
                    <a:pt x="317881" y="0"/>
                  </a:lnTo>
                  <a:lnTo>
                    <a:pt x="342265" y="0"/>
                  </a:lnTo>
                  <a:lnTo>
                    <a:pt x="342265" y="92455"/>
                  </a:lnTo>
                  <a:lnTo>
                    <a:pt x="319532" y="92455"/>
                  </a:lnTo>
                  <a:lnTo>
                    <a:pt x="319532" y="78612"/>
                  </a:lnTo>
                  <a:lnTo>
                    <a:pt x="316230" y="83566"/>
                  </a:lnTo>
                  <a:lnTo>
                    <a:pt x="311785" y="87502"/>
                  </a:lnTo>
                  <a:lnTo>
                    <a:pt x="306324" y="90297"/>
                  </a:lnTo>
                  <a:lnTo>
                    <a:pt x="300863" y="93218"/>
                  </a:lnTo>
                  <a:lnTo>
                    <a:pt x="295021" y="94614"/>
                  </a:lnTo>
                  <a:lnTo>
                    <a:pt x="288925" y="94614"/>
                  </a:lnTo>
                  <a:lnTo>
                    <a:pt x="282702" y="94614"/>
                  </a:lnTo>
                  <a:lnTo>
                    <a:pt x="277114" y="93218"/>
                  </a:lnTo>
                  <a:lnTo>
                    <a:pt x="272161" y="90424"/>
                  </a:lnTo>
                  <a:lnTo>
                    <a:pt x="267208" y="87756"/>
                  </a:lnTo>
                  <a:lnTo>
                    <a:pt x="263652" y="83947"/>
                  </a:lnTo>
                  <a:lnTo>
                    <a:pt x="261493" y="78994"/>
                  </a:lnTo>
                  <a:lnTo>
                    <a:pt x="259334" y="74041"/>
                  </a:lnTo>
                  <a:lnTo>
                    <a:pt x="258191" y="67182"/>
                  </a:lnTo>
                  <a:lnTo>
                    <a:pt x="258191" y="58547"/>
                  </a:lnTo>
                  <a:lnTo>
                    <a:pt x="258191" y="0"/>
                  </a:lnTo>
                  <a:close/>
                </a:path>
                <a:path w="1010285" h="94614">
                  <a:moveTo>
                    <a:pt x="0" y="0"/>
                  </a:moveTo>
                  <a:lnTo>
                    <a:pt x="25654" y="0"/>
                  </a:lnTo>
                  <a:lnTo>
                    <a:pt x="43053" y="47244"/>
                  </a:lnTo>
                  <a:lnTo>
                    <a:pt x="48133" y="62992"/>
                  </a:lnTo>
                  <a:lnTo>
                    <a:pt x="49403" y="58927"/>
                  </a:lnTo>
                  <a:lnTo>
                    <a:pt x="50292" y="56387"/>
                  </a:lnTo>
                  <a:lnTo>
                    <a:pt x="50673" y="54991"/>
                  </a:lnTo>
                  <a:lnTo>
                    <a:pt x="51435" y="52450"/>
                  </a:lnTo>
                  <a:lnTo>
                    <a:pt x="52324" y="49783"/>
                  </a:lnTo>
                  <a:lnTo>
                    <a:pt x="53212" y="47244"/>
                  </a:lnTo>
                  <a:lnTo>
                    <a:pt x="70866" y="0"/>
                  </a:lnTo>
                  <a:lnTo>
                    <a:pt x="96012" y="0"/>
                  </a:lnTo>
                  <a:lnTo>
                    <a:pt x="59309" y="92455"/>
                  </a:lnTo>
                  <a:lnTo>
                    <a:pt x="37211" y="92455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58971" y="2192020"/>
              <a:ext cx="1020826" cy="13588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2178430" y="2195068"/>
              <a:ext cx="1214755" cy="130175"/>
            </a:xfrm>
            <a:custGeom>
              <a:avLst/>
              <a:gdLst/>
              <a:ahLst/>
              <a:cxnLst/>
              <a:rect l="l" t="t" r="r" b="b"/>
              <a:pathLst>
                <a:path w="1214754" h="130175">
                  <a:moveTo>
                    <a:pt x="843914" y="33147"/>
                  </a:moveTo>
                  <a:lnTo>
                    <a:pt x="849249" y="33147"/>
                  </a:lnTo>
                  <a:lnTo>
                    <a:pt x="854201" y="34035"/>
                  </a:lnTo>
                  <a:lnTo>
                    <a:pt x="858646" y="36067"/>
                  </a:lnTo>
                  <a:lnTo>
                    <a:pt x="863092" y="37973"/>
                  </a:lnTo>
                  <a:lnTo>
                    <a:pt x="873632" y="53721"/>
                  </a:lnTo>
                  <a:lnTo>
                    <a:pt x="874521" y="57530"/>
                  </a:lnTo>
                  <a:lnTo>
                    <a:pt x="874902" y="63118"/>
                  </a:lnTo>
                  <a:lnTo>
                    <a:pt x="874902" y="70230"/>
                  </a:lnTo>
                  <a:lnTo>
                    <a:pt x="874902" y="127634"/>
                  </a:lnTo>
                  <a:lnTo>
                    <a:pt x="850519" y="127634"/>
                  </a:lnTo>
                  <a:lnTo>
                    <a:pt x="850519" y="80517"/>
                  </a:lnTo>
                  <a:lnTo>
                    <a:pt x="850519" y="70484"/>
                  </a:lnTo>
                  <a:lnTo>
                    <a:pt x="850011" y="64007"/>
                  </a:lnTo>
                  <a:lnTo>
                    <a:pt x="848868" y="61086"/>
                  </a:lnTo>
                  <a:lnTo>
                    <a:pt x="847851" y="58165"/>
                  </a:lnTo>
                  <a:lnTo>
                    <a:pt x="846201" y="55879"/>
                  </a:lnTo>
                  <a:lnTo>
                    <a:pt x="843788" y="54228"/>
                  </a:lnTo>
                  <a:lnTo>
                    <a:pt x="841501" y="52704"/>
                  </a:lnTo>
                  <a:lnTo>
                    <a:pt x="838581" y="51815"/>
                  </a:lnTo>
                  <a:lnTo>
                    <a:pt x="835279" y="51815"/>
                  </a:lnTo>
                  <a:lnTo>
                    <a:pt x="831088" y="51815"/>
                  </a:lnTo>
                  <a:lnTo>
                    <a:pt x="827277" y="52958"/>
                  </a:lnTo>
                  <a:lnTo>
                    <a:pt x="823976" y="55372"/>
                  </a:lnTo>
                  <a:lnTo>
                    <a:pt x="820546" y="57657"/>
                  </a:lnTo>
                  <a:lnTo>
                    <a:pt x="818261" y="60705"/>
                  </a:lnTo>
                  <a:lnTo>
                    <a:pt x="816991" y="64515"/>
                  </a:lnTo>
                  <a:lnTo>
                    <a:pt x="815720" y="68325"/>
                  </a:lnTo>
                  <a:lnTo>
                    <a:pt x="815086" y="75437"/>
                  </a:lnTo>
                  <a:lnTo>
                    <a:pt x="815086" y="85851"/>
                  </a:lnTo>
                  <a:lnTo>
                    <a:pt x="815086" y="127634"/>
                  </a:lnTo>
                  <a:lnTo>
                    <a:pt x="790701" y="127634"/>
                  </a:lnTo>
                  <a:lnTo>
                    <a:pt x="790701" y="35178"/>
                  </a:lnTo>
                  <a:lnTo>
                    <a:pt x="813435" y="35178"/>
                  </a:lnTo>
                  <a:lnTo>
                    <a:pt x="813435" y="48767"/>
                  </a:lnTo>
                  <a:lnTo>
                    <a:pt x="819840" y="41933"/>
                  </a:lnTo>
                  <a:lnTo>
                    <a:pt x="827055" y="37052"/>
                  </a:lnTo>
                  <a:lnTo>
                    <a:pt x="835080" y="34123"/>
                  </a:lnTo>
                  <a:lnTo>
                    <a:pt x="843914" y="33147"/>
                  </a:lnTo>
                  <a:close/>
                </a:path>
                <a:path w="1214754" h="130175">
                  <a:moveTo>
                    <a:pt x="724535" y="33147"/>
                  </a:moveTo>
                  <a:lnTo>
                    <a:pt x="764859" y="54024"/>
                  </a:lnTo>
                  <a:lnTo>
                    <a:pt x="772413" y="81152"/>
                  </a:lnTo>
                  <a:lnTo>
                    <a:pt x="771558" y="91197"/>
                  </a:lnTo>
                  <a:lnTo>
                    <a:pt x="743569" y="126301"/>
                  </a:lnTo>
                  <a:lnTo>
                    <a:pt x="724788" y="129793"/>
                  </a:lnTo>
                  <a:lnTo>
                    <a:pt x="716280" y="129793"/>
                  </a:lnTo>
                  <a:lnTo>
                    <a:pt x="708151" y="127888"/>
                  </a:lnTo>
                  <a:lnTo>
                    <a:pt x="700532" y="123951"/>
                  </a:lnTo>
                  <a:lnTo>
                    <a:pt x="692785" y="120141"/>
                  </a:lnTo>
                  <a:lnTo>
                    <a:pt x="676910" y="80136"/>
                  </a:lnTo>
                  <a:lnTo>
                    <a:pt x="676910" y="72008"/>
                  </a:lnTo>
                  <a:lnTo>
                    <a:pt x="678942" y="64134"/>
                  </a:lnTo>
                  <a:lnTo>
                    <a:pt x="683006" y="56514"/>
                  </a:lnTo>
                  <a:lnTo>
                    <a:pt x="686943" y="48895"/>
                  </a:lnTo>
                  <a:lnTo>
                    <a:pt x="692657" y="43179"/>
                  </a:lnTo>
                  <a:lnTo>
                    <a:pt x="700024" y="39115"/>
                  </a:lnTo>
                  <a:lnTo>
                    <a:pt x="707389" y="35178"/>
                  </a:lnTo>
                  <a:lnTo>
                    <a:pt x="715518" y="33147"/>
                  </a:lnTo>
                  <a:lnTo>
                    <a:pt x="724535" y="33147"/>
                  </a:lnTo>
                  <a:close/>
                </a:path>
                <a:path w="1214754" h="130175">
                  <a:moveTo>
                    <a:pt x="510031" y="33147"/>
                  </a:moveTo>
                  <a:lnTo>
                    <a:pt x="520826" y="33147"/>
                  </a:lnTo>
                  <a:lnTo>
                    <a:pt x="528955" y="34416"/>
                  </a:lnTo>
                  <a:lnTo>
                    <a:pt x="534288" y="36956"/>
                  </a:lnTo>
                  <a:lnTo>
                    <a:pt x="539750" y="39624"/>
                  </a:lnTo>
                  <a:lnTo>
                    <a:pt x="543432" y="42799"/>
                  </a:lnTo>
                  <a:lnTo>
                    <a:pt x="545592" y="46862"/>
                  </a:lnTo>
                  <a:lnTo>
                    <a:pt x="547751" y="50800"/>
                  </a:lnTo>
                  <a:lnTo>
                    <a:pt x="548894" y="58038"/>
                  </a:lnTo>
                  <a:lnTo>
                    <a:pt x="548894" y="68706"/>
                  </a:lnTo>
                  <a:lnTo>
                    <a:pt x="548639" y="97281"/>
                  </a:lnTo>
                  <a:lnTo>
                    <a:pt x="548639" y="105409"/>
                  </a:lnTo>
                  <a:lnTo>
                    <a:pt x="554227" y="127634"/>
                  </a:lnTo>
                  <a:lnTo>
                    <a:pt x="529970" y="127634"/>
                  </a:lnTo>
                  <a:lnTo>
                    <a:pt x="529336" y="125983"/>
                  </a:lnTo>
                  <a:lnTo>
                    <a:pt x="528574" y="123571"/>
                  </a:lnTo>
                  <a:lnTo>
                    <a:pt x="527685" y="120396"/>
                  </a:lnTo>
                  <a:lnTo>
                    <a:pt x="527304" y="118999"/>
                  </a:lnTo>
                  <a:lnTo>
                    <a:pt x="526923" y="117982"/>
                  </a:lnTo>
                  <a:lnTo>
                    <a:pt x="526795" y="117601"/>
                  </a:lnTo>
                  <a:lnTo>
                    <a:pt x="522605" y="121665"/>
                  </a:lnTo>
                  <a:lnTo>
                    <a:pt x="518160" y="124713"/>
                  </a:lnTo>
                  <a:lnTo>
                    <a:pt x="513333" y="126746"/>
                  </a:lnTo>
                  <a:lnTo>
                    <a:pt x="508635" y="128777"/>
                  </a:lnTo>
                  <a:lnTo>
                    <a:pt x="503555" y="129793"/>
                  </a:lnTo>
                  <a:lnTo>
                    <a:pt x="498094" y="129793"/>
                  </a:lnTo>
                  <a:lnTo>
                    <a:pt x="488569" y="129793"/>
                  </a:lnTo>
                  <a:lnTo>
                    <a:pt x="481075" y="127126"/>
                  </a:lnTo>
                  <a:lnTo>
                    <a:pt x="475614" y="122047"/>
                  </a:lnTo>
                  <a:lnTo>
                    <a:pt x="470154" y="116839"/>
                  </a:lnTo>
                  <a:lnTo>
                    <a:pt x="467360" y="110362"/>
                  </a:lnTo>
                  <a:lnTo>
                    <a:pt x="467360" y="102361"/>
                  </a:lnTo>
                  <a:lnTo>
                    <a:pt x="467360" y="97154"/>
                  </a:lnTo>
                  <a:lnTo>
                    <a:pt x="468630" y="92582"/>
                  </a:lnTo>
                  <a:lnTo>
                    <a:pt x="471169" y="88391"/>
                  </a:lnTo>
                  <a:lnTo>
                    <a:pt x="473582" y="84327"/>
                  </a:lnTo>
                  <a:lnTo>
                    <a:pt x="512571" y="71247"/>
                  </a:lnTo>
                  <a:lnTo>
                    <a:pt x="520445" y="69214"/>
                  </a:lnTo>
                  <a:lnTo>
                    <a:pt x="524891" y="67309"/>
                  </a:lnTo>
                  <a:lnTo>
                    <a:pt x="524891" y="64897"/>
                  </a:lnTo>
                  <a:lnTo>
                    <a:pt x="524891" y="60198"/>
                  </a:lnTo>
                  <a:lnTo>
                    <a:pt x="523748" y="56896"/>
                  </a:lnTo>
                  <a:lnTo>
                    <a:pt x="521335" y="54863"/>
                  </a:lnTo>
                  <a:lnTo>
                    <a:pt x="519049" y="52831"/>
                  </a:lnTo>
                  <a:lnTo>
                    <a:pt x="514731" y="51815"/>
                  </a:lnTo>
                  <a:lnTo>
                    <a:pt x="508254" y="51815"/>
                  </a:lnTo>
                  <a:lnTo>
                    <a:pt x="503936" y="51815"/>
                  </a:lnTo>
                  <a:lnTo>
                    <a:pt x="492125" y="63373"/>
                  </a:lnTo>
                  <a:lnTo>
                    <a:pt x="469900" y="59435"/>
                  </a:lnTo>
                  <a:lnTo>
                    <a:pt x="501552" y="33549"/>
                  </a:lnTo>
                  <a:lnTo>
                    <a:pt x="510031" y="33147"/>
                  </a:lnTo>
                  <a:close/>
                </a:path>
                <a:path w="1214754" h="130175">
                  <a:moveTo>
                    <a:pt x="252475" y="33147"/>
                  </a:moveTo>
                  <a:lnTo>
                    <a:pt x="263270" y="33147"/>
                  </a:lnTo>
                  <a:lnTo>
                    <a:pt x="271399" y="34416"/>
                  </a:lnTo>
                  <a:lnTo>
                    <a:pt x="276732" y="36956"/>
                  </a:lnTo>
                  <a:lnTo>
                    <a:pt x="282194" y="39624"/>
                  </a:lnTo>
                  <a:lnTo>
                    <a:pt x="285876" y="42799"/>
                  </a:lnTo>
                  <a:lnTo>
                    <a:pt x="288036" y="46862"/>
                  </a:lnTo>
                  <a:lnTo>
                    <a:pt x="290194" y="50800"/>
                  </a:lnTo>
                  <a:lnTo>
                    <a:pt x="291338" y="58038"/>
                  </a:lnTo>
                  <a:lnTo>
                    <a:pt x="291338" y="68706"/>
                  </a:lnTo>
                  <a:lnTo>
                    <a:pt x="291083" y="97281"/>
                  </a:lnTo>
                  <a:lnTo>
                    <a:pt x="291083" y="105409"/>
                  </a:lnTo>
                  <a:lnTo>
                    <a:pt x="296671" y="127634"/>
                  </a:lnTo>
                  <a:lnTo>
                    <a:pt x="272414" y="127634"/>
                  </a:lnTo>
                  <a:lnTo>
                    <a:pt x="271780" y="125983"/>
                  </a:lnTo>
                  <a:lnTo>
                    <a:pt x="271018" y="123571"/>
                  </a:lnTo>
                  <a:lnTo>
                    <a:pt x="270129" y="120396"/>
                  </a:lnTo>
                  <a:lnTo>
                    <a:pt x="269748" y="118999"/>
                  </a:lnTo>
                  <a:lnTo>
                    <a:pt x="269367" y="117982"/>
                  </a:lnTo>
                  <a:lnTo>
                    <a:pt x="269239" y="117601"/>
                  </a:lnTo>
                  <a:lnTo>
                    <a:pt x="265049" y="121665"/>
                  </a:lnTo>
                  <a:lnTo>
                    <a:pt x="260604" y="124713"/>
                  </a:lnTo>
                  <a:lnTo>
                    <a:pt x="255777" y="126746"/>
                  </a:lnTo>
                  <a:lnTo>
                    <a:pt x="251079" y="128777"/>
                  </a:lnTo>
                  <a:lnTo>
                    <a:pt x="245999" y="129793"/>
                  </a:lnTo>
                  <a:lnTo>
                    <a:pt x="240537" y="129793"/>
                  </a:lnTo>
                  <a:lnTo>
                    <a:pt x="231012" y="129793"/>
                  </a:lnTo>
                  <a:lnTo>
                    <a:pt x="223519" y="127126"/>
                  </a:lnTo>
                  <a:lnTo>
                    <a:pt x="218058" y="122047"/>
                  </a:lnTo>
                  <a:lnTo>
                    <a:pt x="212598" y="116839"/>
                  </a:lnTo>
                  <a:lnTo>
                    <a:pt x="209804" y="110362"/>
                  </a:lnTo>
                  <a:lnTo>
                    <a:pt x="209804" y="102361"/>
                  </a:lnTo>
                  <a:lnTo>
                    <a:pt x="209804" y="97154"/>
                  </a:lnTo>
                  <a:lnTo>
                    <a:pt x="211074" y="92582"/>
                  </a:lnTo>
                  <a:lnTo>
                    <a:pt x="213613" y="88391"/>
                  </a:lnTo>
                  <a:lnTo>
                    <a:pt x="216026" y="84327"/>
                  </a:lnTo>
                  <a:lnTo>
                    <a:pt x="255016" y="71247"/>
                  </a:lnTo>
                  <a:lnTo>
                    <a:pt x="262889" y="69214"/>
                  </a:lnTo>
                  <a:lnTo>
                    <a:pt x="267335" y="67309"/>
                  </a:lnTo>
                  <a:lnTo>
                    <a:pt x="267335" y="64897"/>
                  </a:lnTo>
                  <a:lnTo>
                    <a:pt x="267335" y="60198"/>
                  </a:lnTo>
                  <a:lnTo>
                    <a:pt x="266192" y="56896"/>
                  </a:lnTo>
                  <a:lnTo>
                    <a:pt x="263779" y="54863"/>
                  </a:lnTo>
                  <a:lnTo>
                    <a:pt x="261493" y="52831"/>
                  </a:lnTo>
                  <a:lnTo>
                    <a:pt x="257175" y="51815"/>
                  </a:lnTo>
                  <a:lnTo>
                    <a:pt x="250698" y="51815"/>
                  </a:lnTo>
                  <a:lnTo>
                    <a:pt x="246380" y="51815"/>
                  </a:lnTo>
                  <a:lnTo>
                    <a:pt x="234569" y="63373"/>
                  </a:lnTo>
                  <a:lnTo>
                    <a:pt x="212344" y="59435"/>
                  </a:lnTo>
                  <a:lnTo>
                    <a:pt x="243996" y="33549"/>
                  </a:lnTo>
                  <a:lnTo>
                    <a:pt x="252475" y="33147"/>
                  </a:lnTo>
                  <a:close/>
                </a:path>
                <a:path w="1214754" h="130175">
                  <a:moveTo>
                    <a:pt x="598551" y="2539"/>
                  </a:moveTo>
                  <a:lnTo>
                    <a:pt x="598551" y="35178"/>
                  </a:lnTo>
                  <a:lnTo>
                    <a:pt x="615314" y="35178"/>
                  </a:lnTo>
                  <a:lnTo>
                    <a:pt x="615314" y="54736"/>
                  </a:lnTo>
                  <a:lnTo>
                    <a:pt x="598551" y="54736"/>
                  </a:lnTo>
                  <a:lnTo>
                    <a:pt x="598551" y="91948"/>
                  </a:lnTo>
                  <a:lnTo>
                    <a:pt x="598551" y="99567"/>
                  </a:lnTo>
                  <a:lnTo>
                    <a:pt x="601218" y="108203"/>
                  </a:lnTo>
                  <a:lnTo>
                    <a:pt x="602361" y="109092"/>
                  </a:lnTo>
                  <a:lnTo>
                    <a:pt x="603757" y="109474"/>
                  </a:lnTo>
                  <a:lnTo>
                    <a:pt x="605408" y="109474"/>
                  </a:lnTo>
                  <a:lnTo>
                    <a:pt x="607694" y="109474"/>
                  </a:lnTo>
                  <a:lnTo>
                    <a:pt x="610869" y="108711"/>
                  </a:lnTo>
                  <a:lnTo>
                    <a:pt x="615188" y="107060"/>
                  </a:lnTo>
                  <a:lnTo>
                    <a:pt x="617346" y="126110"/>
                  </a:lnTo>
                  <a:lnTo>
                    <a:pt x="611632" y="128524"/>
                  </a:lnTo>
                  <a:lnTo>
                    <a:pt x="605155" y="129793"/>
                  </a:lnTo>
                  <a:lnTo>
                    <a:pt x="597916" y="129793"/>
                  </a:lnTo>
                  <a:lnTo>
                    <a:pt x="593598" y="129793"/>
                  </a:lnTo>
                  <a:lnTo>
                    <a:pt x="589533" y="129031"/>
                  </a:lnTo>
                  <a:lnTo>
                    <a:pt x="586105" y="127507"/>
                  </a:lnTo>
                  <a:lnTo>
                    <a:pt x="582549" y="126110"/>
                  </a:lnTo>
                  <a:lnTo>
                    <a:pt x="574801" y="112267"/>
                  </a:lnTo>
                  <a:lnTo>
                    <a:pt x="574294" y="109474"/>
                  </a:lnTo>
                  <a:lnTo>
                    <a:pt x="574039" y="103631"/>
                  </a:lnTo>
                  <a:lnTo>
                    <a:pt x="574039" y="94996"/>
                  </a:lnTo>
                  <a:lnTo>
                    <a:pt x="574039" y="54736"/>
                  </a:lnTo>
                  <a:lnTo>
                    <a:pt x="562863" y="54736"/>
                  </a:lnTo>
                  <a:lnTo>
                    <a:pt x="562863" y="35178"/>
                  </a:lnTo>
                  <a:lnTo>
                    <a:pt x="574039" y="35178"/>
                  </a:lnTo>
                  <a:lnTo>
                    <a:pt x="574039" y="16890"/>
                  </a:lnTo>
                  <a:lnTo>
                    <a:pt x="598551" y="2539"/>
                  </a:lnTo>
                  <a:close/>
                </a:path>
                <a:path w="1214754" h="130175">
                  <a:moveTo>
                    <a:pt x="1190117" y="0"/>
                  </a:moveTo>
                  <a:lnTo>
                    <a:pt x="1214628" y="0"/>
                  </a:lnTo>
                  <a:lnTo>
                    <a:pt x="1214628" y="127634"/>
                  </a:lnTo>
                  <a:lnTo>
                    <a:pt x="1190117" y="127634"/>
                  </a:lnTo>
                  <a:lnTo>
                    <a:pt x="1190117" y="0"/>
                  </a:lnTo>
                  <a:close/>
                </a:path>
                <a:path w="1214754" h="130175">
                  <a:moveTo>
                    <a:pt x="1141348" y="0"/>
                  </a:moveTo>
                  <a:lnTo>
                    <a:pt x="1165859" y="0"/>
                  </a:lnTo>
                  <a:lnTo>
                    <a:pt x="1165859" y="127634"/>
                  </a:lnTo>
                  <a:lnTo>
                    <a:pt x="1141348" y="127634"/>
                  </a:lnTo>
                  <a:lnTo>
                    <a:pt x="1141348" y="0"/>
                  </a:lnTo>
                  <a:close/>
                </a:path>
                <a:path w="1214754" h="130175">
                  <a:moveTo>
                    <a:pt x="1092581" y="0"/>
                  </a:moveTo>
                  <a:lnTo>
                    <a:pt x="1117092" y="0"/>
                  </a:lnTo>
                  <a:lnTo>
                    <a:pt x="1117092" y="22605"/>
                  </a:lnTo>
                  <a:lnTo>
                    <a:pt x="1092581" y="22605"/>
                  </a:lnTo>
                  <a:lnTo>
                    <a:pt x="1092581" y="0"/>
                  </a:lnTo>
                  <a:close/>
                </a:path>
                <a:path w="1214754" h="130175">
                  <a:moveTo>
                    <a:pt x="632332" y="0"/>
                  </a:moveTo>
                  <a:lnTo>
                    <a:pt x="656844" y="0"/>
                  </a:lnTo>
                  <a:lnTo>
                    <a:pt x="656844" y="22605"/>
                  </a:lnTo>
                  <a:lnTo>
                    <a:pt x="632332" y="22605"/>
                  </a:lnTo>
                  <a:lnTo>
                    <a:pt x="632332" y="0"/>
                  </a:lnTo>
                  <a:close/>
                </a:path>
                <a:path w="1214754" h="130175">
                  <a:moveTo>
                    <a:pt x="315341" y="0"/>
                  </a:moveTo>
                  <a:lnTo>
                    <a:pt x="339851" y="0"/>
                  </a:lnTo>
                  <a:lnTo>
                    <a:pt x="339851" y="127634"/>
                  </a:lnTo>
                  <a:lnTo>
                    <a:pt x="315341" y="127634"/>
                  </a:lnTo>
                  <a:lnTo>
                    <a:pt x="315341" y="0"/>
                  </a:lnTo>
                  <a:close/>
                </a:path>
                <a:path w="1214754" h="130175">
                  <a:moveTo>
                    <a:pt x="0" y="0"/>
                  </a:moveTo>
                  <a:lnTo>
                    <a:pt x="94742" y="0"/>
                  </a:lnTo>
                  <a:lnTo>
                    <a:pt x="94742" y="21589"/>
                  </a:lnTo>
                  <a:lnTo>
                    <a:pt x="25781" y="21589"/>
                  </a:lnTo>
                  <a:lnTo>
                    <a:pt x="25781" y="49910"/>
                  </a:lnTo>
                  <a:lnTo>
                    <a:pt x="89916" y="49910"/>
                  </a:lnTo>
                  <a:lnTo>
                    <a:pt x="89916" y="71374"/>
                  </a:lnTo>
                  <a:lnTo>
                    <a:pt x="25781" y="71374"/>
                  </a:lnTo>
                  <a:lnTo>
                    <a:pt x="25781" y="106172"/>
                  </a:lnTo>
                  <a:lnTo>
                    <a:pt x="97155" y="106172"/>
                  </a:lnTo>
                  <a:lnTo>
                    <a:pt x="97155" y="127634"/>
                  </a:lnTo>
                  <a:lnTo>
                    <a:pt x="0" y="127634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2382773" y="2445892"/>
            <a:ext cx="1941830" cy="144145"/>
            <a:chOff x="2382773" y="2445892"/>
            <a:chExt cx="1941830" cy="144145"/>
          </a:xfrm>
        </p:grpSpPr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88107" y="2450591"/>
              <a:ext cx="1936242" cy="139446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85821" y="2448940"/>
              <a:ext cx="1929383" cy="131952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75100" y="2448051"/>
              <a:ext cx="843152" cy="13589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82773" y="2445892"/>
              <a:ext cx="975106" cy="13804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3427348" y="2451099"/>
              <a:ext cx="26034" cy="127635"/>
            </a:xfrm>
            <a:custGeom>
              <a:avLst/>
              <a:gdLst/>
              <a:ahLst/>
              <a:cxnLst/>
              <a:rect l="l" t="t" r="r" b="b"/>
              <a:pathLst>
                <a:path w="26035" h="127635">
                  <a:moveTo>
                    <a:pt x="0" y="0"/>
                  </a:moveTo>
                  <a:lnTo>
                    <a:pt x="25780" y="0"/>
                  </a:lnTo>
                  <a:lnTo>
                    <a:pt x="25780" y="127634"/>
                  </a:lnTo>
                  <a:lnTo>
                    <a:pt x="0" y="127634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 descr=""/>
          <p:cNvGrpSpPr/>
          <p:nvPr/>
        </p:nvGrpSpPr>
        <p:grpSpPr>
          <a:xfrm>
            <a:off x="1908810" y="2704083"/>
            <a:ext cx="2897505" cy="177165"/>
            <a:chOff x="1908810" y="2704083"/>
            <a:chExt cx="2897505" cy="177165"/>
          </a:xfrm>
        </p:grpSpPr>
        <p:pic>
          <p:nvPicPr>
            <p:cNvPr id="41" name="object 4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914144" y="2709671"/>
              <a:ext cx="2891789" cy="171450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11858" y="2707131"/>
              <a:ext cx="2884678" cy="165226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79547" y="2704083"/>
              <a:ext cx="1820037" cy="171323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08810" y="2704083"/>
              <a:ext cx="906399" cy="171323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2881757" y="2708147"/>
              <a:ext cx="90170" cy="127000"/>
            </a:xfrm>
            <a:custGeom>
              <a:avLst/>
              <a:gdLst/>
              <a:ahLst/>
              <a:cxnLst/>
              <a:rect l="l" t="t" r="r" b="b"/>
              <a:pathLst>
                <a:path w="90169" h="127000">
                  <a:moveTo>
                    <a:pt x="0" y="0"/>
                  </a:moveTo>
                  <a:lnTo>
                    <a:pt x="25781" y="0"/>
                  </a:lnTo>
                  <a:lnTo>
                    <a:pt x="25781" y="105155"/>
                  </a:lnTo>
                  <a:lnTo>
                    <a:pt x="89788" y="105155"/>
                  </a:lnTo>
                  <a:lnTo>
                    <a:pt x="89788" y="126618"/>
                  </a:lnTo>
                  <a:lnTo>
                    <a:pt x="0" y="126618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 descr=""/>
          <p:cNvGrpSpPr/>
          <p:nvPr/>
        </p:nvGrpSpPr>
        <p:grpSpPr>
          <a:xfrm>
            <a:off x="2120519" y="2957957"/>
            <a:ext cx="2470785" cy="179705"/>
            <a:chOff x="2120519" y="2957957"/>
            <a:chExt cx="2470785" cy="179705"/>
          </a:xfrm>
        </p:grpSpPr>
        <p:pic>
          <p:nvPicPr>
            <p:cNvPr id="47" name="object 4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25980" y="2962630"/>
              <a:ext cx="2465070" cy="17452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20519" y="2957957"/>
              <a:ext cx="2464308" cy="173482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4191508" y="2963164"/>
              <a:ext cx="24765" cy="22860"/>
            </a:xfrm>
            <a:custGeom>
              <a:avLst/>
              <a:gdLst/>
              <a:ahLst/>
              <a:cxnLst/>
              <a:rect l="l" t="t" r="r" b="b"/>
              <a:pathLst>
                <a:path w="24764" h="22860">
                  <a:moveTo>
                    <a:pt x="0" y="0"/>
                  </a:moveTo>
                  <a:lnTo>
                    <a:pt x="24511" y="0"/>
                  </a:lnTo>
                  <a:lnTo>
                    <a:pt x="24511" y="22606"/>
                  </a:lnTo>
                  <a:lnTo>
                    <a:pt x="0" y="22606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 descr=""/>
          <p:cNvGrpSpPr/>
          <p:nvPr/>
        </p:nvGrpSpPr>
        <p:grpSpPr>
          <a:xfrm>
            <a:off x="1381886" y="3216148"/>
            <a:ext cx="3887470" cy="177165"/>
            <a:chOff x="1381886" y="3216148"/>
            <a:chExt cx="3887470" cy="177165"/>
          </a:xfrm>
        </p:grpSpPr>
        <p:pic>
          <p:nvPicPr>
            <p:cNvPr id="51" name="object 5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86839" y="3221736"/>
              <a:ext cx="3882390" cy="17145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84934" y="3219196"/>
              <a:ext cx="3874262" cy="165226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522602" y="3254375"/>
              <a:ext cx="172720" cy="94615"/>
            </a:xfrm>
            <a:custGeom>
              <a:avLst/>
              <a:gdLst/>
              <a:ahLst/>
              <a:cxnLst/>
              <a:rect l="l" t="t" r="r" b="b"/>
              <a:pathLst>
                <a:path w="172719" h="94614">
                  <a:moveTo>
                    <a:pt x="22606" y="17907"/>
                  </a:moveTo>
                  <a:lnTo>
                    <a:pt x="16256" y="17907"/>
                  </a:lnTo>
                  <a:lnTo>
                    <a:pt x="10921" y="20320"/>
                  </a:lnTo>
                  <a:lnTo>
                    <a:pt x="6477" y="25146"/>
                  </a:lnTo>
                  <a:lnTo>
                    <a:pt x="2159" y="30099"/>
                  </a:lnTo>
                  <a:lnTo>
                    <a:pt x="0" y="37084"/>
                  </a:lnTo>
                  <a:lnTo>
                    <a:pt x="0" y="46227"/>
                  </a:lnTo>
                  <a:lnTo>
                    <a:pt x="0" y="55372"/>
                  </a:lnTo>
                  <a:lnTo>
                    <a:pt x="2159" y="62484"/>
                  </a:lnTo>
                  <a:lnTo>
                    <a:pt x="6477" y="67310"/>
                  </a:lnTo>
                  <a:lnTo>
                    <a:pt x="10921" y="72262"/>
                  </a:lnTo>
                  <a:lnTo>
                    <a:pt x="16256" y="74675"/>
                  </a:lnTo>
                  <a:lnTo>
                    <a:pt x="22606" y="74675"/>
                  </a:lnTo>
                  <a:lnTo>
                    <a:pt x="28956" y="74675"/>
                  </a:lnTo>
                  <a:lnTo>
                    <a:pt x="34416" y="72262"/>
                  </a:lnTo>
                  <a:lnTo>
                    <a:pt x="38734" y="67310"/>
                  </a:lnTo>
                  <a:lnTo>
                    <a:pt x="43053" y="62484"/>
                  </a:lnTo>
                  <a:lnTo>
                    <a:pt x="45212" y="55372"/>
                  </a:lnTo>
                  <a:lnTo>
                    <a:pt x="45212" y="46100"/>
                  </a:lnTo>
                  <a:lnTo>
                    <a:pt x="45212" y="37084"/>
                  </a:lnTo>
                  <a:lnTo>
                    <a:pt x="43053" y="30099"/>
                  </a:lnTo>
                  <a:lnTo>
                    <a:pt x="38734" y="25146"/>
                  </a:lnTo>
                  <a:lnTo>
                    <a:pt x="34416" y="20320"/>
                  </a:lnTo>
                  <a:lnTo>
                    <a:pt x="28956" y="17907"/>
                  </a:lnTo>
                  <a:lnTo>
                    <a:pt x="22606" y="17907"/>
                  </a:lnTo>
                  <a:close/>
                </a:path>
                <a:path w="172719" h="94614">
                  <a:moveTo>
                    <a:pt x="88265" y="0"/>
                  </a:moveTo>
                  <a:lnTo>
                    <a:pt x="112776" y="0"/>
                  </a:lnTo>
                  <a:lnTo>
                    <a:pt x="112776" y="42545"/>
                  </a:lnTo>
                  <a:lnTo>
                    <a:pt x="112776" y="55499"/>
                  </a:lnTo>
                  <a:lnTo>
                    <a:pt x="124333" y="75946"/>
                  </a:lnTo>
                  <a:lnTo>
                    <a:pt x="128015" y="75946"/>
                  </a:lnTo>
                  <a:lnTo>
                    <a:pt x="132207" y="75946"/>
                  </a:lnTo>
                  <a:lnTo>
                    <a:pt x="146049" y="64008"/>
                  </a:lnTo>
                  <a:lnTo>
                    <a:pt x="147320" y="60578"/>
                  </a:lnTo>
                  <a:lnTo>
                    <a:pt x="147954" y="52324"/>
                  </a:lnTo>
                  <a:lnTo>
                    <a:pt x="147954" y="38988"/>
                  </a:lnTo>
                  <a:lnTo>
                    <a:pt x="147954" y="0"/>
                  </a:lnTo>
                  <a:lnTo>
                    <a:pt x="172339" y="0"/>
                  </a:lnTo>
                  <a:lnTo>
                    <a:pt x="172339" y="92455"/>
                  </a:lnTo>
                  <a:lnTo>
                    <a:pt x="149605" y="92455"/>
                  </a:lnTo>
                  <a:lnTo>
                    <a:pt x="149605" y="78612"/>
                  </a:lnTo>
                  <a:lnTo>
                    <a:pt x="146303" y="83565"/>
                  </a:lnTo>
                  <a:lnTo>
                    <a:pt x="141859" y="87502"/>
                  </a:lnTo>
                  <a:lnTo>
                    <a:pt x="136397" y="90297"/>
                  </a:lnTo>
                  <a:lnTo>
                    <a:pt x="130936" y="93217"/>
                  </a:lnTo>
                  <a:lnTo>
                    <a:pt x="125095" y="94614"/>
                  </a:lnTo>
                  <a:lnTo>
                    <a:pt x="118998" y="94614"/>
                  </a:lnTo>
                  <a:lnTo>
                    <a:pt x="112776" y="94614"/>
                  </a:lnTo>
                  <a:lnTo>
                    <a:pt x="107188" y="93217"/>
                  </a:lnTo>
                  <a:lnTo>
                    <a:pt x="102234" y="90424"/>
                  </a:lnTo>
                  <a:lnTo>
                    <a:pt x="97281" y="87757"/>
                  </a:lnTo>
                  <a:lnTo>
                    <a:pt x="93725" y="83947"/>
                  </a:lnTo>
                  <a:lnTo>
                    <a:pt x="91566" y="78994"/>
                  </a:lnTo>
                  <a:lnTo>
                    <a:pt x="89408" y="74040"/>
                  </a:lnTo>
                  <a:lnTo>
                    <a:pt x="88265" y="67183"/>
                  </a:lnTo>
                  <a:lnTo>
                    <a:pt x="88265" y="58547"/>
                  </a:lnTo>
                  <a:lnTo>
                    <a:pt x="88265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125216" y="3216148"/>
              <a:ext cx="2137029" cy="171323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65045" y="3216148"/>
              <a:ext cx="1292352" cy="171323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384934" y="3219196"/>
              <a:ext cx="208279" cy="130175"/>
            </a:xfrm>
            <a:custGeom>
              <a:avLst/>
              <a:gdLst/>
              <a:ahLst/>
              <a:cxnLst/>
              <a:rect l="l" t="t" r="r" b="b"/>
              <a:pathLst>
                <a:path w="208280" h="130175">
                  <a:moveTo>
                    <a:pt x="160147" y="33146"/>
                  </a:moveTo>
                  <a:lnTo>
                    <a:pt x="200471" y="54024"/>
                  </a:lnTo>
                  <a:lnTo>
                    <a:pt x="208026" y="81152"/>
                  </a:lnTo>
                  <a:lnTo>
                    <a:pt x="207170" y="91197"/>
                  </a:lnTo>
                  <a:lnTo>
                    <a:pt x="179181" y="126301"/>
                  </a:lnTo>
                  <a:lnTo>
                    <a:pt x="160401" y="129793"/>
                  </a:lnTo>
                  <a:lnTo>
                    <a:pt x="151892" y="129793"/>
                  </a:lnTo>
                  <a:lnTo>
                    <a:pt x="143764" y="127888"/>
                  </a:lnTo>
                  <a:lnTo>
                    <a:pt x="136144" y="123951"/>
                  </a:lnTo>
                  <a:lnTo>
                    <a:pt x="128397" y="120141"/>
                  </a:lnTo>
                  <a:lnTo>
                    <a:pt x="112522" y="80137"/>
                  </a:lnTo>
                  <a:lnTo>
                    <a:pt x="112522" y="72008"/>
                  </a:lnTo>
                  <a:lnTo>
                    <a:pt x="114553" y="64134"/>
                  </a:lnTo>
                  <a:lnTo>
                    <a:pt x="118618" y="56514"/>
                  </a:lnTo>
                  <a:lnTo>
                    <a:pt x="122555" y="48894"/>
                  </a:lnTo>
                  <a:lnTo>
                    <a:pt x="128270" y="43179"/>
                  </a:lnTo>
                  <a:lnTo>
                    <a:pt x="135636" y="39115"/>
                  </a:lnTo>
                  <a:lnTo>
                    <a:pt x="143002" y="35178"/>
                  </a:lnTo>
                  <a:lnTo>
                    <a:pt x="151130" y="33146"/>
                  </a:lnTo>
                  <a:lnTo>
                    <a:pt x="160147" y="33146"/>
                  </a:lnTo>
                  <a:close/>
                </a:path>
                <a:path w="208280" h="130175">
                  <a:moveTo>
                    <a:pt x="0" y="0"/>
                  </a:moveTo>
                  <a:lnTo>
                    <a:pt x="30226" y="0"/>
                  </a:lnTo>
                  <a:lnTo>
                    <a:pt x="60325" y="50545"/>
                  </a:lnTo>
                  <a:lnTo>
                    <a:pt x="89662" y="0"/>
                  </a:lnTo>
                  <a:lnTo>
                    <a:pt x="119380" y="0"/>
                  </a:lnTo>
                  <a:lnTo>
                    <a:pt x="72517" y="74167"/>
                  </a:lnTo>
                  <a:lnTo>
                    <a:pt x="72517" y="127634"/>
                  </a:lnTo>
                  <a:lnTo>
                    <a:pt x="46736" y="127634"/>
                  </a:lnTo>
                  <a:lnTo>
                    <a:pt x="46736" y="73913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1202347" y="3470021"/>
            <a:ext cx="4294505" cy="179705"/>
            <a:chOff x="1202347" y="3470021"/>
            <a:chExt cx="4294505" cy="179705"/>
          </a:xfrm>
        </p:grpSpPr>
        <p:pic>
          <p:nvPicPr>
            <p:cNvPr id="58" name="object 5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08531" y="3474694"/>
              <a:ext cx="4287774" cy="174523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05395" y="3473069"/>
              <a:ext cx="4281639" cy="167385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64586" y="3470021"/>
              <a:ext cx="2825496" cy="173481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02347" y="3470021"/>
              <a:ext cx="1394548" cy="138049"/>
            </a:xfrm>
            <a:prstGeom prst="rect">
              <a:avLst/>
            </a:prstGeom>
          </p:spPr>
        </p:pic>
      </p:grpSp>
      <p:grpSp>
        <p:nvGrpSpPr>
          <p:cNvPr id="62" name="object 62" descr=""/>
          <p:cNvGrpSpPr/>
          <p:nvPr/>
        </p:nvGrpSpPr>
        <p:grpSpPr>
          <a:xfrm>
            <a:off x="1162151" y="3728211"/>
            <a:ext cx="4392295" cy="177165"/>
            <a:chOff x="1162151" y="3728211"/>
            <a:chExt cx="4392295" cy="177165"/>
          </a:xfrm>
        </p:grpSpPr>
        <p:pic>
          <p:nvPicPr>
            <p:cNvPr id="63" name="object 6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67384" y="3733799"/>
              <a:ext cx="4386834" cy="171450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65199" y="3731259"/>
              <a:ext cx="4379620" cy="165226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1291082" y="3766438"/>
              <a:ext cx="712470" cy="130175"/>
            </a:xfrm>
            <a:custGeom>
              <a:avLst/>
              <a:gdLst/>
              <a:ahLst/>
              <a:cxnLst/>
              <a:rect l="l" t="t" r="r" b="b"/>
              <a:pathLst>
                <a:path w="712469" h="130175">
                  <a:moveTo>
                    <a:pt x="33020" y="48133"/>
                  </a:moveTo>
                  <a:lnTo>
                    <a:pt x="29845" y="49149"/>
                  </a:lnTo>
                  <a:lnTo>
                    <a:pt x="24892" y="50419"/>
                  </a:lnTo>
                  <a:lnTo>
                    <a:pt x="18161" y="51815"/>
                  </a:lnTo>
                  <a:lnTo>
                    <a:pt x="11303" y="53339"/>
                  </a:lnTo>
                  <a:lnTo>
                    <a:pt x="6858" y="54737"/>
                  </a:lnTo>
                  <a:lnTo>
                    <a:pt x="4826" y="56134"/>
                  </a:lnTo>
                  <a:lnTo>
                    <a:pt x="1651" y="58420"/>
                  </a:lnTo>
                  <a:lnTo>
                    <a:pt x="0" y="61213"/>
                  </a:lnTo>
                  <a:lnTo>
                    <a:pt x="0" y="64770"/>
                  </a:lnTo>
                  <a:lnTo>
                    <a:pt x="0" y="68199"/>
                  </a:lnTo>
                  <a:lnTo>
                    <a:pt x="1270" y="71120"/>
                  </a:lnTo>
                  <a:lnTo>
                    <a:pt x="3809" y="73533"/>
                  </a:lnTo>
                  <a:lnTo>
                    <a:pt x="6350" y="76073"/>
                  </a:lnTo>
                  <a:lnTo>
                    <a:pt x="9652" y="77343"/>
                  </a:lnTo>
                  <a:lnTo>
                    <a:pt x="13589" y="77343"/>
                  </a:lnTo>
                  <a:lnTo>
                    <a:pt x="18034" y="77343"/>
                  </a:lnTo>
                  <a:lnTo>
                    <a:pt x="32004" y="64897"/>
                  </a:lnTo>
                  <a:lnTo>
                    <a:pt x="32639" y="62737"/>
                  </a:lnTo>
                  <a:lnTo>
                    <a:pt x="33020" y="58800"/>
                  </a:lnTo>
                  <a:lnTo>
                    <a:pt x="33020" y="52959"/>
                  </a:lnTo>
                  <a:lnTo>
                    <a:pt x="33020" y="48133"/>
                  </a:lnTo>
                  <a:close/>
                </a:path>
                <a:path w="712469" h="130175">
                  <a:moveTo>
                    <a:pt x="687578" y="0"/>
                  </a:moveTo>
                  <a:lnTo>
                    <a:pt x="712088" y="0"/>
                  </a:lnTo>
                  <a:lnTo>
                    <a:pt x="712088" y="92456"/>
                  </a:lnTo>
                  <a:lnTo>
                    <a:pt x="687578" y="92456"/>
                  </a:lnTo>
                  <a:lnTo>
                    <a:pt x="687578" y="0"/>
                  </a:lnTo>
                  <a:close/>
                </a:path>
                <a:path w="712469" h="130175">
                  <a:moveTo>
                    <a:pt x="532257" y="0"/>
                  </a:moveTo>
                  <a:lnTo>
                    <a:pt x="556132" y="0"/>
                  </a:lnTo>
                  <a:lnTo>
                    <a:pt x="573405" y="60578"/>
                  </a:lnTo>
                  <a:lnTo>
                    <a:pt x="589280" y="0"/>
                  </a:lnTo>
                  <a:lnTo>
                    <a:pt x="612901" y="0"/>
                  </a:lnTo>
                  <a:lnTo>
                    <a:pt x="628395" y="60578"/>
                  </a:lnTo>
                  <a:lnTo>
                    <a:pt x="646049" y="0"/>
                  </a:lnTo>
                  <a:lnTo>
                    <a:pt x="670179" y="0"/>
                  </a:lnTo>
                  <a:lnTo>
                    <a:pt x="640461" y="92456"/>
                  </a:lnTo>
                  <a:lnTo>
                    <a:pt x="616966" y="92456"/>
                  </a:lnTo>
                  <a:lnTo>
                    <a:pt x="600963" y="33020"/>
                  </a:lnTo>
                  <a:lnTo>
                    <a:pt x="585343" y="92456"/>
                  </a:lnTo>
                  <a:lnTo>
                    <a:pt x="561594" y="92456"/>
                  </a:lnTo>
                  <a:lnTo>
                    <a:pt x="532257" y="0"/>
                  </a:lnTo>
                  <a:close/>
                </a:path>
                <a:path w="712469" h="130175">
                  <a:moveTo>
                    <a:pt x="386461" y="0"/>
                  </a:moveTo>
                  <a:lnTo>
                    <a:pt x="412495" y="0"/>
                  </a:lnTo>
                  <a:lnTo>
                    <a:pt x="434594" y="65659"/>
                  </a:lnTo>
                  <a:lnTo>
                    <a:pt x="456184" y="0"/>
                  </a:lnTo>
                  <a:lnTo>
                    <a:pt x="481456" y="0"/>
                  </a:lnTo>
                  <a:lnTo>
                    <a:pt x="448818" y="89026"/>
                  </a:lnTo>
                  <a:lnTo>
                    <a:pt x="442975" y="105156"/>
                  </a:lnTo>
                  <a:lnTo>
                    <a:pt x="440944" y="110489"/>
                  </a:lnTo>
                  <a:lnTo>
                    <a:pt x="438785" y="114681"/>
                  </a:lnTo>
                  <a:lnTo>
                    <a:pt x="436880" y="117475"/>
                  </a:lnTo>
                  <a:lnTo>
                    <a:pt x="434975" y="120269"/>
                  </a:lnTo>
                  <a:lnTo>
                    <a:pt x="413004" y="130048"/>
                  </a:lnTo>
                  <a:lnTo>
                    <a:pt x="408431" y="130048"/>
                  </a:lnTo>
                  <a:lnTo>
                    <a:pt x="403732" y="130048"/>
                  </a:lnTo>
                  <a:lnTo>
                    <a:pt x="399034" y="129539"/>
                  </a:lnTo>
                  <a:lnTo>
                    <a:pt x="394588" y="128524"/>
                  </a:lnTo>
                  <a:lnTo>
                    <a:pt x="392303" y="109347"/>
                  </a:lnTo>
                  <a:lnTo>
                    <a:pt x="396240" y="110109"/>
                  </a:lnTo>
                  <a:lnTo>
                    <a:pt x="399669" y="110489"/>
                  </a:lnTo>
                  <a:lnTo>
                    <a:pt x="402717" y="110489"/>
                  </a:lnTo>
                  <a:lnTo>
                    <a:pt x="408431" y="110489"/>
                  </a:lnTo>
                  <a:lnTo>
                    <a:pt x="412623" y="108838"/>
                  </a:lnTo>
                  <a:lnTo>
                    <a:pt x="415290" y="105537"/>
                  </a:lnTo>
                  <a:lnTo>
                    <a:pt x="418084" y="102108"/>
                  </a:lnTo>
                  <a:lnTo>
                    <a:pt x="420116" y="97916"/>
                  </a:lnTo>
                  <a:lnTo>
                    <a:pt x="421640" y="92710"/>
                  </a:lnTo>
                  <a:lnTo>
                    <a:pt x="386461" y="0"/>
                  </a:lnTo>
                  <a:close/>
                </a:path>
                <a:path w="712469" h="130175">
                  <a:moveTo>
                    <a:pt x="179578" y="0"/>
                  </a:moveTo>
                  <a:lnTo>
                    <a:pt x="204089" y="0"/>
                  </a:lnTo>
                  <a:lnTo>
                    <a:pt x="204089" y="42545"/>
                  </a:lnTo>
                  <a:lnTo>
                    <a:pt x="204089" y="55499"/>
                  </a:lnTo>
                  <a:lnTo>
                    <a:pt x="215646" y="75946"/>
                  </a:lnTo>
                  <a:lnTo>
                    <a:pt x="219329" y="75946"/>
                  </a:lnTo>
                  <a:lnTo>
                    <a:pt x="223520" y="75946"/>
                  </a:lnTo>
                  <a:lnTo>
                    <a:pt x="227330" y="74802"/>
                  </a:lnTo>
                  <a:lnTo>
                    <a:pt x="230631" y="72516"/>
                  </a:lnTo>
                  <a:lnTo>
                    <a:pt x="233934" y="70231"/>
                  </a:lnTo>
                  <a:lnTo>
                    <a:pt x="236220" y="67310"/>
                  </a:lnTo>
                  <a:lnTo>
                    <a:pt x="237362" y="64008"/>
                  </a:lnTo>
                  <a:lnTo>
                    <a:pt x="238633" y="60578"/>
                  </a:lnTo>
                  <a:lnTo>
                    <a:pt x="239268" y="52324"/>
                  </a:lnTo>
                  <a:lnTo>
                    <a:pt x="239268" y="38988"/>
                  </a:lnTo>
                  <a:lnTo>
                    <a:pt x="239268" y="0"/>
                  </a:lnTo>
                  <a:lnTo>
                    <a:pt x="263652" y="0"/>
                  </a:lnTo>
                  <a:lnTo>
                    <a:pt x="263652" y="92456"/>
                  </a:lnTo>
                  <a:lnTo>
                    <a:pt x="240919" y="92456"/>
                  </a:lnTo>
                  <a:lnTo>
                    <a:pt x="240919" y="78612"/>
                  </a:lnTo>
                  <a:lnTo>
                    <a:pt x="237617" y="83565"/>
                  </a:lnTo>
                  <a:lnTo>
                    <a:pt x="233172" y="87502"/>
                  </a:lnTo>
                  <a:lnTo>
                    <a:pt x="227711" y="90297"/>
                  </a:lnTo>
                  <a:lnTo>
                    <a:pt x="222250" y="93218"/>
                  </a:lnTo>
                  <a:lnTo>
                    <a:pt x="216408" y="94614"/>
                  </a:lnTo>
                  <a:lnTo>
                    <a:pt x="210312" y="94614"/>
                  </a:lnTo>
                  <a:lnTo>
                    <a:pt x="204089" y="94614"/>
                  </a:lnTo>
                  <a:lnTo>
                    <a:pt x="198501" y="93218"/>
                  </a:lnTo>
                  <a:lnTo>
                    <a:pt x="193548" y="90424"/>
                  </a:lnTo>
                  <a:lnTo>
                    <a:pt x="188595" y="87757"/>
                  </a:lnTo>
                  <a:lnTo>
                    <a:pt x="185039" y="83947"/>
                  </a:lnTo>
                  <a:lnTo>
                    <a:pt x="182880" y="78994"/>
                  </a:lnTo>
                  <a:lnTo>
                    <a:pt x="180721" y="74040"/>
                  </a:lnTo>
                  <a:lnTo>
                    <a:pt x="179578" y="67183"/>
                  </a:lnTo>
                  <a:lnTo>
                    <a:pt x="179578" y="58547"/>
                  </a:lnTo>
                  <a:lnTo>
                    <a:pt x="179578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169033" y="3728211"/>
              <a:ext cx="3378835" cy="171323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165199" y="3731259"/>
              <a:ext cx="939165" cy="130175"/>
            </a:xfrm>
            <a:custGeom>
              <a:avLst/>
              <a:gdLst/>
              <a:ahLst/>
              <a:cxnLst/>
              <a:rect l="l" t="t" r="r" b="b"/>
              <a:pathLst>
                <a:path w="939164" h="130175">
                  <a:moveTo>
                    <a:pt x="246405" y="33147"/>
                  </a:moveTo>
                  <a:lnTo>
                    <a:pt x="281759" y="49529"/>
                  </a:lnTo>
                  <a:lnTo>
                    <a:pt x="287553" y="62484"/>
                  </a:lnTo>
                  <a:lnTo>
                    <a:pt x="263423" y="66928"/>
                  </a:lnTo>
                  <a:lnTo>
                    <a:pt x="262661" y="62102"/>
                  </a:lnTo>
                  <a:lnTo>
                    <a:pt x="260756" y="58419"/>
                  </a:lnTo>
                  <a:lnTo>
                    <a:pt x="257835" y="56006"/>
                  </a:lnTo>
                  <a:lnTo>
                    <a:pt x="255041" y="53593"/>
                  </a:lnTo>
                  <a:lnTo>
                    <a:pt x="251231" y="52324"/>
                  </a:lnTo>
                  <a:lnTo>
                    <a:pt x="246659" y="52324"/>
                  </a:lnTo>
                  <a:lnTo>
                    <a:pt x="240563" y="52324"/>
                  </a:lnTo>
                  <a:lnTo>
                    <a:pt x="235737" y="54482"/>
                  </a:lnTo>
                  <a:lnTo>
                    <a:pt x="232181" y="58674"/>
                  </a:lnTo>
                  <a:lnTo>
                    <a:pt x="228498" y="62864"/>
                  </a:lnTo>
                  <a:lnTo>
                    <a:pt x="226720" y="69976"/>
                  </a:lnTo>
                  <a:lnTo>
                    <a:pt x="226720" y="79755"/>
                  </a:lnTo>
                  <a:lnTo>
                    <a:pt x="226720" y="90804"/>
                  </a:lnTo>
                  <a:lnTo>
                    <a:pt x="228498" y="98551"/>
                  </a:lnTo>
                  <a:lnTo>
                    <a:pt x="232181" y="102997"/>
                  </a:lnTo>
                  <a:lnTo>
                    <a:pt x="235864" y="107568"/>
                  </a:lnTo>
                  <a:lnTo>
                    <a:pt x="240817" y="109854"/>
                  </a:lnTo>
                  <a:lnTo>
                    <a:pt x="247040" y="109854"/>
                  </a:lnTo>
                  <a:lnTo>
                    <a:pt x="251739" y="109854"/>
                  </a:lnTo>
                  <a:lnTo>
                    <a:pt x="255549" y="108457"/>
                  </a:lnTo>
                  <a:lnTo>
                    <a:pt x="258470" y="105917"/>
                  </a:lnTo>
                  <a:lnTo>
                    <a:pt x="261391" y="103250"/>
                  </a:lnTo>
                  <a:lnTo>
                    <a:pt x="263550" y="98678"/>
                  </a:lnTo>
                  <a:lnTo>
                    <a:pt x="264693" y="92201"/>
                  </a:lnTo>
                  <a:lnTo>
                    <a:pt x="288696" y="96265"/>
                  </a:lnTo>
                  <a:lnTo>
                    <a:pt x="261978" y="127682"/>
                  </a:lnTo>
                  <a:lnTo>
                    <a:pt x="245897" y="129793"/>
                  </a:lnTo>
                  <a:lnTo>
                    <a:pt x="236300" y="128986"/>
                  </a:lnTo>
                  <a:lnTo>
                    <a:pt x="204543" y="101726"/>
                  </a:lnTo>
                  <a:lnTo>
                    <a:pt x="201574" y="81534"/>
                  </a:lnTo>
                  <a:lnTo>
                    <a:pt x="202316" y="70725"/>
                  </a:lnTo>
                  <a:lnTo>
                    <a:pt x="227831" y="36306"/>
                  </a:lnTo>
                  <a:lnTo>
                    <a:pt x="236570" y="33934"/>
                  </a:lnTo>
                  <a:lnTo>
                    <a:pt x="246405" y="33147"/>
                  </a:lnTo>
                  <a:close/>
                </a:path>
                <a:path w="939164" h="130175">
                  <a:moveTo>
                    <a:pt x="144043" y="33147"/>
                  </a:moveTo>
                  <a:lnTo>
                    <a:pt x="154838" y="33147"/>
                  </a:lnTo>
                  <a:lnTo>
                    <a:pt x="162966" y="34416"/>
                  </a:lnTo>
                  <a:lnTo>
                    <a:pt x="168300" y="36956"/>
                  </a:lnTo>
                  <a:lnTo>
                    <a:pt x="173761" y="39624"/>
                  </a:lnTo>
                  <a:lnTo>
                    <a:pt x="177444" y="42799"/>
                  </a:lnTo>
                  <a:lnTo>
                    <a:pt x="179603" y="46862"/>
                  </a:lnTo>
                  <a:lnTo>
                    <a:pt x="181762" y="50800"/>
                  </a:lnTo>
                  <a:lnTo>
                    <a:pt x="182905" y="58038"/>
                  </a:lnTo>
                  <a:lnTo>
                    <a:pt x="182905" y="68706"/>
                  </a:lnTo>
                  <a:lnTo>
                    <a:pt x="182651" y="97281"/>
                  </a:lnTo>
                  <a:lnTo>
                    <a:pt x="182651" y="105410"/>
                  </a:lnTo>
                  <a:lnTo>
                    <a:pt x="188239" y="127635"/>
                  </a:lnTo>
                  <a:lnTo>
                    <a:pt x="163982" y="127635"/>
                  </a:lnTo>
                  <a:lnTo>
                    <a:pt x="163347" y="125984"/>
                  </a:lnTo>
                  <a:lnTo>
                    <a:pt x="162585" y="123570"/>
                  </a:lnTo>
                  <a:lnTo>
                    <a:pt x="161696" y="120395"/>
                  </a:lnTo>
                  <a:lnTo>
                    <a:pt x="161315" y="118999"/>
                  </a:lnTo>
                  <a:lnTo>
                    <a:pt x="160934" y="117982"/>
                  </a:lnTo>
                  <a:lnTo>
                    <a:pt x="160807" y="117601"/>
                  </a:lnTo>
                  <a:lnTo>
                    <a:pt x="156616" y="121665"/>
                  </a:lnTo>
                  <a:lnTo>
                    <a:pt x="152171" y="124713"/>
                  </a:lnTo>
                  <a:lnTo>
                    <a:pt x="147345" y="126745"/>
                  </a:lnTo>
                  <a:lnTo>
                    <a:pt x="142646" y="128777"/>
                  </a:lnTo>
                  <a:lnTo>
                    <a:pt x="137566" y="129793"/>
                  </a:lnTo>
                  <a:lnTo>
                    <a:pt x="132105" y="129793"/>
                  </a:lnTo>
                  <a:lnTo>
                    <a:pt x="122580" y="129793"/>
                  </a:lnTo>
                  <a:lnTo>
                    <a:pt x="115087" y="127126"/>
                  </a:lnTo>
                  <a:lnTo>
                    <a:pt x="109626" y="122047"/>
                  </a:lnTo>
                  <a:lnTo>
                    <a:pt x="104152" y="116839"/>
                  </a:lnTo>
                  <a:lnTo>
                    <a:pt x="101409" y="110362"/>
                  </a:lnTo>
                  <a:lnTo>
                    <a:pt x="101409" y="102362"/>
                  </a:lnTo>
                  <a:lnTo>
                    <a:pt x="101409" y="97154"/>
                  </a:lnTo>
                  <a:lnTo>
                    <a:pt x="102654" y="92582"/>
                  </a:lnTo>
                  <a:lnTo>
                    <a:pt x="105181" y="88391"/>
                  </a:lnTo>
                  <a:lnTo>
                    <a:pt x="107594" y="84327"/>
                  </a:lnTo>
                  <a:lnTo>
                    <a:pt x="146583" y="71247"/>
                  </a:lnTo>
                  <a:lnTo>
                    <a:pt x="154457" y="69214"/>
                  </a:lnTo>
                  <a:lnTo>
                    <a:pt x="158902" y="67310"/>
                  </a:lnTo>
                  <a:lnTo>
                    <a:pt x="158902" y="64897"/>
                  </a:lnTo>
                  <a:lnTo>
                    <a:pt x="158902" y="60198"/>
                  </a:lnTo>
                  <a:lnTo>
                    <a:pt x="157759" y="56895"/>
                  </a:lnTo>
                  <a:lnTo>
                    <a:pt x="155346" y="54863"/>
                  </a:lnTo>
                  <a:lnTo>
                    <a:pt x="153060" y="52831"/>
                  </a:lnTo>
                  <a:lnTo>
                    <a:pt x="148742" y="51815"/>
                  </a:lnTo>
                  <a:lnTo>
                    <a:pt x="142265" y="51815"/>
                  </a:lnTo>
                  <a:lnTo>
                    <a:pt x="137947" y="51815"/>
                  </a:lnTo>
                  <a:lnTo>
                    <a:pt x="126136" y="63373"/>
                  </a:lnTo>
                  <a:lnTo>
                    <a:pt x="103936" y="59436"/>
                  </a:lnTo>
                  <a:lnTo>
                    <a:pt x="135564" y="33549"/>
                  </a:lnTo>
                  <a:lnTo>
                    <a:pt x="144043" y="33147"/>
                  </a:lnTo>
                  <a:close/>
                </a:path>
                <a:path w="939164" h="130175">
                  <a:moveTo>
                    <a:pt x="490118" y="2539"/>
                  </a:moveTo>
                  <a:lnTo>
                    <a:pt x="490118" y="35178"/>
                  </a:lnTo>
                  <a:lnTo>
                    <a:pt x="506882" y="35178"/>
                  </a:lnTo>
                  <a:lnTo>
                    <a:pt x="506882" y="54737"/>
                  </a:lnTo>
                  <a:lnTo>
                    <a:pt x="490118" y="54737"/>
                  </a:lnTo>
                  <a:lnTo>
                    <a:pt x="490118" y="91948"/>
                  </a:lnTo>
                  <a:lnTo>
                    <a:pt x="490118" y="99567"/>
                  </a:lnTo>
                  <a:lnTo>
                    <a:pt x="492785" y="108203"/>
                  </a:lnTo>
                  <a:lnTo>
                    <a:pt x="493928" y="109092"/>
                  </a:lnTo>
                  <a:lnTo>
                    <a:pt x="495325" y="109474"/>
                  </a:lnTo>
                  <a:lnTo>
                    <a:pt x="496976" y="109474"/>
                  </a:lnTo>
                  <a:lnTo>
                    <a:pt x="499262" y="109474"/>
                  </a:lnTo>
                  <a:lnTo>
                    <a:pt x="502437" y="108712"/>
                  </a:lnTo>
                  <a:lnTo>
                    <a:pt x="506755" y="107061"/>
                  </a:lnTo>
                  <a:lnTo>
                    <a:pt x="508914" y="126111"/>
                  </a:lnTo>
                  <a:lnTo>
                    <a:pt x="503199" y="128524"/>
                  </a:lnTo>
                  <a:lnTo>
                    <a:pt x="496722" y="129793"/>
                  </a:lnTo>
                  <a:lnTo>
                    <a:pt x="489483" y="129793"/>
                  </a:lnTo>
                  <a:lnTo>
                    <a:pt x="485165" y="129793"/>
                  </a:lnTo>
                  <a:lnTo>
                    <a:pt x="481101" y="129031"/>
                  </a:lnTo>
                  <a:lnTo>
                    <a:pt x="477672" y="127507"/>
                  </a:lnTo>
                  <a:lnTo>
                    <a:pt x="474116" y="126111"/>
                  </a:lnTo>
                  <a:lnTo>
                    <a:pt x="466369" y="112267"/>
                  </a:lnTo>
                  <a:lnTo>
                    <a:pt x="465861" y="109474"/>
                  </a:lnTo>
                  <a:lnTo>
                    <a:pt x="465607" y="103631"/>
                  </a:lnTo>
                  <a:lnTo>
                    <a:pt x="465607" y="94995"/>
                  </a:lnTo>
                  <a:lnTo>
                    <a:pt x="465607" y="54737"/>
                  </a:lnTo>
                  <a:lnTo>
                    <a:pt x="454431" y="54737"/>
                  </a:lnTo>
                  <a:lnTo>
                    <a:pt x="454431" y="35178"/>
                  </a:lnTo>
                  <a:lnTo>
                    <a:pt x="465607" y="35178"/>
                  </a:lnTo>
                  <a:lnTo>
                    <a:pt x="465607" y="16890"/>
                  </a:lnTo>
                  <a:lnTo>
                    <a:pt x="490118" y="2539"/>
                  </a:lnTo>
                  <a:close/>
                </a:path>
                <a:path w="939164" h="130175">
                  <a:moveTo>
                    <a:pt x="914044" y="0"/>
                  </a:moveTo>
                  <a:lnTo>
                    <a:pt x="938555" y="0"/>
                  </a:lnTo>
                  <a:lnTo>
                    <a:pt x="938555" y="127635"/>
                  </a:lnTo>
                  <a:lnTo>
                    <a:pt x="914044" y="127635"/>
                  </a:lnTo>
                  <a:lnTo>
                    <a:pt x="914044" y="0"/>
                  </a:lnTo>
                  <a:close/>
                </a:path>
                <a:path w="939164" h="130175">
                  <a:moveTo>
                    <a:pt x="863752" y="0"/>
                  </a:moveTo>
                  <a:lnTo>
                    <a:pt x="888263" y="0"/>
                  </a:lnTo>
                  <a:lnTo>
                    <a:pt x="888263" y="127635"/>
                  </a:lnTo>
                  <a:lnTo>
                    <a:pt x="863752" y="127635"/>
                  </a:lnTo>
                  <a:lnTo>
                    <a:pt x="863752" y="0"/>
                  </a:lnTo>
                  <a:close/>
                </a:path>
                <a:path w="939164" h="130175">
                  <a:moveTo>
                    <a:pt x="813460" y="0"/>
                  </a:moveTo>
                  <a:lnTo>
                    <a:pt x="837971" y="0"/>
                  </a:lnTo>
                  <a:lnTo>
                    <a:pt x="837971" y="22605"/>
                  </a:lnTo>
                  <a:lnTo>
                    <a:pt x="813460" y="22605"/>
                  </a:lnTo>
                  <a:lnTo>
                    <a:pt x="813460" y="0"/>
                  </a:lnTo>
                  <a:close/>
                </a:path>
                <a:path w="939164" h="130175">
                  <a:moveTo>
                    <a:pt x="414172" y="0"/>
                  </a:moveTo>
                  <a:lnTo>
                    <a:pt x="438683" y="0"/>
                  </a:lnTo>
                  <a:lnTo>
                    <a:pt x="438683" y="127635"/>
                  </a:lnTo>
                  <a:lnTo>
                    <a:pt x="414172" y="127635"/>
                  </a:lnTo>
                  <a:lnTo>
                    <a:pt x="414172" y="0"/>
                  </a:lnTo>
                  <a:close/>
                </a:path>
                <a:path w="939164" h="130175">
                  <a:moveTo>
                    <a:pt x="0" y="0"/>
                  </a:moveTo>
                  <a:lnTo>
                    <a:pt x="87503" y="0"/>
                  </a:lnTo>
                  <a:lnTo>
                    <a:pt x="87503" y="21589"/>
                  </a:lnTo>
                  <a:lnTo>
                    <a:pt x="25768" y="21589"/>
                  </a:lnTo>
                  <a:lnTo>
                    <a:pt x="25768" y="51815"/>
                  </a:lnTo>
                  <a:lnTo>
                    <a:pt x="79057" y="51815"/>
                  </a:lnTo>
                  <a:lnTo>
                    <a:pt x="79057" y="73405"/>
                  </a:lnTo>
                  <a:lnTo>
                    <a:pt x="25768" y="73405"/>
                  </a:lnTo>
                  <a:lnTo>
                    <a:pt x="25768" y="127635"/>
                  </a:lnTo>
                  <a:lnTo>
                    <a:pt x="0" y="127635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70" name="object 7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6" name="object 7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77" name="object 7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78" name="object 7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1" name="object 81" descr=""/>
          <p:cNvGraphicFramePr>
            <a:graphicFrameLocks noGrp="1"/>
          </p:cNvGraphicFramePr>
          <p:nvPr/>
        </p:nvGraphicFramePr>
        <p:xfrm>
          <a:off x="1292225" y="5588508"/>
          <a:ext cx="4197350" cy="130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</a:tblGrid>
              <a:tr h="184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5080">
                        <a:lnSpc>
                          <a:spcPts val="138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RL1.1 Foundational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Terminology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Concepts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5080">
                        <a:lnSpc>
                          <a:spcPts val="1375"/>
                        </a:lnSpc>
                        <a:tabLst>
                          <a:tab pos="434340" algn="l"/>
                        </a:tabLst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·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2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4"/>
                        </a:rPr>
                        <a:t>RL1.1.1</a:t>
                      </a:r>
                      <a:r>
                        <a:rPr dirty="0" u="sng" sz="1200" spc="-7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4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4"/>
                        </a:rPr>
                        <a:t>Agile</a:t>
                      </a:r>
                      <a:r>
                        <a:rPr dirty="0" u="sng" sz="1200" spc="4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4"/>
                        </a:rPr>
                        <a:t> </a:t>
                      </a:r>
                      <a:r>
                        <a:rPr dirty="0" u="sng" sz="12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4"/>
                        </a:rPr>
                        <a:t>Methodology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5080">
                        <a:lnSpc>
                          <a:spcPts val="1380"/>
                        </a:lnSpc>
                        <a:tabLst>
                          <a:tab pos="434340" algn="l"/>
                        </a:tabLst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·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5"/>
                        </a:rPr>
                        <a:t>RL1.1.2</a:t>
                      </a:r>
                      <a:r>
                        <a:rPr dirty="0" u="sng" sz="1200" spc="-4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5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5"/>
                        </a:rPr>
                        <a:t>Operational</a:t>
                      </a:r>
                      <a:r>
                        <a:rPr dirty="0" u="sng" sz="1200" spc="-4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5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5"/>
                        </a:rPr>
                        <a:t>Methodologies:</a:t>
                      </a:r>
                      <a:r>
                        <a:rPr dirty="0" u="sng" sz="1200" spc="-3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5"/>
                        </a:rPr>
                        <a:t> </a:t>
                      </a:r>
                      <a:r>
                        <a:rPr dirty="0" u="sng" sz="1200" spc="-2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5"/>
                        </a:rPr>
                        <a:t>ITIL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5080">
                        <a:lnSpc>
                          <a:spcPts val="1375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RL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1.2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Software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Delivery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5080">
                        <a:lnSpc>
                          <a:spcPts val="1380"/>
                        </a:lnSpc>
                        <a:tabLst>
                          <a:tab pos="434340" algn="l"/>
                        </a:tabLst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·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6"/>
                        </a:rPr>
                        <a:t>RL2.1.1</a:t>
                      </a:r>
                      <a:r>
                        <a:rPr dirty="0" u="sng" sz="1200" spc="-3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6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6"/>
                        </a:rPr>
                        <a:t>Problems</a:t>
                      </a:r>
                      <a:r>
                        <a:rPr dirty="0" u="sng" sz="1200" spc="-3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6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6"/>
                        </a:rPr>
                        <a:t>of</a:t>
                      </a:r>
                      <a:r>
                        <a:rPr dirty="0" u="sng" sz="1200" spc="-2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6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6"/>
                        </a:rPr>
                        <a:t>Delivering</a:t>
                      </a:r>
                      <a:r>
                        <a:rPr dirty="0" u="sng" sz="1200" spc="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6"/>
                        </a:rPr>
                        <a:t> </a:t>
                      </a:r>
                      <a:r>
                        <a:rPr dirty="0" u="sng" sz="12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6"/>
                        </a:rPr>
                        <a:t>Software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5080">
                        <a:lnSpc>
                          <a:spcPts val="1340"/>
                        </a:lnSpc>
                        <a:spcBef>
                          <a:spcPts val="35"/>
                        </a:spcBef>
                        <a:tabLst>
                          <a:tab pos="434340" algn="l"/>
                        </a:tabLst>
                      </a:pPr>
                      <a:r>
                        <a:rPr dirty="0" sz="1200" spc="-50">
                          <a:latin typeface="Arial MT"/>
                          <a:cs typeface="Arial MT"/>
                        </a:rPr>
                        <a:t>·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RL</a:t>
                      </a:r>
                      <a:r>
                        <a:rPr dirty="0" u="sng" sz="1200" spc="-6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2.1.2</a:t>
                      </a:r>
                      <a:r>
                        <a:rPr dirty="0" u="sng" sz="1200" spc="-3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Principles</a:t>
                      </a:r>
                      <a:r>
                        <a:rPr dirty="0" u="sng" sz="1200" spc="-1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of</a:t>
                      </a:r>
                      <a:r>
                        <a:rPr dirty="0" u="sng" sz="1200" spc="-2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 </a:t>
                      </a:r>
                      <a:r>
                        <a:rPr dirty="0" u="sng" sz="12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Software</a:t>
                      </a:r>
                      <a:r>
                        <a:rPr dirty="0" u="sng" sz="1200" spc="-3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 </a:t>
                      </a:r>
                      <a:r>
                        <a:rPr dirty="0" u="sng" sz="12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7"/>
                        </a:rPr>
                        <a:t>Delivery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83" name="object 8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2" name="object 82" descr=""/>
          <p:cNvSpPr txBox="1"/>
          <p:nvPr/>
        </p:nvSpPr>
        <p:spPr>
          <a:xfrm>
            <a:off x="617321" y="5028946"/>
            <a:ext cx="28600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Recorded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Lectures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for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CS01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292225" y="1612391"/>
          <a:ext cx="4197350" cy="1056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</a:tblGrid>
              <a:tr h="184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 marL="5080">
                        <a:lnSpc>
                          <a:spcPts val="1620"/>
                        </a:lnSpc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RL</a:t>
                      </a:r>
                      <a:r>
                        <a:rPr dirty="0" sz="14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1.3</a:t>
                      </a:r>
                      <a:r>
                        <a:rPr dirty="0" sz="1400" spc="-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About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DevOps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 marL="5080">
                        <a:lnSpc>
                          <a:spcPts val="1620"/>
                        </a:lnSpc>
                        <a:tabLst>
                          <a:tab pos="508000" algn="l"/>
                        </a:tabLst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·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4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RL2.2.1</a:t>
                      </a:r>
                      <a:r>
                        <a:rPr dirty="0" u="sng" sz="1400" spc="-3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4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Need</a:t>
                      </a:r>
                      <a:r>
                        <a:rPr dirty="0" u="sng" sz="14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4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for</a:t>
                      </a:r>
                      <a:r>
                        <a:rPr dirty="0" u="sng" sz="1400" spc="-1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 </a:t>
                      </a:r>
                      <a:r>
                        <a:rPr dirty="0" u="sng" sz="14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DevOps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 marL="5080">
                        <a:lnSpc>
                          <a:spcPts val="1620"/>
                        </a:lnSpc>
                        <a:tabLst>
                          <a:tab pos="508000" algn="l"/>
                        </a:tabLst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·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4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RL2.2.2</a:t>
                      </a:r>
                      <a:r>
                        <a:rPr dirty="0" u="sng" sz="1400" spc="-4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4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Evolution</a:t>
                      </a:r>
                      <a:r>
                        <a:rPr dirty="0" u="sng" sz="14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4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of</a:t>
                      </a:r>
                      <a:r>
                        <a:rPr dirty="0" u="sng" sz="1400" spc="-1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 </a:t>
                      </a:r>
                      <a:r>
                        <a:rPr dirty="0" u="sng" sz="14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DevOps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 marL="5080">
                        <a:lnSpc>
                          <a:spcPts val="1595"/>
                        </a:lnSpc>
                        <a:spcBef>
                          <a:spcPts val="20"/>
                        </a:spcBef>
                        <a:tabLst>
                          <a:tab pos="508000" algn="l"/>
                        </a:tabLst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·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u="sng" sz="14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RL2.2.2</a:t>
                      </a:r>
                      <a:r>
                        <a:rPr dirty="0" u="sng" sz="1400" spc="-4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40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DevOps</a:t>
                      </a:r>
                      <a:r>
                        <a:rPr dirty="0" u="sng" sz="1400" spc="-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 </a:t>
                      </a:r>
                      <a:r>
                        <a:rPr dirty="0" u="sng" sz="140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Practices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617321" y="1051941"/>
            <a:ext cx="28600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Recorded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Lectures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for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CS02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17321" y="4914646"/>
            <a:ext cx="255397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dirty="0" sz="1800" spc="-95" b="1">
                <a:latin typeface="Arial"/>
                <a:cs typeface="Arial"/>
              </a:rPr>
              <a:t>Typical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75" b="1">
                <a:latin typeface="Arial"/>
                <a:cs typeface="Arial"/>
              </a:rPr>
              <a:t>Project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spc="-85" b="1">
                <a:latin typeface="Arial"/>
                <a:cs typeface="Arial"/>
              </a:rPr>
              <a:t>Life-</a:t>
            </a:r>
            <a:r>
              <a:rPr dirty="0" sz="1800" spc="-35" b="1">
                <a:latin typeface="Arial"/>
                <a:cs typeface="Arial"/>
              </a:rPr>
              <a:t>Cycle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ts val="1980"/>
              </a:lnSpc>
            </a:pPr>
            <a:r>
              <a:rPr dirty="0" sz="1800" spc="-50" b="1">
                <a:latin typeface="Arial"/>
                <a:cs typeface="Arial"/>
              </a:rPr>
              <a:t>(4</a:t>
            </a:r>
            <a:r>
              <a:rPr dirty="0" sz="1800" spc="-1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Phases)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6029" y="5971973"/>
            <a:ext cx="3367016" cy="1981986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1442974" y="7817611"/>
            <a:ext cx="6261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latin typeface="Times New Roman"/>
                <a:cs typeface="Times New Roman"/>
              </a:rPr>
              <a:t>Stages</a:t>
            </a:r>
            <a:r>
              <a:rPr dirty="0" sz="700" spc="145" b="1">
                <a:latin typeface="Times New Roman"/>
                <a:cs typeface="Times New Roman"/>
              </a:rPr>
              <a:t> </a:t>
            </a:r>
            <a:r>
              <a:rPr dirty="0" sz="700" spc="-10" b="1">
                <a:latin typeface="Times New Roman"/>
                <a:cs typeface="Times New Roman"/>
              </a:rPr>
              <a:t>(Phases)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4" name="object 34" descr=""/>
          <p:cNvSpPr txBox="1"/>
          <p:nvPr/>
        </p:nvSpPr>
        <p:spPr>
          <a:xfrm>
            <a:off x="2289357" y="7817611"/>
            <a:ext cx="603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b="1">
                <a:latin typeface="Times New Roman"/>
                <a:cs typeface="Times New Roman"/>
              </a:rPr>
              <a:t>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789759" y="7817611"/>
            <a:ext cx="952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b="1">
                <a:latin typeface="Times New Roman"/>
                <a:cs typeface="Times New Roman"/>
              </a:rPr>
              <a:t>II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857474" y="7817611"/>
            <a:ext cx="1301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b="1">
                <a:latin typeface="Times New Roman"/>
                <a:cs typeface="Times New Roman"/>
              </a:rPr>
              <a:t>III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878704" y="7817611"/>
            <a:ext cx="1250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 b="1">
                <a:latin typeface="Times New Roman"/>
                <a:cs typeface="Times New Roman"/>
              </a:rPr>
              <a:t>IV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868680"/>
            <a:ext cx="6096000" cy="2433320"/>
            <a:chOff x="381000" y="868680"/>
            <a:chExt cx="6096000" cy="2433320"/>
          </a:xfrm>
        </p:grpSpPr>
        <p:sp>
          <p:nvSpPr>
            <p:cNvPr id="4" name="object 4" descr=""/>
            <p:cNvSpPr/>
            <p:nvPr/>
          </p:nvSpPr>
          <p:spPr>
            <a:xfrm>
              <a:off x="381000" y="868680"/>
              <a:ext cx="6096000" cy="2433320"/>
            </a:xfrm>
            <a:custGeom>
              <a:avLst/>
              <a:gdLst/>
              <a:ahLst/>
              <a:cxnLst/>
              <a:rect l="l" t="t" r="r" b="b"/>
              <a:pathLst>
                <a:path w="6096000" h="2433320">
                  <a:moveTo>
                    <a:pt x="6096000" y="0"/>
                  </a:moveTo>
                  <a:lnTo>
                    <a:pt x="0" y="0"/>
                  </a:lnTo>
                  <a:lnTo>
                    <a:pt x="0" y="2433193"/>
                  </a:lnTo>
                  <a:lnTo>
                    <a:pt x="6096000" y="2433193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958850"/>
              <a:ext cx="4192016" cy="220992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833424" y="3450082"/>
            <a:ext cx="24523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10">
                <a:solidFill>
                  <a:srgbClr val="D24625"/>
                </a:solidFill>
                <a:latin typeface="Segoe UI Light"/>
                <a:cs typeface="Segoe UI Light"/>
              </a:rPr>
              <a:t>Dr.S.Udhayakumar</a:t>
            </a:r>
            <a:endParaRPr sz="750">
              <a:latin typeface="Segoe UI Light"/>
              <a:cs typeface="Segoe UI Light"/>
            </a:endParaRPr>
          </a:p>
          <a:p>
            <a:pPr marL="12700" marR="5080">
              <a:lnSpc>
                <a:spcPct val="162700"/>
              </a:lnSpc>
              <a:spcBef>
                <a:spcPts val="10"/>
              </a:spcBef>
            </a:pPr>
            <a:r>
              <a:rPr dirty="0" sz="750" spc="-20">
                <a:solidFill>
                  <a:srgbClr val="D24625"/>
                </a:solidFill>
                <a:latin typeface="Segoe UI Light"/>
                <a:cs typeface="Segoe UI Light"/>
              </a:rPr>
              <a:t>Professor,</a:t>
            </a:r>
            <a:r>
              <a:rPr dirty="0" sz="750" spc="-5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750">
                <a:solidFill>
                  <a:srgbClr val="D24625"/>
                </a:solidFill>
                <a:latin typeface="Segoe UI Light"/>
                <a:cs typeface="Segoe UI Light"/>
              </a:rPr>
              <a:t>Department</a:t>
            </a:r>
            <a:r>
              <a:rPr dirty="0" sz="750" spc="-25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750">
                <a:solidFill>
                  <a:srgbClr val="D24625"/>
                </a:solidFill>
                <a:latin typeface="Segoe UI Light"/>
                <a:cs typeface="Segoe UI Light"/>
              </a:rPr>
              <a:t>of</a:t>
            </a:r>
            <a:r>
              <a:rPr dirty="0" sz="750" spc="-5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750">
                <a:solidFill>
                  <a:srgbClr val="D24625"/>
                </a:solidFill>
                <a:latin typeface="Segoe UI Light"/>
                <a:cs typeface="Segoe UI Light"/>
              </a:rPr>
              <a:t>Computer</a:t>
            </a:r>
            <a:r>
              <a:rPr dirty="0" sz="750" spc="-1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750">
                <a:solidFill>
                  <a:srgbClr val="D24625"/>
                </a:solidFill>
                <a:latin typeface="Segoe UI Light"/>
                <a:cs typeface="Segoe UI Light"/>
              </a:rPr>
              <a:t>Science</a:t>
            </a:r>
            <a:r>
              <a:rPr dirty="0" sz="750" spc="-25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750">
                <a:solidFill>
                  <a:srgbClr val="D24625"/>
                </a:solidFill>
                <a:latin typeface="Segoe UI Light"/>
                <a:cs typeface="Segoe UI Light"/>
              </a:rPr>
              <a:t>and</a:t>
            </a:r>
            <a:r>
              <a:rPr dirty="0" sz="750" spc="-10">
                <a:solidFill>
                  <a:srgbClr val="D24625"/>
                </a:solidFill>
                <a:latin typeface="Segoe UI Light"/>
                <a:cs typeface="Segoe UI Light"/>
              </a:rPr>
              <a:t> Engineering</a:t>
            </a:r>
            <a:r>
              <a:rPr dirty="0" sz="750" spc="50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750" spc="-10">
                <a:solidFill>
                  <a:srgbClr val="D24625"/>
                </a:solidFill>
                <a:latin typeface="Segoe UI Light"/>
                <a:cs typeface="Segoe UI Light"/>
                <a:hlinkClick r:id="rId3"/>
              </a:rPr>
              <a:t>mailtoudhay@gmail.com</a:t>
            </a:r>
            <a:endParaRPr sz="750">
              <a:latin typeface="Segoe UI Light"/>
              <a:cs typeface="Segoe UI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Course</a:t>
            </a:r>
            <a:r>
              <a:rPr dirty="0" sz="1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Objectives</a:t>
            </a:r>
            <a:endParaRPr sz="1800">
              <a:latin typeface="Segoe UI Light"/>
              <a:cs typeface="Segoe UI Ligh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85717" y="7261402"/>
            <a:ext cx="1280160" cy="72007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1189" y="7261402"/>
            <a:ext cx="1280160" cy="720077"/>
          </a:xfrm>
          <a:prstGeom prst="rect">
            <a:avLst/>
          </a:prstGeom>
        </p:spPr>
      </p:pic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680046" y="6030214"/>
          <a:ext cx="2858770" cy="1445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970"/>
                <a:gridCol w="2507615"/>
              </a:tblGrid>
              <a:tr h="144780">
                <a:tc>
                  <a:txBody>
                    <a:bodyPr/>
                    <a:lstStyle/>
                    <a:p>
                      <a:pPr algn="ctr" marR="12509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No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10">
                          <a:latin typeface="Segoe UI"/>
                          <a:cs typeface="Segoe UI"/>
                        </a:rPr>
                        <a:t>Objective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351155"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CO1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20955" marR="13335">
                        <a:lnSpc>
                          <a:spcPct val="114999"/>
                        </a:lnSpc>
                        <a:spcBef>
                          <a:spcPts val="95"/>
                        </a:spcBef>
                      </a:pP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2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learn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key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ideas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2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techniques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bring</a:t>
                      </a:r>
                      <a:r>
                        <a:rPr dirty="0" sz="600" spc="2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development</a:t>
                      </a:r>
                      <a:r>
                        <a:rPr dirty="0" sz="600" spc="2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operations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together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1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produce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higher-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quality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software</a:t>
                      </a:r>
                      <a:r>
                        <a:rPr dirty="0" sz="600" spc="1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deliver</a:t>
                      </a:r>
                      <a:r>
                        <a:rPr dirty="0" sz="600" spc="1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it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more</a:t>
                      </a:r>
                      <a:r>
                        <a:rPr dirty="0" sz="60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quickly.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B="0" marT="1206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CO2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4604">
                        <a:lnSpc>
                          <a:spcPct val="114999"/>
                        </a:lnSpc>
                        <a:spcBef>
                          <a:spcPts val="90"/>
                        </a:spcBef>
                      </a:pPr>
                      <a:r>
                        <a:rPr dirty="0" sz="600" spc="-2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learn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core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principles, business</a:t>
                      </a:r>
                      <a:r>
                        <a:rPr dirty="0" sz="60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technical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terms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used</a:t>
                      </a:r>
                      <a:r>
                        <a:rPr dirty="0" sz="60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in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DevOps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from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perspective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600" spc="-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business</a:t>
                      </a:r>
                      <a:r>
                        <a:rPr dirty="0" sz="60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IT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teams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B="0" marT="114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CO3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20955" marR="14604">
                        <a:lnSpc>
                          <a:spcPct val="115100"/>
                        </a:lnSpc>
                        <a:spcBef>
                          <a:spcPts val="90"/>
                        </a:spcBef>
                      </a:pP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19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gain</a:t>
                      </a:r>
                      <a:r>
                        <a:rPr dirty="0" sz="600" spc="2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knowledge</a:t>
                      </a:r>
                      <a:r>
                        <a:rPr dirty="0" sz="600" spc="2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600" spc="2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2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Principles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2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practices</a:t>
                      </a:r>
                      <a:r>
                        <a:rPr dirty="0" sz="600" spc="2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600" spc="2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2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DevOps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Lifecycle</a:t>
                      </a:r>
                      <a:r>
                        <a:rPr dirty="0" sz="600" spc="3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including</a:t>
                      </a:r>
                      <a:r>
                        <a:rPr dirty="0" sz="600" spc="35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36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Integration,</a:t>
                      </a:r>
                      <a:r>
                        <a:rPr dirty="0" sz="600" spc="36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36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Inspection,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delivery,</a:t>
                      </a:r>
                      <a:r>
                        <a:rPr dirty="0" sz="600" spc="22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deployment</a:t>
                      </a:r>
                      <a:r>
                        <a:rPr dirty="0" sz="600" spc="22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215">
                          <a:latin typeface="Segoe UI"/>
                          <a:cs typeface="Segoe UI"/>
                        </a:rPr>
                        <a:t> 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monitoring.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B="0" marT="114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CO4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2700">
                        <a:lnSpc>
                          <a:spcPct val="114999"/>
                        </a:lnSpc>
                        <a:spcBef>
                          <a:spcPts val="90"/>
                        </a:spcBef>
                      </a:pPr>
                      <a:r>
                        <a:rPr dirty="0" sz="60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600" spc="38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understand</a:t>
                      </a:r>
                      <a:r>
                        <a:rPr dirty="0" sz="600" spc="38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usage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tools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600" spc="38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technologies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used</a:t>
                      </a:r>
                      <a:r>
                        <a:rPr dirty="0" sz="600" spc="38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25"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60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>
                          <a:latin typeface="Segoe UI"/>
                          <a:cs typeface="Segoe UI"/>
                        </a:rPr>
                        <a:t>implementing</a:t>
                      </a:r>
                      <a:r>
                        <a:rPr dirty="0" sz="600" spc="-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DevOps.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B="0" marT="1143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88028" y="5821235"/>
            <a:ext cx="1966849" cy="1204912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800" spc="-70">
                <a:solidFill>
                  <a:srgbClr val="FFFFFF"/>
                </a:solidFill>
                <a:latin typeface="Segoe UI Light"/>
                <a:cs typeface="Segoe UI Light"/>
              </a:rPr>
              <a:t>Text</a:t>
            </a:r>
            <a:r>
              <a:rPr dirty="0" sz="1800" spc="-5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books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dirty="0" sz="18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References</a:t>
            </a:r>
            <a:endParaRPr sz="1800">
              <a:latin typeface="Segoe UI Light"/>
              <a:cs typeface="Segoe UI Light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80046" y="1786001"/>
          <a:ext cx="3183255" cy="462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885"/>
                <a:gridCol w="2750185"/>
              </a:tblGrid>
              <a:tr h="90170">
                <a:tc>
                  <a:txBody>
                    <a:bodyPr/>
                    <a:lstStyle/>
                    <a:p>
                      <a:pPr marL="13970">
                        <a:lnSpc>
                          <a:spcPts val="595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No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595"/>
                        </a:lnSpc>
                        <a:spcBef>
                          <a:spcPts val="15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Author(s),</a:t>
                      </a:r>
                      <a:r>
                        <a:rPr dirty="0" sz="55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Title,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Edition,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Publishing</a:t>
                      </a:r>
                      <a:r>
                        <a:rPr dirty="0" sz="550" spc="-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House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8605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T1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10">
                          <a:latin typeface="Segoe UI"/>
                          <a:cs typeface="Segoe UI"/>
                        </a:rPr>
                        <a:t>DevOps: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 Software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Architect's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Perspective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(SEI Series in Software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Engineering)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>
                        <a:lnSpc>
                          <a:spcPts val="585"/>
                        </a:lnSpc>
                        <a:spcBef>
                          <a:spcPts val="110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by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Len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Bass,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Ingo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Weber,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Liming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Zhu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,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Publisher: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Addison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Wesley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(18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May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2015).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8605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T2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dirty="0" sz="550" spc="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Delivery: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Reliable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Software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Releases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through</a:t>
                      </a:r>
                      <a:r>
                        <a:rPr dirty="0" sz="550" spc="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Build,</a:t>
                      </a:r>
                      <a:r>
                        <a:rPr dirty="0" sz="550" spc="5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Test,</a:t>
                      </a:r>
                      <a:r>
                        <a:rPr dirty="0" sz="550" spc="4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550" spc="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Deployment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>
                        <a:lnSpc>
                          <a:spcPts val="585"/>
                        </a:lnSpc>
                        <a:spcBef>
                          <a:spcPts val="110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Automation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by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Jez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Humble,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David Farley.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Publisher: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Addison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Wesley,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2011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80046" y="2498598"/>
          <a:ext cx="3183255" cy="1397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885"/>
                <a:gridCol w="2750185"/>
              </a:tblGrid>
              <a:tr h="90170">
                <a:tc>
                  <a:txBody>
                    <a:bodyPr/>
                    <a:lstStyle/>
                    <a:p>
                      <a:pPr marL="13970">
                        <a:lnSpc>
                          <a:spcPts val="59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No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590"/>
                        </a:lnSpc>
                        <a:spcBef>
                          <a:spcPts val="15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Author(s),</a:t>
                      </a:r>
                      <a:r>
                        <a:rPr dirty="0" sz="550" spc="-3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Title,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Edition,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Publishing</a:t>
                      </a:r>
                      <a:r>
                        <a:rPr dirty="0" sz="550" spc="-3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House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8605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R1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Effective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DevOps: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Building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 Culture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of Collaboration,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Affinity,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and Tooling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at Scale 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by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>
                        <a:lnSpc>
                          <a:spcPts val="58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Segoe UI"/>
                          <a:cs typeface="Segoe UI"/>
                        </a:rPr>
                        <a:t>Jennifer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Davis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, Ryn</a:t>
                      </a:r>
                      <a:r>
                        <a:rPr dirty="0" sz="550" spc="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Daniels.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Publisher: O'Reilly</a:t>
                      </a:r>
                      <a:r>
                        <a:rPr dirty="0" sz="550" spc="-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Media,</a:t>
                      </a:r>
                      <a:r>
                        <a:rPr dirty="0" sz="550" spc="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June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2016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R2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54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DevOPS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Handbook: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How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Create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World-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Class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Agility,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Reliability,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Security</a:t>
                      </a:r>
                      <a:r>
                        <a:rPr dirty="0" sz="550" spc="2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5">
                          <a:latin typeface="Segoe UI"/>
                          <a:cs typeface="Segoe UI"/>
                        </a:rPr>
                        <a:t>in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 marR="55880">
                        <a:lnSpc>
                          <a:spcPct val="114500"/>
                        </a:lnSpc>
                      </a:pPr>
                      <a:r>
                        <a:rPr dirty="0" sz="550">
                          <a:latin typeface="Segoe UI"/>
                          <a:cs typeface="Segoe UI"/>
                        </a:rPr>
                        <a:t>Technology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Organizations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by Gene</a:t>
                      </a:r>
                      <a:r>
                        <a:rPr dirty="0" sz="550" spc="-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Kim,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Patrick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Debois,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John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Willis,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Jez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Humble,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20">
                          <a:latin typeface="Segoe UI"/>
                          <a:cs typeface="Segoe UI"/>
                        </a:rPr>
                        <a:t>John</a:t>
                      </a:r>
                      <a:r>
                        <a:rPr dirty="0" sz="550" spc="50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Allspaw.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Publisher:</a:t>
                      </a:r>
                      <a:r>
                        <a:rPr dirty="0" sz="550" spc="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IT</a:t>
                      </a:r>
                      <a:r>
                        <a:rPr dirty="0" sz="550" spc="2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Revolution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Press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 (October</a:t>
                      </a:r>
                      <a:r>
                        <a:rPr dirty="0" sz="550" spc="15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>
                          <a:latin typeface="Segoe UI"/>
                          <a:cs typeface="Segoe UI"/>
                        </a:rPr>
                        <a:t>6,</a:t>
                      </a:r>
                      <a:r>
                        <a:rPr dirty="0" sz="550" spc="1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2016)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254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83883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550" spc="-25">
                          <a:latin typeface="Segoe UI"/>
                          <a:cs typeface="Segoe UI"/>
                        </a:rPr>
                        <a:t>R3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600">
                          <a:latin typeface="Segoe UI"/>
                          <a:cs typeface="Segoe UI"/>
                        </a:rPr>
                        <a:t>Web</a:t>
                      </a:r>
                      <a:r>
                        <a:rPr dirty="0" sz="600" spc="-40"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600" spc="-10">
                          <a:latin typeface="Segoe UI"/>
                          <a:cs typeface="Segoe UI"/>
                        </a:rPr>
                        <a:t>Resources</a:t>
                      </a:r>
                      <a:r>
                        <a:rPr dirty="0" sz="550" spc="-10">
                          <a:latin typeface="Segoe UI"/>
                          <a:cs typeface="Segoe UI"/>
                        </a:rPr>
                        <a:t>: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spcBef>
                          <a:spcPts val="570"/>
                        </a:spcBef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2"/>
                        </a:rPr>
                        <a:t>https://jenkins.io/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3"/>
                        </a:rPr>
                        <a:t>https://xebialabs.com/solutions/devops/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4"/>
                        </a:rPr>
                        <a:t>https://www.ibm.com/ibm/devops/us/en/casestudies/#al</a:t>
                      </a:r>
                      <a:r>
                        <a:rPr dirty="0" sz="550" spc="-10">
                          <a:solidFill>
                            <a:srgbClr val="0462C1"/>
                          </a:solidFill>
                          <a:latin typeface="Segoe UI"/>
                          <a:cs typeface="Segoe UI"/>
                          <a:hlinkClick r:id="rId4"/>
                        </a:rPr>
                        <a:t>l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5"/>
                        </a:rPr>
                        <a:t>https://git-scm.com/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6"/>
                        </a:rPr>
                        <a:t>https://hub.docker.com/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7"/>
                        </a:rPr>
                        <a:t>https://www.atlassian.com/git/tutorials/comparing-workflows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ts val="655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u="sng" sz="550" spc="-1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8"/>
                        </a:rPr>
                        <a:t>https://www.tutorialspoint.com/puppet/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ts val="575"/>
                        </a:lnSpc>
                        <a:buAutoNum type="arabicParenR"/>
                        <a:tabLst>
                          <a:tab pos="184785" algn="l"/>
                        </a:tabLst>
                      </a:pPr>
                      <a:r>
                        <a:rPr dirty="0" sz="550" spc="-10">
                          <a:latin typeface="Segoe UI"/>
                          <a:cs typeface="Segoe UI"/>
                        </a:rPr>
                        <a:t>https:</a:t>
                      </a:r>
                      <a:r>
                        <a:rPr dirty="0" sz="550" spc="-10">
                          <a:latin typeface="Segoe UI"/>
                          <a:cs typeface="Segoe UI"/>
                          <a:hlinkClick r:id="rId9"/>
                        </a:rPr>
                        <a:t>//www.tutorialspoint.com/chef/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B="0" marT="317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16053" y="2111501"/>
            <a:ext cx="2537805" cy="149343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Module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Why</a:t>
            </a:r>
            <a:r>
              <a:rPr dirty="0" sz="1800" spc="-2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dirty="0" sz="1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dirty="0" sz="1800" spc="-2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DevOps?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26237" y="5757633"/>
            <a:ext cx="1918970" cy="2176145"/>
          </a:xfrm>
          <a:custGeom>
            <a:avLst/>
            <a:gdLst/>
            <a:ahLst/>
            <a:cxnLst/>
            <a:rect l="l" t="t" r="r" b="b"/>
            <a:pathLst>
              <a:path w="1918970" h="2176145">
                <a:moveTo>
                  <a:pt x="1918462" y="0"/>
                </a:moveTo>
                <a:lnTo>
                  <a:pt x="0" y="0"/>
                </a:lnTo>
                <a:lnTo>
                  <a:pt x="0" y="2175637"/>
                </a:lnTo>
                <a:lnTo>
                  <a:pt x="1918462" y="2175637"/>
                </a:lnTo>
                <a:lnTo>
                  <a:pt x="1918462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72083" y="5723001"/>
            <a:ext cx="1195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RL1.1</a:t>
            </a:r>
            <a:r>
              <a:rPr dirty="0" sz="1000" spc="-4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Foundational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786383" y="5829680"/>
            <a:ext cx="15049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Terminology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 and</a:t>
            </a:r>
            <a:r>
              <a:rPr dirty="0" sz="1000" spc="-4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Concepts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2083" y="6089141"/>
            <a:ext cx="16363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RL1.1.1</a:t>
            </a:r>
            <a:r>
              <a:rPr dirty="0" sz="10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Agile</a:t>
            </a:r>
            <a:r>
              <a:rPr dirty="0" sz="100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Methodology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72083" y="6241541"/>
            <a:ext cx="12160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RL1.1.2</a:t>
            </a:r>
            <a:r>
              <a:rPr dirty="0" sz="1000" spc="-4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Operational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86383" y="6348222"/>
            <a:ext cx="1118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Methodologies:</a:t>
            </a:r>
            <a:r>
              <a:rPr dirty="0" sz="1000" spc="-3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Segoe UI"/>
                <a:cs typeface="Segoe UI"/>
              </a:rPr>
              <a:t>ITIL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2083" y="6500622"/>
            <a:ext cx="14725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</a:t>
            </a:r>
            <a:r>
              <a:rPr dirty="0" sz="100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1.2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 Software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Delivery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72083" y="6759702"/>
            <a:ext cx="182498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RL2.1.1</a:t>
            </a:r>
            <a:r>
              <a:rPr dirty="0" sz="1000" spc="-5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Problems</a:t>
            </a:r>
            <a:r>
              <a:rPr dirty="0" sz="10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dirty="0" sz="1000" spc="-5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Delivering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6383" y="6866381"/>
            <a:ext cx="5010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Software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2083" y="7018781"/>
            <a:ext cx="17970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</a:t>
            </a:r>
            <a:r>
              <a:rPr dirty="0" sz="1000" spc="-3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2.1.2</a:t>
            </a:r>
            <a:r>
              <a:rPr dirty="0" sz="10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Principles</a:t>
            </a:r>
            <a:r>
              <a:rPr dirty="0" sz="1000" spc="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dirty="0" sz="10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Software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72083" y="7125461"/>
            <a:ext cx="170180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Delivery</a:t>
            </a:r>
            <a:endParaRPr sz="1000">
              <a:latin typeface="Segoe UI"/>
              <a:cs typeface="Segoe UI"/>
            </a:endParaRPr>
          </a:p>
          <a:p>
            <a:pPr marL="113030" indent="-113030">
              <a:lnSpc>
                <a:spcPct val="100000"/>
              </a:lnSpc>
              <a:buFont typeface="Arial MT"/>
              <a:buChar char="•"/>
              <a:tabLst>
                <a:tab pos="113030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</a:t>
            </a:r>
            <a:r>
              <a:rPr dirty="0" sz="100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1.3</a:t>
            </a:r>
            <a:r>
              <a:rPr dirty="0" sz="100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About</a:t>
            </a:r>
            <a:r>
              <a:rPr dirty="0" sz="100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1000">
              <a:latin typeface="Segoe UI"/>
              <a:cs typeface="Segoe UI"/>
            </a:endParaRPr>
          </a:p>
          <a:p>
            <a:pPr marL="113030" indent="-113030">
              <a:lnSpc>
                <a:spcPct val="100000"/>
              </a:lnSpc>
              <a:buFont typeface="Arial MT"/>
              <a:buChar char="•"/>
              <a:tabLst>
                <a:tab pos="113030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RL2.2.1</a:t>
            </a:r>
            <a:r>
              <a:rPr dirty="0" sz="1000" spc="-3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Need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for</a:t>
            </a:r>
            <a:r>
              <a:rPr dirty="0" sz="100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1000">
              <a:latin typeface="Segoe UI"/>
              <a:cs typeface="Segoe UI"/>
            </a:endParaRPr>
          </a:p>
          <a:p>
            <a:pPr marL="112395" indent="-112395">
              <a:lnSpc>
                <a:spcPct val="100000"/>
              </a:lnSpc>
              <a:buFont typeface="Arial MT"/>
              <a:buChar char="•"/>
              <a:tabLst>
                <a:tab pos="112395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RL2.2.2</a:t>
            </a:r>
            <a:r>
              <a:rPr dirty="0" sz="10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Evolution</a:t>
            </a:r>
            <a:r>
              <a:rPr dirty="0" sz="100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dirty="0" sz="10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1000">
              <a:latin typeface="Segoe UI"/>
              <a:cs typeface="Segoe UI"/>
            </a:endParaRPr>
          </a:p>
          <a:p>
            <a:pPr marL="113030" indent="-113030">
              <a:lnSpc>
                <a:spcPct val="100000"/>
              </a:lnSpc>
              <a:buFont typeface="Arial MT"/>
              <a:buChar char="•"/>
              <a:tabLst>
                <a:tab pos="113030" algn="l"/>
              </a:tabLst>
            </a:pP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RL2.2.2</a:t>
            </a:r>
            <a:r>
              <a:rPr dirty="0" sz="1000" spc="-4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10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Segoe UI"/>
                <a:cs typeface="Segoe UI"/>
              </a:rPr>
              <a:t>Practices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233166" y="5757633"/>
            <a:ext cx="2917825" cy="2176145"/>
          </a:xfrm>
          <a:prstGeom prst="rect">
            <a:avLst/>
          </a:prstGeom>
          <a:solidFill>
            <a:srgbClr val="92D050"/>
          </a:solidFill>
        </p:spPr>
        <p:txBody>
          <a:bodyPr wrap="square" lIns="0" tIns="59055" rIns="0" bIns="0" rtlCol="0" vert="horz">
            <a:spAutoFit/>
          </a:bodyPr>
          <a:lstStyle/>
          <a:p>
            <a:pPr marL="190500" indent="-144145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190500" algn="l"/>
              </a:tabLst>
            </a:pP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dirty="0" sz="800" spc="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Waterfall</a:t>
            </a:r>
            <a:r>
              <a:rPr dirty="0" sz="8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approach</a:t>
            </a:r>
            <a:r>
              <a:rPr dirty="0" sz="80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advantages</a:t>
            </a:r>
            <a:r>
              <a:rPr dirty="0" sz="80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 disadvantages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FFFFFF"/>
              </a:buClr>
              <a:buFont typeface="Arial MT"/>
              <a:buChar char="•"/>
            </a:pPr>
            <a:endParaRPr sz="800">
              <a:latin typeface="Segoe UI"/>
              <a:cs typeface="Segoe UI"/>
            </a:endParaRPr>
          </a:p>
          <a:p>
            <a:pPr marL="190500" indent="-1441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90500" algn="l"/>
              </a:tabLst>
            </a:pP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 MT"/>
              <a:buChar char="•"/>
            </a:pPr>
            <a:endParaRPr sz="800">
              <a:latin typeface="Segoe UI"/>
              <a:cs typeface="Segoe UI"/>
            </a:endParaRPr>
          </a:p>
          <a:p>
            <a:pPr marL="190500" indent="-144145">
              <a:lnSpc>
                <a:spcPct val="100000"/>
              </a:lnSpc>
              <a:buFont typeface="Arial MT"/>
              <a:buChar char="•"/>
              <a:tabLst>
                <a:tab pos="190500" algn="l"/>
              </a:tabLst>
            </a:pP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Define</a:t>
            </a:r>
            <a:r>
              <a:rPr dirty="0" sz="8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dirty="0" sz="8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stages</a:t>
            </a:r>
            <a:r>
              <a:rPr dirty="0" sz="80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dirty="0" sz="80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dirty="0" sz="80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80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evolution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FFFFFF"/>
              </a:buClr>
              <a:buFont typeface="Arial MT"/>
              <a:buChar char="•"/>
            </a:pPr>
            <a:endParaRPr sz="800">
              <a:latin typeface="Segoe UI"/>
              <a:cs typeface="Segoe UI"/>
            </a:endParaRPr>
          </a:p>
          <a:p>
            <a:pPr marL="190500" indent="-144145">
              <a:lnSpc>
                <a:spcPct val="100000"/>
              </a:lnSpc>
              <a:buFont typeface="Arial MT"/>
              <a:buChar char="•"/>
              <a:tabLst>
                <a:tab pos="190500" algn="l"/>
              </a:tabLst>
            </a:pP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800" spc="-4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practices</a:t>
            </a:r>
            <a:r>
              <a:rPr dirty="0" sz="8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in</a:t>
            </a:r>
            <a:r>
              <a:rPr dirty="0" sz="8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organizations</a:t>
            </a:r>
            <a:endParaRPr sz="800">
              <a:latin typeface="Segoe UI"/>
              <a:cs typeface="Segoe UI"/>
            </a:endParaRPr>
          </a:p>
          <a:p>
            <a:pPr marL="189230" marR="99060" indent="-143510">
              <a:lnSpc>
                <a:spcPct val="150000"/>
              </a:lnSpc>
              <a:spcBef>
                <a:spcPts val="890"/>
              </a:spcBef>
              <a:buFont typeface="Arial MT"/>
              <a:buChar char="•"/>
              <a:tabLst>
                <a:tab pos="189230" algn="l"/>
              </a:tabLst>
            </a:pP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The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Continuous</a:t>
            </a:r>
            <a:r>
              <a:rPr dirty="0" sz="8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 LifeCycle</a:t>
            </a:r>
            <a:r>
              <a:rPr dirty="0" sz="80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Process</a:t>
            </a:r>
            <a:r>
              <a:rPr dirty="0" sz="80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(Continuous Integration,</a:t>
            </a:r>
            <a:r>
              <a:rPr dirty="0" sz="800" spc="3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Continuous</a:t>
            </a:r>
            <a:r>
              <a:rPr dirty="0" sz="800" spc="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Inspection,</a:t>
            </a:r>
            <a:r>
              <a:rPr dirty="0" sz="800" spc="3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Continuous Deployment,</a:t>
            </a:r>
            <a:r>
              <a:rPr dirty="0" sz="800" spc="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Continuous </a:t>
            </a: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Delivery,</a:t>
            </a:r>
            <a:r>
              <a:rPr dirty="0" sz="800" spc="3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Continuous</a:t>
            </a:r>
            <a:r>
              <a:rPr dirty="0" sz="800" spc="-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Monitoring)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 MT"/>
              <a:buChar char="•"/>
            </a:pPr>
            <a:endParaRPr sz="800">
              <a:latin typeface="Segoe UI"/>
              <a:cs typeface="Segoe UI"/>
            </a:endParaRPr>
          </a:p>
          <a:p>
            <a:pPr marL="190500" indent="-1441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90500" algn="l"/>
              </a:tabLst>
            </a:pPr>
            <a:r>
              <a:rPr dirty="0" sz="800">
                <a:solidFill>
                  <a:srgbClr val="FFFFFF"/>
                </a:solidFill>
                <a:latin typeface="Segoe UI"/>
                <a:cs typeface="Segoe UI"/>
              </a:rPr>
              <a:t>Case</a:t>
            </a:r>
            <a:r>
              <a:rPr dirty="0" sz="800" spc="-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Study-</a:t>
            </a:r>
            <a:r>
              <a:rPr dirty="0" sz="800" spc="-2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Segoe UI"/>
                <a:cs typeface="Segoe UI"/>
              </a:rPr>
              <a:t>(IBM/Facebook/NetFlix)</a:t>
            </a:r>
            <a:endParaRPr sz="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927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endParaRPr sz="16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600" spc="-105">
                <a:solidFill>
                  <a:srgbClr val="212121"/>
                </a:solidFill>
                <a:latin typeface="Arial Black"/>
                <a:cs typeface="Arial Black"/>
              </a:rPr>
              <a:t>Software</a:t>
            </a:r>
            <a:r>
              <a:rPr dirty="0" sz="1600" spc="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600" spc="-80">
                <a:solidFill>
                  <a:srgbClr val="212121"/>
                </a:solidFill>
                <a:latin typeface="Arial Black"/>
                <a:cs typeface="Arial Black"/>
              </a:rPr>
              <a:t>Development</a:t>
            </a:r>
            <a:r>
              <a:rPr dirty="0" sz="16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600" spc="-95">
                <a:solidFill>
                  <a:srgbClr val="212121"/>
                </a:solidFill>
                <a:latin typeface="Arial Black"/>
                <a:cs typeface="Arial Black"/>
              </a:rPr>
              <a:t>Life</a:t>
            </a:r>
            <a:r>
              <a:rPr dirty="0" sz="1600" spc="-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600" spc="-155">
                <a:solidFill>
                  <a:srgbClr val="212121"/>
                </a:solidFill>
                <a:latin typeface="Arial Black"/>
                <a:cs typeface="Arial Black"/>
              </a:rPr>
              <a:t>Cycle</a:t>
            </a:r>
            <a:r>
              <a:rPr dirty="0" sz="16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600">
                <a:solidFill>
                  <a:srgbClr val="212121"/>
                </a:solidFill>
                <a:latin typeface="Tahoma"/>
                <a:cs typeface="Tahoma"/>
              </a:rPr>
              <a:t>(also called </a:t>
            </a:r>
            <a:r>
              <a:rPr dirty="0" sz="1600" spc="-10">
                <a:solidFill>
                  <a:srgbClr val="212121"/>
                </a:solidFill>
                <a:latin typeface="Tahoma"/>
                <a:cs typeface="Tahoma"/>
              </a:rPr>
              <a:t>SDLC)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0110" y="1703069"/>
            <a:ext cx="5382260" cy="190944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0" marR="380365" indent="-114300">
              <a:lnSpc>
                <a:spcPts val="1300"/>
              </a:lnSpc>
              <a:spcBef>
                <a:spcPts val="260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200" spc="-85">
                <a:solidFill>
                  <a:srgbClr val="212121"/>
                </a:solidFill>
                <a:latin typeface="Arial Black"/>
                <a:cs typeface="Arial Black"/>
              </a:rPr>
              <a:t>Software</a:t>
            </a:r>
            <a:r>
              <a:rPr dirty="0" sz="12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200" spc="-70">
                <a:solidFill>
                  <a:srgbClr val="212121"/>
                </a:solidFill>
                <a:latin typeface="Arial Black"/>
                <a:cs typeface="Arial Black"/>
              </a:rPr>
              <a:t>Development</a:t>
            </a:r>
            <a:r>
              <a:rPr dirty="0" sz="1200" spc="-1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200" spc="-75">
                <a:solidFill>
                  <a:srgbClr val="212121"/>
                </a:solidFill>
                <a:latin typeface="Arial Black"/>
                <a:cs typeface="Arial Black"/>
              </a:rPr>
              <a:t>Life</a:t>
            </a:r>
            <a:r>
              <a:rPr dirty="0" sz="12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200" spc="-114">
                <a:solidFill>
                  <a:srgbClr val="212121"/>
                </a:solidFill>
                <a:latin typeface="Arial Black"/>
                <a:cs typeface="Arial Black"/>
              </a:rPr>
              <a:t>Cycle</a:t>
            </a:r>
            <a:r>
              <a:rPr dirty="0" sz="1200" spc="-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200" spc="-30">
                <a:solidFill>
                  <a:srgbClr val="212121"/>
                </a:solidFill>
                <a:latin typeface="Tahoma"/>
                <a:cs typeface="Tahoma"/>
              </a:rPr>
              <a:t>(SDLC)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 is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20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process</a:t>
            </a:r>
            <a:r>
              <a:rPr dirty="0" sz="12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used</a:t>
            </a:r>
            <a:r>
              <a:rPr dirty="0" sz="120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dirty="0" sz="12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software</a:t>
            </a:r>
            <a:r>
              <a:rPr dirty="0" sz="120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industry</a:t>
            </a:r>
            <a:r>
              <a:rPr dirty="0" sz="1200" spc="1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20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design,</a:t>
            </a:r>
            <a:r>
              <a:rPr dirty="0" sz="1200" spc="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develop</a:t>
            </a:r>
            <a:r>
              <a:rPr dirty="0" sz="1200" spc="1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200" spc="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test</a:t>
            </a:r>
            <a:r>
              <a:rPr dirty="0" sz="120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high-quality</a:t>
            </a:r>
            <a:r>
              <a:rPr dirty="0" sz="1200" spc="1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software’s.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Clr>
                <a:srgbClr val="212121"/>
              </a:buClr>
              <a:buFont typeface="Arial MT"/>
              <a:buChar char="•"/>
            </a:pPr>
            <a:endParaRPr sz="1200">
              <a:latin typeface="Tahoma"/>
              <a:cs typeface="Tahoma"/>
            </a:endParaRPr>
          </a:p>
          <a:p>
            <a:pPr algn="just" marL="127000" marR="6985" indent="-114300">
              <a:lnSpc>
                <a:spcPts val="1300"/>
              </a:lnSpc>
              <a:buFont typeface="Arial MT"/>
              <a:buChar char="•"/>
              <a:tabLst>
                <a:tab pos="127000" algn="l"/>
              </a:tabLst>
            </a:pP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200" spc="2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SDLC</a:t>
            </a:r>
            <a:r>
              <a:rPr dirty="0" sz="1200" spc="2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aims</a:t>
            </a:r>
            <a:r>
              <a:rPr dirty="0" sz="1200" spc="2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200" spc="25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12121"/>
                </a:solidFill>
                <a:latin typeface="Tahoma"/>
                <a:cs typeface="Tahoma"/>
              </a:rPr>
              <a:t>produce</a:t>
            </a:r>
            <a:r>
              <a:rPr dirty="0" sz="1200" spc="2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high-quality</a:t>
            </a:r>
            <a:r>
              <a:rPr dirty="0" sz="1200" spc="2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software</a:t>
            </a:r>
            <a:r>
              <a:rPr dirty="0" sz="1200" spc="2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200" spc="2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meets</a:t>
            </a:r>
            <a:r>
              <a:rPr dirty="0" sz="1200" spc="2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dirty="0" sz="1200" spc="2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exceeds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customer</a:t>
            </a:r>
            <a:r>
              <a:rPr dirty="0" sz="1200" spc="22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expectations,</a:t>
            </a:r>
            <a:r>
              <a:rPr dirty="0" sz="1200" spc="229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reaches</a:t>
            </a:r>
            <a:r>
              <a:rPr dirty="0" sz="1200" spc="22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 spc="45">
                <a:solidFill>
                  <a:srgbClr val="212121"/>
                </a:solidFill>
                <a:latin typeface="Tahoma"/>
                <a:cs typeface="Tahoma"/>
              </a:rPr>
              <a:t>completion</a:t>
            </a:r>
            <a:r>
              <a:rPr dirty="0" sz="1200" spc="215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within</a:t>
            </a:r>
            <a:r>
              <a:rPr dirty="0" sz="1200" spc="22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times</a:t>
            </a:r>
            <a:r>
              <a:rPr dirty="0" sz="1200" spc="225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200" spc="22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 spc="-20">
                <a:solidFill>
                  <a:srgbClr val="212121"/>
                </a:solidFill>
                <a:latin typeface="Tahoma"/>
                <a:cs typeface="Tahoma"/>
              </a:rPr>
              <a:t>cost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estimates.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Clr>
                <a:srgbClr val="212121"/>
              </a:buClr>
              <a:buFont typeface="Arial MT"/>
              <a:buChar char="•"/>
            </a:pPr>
            <a:endParaRPr sz="1200">
              <a:latin typeface="Tahoma"/>
              <a:cs typeface="Tahoma"/>
            </a:endParaRPr>
          </a:p>
          <a:p>
            <a:pPr algn="just" marL="127000" marR="5080" indent="-114300">
              <a:lnSpc>
                <a:spcPts val="1300"/>
              </a:lnSpc>
              <a:buFont typeface="Arial MT"/>
              <a:buChar char="•"/>
              <a:tabLst>
                <a:tab pos="127000" algn="l"/>
              </a:tabLst>
            </a:pP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System</a:t>
            </a:r>
            <a:r>
              <a:rPr dirty="0" sz="1200" spc="11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analysts</a:t>
            </a:r>
            <a:r>
              <a:rPr dirty="0" sz="1200" spc="114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200" spc="11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use</a:t>
            </a:r>
            <a:r>
              <a:rPr dirty="0" sz="1200" spc="114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it,</a:t>
            </a:r>
            <a:r>
              <a:rPr dirty="0" sz="1200" spc="11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designers</a:t>
            </a:r>
            <a:r>
              <a:rPr dirty="0" sz="1200" spc="125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200" spc="11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developers</a:t>
            </a:r>
            <a:r>
              <a:rPr dirty="0" sz="1200" spc="125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200" spc="114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plan</a:t>
            </a:r>
            <a:r>
              <a:rPr dirty="0" sz="1200" spc="11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dirty="0" sz="1200" spc="30">
                <a:solidFill>
                  <a:srgbClr val="212121"/>
                </a:solidFill>
                <a:latin typeface="Tahoma"/>
                <a:cs typeface="Tahoma"/>
              </a:rPr>
              <a:t>and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implement</a:t>
            </a:r>
            <a:r>
              <a:rPr dirty="0" sz="1200" spc="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200" spc="1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applications</a:t>
            </a:r>
            <a:r>
              <a:rPr dirty="0" sz="1200" spc="1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200" spc="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deliver</a:t>
            </a:r>
            <a:r>
              <a:rPr dirty="0" sz="1200" spc="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200" spc="1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systems</a:t>
            </a:r>
            <a:r>
              <a:rPr dirty="0" sz="1200" spc="1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dirty="0" sz="1200" spc="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products</a:t>
            </a:r>
            <a:r>
              <a:rPr dirty="0" sz="1200" spc="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60">
                <a:solidFill>
                  <a:srgbClr val="212121"/>
                </a:solidFill>
                <a:latin typeface="Tahoma"/>
                <a:cs typeface="Tahoma"/>
              </a:rPr>
              <a:t>on</a:t>
            </a:r>
            <a:r>
              <a:rPr dirty="0" sz="1200" spc="1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12121"/>
                </a:solidFill>
                <a:latin typeface="Tahoma"/>
                <a:cs typeface="Tahoma"/>
              </a:rPr>
              <a:t>time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20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within</a:t>
            </a:r>
            <a:r>
              <a:rPr dirty="0" sz="120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budget.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904976" y="4844796"/>
            <a:ext cx="5158105" cy="3378835"/>
            <a:chOff x="904976" y="4844796"/>
            <a:chExt cx="5158105" cy="33788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4976" y="6867029"/>
              <a:ext cx="5157597" cy="13561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8366" y="4844796"/>
              <a:ext cx="3763772" cy="211709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 spc="-120">
                <a:solidFill>
                  <a:srgbClr val="212121"/>
                </a:solidFill>
                <a:latin typeface="Arial Black"/>
                <a:cs typeface="Arial Black"/>
              </a:rPr>
              <a:t>Project</a:t>
            </a:r>
            <a:r>
              <a:rPr dirty="0" sz="1800" spc="-11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212121"/>
                </a:solidFill>
                <a:latin typeface="Arial Black"/>
                <a:cs typeface="Arial Black"/>
              </a:rPr>
              <a:t>Initiation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6069" y="1582673"/>
            <a:ext cx="5789930" cy="2288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ts val="1595"/>
              </a:lnSpc>
              <a:spcBef>
                <a:spcPts val="100"/>
              </a:spcBef>
              <a:buFont typeface="Arial MT"/>
              <a:buChar char="•"/>
              <a:tabLst>
                <a:tab pos="126364" algn="l"/>
              </a:tabLst>
            </a:pPr>
            <a:r>
              <a:rPr dirty="0" sz="1400">
                <a:latin typeface="Segoe UI"/>
                <a:cs typeface="Segoe UI"/>
              </a:rPr>
              <a:t>The</a:t>
            </a:r>
            <a:r>
              <a:rPr dirty="0" sz="1400" spc="-30">
                <a:latin typeface="Segoe UI"/>
                <a:cs typeface="Segoe UI"/>
              </a:rPr>
              <a:t> </a:t>
            </a:r>
            <a:r>
              <a:rPr dirty="0" sz="1400" spc="-10">
                <a:latin typeface="Segoe UI"/>
                <a:cs typeface="Segoe UI"/>
              </a:rPr>
              <a:t>high-</a:t>
            </a:r>
            <a:r>
              <a:rPr dirty="0" sz="1400">
                <a:latin typeface="Segoe UI"/>
                <a:cs typeface="Segoe UI"/>
              </a:rPr>
              <a:t>level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scope,</a:t>
            </a:r>
            <a:r>
              <a:rPr dirty="0" sz="1400" spc="-6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problems</a:t>
            </a:r>
            <a:r>
              <a:rPr dirty="0" sz="1400" spc="-5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and</a:t>
            </a:r>
            <a:r>
              <a:rPr dirty="0" sz="1400" spc="-4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solutions</a:t>
            </a:r>
            <a:r>
              <a:rPr dirty="0" sz="1400" spc="-6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are</a:t>
            </a:r>
            <a:r>
              <a:rPr dirty="0" sz="1400" spc="-4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determined,</a:t>
            </a:r>
            <a:r>
              <a:rPr dirty="0" sz="1400" spc="-50">
                <a:latin typeface="Segoe UI"/>
                <a:cs typeface="Segoe UI"/>
              </a:rPr>
              <a:t> </a:t>
            </a:r>
            <a:r>
              <a:rPr dirty="0" sz="1400" spc="-25">
                <a:latin typeface="Segoe UI"/>
                <a:cs typeface="Segoe UI"/>
              </a:rPr>
              <a:t>and</a:t>
            </a:r>
            <a:endParaRPr sz="1400">
              <a:latin typeface="Segoe UI"/>
              <a:cs typeface="Segoe UI"/>
            </a:endParaRPr>
          </a:p>
          <a:p>
            <a:pPr marL="127000">
              <a:lnSpc>
                <a:spcPts val="1595"/>
              </a:lnSpc>
            </a:pPr>
            <a:r>
              <a:rPr dirty="0" sz="1400">
                <a:latin typeface="Segoe UI"/>
                <a:cs typeface="Segoe UI"/>
              </a:rPr>
              <a:t>planning</a:t>
            </a:r>
            <a:r>
              <a:rPr dirty="0" sz="1400" spc="-3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is</a:t>
            </a:r>
            <a:r>
              <a:rPr dirty="0" sz="1400" spc="-1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carried</a:t>
            </a:r>
            <a:r>
              <a:rPr dirty="0" sz="1400" spc="-4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out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accordingly</a:t>
            </a:r>
            <a:r>
              <a:rPr dirty="0" sz="1400" spc="-4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for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other</a:t>
            </a:r>
            <a:r>
              <a:rPr dirty="0" sz="1400" spc="-25">
                <a:latin typeface="Segoe UI"/>
                <a:cs typeface="Segoe UI"/>
              </a:rPr>
              <a:t> </a:t>
            </a:r>
            <a:r>
              <a:rPr dirty="0" sz="1400" spc="-10">
                <a:latin typeface="Segoe UI"/>
                <a:cs typeface="Segoe UI"/>
              </a:rPr>
              <a:t>stages.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400">
              <a:latin typeface="Segoe UI"/>
              <a:cs typeface="Segoe UI"/>
            </a:endParaRPr>
          </a:p>
          <a:p>
            <a:pPr marL="126364" indent="-113664">
              <a:lnSpc>
                <a:spcPct val="100000"/>
              </a:lnSpc>
              <a:buFont typeface="Arial MT"/>
              <a:buChar char="•"/>
              <a:tabLst>
                <a:tab pos="126364" algn="l"/>
              </a:tabLst>
            </a:pPr>
            <a:r>
              <a:rPr dirty="0" sz="1400">
                <a:latin typeface="Segoe UI"/>
                <a:cs typeface="Segoe UI"/>
              </a:rPr>
              <a:t>Business</a:t>
            </a:r>
            <a:r>
              <a:rPr dirty="0" sz="1400" spc="-5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Analyst</a:t>
            </a:r>
            <a:r>
              <a:rPr dirty="0" sz="1400" spc="-50">
                <a:latin typeface="Segoe UI"/>
                <a:cs typeface="Segoe UI"/>
              </a:rPr>
              <a:t> </a:t>
            </a:r>
            <a:r>
              <a:rPr dirty="0" sz="1400" spc="-10">
                <a:latin typeface="Segoe UI"/>
                <a:cs typeface="Segoe UI"/>
              </a:rPr>
              <a:t>Training</a:t>
            </a:r>
            <a:endParaRPr sz="1400">
              <a:latin typeface="Segoe UI"/>
              <a:cs typeface="Segoe UI"/>
            </a:endParaRPr>
          </a:p>
          <a:p>
            <a:pPr marL="125730" marR="5080" indent="-113664">
              <a:lnSpc>
                <a:spcPts val="1510"/>
              </a:lnSpc>
              <a:spcBef>
                <a:spcPts val="525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400">
                <a:latin typeface="Segoe UI"/>
                <a:cs typeface="Segoe UI"/>
              </a:rPr>
              <a:t>Other</a:t>
            </a:r>
            <a:r>
              <a:rPr dirty="0" sz="1400" spc="-4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components</a:t>
            </a:r>
            <a:r>
              <a:rPr dirty="0" sz="1400" spc="-5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that</a:t>
            </a:r>
            <a:r>
              <a:rPr dirty="0" sz="1400" spc="-4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are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to</a:t>
            </a:r>
            <a:r>
              <a:rPr dirty="0" sz="1400" spc="-3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be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considered</a:t>
            </a:r>
            <a:r>
              <a:rPr dirty="0" sz="1400" spc="-4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in</a:t>
            </a:r>
            <a:r>
              <a:rPr dirty="0" sz="1400" spc="-3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this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stage</a:t>
            </a:r>
            <a:r>
              <a:rPr dirty="0" sz="1400" spc="-4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are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 spc="-10">
                <a:latin typeface="Segoe UI"/>
                <a:cs typeface="Segoe UI"/>
              </a:rPr>
              <a:t>Resources, </a:t>
            </a:r>
            <a:r>
              <a:rPr dirty="0" sz="1400" spc="-10">
                <a:latin typeface="Segoe UI"/>
                <a:cs typeface="Segoe UI"/>
              </a:rPr>
              <a:t>	</a:t>
            </a:r>
            <a:r>
              <a:rPr dirty="0" sz="1400">
                <a:latin typeface="Segoe UI"/>
                <a:cs typeface="Segoe UI"/>
              </a:rPr>
              <a:t>time/schedules,</a:t>
            </a:r>
            <a:r>
              <a:rPr dirty="0" sz="1400" spc="-7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milestones,</a:t>
            </a:r>
            <a:r>
              <a:rPr dirty="0" sz="1400" spc="-6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cost,</a:t>
            </a:r>
            <a:r>
              <a:rPr dirty="0" sz="1400" spc="-5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business</a:t>
            </a:r>
            <a:r>
              <a:rPr dirty="0" sz="1400" spc="-5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benefits</a:t>
            </a:r>
            <a:r>
              <a:rPr dirty="0" sz="1400" spc="-6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and</a:t>
            </a:r>
            <a:r>
              <a:rPr dirty="0" sz="1400" spc="-55">
                <a:latin typeface="Segoe UI"/>
                <a:cs typeface="Segoe UI"/>
              </a:rPr>
              <a:t> </a:t>
            </a:r>
            <a:r>
              <a:rPr dirty="0" sz="1400" spc="-10">
                <a:latin typeface="Segoe UI"/>
                <a:cs typeface="Segoe UI"/>
              </a:rPr>
              <a:t>deadlines.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Font typeface="Arial MT"/>
              <a:buChar char="•"/>
            </a:pPr>
            <a:endParaRPr sz="1400">
              <a:latin typeface="Segoe UI"/>
              <a:cs typeface="Segoe UI"/>
            </a:endParaRPr>
          </a:p>
          <a:p>
            <a:pPr marL="125730" marR="130175" indent="-113664">
              <a:lnSpc>
                <a:spcPct val="90100"/>
              </a:lnSpc>
              <a:buFont typeface="Arial MT"/>
              <a:buChar char="•"/>
              <a:tabLst>
                <a:tab pos="127000" algn="l"/>
              </a:tabLst>
            </a:pPr>
            <a:r>
              <a:rPr dirty="0" sz="1400">
                <a:latin typeface="Segoe UI"/>
                <a:cs typeface="Segoe UI"/>
              </a:rPr>
              <a:t>In</a:t>
            </a:r>
            <a:r>
              <a:rPr dirty="0" sz="1400" spc="-2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the</a:t>
            </a:r>
            <a:r>
              <a:rPr dirty="0" sz="1400" spc="-1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case</a:t>
            </a:r>
            <a:r>
              <a:rPr dirty="0" sz="1400" spc="-4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of</a:t>
            </a:r>
            <a:r>
              <a:rPr dirty="0" sz="1400" spc="-4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enhancements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to</a:t>
            </a:r>
            <a:r>
              <a:rPr dirty="0" sz="1400" spc="-2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existing</a:t>
            </a:r>
            <a:r>
              <a:rPr dirty="0" sz="1400" spc="-40">
                <a:latin typeface="Segoe UI"/>
                <a:cs typeface="Segoe UI"/>
              </a:rPr>
              <a:t> </a:t>
            </a:r>
            <a:r>
              <a:rPr dirty="0" sz="1400" spc="-10">
                <a:latin typeface="Segoe UI"/>
                <a:cs typeface="Segoe UI"/>
              </a:rPr>
              <a:t>projects,</a:t>
            </a:r>
            <a:r>
              <a:rPr dirty="0" sz="1400" spc="-4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the</a:t>
            </a:r>
            <a:r>
              <a:rPr dirty="0" sz="1400" spc="-1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strengths</a:t>
            </a:r>
            <a:r>
              <a:rPr dirty="0" sz="1400" spc="-40">
                <a:latin typeface="Segoe UI"/>
                <a:cs typeface="Segoe UI"/>
              </a:rPr>
              <a:t> </a:t>
            </a:r>
            <a:r>
              <a:rPr dirty="0" sz="1400" spc="-25">
                <a:latin typeface="Segoe UI"/>
                <a:cs typeface="Segoe UI"/>
              </a:rPr>
              <a:t>and </a:t>
            </a:r>
            <a:r>
              <a:rPr dirty="0" sz="1400" spc="-25">
                <a:latin typeface="Segoe UI"/>
                <a:cs typeface="Segoe UI"/>
              </a:rPr>
              <a:t>	</a:t>
            </a:r>
            <a:r>
              <a:rPr dirty="0" sz="1400" spc="-10">
                <a:latin typeface="Segoe UI"/>
                <a:cs typeface="Segoe UI"/>
              </a:rPr>
              <a:t>weaknesses</a:t>
            </a:r>
            <a:r>
              <a:rPr dirty="0" sz="1400" spc="-5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of</a:t>
            </a:r>
            <a:r>
              <a:rPr dirty="0" sz="1400" spc="-2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the</a:t>
            </a:r>
            <a:r>
              <a:rPr dirty="0" sz="1400" spc="-3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current</a:t>
            </a:r>
            <a:r>
              <a:rPr dirty="0" sz="1400" spc="-2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software</a:t>
            </a:r>
            <a:r>
              <a:rPr dirty="0" sz="1400" spc="-5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are</a:t>
            </a:r>
            <a:r>
              <a:rPr dirty="0" sz="1400" spc="-3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studied,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and</a:t>
            </a:r>
            <a:r>
              <a:rPr dirty="0" sz="1400" spc="-3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the</a:t>
            </a:r>
            <a:r>
              <a:rPr dirty="0" sz="1400" spc="-20">
                <a:latin typeface="Segoe UI"/>
                <a:cs typeface="Segoe UI"/>
              </a:rPr>
              <a:t> </a:t>
            </a:r>
            <a:r>
              <a:rPr dirty="0" sz="1400" spc="-10">
                <a:latin typeface="Segoe UI"/>
                <a:cs typeface="Segoe UI"/>
              </a:rPr>
              <a:t>improvements </a:t>
            </a:r>
            <a:r>
              <a:rPr dirty="0" sz="1400" spc="-10">
                <a:latin typeface="Segoe UI"/>
                <a:cs typeface="Segoe UI"/>
              </a:rPr>
              <a:t>	</a:t>
            </a:r>
            <a:r>
              <a:rPr dirty="0" sz="1400">
                <a:latin typeface="Segoe UI"/>
                <a:cs typeface="Segoe UI"/>
              </a:rPr>
              <a:t>are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set</a:t>
            </a:r>
            <a:r>
              <a:rPr dirty="0" sz="1400" spc="-2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as</a:t>
            </a:r>
            <a:r>
              <a:rPr dirty="0" sz="1400" spc="-3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</a:t>
            </a:r>
            <a:r>
              <a:rPr dirty="0" sz="1400" spc="-2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goal,</a:t>
            </a:r>
            <a:r>
              <a:rPr dirty="0" sz="1400" spc="-4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along</a:t>
            </a:r>
            <a:r>
              <a:rPr dirty="0" sz="1400" spc="-40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with</a:t>
            </a:r>
            <a:r>
              <a:rPr dirty="0" sz="1400" spc="-3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the</a:t>
            </a:r>
            <a:r>
              <a:rPr dirty="0" sz="1400" spc="-15">
                <a:latin typeface="Segoe UI"/>
                <a:cs typeface="Segoe UI"/>
              </a:rPr>
              <a:t> </a:t>
            </a:r>
            <a:r>
              <a:rPr dirty="0" sz="1400">
                <a:latin typeface="Segoe UI"/>
                <a:cs typeface="Segoe UI"/>
              </a:rPr>
              <a:t>collected</a:t>
            </a:r>
            <a:r>
              <a:rPr dirty="0" sz="1400" spc="-45">
                <a:latin typeface="Segoe UI"/>
                <a:cs typeface="Segoe UI"/>
              </a:rPr>
              <a:t> </a:t>
            </a:r>
            <a:r>
              <a:rPr dirty="0" sz="1400" spc="-10">
                <a:latin typeface="Segoe UI"/>
                <a:cs typeface="Segoe UI"/>
              </a:rPr>
              <a:t>requirements.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2203" y="912558"/>
            <a:ext cx="2131949" cy="560514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381000" y="4844732"/>
            <a:ext cx="6096000" cy="3429635"/>
            <a:chOff x="381000" y="4844732"/>
            <a:chExt cx="6096000" cy="3429635"/>
          </a:xfrm>
        </p:grpSpPr>
        <p:sp>
          <p:nvSpPr>
            <p:cNvPr id="8" name="object 8" descr="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888738"/>
              <a:ext cx="3544951" cy="338505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02659" y="4888674"/>
              <a:ext cx="2301366" cy="605091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4036567" y="5565775"/>
            <a:ext cx="2238375" cy="1850389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just" marL="127000" marR="142240" indent="-114300">
              <a:lnSpc>
                <a:spcPts val="969"/>
              </a:lnSpc>
              <a:spcBef>
                <a:spcPts val="225"/>
              </a:spcBef>
              <a:buClr>
                <a:srgbClr val="212121"/>
              </a:buClr>
              <a:buFont typeface="Arial MT"/>
              <a:buChar char="•"/>
              <a:tabLst>
                <a:tab pos="127000" algn="l"/>
              </a:tabLst>
            </a:pP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90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dirty="0" sz="90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dirty="0" sz="9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gathered.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Meetings</a:t>
            </a:r>
            <a:r>
              <a:rPr dirty="0" sz="90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with</a:t>
            </a:r>
            <a:r>
              <a:rPr dirty="0" sz="90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r>
              <a:rPr dirty="0" sz="90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managers</a:t>
            </a:r>
            <a:r>
              <a:rPr dirty="0" sz="90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Tahoma"/>
                <a:cs typeface="Tahoma"/>
              </a:rPr>
              <a:t>and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stakeholders.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12121"/>
              </a:buClr>
              <a:buFont typeface="Arial MT"/>
              <a:buChar char="•"/>
            </a:pPr>
            <a:endParaRPr sz="900">
              <a:latin typeface="Tahoma"/>
              <a:cs typeface="Tahoma"/>
            </a:endParaRPr>
          </a:p>
          <a:p>
            <a:pPr marL="126364" indent="-113664">
              <a:lnSpc>
                <a:spcPts val="1025"/>
              </a:lnSpc>
              <a:buFont typeface="Arial MT"/>
              <a:buChar char="•"/>
              <a:tabLst>
                <a:tab pos="126364" algn="l"/>
              </a:tabLst>
            </a:pP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Identify</a:t>
            </a:r>
            <a:endParaRPr sz="900">
              <a:latin typeface="Tahoma"/>
              <a:cs typeface="Tahoma"/>
            </a:endParaRPr>
          </a:p>
          <a:p>
            <a:pPr lvl="1" marL="198755" indent="-71755">
              <a:lnSpc>
                <a:spcPts val="969"/>
              </a:lnSpc>
              <a:buChar char="•"/>
              <a:tabLst>
                <a:tab pos="198755" algn="l"/>
              </a:tabLst>
            </a:pP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“Who</a:t>
            </a:r>
            <a:r>
              <a:rPr dirty="0" sz="9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will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use</a:t>
            </a:r>
            <a:r>
              <a:rPr dirty="0" sz="90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90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system”</a:t>
            </a:r>
            <a:endParaRPr sz="900">
              <a:latin typeface="Tahoma"/>
              <a:cs typeface="Tahoma"/>
            </a:endParaRPr>
          </a:p>
          <a:p>
            <a:pPr lvl="1" marL="198755" indent="-71755">
              <a:lnSpc>
                <a:spcPts val="969"/>
              </a:lnSpc>
              <a:buChar char="•"/>
              <a:tabLst>
                <a:tab pos="198755" algn="l"/>
              </a:tabLst>
            </a:pP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“How</a:t>
            </a:r>
            <a:r>
              <a:rPr dirty="0" sz="90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9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system</a:t>
            </a:r>
            <a:r>
              <a:rPr dirty="0" sz="90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should</a:t>
            </a:r>
            <a:r>
              <a:rPr dirty="0" sz="9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work</a:t>
            </a:r>
            <a:r>
              <a:rPr dirty="0" sz="90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Tahoma"/>
                <a:cs typeface="Tahoma"/>
              </a:rPr>
              <a:t>“</a:t>
            </a:r>
            <a:endParaRPr sz="900">
              <a:latin typeface="Tahoma"/>
              <a:cs typeface="Tahoma"/>
            </a:endParaRPr>
          </a:p>
          <a:p>
            <a:pPr lvl="1" marL="127000" marR="5080" indent="71755">
              <a:lnSpc>
                <a:spcPts val="969"/>
              </a:lnSpc>
              <a:spcBef>
                <a:spcPts val="70"/>
              </a:spcBef>
              <a:buChar char="•"/>
              <a:tabLst>
                <a:tab pos="198755" algn="l"/>
              </a:tabLst>
            </a:pP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“What</a:t>
            </a:r>
            <a:r>
              <a:rPr dirty="0" sz="9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should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dirty="0" sz="90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9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input</a:t>
            </a:r>
            <a:r>
              <a:rPr dirty="0" sz="9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&amp;</a:t>
            </a:r>
            <a:r>
              <a:rPr dirty="0" sz="9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output</a:t>
            </a:r>
            <a:r>
              <a:rPr dirty="0" sz="9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Tahoma"/>
                <a:cs typeface="Tahoma"/>
              </a:rPr>
              <a:t>of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9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system”</a:t>
            </a:r>
            <a:endParaRPr sz="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95"/>
              </a:spcBef>
              <a:buClr>
                <a:srgbClr val="212121"/>
              </a:buClr>
              <a:buFont typeface="Tahoma"/>
              <a:buChar char="•"/>
            </a:pPr>
            <a:endParaRPr sz="900">
              <a:latin typeface="Tahoma"/>
              <a:cs typeface="Tahoma"/>
            </a:endParaRPr>
          </a:p>
          <a:p>
            <a:pPr marL="127000" marR="241300" indent="-114300">
              <a:lnSpc>
                <a:spcPct val="90100"/>
              </a:lnSpc>
              <a:buFont typeface="Arial MT"/>
              <a:buChar char="•"/>
              <a:tabLst>
                <a:tab pos="127000" algn="l"/>
              </a:tabLst>
            </a:pP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Analyze</a:t>
            </a:r>
            <a:r>
              <a:rPr dirty="0" sz="900" spc="-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dirty="0" sz="9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for validity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212121"/>
                </a:solidFill>
                <a:latin typeface="Tahoma"/>
                <a:cs typeface="Tahoma"/>
              </a:rPr>
              <a:t>&amp;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incorporation</a:t>
            </a:r>
            <a:r>
              <a:rPr dirty="0" sz="9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90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requirements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Finally,</a:t>
            </a:r>
            <a:r>
              <a:rPr dirty="0" sz="9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prepare</a:t>
            </a:r>
            <a:r>
              <a:rPr dirty="0" sz="90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Requirement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specification</a:t>
            </a:r>
            <a:r>
              <a:rPr dirty="0" sz="900" spc="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document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16381" y="1151381"/>
            <a:ext cx="2834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>
                <a:solidFill>
                  <a:srgbClr val="212121"/>
                </a:solidFill>
                <a:latin typeface="Arial Black"/>
                <a:cs typeface="Arial Black"/>
              </a:rPr>
              <a:t>Requirements</a:t>
            </a:r>
            <a:r>
              <a:rPr dirty="0" sz="1800" spc="-7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800" spc="-70">
                <a:solidFill>
                  <a:srgbClr val="212121"/>
                </a:solidFill>
                <a:latin typeface="Arial Black"/>
                <a:cs typeface="Arial Black"/>
              </a:rPr>
              <a:t>Gathering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6069" y="1587246"/>
            <a:ext cx="2714625" cy="1183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5730" indent="-113030">
              <a:lnSpc>
                <a:spcPts val="1140"/>
              </a:lnSpc>
              <a:spcBef>
                <a:spcPts val="95"/>
              </a:spcBef>
              <a:buFont typeface="Arial MT"/>
              <a:buChar char="•"/>
              <a:tabLst>
                <a:tab pos="125730" algn="l"/>
              </a:tabLst>
            </a:pP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00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0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Tahoma"/>
                <a:cs typeface="Tahoma"/>
              </a:rPr>
              <a:t>type:</a:t>
            </a:r>
            <a:endParaRPr sz="1000">
              <a:latin typeface="Tahoma"/>
              <a:cs typeface="Tahoma"/>
            </a:endParaRPr>
          </a:p>
          <a:p>
            <a:pPr lvl="1" marL="207010" indent="-80010">
              <a:lnSpc>
                <a:spcPts val="1080"/>
              </a:lnSpc>
              <a:buChar char="•"/>
              <a:tabLst>
                <a:tab pos="207010" algn="l"/>
              </a:tabLst>
            </a:pP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Functional</a:t>
            </a:r>
            <a:r>
              <a:rPr dirty="0" sz="1000" spc="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endParaRPr sz="1000">
              <a:latin typeface="Tahoma"/>
              <a:cs typeface="Tahoma"/>
            </a:endParaRPr>
          </a:p>
          <a:p>
            <a:pPr lvl="1" marL="207010" indent="-80010">
              <a:lnSpc>
                <a:spcPts val="1140"/>
              </a:lnSpc>
              <a:buChar char="•"/>
              <a:tabLst>
                <a:tab pos="207010" algn="l"/>
              </a:tabLst>
            </a:pP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Non-functional</a:t>
            </a:r>
            <a:r>
              <a:rPr dirty="0" sz="1000" spc="2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endParaRPr sz="10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220"/>
              </a:spcBef>
              <a:buClr>
                <a:srgbClr val="212121"/>
              </a:buClr>
              <a:buFont typeface="Tahoma"/>
              <a:buChar char="•"/>
            </a:pPr>
            <a:endParaRPr sz="1000">
              <a:latin typeface="Tahoma"/>
              <a:cs typeface="Tahoma"/>
            </a:endParaRPr>
          </a:p>
          <a:p>
            <a:pPr marL="125095" marR="5080" indent="-113030">
              <a:lnSpc>
                <a:spcPct val="90300"/>
              </a:lnSpc>
              <a:buFont typeface="Arial MT"/>
              <a:buChar char="•"/>
              <a:tabLst>
                <a:tab pos="127000" algn="l"/>
              </a:tabLst>
            </a:pP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00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end-user</a:t>
            </a:r>
            <a:r>
              <a:rPr dirty="0" sz="10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dirty="0" sz="100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from</a:t>
            </a:r>
            <a:r>
              <a:rPr dirty="0" sz="10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dirty="0" sz="1000" spc="-25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customer</a:t>
            </a:r>
            <a:r>
              <a:rPr dirty="0" sz="100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00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other</a:t>
            </a:r>
            <a:r>
              <a:rPr dirty="0" sz="1000" spc="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stakeholders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(salespeople,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domain/industry</a:t>
            </a:r>
            <a:r>
              <a:rPr dirty="0" sz="10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experts,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Tahoma"/>
                <a:cs typeface="Tahoma"/>
              </a:rPr>
              <a:t>etc.) </a:t>
            </a:r>
            <a:r>
              <a:rPr dirty="0" sz="1000" spc="-2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100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collected.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428110" y="1562100"/>
            <a:ext cx="3049270" cy="1892935"/>
          </a:xfrm>
          <a:custGeom>
            <a:avLst/>
            <a:gdLst/>
            <a:ahLst/>
            <a:cxnLst/>
            <a:rect l="l" t="t" r="r" b="b"/>
            <a:pathLst>
              <a:path w="3049270" h="1892935">
                <a:moveTo>
                  <a:pt x="3048889" y="0"/>
                </a:moveTo>
                <a:lnTo>
                  <a:pt x="0" y="0"/>
                </a:lnTo>
                <a:lnTo>
                  <a:pt x="0" y="1892808"/>
                </a:lnTo>
                <a:lnTo>
                  <a:pt x="3048889" y="1892808"/>
                </a:lnTo>
                <a:lnTo>
                  <a:pt x="3048889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462020" y="1564893"/>
            <a:ext cx="2788920" cy="185610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dirty="0" sz="100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dirty="0" sz="100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gathered</a:t>
            </a:r>
            <a:r>
              <a:rPr dirty="0" sz="100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using</a:t>
            </a:r>
            <a:r>
              <a:rPr dirty="0" sz="10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00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following techniques: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dirty="0" sz="100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conducting</a:t>
            </a:r>
            <a:r>
              <a:rPr dirty="0" sz="100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Interviews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dirty="0" sz="100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conducting</a:t>
            </a:r>
            <a:r>
              <a:rPr dirty="0" sz="100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Workshops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dirty="0" sz="10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conducting</a:t>
            </a:r>
            <a:r>
              <a:rPr dirty="0" sz="10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Surveys</a:t>
            </a:r>
            <a:r>
              <a:rPr dirty="0" sz="100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0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questionnaires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dirty="0" sz="1000">
                <a:solidFill>
                  <a:srgbClr val="212121"/>
                </a:solidFill>
                <a:latin typeface="Tahoma"/>
                <a:cs typeface="Tahoma"/>
              </a:rPr>
              <a:t>Focus</a:t>
            </a:r>
            <a:r>
              <a:rPr dirty="0" sz="100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Groups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dirty="0" sz="1000">
                <a:solidFill>
                  <a:srgbClr val="212121"/>
                </a:solidFill>
                <a:latin typeface="Tahoma"/>
                <a:cs typeface="Tahoma"/>
              </a:rPr>
              <a:t>Observations</a:t>
            </a:r>
            <a:r>
              <a:rPr dirty="0" sz="100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212121"/>
                </a:solidFill>
                <a:latin typeface="Tahoma"/>
                <a:cs typeface="Tahoma"/>
              </a:rPr>
              <a:t>/</a:t>
            </a:r>
            <a:r>
              <a:rPr dirty="0" sz="1000" spc="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12121"/>
                </a:solidFill>
                <a:latin typeface="Tahoma"/>
                <a:cs typeface="Tahoma"/>
              </a:rPr>
              <a:t>time</a:t>
            </a:r>
            <a:r>
              <a:rPr dirty="0" sz="1000" spc="1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Tahoma"/>
                <a:cs typeface="Tahoma"/>
              </a:rPr>
              <a:t>study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ts val="1195"/>
              </a:lnSpc>
              <a:buChar char="•"/>
              <a:tabLst>
                <a:tab pos="92710" algn="l"/>
              </a:tabLst>
            </a:pP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dirty="0" sz="10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conducting</a:t>
            </a:r>
            <a:r>
              <a:rPr dirty="0" sz="10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212121"/>
                </a:solidFill>
                <a:latin typeface="Tahoma"/>
                <a:cs typeface="Tahoma"/>
              </a:rPr>
              <a:t>Brainstorming</a:t>
            </a:r>
            <a:r>
              <a:rPr dirty="0" sz="100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Sessions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ts val="1195"/>
              </a:lnSpc>
              <a:buChar char="•"/>
              <a:tabLst>
                <a:tab pos="92710" algn="l"/>
              </a:tabLst>
            </a:pPr>
            <a:r>
              <a:rPr dirty="0" sz="1000">
                <a:solidFill>
                  <a:srgbClr val="212121"/>
                </a:solidFill>
                <a:latin typeface="Tahoma"/>
                <a:cs typeface="Tahoma"/>
              </a:rPr>
              <a:t>Document</a:t>
            </a:r>
            <a:r>
              <a:rPr dirty="0" sz="1000" spc="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212121"/>
                </a:solidFill>
                <a:latin typeface="Tahoma"/>
                <a:cs typeface="Tahoma"/>
              </a:rPr>
              <a:t>Analysis</a:t>
            </a:r>
            <a:r>
              <a:rPr dirty="0" sz="100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45">
                <a:solidFill>
                  <a:srgbClr val="212121"/>
                </a:solidFill>
                <a:latin typeface="Tahoma"/>
                <a:cs typeface="Tahoma"/>
              </a:rPr>
              <a:t>(Ex:</a:t>
            </a:r>
            <a:r>
              <a:rPr dirty="0" sz="1000" spc="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Regulatory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requirements)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dirty="0" sz="1000" spc="60">
                <a:solidFill>
                  <a:srgbClr val="212121"/>
                </a:solidFill>
                <a:latin typeface="Tahoma"/>
                <a:cs typeface="Tahoma"/>
              </a:rPr>
              <a:t>Mind</a:t>
            </a:r>
            <a:r>
              <a:rPr dirty="0" sz="1000" spc="-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Mapping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dirty="0" sz="1000" spc="-10">
                <a:solidFill>
                  <a:srgbClr val="212121"/>
                </a:solidFill>
                <a:latin typeface="Tahoma"/>
                <a:cs typeface="Tahoma"/>
              </a:rPr>
              <a:t>Benchmarks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659" y="912558"/>
            <a:ext cx="2301366" cy="605091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381000" y="4844732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 spc="-10">
                <a:solidFill>
                  <a:srgbClr val="212121"/>
                </a:solidFill>
                <a:latin typeface="Arial Black"/>
                <a:cs typeface="Arial Black"/>
              </a:rPr>
              <a:t>Analysis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8769" y="5558154"/>
            <a:ext cx="5690870" cy="163703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14300" marR="75565" indent="-114935">
              <a:lnSpc>
                <a:spcPts val="1300"/>
              </a:lnSpc>
              <a:spcBef>
                <a:spcPts val="260"/>
              </a:spcBef>
              <a:buFont typeface="Arial MT"/>
              <a:buChar char="•"/>
              <a:tabLst>
                <a:tab pos="114300" algn="l"/>
              </a:tabLst>
            </a:pP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2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Analysis</a:t>
            </a:r>
            <a:r>
              <a:rPr dirty="0" sz="120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Phase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2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where</a:t>
            </a:r>
            <a:r>
              <a:rPr dirty="0" sz="12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2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break</a:t>
            </a:r>
            <a:r>
              <a:rPr dirty="0" sz="12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down</a:t>
            </a:r>
            <a:r>
              <a:rPr dirty="0" sz="12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2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deliverables</a:t>
            </a:r>
            <a:r>
              <a:rPr dirty="0" sz="120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20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2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high-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level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r>
              <a:rPr dirty="0" sz="120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Charter</a:t>
            </a:r>
            <a:r>
              <a:rPr dirty="0" sz="1200" spc="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into</a:t>
            </a:r>
            <a:r>
              <a:rPr dirty="0" sz="1200" spc="1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200" spc="1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more</a:t>
            </a:r>
            <a:r>
              <a:rPr dirty="0" sz="1200" spc="1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detailed</a:t>
            </a:r>
            <a:r>
              <a:rPr dirty="0" sz="1200" spc="1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1200" spc="1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requirements.</a:t>
            </a:r>
            <a:endParaRPr sz="1200">
              <a:latin typeface="Tahoma"/>
              <a:cs typeface="Tahoma"/>
            </a:endParaRPr>
          </a:p>
          <a:p>
            <a:pPr marL="114300" marR="116205" indent="-114935">
              <a:lnSpc>
                <a:spcPts val="1300"/>
              </a:lnSpc>
              <a:spcBef>
                <a:spcPts val="425"/>
              </a:spcBef>
              <a:buFont typeface="Arial MT"/>
              <a:buChar char="•"/>
              <a:tabLst>
                <a:tab pos="114300" algn="l"/>
                <a:tab pos="154305" algn="l"/>
              </a:tabLst>
            </a:pP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	A</a:t>
            </a:r>
            <a:r>
              <a:rPr dirty="0" sz="120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Software</a:t>
            </a:r>
            <a:r>
              <a:rPr dirty="0" sz="120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Requirement</a:t>
            </a:r>
            <a:r>
              <a:rPr dirty="0" sz="120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Specification</a:t>
            </a:r>
            <a:r>
              <a:rPr dirty="0" sz="120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212121"/>
                </a:solidFill>
                <a:latin typeface="Tahoma"/>
                <a:cs typeface="Tahoma"/>
              </a:rPr>
              <a:t>(SRS)</a:t>
            </a:r>
            <a:r>
              <a:rPr dirty="0" sz="120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document</a:t>
            </a:r>
            <a:r>
              <a:rPr dirty="0" sz="120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20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used</a:t>
            </a:r>
            <a:r>
              <a:rPr dirty="0" sz="120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20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20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analysis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phase,</a:t>
            </a:r>
            <a:r>
              <a:rPr dirty="0" sz="1200" spc="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which</a:t>
            </a:r>
            <a:r>
              <a:rPr dirty="0" sz="1200" spc="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specifies</a:t>
            </a:r>
            <a:r>
              <a:rPr dirty="0" sz="1200" spc="1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200" spc="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software,</a:t>
            </a:r>
            <a:r>
              <a:rPr dirty="0" sz="120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hardware,</a:t>
            </a:r>
            <a:r>
              <a:rPr dirty="0" sz="120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functional,</a:t>
            </a:r>
            <a:r>
              <a:rPr dirty="0" sz="1200" spc="1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200" spc="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network </a:t>
            </a:r>
            <a:r>
              <a:rPr dirty="0" sz="1200" spc="2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dirty="0" sz="12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12121"/>
                </a:solidFill>
                <a:latin typeface="Tahoma"/>
                <a:cs typeface="Tahoma"/>
              </a:rPr>
              <a:t>the system</a:t>
            </a:r>
            <a:r>
              <a:rPr dirty="0" sz="12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12121"/>
                </a:solidFill>
                <a:latin typeface="Tahoma"/>
                <a:cs typeface="Tahoma"/>
              </a:rPr>
              <a:t>is prepared</a:t>
            </a:r>
            <a:r>
              <a:rPr dirty="0" sz="12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12121"/>
                </a:solidFill>
                <a:latin typeface="Tahoma"/>
                <a:cs typeface="Tahoma"/>
              </a:rPr>
              <a:t>at</a:t>
            </a:r>
            <a:r>
              <a:rPr dirty="0" sz="120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12121"/>
                </a:solidFill>
                <a:latin typeface="Tahoma"/>
                <a:cs typeface="Tahoma"/>
              </a:rPr>
              <a:t>the end</a:t>
            </a:r>
            <a:r>
              <a:rPr dirty="0" sz="120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20">
                <a:solidFill>
                  <a:srgbClr val="212121"/>
                </a:solidFill>
                <a:latin typeface="Tahoma"/>
                <a:cs typeface="Tahoma"/>
              </a:rPr>
              <a:t>of this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phase.</a:t>
            </a:r>
            <a:endParaRPr sz="1200">
              <a:latin typeface="Tahoma"/>
              <a:cs typeface="Tahoma"/>
            </a:endParaRPr>
          </a:p>
          <a:p>
            <a:pPr>
              <a:lnSpc>
                <a:spcPts val="1350"/>
              </a:lnSpc>
              <a:spcBef>
                <a:spcPts val="295"/>
              </a:spcBef>
            </a:pPr>
            <a:r>
              <a:rPr dirty="0" sz="1200" spc="-50"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lvl="1" marL="114300" indent="97155">
              <a:lnSpc>
                <a:spcPct val="90500"/>
              </a:lnSpc>
              <a:spcBef>
                <a:spcPts val="45"/>
              </a:spcBef>
              <a:buChar char="•"/>
              <a:tabLst>
                <a:tab pos="211454" algn="l"/>
              </a:tabLst>
            </a:pPr>
            <a:r>
              <a:rPr dirty="0" sz="1200" spc="-35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this,</a:t>
            </a:r>
            <a:r>
              <a:rPr dirty="0" sz="120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every</a:t>
            </a:r>
            <a:r>
              <a:rPr dirty="0" sz="120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achievable</a:t>
            </a:r>
            <a:r>
              <a:rPr dirty="0" sz="120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requirement</a:t>
            </a:r>
            <a:r>
              <a:rPr dirty="0" sz="120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20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anlyzed</a:t>
            </a:r>
            <a:r>
              <a:rPr dirty="0" sz="120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20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12121"/>
                </a:solidFill>
                <a:latin typeface="Tahoma"/>
                <a:cs typeface="Tahoma"/>
              </a:rPr>
              <a:t>documented</a:t>
            </a:r>
            <a:r>
              <a:rPr dirty="0" sz="120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20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Software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dirty="0" sz="1200" spc="2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Specifications</a:t>
            </a:r>
            <a:r>
              <a:rPr dirty="0" sz="1200" spc="229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212121"/>
                </a:solidFill>
                <a:latin typeface="Tahoma"/>
                <a:cs typeface="Tahoma"/>
              </a:rPr>
              <a:t>(SRS)</a:t>
            </a:r>
            <a:r>
              <a:rPr dirty="0" sz="1200" spc="1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dirty="0" sz="1200" spc="2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Functional</a:t>
            </a:r>
            <a:r>
              <a:rPr dirty="0" sz="1200" spc="2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dirty="0" sz="1200" spc="2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Tahoma"/>
                <a:cs typeface="Tahoma"/>
              </a:rPr>
              <a:t>Specifications (FRS).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659" y="4888674"/>
            <a:ext cx="2301366" cy="605091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 spc="-140">
                <a:solidFill>
                  <a:srgbClr val="212121"/>
                </a:solidFill>
                <a:latin typeface="Arial Black"/>
                <a:cs typeface="Arial Black"/>
              </a:rPr>
              <a:t>System</a:t>
            </a:r>
            <a:r>
              <a:rPr dirty="0" sz="1800" spc="-9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212121"/>
                </a:solidFill>
                <a:latin typeface="Arial Black"/>
                <a:cs typeface="Arial Black"/>
              </a:rPr>
              <a:t>Design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6069" y="1549522"/>
            <a:ext cx="5817870" cy="11779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385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•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stated,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“How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achieve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needed?”</a:t>
            </a:r>
            <a:endParaRPr sz="1200">
              <a:latin typeface="Arial MT"/>
              <a:cs typeface="Arial MT"/>
            </a:endParaRPr>
          </a:p>
          <a:p>
            <a:pPr marL="127000" marR="5080" indent="-114935">
              <a:lnSpc>
                <a:spcPts val="1300"/>
              </a:lnSpc>
              <a:spcBef>
                <a:spcPts val="445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•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Software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Requirements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Specifications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(SRS)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now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transformed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system </a:t>
            </a:r>
            <a:r>
              <a:rPr dirty="0" sz="1200">
                <a:latin typeface="Arial MT"/>
                <a:cs typeface="Arial MT"/>
              </a:rPr>
              <a:t>design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contains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detailed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complete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specifications,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commonly </a:t>
            </a:r>
            <a:r>
              <a:rPr dirty="0" sz="1200">
                <a:latin typeface="Arial MT"/>
                <a:cs typeface="Arial MT"/>
              </a:rPr>
              <a:t>known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“Design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Specification”.</a:t>
            </a:r>
            <a:endParaRPr sz="1200">
              <a:latin typeface="Arial MT"/>
              <a:cs typeface="Arial MT"/>
            </a:endParaRPr>
          </a:p>
          <a:p>
            <a:pPr marL="127000" marR="303530" indent="-114935">
              <a:lnSpc>
                <a:spcPts val="1300"/>
              </a:lnSpc>
              <a:spcBef>
                <a:spcPts val="425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•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Prepare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design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network,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databases,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application,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system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interfaces,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user </a:t>
            </a:r>
            <a:r>
              <a:rPr dirty="0" sz="1200">
                <a:latin typeface="Arial MT"/>
                <a:cs typeface="Arial MT"/>
              </a:rPr>
              <a:t>interfaces,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system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software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design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software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requirement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specification.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6069" y="2738120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•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60"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9962" y="2765551"/>
            <a:ext cx="5073650" cy="17272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25"/>
              </a:lnSpc>
            </a:pP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All</a:t>
            </a:r>
            <a:r>
              <a:rPr dirty="0" sz="12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2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technical</a:t>
            </a:r>
            <a:r>
              <a:rPr dirty="0" sz="12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details</a:t>
            </a:r>
            <a:r>
              <a:rPr dirty="0" sz="12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like</a:t>
            </a:r>
            <a:r>
              <a:rPr dirty="0" sz="12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technologies</a:t>
            </a:r>
            <a:r>
              <a:rPr dirty="0" sz="12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12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use,</a:t>
            </a:r>
            <a:r>
              <a:rPr dirty="0" sz="12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project</a:t>
            </a:r>
            <a:r>
              <a:rPr dirty="0" sz="12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constraints,</a:t>
            </a:r>
            <a:r>
              <a:rPr dirty="0" sz="12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Arial MT"/>
                <a:cs typeface="Arial MT"/>
              </a:rPr>
              <a:t>team’s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3094" y="2937764"/>
            <a:ext cx="4002404" cy="1651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65"/>
              </a:lnSpc>
            </a:pPr>
            <a:r>
              <a:rPr dirty="0" sz="1200" spc="-10">
                <a:solidFill>
                  <a:srgbClr val="FF0000"/>
                </a:solidFill>
                <a:latin typeface="Arial MT"/>
                <a:cs typeface="Arial MT"/>
              </a:rPr>
              <a:t>capability,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etc.</a:t>
            </a:r>
            <a:r>
              <a:rPr dirty="0" sz="12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goes</a:t>
            </a:r>
            <a:r>
              <a:rPr dirty="0" sz="12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into</a:t>
            </a:r>
            <a:r>
              <a:rPr dirty="0" sz="120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design</a:t>
            </a:r>
            <a:r>
              <a:rPr dirty="0" sz="12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0000"/>
                </a:solidFill>
                <a:latin typeface="Arial MT"/>
                <a:cs typeface="Arial MT"/>
              </a:rPr>
              <a:t>specification</a:t>
            </a:r>
            <a:r>
              <a:rPr dirty="0" sz="12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Arial MT"/>
                <a:cs typeface="Arial MT"/>
              </a:rPr>
              <a:t>document.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6069" y="3122167"/>
            <a:ext cx="5500370" cy="81216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0" marR="5080" indent="-114935">
              <a:lnSpc>
                <a:spcPts val="1300"/>
              </a:lnSpc>
              <a:spcBef>
                <a:spcPts val="260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•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technical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architects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developers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develop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logical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system </a:t>
            </a: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reviewed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stakeholders.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60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•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Design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contingency, </a:t>
            </a:r>
            <a:r>
              <a:rPr dirty="0" sz="1200">
                <a:latin typeface="Arial MT"/>
                <a:cs typeface="Arial MT"/>
              </a:rPr>
              <a:t>training,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maintenance,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operation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plan.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95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•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last,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prepare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design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document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during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next</a:t>
            </a:r>
            <a:r>
              <a:rPr dirty="0" sz="1200" spc="-10">
                <a:latin typeface="Arial MT"/>
                <a:cs typeface="Arial MT"/>
              </a:rPr>
              <a:t> phases.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659" y="912558"/>
            <a:ext cx="2301366" cy="605091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381000" y="4844732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 spc="-10">
                <a:solidFill>
                  <a:srgbClr val="212121"/>
                </a:solidFill>
                <a:latin typeface="Arial Black"/>
                <a:cs typeface="Arial Black"/>
              </a:rPr>
              <a:t>Development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06069" y="5552058"/>
            <a:ext cx="5779135" cy="132778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5730" marR="88900" indent="-113664">
              <a:lnSpc>
                <a:spcPts val="1510"/>
              </a:lnSpc>
              <a:spcBef>
                <a:spcPts val="295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When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design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software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over,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next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step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will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coding.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step,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developers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start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constructing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whole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framework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using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programming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language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chosen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code.</a:t>
            </a:r>
            <a:endParaRPr sz="1400">
              <a:latin typeface="Calibri"/>
              <a:cs typeface="Calibri"/>
            </a:endParaRPr>
          </a:p>
          <a:p>
            <a:pPr marL="125730" marR="77470" indent="-113664">
              <a:lnSpc>
                <a:spcPts val="1510"/>
              </a:lnSpc>
              <a:spcBef>
                <a:spcPts val="509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400" spc="-25">
                <a:latin typeface="Calibri"/>
                <a:cs typeface="Calibri"/>
              </a:rPr>
              <a:t>Tasks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divided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units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modules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allocated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specific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developers.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enormous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step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SDLC.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Developers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will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obey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specific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predefined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guidelines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during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33094" y="6851395"/>
            <a:ext cx="5003800" cy="2184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35"/>
              </a:lnSpc>
            </a:pPr>
            <a:r>
              <a:rPr dirty="0" sz="1400">
                <a:latin typeface="Calibri"/>
                <a:cs typeface="Calibri"/>
              </a:rPr>
              <a:t>They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will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also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programming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tools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such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compilers,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interpreters,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3094" y="7069328"/>
            <a:ext cx="2978150" cy="19240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30"/>
              </a:lnSpc>
            </a:pPr>
            <a:r>
              <a:rPr dirty="0" sz="1400" spc="-10">
                <a:latin typeface="Calibri"/>
                <a:cs typeface="Calibri"/>
              </a:rPr>
              <a:t>debuggers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build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execute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code.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659" y="4888674"/>
            <a:ext cx="2301366" cy="605091"/>
          </a:xfrm>
          <a:prstGeom prst="rect">
            <a:avLst/>
          </a:prstGeom>
        </p:spPr>
      </p:pic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 spc="-10">
                <a:solidFill>
                  <a:srgbClr val="0C0C0C"/>
                </a:solidFill>
                <a:latin typeface="Calibri"/>
                <a:cs typeface="Calibri"/>
              </a:rPr>
              <a:t>Testing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6069" y="1575053"/>
            <a:ext cx="5814060" cy="1776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ts val="1595"/>
              </a:lnSpc>
              <a:spcBef>
                <a:spcPts val="100"/>
              </a:spcBef>
              <a:buFont typeface="Arial MT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When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complete,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testing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begins,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modules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released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for</a:t>
            </a:r>
            <a:endParaRPr sz="1400">
              <a:latin typeface="Calibri"/>
              <a:cs typeface="Calibri"/>
            </a:endParaRPr>
          </a:p>
          <a:p>
            <a:pPr marL="127000">
              <a:lnSpc>
                <a:spcPts val="1595"/>
              </a:lnSpc>
            </a:pPr>
            <a:r>
              <a:rPr dirty="0" sz="1400" spc="-20">
                <a:latin typeface="Calibri"/>
                <a:cs typeface="Calibri"/>
              </a:rPr>
              <a:t>evaluation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software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testing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necessary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avoid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bugs.</a:t>
            </a:r>
            <a:endParaRPr sz="1400">
              <a:latin typeface="Calibri"/>
              <a:cs typeface="Calibri"/>
            </a:endParaRPr>
          </a:p>
          <a:p>
            <a:pPr marL="125730" marR="402590" indent="-113664">
              <a:lnSpc>
                <a:spcPts val="1510"/>
              </a:lnSpc>
              <a:spcBef>
                <a:spcPts val="530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created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software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extensively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reviewed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during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any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issues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found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assigned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developers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repair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them.</a:t>
            </a:r>
            <a:endParaRPr sz="1400">
              <a:latin typeface="Calibri"/>
              <a:cs typeface="Calibri"/>
            </a:endParaRPr>
          </a:p>
          <a:p>
            <a:pPr marL="125730" marR="5080" indent="-113664">
              <a:lnSpc>
                <a:spcPts val="1510"/>
              </a:lnSpc>
              <a:spcBef>
                <a:spcPts val="509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400" spc="-20">
                <a:latin typeface="Calibri"/>
                <a:cs typeface="Calibri"/>
              </a:rPr>
              <a:t>Retesting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regression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testing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conducted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until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software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planned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expectation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consumers.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ts val="1595"/>
              </a:lnSpc>
              <a:spcBef>
                <a:spcPts val="315"/>
              </a:spcBef>
              <a:buFont typeface="Arial MT"/>
              <a:buChar char="•"/>
              <a:tabLst>
                <a:tab pos="126364" algn="l"/>
              </a:tabLst>
            </a:pPr>
            <a:r>
              <a:rPr dirty="0" sz="1400" spc="-30">
                <a:latin typeface="Calibri"/>
                <a:cs typeface="Calibri"/>
              </a:rPr>
              <a:t>Testers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refer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SRS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document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make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sure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software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conforms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  <a:p>
            <a:pPr marL="127000">
              <a:lnSpc>
                <a:spcPts val="1595"/>
              </a:lnSpc>
            </a:pPr>
            <a:r>
              <a:rPr dirty="0" sz="1400" spc="-10">
                <a:latin typeface="Calibri"/>
                <a:cs typeface="Calibri"/>
              </a:rPr>
              <a:t>customer’s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standard.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3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0C0C0C"/>
                </a:solidFill>
                <a:latin typeface="Calibri"/>
                <a:cs typeface="Calibri"/>
              </a:rPr>
              <a:t>Software</a:t>
            </a:r>
            <a:r>
              <a:rPr dirty="0" sz="1800" spc="-6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C0C0C"/>
                </a:solidFill>
                <a:latin typeface="Calibri"/>
                <a:cs typeface="Calibri"/>
              </a:rPr>
              <a:t>Deployment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6069" y="5552058"/>
            <a:ext cx="5767705" cy="145605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5730" marR="5080" indent="-113664">
              <a:lnSpc>
                <a:spcPts val="1510"/>
              </a:lnSpc>
              <a:spcBef>
                <a:spcPts val="295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phase,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goal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deploy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software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manufacturing 	environment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consumers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start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product.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Many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companies,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 spc="-25">
                <a:latin typeface="Calibri"/>
                <a:cs typeface="Calibri"/>
              </a:rPr>
              <a:t>however,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prefer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push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product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across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different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delivery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environments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such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testing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staging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area.</a:t>
            </a:r>
            <a:endParaRPr sz="1400">
              <a:latin typeface="Calibri"/>
              <a:cs typeface="Calibri"/>
            </a:endParaRPr>
          </a:p>
          <a:p>
            <a:pPr algn="just" marL="125730" marR="571500" indent="-113664">
              <a:lnSpc>
                <a:spcPts val="1510"/>
              </a:lnSpc>
              <a:spcBef>
                <a:spcPts val="509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enables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every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stakeholder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play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product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safely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before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is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introduced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market.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Therefore,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allows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catch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final 	mistakes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before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launching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product.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 spc="-10">
                <a:solidFill>
                  <a:srgbClr val="0C0C0C"/>
                </a:solidFill>
                <a:latin typeface="Calibri"/>
                <a:cs typeface="Calibri"/>
              </a:rPr>
              <a:t>Maintenance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6069" y="1575053"/>
            <a:ext cx="5755640" cy="6254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5730" marR="5080" indent="-113664">
              <a:lnSpc>
                <a:spcPct val="90400"/>
              </a:lnSpc>
              <a:spcBef>
                <a:spcPts val="265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When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software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passes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through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stages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without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complications,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a </a:t>
            </a:r>
            <a:r>
              <a:rPr dirty="0" sz="1400" spc="-5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maintenance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cycle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which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updated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modified</a:t>
            </a:r>
            <a:r>
              <a:rPr dirty="0" sz="1400" spc="500">
                <a:latin typeface="Calibri"/>
                <a:cs typeface="Calibri"/>
              </a:rPr>
              <a:t> </a:t>
            </a:r>
            <a:r>
              <a:rPr dirty="0" sz="1400" spc="50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adapt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changes.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3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Here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some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benefits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SDLC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given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below: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6069" y="5552058"/>
            <a:ext cx="5716270" cy="164782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0" marR="142875" indent="-118110">
              <a:lnSpc>
                <a:spcPts val="1510"/>
              </a:lnSpc>
              <a:spcBef>
                <a:spcPts val="295"/>
              </a:spcBef>
              <a:buSzPct val="92857"/>
              <a:buAutoNum type="arabicPeriod"/>
              <a:tabLst>
                <a:tab pos="127000" algn="l"/>
                <a:tab pos="147320" algn="l"/>
              </a:tabLst>
            </a:pP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Using</a:t>
            </a:r>
            <a:r>
              <a:rPr dirty="0" sz="1400" spc="-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SDLC</a:t>
            </a:r>
            <a:r>
              <a:rPr dirty="0" sz="1400" spc="-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it</a:t>
            </a:r>
            <a:r>
              <a:rPr dirty="0" sz="1400" spc="-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is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easy</a:t>
            </a:r>
            <a:r>
              <a:rPr dirty="0" sz="1400" spc="-4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measure</a:t>
            </a:r>
            <a:r>
              <a:rPr dirty="0" sz="1400" spc="-2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growth</a:t>
            </a:r>
            <a:r>
              <a:rPr dirty="0" sz="1400" spc="-5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costs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dirty="0" sz="1400" spc="-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developed system</a:t>
            </a:r>
            <a:endParaRPr sz="1400">
              <a:latin typeface="Calibri"/>
              <a:cs typeface="Calibri"/>
            </a:endParaRPr>
          </a:p>
          <a:p>
            <a:pPr marL="147955" indent="-138430">
              <a:lnSpc>
                <a:spcPct val="100000"/>
              </a:lnSpc>
              <a:spcBef>
                <a:spcPts val="315"/>
              </a:spcBef>
              <a:buSzPct val="92857"/>
              <a:buAutoNum type="arabicPeriod"/>
              <a:tabLst>
                <a:tab pos="147955" algn="l"/>
              </a:tabLst>
            </a:pP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SDLC</a:t>
            </a:r>
            <a:r>
              <a:rPr dirty="0" sz="1400" spc="-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enhances</a:t>
            </a:r>
            <a:r>
              <a:rPr dirty="0" sz="1400" spc="-2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control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monitoring</a:t>
            </a:r>
            <a:r>
              <a:rPr dirty="0" sz="1400" spc="-5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big</a:t>
            </a:r>
            <a:r>
              <a:rPr dirty="0" sz="1400" spc="-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or</a:t>
            </a:r>
            <a:r>
              <a:rPr dirty="0" sz="1400" spc="-4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complex</a:t>
            </a:r>
            <a:r>
              <a:rPr dirty="0" sz="1400" spc="-1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projects.</a:t>
            </a:r>
            <a:endParaRPr sz="1400">
              <a:latin typeface="Calibri"/>
              <a:cs typeface="Calibri"/>
            </a:endParaRPr>
          </a:p>
          <a:p>
            <a:pPr marL="147955" indent="-138430">
              <a:lnSpc>
                <a:spcPct val="100000"/>
              </a:lnSpc>
              <a:spcBef>
                <a:spcPts val="335"/>
              </a:spcBef>
              <a:buSzPct val="92857"/>
              <a:buAutoNum type="arabicPeriod"/>
              <a:tabLst>
                <a:tab pos="147955" algn="l"/>
              </a:tabLst>
            </a:pP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SDLC</a:t>
            </a:r>
            <a:r>
              <a:rPr dirty="0" sz="1400" spc="-4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involves</a:t>
            </a:r>
            <a:r>
              <a:rPr dirty="0" sz="1400" spc="-5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well</a:t>
            </a:r>
            <a:r>
              <a:rPr dirty="0" sz="1400" spc="-4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detailed</a:t>
            </a:r>
            <a:r>
              <a:rPr dirty="0" sz="1400" spc="-4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comprehensive</a:t>
            </a:r>
            <a:r>
              <a:rPr dirty="0" sz="1400" spc="-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steps.</a:t>
            </a:r>
            <a:endParaRPr sz="1400">
              <a:latin typeface="Calibri"/>
              <a:cs typeface="Calibri"/>
            </a:endParaRPr>
          </a:p>
          <a:p>
            <a:pPr marL="147955" indent="-138430">
              <a:lnSpc>
                <a:spcPts val="1595"/>
              </a:lnSpc>
              <a:spcBef>
                <a:spcPts val="340"/>
              </a:spcBef>
              <a:buSzPct val="92857"/>
              <a:buAutoNum type="arabicPeriod"/>
              <a:tabLst>
                <a:tab pos="147955" algn="l"/>
              </a:tabLst>
            </a:pP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design</a:t>
            </a:r>
            <a:r>
              <a:rPr dirty="0" sz="1400" spc="-4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reviews</a:t>
            </a:r>
            <a:r>
              <a:rPr dirty="0" sz="1400" spc="-4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help</a:t>
            </a:r>
            <a:r>
              <a:rPr dirty="0" sz="1400" spc="-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ensure</a:t>
            </a:r>
            <a:r>
              <a:rPr dirty="0" sz="1400" spc="-2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reliability</a:t>
            </a:r>
            <a:r>
              <a:rPr dirty="0" sz="1400" spc="-6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quality</a:t>
            </a:r>
            <a:r>
              <a:rPr dirty="0" sz="1400" spc="-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dirty="0" sz="1400" spc="-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developed</a:t>
            </a:r>
            <a:endParaRPr sz="1400">
              <a:latin typeface="Calibri"/>
              <a:cs typeface="Calibri"/>
            </a:endParaRPr>
          </a:p>
          <a:p>
            <a:pPr marL="127000">
              <a:lnSpc>
                <a:spcPts val="1595"/>
              </a:lnSpc>
            </a:pP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solution.</a:t>
            </a:r>
            <a:endParaRPr sz="1400">
              <a:latin typeface="Calibri"/>
              <a:cs typeface="Calibri"/>
            </a:endParaRPr>
          </a:p>
          <a:p>
            <a:pPr marL="147955" indent="-138430">
              <a:lnSpc>
                <a:spcPct val="100000"/>
              </a:lnSpc>
              <a:spcBef>
                <a:spcPts val="335"/>
              </a:spcBef>
              <a:buSzPct val="92857"/>
              <a:buAutoNum type="arabicPeriod" startAt="5"/>
              <a:tabLst>
                <a:tab pos="147955" algn="l"/>
              </a:tabLst>
            </a:pP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SDLC</a:t>
            </a:r>
            <a:r>
              <a:rPr dirty="0" sz="1400" spc="-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provides</a:t>
            </a:r>
            <a:r>
              <a:rPr dirty="0" sz="1400" spc="-2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extensive</a:t>
            </a:r>
            <a:r>
              <a:rPr dirty="0" sz="1400" spc="-4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documentation</a:t>
            </a:r>
            <a:r>
              <a:rPr dirty="0" sz="1400" spc="-2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dirty="0" sz="1400" spc="-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C0C0C"/>
                </a:solidFill>
                <a:latin typeface="Calibri"/>
                <a:cs typeface="Calibri"/>
              </a:rPr>
              <a:t>system.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1652016"/>
            <a:ext cx="6096000" cy="2646045"/>
            <a:chOff x="381000" y="1652016"/>
            <a:chExt cx="6096000" cy="26460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4277390"/>
              <a:ext cx="6096000" cy="2028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877060" y="2039620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7" y="0"/>
                  </a:moveTo>
                  <a:lnTo>
                    <a:pt x="0" y="0"/>
                  </a:lnTo>
                  <a:lnTo>
                    <a:pt x="0" y="298450"/>
                  </a:lnTo>
                  <a:lnTo>
                    <a:pt x="254762" y="298450"/>
                  </a:lnTo>
                  <a:lnTo>
                    <a:pt x="254762" y="326389"/>
                  </a:lnTo>
                  <a:lnTo>
                    <a:pt x="371601" y="244855"/>
                  </a:lnTo>
                  <a:lnTo>
                    <a:pt x="254762" y="163195"/>
                  </a:lnTo>
                  <a:lnTo>
                    <a:pt x="254762" y="191261"/>
                  </a:lnTo>
                  <a:lnTo>
                    <a:pt x="107187" y="191261"/>
                  </a:lnTo>
                  <a:lnTo>
                    <a:pt x="107187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13178" y="1655191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266" y="0"/>
                  </a:moveTo>
                  <a:lnTo>
                    <a:pt x="64007" y="0"/>
                  </a:lnTo>
                  <a:lnTo>
                    <a:pt x="39112" y="5038"/>
                  </a:lnTo>
                  <a:lnTo>
                    <a:pt x="18764" y="18780"/>
                  </a:lnTo>
                  <a:lnTo>
                    <a:pt x="5036" y="39165"/>
                  </a:lnTo>
                  <a:lnTo>
                    <a:pt x="0" y="64134"/>
                  </a:lnTo>
                  <a:lnTo>
                    <a:pt x="0" y="320548"/>
                  </a:lnTo>
                  <a:lnTo>
                    <a:pt x="5036" y="345443"/>
                  </a:lnTo>
                  <a:lnTo>
                    <a:pt x="18764" y="365791"/>
                  </a:lnTo>
                  <a:lnTo>
                    <a:pt x="39112" y="379519"/>
                  </a:lnTo>
                  <a:lnTo>
                    <a:pt x="64007" y="384555"/>
                  </a:lnTo>
                  <a:lnTo>
                    <a:pt x="485266" y="384555"/>
                  </a:lnTo>
                  <a:lnTo>
                    <a:pt x="510236" y="379519"/>
                  </a:lnTo>
                  <a:lnTo>
                    <a:pt x="530621" y="365791"/>
                  </a:lnTo>
                  <a:lnTo>
                    <a:pt x="544363" y="345443"/>
                  </a:lnTo>
                  <a:lnTo>
                    <a:pt x="549401" y="320548"/>
                  </a:lnTo>
                  <a:lnTo>
                    <a:pt x="549401" y="64134"/>
                  </a:lnTo>
                  <a:lnTo>
                    <a:pt x="544363" y="39165"/>
                  </a:lnTo>
                  <a:lnTo>
                    <a:pt x="530621" y="18780"/>
                  </a:lnTo>
                  <a:lnTo>
                    <a:pt x="510236" y="5038"/>
                  </a:lnTo>
                  <a:lnTo>
                    <a:pt x="48526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813178" y="1655191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0" y="64134"/>
                  </a:moveTo>
                  <a:lnTo>
                    <a:pt x="5036" y="39165"/>
                  </a:lnTo>
                  <a:lnTo>
                    <a:pt x="18764" y="18780"/>
                  </a:lnTo>
                  <a:lnTo>
                    <a:pt x="39112" y="5038"/>
                  </a:lnTo>
                  <a:lnTo>
                    <a:pt x="64007" y="0"/>
                  </a:lnTo>
                  <a:lnTo>
                    <a:pt x="485266" y="0"/>
                  </a:lnTo>
                  <a:lnTo>
                    <a:pt x="510236" y="5038"/>
                  </a:lnTo>
                  <a:lnTo>
                    <a:pt x="530621" y="18780"/>
                  </a:lnTo>
                  <a:lnTo>
                    <a:pt x="544363" y="39165"/>
                  </a:lnTo>
                  <a:lnTo>
                    <a:pt x="549401" y="64134"/>
                  </a:lnTo>
                  <a:lnTo>
                    <a:pt x="549401" y="320548"/>
                  </a:lnTo>
                  <a:lnTo>
                    <a:pt x="544363" y="345443"/>
                  </a:lnTo>
                  <a:lnTo>
                    <a:pt x="530621" y="365791"/>
                  </a:lnTo>
                  <a:lnTo>
                    <a:pt x="510236" y="379519"/>
                  </a:lnTo>
                  <a:lnTo>
                    <a:pt x="485266" y="384555"/>
                  </a:lnTo>
                  <a:lnTo>
                    <a:pt x="64007" y="384555"/>
                  </a:lnTo>
                  <a:lnTo>
                    <a:pt x="39112" y="379519"/>
                  </a:lnTo>
                  <a:lnTo>
                    <a:pt x="18764" y="365791"/>
                  </a:lnTo>
                  <a:lnTo>
                    <a:pt x="5036" y="345443"/>
                  </a:lnTo>
                  <a:lnTo>
                    <a:pt x="0" y="320548"/>
                  </a:lnTo>
                  <a:lnTo>
                    <a:pt x="0" y="6413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1001014"/>
            <a:ext cx="3222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16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Life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Cycle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1432305"/>
            <a:ext cx="8502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SDLC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Phases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55977" y="1742693"/>
            <a:ext cx="462915" cy="1962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88900" marR="5080" indent="-76835">
              <a:lnSpc>
                <a:spcPts val="620"/>
              </a:lnSpc>
              <a:spcBef>
                <a:spcPts val="200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Requirement</a:t>
            </a:r>
            <a:r>
              <a:rPr dirty="0"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265552" y="2084070"/>
            <a:ext cx="556260" cy="714375"/>
            <a:chOff x="2265552" y="2084070"/>
            <a:chExt cx="556260" cy="714375"/>
          </a:xfrm>
        </p:grpSpPr>
        <p:sp>
          <p:nvSpPr>
            <p:cNvPr id="13" name="object 13" descr=""/>
            <p:cNvSpPr/>
            <p:nvPr/>
          </p:nvSpPr>
          <p:spPr>
            <a:xfrm>
              <a:off x="2332608" y="2471674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8" y="0"/>
                  </a:moveTo>
                  <a:lnTo>
                    <a:pt x="0" y="0"/>
                  </a:lnTo>
                  <a:lnTo>
                    <a:pt x="0" y="298323"/>
                  </a:lnTo>
                  <a:lnTo>
                    <a:pt x="254762" y="298323"/>
                  </a:lnTo>
                  <a:lnTo>
                    <a:pt x="254762" y="326389"/>
                  </a:lnTo>
                  <a:lnTo>
                    <a:pt x="371602" y="244728"/>
                  </a:lnTo>
                  <a:lnTo>
                    <a:pt x="254762" y="163195"/>
                  </a:lnTo>
                  <a:lnTo>
                    <a:pt x="254762" y="191135"/>
                  </a:lnTo>
                  <a:lnTo>
                    <a:pt x="107188" y="191135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268727" y="2087245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267" y="0"/>
                  </a:moveTo>
                  <a:lnTo>
                    <a:pt x="64135" y="0"/>
                  </a:lnTo>
                  <a:lnTo>
                    <a:pt x="39165" y="5038"/>
                  </a:lnTo>
                  <a:lnTo>
                    <a:pt x="18780" y="18780"/>
                  </a:lnTo>
                  <a:lnTo>
                    <a:pt x="5038" y="39165"/>
                  </a:lnTo>
                  <a:lnTo>
                    <a:pt x="0" y="64134"/>
                  </a:lnTo>
                  <a:lnTo>
                    <a:pt x="0" y="320548"/>
                  </a:lnTo>
                  <a:lnTo>
                    <a:pt x="5038" y="345443"/>
                  </a:lnTo>
                  <a:lnTo>
                    <a:pt x="18780" y="365791"/>
                  </a:lnTo>
                  <a:lnTo>
                    <a:pt x="39165" y="379519"/>
                  </a:lnTo>
                  <a:lnTo>
                    <a:pt x="64135" y="384555"/>
                  </a:lnTo>
                  <a:lnTo>
                    <a:pt x="485267" y="384555"/>
                  </a:lnTo>
                  <a:lnTo>
                    <a:pt x="510236" y="379519"/>
                  </a:lnTo>
                  <a:lnTo>
                    <a:pt x="530621" y="365791"/>
                  </a:lnTo>
                  <a:lnTo>
                    <a:pt x="544363" y="345443"/>
                  </a:lnTo>
                  <a:lnTo>
                    <a:pt x="549402" y="320548"/>
                  </a:lnTo>
                  <a:lnTo>
                    <a:pt x="549402" y="64134"/>
                  </a:lnTo>
                  <a:lnTo>
                    <a:pt x="544363" y="39165"/>
                  </a:lnTo>
                  <a:lnTo>
                    <a:pt x="530621" y="18780"/>
                  </a:lnTo>
                  <a:lnTo>
                    <a:pt x="510236" y="5038"/>
                  </a:lnTo>
                  <a:lnTo>
                    <a:pt x="48526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268727" y="2087245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0" y="64134"/>
                  </a:moveTo>
                  <a:lnTo>
                    <a:pt x="5038" y="39165"/>
                  </a:lnTo>
                  <a:lnTo>
                    <a:pt x="18780" y="18780"/>
                  </a:lnTo>
                  <a:lnTo>
                    <a:pt x="39165" y="5038"/>
                  </a:lnTo>
                  <a:lnTo>
                    <a:pt x="64135" y="0"/>
                  </a:lnTo>
                  <a:lnTo>
                    <a:pt x="485267" y="0"/>
                  </a:lnTo>
                  <a:lnTo>
                    <a:pt x="510236" y="5038"/>
                  </a:lnTo>
                  <a:lnTo>
                    <a:pt x="530621" y="18780"/>
                  </a:lnTo>
                  <a:lnTo>
                    <a:pt x="544363" y="39165"/>
                  </a:lnTo>
                  <a:lnTo>
                    <a:pt x="549402" y="64134"/>
                  </a:lnTo>
                  <a:lnTo>
                    <a:pt x="549402" y="320548"/>
                  </a:lnTo>
                  <a:lnTo>
                    <a:pt x="544363" y="345443"/>
                  </a:lnTo>
                  <a:lnTo>
                    <a:pt x="530621" y="365791"/>
                  </a:lnTo>
                  <a:lnTo>
                    <a:pt x="510236" y="379519"/>
                  </a:lnTo>
                  <a:lnTo>
                    <a:pt x="485267" y="384555"/>
                  </a:lnTo>
                  <a:lnTo>
                    <a:pt x="64135" y="384555"/>
                  </a:lnTo>
                  <a:lnTo>
                    <a:pt x="39165" y="379519"/>
                  </a:lnTo>
                  <a:lnTo>
                    <a:pt x="18780" y="365791"/>
                  </a:lnTo>
                  <a:lnTo>
                    <a:pt x="5038" y="345443"/>
                  </a:lnTo>
                  <a:lnTo>
                    <a:pt x="0" y="320548"/>
                  </a:lnTo>
                  <a:lnTo>
                    <a:pt x="0" y="6413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410714" y="2214118"/>
            <a:ext cx="2647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743200" y="2506979"/>
            <a:ext cx="549910" cy="723265"/>
            <a:chOff x="2743200" y="2506979"/>
            <a:chExt cx="549910" cy="723265"/>
          </a:xfrm>
        </p:grpSpPr>
        <p:sp>
          <p:nvSpPr>
            <p:cNvPr id="18" name="object 18" descr=""/>
            <p:cNvSpPr/>
            <p:nvPr/>
          </p:nvSpPr>
          <p:spPr>
            <a:xfrm>
              <a:off x="2788157" y="2903727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7" y="0"/>
                  </a:moveTo>
                  <a:lnTo>
                    <a:pt x="0" y="0"/>
                  </a:lnTo>
                  <a:lnTo>
                    <a:pt x="0" y="298323"/>
                  </a:lnTo>
                  <a:lnTo>
                    <a:pt x="254762" y="298323"/>
                  </a:lnTo>
                  <a:lnTo>
                    <a:pt x="254762" y="326389"/>
                  </a:lnTo>
                  <a:lnTo>
                    <a:pt x="371602" y="244729"/>
                  </a:lnTo>
                  <a:lnTo>
                    <a:pt x="254762" y="163195"/>
                  </a:lnTo>
                  <a:lnTo>
                    <a:pt x="254762" y="191135"/>
                  </a:lnTo>
                  <a:lnTo>
                    <a:pt x="107187" y="191135"/>
                  </a:lnTo>
                  <a:lnTo>
                    <a:pt x="107187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743200" y="2506979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394" y="0"/>
                  </a:moveTo>
                  <a:lnTo>
                    <a:pt x="64135" y="0"/>
                  </a:lnTo>
                  <a:lnTo>
                    <a:pt x="39165" y="5038"/>
                  </a:lnTo>
                  <a:lnTo>
                    <a:pt x="18780" y="18780"/>
                  </a:lnTo>
                  <a:lnTo>
                    <a:pt x="5038" y="39165"/>
                  </a:lnTo>
                  <a:lnTo>
                    <a:pt x="0" y="64135"/>
                  </a:lnTo>
                  <a:lnTo>
                    <a:pt x="0" y="320548"/>
                  </a:lnTo>
                  <a:lnTo>
                    <a:pt x="5038" y="345443"/>
                  </a:lnTo>
                  <a:lnTo>
                    <a:pt x="18780" y="365791"/>
                  </a:lnTo>
                  <a:lnTo>
                    <a:pt x="39165" y="379519"/>
                  </a:lnTo>
                  <a:lnTo>
                    <a:pt x="64135" y="384556"/>
                  </a:lnTo>
                  <a:lnTo>
                    <a:pt x="485394" y="384556"/>
                  </a:lnTo>
                  <a:lnTo>
                    <a:pt x="510309" y="379519"/>
                  </a:lnTo>
                  <a:lnTo>
                    <a:pt x="530701" y="365791"/>
                  </a:lnTo>
                  <a:lnTo>
                    <a:pt x="544472" y="345443"/>
                  </a:lnTo>
                  <a:lnTo>
                    <a:pt x="549528" y="320548"/>
                  </a:lnTo>
                  <a:lnTo>
                    <a:pt x="549528" y="64135"/>
                  </a:lnTo>
                  <a:lnTo>
                    <a:pt x="544472" y="39165"/>
                  </a:lnTo>
                  <a:lnTo>
                    <a:pt x="530701" y="18780"/>
                  </a:lnTo>
                  <a:lnTo>
                    <a:pt x="510309" y="5038"/>
                  </a:lnTo>
                  <a:lnTo>
                    <a:pt x="48539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780538" y="2633853"/>
            <a:ext cx="4743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Development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176651" y="2948177"/>
            <a:ext cx="556260" cy="714375"/>
            <a:chOff x="3176651" y="2948177"/>
            <a:chExt cx="556260" cy="714375"/>
          </a:xfrm>
        </p:grpSpPr>
        <p:sp>
          <p:nvSpPr>
            <p:cNvPr id="22" name="object 22" descr=""/>
            <p:cNvSpPr/>
            <p:nvPr/>
          </p:nvSpPr>
          <p:spPr>
            <a:xfrm>
              <a:off x="3243707" y="3335781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8" y="0"/>
                  </a:moveTo>
                  <a:lnTo>
                    <a:pt x="0" y="0"/>
                  </a:lnTo>
                  <a:lnTo>
                    <a:pt x="0" y="298322"/>
                  </a:lnTo>
                  <a:lnTo>
                    <a:pt x="254762" y="298322"/>
                  </a:lnTo>
                  <a:lnTo>
                    <a:pt x="254762" y="326389"/>
                  </a:lnTo>
                  <a:lnTo>
                    <a:pt x="371602" y="244728"/>
                  </a:lnTo>
                  <a:lnTo>
                    <a:pt x="254762" y="163194"/>
                  </a:lnTo>
                  <a:lnTo>
                    <a:pt x="254762" y="191134"/>
                  </a:lnTo>
                  <a:lnTo>
                    <a:pt x="107188" y="191134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179826" y="2951352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394" y="0"/>
                  </a:moveTo>
                  <a:lnTo>
                    <a:pt x="64135" y="0"/>
                  </a:lnTo>
                  <a:lnTo>
                    <a:pt x="39165" y="5038"/>
                  </a:lnTo>
                  <a:lnTo>
                    <a:pt x="18780" y="18780"/>
                  </a:lnTo>
                  <a:lnTo>
                    <a:pt x="5038" y="39165"/>
                  </a:lnTo>
                  <a:lnTo>
                    <a:pt x="0" y="64135"/>
                  </a:lnTo>
                  <a:lnTo>
                    <a:pt x="0" y="320421"/>
                  </a:lnTo>
                  <a:lnTo>
                    <a:pt x="5038" y="345390"/>
                  </a:lnTo>
                  <a:lnTo>
                    <a:pt x="18780" y="365775"/>
                  </a:lnTo>
                  <a:lnTo>
                    <a:pt x="39165" y="379517"/>
                  </a:lnTo>
                  <a:lnTo>
                    <a:pt x="64135" y="384556"/>
                  </a:lnTo>
                  <a:lnTo>
                    <a:pt x="485394" y="384556"/>
                  </a:lnTo>
                  <a:lnTo>
                    <a:pt x="510309" y="379517"/>
                  </a:lnTo>
                  <a:lnTo>
                    <a:pt x="530701" y="365775"/>
                  </a:lnTo>
                  <a:lnTo>
                    <a:pt x="544472" y="345390"/>
                  </a:lnTo>
                  <a:lnTo>
                    <a:pt x="549528" y="320421"/>
                  </a:lnTo>
                  <a:lnTo>
                    <a:pt x="549528" y="64135"/>
                  </a:lnTo>
                  <a:lnTo>
                    <a:pt x="544472" y="39165"/>
                  </a:lnTo>
                  <a:lnTo>
                    <a:pt x="530701" y="18780"/>
                  </a:lnTo>
                  <a:lnTo>
                    <a:pt x="510309" y="5038"/>
                  </a:lnTo>
                  <a:lnTo>
                    <a:pt x="48539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179826" y="2951352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0" y="64135"/>
                  </a:moveTo>
                  <a:lnTo>
                    <a:pt x="5038" y="39165"/>
                  </a:lnTo>
                  <a:lnTo>
                    <a:pt x="18780" y="18780"/>
                  </a:lnTo>
                  <a:lnTo>
                    <a:pt x="39165" y="5038"/>
                  </a:lnTo>
                  <a:lnTo>
                    <a:pt x="64135" y="0"/>
                  </a:lnTo>
                  <a:lnTo>
                    <a:pt x="485394" y="0"/>
                  </a:lnTo>
                  <a:lnTo>
                    <a:pt x="510309" y="5038"/>
                  </a:lnTo>
                  <a:lnTo>
                    <a:pt x="530701" y="18780"/>
                  </a:lnTo>
                  <a:lnTo>
                    <a:pt x="544472" y="39165"/>
                  </a:lnTo>
                  <a:lnTo>
                    <a:pt x="549528" y="64135"/>
                  </a:lnTo>
                  <a:lnTo>
                    <a:pt x="549528" y="320421"/>
                  </a:lnTo>
                  <a:lnTo>
                    <a:pt x="544472" y="345390"/>
                  </a:lnTo>
                  <a:lnTo>
                    <a:pt x="530701" y="365775"/>
                  </a:lnTo>
                  <a:lnTo>
                    <a:pt x="510309" y="379517"/>
                  </a:lnTo>
                  <a:lnTo>
                    <a:pt x="485394" y="384556"/>
                  </a:lnTo>
                  <a:lnTo>
                    <a:pt x="64135" y="384556"/>
                  </a:lnTo>
                  <a:lnTo>
                    <a:pt x="39165" y="379517"/>
                  </a:lnTo>
                  <a:lnTo>
                    <a:pt x="18780" y="365775"/>
                  </a:lnTo>
                  <a:lnTo>
                    <a:pt x="5038" y="345390"/>
                  </a:lnTo>
                  <a:lnTo>
                    <a:pt x="0" y="320421"/>
                  </a:lnTo>
                  <a:lnTo>
                    <a:pt x="0" y="64135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320541" y="3078226"/>
            <a:ext cx="2692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Testing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632200" y="3380232"/>
            <a:ext cx="556260" cy="714375"/>
            <a:chOff x="3632200" y="3380232"/>
            <a:chExt cx="556260" cy="714375"/>
          </a:xfrm>
        </p:grpSpPr>
        <p:sp>
          <p:nvSpPr>
            <p:cNvPr id="27" name="object 27" descr=""/>
            <p:cNvSpPr/>
            <p:nvPr/>
          </p:nvSpPr>
          <p:spPr>
            <a:xfrm>
              <a:off x="3699256" y="3767836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8" y="0"/>
                  </a:moveTo>
                  <a:lnTo>
                    <a:pt x="0" y="0"/>
                  </a:lnTo>
                  <a:lnTo>
                    <a:pt x="0" y="298323"/>
                  </a:lnTo>
                  <a:lnTo>
                    <a:pt x="254889" y="298323"/>
                  </a:lnTo>
                  <a:lnTo>
                    <a:pt x="254889" y="326389"/>
                  </a:lnTo>
                  <a:lnTo>
                    <a:pt x="371602" y="244728"/>
                  </a:lnTo>
                  <a:lnTo>
                    <a:pt x="254889" y="163194"/>
                  </a:lnTo>
                  <a:lnTo>
                    <a:pt x="254889" y="191135"/>
                  </a:lnTo>
                  <a:lnTo>
                    <a:pt x="107188" y="191135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635375" y="3383407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394" y="0"/>
                  </a:moveTo>
                  <a:lnTo>
                    <a:pt x="64135" y="0"/>
                  </a:lnTo>
                  <a:lnTo>
                    <a:pt x="39165" y="5038"/>
                  </a:lnTo>
                  <a:lnTo>
                    <a:pt x="18780" y="18780"/>
                  </a:lnTo>
                  <a:lnTo>
                    <a:pt x="5038" y="39165"/>
                  </a:lnTo>
                  <a:lnTo>
                    <a:pt x="0" y="64134"/>
                  </a:lnTo>
                  <a:lnTo>
                    <a:pt x="0" y="320420"/>
                  </a:lnTo>
                  <a:lnTo>
                    <a:pt x="5038" y="345390"/>
                  </a:lnTo>
                  <a:lnTo>
                    <a:pt x="18780" y="365775"/>
                  </a:lnTo>
                  <a:lnTo>
                    <a:pt x="39165" y="379517"/>
                  </a:lnTo>
                  <a:lnTo>
                    <a:pt x="64135" y="384555"/>
                  </a:lnTo>
                  <a:lnTo>
                    <a:pt x="485394" y="384555"/>
                  </a:lnTo>
                  <a:lnTo>
                    <a:pt x="510363" y="379517"/>
                  </a:lnTo>
                  <a:lnTo>
                    <a:pt x="530748" y="365775"/>
                  </a:lnTo>
                  <a:lnTo>
                    <a:pt x="544490" y="345390"/>
                  </a:lnTo>
                  <a:lnTo>
                    <a:pt x="549528" y="320420"/>
                  </a:lnTo>
                  <a:lnTo>
                    <a:pt x="549528" y="64134"/>
                  </a:lnTo>
                  <a:lnTo>
                    <a:pt x="544490" y="39165"/>
                  </a:lnTo>
                  <a:lnTo>
                    <a:pt x="530748" y="18780"/>
                  </a:lnTo>
                  <a:lnTo>
                    <a:pt x="510363" y="5038"/>
                  </a:lnTo>
                  <a:lnTo>
                    <a:pt x="48539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635375" y="3383407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0" y="64134"/>
                  </a:moveTo>
                  <a:lnTo>
                    <a:pt x="5038" y="39165"/>
                  </a:lnTo>
                  <a:lnTo>
                    <a:pt x="18780" y="18780"/>
                  </a:lnTo>
                  <a:lnTo>
                    <a:pt x="39165" y="5038"/>
                  </a:lnTo>
                  <a:lnTo>
                    <a:pt x="64135" y="0"/>
                  </a:lnTo>
                  <a:lnTo>
                    <a:pt x="485394" y="0"/>
                  </a:lnTo>
                  <a:lnTo>
                    <a:pt x="510363" y="5038"/>
                  </a:lnTo>
                  <a:lnTo>
                    <a:pt x="530748" y="18780"/>
                  </a:lnTo>
                  <a:lnTo>
                    <a:pt x="544490" y="39165"/>
                  </a:lnTo>
                  <a:lnTo>
                    <a:pt x="549528" y="64134"/>
                  </a:lnTo>
                  <a:lnTo>
                    <a:pt x="549528" y="320420"/>
                  </a:lnTo>
                  <a:lnTo>
                    <a:pt x="544490" y="345390"/>
                  </a:lnTo>
                  <a:lnTo>
                    <a:pt x="530748" y="365775"/>
                  </a:lnTo>
                  <a:lnTo>
                    <a:pt x="510363" y="379517"/>
                  </a:lnTo>
                  <a:lnTo>
                    <a:pt x="485394" y="384555"/>
                  </a:lnTo>
                  <a:lnTo>
                    <a:pt x="64135" y="384555"/>
                  </a:lnTo>
                  <a:lnTo>
                    <a:pt x="39165" y="379517"/>
                  </a:lnTo>
                  <a:lnTo>
                    <a:pt x="18780" y="365775"/>
                  </a:lnTo>
                  <a:lnTo>
                    <a:pt x="5038" y="345390"/>
                  </a:lnTo>
                  <a:lnTo>
                    <a:pt x="0" y="320420"/>
                  </a:lnTo>
                  <a:lnTo>
                    <a:pt x="0" y="6413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756405" y="3510534"/>
            <a:ext cx="3073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Release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4090923" y="3815460"/>
            <a:ext cx="549910" cy="384810"/>
          </a:xfrm>
          <a:custGeom>
            <a:avLst/>
            <a:gdLst/>
            <a:ahLst/>
            <a:cxnLst/>
            <a:rect l="l" t="t" r="r" b="b"/>
            <a:pathLst>
              <a:path w="549910" h="384810">
                <a:moveTo>
                  <a:pt x="485393" y="0"/>
                </a:moveTo>
                <a:lnTo>
                  <a:pt x="64135" y="0"/>
                </a:lnTo>
                <a:lnTo>
                  <a:pt x="39165" y="5036"/>
                </a:lnTo>
                <a:lnTo>
                  <a:pt x="18780" y="18764"/>
                </a:lnTo>
                <a:lnTo>
                  <a:pt x="5038" y="39112"/>
                </a:lnTo>
                <a:lnTo>
                  <a:pt x="0" y="64008"/>
                </a:lnTo>
                <a:lnTo>
                  <a:pt x="0" y="320421"/>
                </a:lnTo>
                <a:lnTo>
                  <a:pt x="5038" y="345390"/>
                </a:lnTo>
                <a:lnTo>
                  <a:pt x="18780" y="365775"/>
                </a:lnTo>
                <a:lnTo>
                  <a:pt x="39165" y="379517"/>
                </a:lnTo>
                <a:lnTo>
                  <a:pt x="64135" y="384555"/>
                </a:lnTo>
                <a:lnTo>
                  <a:pt x="485393" y="384555"/>
                </a:lnTo>
                <a:lnTo>
                  <a:pt x="510363" y="379517"/>
                </a:lnTo>
                <a:lnTo>
                  <a:pt x="530748" y="365775"/>
                </a:lnTo>
                <a:lnTo>
                  <a:pt x="544490" y="345390"/>
                </a:lnTo>
                <a:lnTo>
                  <a:pt x="549528" y="320421"/>
                </a:lnTo>
                <a:lnTo>
                  <a:pt x="549528" y="64008"/>
                </a:lnTo>
                <a:lnTo>
                  <a:pt x="544490" y="39112"/>
                </a:lnTo>
                <a:lnTo>
                  <a:pt x="530748" y="18764"/>
                </a:lnTo>
                <a:lnTo>
                  <a:pt x="510363" y="5036"/>
                </a:lnTo>
                <a:lnTo>
                  <a:pt x="48539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4134358" y="3942715"/>
            <a:ext cx="4635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Maintenance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1368425" y="1743710"/>
            <a:ext cx="2711450" cy="2494280"/>
            <a:chOff x="1368425" y="1743710"/>
            <a:chExt cx="2711450" cy="2494280"/>
          </a:xfrm>
        </p:grpSpPr>
        <p:sp>
          <p:nvSpPr>
            <p:cNvPr id="34" name="object 34" descr=""/>
            <p:cNvSpPr/>
            <p:nvPr/>
          </p:nvSpPr>
          <p:spPr>
            <a:xfrm>
              <a:off x="1371600" y="1746885"/>
              <a:ext cx="429259" cy="2436495"/>
            </a:xfrm>
            <a:custGeom>
              <a:avLst/>
              <a:gdLst/>
              <a:ahLst/>
              <a:cxnLst/>
              <a:rect l="l" t="t" r="r" b="b"/>
              <a:pathLst>
                <a:path w="429260" h="2436495">
                  <a:moveTo>
                    <a:pt x="0" y="2436495"/>
                  </a:moveTo>
                  <a:lnTo>
                    <a:pt x="0" y="241300"/>
                  </a:lnTo>
                  <a:lnTo>
                    <a:pt x="6707" y="191412"/>
                  </a:lnTo>
                  <a:lnTo>
                    <a:pt x="25635" y="146576"/>
                  </a:lnTo>
                  <a:lnTo>
                    <a:pt x="54990" y="108584"/>
                  </a:lnTo>
                  <a:lnTo>
                    <a:pt x="92982" y="79229"/>
                  </a:lnTo>
                  <a:lnTo>
                    <a:pt x="137818" y="60301"/>
                  </a:lnTo>
                  <a:lnTo>
                    <a:pt x="187706" y="53594"/>
                  </a:lnTo>
                  <a:lnTo>
                    <a:pt x="321818" y="53594"/>
                  </a:lnTo>
                  <a:lnTo>
                    <a:pt x="321818" y="0"/>
                  </a:lnTo>
                  <a:lnTo>
                    <a:pt x="429132" y="107188"/>
                  </a:lnTo>
                  <a:lnTo>
                    <a:pt x="321818" y="214503"/>
                  </a:lnTo>
                  <a:lnTo>
                    <a:pt x="321818" y="160909"/>
                  </a:lnTo>
                  <a:lnTo>
                    <a:pt x="187706" y="160909"/>
                  </a:lnTo>
                  <a:lnTo>
                    <a:pt x="156392" y="167219"/>
                  </a:lnTo>
                  <a:lnTo>
                    <a:pt x="130841" y="184435"/>
                  </a:lnTo>
                  <a:lnTo>
                    <a:pt x="113625" y="209986"/>
                  </a:lnTo>
                  <a:lnTo>
                    <a:pt x="107315" y="241300"/>
                  </a:lnTo>
                  <a:lnTo>
                    <a:pt x="107315" y="2436495"/>
                  </a:lnTo>
                  <a:lnTo>
                    <a:pt x="0" y="2436495"/>
                  </a:lnTo>
                  <a:close/>
                </a:path>
              </a:pathLst>
            </a:custGeom>
            <a:ln w="6349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485900" y="4049141"/>
              <a:ext cx="2590800" cy="185420"/>
            </a:xfrm>
            <a:custGeom>
              <a:avLst/>
              <a:gdLst/>
              <a:ahLst/>
              <a:cxnLst/>
              <a:rect l="l" t="t" r="r" b="b"/>
              <a:pathLst>
                <a:path w="2590800" h="185420">
                  <a:moveTo>
                    <a:pt x="92583" y="0"/>
                  </a:moveTo>
                  <a:lnTo>
                    <a:pt x="0" y="92583"/>
                  </a:lnTo>
                  <a:lnTo>
                    <a:pt x="92583" y="185293"/>
                  </a:lnTo>
                  <a:lnTo>
                    <a:pt x="92583" y="138937"/>
                  </a:lnTo>
                  <a:lnTo>
                    <a:pt x="2590800" y="138937"/>
                  </a:lnTo>
                  <a:lnTo>
                    <a:pt x="2590800" y="46355"/>
                  </a:lnTo>
                  <a:lnTo>
                    <a:pt x="92583" y="46355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85900" y="4049141"/>
              <a:ext cx="2590800" cy="185420"/>
            </a:xfrm>
            <a:custGeom>
              <a:avLst/>
              <a:gdLst/>
              <a:ahLst/>
              <a:cxnLst/>
              <a:rect l="l" t="t" r="r" b="b"/>
              <a:pathLst>
                <a:path w="2590800" h="185420">
                  <a:moveTo>
                    <a:pt x="0" y="92583"/>
                  </a:moveTo>
                  <a:lnTo>
                    <a:pt x="92583" y="0"/>
                  </a:lnTo>
                  <a:lnTo>
                    <a:pt x="92583" y="46355"/>
                  </a:lnTo>
                  <a:lnTo>
                    <a:pt x="2590800" y="46355"/>
                  </a:lnTo>
                  <a:lnTo>
                    <a:pt x="2590800" y="138937"/>
                  </a:lnTo>
                  <a:lnTo>
                    <a:pt x="92583" y="138937"/>
                  </a:lnTo>
                  <a:lnTo>
                    <a:pt x="92583" y="185293"/>
                  </a:lnTo>
                  <a:lnTo>
                    <a:pt x="0" y="92583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2204973" y="3887851"/>
            <a:ext cx="413384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Arial MT"/>
                <a:cs typeface="Arial MT"/>
              </a:rPr>
              <a:t>Feedback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SDLC</a:t>
            </a:r>
            <a:r>
              <a:rPr dirty="0" sz="1800" spc="-8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Models</a:t>
            </a:r>
            <a:endParaRPr sz="1800">
              <a:latin typeface="Segoe UI Light"/>
              <a:cs typeface="Segoe UI Light"/>
            </a:endParaRPr>
          </a:p>
        </p:txBody>
      </p:sp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0379" y="5581522"/>
            <a:ext cx="3458845" cy="2692273"/>
          </a:xfrm>
          <a:prstGeom prst="rect">
            <a:avLst/>
          </a:prstGeom>
        </p:spPr>
      </p:pic>
      <p:sp>
        <p:nvSpPr>
          <p:cNvPr id="40" name="object 4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51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4963160" cy="21583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Introduction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It 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called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classic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life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cycle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Waterfall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considered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 Black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Box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Model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back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previous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phase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Sequential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Nature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5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suggests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systematic,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sequential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approach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begins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with </a:t>
            </a:r>
            <a:r>
              <a:rPr dirty="0" sz="900">
                <a:latin typeface="Arial MT"/>
                <a:cs typeface="Arial MT"/>
              </a:rPr>
              <a:t>customer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specification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requirements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progresses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through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Planning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Modeling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Construction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Deployment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Culminating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ongoing </a:t>
            </a:r>
            <a:r>
              <a:rPr dirty="0" sz="800">
                <a:latin typeface="Arial MT"/>
                <a:cs typeface="Arial MT"/>
              </a:rPr>
              <a:t>support of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completed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software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2270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409057"/>
            <a:ext cx="24917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Feedback</a:t>
            </a:r>
            <a:r>
              <a:rPr dirty="0" sz="1000" spc="-6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Amendment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in</a:t>
            </a:r>
            <a:r>
              <a:rPr dirty="0" sz="1000" spc="-5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Waterfall</a:t>
            </a:r>
            <a:r>
              <a:rPr dirty="0" sz="1000" spc="-5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5849" y="5778246"/>
            <a:ext cx="3990912" cy="2138362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9705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pros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cons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2687" y="1481963"/>
            <a:ext cx="4633973" cy="258419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2270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2516" y="5410580"/>
            <a:ext cx="5617845" cy="280035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126364" algn="l"/>
              </a:tabLst>
            </a:pPr>
            <a:r>
              <a:rPr dirty="0" sz="900" b="1">
                <a:latin typeface="Arial"/>
                <a:cs typeface="Arial"/>
              </a:rPr>
              <a:t>Waterfall</a:t>
            </a:r>
            <a:r>
              <a:rPr dirty="0" sz="900" spc="-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Model</a:t>
            </a:r>
            <a:r>
              <a:rPr dirty="0" sz="900" spc="-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Strong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Points</a:t>
            </a:r>
            <a:endParaRPr sz="900">
              <a:latin typeface="Arial"/>
              <a:cs typeface="Arial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Easy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understand,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easy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use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Provides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structure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inexperienced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staff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Milestones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well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understood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Sets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requirements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stability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Good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management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control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(plan,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staff,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track)</a:t>
            </a:r>
            <a:endParaRPr sz="900">
              <a:latin typeface="Arial MT"/>
              <a:cs typeface="Arial MT"/>
            </a:endParaRPr>
          </a:p>
          <a:p>
            <a:pPr marL="127000" marR="309943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127000" algn="l"/>
              </a:tabLst>
            </a:pPr>
            <a:r>
              <a:rPr dirty="0" sz="900">
                <a:latin typeface="Arial MT"/>
                <a:cs typeface="Arial MT"/>
              </a:rPr>
              <a:t>Works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quality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important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than </a:t>
            </a:r>
            <a:r>
              <a:rPr dirty="0" sz="900">
                <a:latin typeface="Arial MT"/>
                <a:cs typeface="Arial MT"/>
              </a:rPr>
              <a:t>cost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schedule</a:t>
            </a:r>
            <a:endParaRPr sz="900">
              <a:latin typeface="Arial MT"/>
              <a:cs typeface="Arial MT"/>
            </a:endParaRPr>
          </a:p>
          <a:p>
            <a:pPr marL="2818130">
              <a:lnSpc>
                <a:spcPct val="100000"/>
              </a:lnSpc>
              <a:spcBef>
                <a:spcPts val="990"/>
              </a:spcBef>
            </a:pPr>
            <a:r>
              <a:rPr dirty="0" sz="900" spc="-45">
                <a:solidFill>
                  <a:srgbClr val="212121"/>
                </a:solidFill>
                <a:latin typeface="Arial Black"/>
                <a:cs typeface="Arial Black"/>
              </a:rPr>
              <a:t>Limitation </a:t>
            </a:r>
            <a:r>
              <a:rPr dirty="0" sz="900" spc="-35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dirty="0" sz="900" spc="-2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dirty="0" sz="900" spc="-3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212121"/>
                </a:solidFill>
                <a:latin typeface="Arial Black"/>
                <a:cs typeface="Arial Black"/>
              </a:rPr>
              <a:t>Waterfall</a:t>
            </a:r>
            <a:r>
              <a:rPr dirty="0" sz="900" spc="-2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Black"/>
                <a:cs typeface="Arial Black"/>
              </a:rPr>
              <a:t>Model</a:t>
            </a:r>
            <a:endParaRPr sz="900">
              <a:latin typeface="Arial Black"/>
              <a:cs typeface="Arial Black"/>
            </a:endParaRPr>
          </a:p>
          <a:p>
            <a:pPr lvl="1" marL="2857500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Not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suitable</a:t>
            </a:r>
            <a:r>
              <a:rPr dirty="0" sz="90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dirty="0" sz="90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90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where</a:t>
            </a:r>
            <a:r>
              <a:rPr dirty="0" sz="90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dirty="0" sz="90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endParaRPr sz="900">
              <a:latin typeface="Tahoma"/>
              <a:cs typeface="Tahoma"/>
            </a:endParaRPr>
          </a:p>
          <a:p>
            <a:pPr marL="2818130">
              <a:lnSpc>
                <a:spcPct val="100000"/>
              </a:lnSpc>
            </a:pP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changing.</a:t>
            </a:r>
            <a:endParaRPr sz="900">
              <a:latin typeface="Tahoma"/>
              <a:cs typeface="Tahoma"/>
            </a:endParaRPr>
          </a:p>
          <a:p>
            <a:pPr lvl="1" marL="2857500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9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high</a:t>
            </a:r>
            <a:r>
              <a:rPr dirty="0" sz="90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amount</a:t>
            </a:r>
            <a:r>
              <a:rPr dirty="0" sz="9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90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risk</a:t>
            </a:r>
            <a:r>
              <a:rPr dirty="0" sz="90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90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uncertainty</a:t>
            </a:r>
            <a:endParaRPr sz="900">
              <a:latin typeface="Tahoma"/>
              <a:cs typeface="Tahoma"/>
            </a:endParaRPr>
          </a:p>
          <a:p>
            <a:pPr lvl="1" marL="2857500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Not</a:t>
            </a:r>
            <a:r>
              <a:rPr dirty="0" sz="90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good</a:t>
            </a:r>
            <a:r>
              <a:rPr dirty="0" sz="90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dirty="0" sz="90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9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object-oriented</a:t>
            </a:r>
            <a:r>
              <a:rPr dirty="0" sz="90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endParaRPr sz="900">
              <a:latin typeface="Tahoma"/>
              <a:cs typeface="Tahoma"/>
            </a:endParaRPr>
          </a:p>
          <a:p>
            <a:pPr lvl="1" marL="2857500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Poor</a:t>
            </a:r>
            <a:r>
              <a:rPr dirty="0" sz="90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model</a:t>
            </a:r>
            <a:r>
              <a:rPr dirty="0" sz="90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dirty="0" sz="90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long</a:t>
            </a:r>
            <a:r>
              <a:rPr dirty="0" sz="90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90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ongoing</a:t>
            </a:r>
            <a:r>
              <a:rPr dirty="0" sz="90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endParaRPr sz="900">
              <a:latin typeface="Tahoma"/>
              <a:cs typeface="Tahoma"/>
            </a:endParaRPr>
          </a:p>
          <a:p>
            <a:pPr lvl="1" marL="2857500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90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give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90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false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impression</a:t>
            </a:r>
            <a:r>
              <a:rPr dirty="0" sz="90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900" spc="-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progress</a:t>
            </a:r>
            <a:endParaRPr sz="900">
              <a:latin typeface="Tahoma"/>
              <a:cs typeface="Tahoma"/>
            </a:endParaRPr>
          </a:p>
          <a:p>
            <a:pPr lvl="1" marL="2857500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Integration</a:t>
            </a:r>
            <a:r>
              <a:rPr dirty="0" sz="9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9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one</a:t>
            </a:r>
            <a:r>
              <a:rPr dirty="0" sz="90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big</a:t>
            </a:r>
            <a:r>
              <a:rPr dirty="0" sz="90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bang</a:t>
            </a:r>
            <a:r>
              <a:rPr dirty="0" sz="90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at</a:t>
            </a:r>
            <a:r>
              <a:rPr dirty="0" sz="90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90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Tahoma"/>
                <a:cs typeface="Tahoma"/>
              </a:rPr>
              <a:t>end</a:t>
            </a:r>
            <a:endParaRPr sz="900">
              <a:latin typeface="Tahoma"/>
              <a:cs typeface="Tahoma"/>
            </a:endParaRPr>
          </a:p>
          <a:p>
            <a:pPr lvl="1" marL="2818130" marR="120650" indent="-825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	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Little</a:t>
            </a:r>
            <a:r>
              <a:rPr dirty="0" sz="90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opportunity</a:t>
            </a:r>
            <a:r>
              <a:rPr dirty="0" sz="90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dirty="0" sz="9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90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customer</a:t>
            </a:r>
            <a:r>
              <a:rPr dirty="0" sz="900" spc="-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9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20">
                <a:solidFill>
                  <a:srgbClr val="212121"/>
                </a:solidFill>
                <a:latin typeface="Tahoma"/>
                <a:cs typeface="Tahoma"/>
              </a:rPr>
              <a:t>preview</a:t>
            </a:r>
            <a:r>
              <a:rPr dirty="0" sz="90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dirty="0" sz="900" spc="-10">
                <a:solidFill>
                  <a:srgbClr val="212121"/>
                </a:solidFill>
                <a:latin typeface="Tahoma"/>
                <a:cs typeface="Tahoma"/>
              </a:rPr>
              <a:t>system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9389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Suitable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Situation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3178" y="1634998"/>
            <a:ext cx="2667635" cy="101346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Work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small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project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Requirements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very well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known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definition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stable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Technology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understood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version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existing</a:t>
            </a:r>
            <a:r>
              <a:rPr dirty="0" sz="900" spc="-10">
                <a:latin typeface="Arial MT"/>
                <a:cs typeface="Arial MT"/>
              </a:rPr>
              <a:t> product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Porting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 current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platform.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4508" y="2680457"/>
            <a:ext cx="2194760" cy="1396951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3209417" y="5699633"/>
            <a:ext cx="3267710" cy="1788160"/>
            <a:chOff x="3209417" y="5699633"/>
            <a:chExt cx="3267710" cy="1788160"/>
          </a:xfrm>
        </p:grpSpPr>
        <p:sp>
          <p:nvSpPr>
            <p:cNvPr id="9" name="object 9" descr=""/>
            <p:cNvSpPr/>
            <p:nvPr/>
          </p:nvSpPr>
          <p:spPr>
            <a:xfrm>
              <a:off x="3209417" y="5699633"/>
              <a:ext cx="3267710" cy="1788160"/>
            </a:xfrm>
            <a:custGeom>
              <a:avLst/>
              <a:gdLst/>
              <a:ahLst/>
              <a:cxnLst/>
              <a:rect l="l" t="t" r="r" b="b"/>
              <a:pathLst>
                <a:path w="3267710" h="1788159">
                  <a:moveTo>
                    <a:pt x="3267582" y="0"/>
                  </a:moveTo>
                  <a:lnTo>
                    <a:pt x="0" y="0"/>
                  </a:lnTo>
                  <a:lnTo>
                    <a:pt x="0" y="1787652"/>
                  </a:lnTo>
                  <a:lnTo>
                    <a:pt x="3267582" y="1787652"/>
                  </a:lnTo>
                  <a:lnTo>
                    <a:pt x="3267582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5838" y="5793994"/>
              <a:ext cx="3138042" cy="1597533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833424" y="6421373"/>
            <a:ext cx="2065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D24625"/>
                </a:solidFill>
                <a:latin typeface="Segoe UI Light"/>
                <a:cs typeface="Segoe UI Light"/>
              </a:rPr>
              <a:t>Agile</a:t>
            </a:r>
            <a:r>
              <a:rPr dirty="0" sz="2000" spc="-45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2000" spc="-10">
                <a:solidFill>
                  <a:srgbClr val="D24625"/>
                </a:solidFill>
                <a:latin typeface="Segoe UI Light"/>
                <a:cs typeface="Segoe UI Light"/>
              </a:rPr>
              <a:t>Methodology</a:t>
            </a:r>
            <a:endParaRPr sz="2000">
              <a:latin typeface="Segoe UI Light"/>
              <a:cs typeface="Segoe UI Ligh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13074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432305"/>
            <a:ext cx="5796280" cy="2084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Why</a:t>
            </a:r>
            <a:r>
              <a:rPr dirty="0" sz="1000" spc="-6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Agile?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Arial"/>
              <a:cs typeface="Arial"/>
            </a:endParaRPr>
          </a:p>
          <a:p>
            <a:pPr marL="302895" indent="-1130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biggest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problem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software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development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changing</a:t>
            </a:r>
            <a:r>
              <a:rPr dirty="0" sz="1000" spc="-10">
                <a:latin typeface="Arial MT"/>
                <a:cs typeface="Arial MT"/>
              </a:rPr>
              <a:t> requirements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processes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accept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reality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change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versus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hunt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complete,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rigid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specifications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dirty="0" sz="1000">
                <a:latin typeface="Arial MT"/>
                <a:cs typeface="Arial MT"/>
              </a:rPr>
              <a:t>Speed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up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bypass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one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more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life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cycle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phases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dirty="0" sz="1000">
                <a:latin typeface="Arial MT"/>
                <a:cs typeface="Arial MT"/>
              </a:rPr>
              <a:t>Usually less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formal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reduced</a:t>
            </a:r>
            <a:r>
              <a:rPr dirty="0" sz="1000" spc="-20">
                <a:latin typeface="Arial MT"/>
                <a:cs typeface="Arial MT"/>
              </a:rPr>
              <a:t> scope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dirty="0" sz="1000">
                <a:latin typeface="Arial MT"/>
                <a:cs typeface="Arial MT"/>
              </a:rPr>
              <a:t>Used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time-</a:t>
            </a:r>
            <a:r>
              <a:rPr dirty="0" sz="1000">
                <a:latin typeface="Arial MT"/>
                <a:cs typeface="Arial MT"/>
              </a:rPr>
              <a:t>critical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applications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dirty="0" sz="1000">
                <a:latin typeface="Arial MT"/>
                <a:cs typeface="Arial MT"/>
              </a:rPr>
              <a:t>Used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organizations that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employ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disciplined </a:t>
            </a:r>
            <a:r>
              <a:rPr dirty="0" sz="1000" spc="-10">
                <a:latin typeface="Arial MT"/>
                <a:cs typeface="Arial MT"/>
              </a:rPr>
              <a:t>methods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dirty="0" sz="1000">
                <a:latin typeface="Arial MT"/>
                <a:cs typeface="Arial MT"/>
              </a:rPr>
              <a:t>Storm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called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Agile</a:t>
            </a:r>
            <a:endParaRPr sz="1000">
              <a:latin typeface="Arial MT"/>
              <a:cs typeface="Arial MT"/>
            </a:endParaRPr>
          </a:p>
          <a:p>
            <a:pPr marL="302895" marR="5080" indent="-113030">
              <a:lnSpc>
                <a:spcPts val="1080"/>
              </a:lnSpc>
              <a:spcBef>
                <a:spcPts val="380"/>
              </a:spcBef>
              <a:buChar char="•"/>
              <a:tabLst>
                <a:tab pos="304165" algn="l"/>
              </a:tabLst>
            </a:pPr>
            <a:r>
              <a:rPr dirty="0" sz="1000">
                <a:latin typeface="Arial MT"/>
                <a:cs typeface="Arial MT"/>
              </a:rPr>
              <a:t>According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VersionOne's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State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Report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2017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says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94%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organizations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practice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Agile,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2018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reported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97%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organizations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practice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agile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development</a:t>
            </a:r>
            <a:r>
              <a:rPr dirty="0" sz="1000" spc="-10">
                <a:latin typeface="Arial MT"/>
                <a:cs typeface="Arial MT"/>
              </a:rPr>
              <a:t> methods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2849" y="4875618"/>
            <a:ext cx="4785183" cy="3344238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5914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r>
              <a:rPr dirty="0" sz="16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2611755" cy="6445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dirty="0" sz="1000" spc="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–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Background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was formally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launched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2001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17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technologists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drafted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the</a:t>
            </a:r>
            <a:r>
              <a:rPr dirty="0" sz="900" spc="-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Agile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Manifesto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508" y="2268677"/>
            <a:ext cx="627037" cy="3762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4245" y="2268677"/>
            <a:ext cx="627037" cy="3762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3982" y="2268677"/>
            <a:ext cx="627037" cy="3762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3719" y="2268677"/>
            <a:ext cx="627037" cy="3762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3455" y="2268677"/>
            <a:ext cx="627037" cy="3762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3192" y="2268677"/>
            <a:ext cx="627037" cy="3762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508" y="2707589"/>
            <a:ext cx="627037" cy="3762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4245" y="2707589"/>
            <a:ext cx="627037" cy="37622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3982" y="2707589"/>
            <a:ext cx="627037" cy="3762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3719" y="2707589"/>
            <a:ext cx="627037" cy="37622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3455" y="2707589"/>
            <a:ext cx="627037" cy="37622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3192" y="2707589"/>
            <a:ext cx="627037" cy="376224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69313" y="3146501"/>
            <a:ext cx="627037" cy="376224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59050" y="3146501"/>
            <a:ext cx="627037" cy="376224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48786" y="3146501"/>
            <a:ext cx="627037" cy="376224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38523" y="3146501"/>
            <a:ext cx="627037" cy="376224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28260" y="3146501"/>
            <a:ext cx="627037" cy="376224"/>
          </a:xfrm>
          <a:prstGeom prst="rect">
            <a:avLst/>
          </a:prstGeom>
        </p:spPr>
      </p:pic>
      <p:graphicFrame>
        <p:nvGraphicFramePr>
          <p:cNvPr id="24" name="object 24" descr=""/>
          <p:cNvGraphicFramePr>
            <a:graphicFrameLocks noGrp="1"/>
          </p:cNvGraphicFramePr>
          <p:nvPr/>
        </p:nvGraphicFramePr>
        <p:xfrm>
          <a:off x="1524508" y="2268677"/>
          <a:ext cx="4152265" cy="1252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344805"/>
                <a:gridCol w="344805"/>
                <a:gridCol w="344805"/>
                <a:gridCol w="344805"/>
                <a:gridCol w="344805"/>
                <a:gridCol w="344805"/>
                <a:gridCol w="344805"/>
                <a:gridCol w="344804"/>
                <a:gridCol w="658495"/>
              </a:tblGrid>
              <a:tr h="4070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6680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Kent</a:t>
                      </a:r>
                      <a:r>
                        <a:rPr dirty="0" sz="750" spc="-2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Beck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16510"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Mike</a:t>
                      </a:r>
                      <a:r>
                        <a:rPr dirty="0" sz="750" spc="-4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Beedle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1651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19380" marR="112395" indent="5461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Arie</a:t>
                      </a:r>
                      <a:r>
                        <a:rPr dirty="0" sz="750" spc="-1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2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van</a:t>
                      </a:r>
                      <a:r>
                        <a:rPr dirty="0" sz="750" spc="5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Bennekum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40970" marR="133985" indent="609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Alistair</a:t>
                      </a:r>
                      <a:r>
                        <a:rPr dirty="0" sz="750" spc="5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Cockburn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74295" marR="64769" indent="15811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750" spc="-2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Ward</a:t>
                      </a:r>
                      <a:r>
                        <a:rPr dirty="0" sz="750" spc="5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Cunningham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5104" marR="165100" indent="-19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Martin</a:t>
                      </a:r>
                      <a:r>
                        <a:rPr dirty="0" sz="750" spc="5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Fowler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69215">
                    <a:lnL w="76200">
                      <a:solidFill>
                        <a:srgbClr val="FFFFFF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116839" marR="141605" indent="6858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750" spc="-2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James</a:t>
                      </a:r>
                      <a:r>
                        <a:rPr dirty="0" sz="750" spc="5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Grenning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100330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7000" marR="119380" indent="14732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750" spc="-2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Jim</a:t>
                      </a:r>
                      <a:r>
                        <a:rPr dirty="0" sz="750" spc="5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Highsmith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10033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6040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Andrew</a:t>
                      </a:r>
                      <a:r>
                        <a:rPr dirty="0" sz="750" spc="-3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2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Hunt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4762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Ron</a:t>
                      </a:r>
                      <a:r>
                        <a:rPr dirty="0" sz="750" spc="-4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Jeffries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4762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Jon</a:t>
                      </a:r>
                      <a:r>
                        <a:rPr dirty="0" sz="750" spc="-1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2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Kern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4762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Brian</a:t>
                      </a:r>
                      <a:r>
                        <a:rPr dirty="0" sz="750" spc="-4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Marick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47625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7034">
                <a:tc gridSpan="2"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Robert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2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C.</a:t>
                      </a:r>
                      <a:endParaRPr sz="750">
                        <a:latin typeface="Segoe UI"/>
                        <a:cs typeface="Segoe UI"/>
                      </a:endParaRPr>
                    </a:p>
                    <a:p>
                      <a:pPr marL="516890">
                        <a:lnSpc>
                          <a:spcPct val="100000"/>
                        </a:lnSpc>
                      </a:pP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Martin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100330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Steve</a:t>
                      </a:r>
                      <a:r>
                        <a:rPr dirty="0" sz="750" spc="-4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Mellor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4762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750" spc="-2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Ken</a:t>
                      </a:r>
                      <a:endParaRPr sz="750">
                        <a:latin typeface="Segoe UI"/>
                        <a:cs typeface="Segoe UI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Schwaber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10033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750" spc="-2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Jeff</a:t>
                      </a:r>
                      <a:endParaRPr sz="750">
                        <a:latin typeface="Segoe UI"/>
                        <a:cs typeface="Segoe U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Sutherland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10033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Dave</a:t>
                      </a:r>
                      <a:r>
                        <a:rPr dirty="0" sz="750" spc="-25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Thomas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B="0" marT="47625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833424" y="4977460"/>
            <a:ext cx="25495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dirty="0" sz="16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Points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28" name="object 28" descr=""/>
          <p:cNvSpPr txBox="1"/>
          <p:nvPr/>
        </p:nvSpPr>
        <p:spPr>
          <a:xfrm>
            <a:off x="673404" y="5473445"/>
            <a:ext cx="5614035" cy="249491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385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adapt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with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changing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requirement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90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Deliver 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working product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faster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conventional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linear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development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model</a:t>
            </a:r>
            <a:endParaRPr sz="1200">
              <a:latin typeface="Arial MT"/>
              <a:cs typeface="Arial MT"/>
            </a:endParaRPr>
          </a:p>
          <a:p>
            <a:pPr marL="127000" marR="17145" indent="-114300">
              <a:lnSpc>
                <a:spcPts val="1300"/>
              </a:lnSpc>
              <a:spcBef>
                <a:spcPts val="450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Customer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feedback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every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ensures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deliverable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satisfies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their expectations</a:t>
            </a:r>
            <a:endParaRPr sz="1200">
              <a:latin typeface="Arial MT"/>
              <a:cs typeface="Arial MT"/>
            </a:endParaRPr>
          </a:p>
          <a:p>
            <a:pPr marL="127000" marR="15875" indent="-114300">
              <a:lnSpc>
                <a:spcPts val="1300"/>
              </a:lnSpc>
              <a:spcBef>
                <a:spcPts val="420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No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guesswork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between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development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team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customer,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face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face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communication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continuous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inputs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client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Decrease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required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avail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system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features.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85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conducted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during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design</a:t>
            </a:r>
            <a:r>
              <a:rPr dirty="0" sz="1200" spc="-10">
                <a:latin typeface="Arial MT"/>
                <a:cs typeface="Arial MT"/>
              </a:rPr>
              <a:t> cycle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90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Fewer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risks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flexibilities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85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Modification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system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needs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time</a:t>
            </a:r>
            <a:endParaRPr sz="1200">
              <a:latin typeface="Arial MT"/>
              <a:cs typeface="Arial MT"/>
            </a:endParaRPr>
          </a:p>
          <a:p>
            <a:pPr marL="127000" marR="5080" indent="-114300">
              <a:lnSpc>
                <a:spcPts val="1300"/>
              </a:lnSpc>
              <a:spcBef>
                <a:spcPts val="450"/>
              </a:spcBef>
              <a:buChar char="•"/>
              <a:tabLst>
                <a:tab pos="127000" algn="l"/>
              </a:tabLst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result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high-</a:t>
            </a:r>
            <a:r>
              <a:rPr dirty="0" sz="1200">
                <a:latin typeface="Arial MT"/>
                <a:cs typeface="Arial MT"/>
              </a:rPr>
              <a:t>quality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software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least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possible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duration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satisfied customer.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299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Limitations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9818" y="1629816"/>
            <a:ext cx="5341620" cy="190055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340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More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Programmer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centric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than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user-</a:t>
            </a:r>
            <a:r>
              <a:rPr dirty="0" sz="1000" spc="-10">
                <a:latin typeface="Arial MT"/>
                <a:cs typeface="Arial MT"/>
              </a:rPr>
              <a:t>centric</a:t>
            </a:r>
            <a:endParaRPr sz="1000">
              <a:latin typeface="Arial MT"/>
              <a:cs typeface="Arial MT"/>
            </a:endParaRPr>
          </a:p>
          <a:p>
            <a:pPr marL="125730" marR="22225" indent="-113030">
              <a:lnSpc>
                <a:spcPts val="1080"/>
              </a:lnSpc>
              <a:spcBef>
                <a:spcPts val="375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larger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projects,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difficult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judge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efforts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time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required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project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 spc="-10">
                <a:latin typeface="Arial MT"/>
                <a:cs typeface="Arial MT"/>
              </a:rPr>
              <a:t>SDLC.</a:t>
            </a:r>
            <a:endParaRPr sz="1000">
              <a:latin typeface="Arial MT"/>
              <a:cs typeface="Arial MT"/>
            </a:endParaRPr>
          </a:p>
          <a:p>
            <a:pPr marL="125730" marR="5080" indent="-113030">
              <a:lnSpc>
                <a:spcPct val="90100"/>
              </a:lnSpc>
              <a:spcBef>
                <a:spcPts val="345"/>
              </a:spcBef>
              <a:buChar char="•"/>
              <a:tabLst>
                <a:tab pos="127000" algn="l"/>
              </a:tabLst>
            </a:pPr>
            <a:r>
              <a:rPr dirty="0" sz="1000">
                <a:latin typeface="Arial MT"/>
                <a:cs typeface="Arial MT"/>
              </a:rPr>
              <a:t>Since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requirements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are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ever-</a:t>
            </a:r>
            <a:r>
              <a:rPr dirty="0" sz="1000">
                <a:latin typeface="Arial MT"/>
                <a:cs typeface="Arial MT"/>
              </a:rPr>
              <a:t>changing,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there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hardly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emphasis,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which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laid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on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designing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0">
                <a:latin typeface="Arial MT"/>
                <a:cs typeface="Arial MT"/>
              </a:rPr>
              <a:t> documentation.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Therefore,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chances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project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going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off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track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easily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are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much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more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dirty="0" sz="1000" spc="-10">
                <a:latin typeface="Arial MT"/>
                <a:cs typeface="Arial MT"/>
              </a:rPr>
              <a:t>Scalability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ability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collaboration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customer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express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user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needs.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Documentation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done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later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stages.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Reduce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usability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components.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dirty="0" sz="1000">
                <a:latin typeface="Arial MT"/>
                <a:cs typeface="Arial MT"/>
              </a:rPr>
              <a:t>Needs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special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skills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team.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1019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Principles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32309"/>
            <a:ext cx="5259070" cy="2743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Twelve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Principles</a:t>
            </a:r>
            <a:endParaRPr sz="1000">
              <a:latin typeface="Arial"/>
              <a:cs typeface="Arial"/>
            </a:endParaRPr>
          </a:p>
          <a:p>
            <a:pPr marL="448945" indent="-172085">
              <a:lnSpc>
                <a:spcPts val="919"/>
              </a:lnSpc>
              <a:spcBef>
                <a:spcPts val="520"/>
              </a:spcBef>
              <a:buAutoNum type="arabicPeriod"/>
              <a:tabLst>
                <a:tab pos="448945" algn="l"/>
              </a:tabLst>
            </a:pPr>
            <a:r>
              <a:rPr dirty="0" sz="850">
                <a:latin typeface="Arial MT"/>
                <a:cs typeface="Arial MT"/>
              </a:rPr>
              <a:t>Our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highest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priority</a:t>
            </a:r>
            <a:r>
              <a:rPr dirty="0" sz="850" spc="-4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satisfy</a:t>
            </a:r>
            <a:r>
              <a:rPr dirty="0" sz="850" spc="-4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customer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through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early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continuous delivery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valuable</a:t>
            </a:r>
            <a:endParaRPr sz="850">
              <a:latin typeface="Arial MT"/>
              <a:cs typeface="Arial MT"/>
            </a:endParaRPr>
          </a:p>
          <a:p>
            <a:pPr marL="448945">
              <a:lnSpc>
                <a:spcPts val="919"/>
              </a:lnSpc>
            </a:pPr>
            <a:r>
              <a:rPr dirty="0" sz="850" spc="-10">
                <a:latin typeface="Arial MT"/>
                <a:cs typeface="Arial MT"/>
              </a:rPr>
              <a:t>software</a:t>
            </a:r>
            <a:endParaRPr sz="850">
              <a:latin typeface="Arial MT"/>
              <a:cs typeface="Arial MT"/>
            </a:endParaRPr>
          </a:p>
          <a:p>
            <a:pPr marL="447675" marR="6985" indent="-171450">
              <a:lnSpc>
                <a:spcPts val="819"/>
              </a:lnSpc>
              <a:spcBef>
                <a:spcPts val="290"/>
              </a:spcBef>
              <a:buAutoNum type="arabicPeriod" startAt="2"/>
              <a:tabLst>
                <a:tab pos="448945" algn="l"/>
              </a:tabLst>
            </a:pPr>
            <a:r>
              <a:rPr dirty="0" sz="850" spc="-10">
                <a:latin typeface="Arial MT"/>
                <a:cs typeface="Arial MT"/>
              </a:rPr>
              <a:t>Welcome</a:t>
            </a:r>
            <a:r>
              <a:rPr dirty="0" sz="850" spc="-5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changing</a:t>
            </a:r>
            <a:r>
              <a:rPr dirty="0" sz="850" spc="-10">
                <a:latin typeface="Arial MT"/>
                <a:cs typeface="Arial MT"/>
              </a:rPr>
              <a:t> requirements,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even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late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development.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Agile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processes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harness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change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the </a:t>
            </a:r>
            <a:r>
              <a:rPr dirty="0" sz="850" spc="-25">
                <a:latin typeface="Arial MT"/>
                <a:cs typeface="Arial MT"/>
              </a:rPr>
              <a:t>	</a:t>
            </a:r>
            <a:r>
              <a:rPr dirty="0" sz="850" spc="-10">
                <a:latin typeface="Arial MT"/>
                <a:cs typeface="Arial MT"/>
              </a:rPr>
              <a:t>customer's</a:t>
            </a:r>
            <a:r>
              <a:rPr dirty="0" sz="850" spc="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competitive</a:t>
            </a:r>
            <a:r>
              <a:rPr dirty="0" sz="850" spc="4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advantage</a:t>
            </a:r>
            <a:endParaRPr sz="850">
              <a:latin typeface="Arial MT"/>
              <a:cs typeface="Arial MT"/>
            </a:endParaRPr>
          </a:p>
          <a:p>
            <a:pPr marL="447675" marR="5080" indent="-171450">
              <a:lnSpc>
                <a:spcPct val="80000"/>
              </a:lnSpc>
              <a:spcBef>
                <a:spcPts val="315"/>
              </a:spcBef>
              <a:buAutoNum type="arabicPeriod" startAt="2"/>
              <a:tabLst>
                <a:tab pos="448945" algn="l"/>
              </a:tabLst>
            </a:pPr>
            <a:r>
              <a:rPr dirty="0" sz="850">
                <a:latin typeface="Arial MT"/>
                <a:cs typeface="Arial MT"/>
              </a:rPr>
              <a:t>Deliver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working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software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frequently,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from</a:t>
            </a:r>
            <a:r>
              <a:rPr dirty="0" sz="850" spc="-4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couple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weeks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couple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months,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with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preference </a:t>
            </a:r>
            <a:r>
              <a:rPr dirty="0" sz="850" spc="-10">
                <a:latin typeface="Arial MT"/>
                <a:cs typeface="Arial MT"/>
              </a:rPr>
              <a:t>	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shorter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timescale</a:t>
            </a:r>
            <a:endParaRPr sz="850">
              <a:latin typeface="Arial MT"/>
              <a:cs typeface="Arial MT"/>
            </a:endParaRPr>
          </a:p>
          <a:p>
            <a:pPr marL="448309" indent="-17145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448309" algn="l"/>
              </a:tabLst>
            </a:pPr>
            <a:r>
              <a:rPr dirty="0" sz="850">
                <a:latin typeface="Arial MT"/>
                <a:cs typeface="Arial MT"/>
              </a:rPr>
              <a:t>Business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people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developers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must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work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together </a:t>
            </a:r>
            <a:r>
              <a:rPr dirty="0" sz="850">
                <a:latin typeface="Arial MT"/>
                <a:cs typeface="Arial MT"/>
              </a:rPr>
              <a:t>daily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throughout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project</a:t>
            </a:r>
            <a:endParaRPr sz="850">
              <a:latin typeface="Arial MT"/>
              <a:cs typeface="Arial MT"/>
            </a:endParaRPr>
          </a:p>
          <a:p>
            <a:pPr marL="447675" marR="48260" indent="-171450">
              <a:lnSpc>
                <a:spcPts val="819"/>
              </a:lnSpc>
              <a:spcBef>
                <a:spcPts val="305"/>
              </a:spcBef>
              <a:buAutoNum type="arabicPeriod" startAt="2"/>
              <a:tabLst>
                <a:tab pos="448945" algn="l"/>
              </a:tabLst>
            </a:pPr>
            <a:r>
              <a:rPr dirty="0" sz="850">
                <a:latin typeface="Arial MT"/>
                <a:cs typeface="Arial MT"/>
              </a:rPr>
              <a:t>Build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projects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around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motivated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individuals.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Give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them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environment</a:t>
            </a:r>
            <a:r>
              <a:rPr dirty="0" sz="850">
                <a:latin typeface="Arial MT"/>
                <a:cs typeface="Arial MT"/>
              </a:rPr>
              <a:t> and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support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they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need,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and </a:t>
            </a:r>
            <a:r>
              <a:rPr dirty="0" sz="850" spc="-25">
                <a:latin typeface="Arial MT"/>
                <a:cs typeface="Arial MT"/>
              </a:rPr>
              <a:t>	</a:t>
            </a:r>
            <a:r>
              <a:rPr dirty="0" sz="850">
                <a:latin typeface="Arial MT"/>
                <a:cs typeface="Arial MT"/>
              </a:rPr>
              <a:t>trust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them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get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job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done</a:t>
            </a:r>
            <a:endParaRPr sz="850">
              <a:latin typeface="Arial MT"/>
              <a:cs typeface="Arial MT"/>
            </a:endParaRPr>
          </a:p>
          <a:p>
            <a:pPr marL="447675" marR="68580" indent="-171450">
              <a:lnSpc>
                <a:spcPts val="819"/>
              </a:lnSpc>
              <a:spcBef>
                <a:spcPts val="290"/>
              </a:spcBef>
              <a:buAutoNum type="arabicPeriod" startAt="2"/>
              <a:tabLst>
                <a:tab pos="448945" algn="l"/>
              </a:tabLst>
            </a:pP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most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efficient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effective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method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conveying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information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within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development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team </a:t>
            </a:r>
            <a:r>
              <a:rPr dirty="0" sz="850" spc="-20">
                <a:latin typeface="Arial MT"/>
                <a:cs typeface="Arial MT"/>
              </a:rPr>
              <a:t>	</a:t>
            </a:r>
            <a:r>
              <a:rPr dirty="0" sz="850">
                <a:latin typeface="Arial MT"/>
                <a:cs typeface="Arial MT"/>
              </a:rPr>
              <a:t>is </a:t>
            </a:r>
            <a:r>
              <a:rPr dirty="0" sz="850" spc="-10">
                <a:latin typeface="Arial MT"/>
                <a:cs typeface="Arial MT"/>
              </a:rPr>
              <a:t>face-to-</a:t>
            </a:r>
            <a:r>
              <a:rPr dirty="0" sz="850">
                <a:latin typeface="Arial MT"/>
                <a:cs typeface="Arial MT"/>
              </a:rPr>
              <a:t>face </a:t>
            </a:r>
            <a:r>
              <a:rPr dirty="0" sz="850" spc="-10">
                <a:latin typeface="Arial MT"/>
                <a:cs typeface="Arial MT"/>
              </a:rPr>
              <a:t>conversation</a:t>
            </a:r>
            <a:endParaRPr sz="850">
              <a:latin typeface="Arial MT"/>
              <a:cs typeface="Arial MT"/>
            </a:endParaRPr>
          </a:p>
          <a:p>
            <a:pPr marL="448309" indent="-171450">
              <a:lnSpc>
                <a:spcPct val="100000"/>
              </a:lnSpc>
              <a:spcBef>
                <a:spcPts val="110"/>
              </a:spcBef>
              <a:buAutoNum type="arabicPeriod" startAt="2"/>
              <a:tabLst>
                <a:tab pos="448309" algn="l"/>
              </a:tabLst>
            </a:pPr>
            <a:r>
              <a:rPr dirty="0" sz="850" spc="-10">
                <a:latin typeface="Arial MT"/>
                <a:cs typeface="Arial MT"/>
              </a:rPr>
              <a:t>Working</a:t>
            </a:r>
            <a:r>
              <a:rPr dirty="0" sz="850" spc="-5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software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primary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measure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progress</a:t>
            </a:r>
            <a:endParaRPr sz="850">
              <a:latin typeface="Arial MT"/>
              <a:cs typeface="Arial MT"/>
            </a:endParaRPr>
          </a:p>
          <a:p>
            <a:pPr marL="448309" indent="-171450">
              <a:lnSpc>
                <a:spcPts val="919"/>
              </a:lnSpc>
              <a:spcBef>
                <a:spcPts val="95"/>
              </a:spcBef>
              <a:buAutoNum type="arabicPeriod" startAt="2"/>
              <a:tabLst>
                <a:tab pos="448309" algn="l"/>
              </a:tabLst>
            </a:pPr>
            <a:r>
              <a:rPr dirty="0" sz="850">
                <a:latin typeface="Arial MT"/>
                <a:cs typeface="Arial MT"/>
              </a:rPr>
              <a:t>Agile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processes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promote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sustainable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development.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sponsors,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developers,</a:t>
            </a:r>
            <a:r>
              <a:rPr dirty="0" sz="850">
                <a:latin typeface="Arial MT"/>
                <a:cs typeface="Arial MT"/>
              </a:rPr>
              <a:t> and users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should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be</a:t>
            </a:r>
            <a:endParaRPr sz="850">
              <a:latin typeface="Arial MT"/>
              <a:cs typeface="Arial MT"/>
            </a:endParaRPr>
          </a:p>
          <a:p>
            <a:pPr marL="448945">
              <a:lnSpc>
                <a:spcPts val="919"/>
              </a:lnSpc>
            </a:pPr>
            <a:r>
              <a:rPr dirty="0" sz="850">
                <a:latin typeface="Arial MT"/>
                <a:cs typeface="Arial MT"/>
              </a:rPr>
              <a:t>able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maintain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constant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pace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indefinitely</a:t>
            </a:r>
            <a:endParaRPr sz="850">
              <a:latin typeface="Arial MT"/>
              <a:cs typeface="Arial MT"/>
            </a:endParaRPr>
          </a:p>
          <a:p>
            <a:pPr marL="448309" indent="-171450">
              <a:lnSpc>
                <a:spcPct val="100000"/>
              </a:lnSpc>
              <a:spcBef>
                <a:spcPts val="110"/>
              </a:spcBef>
              <a:buAutoNum type="arabicPeriod" startAt="9"/>
              <a:tabLst>
                <a:tab pos="448309" algn="l"/>
              </a:tabLst>
            </a:pPr>
            <a:r>
              <a:rPr dirty="0" sz="850" spc="-10">
                <a:latin typeface="Arial MT"/>
                <a:cs typeface="Arial MT"/>
              </a:rPr>
              <a:t>Continuous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attention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5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technical</a:t>
            </a:r>
            <a:r>
              <a:rPr dirty="0" sz="850" spc="-4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excellence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good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design</a:t>
            </a:r>
            <a:r>
              <a:rPr dirty="0" sz="850" spc="-4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enhances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agility</a:t>
            </a:r>
            <a:endParaRPr sz="850">
              <a:latin typeface="Arial MT"/>
              <a:cs typeface="Arial MT"/>
            </a:endParaRPr>
          </a:p>
          <a:p>
            <a:pPr marL="447675" indent="-170815">
              <a:lnSpc>
                <a:spcPct val="100000"/>
              </a:lnSpc>
              <a:spcBef>
                <a:spcPts val="95"/>
              </a:spcBef>
              <a:buAutoNum type="arabicPeriod" startAt="9"/>
              <a:tabLst>
                <a:tab pos="447675" algn="l"/>
              </a:tabLst>
            </a:pPr>
            <a:r>
              <a:rPr dirty="0" sz="850" spc="-10">
                <a:latin typeface="Arial MT"/>
                <a:cs typeface="Arial MT"/>
              </a:rPr>
              <a:t>Simplicity--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art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maximizing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amount of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work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not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done--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essential</a:t>
            </a:r>
            <a:endParaRPr sz="850">
              <a:latin typeface="Arial MT"/>
              <a:cs typeface="Arial MT"/>
            </a:endParaRPr>
          </a:p>
          <a:p>
            <a:pPr marL="447675" indent="-170815">
              <a:lnSpc>
                <a:spcPct val="100000"/>
              </a:lnSpc>
              <a:spcBef>
                <a:spcPts val="110"/>
              </a:spcBef>
              <a:buAutoNum type="arabicPeriod" startAt="9"/>
              <a:tabLst>
                <a:tab pos="447675" algn="l"/>
              </a:tabLst>
            </a:pP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best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architectures,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requirements,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designs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emerge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from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self-</a:t>
            </a:r>
            <a:r>
              <a:rPr dirty="0" sz="850" spc="-10">
                <a:latin typeface="Arial MT"/>
                <a:cs typeface="Arial MT"/>
              </a:rPr>
              <a:t>organizing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teams</a:t>
            </a:r>
            <a:endParaRPr sz="850">
              <a:latin typeface="Arial MT"/>
              <a:cs typeface="Arial MT"/>
            </a:endParaRPr>
          </a:p>
          <a:p>
            <a:pPr marL="447040" marR="132080" indent="-170815">
              <a:lnSpc>
                <a:spcPts val="819"/>
              </a:lnSpc>
              <a:spcBef>
                <a:spcPts val="290"/>
              </a:spcBef>
              <a:buAutoNum type="arabicPeriod" startAt="9"/>
              <a:tabLst>
                <a:tab pos="448945" algn="l"/>
              </a:tabLst>
            </a:pPr>
            <a:r>
              <a:rPr dirty="0" sz="850">
                <a:latin typeface="Arial MT"/>
                <a:cs typeface="Arial MT"/>
              </a:rPr>
              <a:t>At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regular</a:t>
            </a:r>
            <a:r>
              <a:rPr dirty="0" sz="850" spc="-10">
                <a:latin typeface="Arial MT"/>
                <a:cs typeface="Arial MT"/>
              </a:rPr>
              <a:t> intervals,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team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reflects</a:t>
            </a:r>
            <a:r>
              <a:rPr dirty="0" sz="850" spc="-4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how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become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more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effective,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tunes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adjusts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its </a:t>
            </a:r>
            <a:r>
              <a:rPr dirty="0" sz="850" spc="-25">
                <a:latin typeface="Arial MT"/>
                <a:cs typeface="Arial MT"/>
              </a:rPr>
              <a:t>	</a:t>
            </a:r>
            <a:r>
              <a:rPr dirty="0" sz="850" spc="-10">
                <a:latin typeface="Arial MT"/>
                <a:cs typeface="Arial MT"/>
              </a:rPr>
              <a:t>behavior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accordingly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742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Pillars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432305"/>
            <a:ext cx="10407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dirty="0" sz="1000" spc="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focuses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714625" y="1637792"/>
            <a:ext cx="1428750" cy="571500"/>
            <a:chOff x="2714625" y="1637792"/>
            <a:chExt cx="1428750" cy="571500"/>
          </a:xfrm>
        </p:grpSpPr>
        <p:sp>
          <p:nvSpPr>
            <p:cNvPr id="8" name="object 8" descr=""/>
            <p:cNvSpPr/>
            <p:nvPr/>
          </p:nvSpPr>
          <p:spPr>
            <a:xfrm>
              <a:off x="2714625" y="1637792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285750" y="0"/>
                  </a:moveTo>
                  <a:lnTo>
                    <a:pt x="0" y="238125"/>
                  </a:lnTo>
                  <a:lnTo>
                    <a:pt x="285750" y="476250"/>
                  </a:lnTo>
                  <a:lnTo>
                    <a:pt x="285750" y="381000"/>
                  </a:lnTo>
                  <a:lnTo>
                    <a:pt x="669671" y="381000"/>
                  </a:lnTo>
                  <a:lnTo>
                    <a:pt x="669671" y="452500"/>
                  </a:lnTo>
                  <a:lnTo>
                    <a:pt x="673191" y="461730"/>
                  </a:lnTo>
                  <a:lnTo>
                    <a:pt x="682783" y="469280"/>
                  </a:lnTo>
                  <a:lnTo>
                    <a:pt x="696995" y="474378"/>
                  </a:lnTo>
                  <a:lnTo>
                    <a:pt x="714375" y="476250"/>
                  </a:lnTo>
                  <a:lnTo>
                    <a:pt x="1143000" y="476250"/>
                  </a:lnTo>
                  <a:lnTo>
                    <a:pt x="1143000" y="571500"/>
                  </a:lnTo>
                  <a:lnTo>
                    <a:pt x="1428750" y="333375"/>
                  </a:lnTo>
                  <a:lnTo>
                    <a:pt x="1143000" y="95250"/>
                  </a:lnTo>
                  <a:lnTo>
                    <a:pt x="1143000" y="190500"/>
                  </a:lnTo>
                  <a:lnTo>
                    <a:pt x="714375" y="190500"/>
                  </a:lnTo>
                  <a:lnTo>
                    <a:pt x="696995" y="188628"/>
                  </a:lnTo>
                  <a:lnTo>
                    <a:pt x="682783" y="183530"/>
                  </a:lnTo>
                  <a:lnTo>
                    <a:pt x="673191" y="175980"/>
                  </a:lnTo>
                  <a:lnTo>
                    <a:pt x="669671" y="166750"/>
                  </a:lnTo>
                  <a:lnTo>
                    <a:pt x="673191" y="157448"/>
                  </a:lnTo>
                  <a:lnTo>
                    <a:pt x="682783" y="149860"/>
                  </a:lnTo>
                  <a:lnTo>
                    <a:pt x="696995" y="144748"/>
                  </a:lnTo>
                  <a:lnTo>
                    <a:pt x="731754" y="141003"/>
                  </a:lnTo>
                  <a:lnTo>
                    <a:pt x="745966" y="135905"/>
                  </a:lnTo>
                  <a:lnTo>
                    <a:pt x="755558" y="128355"/>
                  </a:lnTo>
                  <a:lnTo>
                    <a:pt x="759078" y="119125"/>
                  </a:lnTo>
                  <a:lnTo>
                    <a:pt x="755558" y="109823"/>
                  </a:lnTo>
                  <a:lnTo>
                    <a:pt x="745966" y="102235"/>
                  </a:lnTo>
                  <a:lnTo>
                    <a:pt x="731754" y="97123"/>
                  </a:lnTo>
                  <a:lnTo>
                    <a:pt x="714375" y="95250"/>
                  </a:lnTo>
                  <a:lnTo>
                    <a:pt x="28575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1120" y="1756918"/>
              <a:ext cx="95757" cy="261874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2875533" y="1780413"/>
            <a:ext cx="492125" cy="1816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66040" marR="5080" indent="-53340">
              <a:lnSpc>
                <a:spcPts val="560"/>
              </a:lnSpc>
              <a:spcBef>
                <a:spcPts val="200"/>
              </a:spcBef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Individuals</a:t>
            </a:r>
            <a:r>
              <a:rPr dirty="0" sz="5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5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interactions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62654" y="1871852"/>
            <a:ext cx="489584" cy="1816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70815" marR="5080" indent="-158750">
              <a:lnSpc>
                <a:spcPts val="560"/>
              </a:lnSpc>
              <a:spcBef>
                <a:spcPts val="200"/>
              </a:spcBef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Processes</a:t>
            </a:r>
            <a:r>
              <a:rPr dirty="0" sz="550" spc="-25">
                <a:solidFill>
                  <a:srgbClr val="FFFFFF"/>
                </a:solidFill>
                <a:latin typeface="Arial MT"/>
                <a:cs typeface="Arial MT"/>
              </a:rPr>
              <a:t> and</a:t>
            </a:r>
            <a:r>
              <a:rPr dirty="0" sz="5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tools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714625" y="2248154"/>
            <a:ext cx="1428750" cy="571500"/>
            <a:chOff x="2714625" y="2248154"/>
            <a:chExt cx="1428750" cy="571500"/>
          </a:xfrm>
        </p:grpSpPr>
        <p:sp>
          <p:nvSpPr>
            <p:cNvPr id="13" name="object 13" descr=""/>
            <p:cNvSpPr/>
            <p:nvPr/>
          </p:nvSpPr>
          <p:spPr>
            <a:xfrm>
              <a:off x="2714625" y="2248154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285750" y="0"/>
                  </a:moveTo>
                  <a:lnTo>
                    <a:pt x="0" y="238125"/>
                  </a:lnTo>
                  <a:lnTo>
                    <a:pt x="285750" y="476250"/>
                  </a:lnTo>
                  <a:lnTo>
                    <a:pt x="285750" y="381000"/>
                  </a:lnTo>
                  <a:lnTo>
                    <a:pt x="669671" y="381000"/>
                  </a:lnTo>
                  <a:lnTo>
                    <a:pt x="669671" y="452374"/>
                  </a:lnTo>
                  <a:lnTo>
                    <a:pt x="673191" y="461676"/>
                  </a:lnTo>
                  <a:lnTo>
                    <a:pt x="682783" y="469265"/>
                  </a:lnTo>
                  <a:lnTo>
                    <a:pt x="696995" y="474376"/>
                  </a:lnTo>
                  <a:lnTo>
                    <a:pt x="714375" y="476250"/>
                  </a:lnTo>
                  <a:lnTo>
                    <a:pt x="1143000" y="476250"/>
                  </a:lnTo>
                  <a:lnTo>
                    <a:pt x="1143000" y="571500"/>
                  </a:lnTo>
                  <a:lnTo>
                    <a:pt x="1428750" y="333375"/>
                  </a:lnTo>
                  <a:lnTo>
                    <a:pt x="1143000" y="95250"/>
                  </a:lnTo>
                  <a:lnTo>
                    <a:pt x="1143000" y="190500"/>
                  </a:lnTo>
                  <a:lnTo>
                    <a:pt x="714375" y="190500"/>
                  </a:lnTo>
                  <a:lnTo>
                    <a:pt x="696995" y="188626"/>
                  </a:lnTo>
                  <a:lnTo>
                    <a:pt x="682783" y="183514"/>
                  </a:lnTo>
                  <a:lnTo>
                    <a:pt x="673191" y="175926"/>
                  </a:lnTo>
                  <a:lnTo>
                    <a:pt x="669671" y="166624"/>
                  </a:lnTo>
                  <a:lnTo>
                    <a:pt x="673191" y="157394"/>
                  </a:lnTo>
                  <a:lnTo>
                    <a:pt x="682783" y="149844"/>
                  </a:lnTo>
                  <a:lnTo>
                    <a:pt x="696995" y="144746"/>
                  </a:lnTo>
                  <a:lnTo>
                    <a:pt x="731754" y="141001"/>
                  </a:lnTo>
                  <a:lnTo>
                    <a:pt x="745966" y="135889"/>
                  </a:lnTo>
                  <a:lnTo>
                    <a:pt x="755558" y="128301"/>
                  </a:lnTo>
                  <a:lnTo>
                    <a:pt x="759078" y="118999"/>
                  </a:lnTo>
                  <a:lnTo>
                    <a:pt x="755558" y="109769"/>
                  </a:lnTo>
                  <a:lnTo>
                    <a:pt x="745966" y="102219"/>
                  </a:lnTo>
                  <a:lnTo>
                    <a:pt x="731754" y="97121"/>
                  </a:lnTo>
                  <a:lnTo>
                    <a:pt x="714375" y="95250"/>
                  </a:lnTo>
                  <a:lnTo>
                    <a:pt x="28575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1120" y="2367153"/>
              <a:ext cx="95757" cy="2620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2965450" y="2382393"/>
            <a:ext cx="313055" cy="1962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 indent="2540">
              <a:lnSpc>
                <a:spcPts val="620"/>
              </a:lnSpc>
              <a:spcBef>
                <a:spcPts val="200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Working</a:t>
            </a:r>
            <a:r>
              <a:rPr dirty="0"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27603" y="2473832"/>
            <a:ext cx="560070" cy="196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7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Comprehensive</a:t>
            </a:r>
            <a:endParaRPr sz="600">
              <a:latin typeface="Arial MT"/>
              <a:cs typeface="Arial MT"/>
            </a:endParaRPr>
          </a:p>
          <a:p>
            <a:pPr marL="29209">
              <a:lnSpc>
                <a:spcPts val="670"/>
              </a:lnSpc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documentation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705607" y="2816479"/>
            <a:ext cx="1435100" cy="577850"/>
            <a:chOff x="2705607" y="2816479"/>
            <a:chExt cx="1435100" cy="577850"/>
          </a:xfrm>
        </p:grpSpPr>
        <p:sp>
          <p:nvSpPr>
            <p:cNvPr id="18" name="object 18" descr=""/>
            <p:cNvSpPr/>
            <p:nvPr/>
          </p:nvSpPr>
          <p:spPr>
            <a:xfrm>
              <a:off x="2708782" y="2819654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285750" y="0"/>
                  </a:moveTo>
                  <a:lnTo>
                    <a:pt x="0" y="238125"/>
                  </a:lnTo>
                  <a:lnTo>
                    <a:pt x="285750" y="476250"/>
                  </a:lnTo>
                  <a:lnTo>
                    <a:pt x="285750" y="381000"/>
                  </a:lnTo>
                  <a:lnTo>
                    <a:pt x="669670" y="381000"/>
                  </a:lnTo>
                  <a:lnTo>
                    <a:pt x="669670" y="452374"/>
                  </a:lnTo>
                  <a:lnTo>
                    <a:pt x="673191" y="461676"/>
                  </a:lnTo>
                  <a:lnTo>
                    <a:pt x="682783" y="469265"/>
                  </a:lnTo>
                  <a:lnTo>
                    <a:pt x="696995" y="474376"/>
                  </a:lnTo>
                  <a:lnTo>
                    <a:pt x="714375" y="476250"/>
                  </a:lnTo>
                  <a:lnTo>
                    <a:pt x="1143000" y="476250"/>
                  </a:lnTo>
                  <a:lnTo>
                    <a:pt x="1143000" y="571500"/>
                  </a:lnTo>
                  <a:lnTo>
                    <a:pt x="1428750" y="333375"/>
                  </a:lnTo>
                  <a:lnTo>
                    <a:pt x="1143000" y="95250"/>
                  </a:lnTo>
                  <a:lnTo>
                    <a:pt x="1143000" y="190500"/>
                  </a:lnTo>
                  <a:lnTo>
                    <a:pt x="714375" y="190500"/>
                  </a:lnTo>
                  <a:lnTo>
                    <a:pt x="696995" y="188626"/>
                  </a:lnTo>
                  <a:lnTo>
                    <a:pt x="682783" y="183515"/>
                  </a:lnTo>
                  <a:lnTo>
                    <a:pt x="673191" y="175926"/>
                  </a:lnTo>
                  <a:lnTo>
                    <a:pt x="669670" y="166624"/>
                  </a:lnTo>
                  <a:lnTo>
                    <a:pt x="673191" y="157394"/>
                  </a:lnTo>
                  <a:lnTo>
                    <a:pt x="682783" y="149844"/>
                  </a:lnTo>
                  <a:lnTo>
                    <a:pt x="696995" y="144746"/>
                  </a:lnTo>
                  <a:lnTo>
                    <a:pt x="731734" y="141001"/>
                  </a:lnTo>
                  <a:lnTo>
                    <a:pt x="745902" y="135890"/>
                  </a:lnTo>
                  <a:lnTo>
                    <a:pt x="755451" y="128301"/>
                  </a:lnTo>
                  <a:lnTo>
                    <a:pt x="758952" y="118999"/>
                  </a:lnTo>
                  <a:lnTo>
                    <a:pt x="755451" y="109769"/>
                  </a:lnTo>
                  <a:lnTo>
                    <a:pt x="745902" y="102219"/>
                  </a:lnTo>
                  <a:lnTo>
                    <a:pt x="731734" y="97121"/>
                  </a:lnTo>
                  <a:lnTo>
                    <a:pt x="714375" y="95250"/>
                  </a:lnTo>
                  <a:lnTo>
                    <a:pt x="28575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78453" y="2938653"/>
              <a:ext cx="89281" cy="7150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708782" y="2819654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0" y="238125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714375" y="95250"/>
                  </a:lnTo>
                  <a:lnTo>
                    <a:pt x="731734" y="97121"/>
                  </a:lnTo>
                  <a:lnTo>
                    <a:pt x="745902" y="102219"/>
                  </a:lnTo>
                  <a:lnTo>
                    <a:pt x="755451" y="109769"/>
                  </a:lnTo>
                  <a:lnTo>
                    <a:pt x="758952" y="118999"/>
                  </a:lnTo>
                  <a:lnTo>
                    <a:pt x="755451" y="128301"/>
                  </a:lnTo>
                  <a:lnTo>
                    <a:pt x="745902" y="135890"/>
                  </a:lnTo>
                  <a:lnTo>
                    <a:pt x="731734" y="141001"/>
                  </a:lnTo>
                  <a:lnTo>
                    <a:pt x="714375" y="142875"/>
                  </a:lnTo>
                  <a:lnTo>
                    <a:pt x="696995" y="144746"/>
                  </a:lnTo>
                  <a:lnTo>
                    <a:pt x="682783" y="149844"/>
                  </a:lnTo>
                  <a:lnTo>
                    <a:pt x="673191" y="157394"/>
                  </a:lnTo>
                  <a:lnTo>
                    <a:pt x="669670" y="166624"/>
                  </a:lnTo>
                  <a:lnTo>
                    <a:pt x="673191" y="175926"/>
                  </a:lnTo>
                  <a:lnTo>
                    <a:pt x="682783" y="183515"/>
                  </a:lnTo>
                  <a:lnTo>
                    <a:pt x="696995" y="188626"/>
                  </a:lnTo>
                  <a:lnTo>
                    <a:pt x="714375" y="190500"/>
                  </a:lnTo>
                  <a:lnTo>
                    <a:pt x="1143000" y="190500"/>
                  </a:lnTo>
                  <a:lnTo>
                    <a:pt x="1143000" y="95250"/>
                  </a:lnTo>
                  <a:lnTo>
                    <a:pt x="1428750" y="333375"/>
                  </a:lnTo>
                  <a:lnTo>
                    <a:pt x="1143000" y="571500"/>
                  </a:lnTo>
                  <a:lnTo>
                    <a:pt x="1143000" y="476250"/>
                  </a:lnTo>
                  <a:lnTo>
                    <a:pt x="714375" y="476250"/>
                  </a:lnTo>
                  <a:lnTo>
                    <a:pt x="696995" y="474376"/>
                  </a:lnTo>
                  <a:lnTo>
                    <a:pt x="682783" y="469265"/>
                  </a:lnTo>
                  <a:lnTo>
                    <a:pt x="673191" y="461676"/>
                  </a:lnTo>
                  <a:lnTo>
                    <a:pt x="669670" y="452374"/>
                  </a:lnTo>
                  <a:lnTo>
                    <a:pt x="669670" y="381000"/>
                  </a:lnTo>
                  <a:lnTo>
                    <a:pt x="285750" y="381000"/>
                  </a:lnTo>
                  <a:lnTo>
                    <a:pt x="285750" y="476250"/>
                  </a:lnTo>
                  <a:lnTo>
                    <a:pt x="0" y="238125"/>
                  </a:lnTo>
                  <a:close/>
                </a:path>
                <a:path w="1428750" h="571500">
                  <a:moveTo>
                    <a:pt x="758952" y="118999"/>
                  </a:moveTo>
                  <a:lnTo>
                    <a:pt x="758952" y="190500"/>
                  </a:lnTo>
                </a:path>
                <a:path w="1428750" h="571500">
                  <a:moveTo>
                    <a:pt x="669670" y="166624"/>
                  </a:moveTo>
                  <a:lnTo>
                    <a:pt x="669670" y="38100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875914" y="2954273"/>
            <a:ext cx="478790" cy="1962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 indent="62230">
              <a:lnSpc>
                <a:spcPts val="620"/>
              </a:lnSpc>
              <a:spcBef>
                <a:spcPts val="204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dirty="0"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Collaboration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501009" y="3045714"/>
            <a:ext cx="402590" cy="1962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 indent="43815">
              <a:lnSpc>
                <a:spcPts val="620"/>
              </a:lnSpc>
              <a:spcBef>
                <a:spcPts val="204"/>
              </a:spcBef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Contract</a:t>
            </a:r>
            <a:r>
              <a:rPr dirty="0"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negotiation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698495" y="3429889"/>
            <a:ext cx="1428750" cy="571500"/>
            <a:chOff x="2698495" y="3429889"/>
            <a:chExt cx="1428750" cy="571500"/>
          </a:xfrm>
        </p:grpSpPr>
        <p:sp>
          <p:nvSpPr>
            <p:cNvPr id="24" name="object 24" descr=""/>
            <p:cNvSpPr/>
            <p:nvPr/>
          </p:nvSpPr>
          <p:spPr>
            <a:xfrm>
              <a:off x="2698495" y="3429889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285750" y="0"/>
                  </a:moveTo>
                  <a:lnTo>
                    <a:pt x="0" y="238125"/>
                  </a:lnTo>
                  <a:lnTo>
                    <a:pt x="285750" y="476250"/>
                  </a:lnTo>
                  <a:lnTo>
                    <a:pt x="285750" y="381000"/>
                  </a:lnTo>
                  <a:lnTo>
                    <a:pt x="669798" y="381000"/>
                  </a:lnTo>
                  <a:lnTo>
                    <a:pt x="669798" y="452500"/>
                  </a:lnTo>
                  <a:lnTo>
                    <a:pt x="673298" y="461730"/>
                  </a:lnTo>
                  <a:lnTo>
                    <a:pt x="682847" y="469280"/>
                  </a:lnTo>
                  <a:lnTo>
                    <a:pt x="697015" y="474378"/>
                  </a:lnTo>
                  <a:lnTo>
                    <a:pt x="714375" y="476250"/>
                  </a:lnTo>
                  <a:lnTo>
                    <a:pt x="1143000" y="476250"/>
                  </a:lnTo>
                  <a:lnTo>
                    <a:pt x="1143000" y="571500"/>
                  </a:lnTo>
                  <a:lnTo>
                    <a:pt x="1428750" y="333375"/>
                  </a:lnTo>
                  <a:lnTo>
                    <a:pt x="1143000" y="95250"/>
                  </a:lnTo>
                  <a:lnTo>
                    <a:pt x="1143000" y="190500"/>
                  </a:lnTo>
                  <a:lnTo>
                    <a:pt x="714375" y="190500"/>
                  </a:lnTo>
                  <a:lnTo>
                    <a:pt x="697015" y="188628"/>
                  </a:lnTo>
                  <a:lnTo>
                    <a:pt x="682847" y="183530"/>
                  </a:lnTo>
                  <a:lnTo>
                    <a:pt x="673298" y="175980"/>
                  </a:lnTo>
                  <a:lnTo>
                    <a:pt x="669798" y="166750"/>
                  </a:lnTo>
                  <a:lnTo>
                    <a:pt x="673298" y="157448"/>
                  </a:lnTo>
                  <a:lnTo>
                    <a:pt x="682847" y="149860"/>
                  </a:lnTo>
                  <a:lnTo>
                    <a:pt x="697015" y="144748"/>
                  </a:lnTo>
                  <a:lnTo>
                    <a:pt x="731754" y="141003"/>
                  </a:lnTo>
                  <a:lnTo>
                    <a:pt x="745966" y="135905"/>
                  </a:lnTo>
                  <a:lnTo>
                    <a:pt x="755558" y="128355"/>
                  </a:lnTo>
                  <a:lnTo>
                    <a:pt x="759079" y="119125"/>
                  </a:lnTo>
                  <a:lnTo>
                    <a:pt x="755558" y="109823"/>
                  </a:lnTo>
                  <a:lnTo>
                    <a:pt x="745966" y="102235"/>
                  </a:lnTo>
                  <a:lnTo>
                    <a:pt x="731754" y="97123"/>
                  </a:lnTo>
                  <a:lnTo>
                    <a:pt x="714375" y="95250"/>
                  </a:lnTo>
                  <a:lnTo>
                    <a:pt x="28575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65118" y="3549015"/>
              <a:ext cx="95630" cy="261874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2874645" y="3558032"/>
            <a:ext cx="462915" cy="20955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52069" marR="5080" indent="-40005">
              <a:lnSpc>
                <a:spcPts val="670"/>
              </a:lnSpc>
              <a:spcBef>
                <a:spcPts val="210"/>
              </a:spcBef>
            </a:pPr>
            <a:r>
              <a:rPr dirty="0" sz="650" spc="-10">
                <a:solidFill>
                  <a:srgbClr val="FFFFFF"/>
                </a:solidFill>
                <a:latin typeface="Arial MT"/>
                <a:cs typeface="Arial MT"/>
              </a:rPr>
              <a:t>Responding</a:t>
            </a:r>
            <a:r>
              <a:rPr dirty="0" sz="6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650" spc="-10">
                <a:solidFill>
                  <a:srgbClr val="FFFFFF"/>
                </a:solidFill>
                <a:latin typeface="Arial MT"/>
                <a:cs typeface="Arial MT"/>
              </a:rPr>
              <a:t> change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470909" y="3649471"/>
            <a:ext cx="443230" cy="20955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43510" marR="5080" indent="-131445">
              <a:lnSpc>
                <a:spcPts val="670"/>
              </a:lnSpc>
              <a:spcBef>
                <a:spcPts val="210"/>
              </a:spcBef>
            </a:pPr>
            <a:r>
              <a:rPr dirty="0" sz="650" spc="-10">
                <a:solidFill>
                  <a:srgbClr val="FFFFFF"/>
                </a:solidFill>
                <a:latin typeface="Arial MT"/>
                <a:cs typeface="Arial MT"/>
              </a:rPr>
              <a:t>Following</a:t>
            </a:r>
            <a:r>
              <a:rPr dirty="0" sz="6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50" spc="-5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6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Arial MT"/>
                <a:cs typeface="Arial MT"/>
              </a:rPr>
              <a:t>plan</a:t>
            </a:r>
            <a:endParaRPr sz="650">
              <a:latin typeface="Arial MT"/>
              <a:cs typeface="Arial MT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833424" y="4977460"/>
            <a:ext cx="20066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Methodologies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31" name="object 31" descr=""/>
          <p:cNvSpPr txBox="1"/>
          <p:nvPr/>
        </p:nvSpPr>
        <p:spPr>
          <a:xfrm>
            <a:off x="578916" y="5322934"/>
            <a:ext cx="2225675" cy="113792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Few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7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dirty="0" sz="1000" spc="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Methodologies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Scrum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Extreme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Programming</a:t>
            </a:r>
            <a:r>
              <a:rPr dirty="0" sz="900" spc="-6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[XP]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20">
                <a:latin typeface="Arial MT"/>
                <a:cs typeface="Arial MT"/>
              </a:rPr>
              <a:t>Test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driven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[TDD]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Driven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[FDD]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Behavior-</a:t>
            </a:r>
            <a:r>
              <a:rPr dirty="0" sz="900">
                <a:latin typeface="Arial MT"/>
                <a:cs typeface="Arial MT"/>
              </a:rPr>
              <a:t>driven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[BDD]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2952" y="1556003"/>
            <a:ext cx="2970731" cy="242284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328674" y="1074801"/>
            <a:ext cx="2808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Arial"/>
                <a:cs typeface="Arial"/>
              </a:rPr>
              <a:t>Test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Driven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Development,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7052" y="5661999"/>
            <a:ext cx="4043498" cy="224694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328674" y="4914646"/>
            <a:ext cx="1619250" cy="54673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dirty="0" sz="1800" b="1">
                <a:latin typeface="Arial"/>
                <a:cs typeface="Arial"/>
              </a:rPr>
              <a:t>Feature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Driven Development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8405" y="1704666"/>
            <a:ext cx="3962297" cy="225367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328674" y="937641"/>
            <a:ext cx="1758950" cy="546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Behavior-driven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dirty="0" sz="1800" spc="-10" b="1">
                <a:latin typeface="Arial"/>
                <a:cs typeface="Arial"/>
              </a:rPr>
              <a:t>development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78916" y="5322934"/>
            <a:ext cx="3729990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Operational</a:t>
            </a:r>
            <a:r>
              <a:rPr dirty="0" sz="1000" spc="-5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Methodologies:</a:t>
            </a:r>
            <a:r>
              <a:rPr dirty="0" sz="1000" spc="-5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ITIL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Introduction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Information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Technology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Infrastructure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Library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(ITIL)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Service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Management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(ITSM) </a:t>
            </a:r>
            <a:r>
              <a:rPr dirty="0" sz="900" spc="-10">
                <a:latin typeface="Arial MT"/>
                <a:cs typeface="Arial MT"/>
              </a:rPr>
              <a:t>Lifecycle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ITIL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Framework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24682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Operational</a:t>
            </a:r>
            <a:r>
              <a:rPr dirty="0" sz="16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55496"/>
            <a:ext cx="5210810" cy="239522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ITIL</a:t>
            </a:r>
            <a:endParaRPr sz="1000">
              <a:latin typeface="Arial"/>
              <a:cs typeface="Arial"/>
            </a:endParaRPr>
          </a:p>
          <a:p>
            <a:pPr marL="389890" indent="-113030">
              <a:lnSpc>
                <a:spcPct val="100000"/>
              </a:lnSpc>
              <a:spcBef>
                <a:spcPts val="600"/>
              </a:spcBef>
              <a:buChar char="•"/>
              <a:tabLst>
                <a:tab pos="389890" algn="l"/>
              </a:tabLst>
            </a:pPr>
            <a:r>
              <a:rPr dirty="0" sz="1000">
                <a:latin typeface="Arial MT"/>
                <a:cs typeface="Arial MT"/>
              </a:rPr>
              <a:t>ITIL</a:t>
            </a:r>
            <a:r>
              <a:rPr dirty="0" sz="1000" spc="-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framework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best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practices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delivering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services</a:t>
            </a:r>
            <a:endParaRPr sz="1000">
              <a:latin typeface="Arial MT"/>
              <a:cs typeface="Arial MT"/>
            </a:endParaRPr>
          </a:p>
          <a:p>
            <a:pPr marL="389890" marR="5080" indent="-113030">
              <a:lnSpc>
                <a:spcPts val="1080"/>
              </a:lnSpc>
              <a:spcBef>
                <a:spcPts val="375"/>
              </a:spcBef>
              <a:buChar char="•"/>
              <a:tabLst>
                <a:tab pos="39116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ITIL</a:t>
            </a:r>
            <a:r>
              <a:rPr dirty="0" sz="1000" spc="-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processes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within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Service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Management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(ITSM)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ensure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that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Services </a:t>
            </a:r>
            <a:r>
              <a:rPr dirty="0" sz="1000" spc="-25">
                <a:latin typeface="Arial MT"/>
                <a:cs typeface="Arial MT"/>
              </a:rPr>
              <a:t>are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provided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focused,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client-</a:t>
            </a:r>
            <a:r>
              <a:rPr dirty="0" sz="1000">
                <a:latin typeface="Arial MT"/>
                <a:cs typeface="Arial MT"/>
              </a:rPr>
              <a:t>friendly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cost-</a:t>
            </a:r>
            <a:r>
              <a:rPr dirty="0" sz="1000">
                <a:latin typeface="Arial MT"/>
                <a:cs typeface="Arial MT"/>
              </a:rPr>
              <a:t>optimized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manner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25"/>
              </a:spcBef>
              <a:buChar char="•"/>
              <a:tabLst>
                <a:tab pos="389890" algn="l"/>
              </a:tabLst>
            </a:pPr>
            <a:r>
              <a:rPr dirty="0" sz="1000" spc="-10">
                <a:latin typeface="Arial MT"/>
                <a:cs typeface="Arial MT"/>
              </a:rPr>
              <a:t>ITIL’s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systematic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approach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service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management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help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businesses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dirty="0" sz="1000">
                <a:latin typeface="Arial MT"/>
                <a:cs typeface="Arial MT"/>
              </a:rPr>
              <a:t>Manage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risk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dirty="0" sz="1000">
                <a:latin typeface="Arial MT"/>
                <a:cs typeface="Arial MT"/>
              </a:rPr>
              <a:t>Strengthen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customer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relations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dirty="0" sz="1000">
                <a:latin typeface="Arial MT"/>
                <a:cs typeface="Arial MT"/>
              </a:rPr>
              <a:t>Establish</a:t>
            </a:r>
            <a:r>
              <a:rPr dirty="0" sz="1000" spc="-10">
                <a:latin typeface="Arial MT"/>
                <a:cs typeface="Arial MT"/>
              </a:rPr>
              <a:t> cost-</a:t>
            </a:r>
            <a:r>
              <a:rPr dirty="0" sz="1000">
                <a:latin typeface="Arial MT"/>
                <a:cs typeface="Arial MT"/>
              </a:rPr>
              <a:t>effective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practices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build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stable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environment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dirty="0" sz="1000">
                <a:latin typeface="Arial MT"/>
                <a:cs typeface="Arial MT"/>
              </a:rPr>
              <a:t>that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allows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for</a:t>
            </a:r>
            <a:endParaRPr sz="1000">
              <a:latin typeface="Arial MT"/>
              <a:cs typeface="Arial MT"/>
            </a:endParaRPr>
          </a:p>
          <a:p>
            <a:pPr lvl="1" marL="619125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619125" algn="l"/>
              </a:tabLst>
            </a:pPr>
            <a:r>
              <a:rPr dirty="0" sz="900" spc="-10">
                <a:latin typeface="Arial MT"/>
                <a:cs typeface="Arial MT"/>
              </a:rPr>
              <a:t>Growth</a:t>
            </a:r>
            <a:endParaRPr sz="900">
              <a:latin typeface="Arial MT"/>
              <a:cs typeface="Arial MT"/>
            </a:endParaRPr>
          </a:p>
          <a:p>
            <a:pPr lvl="1" marL="6191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619125" algn="l"/>
              </a:tabLst>
            </a:pPr>
            <a:r>
              <a:rPr dirty="0" sz="900">
                <a:latin typeface="Arial MT"/>
                <a:cs typeface="Arial MT"/>
              </a:rPr>
              <a:t>Scale</a:t>
            </a:r>
            <a:r>
              <a:rPr dirty="0" sz="900" spc="-25">
                <a:latin typeface="Arial MT"/>
                <a:cs typeface="Arial MT"/>
              </a:rPr>
              <a:t> and</a:t>
            </a:r>
            <a:endParaRPr sz="900">
              <a:latin typeface="Arial MT"/>
              <a:cs typeface="Arial MT"/>
            </a:endParaRPr>
          </a:p>
          <a:p>
            <a:pPr lvl="1" marL="6191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619125" algn="l"/>
              </a:tabLst>
            </a:pPr>
            <a:r>
              <a:rPr dirty="0" sz="900" spc="-10">
                <a:latin typeface="Arial MT"/>
                <a:cs typeface="Arial MT"/>
              </a:rPr>
              <a:t>Change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860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ITIL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185410" cy="134366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ITIL</a:t>
            </a:r>
            <a:r>
              <a:rPr dirty="0" sz="1000" spc="-5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: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Origin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Developed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British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government's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Central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Computer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Telecommunications</a:t>
            </a:r>
            <a:r>
              <a:rPr dirty="0" sz="900" spc="-9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Agency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dirty="0" sz="900" spc="-10">
                <a:latin typeface="Arial MT"/>
                <a:cs typeface="Arial MT"/>
              </a:rPr>
              <a:t>(CCTA)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during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1980s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ITIL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first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consisted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30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books,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time,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0">
                <a:latin typeface="Arial MT"/>
                <a:cs typeface="Arial MT"/>
              </a:rPr>
              <a:t> codified </a:t>
            </a:r>
            <a:r>
              <a:rPr dirty="0" sz="900">
                <a:latin typeface="Arial MT"/>
                <a:cs typeface="Arial MT"/>
              </a:rPr>
              <a:t>best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practices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information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technology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accumulated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many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sources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(including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vendors' </a:t>
            </a:r>
            <a:r>
              <a:rPr dirty="0" sz="900">
                <a:latin typeface="Arial MT"/>
                <a:cs typeface="Arial MT"/>
              </a:rPr>
              <a:t>best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practices)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around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world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ITIL’s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contribution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aligned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ISO/IEC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20000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Service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standard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2005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Since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2013,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ITIL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owned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Axelos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—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joint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venture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Cabinet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Office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Capita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860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ITIL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2444750" cy="1815464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IT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Service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Management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(ITSM)</a:t>
            </a:r>
            <a:r>
              <a:rPr dirty="0" sz="1000" spc="-4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Lifecycle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ITIL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views ITSM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lifecycle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Five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Phases:</a:t>
            </a:r>
            <a:endParaRPr sz="900">
              <a:latin typeface="Arial MT"/>
              <a:cs typeface="Arial MT"/>
            </a:endParaRPr>
          </a:p>
          <a:p>
            <a:pPr lvl="1" marL="619760" marR="47625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Service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Strategy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[design,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development,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implementation]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ts val="915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Service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Design</a:t>
            </a:r>
            <a:r>
              <a:rPr dirty="0" sz="800" spc="20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[design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and</a:t>
            </a:r>
            <a:endParaRPr sz="800">
              <a:latin typeface="Arial MT"/>
              <a:cs typeface="Arial MT"/>
            </a:endParaRPr>
          </a:p>
          <a:p>
            <a:pPr marL="619760">
              <a:lnSpc>
                <a:spcPts val="915"/>
              </a:lnSpc>
            </a:pPr>
            <a:r>
              <a:rPr dirty="0" sz="800" spc="-10">
                <a:latin typeface="Arial MT"/>
                <a:cs typeface="Arial MT"/>
              </a:rPr>
              <a:t>development]</a:t>
            </a:r>
            <a:endParaRPr sz="800">
              <a:latin typeface="Arial MT"/>
              <a:cs typeface="Arial MT"/>
            </a:endParaRPr>
          </a:p>
          <a:p>
            <a:pPr lvl="1" marL="619760" marR="174625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 spc="-10">
                <a:latin typeface="Arial MT"/>
                <a:cs typeface="Arial MT"/>
              </a:rPr>
              <a:t>Service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Transition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[development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design]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Service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Operation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[delivery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support]</a:t>
            </a:r>
            <a:endParaRPr sz="800">
              <a:latin typeface="Arial MT"/>
              <a:cs typeface="Arial MT"/>
            </a:endParaRPr>
          </a:p>
          <a:p>
            <a:pPr lvl="1" marL="619760" marR="319405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dirty="0" sz="800">
                <a:latin typeface="Arial MT"/>
                <a:cs typeface="Arial MT"/>
              </a:rPr>
              <a:t>Service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Improvement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[create </a:t>
            </a:r>
            <a:r>
              <a:rPr dirty="0" sz="800" spc="-25">
                <a:latin typeface="Arial MT"/>
                <a:cs typeface="Arial MT"/>
              </a:rPr>
              <a:t>and</a:t>
            </a:r>
            <a:r>
              <a:rPr dirty="0" sz="800">
                <a:latin typeface="Arial MT"/>
                <a:cs typeface="Arial MT"/>
              </a:rPr>
              <a:t> maintain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value]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1954" y="1580315"/>
            <a:ext cx="2682097" cy="26169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3424" y="4977460"/>
            <a:ext cx="1525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ITIL</a:t>
            </a:r>
            <a:r>
              <a:rPr dirty="0" sz="16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481836" y="5379973"/>
            <a:ext cx="511809" cy="255904"/>
          </a:xfrm>
          <a:custGeom>
            <a:avLst/>
            <a:gdLst/>
            <a:ahLst/>
            <a:cxnLst/>
            <a:rect l="l" t="t" r="r" b="b"/>
            <a:pathLst>
              <a:path w="511810" h="255904">
                <a:moveTo>
                  <a:pt x="486028" y="0"/>
                </a:moveTo>
                <a:lnTo>
                  <a:pt x="25653" y="0"/>
                </a:lnTo>
                <a:lnTo>
                  <a:pt x="15644" y="2006"/>
                </a:lnTo>
                <a:lnTo>
                  <a:pt x="7492" y="7477"/>
                </a:lnTo>
                <a:lnTo>
                  <a:pt x="2008" y="15591"/>
                </a:lnTo>
                <a:lnTo>
                  <a:pt x="0" y="25526"/>
                </a:lnTo>
                <a:lnTo>
                  <a:pt x="0" y="230124"/>
                </a:lnTo>
                <a:lnTo>
                  <a:pt x="2008" y="240133"/>
                </a:lnTo>
                <a:lnTo>
                  <a:pt x="7492" y="248285"/>
                </a:lnTo>
                <a:lnTo>
                  <a:pt x="15644" y="253769"/>
                </a:lnTo>
                <a:lnTo>
                  <a:pt x="25653" y="255777"/>
                </a:lnTo>
                <a:lnTo>
                  <a:pt x="486028" y="255777"/>
                </a:lnTo>
                <a:lnTo>
                  <a:pt x="495964" y="253769"/>
                </a:lnTo>
                <a:lnTo>
                  <a:pt x="504078" y="248284"/>
                </a:lnTo>
                <a:lnTo>
                  <a:pt x="509549" y="240133"/>
                </a:lnTo>
                <a:lnTo>
                  <a:pt x="511556" y="230124"/>
                </a:lnTo>
                <a:lnTo>
                  <a:pt x="511556" y="25526"/>
                </a:lnTo>
                <a:lnTo>
                  <a:pt x="509549" y="15591"/>
                </a:lnTo>
                <a:lnTo>
                  <a:pt x="504078" y="7477"/>
                </a:lnTo>
                <a:lnTo>
                  <a:pt x="495964" y="2006"/>
                </a:lnTo>
                <a:lnTo>
                  <a:pt x="48602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563369" y="5384749"/>
            <a:ext cx="34734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Segoe UI"/>
                <a:cs typeface="Segoe UI"/>
              </a:rPr>
              <a:t>Service</a:t>
            </a:r>
            <a:endParaRPr sz="7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00" spc="-10">
                <a:solidFill>
                  <a:srgbClr val="FFFFFF"/>
                </a:solidFill>
                <a:latin typeface="Segoe UI"/>
                <a:cs typeface="Segoe UI"/>
              </a:rPr>
              <a:t>Strategy</a:t>
            </a:r>
            <a:endParaRPr sz="700">
              <a:latin typeface="Segoe UI"/>
              <a:cs typeface="Segoe U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29841" y="5632577"/>
            <a:ext cx="466725" cy="326390"/>
            <a:chOff x="1529841" y="5632577"/>
            <a:chExt cx="466725" cy="326390"/>
          </a:xfrm>
        </p:grpSpPr>
        <p:sp>
          <p:nvSpPr>
            <p:cNvPr id="14" name="object 14" descr=""/>
            <p:cNvSpPr/>
            <p:nvPr/>
          </p:nvSpPr>
          <p:spPr>
            <a:xfrm>
              <a:off x="1533016" y="5635752"/>
              <a:ext cx="51435" cy="191770"/>
            </a:xfrm>
            <a:custGeom>
              <a:avLst/>
              <a:gdLst/>
              <a:ahLst/>
              <a:cxnLst/>
              <a:rect l="l" t="t" r="r" b="b"/>
              <a:pathLst>
                <a:path w="51434" h="191770">
                  <a:moveTo>
                    <a:pt x="0" y="0"/>
                  </a:moveTo>
                  <a:lnTo>
                    <a:pt x="0" y="191770"/>
                  </a:lnTo>
                  <a:lnTo>
                    <a:pt x="51181" y="191770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84197" y="5699633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3"/>
                  </a:moveTo>
                  <a:lnTo>
                    <a:pt x="2006" y="15698"/>
                  </a:lnTo>
                  <a:lnTo>
                    <a:pt x="7477" y="7540"/>
                  </a:lnTo>
                  <a:lnTo>
                    <a:pt x="15591" y="2026"/>
                  </a:lnTo>
                  <a:lnTo>
                    <a:pt x="25527" y="0"/>
                  </a:lnTo>
                  <a:lnTo>
                    <a:pt x="383666" y="0"/>
                  </a:lnTo>
                  <a:lnTo>
                    <a:pt x="393602" y="2026"/>
                  </a:lnTo>
                  <a:lnTo>
                    <a:pt x="401716" y="7540"/>
                  </a:lnTo>
                  <a:lnTo>
                    <a:pt x="407187" y="15698"/>
                  </a:lnTo>
                  <a:lnTo>
                    <a:pt x="409194" y="25653"/>
                  </a:lnTo>
                  <a:lnTo>
                    <a:pt x="409194" y="230250"/>
                  </a:lnTo>
                  <a:lnTo>
                    <a:pt x="407187" y="240206"/>
                  </a:lnTo>
                  <a:lnTo>
                    <a:pt x="401716" y="248364"/>
                  </a:lnTo>
                  <a:lnTo>
                    <a:pt x="393602" y="253878"/>
                  </a:lnTo>
                  <a:lnTo>
                    <a:pt x="383666" y="255904"/>
                  </a:lnTo>
                  <a:lnTo>
                    <a:pt x="25527" y="255904"/>
                  </a:lnTo>
                  <a:lnTo>
                    <a:pt x="15591" y="253878"/>
                  </a:lnTo>
                  <a:lnTo>
                    <a:pt x="7477" y="248364"/>
                  </a:lnTo>
                  <a:lnTo>
                    <a:pt x="2006" y="240206"/>
                  </a:lnTo>
                  <a:lnTo>
                    <a:pt x="0" y="230250"/>
                  </a:lnTo>
                  <a:lnTo>
                    <a:pt x="0" y="25653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588769" y="5734888"/>
            <a:ext cx="401955" cy="179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500" spc="-10">
                <a:latin typeface="Segoe UI"/>
                <a:cs typeface="Segoe UI"/>
              </a:rPr>
              <a:t>Demand</a:t>
            </a:r>
            <a:endParaRPr sz="5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529841" y="5632577"/>
            <a:ext cx="466725" cy="645795"/>
            <a:chOff x="1529841" y="5632577"/>
            <a:chExt cx="466725" cy="645795"/>
          </a:xfrm>
        </p:grpSpPr>
        <p:sp>
          <p:nvSpPr>
            <p:cNvPr id="18" name="object 18" descr=""/>
            <p:cNvSpPr/>
            <p:nvPr/>
          </p:nvSpPr>
          <p:spPr>
            <a:xfrm>
              <a:off x="1533016" y="5635752"/>
              <a:ext cx="51435" cy="511809"/>
            </a:xfrm>
            <a:custGeom>
              <a:avLst/>
              <a:gdLst/>
              <a:ahLst/>
              <a:cxnLst/>
              <a:rect l="l" t="t" r="r" b="b"/>
              <a:pathLst>
                <a:path w="51434" h="511810">
                  <a:moveTo>
                    <a:pt x="0" y="0"/>
                  </a:moveTo>
                  <a:lnTo>
                    <a:pt x="0" y="511556"/>
                  </a:lnTo>
                  <a:lnTo>
                    <a:pt x="51181" y="51155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84197" y="6019419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6"/>
                  </a:moveTo>
                  <a:lnTo>
                    <a:pt x="2006" y="15591"/>
                  </a:lnTo>
                  <a:lnTo>
                    <a:pt x="7477" y="7477"/>
                  </a:lnTo>
                  <a:lnTo>
                    <a:pt x="15591" y="2006"/>
                  </a:lnTo>
                  <a:lnTo>
                    <a:pt x="25527" y="0"/>
                  </a:lnTo>
                  <a:lnTo>
                    <a:pt x="383666" y="0"/>
                  </a:lnTo>
                  <a:lnTo>
                    <a:pt x="393602" y="2006"/>
                  </a:lnTo>
                  <a:lnTo>
                    <a:pt x="401716" y="7477"/>
                  </a:lnTo>
                  <a:lnTo>
                    <a:pt x="407187" y="15591"/>
                  </a:lnTo>
                  <a:lnTo>
                    <a:pt x="409194" y="25526"/>
                  </a:lnTo>
                  <a:lnTo>
                    <a:pt x="409194" y="230250"/>
                  </a:lnTo>
                  <a:lnTo>
                    <a:pt x="407187" y="240186"/>
                  </a:lnTo>
                  <a:lnTo>
                    <a:pt x="401716" y="248300"/>
                  </a:lnTo>
                  <a:lnTo>
                    <a:pt x="393602" y="253771"/>
                  </a:lnTo>
                  <a:lnTo>
                    <a:pt x="383666" y="255777"/>
                  </a:lnTo>
                  <a:lnTo>
                    <a:pt x="25527" y="255777"/>
                  </a:lnTo>
                  <a:lnTo>
                    <a:pt x="15591" y="253771"/>
                  </a:lnTo>
                  <a:lnTo>
                    <a:pt x="7477" y="248300"/>
                  </a:lnTo>
                  <a:lnTo>
                    <a:pt x="2006" y="240186"/>
                  </a:lnTo>
                  <a:lnTo>
                    <a:pt x="0" y="230250"/>
                  </a:lnTo>
                  <a:lnTo>
                    <a:pt x="0" y="25526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588769" y="6017133"/>
            <a:ext cx="40195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905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Segoe UI"/>
                <a:cs typeface="Segoe UI"/>
              </a:rPr>
              <a:t>Service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portfolio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529841" y="5632577"/>
            <a:ext cx="466725" cy="965835"/>
            <a:chOff x="1529841" y="5632577"/>
            <a:chExt cx="466725" cy="965835"/>
          </a:xfrm>
        </p:grpSpPr>
        <p:sp>
          <p:nvSpPr>
            <p:cNvPr id="22" name="object 22" descr=""/>
            <p:cNvSpPr/>
            <p:nvPr/>
          </p:nvSpPr>
          <p:spPr>
            <a:xfrm>
              <a:off x="1533016" y="5635752"/>
              <a:ext cx="51435" cy="831850"/>
            </a:xfrm>
            <a:custGeom>
              <a:avLst/>
              <a:gdLst/>
              <a:ahLst/>
              <a:cxnLst/>
              <a:rect l="l" t="t" r="r" b="b"/>
              <a:pathLst>
                <a:path w="51434" h="831850">
                  <a:moveTo>
                    <a:pt x="0" y="0"/>
                  </a:moveTo>
                  <a:lnTo>
                    <a:pt x="0" y="831342"/>
                  </a:lnTo>
                  <a:lnTo>
                    <a:pt x="51181" y="831342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84197" y="6339205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7"/>
                  </a:moveTo>
                  <a:lnTo>
                    <a:pt x="2006" y="15591"/>
                  </a:lnTo>
                  <a:lnTo>
                    <a:pt x="7477" y="7477"/>
                  </a:lnTo>
                  <a:lnTo>
                    <a:pt x="15591" y="2006"/>
                  </a:lnTo>
                  <a:lnTo>
                    <a:pt x="25527" y="0"/>
                  </a:lnTo>
                  <a:lnTo>
                    <a:pt x="383666" y="0"/>
                  </a:lnTo>
                  <a:lnTo>
                    <a:pt x="393602" y="2006"/>
                  </a:lnTo>
                  <a:lnTo>
                    <a:pt x="401716" y="7477"/>
                  </a:lnTo>
                  <a:lnTo>
                    <a:pt x="407187" y="15591"/>
                  </a:lnTo>
                  <a:lnTo>
                    <a:pt x="409194" y="25527"/>
                  </a:lnTo>
                  <a:lnTo>
                    <a:pt x="409194" y="230251"/>
                  </a:lnTo>
                  <a:lnTo>
                    <a:pt x="407187" y="240186"/>
                  </a:lnTo>
                  <a:lnTo>
                    <a:pt x="401716" y="248300"/>
                  </a:lnTo>
                  <a:lnTo>
                    <a:pt x="393602" y="253771"/>
                  </a:lnTo>
                  <a:lnTo>
                    <a:pt x="383666" y="255778"/>
                  </a:lnTo>
                  <a:lnTo>
                    <a:pt x="25527" y="255778"/>
                  </a:lnTo>
                  <a:lnTo>
                    <a:pt x="15591" y="253771"/>
                  </a:lnTo>
                  <a:lnTo>
                    <a:pt x="7477" y="248300"/>
                  </a:lnTo>
                  <a:lnTo>
                    <a:pt x="2006" y="240186"/>
                  </a:lnTo>
                  <a:lnTo>
                    <a:pt x="0" y="230251"/>
                  </a:lnTo>
                  <a:lnTo>
                    <a:pt x="0" y="2552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588769" y="6375019"/>
            <a:ext cx="4019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5405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Segoe UI"/>
                <a:cs typeface="Segoe UI"/>
              </a:rPr>
              <a:t>Financial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529841" y="5632577"/>
            <a:ext cx="466725" cy="1285875"/>
            <a:chOff x="1529841" y="5632577"/>
            <a:chExt cx="466725" cy="1285875"/>
          </a:xfrm>
        </p:grpSpPr>
        <p:sp>
          <p:nvSpPr>
            <p:cNvPr id="26" name="object 26" descr=""/>
            <p:cNvSpPr/>
            <p:nvPr/>
          </p:nvSpPr>
          <p:spPr>
            <a:xfrm>
              <a:off x="1533016" y="5635752"/>
              <a:ext cx="51435" cy="1151255"/>
            </a:xfrm>
            <a:custGeom>
              <a:avLst/>
              <a:gdLst/>
              <a:ahLst/>
              <a:cxnLst/>
              <a:rect l="l" t="t" r="r" b="b"/>
              <a:pathLst>
                <a:path w="51434" h="1151254">
                  <a:moveTo>
                    <a:pt x="0" y="0"/>
                  </a:moveTo>
                  <a:lnTo>
                    <a:pt x="0" y="1151128"/>
                  </a:lnTo>
                  <a:lnTo>
                    <a:pt x="51181" y="1151128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584197" y="6658864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4"/>
                  </a:moveTo>
                  <a:lnTo>
                    <a:pt x="2006" y="15698"/>
                  </a:lnTo>
                  <a:lnTo>
                    <a:pt x="7477" y="7540"/>
                  </a:lnTo>
                  <a:lnTo>
                    <a:pt x="15591" y="2026"/>
                  </a:lnTo>
                  <a:lnTo>
                    <a:pt x="25527" y="0"/>
                  </a:lnTo>
                  <a:lnTo>
                    <a:pt x="383666" y="0"/>
                  </a:lnTo>
                  <a:lnTo>
                    <a:pt x="393602" y="2026"/>
                  </a:lnTo>
                  <a:lnTo>
                    <a:pt x="401716" y="7540"/>
                  </a:lnTo>
                  <a:lnTo>
                    <a:pt x="407187" y="15698"/>
                  </a:lnTo>
                  <a:lnTo>
                    <a:pt x="409194" y="25654"/>
                  </a:lnTo>
                  <a:lnTo>
                    <a:pt x="409194" y="230251"/>
                  </a:lnTo>
                  <a:lnTo>
                    <a:pt x="407187" y="240206"/>
                  </a:lnTo>
                  <a:lnTo>
                    <a:pt x="401716" y="248364"/>
                  </a:lnTo>
                  <a:lnTo>
                    <a:pt x="393602" y="253878"/>
                  </a:lnTo>
                  <a:lnTo>
                    <a:pt x="383666" y="255905"/>
                  </a:lnTo>
                  <a:lnTo>
                    <a:pt x="25527" y="255905"/>
                  </a:lnTo>
                  <a:lnTo>
                    <a:pt x="15591" y="253878"/>
                  </a:lnTo>
                  <a:lnTo>
                    <a:pt x="7477" y="248364"/>
                  </a:lnTo>
                  <a:lnTo>
                    <a:pt x="2006" y="240206"/>
                  </a:lnTo>
                  <a:lnTo>
                    <a:pt x="0" y="230251"/>
                  </a:lnTo>
                  <a:lnTo>
                    <a:pt x="0" y="2565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588769" y="6656272"/>
            <a:ext cx="399415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5"/>
              </a:spcBef>
            </a:pPr>
            <a:r>
              <a:rPr dirty="0" sz="500" spc="-10">
                <a:latin typeface="Segoe UI"/>
                <a:cs typeface="Segoe UI"/>
              </a:rPr>
              <a:t>Business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Relationship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2121407" y="5379973"/>
            <a:ext cx="511809" cy="255904"/>
          </a:xfrm>
          <a:custGeom>
            <a:avLst/>
            <a:gdLst/>
            <a:ahLst/>
            <a:cxnLst/>
            <a:rect l="l" t="t" r="r" b="b"/>
            <a:pathLst>
              <a:path w="511810" h="255904">
                <a:moveTo>
                  <a:pt x="485902" y="0"/>
                </a:moveTo>
                <a:lnTo>
                  <a:pt x="25527" y="0"/>
                </a:lnTo>
                <a:lnTo>
                  <a:pt x="15591" y="2006"/>
                </a:lnTo>
                <a:lnTo>
                  <a:pt x="7477" y="7477"/>
                </a:lnTo>
                <a:lnTo>
                  <a:pt x="2006" y="15591"/>
                </a:lnTo>
                <a:lnTo>
                  <a:pt x="0" y="25526"/>
                </a:lnTo>
                <a:lnTo>
                  <a:pt x="0" y="230124"/>
                </a:lnTo>
                <a:lnTo>
                  <a:pt x="2006" y="240133"/>
                </a:lnTo>
                <a:lnTo>
                  <a:pt x="7477" y="248285"/>
                </a:lnTo>
                <a:lnTo>
                  <a:pt x="15591" y="253769"/>
                </a:lnTo>
                <a:lnTo>
                  <a:pt x="25527" y="255777"/>
                </a:lnTo>
                <a:lnTo>
                  <a:pt x="485902" y="255777"/>
                </a:lnTo>
                <a:lnTo>
                  <a:pt x="495911" y="253769"/>
                </a:lnTo>
                <a:lnTo>
                  <a:pt x="504063" y="248284"/>
                </a:lnTo>
                <a:lnTo>
                  <a:pt x="509547" y="240133"/>
                </a:lnTo>
                <a:lnTo>
                  <a:pt x="511556" y="230124"/>
                </a:lnTo>
                <a:lnTo>
                  <a:pt x="511556" y="25526"/>
                </a:lnTo>
                <a:lnTo>
                  <a:pt x="509547" y="15591"/>
                </a:lnTo>
                <a:lnTo>
                  <a:pt x="504063" y="7477"/>
                </a:lnTo>
                <a:lnTo>
                  <a:pt x="495911" y="2006"/>
                </a:lnTo>
                <a:lnTo>
                  <a:pt x="48590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2226055" y="5384749"/>
            <a:ext cx="30353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Segoe UI"/>
                <a:cs typeface="Segoe UI"/>
              </a:rPr>
              <a:t>Service</a:t>
            </a:r>
            <a:endParaRPr sz="700">
              <a:latin typeface="Segoe UI"/>
              <a:cs typeface="Segoe UI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700" spc="-10">
                <a:solidFill>
                  <a:srgbClr val="FFFFFF"/>
                </a:solidFill>
                <a:latin typeface="Segoe UI"/>
                <a:cs typeface="Segoe UI"/>
              </a:rPr>
              <a:t>Design</a:t>
            </a:r>
            <a:endParaRPr sz="700">
              <a:latin typeface="Segoe UI"/>
              <a:cs typeface="Segoe UI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2169286" y="5632577"/>
            <a:ext cx="467359" cy="326390"/>
            <a:chOff x="2169286" y="5632577"/>
            <a:chExt cx="467359" cy="326390"/>
          </a:xfrm>
        </p:grpSpPr>
        <p:sp>
          <p:nvSpPr>
            <p:cNvPr id="32" name="object 32" descr=""/>
            <p:cNvSpPr/>
            <p:nvPr/>
          </p:nvSpPr>
          <p:spPr>
            <a:xfrm>
              <a:off x="2172461" y="5635752"/>
              <a:ext cx="51435" cy="191770"/>
            </a:xfrm>
            <a:custGeom>
              <a:avLst/>
              <a:gdLst/>
              <a:ahLst/>
              <a:cxnLst/>
              <a:rect l="l" t="t" r="r" b="b"/>
              <a:pathLst>
                <a:path w="51435" h="191770">
                  <a:moveTo>
                    <a:pt x="0" y="0"/>
                  </a:moveTo>
                  <a:lnTo>
                    <a:pt x="0" y="191770"/>
                  </a:lnTo>
                  <a:lnTo>
                    <a:pt x="51181" y="191770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223642" y="5699633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3"/>
                  </a:moveTo>
                  <a:lnTo>
                    <a:pt x="2008" y="15698"/>
                  </a:lnTo>
                  <a:lnTo>
                    <a:pt x="7493" y="7540"/>
                  </a:lnTo>
                  <a:lnTo>
                    <a:pt x="15644" y="202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26"/>
                  </a:lnTo>
                  <a:lnTo>
                    <a:pt x="401827" y="7540"/>
                  </a:lnTo>
                  <a:lnTo>
                    <a:pt x="407312" y="15698"/>
                  </a:lnTo>
                  <a:lnTo>
                    <a:pt x="409320" y="25653"/>
                  </a:lnTo>
                  <a:lnTo>
                    <a:pt x="409320" y="230250"/>
                  </a:lnTo>
                  <a:lnTo>
                    <a:pt x="407312" y="240206"/>
                  </a:lnTo>
                  <a:lnTo>
                    <a:pt x="401827" y="248364"/>
                  </a:lnTo>
                  <a:lnTo>
                    <a:pt x="393676" y="253878"/>
                  </a:lnTo>
                  <a:lnTo>
                    <a:pt x="383667" y="255904"/>
                  </a:lnTo>
                  <a:lnTo>
                    <a:pt x="25654" y="255904"/>
                  </a:lnTo>
                  <a:lnTo>
                    <a:pt x="15644" y="253878"/>
                  </a:lnTo>
                  <a:lnTo>
                    <a:pt x="7493" y="248364"/>
                  </a:lnTo>
                  <a:lnTo>
                    <a:pt x="2008" y="240206"/>
                  </a:lnTo>
                  <a:lnTo>
                    <a:pt x="0" y="230250"/>
                  </a:lnTo>
                  <a:lnTo>
                    <a:pt x="0" y="25653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2228469" y="5734888"/>
            <a:ext cx="401955" cy="179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latin typeface="Segoe UI"/>
                <a:cs typeface="Segoe UI"/>
              </a:rPr>
              <a:t>Service</a:t>
            </a:r>
            <a:r>
              <a:rPr dirty="0" sz="500" spc="-3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level</a:t>
            </a:r>
            <a:endParaRPr sz="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169286" y="5632577"/>
            <a:ext cx="467359" cy="645795"/>
            <a:chOff x="2169286" y="5632577"/>
            <a:chExt cx="467359" cy="645795"/>
          </a:xfrm>
        </p:grpSpPr>
        <p:sp>
          <p:nvSpPr>
            <p:cNvPr id="36" name="object 36" descr=""/>
            <p:cNvSpPr/>
            <p:nvPr/>
          </p:nvSpPr>
          <p:spPr>
            <a:xfrm>
              <a:off x="2172461" y="5635752"/>
              <a:ext cx="51435" cy="511809"/>
            </a:xfrm>
            <a:custGeom>
              <a:avLst/>
              <a:gdLst/>
              <a:ahLst/>
              <a:cxnLst/>
              <a:rect l="l" t="t" r="r" b="b"/>
              <a:pathLst>
                <a:path w="51435" h="511810">
                  <a:moveTo>
                    <a:pt x="0" y="0"/>
                  </a:moveTo>
                  <a:lnTo>
                    <a:pt x="0" y="511556"/>
                  </a:lnTo>
                  <a:lnTo>
                    <a:pt x="51181" y="51155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223642" y="6019419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6"/>
                  </a:moveTo>
                  <a:lnTo>
                    <a:pt x="2008" y="15591"/>
                  </a:lnTo>
                  <a:lnTo>
                    <a:pt x="7493" y="7477"/>
                  </a:lnTo>
                  <a:lnTo>
                    <a:pt x="15644" y="200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6"/>
                  </a:lnTo>
                  <a:lnTo>
                    <a:pt x="401827" y="7477"/>
                  </a:lnTo>
                  <a:lnTo>
                    <a:pt x="407312" y="15591"/>
                  </a:lnTo>
                  <a:lnTo>
                    <a:pt x="409320" y="25526"/>
                  </a:lnTo>
                  <a:lnTo>
                    <a:pt x="409320" y="230250"/>
                  </a:lnTo>
                  <a:lnTo>
                    <a:pt x="407312" y="240186"/>
                  </a:lnTo>
                  <a:lnTo>
                    <a:pt x="401827" y="248300"/>
                  </a:lnTo>
                  <a:lnTo>
                    <a:pt x="393676" y="253771"/>
                  </a:lnTo>
                  <a:lnTo>
                    <a:pt x="383667" y="255777"/>
                  </a:lnTo>
                  <a:lnTo>
                    <a:pt x="25654" y="255777"/>
                  </a:lnTo>
                  <a:lnTo>
                    <a:pt x="15644" y="253771"/>
                  </a:lnTo>
                  <a:lnTo>
                    <a:pt x="7493" y="248300"/>
                  </a:lnTo>
                  <a:lnTo>
                    <a:pt x="2008" y="240186"/>
                  </a:lnTo>
                  <a:lnTo>
                    <a:pt x="0" y="230250"/>
                  </a:lnTo>
                  <a:lnTo>
                    <a:pt x="0" y="2552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2228469" y="6055233"/>
            <a:ext cx="4019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Segoe UI"/>
                <a:cs typeface="Segoe UI"/>
              </a:rPr>
              <a:t>Supplier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2169286" y="5632577"/>
            <a:ext cx="467359" cy="965835"/>
            <a:chOff x="2169286" y="5632577"/>
            <a:chExt cx="467359" cy="965835"/>
          </a:xfrm>
        </p:grpSpPr>
        <p:sp>
          <p:nvSpPr>
            <p:cNvPr id="40" name="object 40" descr=""/>
            <p:cNvSpPr/>
            <p:nvPr/>
          </p:nvSpPr>
          <p:spPr>
            <a:xfrm>
              <a:off x="2172461" y="5635752"/>
              <a:ext cx="51435" cy="831850"/>
            </a:xfrm>
            <a:custGeom>
              <a:avLst/>
              <a:gdLst/>
              <a:ahLst/>
              <a:cxnLst/>
              <a:rect l="l" t="t" r="r" b="b"/>
              <a:pathLst>
                <a:path w="51435" h="831850">
                  <a:moveTo>
                    <a:pt x="0" y="0"/>
                  </a:moveTo>
                  <a:lnTo>
                    <a:pt x="0" y="831342"/>
                  </a:lnTo>
                  <a:lnTo>
                    <a:pt x="51181" y="831342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223642" y="6339205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7"/>
                  </a:moveTo>
                  <a:lnTo>
                    <a:pt x="2008" y="15591"/>
                  </a:lnTo>
                  <a:lnTo>
                    <a:pt x="7493" y="7477"/>
                  </a:lnTo>
                  <a:lnTo>
                    <a:pt x="15644" y="200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6"/>
                  </a:lnTo>
                  <a:lnTo>
                    <a:pt x="401827" y="7477"/>
                  </a:lnTo>
                  <a:lnTo>
                    <a:pt x="407312" y="15591"/>
                  </a:lnTo>
                  <a:lnTo>
                    <a:pt x="409320" y="25527"/>
                  </a:lnTo>
                  <a:lnTo>
                    <a:pt x="409320" y="230251"/>
                  </a:lnTo>
                  <a:lnTo>
                    <a:pt x="407312" y="240186"/>
                  </a:lnTo>
                  <a:lnTo>
                    <a:pt x="401827" y="248300"/>
                  </a:lnTo>
                  <a:lnTo>
                    <a:pt x="393676" y="253771"/>
                  </a:lnTo>
                  <a:lnTo>
                    <a:pt x="383667" y="255778"/>
                  </a:lnTo>
                  <a:lnTo>
                    <a:pt x="25654" y="255778"/>
                  </a:lnTo>
                  <a:lnTo>
                    <a:pt x="15644" y="253771"/>
                  </a:lnTo>
                  <a:lnTo>
                    <a:pt x="7493" y="248300"/>
                  </a:lnTo>
                  <a:lnTo>
                    <a:pt x="2008" y="240186"/>
                  </a:lnTo>
                  <a:lnTo>
                    <a:pt x="0" y="230251"/>
                  </a:lnTo>
                  <a:lnTo>
                    <a:pt x="0" y="2552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2228469" y="6375019"/>
            <a:ext cx="4019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Segoe UI"/>
                <a:cs typeface="Segoe UI"/>
              </a:rPr>
              <a:t>Capacity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2169286" y="5632577"/>
            <a:ext cx="467359" cy="1285875"/>
            <a:chOff x="2169286" y="5632577"/>
            <a:chExt cx="467359" cy="1285875"/>
          </a:xfrm>
        </p:grpSpPr>
        <p:sp>
          <p:nvSpPr>
            <p:cNvPr id="44" name="object 44" descr=""/>
            <p:cNvSpPr/>
            <p:nvPr/>
          </p:nvSpPr>
          <p:spPr>
            <a:xfrm>
              <a:off x="2172461" y="5635752"/>
              <a:ext cx="51435" cy="1151255"/>
            </a:xfrm>
            <a:custGeom>
              <a:avLst/>
              <a:gdLst/>
              <a:ahLst/>
              <a:cxnLst/>
              <a:rect l="l" t="t" r="r" b="b"/>
              <a:pathLst>
                <a:path w="51435" h="1151254">
                  <a:moveTo>
                    <a:pt x="0" y="0"/>
                  </a:moveTo>
                  <a:lnTo>
                    <a:pt x="0" y="1151128"/>
                  </a:lnTo>
                  <a:lnTo>
                    <a:pt x="51181" y="1151128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223642" y="6658864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4"/>
                  </a:moveTo>
                  <a:lnTo>
                    <a:pt x="2008" y="15698"/>
                  </a:lnTo>
                  <a:lnTo>
                    <a:pt x="7493" y="7540"/>
                  </a:lnTo>
                  <a:lnTo>
                    <a:pt x="15644" y="202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26"/>
                  </a:lnTo>
                  <a:lnTo>
                    <a:pt x="401827" y="7540"/>
                  </a:lnTo>
                  <a:lnTo>
                    <a:pt x="407312" y="15698"/>
                  </a:lnTo>
                  <a:lnTo>
                    <a:pt x="409320" y="25654"/>
                  </a:lnTo>
                  <a:lnTo>
                    <a:pt x="409320" y="230251"/>
                  </a:lnTo>
                  <a:lnTo>
                    <a:pt x="407312" y="240206"/>
                  </a:lnTo>
                  <a:lnTo>
                    <a:pt x="401827" y="248364"/>
                  </a:lnTo>
                  <a:lnTo>
                    <a:pt x="393676" y="253878"/>
                  </a:lnTo>
                  <a:lnTo>
                    <a:pt x="383667" y="255905"/>
                  </a:lnTo>
                  <a:lnTo>
                    <a:pt x="25654" y="255905"/>
                  </a:lnTo>
                  <a:lnTo>
                    <a:pt x="15644" y="253878"/>
                  </a:lnTo>
                  <a:lnTo>
                    <a:pt x="7493" y="248364"/>
                  </a:lnTo>
                  <a:lnTo>
                    <a:pt x="2008" y="240206"/>
                  </a:lnTo>
                  <a:lnTo>
                    <a:pt x="0" y="230251"/>
                  </a:lnTo>
                  <a:lnTo>
                    <a:pt x="0" y="2565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2228469" y="6694678"/>
            <a:ext cx="39941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Segoe UI"/>
                <a:cs typeface="Segoe UI"/>
              </a:rPr>
              <a:t>Availability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2169286" y="5632577"/>
            <a:ext cx="467359" cy="1605280"/>
            <a:chOff x="2169286" y="5632577"/>
            <a:chExt cx="467359" cy="1605280"/>
          </a:xfrm>
        </p:grpSpPr>
        <p:sp>
          <p:nvSpPr>
            <p:cNvPr id="48" name="object 48" descr=""/>
            <p:cNvSpPr/>
            <p:nvPr/>
          </p:nvSpPr>
          <p:spPr>
            <a:xfrm>
              <a:off x="2172461" y="5635752"/>
              <a:ext cx="51435" cy="1471295"/>
            </a:xfrm>
            <a:custGeom>
              <a:avLst/>
              <a:gdLst/>
              <a:ahLst/>
              <a:cxnLst/>
              <a:rect l="l" t="t" r="r" b="b"/>
              <a:pathLst>
                <a:path w="51435" h="1471295">
                  <a:moveTo>
                    <a:pt x="0" y="0"/>
                  </a:moveTo>
                  <a:lnTo>
                    <a:pt x="0" y="1470787"/>
                  </a:lnTo>
                  <a:lnTo>
                    <a:pt x="51181" y="1470787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223642" y="6978650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4"/>
                  </a:moveTo>
                  <a:lnTo>
                    <a:pt x="2008" y="15644"/>
                  </a:lnTo>
                  <a:lnTo>
                    <a:pt x="7493" y="7493"/>
                  </a:lnTo>
                  <a:lnTo>
                    <a:pt x="15644" y="2008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8"/>
                  </a:lnTo>
                  <a:lnTo>
                    <a:pt x="401827" y="7493"/>
                  </a:lnTo>
                  <a:lnTo>
                    <a:pt x="407312" y="15644"/>
                  </a:lnTo>
                  <a:lnTo>
                    <a:pt x="409320" y="25654"/>
                  </a:lnTo>
                  <a:lnTo>
                    <a:pt x="409320" y="230250"/>
                  </a:lnTo>
                  <a:lnTo>
                    <a:pt x="407312" y="240186"/>
                  </a:lnTo>
                  <a:lnTo>
                    <a:pt x="401827" y="248300"/>
                  </a:lnTo>
                  <a:lnTo>
                    <a:pt x="393676" y="253771"/>
                  </a:lnTo>
                  <a:lnTo>
                    <a:pt x="383667" y="255777"/>
                  </a:lnTo>
                  <a:lnTo>
                    <a:pt x="25654" y="255777"/>
                  </a:lnTo>
                  <a:lnTo>
                    <a:pt x="15644" y="253771"/>
                  </a:lnTo>
                  <a:lnTo>
                    <a:pt x="7493" y="248300"/>
                  </a:lnTo>
                  <a:lnTo>
                    <a:pt x="2008" y="240186"/>
                  </a:lnTo>
                  <a:lnTo>
                    <a:pt x="0" y="230250"/>
                  </a:lnTo>
                  <a:lnTo>
                    <a:pt x="0" y="2565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2228469" y="7014464"/>
            <a:ext cx="402590" cy="179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Segoe UI"/>
                <a:cs typeface="Segoe UI"/>
              </a:rPr>
              <a:t>Continuity</a:t>
            </a:r>
            <a:endParaRPr sz="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2169286" y="5632577"/>
            <a:ext cx="467359" cy="1925320"/>
            <a:chOff x="2169286" y="5632577"/>
            <a:chExt cx="467359" cy="1925320"/>
          </a:xfrm>
        </p:grpSpPr>
        <p:sp>
          <p:nvSpPr>
            <p:cNvPr id="52" name="object 52" descr=""/>
            <p:cNvSpPr/>
            <p:nvPr/>
          </p:nvSpPr>
          <p:spPr>
            <a:xfrm>
              <a:off x="2172461" y="5635752"/>
              <a:ext cx="51435" cy="1790700"/>
            </a:xfrm>
            <a:custGeom>
              <a:avLst/>
              <a:gdLst/>
              <a:ahLst/>
              <a:cxnLst/>
              <a:rect l="l" t="t" r="r" b="b"/>
              <a:pathLst>
                <a:path w="51435" h="1790700">
                  <a:moveTo>
                    <a:pt x="0" y="0"/>
                  </a:moveTo>
                  <a:lnTo>
                    <a:pt x="0" y="1790573"/>
                  </a:lnTo>
                  <a:lnTo>
                    <a:pt x="51181" y="1790573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223642" y="7298436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6"/>
                  </a:moveTo>
                  <a:lnTo>
                    <a:pt x="2008" y="15591"/>
                  </a:lnTo>
                  <a:lnTo>
                    <a:pt x="7493" y="7477"/>
                  </a:lnTo>
                  <a:lnTo>
                    <a:pt x="15644" y="200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6"/>
                  </a:lnTo>
                  <a:lnTo>
                    <a:pt x="401827" y="7477"/>
                  </a:lnTo>
                  <a:lnTo>
                    <a:pt x="407312" y="15591"/>
                  </a:lnTo>
                  <a:lnTo>
                    <a:pt x="409320" y="25526"/>
                  </a:lnTo>
                  <a:lnTo>
                    <a:pt x="409320" y="230250"/>
                  </a:lnTo>
                  <a:lnTo>
                    <a:pt x="407312" y="240186"/>
                  </a:lnTo>
                  <a:lnTo>
                    <a:pt x="401827" y="248300"/>
                  </a:lnTo>
                  <a:lnTo>
                    <a:pt x="393676" y="253771"/>
                  </a:lnTo>
                  <a:lnTo>
                    <a:pt x="383667" y="255777"/>
                  </a:lnTo>
                  <a:lnTo>
                    <a:pt x="25654" y="255777"/>
                  </a:lnTo>
                  <a:lnTo>
                    <a:pt x="15644" y="253771"/>
                  </a:lnTo>
                  <a:lnTo>
                    <a:pt x="7493" y="248300"/>
                  </a:lnTo>
                  <a:lnTo>
                    <a:pt x="2008" y="240186"/>
                  </a:lnTo>
                  <a:lnTo>
                    <a:pt x="0" y="230250"/>
                  </a:lnTo>
                  <a:lnTo>
                    <a:pt x="0" y="25526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2228469" y="7296404"/>
            <a:ext cx="40195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2540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Segoe UI"/>
                <a:cs typeface="Segoe UI"/>
              </a:rPr>
              <a:t>Information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Security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2169286" y="5632577"/>
            <a:ext cx="467359" cy="2244725"/>
            <a:chOff x="2169286" y="5632577"/>
            <a:chExt cx="467359" cy="2244725"/>
          </a:xfrm>
        </p:grpSpPr>
        <p:sp>
          <p:nvSpPr>
            <p:cNvPr id="56" name="object 56" descr=""/>
            <p:cNvSpPr/>
            <p:nvPr/>
          </p:nvSpPr>
          <p:spPr>
            <a:xfrm>
              <a:off x="2172461" y="5635752"/>
              <a:ext cx="51435" cy="2110740"/>
            </a:xfrm>
            <a:custGeom>
              <a:avLst/>
              <a:gdLst/>
              <a:ahLst/>
              <a:cxnLst/>
              <a:rect l="l" t="t" r="r" b="b"/>
              <a:pathLst>
                <a:path w="51435" h="2110740">
                  <a:moveTo>
                    <a:pt x="0" y="0"/>
                  </a:moveTo>
                  <a:lnTo>
                    <a:pt x="0" y="2110359"/>
                  </a:lnTo>
                  <a:lnTo>
                    <a:pt x="51181" y="2110359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223642" y="7618222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6"/>
                  </a:moveTo>
                  <a:lnTo>
                    <a:pt x="2008" y="15591"/>
                  </a:lnTo>
                  <a:lnTo>
                    <a:pt x="7493" y="7477"/>
                  </a:lnTo>
                  <a:lnTo>
                    <a:pt x="15644" y="200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6"/>
                  </a:lnTo>
                  <a:lnTo>
                    <a:pt x="401827" y="7477"/>
                  </a:lnTo>
                  <a:lnTo>
                    <a:pt x="407312" y="15591"/>
                  </a:lnTo>
                  <a:lnTo>
                    <a:pt x="409320" y="25526"/>
                  </a:lnTo>
                  <a:lnTo>
                    <a:pt x="409320" y="230123"/>
                  </a:lnTo>
                  <a:lnTo>
                    <a:pt x="407312" y="240133"/>
                  </a:lnTo>
                  <a:lnTo>
                    <a:pt x="401827" y="248284"/>
                  </a:lnTo>
                  <a:lnTo>
                    <a:pt x="393676" y="253769"/>
                  </a:lnTo>
                  <a:lnTo>
                    <a:pt x="383667" y="255777"/>
                  </a:lnTo>
                  <a:lnTo>
                    <a:pt x="25654" y="255777"/>
                  </a:lnTo>
                  <a:lnTo>
                    <a:pt x="15644" y="253769"/>
                  </a:lnTo>
                  <a:lnTo>
                    <a:pt x="7493" y="248284"/>
                  </a:lnTo>
                  <a:lnTo>
                    <a:pt x="2008" y="240133"/>
                  </a:lnTo>
                  <a:lnTo>
                    <a:pt x="0" y="230123"/>
                  </a:lnTo>
                  <a:lnTo>
                    <a:pt x="0" y="25526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2228469" y="7616190"/>
            <a:ext cx="401955" cy="254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500" spc="-10">
                <a:latin typeface="Segoe UI"/>
                <a:cs typeface="Segoe UI"/>
              </a:rPr>
              <a:t>Service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catalogue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2169286" y="5632577"/>
            <a:ext cx="467359" cy="2564765"/>
            <a:chOff x="2169286" y="5632577"/>
            <a:chExt cx="467359" cy="2564765"/>
          </a:xfrm>
        </p:grpSpPr>
        <p:sp>
          <p:nvSpPr>
            <p:cNvPr id="60" name="object 60" descr=""/>
            <p:cNvSpPr/>
            <p:nvPr/>
          </p:nvSpPr>
          <p:spPr>
            <a:xfrm>
              <a:off x="2172461" y="5635752"/>
              <a:ext cx="51435" cy="2430145"/>
            </a:xfrm>
            <a:custGeom>
              <a:avLst/>
              <a:gdLst/>
              <a:ahLst/>
              <a:cxnLst/>
              <a:rect l="l" t="t" r="r" b="b"/>
              <a:pathLst>
                <a:path w="51435" h="2430145">
                  <a:moveTo>
                    <a:pt x="0" y="0"/>
                  </a:moveTo>
                  <a:lnTo>
                    <a:pt x="0" y="2430056"/>
                  </a:lnTo>
                  <a:lnTo>
                    <a:pt x="51181" y="243005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223642" y="7937919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77"/>
                  </a:moveTo>
                  <a:lnTo>
                    <a:pt x="2008" y="15618"/>
                  </a:lnTo>
                  <a:lnTo>
                    <a:pt x="7493" y="7488"/>
                  </a:lnTo>
                  <a:lnTo>
                    <a:pt x="15644" y="2008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8"/>
                  </a:lnTo>
                  <a:lnTo>
                    <a:pt x="401827" y="7488"/>
                  </a:lnTo>
                  <a:lnTo>
                    <a:pt x="407312" y="15618"/>
                  </a:lnTo>
                  <a:lnTo>
                    <a:pt x="409320" y="25577"/>
                  </a:lnTo>
                  <a:lnTo>
                    <a:pt x="409320" y="230212"/>
                  </a:lnTo>
                  <a:lnTo>
                    <a:pt x="407312" y="240167"/>
                  </a:lnTo>
                  <a:lnTo>
                    <a:pt x="401827" y="248297"/>
                  </a:lnTo>
                  <a:lnTo>
                    <a:pt x="393676" y="253780"/>
                  </a:lnTo>
                  <a:lnTo>
                    <a:pt x="383667" y="255790"/>
                  </a:lnTo>
                  <a:lnTo>
                    <a:pt x="25654" y="255790"/>
                  </a:lnTo>
                  <a:lnTo>
                    <a:pt x="15644" y="253780"/>
                  </a:lnTo>
                  <a:lnTo>
                    <a:pt x="7493" y="248297"/>
                  </a:lnTo>
                  <a:lnTo>
                    <a:pt x="2008" y="240167"/>
                  </a:lnTo>
                  <a:lnTo>
                    <a:pt x="0" y="230212"/>
                  </a:lnTo>
                  <a:lnTo>
                    <a:pt x="0" y="2557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2229992" y="7973974"/>
            <a:ext cx="396875" cy="178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88265">
              <a:lnSpc>
                <a:spcPct val="100000"/>
              </a:lnSpc>
              <a:spcBef>
                <a:spcPts val="105"/>
              </a:spcBef>
            </a:pPr>
            <a:r>
              <a:rPr dirty="0" sz="500" spc="-10">
                <a:latin typeface="Segoe UI"/>
                <a:cs typeface="Segoe UI"/>
              </a:rPr>
              <a:t>Design</a:t>
            </a:r>
            <a:r>
              <a:rPr dirty="0" sz="500" spc="500">
                <a:latin typeface="Segoe UI"/>
                <a:cs typeface="Segoe UI"/>
              </a:rPr>
              <a:t> </a:t>
            </a:r>
            <a:r>
              <a:rPr dirty="0" sz="500" spc="-10">
                <a:latin typeface="Segoe UI"/>
                <a:cs typeface="Segoe UI"/>
              </a:rPr>
              <a:t>Coordination</a:t>
            </a:r>
            <a:endParaRPr sz="500">
              <a:latin typeface="Segoe UI"/>
              <a:cs typeface="Segoe UI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2929001" y="5378450"/>
            <a:ext cx="460375" cy="229870"/>
          </a:xfrm>
          <a:custGeom>
            <a:avLst/>
            <a:gdLst/>
            <a:ahLst/>
            <a:cxnLst/>
            <a:rect l="l" t="t" r="r" b="b"/>
            <a:pathLst>
              <a:path w="460375" h="229870">
                <a:moveTo>
                  <a:pt x="436879" y="0"/>
                </a:moveTo>
                <a:lnTo>
                  <a:pt x="22987" y="0"/>
                </a:lnTo>
                <a:lnTo>
                  <a:pt x="14037" y="1805"/>
                </a:lnTo>
                <a:lnTo>
                  <a:pt x="6731" y="6731"/>
                </a:lnTo>
                <a:lnTo>
                  <a:pt x="1805" y="14037"/>
                </a:lnTo>
                <a:lnTo>
                  <a:pt x="0" y="22987"/>
                </a:lnTo>
                <a:lnTo>
                  <a:pt x="0" y="206883"/>
                </a:lnTo>
                <a:lnTo>
                  <a:pt x="1805" y="215832"/>
                </a:lnTo>
                <a:lnTo>
                  <a:pt x="6731" y="223139"/>
                </a:lnTo>
                <a:lnTo>
                  <a:pt x="14037" y="228064"/>
                </a:lnTo>
                <a:lnTo>
                  <a:pt x="22987" y="229870"/>
                </a:lnTo>
                <a:lnTo>
                  <a:pt x="436879" y="229870"/>
                </a:lnTo>
                <a:lnTo>
                  <a:pt x="445829" y="228064"/>
                </a:lnTo>
                <a:lnTo>
                  <a:pt x="453136" y="223138"/>
                </a:lnTo>
                <a:lnTo>
                  <a:pt x="458061" y="215832"/>
                </a:lnTo>
                <a:lnTo>
                  <a:pt x="459866" y="206883"/>
                </a:lnTo>
                <a:lnTo>
                  <a:pt x="459866" y="22987"/>
                </a:lnTo>
                <a:lnTo>
                  <a:pt x="458061" y="14037"/>
                </a:lnTo>
                <a:lnTo>
                  <a:pt x="453135" y="6730"/>
                </a:lnTo>
                <a:lnTo>
                  <a:pt x="445829" y="1805"/>
                </a:lnTo>
                <a:lnTo>
                  <a:pt x="43687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2971038" y="5378322"/>
            <a:ext cx="3752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5720">
              <a:lnSpc>
                <a:spcPct val="100000"/>
              </a:lnSpc>
              <a:spcBef>
                <a:spcPts val="95"/>
              </a:spcBef>
            </a:pPr>
            <a:r>
              <a:rPr dirty="0" sz="650" spc="-10">
                <a:solidFill>
                  <a:srgbClr val="FFFFFF"/>
                </a:solidFill>
                <a:latin typeface="Segoe UI"/>
                <a:cs typeface="Segoe UI"/>
              </a:rPr>
              <a:t>Service</a:t>
            </a:r>
            <a:r>
              <a:rPr dirty="0" sz="6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Segoe UI"/>
                <a:cs typeface="Segoe UI"/>
              </a:rPr>
              <a:t>Transition</a:t>
            </a:r>
            <a:endParaRPr sz="650">
              <a:latin typeface="Segoe UI"/>
              <a:cs typeface="Segoe UI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2971800" y="5605145"/>
            <a:ext cx="420370" cy="294005"/>
            <a:chOff x="2971800" y="5605145"/>
            <a:chExt cx="420370" cy="294005"/>
          </a:xfrm>
        </p:grpSpPr>
        <p:sp>
          <p:nvSpPr>
            <p:cNvPr id="66" name="object 66" descr=""/>
            <p:cNvSpPr/>
            <p:nvPr/>
          </p:nvSpPr>
          <p:spPr>
            <a:xfrm>
              <a:off x="2974975" y="5608320"/>
              <a:ext cx="46355" cy="172720"/>
            </a:xfrm>
            <a:custGeom>
              <a:avLst/>
              <a:gdLst/>
              <a:ahLst/>
              <a:cxnLst/>
              <a:rect l="l" t="t" r="r" b="b"/>
              <a:pathLst>
                <a:path w="46355" h="172720">
                  <a:moveTo>
                    <a:pt x="0" y="0"/>
                  </a:moveTo>
                  <a:lnTo>
                    <a:pt x="0" y="172465"/>
                  </a:lnTo>
                  <a:lnTo>
                    <a:pt x="45974" y="17246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020948" y="5665851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0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5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5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3046222" y="5676392"/>
            <a:ext cx="31877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98700"/>
              </a:lnSpc>
              <a:spcBef>
                <a:spcPts val="100"/>
              </a:spcBef>
            </a:pPr>
            <a:r>
              <a:rPr dirty="0" sz="400" spc="-10">
                <a:latin typeface="Segoe UI"/>
                <a:cs typeface="Segoe UI"/>
              </a:rPr>
              <a:t>Transition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Planning</a:t>
            </a:r>
            <a:r>
              <a:rPr dirty="0" sz="400" spc="45">
                <a:latin typeface="Segoe UI"/>
                <a:cs typeface="Segoe UI"/>
              </a:rPr>
              <a:t> </a:t>
            </a:r>
            <a:r>
              <a:rPr dirty="0" sz="400" spc="-25">
                <a:latin typeface="Segoe UI"/>
                <a:cs typeface="Segoe UI"/>
              </a:rPr>
              <a:t>and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support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2971800" y="5605145"/>
            <a:ext cx="420370" cy="581660"/>
            <a:chOff x="2971800" y="5605145"/>
            <a:chExt cx="420370" cy="581660"/>
          </a:xfrm>
        </p:grpSpPr>
        <p:sp>
          <p:nvSpPr>
            <p:cNvPr id="70" name="object 70" descr=""/>
            <p:cNvSpPr/>
            <p:nvPr/>
          </p:nvSpPr>
          <p:spPr>
            <a:xfrm>
              <a:off x="2974975" y="5608320"/>
              <a:ext cx="46355" cy="460375"/>
            </a:xfrm>
            <a:custGeom>
              <a:avLst/>
              <a:gdLst/>
              <a:ahLst/>
              <a:cxnLst/>
              <a:rect l="l" t="t" r="r" b="b"/>
              <a:pathLst>
                <a:path w="46355" h="460375">
                  <a:moveTo>
                    <a:pt x="0" y="0"/>
                  </a:moveTo>
                  <a:lnTo>
                    <a:pt x="0" y="459993"/>
                  </a:lnTo>
                  <a:lnTo>
                    <a:pt x="45974" y="459993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020948" y="5953252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6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3044698" y="5994272"/>
            <a:ext cx="321310" cy="145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63500">
              <a:lnSpc>
                <a:spcPts val="470"/>
              </a:lnSpc>
              <a:spcBef>
                <a:spcPts val="120"/>
              </a:spcBef>
            </a:pPr>
            <a:r>
              <a:rPr dirty="0" sz="400" spc="-10">
                <a:latin typeface="Segoe UI"/>
                <a:cs typeface="Segoe UI"/>
              </a:rPr>
              <a:t>Change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2971800" y="5605145"/>
            <a:ext cx="420370" cy="868680"/>
            <a:chOff x="2971800" y="5605145"/>
            <a:chExt cx="420370" cy="868680"/>
          </a:xfrm>
        </p:grpSpPr>
        <p:sp>
          <p:nvSpPr>
            <p:cNvPr id="74" name="object 74" descr=""/>
            <p:cNvSpPr/>
            <p:nvPr/>
          </p:nvSpPr>
          <p:spPr>
            <a:xfrm>
              <a:off x="2974975" y="5608320"/>
              <a:ext cx="46355" cy="747395"/>
            </a:xfrm>
            <a:custGeom>
              <a:avLst/>
              <a:gdLst/>
              <a:ahLst/>
              <a:cxnLst/>
              <a:rect l="l" t="t" r="r" b="b"/>
              <a:pathLst>
                <a:path w="46355" h="747395">
                  <a:moveTo>
                    <a:pt x="0" y="0"/>
                  </a:moveTo>
                  <a:lnTo>
                    <a:pt x="0" y="747394"/>
                  </a:lnTo>
                  <a:lnTo>
                    <a:pt x="45974" y="747394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020948" y="6240653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3114"/>
                  </a:moveTo>
                  <a:lnTo>
                    <a:pt x="1805" y="14144"/>
                  </a:lnTo>
                  <a:lnTo>
                    <a:pt x="6731" y="6794"/>
                  </a:lnTo>
                  <a:lnTo>
                    <a:pt x="14037" y="182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25"/>
                  </a:lnTo>
                  <a:lnTo>
                    <a:pt x="361187" y="6794"/>
                  </a:lnTo>
                  <a:lnTo>
                    <a:pt x="366113" y="14144"/>
                  </a:lnTo>
                  <a:lnTo>
                    <a:pt x="367918" y="23114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6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311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3041650" y="6251194"/>
            <a:ext cx="328295" cy="207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2545">
              <a:lnSpc>
                <a:spcPct val="99100"/>
              </a:lnSpc>
              <a:spcBef>
                <a:spcPts val="100"/>
              </a:spcBef>
            </a:pPr>
            <a:r>
              <a:rPr dirty="0" sz="400" spc="-10">
                <a:latin typeface="Segoe UI"/>
                <a:cs typeface="Segoe UI"/>
              </a:rPr>
              <a:t>Asset</a:t>
            </a:r>
            <a:r>
              <a:rPr dirty="0" sz="400" spc="20">
                <a:latin typeface="Segoe UI"/>
                <a:cs typeface="Segoe UI"/>
              </a:rPr>
              <a:t> </a:t>
            </a:r>
            <a:r>
              <a:rPr dirty="0" sz="400" spc="-25">
                <a:latin typeface="Segoe UI"/>
                <a:cs typeface="Segoe UI"/>
              </a:rPr>
              <a:t>and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Configuration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2971800" y="5605145"/>
            <a:ext cx="420370" cy="1156335"/>
            <a:chOff x="2971800" y="5605145"/>
            <a:chExt cx="420370" cy="1156335"/>
          </a:xfrm>
        </p:grpSpPr>
        <p:sp>
          <p:nvSpPr>
            <p:cNvPr id="78" name="object 78" descr=""/>
            <p:cNvSpPr/>
            <p:nvPr/>
          </p:nvSpPr>
          <p:spPr>
            <a:xfrm>
              <a:off x="2974975" y="5608320"/>
              <a:ext cx="46355" cy="1035050"/>
            </a:xfrm>
            <a:custGeom>
              <a:avLst/>
              <a:gdLst/>
              <a:ahLst/>
              <a:cxnLst/>
              <a:rect l="l" t="t" r="r" b="b"/>
              <a:pathLst>
                <a:path w="46355" h="1035050">
                  <a:moveTo>
                    <a:pt x="0" y="0"/>
                  </a:moveTo>
                  <a:lnTo>
                    <a:pt x="0" y="1034795"/>
                  </a:lnTo>
                  <a:lnTo>
                    <a:pt x="45974" y="103479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020948" y="6528181"/>
              <a:ext cx="368300" cy="229870"/>
            </a:xfrm>
            <a:custGeom>
              <a:avLst/>
              <a:gdLst/>
              <a:ahLst/>
              <a:cxnLst/>
              <a:rect l="l" t="t" r="r" b="b"/>
              <a:pathLst>
                <a:path w="368300" h="229870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6883"/>
                  </a:lnTo>
                  <a:lnTo>
                    <a:pt x="366113" y="215832"/>
                  </a:lnTo>
                  <a:lnTo>
                    <a:pt x="361188" y="223139"/>
                  </a:lnTo>
                  <a:lnTo>
                    <a:pt x="353881" y="228064"/>
                  </a:lnTo>
                  <a:lnTo>
                    <a:pt x="344931" y="229870"/>
                  </a:lnTo>
                  <a:lnTo>
                    <a:pt x="22987" y="229870"/>
                  </a:lnTo>
                  <a:lnTo>
                    <a:pt x="14037" y="228064"/>
                  </a:lnTo>
                  <a:lnTo>
                    <a:pt x="6731" y="223139"/>
                  </a:lnTo>
                  <a:lnTo>
                    <a:pt x="1805" y="215832"/>
                  </a:lnTo>
                  <a:lnTo>
                    <a:pt x="0" y="206883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3034029" y="6538976"/>
            <a:ext cx="34290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98800"/>
              </a:lnSpc>
              <a:spcBef>
                <a:spcPts val="100"/>
              </a:spcBef>
            </a:pPr>
            <a:r>
              <a:rPr dirty="0" sz="400" spc="-10">
                <a:latin typeface="Segoe UI"/>
                <a:cs typeface="Segoe UI"/>
              </a:rPr>
              <a:t>Service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>
                <a:latin typeface="Segoe UI"/>
                <a:cs typeface="Segoe UI"/>
              </a:rPr>
              <a:t>validation</a:t>
            </a:r>
            <a:r>
              <a:rPr dirty="0" sz="400" spc="-20">
                <a:latin typeface="Segoe UI"/>
                <a:cs typeface="Segoe UI"/>
              </a:rPr>
              <a:t> </a:t>
            </a:r>
            <a:r>
              <a:rPr dirty="0" sz="400" spc="-25">
                <a:latin typeface="Segoe UI"/>
                <a:cs typeface="Segoe UI"/>
              </a:rPr>
              <a:t>and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testing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2971800" y="5605145"/>
            <a:ext cx="420370" cy="1443990"/>
            <a:chOff x="2971800" y="5605145"/>
            <a:chExt cx="420370" cy="1443990"/>
          </a:xfrm>
        </p:grpSpPr>
        <p:sp>
          <p:nvSpPr>
            <p:cNvPr id="82" name="object 82" descr=""/>
            <p:cNvSpPr/>
            <p:nvPr/>
          </p:nvSpPr>
          <p:spPr>
            <a:xfrm>
              <a:off x="2974975" y="5608320"/>
              <a:ext cx="46355" cy="1322705"/>
            </a:xfrm>
            <a:custGeom>
              <a:avLst/>
              <a:gdLst/>
              <a:ahLst/>
              <a:cxnLst/>
              <a:rect l="l" t="t" r="r" b="b"/>
              <a:pathLst>
                <a:path w="46355" h="1322704">
                  <a:moveTo>
                    <a:pt x="0" y="0"/>
                  </a:moveTo>
                  <a:lnTo>
                    <a:pt x="0" y="1322196"/>
                  </a:lnTo>
                  <a:lnTo>
                    <a:pt x="45974" y="132219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020948" y="6815582"/>
              <a:ext cx="368300" cy="229870"/>
            </a:xfrm>
            <a:custGeom>
              <a:avLst/>
              <a:gdLst/>
              <a:ahLst/>
              <a:cxnLst/>
              <a:rect l="l" t="t" r="r" b="b"/>
              <a:pathLst>
                <a:path w="368300" h="229870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6883"/>
                  </a:lnTo>
                  <a:lnTo>
                    <a:pt x="366113" y="215832"/>
                  </a:lnTo>
                  <a:lnTo>
                    <a:pt x="361188" y="223139"/>
                  </a:lnTo>
                  <a:lnTo>
                    <a:pt x="353881" y="228064"/>
                  </a:lnTo>
                  <a:lnTo>
                    <a:pt x="344931" y="229870"/>
                  </a:lnTo>
                  <a:lnTo>
                    <a:pt x="22987" y="229870"/>
                  </a:lnTo>
                  <a:lnTo>
                    <a:pt x="14037" y="228064"/>
                  </a:lnTo>
                  <a:lnTo>
                    <a:pt x="6731" y="223139"/>
                  </a:lnTo>
                  <a:lnTo>
                    <a:pt x="1805" y="215832"/>
                  </a:lnTo>
                  <a:lnTo>
                    <a:pt x="0" y="206883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 txBox="1"/>
          <p:nvPr/>
        </p:nvSpPr>
        <p:spPr>
          <a:xfrm>
            <a:off x="3044698" y="6826377"/>
            <a:ext cx="321310" cy="20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13335">
              <a:lnSpc>
                <a:spcPct val="98700"/>
              </a:lnSpc>
              <a:spcBef>
                <a:spcPts val="100"/>
              </a:spcBef>
            </a:pPr>
            <a:r>
              <a:rPr dirty="0" sz="400" spc="-10">
                <a:latin typeface="Segoe UI"/>
                <a:cs typeface="Segoe UI"/>
              </a:rPr>
              <a:t>Release</a:t>
            </a:r>
            <a:r>
              <a:rPr dirty="0" sz="400" spc="35">
                <a:latin typeface="Segoe UI"/>
                <a:cs typeface="Segoe UI"/>
              </a:rPr>
              <a:t> </a:t>
            </a:r>
            <a:r>
              <a:rPr dirty="0" sz="400" spc="-25">
                <a:latin typeface="Segoe UI"/>
                <a:cs typeface="Segoe UI"/>
              </a:rPr>
              <a:t>and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Deployment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2971800" y="5605145"/>
            <a:ext cx="420370" cy="1731010"/>
            <a:chOff x="2971800" y="5605145"/>
            <a:chExt cx="420370" cy="1731010"/>
          </a:xfrm>
        </p:grpSpPr>
        <p:sp>
          <p:nvSpPr>
            <p:cNvPr id="86" name="object 86" descr=""/>
            <p:cNvSpPr/>
            <p:nvPr/>
          </p:nvSpPr>
          <p:spPr>
            <a:xfrm>
              <a:off x="2974975" y="5608320"/>
              <a:ext cx="46355" cy="1609725"/>
            </a:xfrm>
            <a:custGeom>
              <a:avLst/>
              <a:gdLst/>
              <a:ahLst/>
              <a:cxnLst/>
              <a:rect l="l" t="t" r="r" b="b"/>
              <a:pathLst>
                <a:path w="46355" h="1609725">
                  <a:moveTo>
                    <a:pt x="0" y="0"/>
                  </a:moveTo>
                  <a:lnTo>
                    <a:pt x="0" y="1609597"/>
                  </a:lnTo>
                  <a:lnTo>
                    <a:pt x="45974" y="1609597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020948" y="7102983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6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 descr=""/>
          <p:cNvSpPr txBox="1"/>
          <p:nvPr/>
        </p:nvSpPr>
        <p:spPr>
          <a:xfrm>
            <a:off x="3078226" y="7174738"/>
            <a:ext cx="255270" cy="86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 spc="-10">
                <a:latin typeface="Segoe UI"/>
                <a:cs typeface="Segoe UI"/>
              </a:rPr>
              <a:t>Evaluation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2971800" y="5605145"/>
            <a:ext cx="420370" cy="2018664"/>
            <a:chOff x="2971800" y="5605145"/>
            <a:chExt cx="420370" cy="2018664"/>
          </a:xfrm>
        </p:grpSpPr>
        <p:sp>
          <p:nvSpPr>
            <p:cNvPr id="90" name="object 90" descr=""/>
            <p:cNvSpPr/>
            <p:nvPr/>
          </p:nvSpPr>
          <p:spPr>
            <a:xfrm>
              <a:off x="2974975" y="5608320"/>
              <a:ext cx="46355" cy="1897380"/>
            </a:xfrm>
            <a:custGeom>
              <a:avLst/>
              <a:gdLst/>
              <a:ahLst/>
              <a:cxnLst/>
              <a:rect l="l" t="t" r="r" b="b"/>
              <a:pathLst>
                <a:path w="46355" h="1897379">
                  <a:moveTo>
                    <a:pt x="0" y="0"/>
                  </a:moveTo>
                  <a:lnTo>
                    <a:pt x="0" y="1896998"/>
                  </a:lnTo>
                  <a:lnTo>
                    <a:pt x="45974" y="1896998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020948" y="7390384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6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3044698" y="7431785"/>
            <a:ext cx="321310" cy="145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25400">
              <a:lnSpc>
                <a:spcPts val="470"/>
              </a:lnSpc>
              <a:spcBef>
                <a:spcPts val="120"/>
              </a:spcBef>
            </a:pPr>
            <a:r>
              <a:rPr dirty="0" sz="400" spc="-10">
                <a:latin typeface="Segoe UI"/>
                <a:cs typeface="Segoe UI"/>
              </a:rPr>
              <a:t>Knowledge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sp>
        <p:nvSpPr>
          <p:cNvPr id="93" name="object 93" descr=""/>
          <p:cNvSpPr/>
          <p:nvPr/>
        </p:nvSpPr>
        <p:spPr>
          <a:xfrm>
            <a:off x="3503803" y="5378450"/>
            <a:ext cx="460375" cy="229870"/>
          </a:xfrm>
          <a:custGeom>
            <a:avLst/>
            <a:gdLst/>
            <a:ahLst/>
            <a:cxnLst/>
            <a:rect l="l" t="t" r="r" b="b"/>
            <a:pathLst>
              <a:path w="460375" h="229870">
                <a:moveTo>
                  <a:pt x="436880" y="0"/>
                </a:moveTo>
                <a:lnTo>
                  <a:pt x="23113" y="0"/>
                </a:lnTo>
                <a:lnTo>
                  <a:pt x="14144" y="1805"/>
                </a:lnTo>
                <a:lnTo>
                  <a:pt x="6794" y="6731"/>
                </a:lnTo>
                <a:lnTo>
                  <a:pt x="1825" y="14037"/>
                </a:lnTo>
                <a:lnTo>
                  <a:pt x="0" y="22987"/>
                </a:lnTo>
                <a:lnTo>
                  <a:pt x="0" y="206883"/>
                </a:lnTo>
                <a:lnTo>
                  <a:pt x="1825" y="215832"/>
                </a:lnTo>
                <a:lnTo>
                  <a:pt x="6794" y="223139"/>
                </a:lnTo>
                <a:lnTo>
                  <a:pt x="14144" y="228064"/>
                </a:lnTo>
                <a:lnTo>
                  <a:pt x="23113" y="229870"/>
                </a:lnTo>
                <a:lnTo>
                  <a:pt x="436880" y="229870"/>
                </a:lnTo>
                <a:lnTo>
                  <a:pt x="445849" y="228064"/>
                </a:lnTo>
                <a:lnTo>
                  <a:pt x="453199" y="223138"/>
                </a:lnTo>
                <a:lnTo>
                  <a:pt x="458168" y="215832"/>
                </a:lnTo>
                <a:lnTo>
                  <a:pt x="459994" y="206883"/>
                </a:lnTo>
                <a:lnTo>
                  <a:pt x="459994" y="22987"/>
                </a:lnTo>
                <a:lnTo>
                  <a:pt x="458168" y="14037"/>
                </a:lnTo>
                <a:lnTo>
                  <a:pt x="453199" y="6730"/>
                </a:lnTo>
                <a:lnTo>
                  <a:pt x="445849" y="1805"/>
                </a:lnTo>
                <a:lnTo>
                  <a:pt x="43688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 txBox="1"/>
          <p:nvPr/>
        </p:nvSpPr>
        <p:spPr>
          <a:xfrm>
            <a:off x="3538473" y="5378322"/>
            <a:ext cx="3917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3340">
              <a:lnSpc>
                <a:spcPct val="100000"/>
              </a:lnSpc>
              <a:spcBef>
                <a:spcPts val="95"/>
              </a:spcBef>
            </a:pPr>
            <a:r>
              <a:rPr dirty="0" sz="650" spc="-10">
                <a:solidFill>
                  <a:srgbClr val="FFFFFF"/>
                </a:solidFill>
                <a:latin typeface="Segoe UI"/>
                <a:cs typeface="Segoe UI"/>
              </a:rPr>
              <a:t>Service</a:t>
            </a:r>
            <a:r>
              <a:rPr dirty="0" sz="650" spc="5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Segoe UI"/>
                <a:cs typeface="Segoe UI"/>
              </a:rPr>
              <a:t>Operation</a:t>
            </a:r>
            <a:endParaRPr sz="650">
              <a:latin typeface="Segoe UI"/>
              <a:cs typeface="Segoe UI"/>
            </a:endParaRPr>
          </a:p>
        </p:txBody>
      </p:sp>
      <p:grpSp>
        <p:nvGrpSpPr>
          <p:cNvPr id="95" name="object 95" descr=""/>
          <p:cNvGrpSpPr/>
          <p:nvPr/>
        </p:nvGrpSpPr>
        <p:grpSpPr>
          <a:xfrm>
            <a:off x="3546728" y="5605145"/>
            <a:ext cx="420370" cy="294005"/>
            <a:chOff x="3546728" y="5605145"/>
            <a:chExt cx="420370" cy="294005"/>
          </a:xfrm>
        </p:grpSpPr>
        <p:sp>
          <p:nvSpPr>
            <p:cNvPr id="96" name="object 96" descr=""/>
            <p:cNvSpPr/>
            <p:nvPr/>
          </p:nvSpPr>
          <p:spPr>
            <a:xfrm>
              <a:off x="3549903" y="5608320"/>
              <a:ext cx="46355" cy="172720"/>
            </a:xfrm>
            <a:custGeom>
              <a:avLst/>
              <a:gdLst/>
              <a:ahLst/>
              <a:cxnLst/>
              <a:rect l="l" t="t" r="r" b="b"/>
              <a:pathLst>
                <a:path w="46354" h="172720">
                  <a:moveTo>
                    <a:pt x="0" y="0"/>
                  </a:moveTo>
                  <a:lnTo>
                    <a:pt x="0" y="172465"/>
                  </a:lnTo>
                  <a:lnTo>
                    <a:pt x="45974" y="17246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3595877" y="5665851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0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5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5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 descr=""/>
          <p:cNvSpPr txBox="1"/>
          <p:nvPr/>
        </p:nvSpPr>
        <p:spPr>
          <a:xfrm>
            <a:off x="3619627" y="5706872"/>
            <a:ext cx="321310" cy="145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86360">
              <a:lnSpc>
                <a:spcPts val="470"/>
              </a:lnSpc>
              <a:spcBef>
                <a:spcPts val="120"/>
              </a:spcBef>
            </a:pPr>
            <a:r>
              <a:rPr dirty="0" sz="400" spc="-10">
                <a:latin typeface="Segoe UI"/>
                <a:cs typeface="Segoe UI"/>
              </a:rPr>
              <a:t>Event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99" name="object 99" descr=""/>
          <p:cNvGrpSpPr/>
          <p:nvPr/>
        </p:nvGrpSpPr>
        <p:grpSpPr>
          <a:xfrm>
            <a:off x="3546728" y="5605145"/>
            <a:ext cx="420370" cy="581660"/>
            <a:chOff x="3546728" y="5605145"/>
            <a:chExt cx="420370" cy="581660"/>
          </a:xfrm>
        </p:grpSpPr>
        <p:sp>
          <p:nvSpPr>
            <p:cNvPr id="100" name="object 100" descr=""/>
            <p:cNvSpPr/>
            <p:nvPr/>
          </p:nvSpPr>
          <p:spPr>
            <a:xfrm>
              <a:off x="3549903" y="5608320"/>
              <a:ext cx="46355" cy="460375"/>
            </a:xfrm>
            <a:custGeom>
              <a:avLst/>
              <a:gdLst/>
              <a:ahLst/>
              <a:cxnLst/>
              <a:rect l="l" t="t" r="r" b="b"/>
              <a:pathLst>
                <a:path w="46354" h="460375">
                  <a:moveTo>
                    <a:pt x="0" y="0"/>
                  </a:moveTo>
                  <a:lnTo>
                    <a:pt x="0" y="459993"/>
                  </a:lnTo>
                  <a:lnTo>
                    <a:pt x="45974" y="459993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3595877" y="5953252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6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 descr=""/>
          <p:cNvSpPr txBox="1"/>
          <p:nvPr/>
        </p:nvSpPr>
        <p:spPr>
          <a:xfrm>
            <a:off x="3619627" y="5994272"/>
            <a:ext cx="321310" cy="145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59055">
              <a:lnSpc>
                <a:spcPts val="470"/>
              </a:lnSpc>
              <a:spcBef>
                <a:spcPts val="120"/>
              </a:spcBef>
            </a:pPr>
            <a:r>
              <a:rPr dirty="0" sz="400" spc="-10">
                <a:latin typeface="Segoe UI"/>
                <a:cs typeface="Segoe UI"/>
              </a:rPr>
              <a:t>Incident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03" name="object 103" descr=""/>
          <p:cNvGrpSpPr/>
          <p:nvPr/>
        </p:nvGrpSpPr>
        <p:grpSpPr>
          <a:xfrm>
            <a:off x="3546728" y="5605145"/>
            <a:ext cx="420370" cy="868680"/>
            <a:chOff x="3546728" y="5605145"/>
            <a:chExt cx="420370" cy="868680"/>
          </a:xfrm>
        </p:grpSpPr>
        <p:sp>
          <p:nvSpPr>
            <p:cNvPr id="104" name="object 104" descr=""/>
            <p:cNvSpPr/>
            <p:nvPr/>
          </p:nvSpPr>
          <p:spPr>
            <a:xfrm>
              <a:off x="3549903" y="5608320"/>
              <a:ext cx="46355" cy="747395"/>
            </a:xfrm>
            <a:custGeom>
              <a:avLst/>
              <a:gdLst/>
              <a:ahLst/>
              <a:cxnLst/>
              <a:rect l="l" t="t" r="r" b="b"/>
              <a:pathLst>
                <a:path w="46354" h="747395">
                  <a:moveTo>
                    <a:pt x="0" y="0"/>
                  </a:moveTo>
                  <a:lnTo>
                    <a:pt x="0" y="747394"/>
                  </a:lnTo>
                  <a:lnTo>
                    <a:pt x="45974" y="747394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595877" y="6240653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3114"/>
                  </a:moveTo>
                  <a:lnTo>
                    <a:pt x="1805" y="14144"/>
                  </a:lnTo>
                  <a:lnTo>
                    <a:pt x="6730" y="6794"/>
                  </a:lnTo>
                  <a:lnTo>
                    <a:pt x="14037" y="182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25"/>
                  </a:lnTo>
                  <a:lnTo>
                    <a:pt x="361124" y="6794"/>
                  </a:lnTo>
                  <a:lnTo>
                    <a:pt x="366093" y="14144"/>
                  </a:lnTo>
                  <a:lnTo>
                    <a:pt x="367919" y="23114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6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311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 descr=""/>
          <p:cNvSpPr txBox="1"/>
          <p:nvPr/>
        </p:nvSpPr>
        <p:spPr>
          <a:xfrm>
            <a:off x="3619627" y="6281673"/>
            <a:ext cx="321310" cy="145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55880">
              <a:lnSpc>
                <a:spcPts val="470"/>
              </a:lnSpc>
              <a:spcBef>
                <a:spcPts val="120"/>
              </a:spcBef>
            </a:pPr>
            <a:r>
              <a:rPr dirty="0" sz="400" spc="-10">
                <a:latin typeface="Segoe UI"/>
                <a:cs typeface="Segoe UI"/>
              </a:rPr>
              <a:t>Problem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07" name="object 107" descr=""/>
          <p:cNvGrpSpPr/>
          <p:nvPr/>
        </p:nvGrpSpPr>
        <p:grpSpPr>
          <a:xfrm>
            <a:off x="3546728" y="5605145"/>
            <a:ext cx="420370" cy="1156335"/>
            <a:chOff x="3546728" y="5605145"/>
            <a:chExt cx="420370" cy="1156335"/>
          </a:xfrm>
        </p:grpSpPr>
        <p:sp>
          <p:nvSpPr>
            <p:cNvPr id="108" name="object 108" descr=""/>
            <p:cNvSpPr/>
            <p:nvPr/>
          </p:nvSpPr>
          <p:spPr>
            <a:xfrm>
              <a:off x="3549903" y="5608320"/>
              <a:ext cx="46355" cy="1035050"/>
            </a:xfrm>
            <a:custGeom>
              <a:avLst/>
              <a:gdLst/>
              <a:ahLst/>
              <a:cxnLst/>
              <a:rect l="l" t="t" r="r" b="b"/>
              <a:pathLst>
                <a:path w="46354" h="1035050">
                  <a:moveTo>
                    <a:pt x="0" y="0"/>
                  </a:moveTo>
                  <a:lnTo>
                    <a:pt x="0" y="1034795"/>
                  </a:lnTo>
                  <a:lnTo>
                    <a:pt x="45974" y="103479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595877" y="6528181"/>
              <a:ext cx="368300" cy="229870"/>
            </a:xfrm>
            <a:custGeom>
              <a:avLst/>
              <a:gdLst/>
              <a:ahLst/>
              <a:cxnLst/>
              <a:rect l="l" t="t" r="r" b="b"/>
              <a:pathLst>
                <a:path w="368300" h="229870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6883"/>
                  </a:lnTo>
                  <a:lnTo>
                    <a:pt x="366093" y="215832"/>
                  </a:lnTo>
                  <a:lnTo>
                    <a:pt x="361124" y="223139"/>
                  </a:lnTo>
                  <a:lnTo>
                    <a:pt x="353774" y="228064"/>
                  </a:lnTo>
                  <a:lnTo>
                    <a:pt x="344805" y="229870"/>
                  </a:lnTo>
                  <a:lnTo>
                    <a:pt x="22987" y="229870"/>
                  </a:lnTo>
                  <a:lnTo>
                    <a:pt x="14037" y="228064"/>
                  </a:lnTo>
                  <a:lnTo>
                    <a:pt x="6731" y="223139"/>
                  </a:lnTo>
                  <a:lnTo>
                    <a:pt x="1805" y="215832"/>
                  </a:lnTo>
                  <a:lnTo>
                    <a:pt x="0" y="206883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 txBox="1"/>
          <p:nvPr/>
        </p:nvSpPr>
        <p:spPr>
          <a:xfrm>
            <a:off x="3657727" y="6569202"/>
            <a:ext cx="245110" cy="145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20955">
              <a:lnSpc>
                <a:spcPts val="470"/>
              </a:lnSpc>
              <a:spcBef>
                <a:spcPts val="120"/>
              </a:spcBef>
            </a:pPr>
            <a:r>
              <a:rPr dirty="0" sz="400" spc="-10">
                <a:latin typeface="Segoe UI"/>
                <a:cs typeface="Segoe UI"/>
              </a:rPr>
              <a:t>Request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Fulfilment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3546728" y="5605145"/>
            <a:ext cx="420370" cy="1443990"/>
            <a:chOff x="3546728" y="5605145"/>
            <a:chExt cx="420370" cy="1443990"/>
          </a:xfrm>
        </p:grpSpPr>
        <p:sp>
          <p:nvSpPr>
            <p:cNvPr id="112" name="object 112" descr=""/>
            <p:cNvSpPr/>
            <p:nvPr/>
          </p:nvSpPr>
          <p:spPr>
            <a:xfrm>
              <a:off x="3549903" y="5608320"/>
              <a:ext cx="46355" cy="1322705"/>
            </a:xfrm>
            <a:custGeom>
              <a:avLst/>
              <a:gdLst/>
              <a:ahLst/>
              <a:cxnLst/>
              <a:rect l="l" t="t" r="r" b="b"/>
              <a:pathLst>
                <a:path w="46354" h="1322704">
                  <a:moveTo>
                    <a:pt x="0" y="0"/>
                  </a:moveTo>
                  <a:lnTo>
                    <a:pt x="0" y="1322196"/>
                  </a:lnTo>
                  <a:lnTo>
                    <a:pt x="45974" y="132219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595877" y="6815582"/>
              <a:ext cx="368300" cy="229870"/>
            </a:xfrm>
            <a:custGeom>
              <a:avLst/>
              <a:gdLst/>
              <a:ahLst/>
              <a:cxnLst/>
              <a:rect l="l" t="t" r="r" b="b"/>
              <a:pathLst>
                <a:path w="368300" h="229870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6883"/>
                  </a:lnTo>
                  <a:lnTo>
                    <a:pt x="366093" y="215832"/>
                  </a:lnTo>
                  <a:lnTo>
                    <a:pt x="361124" y="223139"/>
                  </a:lnTo>
                  <a:lnTo>
                    <a:pt x="353774" y="228064"/>
                  </a:lnTo>
                  <a:lnTo>
                    <a:pt x="344805" y="229870"/>
                  </a:lnTo>
                  <a:lnTo>
                    <a:pt x="22987" y="229870"/>
                  </a:lnTo>
                  <a:lnTo>
                    <a:pt x="14037" y="228064"/>
                  </a:lnTo>
                  <a:lnTo>
                    <a:pt x="6731" y="223139"/>
                  </a:lnTo>
                  <a:lnTo>
                    <a:pt x="1805" y="215832"/>
                  </a:lnTo>
                  <a:lnTo>
                    <a:pt x="0" y="206883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 txBox="1"/>
          <p:nvPr/>
        </p:nvSpPr>
        <p:spPr>
          <a:xfrm>
            <a:off x="3619627" y="6856856"/>
            <a:ext cx="321310" cy="145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74295">
              <a:lnSpc>
                <a:spcPts val="470"/>
              </a:lnSpc>
              <a:spcBef>
                <a:spcPts val="120"/>
              </a:spcBef>
            </a:pPr>
            <a:r>
              <a:rPr dirty="0" sz="400" spc="-10">
                <a:latin typeface="Segoe UI"/>
                <a:cs typeface="Segoe UI"/>
              </a:rPr>
              <a:t>Access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15" name="object 115" descr=""/>
          <p:cNvGrpSpPr/>
          <p:nvPr/>
        </p:nvGrpSpPr>
        <p:grpSpPr>
          <a:xfrm>
            <a:off x="3546728" y="5605145"/>
            <a:ext cx="420370" cy="1731010"/>
            <a:chOff x="3546728" y="5605145"/>
            <a:chExt cx="420370" cy="1731010"/>
          </a:xfrm>
        </p:grpSpPr>
        <p:sp>
          <p:nvSpPr>
            <p:cNvPr id="116" name="object 116" descr=""/>
            <p:cNvSpPr/>
            <p:nvPr/>
          </p:nvSpPr>
          <p:spPr>
            <a:xfrm>
              <a:off x="3549903" y="5608320"/>
              <a:ext cx="46355" cy="1609725"/>
            </a:xfrm>
            <a:custGeom>
              <a:avLst/>
              <a:gdLst/>
              <a:ahLst/>
              <a:cxnLst/>
              <a:rect l="l" t="t" r="r" b="b"/>
              <a:pathLst>
                <a:path w="46354" h="1609725">
                  <a:moveTo>
                    <a:pt x="0" y="0"/>
                  </a:moveTo>
                  <a:lnTo>
                    <a:pt x="0" y="1609597"/>
                  </a:lnTo>
                  <a:lnTo>
                    <a:pt x="45974" y="1609597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595877" y="7102983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6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 descr=""/>
          <p:cNvSpPr txBox="1"/>
          <p:nvPr/>
        </p:nvSpPr>
        <p:spPr>
          <a:xfrm>
            <a:off x="3628771" y="7174738"/>
            <a:ext cx="304800" cy="86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>
                <a:latin typeface="Segoe UI"/>
                <a:cs typeface="Segoe UI"/>
              </a:rPr>
              <a:t>Service</a:t>
            </a:r>
            <a:r>
              <a:rPr dirty="0" sz="400" spc="-25">
                <a:latin typeface="Segoe UI"/>
                <a:cs typeface="Segoe UI"/>
              </a:rPr>
              <a:t> </a:t>
            </a:r>
            <a:r>
              <a:rPr dirty="0" sz="400" spc="-20">
                <a:latin typeface="Segoe UI"/>
                <a:cs typeface="Segoe UI"/>
              </a:rPr>
              <a:t>Desk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19" name="object 119" descr=""/>
          <p:cNvGrpSpPr/>
          <p:nvPr/>
        </p:nvGrpSpPr>
        <p:grpSpPr>
          <a:xfrm>
            <a:off x="3546728" y="5605145"/>
            <a:ext cx="420370" cy="2018664"/>
            <a:chOff x="3546728" y="5605145"/>
            <a:chExt cx="420370" cy="2018664"/>
          </a:xfrm>
        </p:grpSpPr>
        <p:sp>
          <p:nvSpPr>
            <p:cNvPr id="120" name="object 120" descr=""/>
            <p:cNvSpPr/>
            <p:nvPr/>
          </p:nvSpPr>
          <p:spPr>
            <a:xfrm>
              <a:off x="3549903" y="5608320"/>
              <a:ext cx="46355" cy="1897380"/>
            </a:xfrm>
            <a:custGeom>
              <a:avLst/>
              <a:gdLst/>
              <a:ahLst/>
              <a:cxnLst/>
              <a:rect l="l" t="t" r="r" b="b"/>
              <a:pathLst>
                <a:path w="46354" h="1897379">
                  <a:moveTo>
                    <a:pt x="0" y="0"/>
                  </a:moveTo>
                  <a:lnTo>
                    <a:pt x="0" y="1896998"/>
                  </a:lnTo>
                  <a:lnTo>
                    <a:pt x="45974" y="1896998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3595877" y="7390384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6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 descr=""/>
          <p:cNvSpPr txBox="1"/>
          <p:nvPr/>
        </p:nvSpPr>
        <p:spPr>
          <a:xfrm>
            <a:off x="3619627" y="7431785"/>
            <a:ext cx="321310" cy="145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45720">
              <a:lnSpc>
                <a:spcPts val="470"/>
              </a:lnSpc>
              <a:spcBef>
                <a:spcPts val="120"/>
              </a:spcBef>
            </a:pPr>
            <a:r>
              <a:rPr dirty="0" sz="400" spc="-10">
                <a:latin typeface="Segoe UI"/>
                <a:cs typeface="Segoe UI"/>
              </a:rPr>
              <a:t>Technical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23" name="object 123" descr=""/>
          <p:cNvGrpSpPr/>
          <p:nvPr/>
        </p:nvGrpSpPr>
        <p:grpSpPr>
          <a:xfrm>
            <a:off x="3546728" y="5605145"/>
            <a:ext cx="420370" cy="2306320"/>
            <a:chOff x="3546728" y="5605145"/>
            <a:chExt cx="420370" cy="2306320"/>
          </a:xfrm>
        </p:grpSpPr>
        <p:sp>
          <p:nvSpPr>
            <p:cNvPr id="124" name="object 124" descr=""/>
            <p:cNvSpPr/>
            <p:nvPr/>
          </p:nvSpPr>
          <p:spPr>
            <a:xfrm>
              <a:off x="3549903" y="5608320"/>
              <a:ext cx="46355" cy="2185035"/>
            </a:xfrm>
            <a:custGeom>
              <a:avLst/>
              <a:gdLst/>
              <a:ahLst/>
              <a:cxnLst/>
              <a:rect l="l" t="t" r="r" b="b"/>
              <a:pathLst>
                <a:path w="46354" h="2185034">
                  <a:moveTo>
                    <a:pt x="0" y="0"/>
                  </a:moveTo>
                  <a:lnTo>
                    <a:pt x="0" y="2184527"/>
                  </a:lnTo>
                  <a:lnTo>
                    <a:pt x="45974" y="2184527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3595877" y="7677785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6997"/>
                  </a:lnTo>
                  <a:lnTo>
                    <a:pt x="366093" y="215948"/>
                  </a:lnTo>
                  <a:lnTo>
                    <a:pt x="361124" y="223259"/>
                  </a:lnTo>
                  <a:lnTo>
                    <a:pt x="353774" y="228189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89"/>
                  </a:lnTo>
                  <a:lnTo>
                    <a:pt x="6731" y="223259"/>
                  </a:lnTo>
                  <a:lnTo>
                    <a:pt x="1805" y="215948"/>
                  </a:lnTo>
                  <a:lnTo>
                    <a:pt x="0" y="206997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 descr=""/>
          <p:cNvSpPr txBox="1"/>
          <p:nvPr/>
        </p:nvSpPr>
        <p:spPr>
          <a:xfrm>
            <a:off x="3619627" y="7719186"/>
            <a:ext cx="321310" cy="145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22860">
              <a:lnSpc>
                <a:spcPts val="470"/>
              </a:lnSpc>
              <a:spcBef>
                <a:spcPts val="120"/>
              </a:spcBef>
            </a:pPr>
            <a:r>
              <a:rPr dirty="0" sz="400" spc="-10">
                <a:latin typeface="Segoe UI"/>
                <a:cs typeface="Segoe UI"/>
              </a:rPr>
              <a:t>Application</a:t>
            </a:r>
            <a:r>
              <a:rPr dirty="0" sz="400" spc="50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27" name="object 127" descr=""/>
          <p:cNvGrpSpPr/>
          <p:nvPr/>
        </p:nvGrpSpPr>
        <p:grpSpPr>
          <a:xfrm>
            <a:off x="3546728" y="5605145"/>
            <a:ext cx="420370" cy="2593340"/>
            <a:chOff x="3546728" y="5605145"/>
            <a:chExt cx="420370" cy="2593340"/>
          </a:xfrm>
        </p:grpSpPr>
        <p:sp>
          <p:nvSpPr>
            <p:cNvPr id="128" name="object 128" descr=""/>
            <p:cNvSpPr/>
            <p:nvPr/>
          </p:nvSpPr>
          <p:spPr>
            <a:xfrm>
              <a:off x="3549903" y="5608320"/>
              <a:ext cx="46355" cy="2472055"/>
            </a:xfrm>
            <a:custGeom>
              <a:avLst/>
              <a:gdLst/>
              <a:ahLst/>
              <a:cxnLst/>
              <a:rect l="l" t="t" r="r" b="b"/>
              <a:pathLst>
                <a:path w="46354" h="2472054">
                  <a:moveTo>
                    <a:pt x="0" y="0"/>
                  </a:moveTo>
                  <a:lnTo>
                    <a:pt x="0" y="2471915"/>
                  </a:lnTo>
                  <a:lnTo>
                    <a:pt x="45974" y="247191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3595877" y="7965262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6"/>
                  </a:moveTo>
                  <a:lnTo>
                    <a:pt x="1805" y="14042"/>
                  </a:lnTo>
                  <a:lnTo>
                    <a:pt x="6730" y="6735"/>
                  </a:lnTo>
                  <a:lnTo>
                    <a:pt x="14037" y="1807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7"/>
                  </a:lnTo>
                  <a:lnTo>
                    <a:pt x="361124" y="6735"/>
                  </a:lnTo>
                  <a:lnTo>
                    <a:pt x="366093" y="14042"/>
                  </a:lnTo>
                  <a:lnTo>
                    <a:pt x="367919" y="22986"/>
                  </a:lnTo>
                  <a:lnTo>
                    <a:pt x="367919" y="206946"/>
                  </a:lnTo>
                  <a:lnTo>
                    <a:pt x="366093" y="215896"/>
                  </a:lnTo>
                  <a:lnTo>
                    <a:pt x="361124" y="223202"/>
                  </a:lnTo>
                  <a:lnTo>
                    <a:pt x="353774" y="228127"/>
                  </a:lnTo>
                  <a:lnTo>
                    <a:pt x="344805" y="229933"/>
                  </a:lnTo>
                  <a:lnTo>
                    <a:pt x="22987" y="229933"/>
                  </a:lnTo>
                  <a:lnTo>
                    <a:pt x="14037" y="228127"/>
                  </a:lnTo>
                  <a:lnTo>
                    <a:pt x="6731" y="223202"/>
                  </a:lnTo>
                  <a:lnTo>
                    <a:pt x="1805" y="215896"/>
                  </a:lnTo>
                  <a:lnTo>
                    <a:pt x="0" y="206946"/>
                  </a:lnTo>
                  <a:lnTo>
                    <a:pt x="0" y="22986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 descr=""/>
          <p:cNvSpPr txBox="1"/>
          <p:nvPr/>
        </p:nvSpPr>
        <p:spPr>
          <a:xfrm>
            <a:off x="3619627" y="8037068"/>
            <a:ext cx="322580" cy="86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>
                <a:latin typeface="Segoe UI"/>
                <a:cs typeface="Segoe UI"/>
              </a:rPr>
              <a:t>IT</a:t>
            </a:r>
            <a:r>
              <a:rPr dirty="0" sz="400" spc="-20">
                <a:latin typeface="Segoe UI"/>
                <a:cs typeface="Segoe UI"/>
              </a:rPr>
              <a:t> </a:t>
            </a:r>
            <a:r>
              <a:rPr dirty="0" sz="400" spc="-10">
                <a:latin typeface="Segoe UI"/>
                <a:cs typeface="Segoe UI"/>
              </a:rPr>
              <a:t>Operations</a:t>
            </a:r>
            <a:endParaRPr sz="400">
              <a:latin typeface="Segoe UI"/>
              <a:cs typeface="Segoe UI"/>
            </a:endParaRPr>
          </a:p>
        </p:txBody>
      </p:sp>
      <p:sp>
        <p:nvSpPr>
          <p:cNvPr id="131" name="object 131" descr=""/>
          <p:cNvSpPr/>
          <p:nvPr/>
        </p:nvSpPr>
        <p:spPr>
          <a:xfrm>
            <a:off x="4078732" y="5378450"/>
            <a:ext cx="460375" cy="229870"/>
          </a:xfrm>
          <a:custGeom>
            <a:avLst/>
            <a:gdLst/>
            <a:ahLst/>
            <a:cxnLst/>
            <a:rect l="l" t="t" r="r" b="b"/>
            <a:pathLst>
              <a:path w="460375" h="229870">
                <a:moveTo>
                  <a:pt x="436879" y="0"/>
                </a:moveTo>
                <a:lnTo>
                  <a:pt x="22987" y="0"/>
                </a:lnTo>
                <a:lnTo>
                  <a:pt x="14037" y="1805"/>
                </a:lnTo>
                <a:lnTo>
                  <a:pt x="6730" y="6731"/>
                </a:lnTo>
                <a:lnTo>
                  <a:pt x="1805" y="14037"/>
                </a:lnTo>
                <a:lnTo>
                  <a:pt x="0" y="22987"/>
                </a:lnTo>
                <a:lnTo>
                  <a:pt x="0" y="206883"/>
                </a:lnTo>
                <a:lnTo>
                  <a:pt x="1805" y="215832"/>
                </a:lnTo>
                <a:lnTo>
                  <a:pt x="6731" y="223139"/>
                </a:lnTo>
                <a:lnTo>
                  <a:pt x="14037" y="228064"/>
                </a:lnTo>
                <a:lnTo>
                  <a:pt x="22987" y="229870"/>
                </a:lnTo>
                <a:lnTo>
                  <a:pt x="436879" y="229870"/>
                </a:lnTo>
                <a:lnTo>
                  <a:pt x="445829" y="228064"/>
                </a:lnTo>
                <a:lnTo>
                  <a:pt x="453136" y="223138"/>
                </a:lnTo>
                <a:lnTo>
                  <a:pt x="458061" y="215832"/>
                </a:lnTo>
                <a:lnTo>
                  <a:pt x="459866" y="206883"/>
                </a:lnTo>
                <a:lnTo>
                  <a:pt x="459866" y="22987"/>
                </a:lnTo>
                <a:lnTo>
                  <a:pt x="458061" y="14037"/>
                </a:lnTo>
                <a:lnTo>
                  <a:pt x="453135" y="6730"/>
                </a:lnTo>
                <a:lnTo>
                  <a:pt x="445829" y="1805"/>
                </a:lnTo>
                <a:lnTo>
                  <a:pt x="43687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 txBox="1"/>
          <p:nvPr/>
        </p:nvSpPr>
        <p:spPr>
          <a:xfrm>
            <a:off x="4238371" y="5427725"/>
            <a:ext cx="14224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solidFill>
                  <a:srgbClr val="FFFFFF"/>
                </a:solidFill>
                <a:latin typeface="Segoe UI"/>
                <a:cs typeface="Segoe UI"/>
              </a:rPr>
              <a:t>CSI</a:t>
            </a:r>
            <a:endParaRPr sz="650">
              <a:latin typeface="Segoe UI"/>
              <a:cs typeface="Segoe UI"/>
            </a:endParaRPr>
          </a:p>
        </p:txBody>
      </p:sp>
      <p:sp>
        <p:nvSpPr>
          <p:cNvPr id="133" name="object 1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860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ITIL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252085" cy="12490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ITIL: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Is a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Project?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ITIL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“Project”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ITIL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ongoing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journey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Benefits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ITIL: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Organizations</a:t>
            </a:r>
            <a:r>
              <a:rPr dirty="0" sz="800">
                <a:latin typeface="Arial MT"/>
                <a:cs typeface="Arial MT"/>
              </a:rPr>
              <a:t> 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reduce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operations</a:t>
            </a:r>
            <a:r>
              <a:rPr dirty="0" sz="800">
                <a:latin typeface="Arial MT"/>
                <a:cs typeface="Arial MT"/>
              </a:rPr>
              <a:t> cost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optimizing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available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resource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utilizations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Reduce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outages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minimize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impacts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service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unavailability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Even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most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organizations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testified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 </a:t>
            </a:r>
            <a:r>
              <a:rPr dirty="0" sz="800" spc="-10">
                <a:latin typeface="Arial MT"/>
                <a:cs typeface="Arial MT"/>
              </a:rPr>
              <a:t>reduction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business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critical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incidents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80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 90%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few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years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78916" y="5322934"/>
            <a:ext cx="2035175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Problems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Delivering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Software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Problems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Delivering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Software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Release</a:t>
            </a:r>
            <a:r>
              <a:rPr dirty="0" sz="900" spc="-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Antipatterns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Principles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Delivery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527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Delivering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3178" y="1634998"/>
            <a:ext cx="2736850" cy="848994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Converting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Idea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/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Service?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Reliable,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rapid,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low-</a:t>
            </a:r>
            <a:r>
              <a:rPr dirty="0" sz="900">
                <a:latin typeface="Arial MT"/>
                <a:cs typeface="Arial MT"/>
              </a:rPr>
              <a:t>risk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releases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Ideal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Environment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Generic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Methodologies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Methodologies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126364" algn="l"/>
              </a:tabLst>
            </a:pPr>
            <a:r>
              <a:rPr dirty="0" sz="900">
                <a:latin typeface="Arial MT"/>
                <a:cs typeface="Arial MT"/>
              </a:rPr>
              <a:t>More focus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Requirement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Gathering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4964" y="2964636"/>
            <a:ext cx="4615435" cy="57335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33424" y="4977460"/>
            <a:ext cx="3153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Delivering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578916" y="5322934"/>
            <a:ext cx="4321810" cy="13760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Release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Antipatterns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Common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Quote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day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tends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tense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one”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Antipattern: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Deploying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Manually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production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extensive</a:t>
            </a:r>
            <a:r>
              <a:rPr dirty="0" sz="800">
                <a:latin typeface="Arial MT"/>
                <a:cs typeface="Arial MT"/>
              </a:rPr>
              <a:t> 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detailed</a:t>
            </a:r>
            <a:r>
              <a:rPr dirty="0" sz="800" spc="-10">
                <a:latin typeface="Arial MT"/>
                <a:cs typeface="Arial MT"/>
              </a:rPr>
              <a:t> documentation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steps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 </a:t>
            </a:r>
            <a:r>
              <a:rPr dirty="0" sz="800" spc="-10">
                <a:latin typeface="Arial MT"/>
                <a:cs typeface="Arial MT"/>
              </a:rPr>
              <a:t>performed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Reliance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manual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testing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Frequent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calls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development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explain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Frequent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corrections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release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process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Sitting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bleary-</a:t>
            </a:r>
            <a:r>
              <a:rPr dirty="0" sz="800">
                <a:latin typeface="Arial MT"/>
                <a:cs typeface="Arial MT"/>
              </a:rPr>
              <a:t>eyed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front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monitor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2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A.M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527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Delivering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084445" cy="19621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Release</a:t>
            </a:r>
            <a:r>
              <a:rPr dirty="0" sz="1000" spc="-7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Antipatterns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Cond..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Antipattern: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Production-like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Environment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Only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after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Complete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20">
                <a:latin typeface="Arial MT"/>
                <a:cs typeface="Arial MT"/>
              </a:rPr>
              <a:t>Tester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tested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system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0">
                <a:latin typeface="Arial MT"/>
                <a:cs typeface="Arial MT"/>
              </a:rPr>
              <a:t> development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machines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Releasing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staging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first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time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10">
                <a:latin typeface="Arial MT"/>
                <a:cs typeface="Arial MT"/>
              </a:rPr>
              <a:t> operations </a:t>
            </a:r>
            <a:r>
              <a:rPr dirty="0" sz="800">
                <a:latin typeface="Arial MT"/>
                <a:cs typeface="Arial MT"/>
              </a:rPr>
              <a:t>people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interact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new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release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Who</a:t>
            </a:r>
            <a:r>
              <a:rPr dirty="0" sz="800" spc="-6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Assembles?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Development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Team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Collaboration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between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development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Operations?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Antipattern: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Manual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Configuration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Environments</a:t>
            </a:r>
            <a:endParaRPr sz="9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Difference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Deployment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Stage 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Production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Different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host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behave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differently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Long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time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prepare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environment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dirty="0" sz="800">
                <a:latin typeface="Arial MT"/>
                <a:cs typeface="Arial MT"/>
              </a:rPr>
              <a:t>Cannot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step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back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earlier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configuration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system</a:t>
            </a:r>
            <a:endParaRPr sz="800">
              <a:latin typeface="Arial MT"/>
              <a:cs typeface="Arial MT"/>
            </a:endParaRPr>
          </a:p>
          <a:p>
            <a:pPr lvl="1" marL="620395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dirty="0" sz="800" spc="-10">
                <a:latin typeface="Arial MT"/>
                <a:cs typeface="Arial MT"/>
              </a:rPr>
              <a:t>Modification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Configuration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Directly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1584" y="4968621"/>
            <a:ext cx="4195701" cy="300990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087" y="1118742"/>
            <a:ext cx="4238625" cy="247644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950" y="5125783"/>
            <a:ext cx="4610100" cy="286702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483" y="1064005"/>
            <a:ext cx="4621866" cy="311361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33424" y="4977460"/>
            <a:ext cx="19945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578916" y="5322934"/>
            <a:ext cx="5263515" cy="117919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Introduction</a:t>
            </a:r>
            <a:r>
              <a:rPr dirty="0" sz="1000" spc="-4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to</a:t>
            </a:r>
            <a:r>
              <a:rPr dirty="0" sz="1000" spc="-5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Continuous</a:t>
            </a:r>
            <a:r>
              <a:rPr dirty="0" sz="1000" spc="-3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Delivery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Promotes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adoption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automated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deployment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pipeline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software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production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dirty="0" sz="900">
                <a:latin typeface="Arial MT"/>
                <a:cs typeface="Arial MT"/>
              </a:rPr>
              <a:t>reliably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quickly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goal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establish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optimized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end-</a:t>
            </a:r>
            <a:r>
              <a:rPr dirty="0" sz="900" spc="-10">
                <a:latin typeface="Arial MT"/>
                <a:cs typeface="Arial MT"/>
              </a:rPr>
              <a:t>to-</a:t>
            </a:r>
            <a:r>
              <a:rPr dirty="0" sz="900">
                <a:latin typeface="Arial MT"/>
                <a:cs typeface="Arial MT"/>
              </a:rPr>
              <a:t>end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enhance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development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 </a:t>
            </a:r>
            <a:r>
              <a:rPr dirty="0" sz="900" spc="-10">
                <a:latin typeface="Arial MT"/>
                <a:cs typeface="Arial MT"/>
              </a:rPr>
              <a:t>production </a:t>
            </a:r>
            <a:r>
              <a:rPr dirty="0" sz="900">
                <a:latin typeface="Arial MT"/>
                <a:cs typeface="Arial MT"/>
              </a:rPr>
              <a:t>cycles,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lower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risk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problems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quicker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market</a:t>
            </a:r>
            <a:endParaRPr sz="900">
              <a:latin typeface="Arial MT"/>
              <a:cs typeface="Arial MT"/>
            </a:endParaRPr>
          </a:p>
          <a:p>
            <a:pPr marL="391160" marR="24130" indent="-114300">
              <a:lnSpc>
                <a:spcPts val="969"/>
              </a:lnSpc>
              <a:spcBef>
                <a:spcPts val="325"/>
              </a:spcBef>
              <a:buChar char="•"/>
              <a:tabLst>
                <a:tab pos="391160" algn="l"/>
              </a:tabLst>
            </a:pPr>
            <a:r>
              <a:rPr dirty="0" sz="900" spc="-55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point,</a:t>
            </a:r>
            <a:r>
              <a:rPr dirty="0" sz="900" spc="2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Jez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Humble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Dave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Farley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define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principles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 continuous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delivery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their </a:t>
            </a:r>
            <a:r>
              <a:rPr dirty="0" sz="900">
                <a:latin typeface="Arial MT"/>
                <a:cs typeface="Arial MT"/>
              </a:rPr>
              <a:t>Book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“Continuous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Delivery”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as: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006340" cy="7677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Build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Repeatable and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Reliable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Use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 all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environments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If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enhancement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 through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 into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integration </a:t>
            </a:r>
            <a:r>
              <a:rPr dirty="0" sz="900">
                <a:latin typeface="Arial MT"/>
                <a:cs typeface="Arial MT"/>
              </a:rPr>
              <a:t>environment,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another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QA,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issues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 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popping</a:t>
            </a:r>
            <a:r>
              <a:rPr dirty="0" sz="900" spc="-25">
                <a:latin typeface="Arial MT"/>
                <a:cs typeface="Arial MT"/>
              </a:rPr>
              <a:t> up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155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240020" cy="9321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Try</a:t>
            </a:r>
            <a:r>
              <a:rPr dirty="0" sz="1000" spc="-7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to</a:t>
            </a:r>
            <a:r>
              <a:rPr dirty="0" sz="1000" spc="-7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Automate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Everything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Automate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builds,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testing,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releases,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configuration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everything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else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Manual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inherently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repeatable,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prone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efficient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Once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less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effort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needed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run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 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monitor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progress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–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will </a:t>
            </a:r>
            <a:r>
              <a:rPr dirty="0" sz="900">
                <a:latin typeface="Arial MT"/>
                <a:cs typeface="Arial MT"/>
              </a:rPr>
              <a:t>ensure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consistent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results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4794885" cy="6445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Keep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everything</a:t>
            </a:r>
            <a:r>
              <a:rPr dirty="0" sz="1000" spc="-1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in</a:t>
            </a:r>
            <a:r>
              <a:rPr dirty="0" sz="1000" spc="-3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Version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Control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source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truth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Keep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configuration,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scripts,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databases,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documentation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everything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versioned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155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4939665" cy="808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Bring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Pain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Forward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Deal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hard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stuff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first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 spc="-20">
                <a:latin typeface="Arial MT"/>
                <a:cs typeface="Arial MT"/>
              </a:rPr>
              <a:t>Time-</a:t>
            </a:r>
            <a:r>
              <a:rPr dirty="0" sz="900">
                <a:latin typeface="Arial MT"/>
                <a:cs typeface="Arial MT"/>
              </a:rPr>
              <a:t>consuming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 error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prone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tasks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dealt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soon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 </a:t>
            </a:r>
            <a:r>
              <a:rPr dirty="0" sz="900" spc="-25">
                <a:latin typeface="Arial MT"/>
                <a:cs typeface="Arial MT"/>
              </a:rPr>
              <a:t>can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Once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get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painful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issues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way,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likely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easier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perfect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5186045" cy="1056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Ensure Quality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–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in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Build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Create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short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feedback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loops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deal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bugs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soon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created</a:t>
            </a:r>
            <a:endParaRPr sz="900">
              <a:latin typeface="Arial MT"/>
              <a:cs typeface="Arial MT"/>
            </a:endParaRPr>
          </a:p>
          <a:p>
            <a:pPr marL="391160" marR="12446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having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issues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looped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back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 developers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fail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post-build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 </a:t>
            </a:r>
            <a:r>
              <a:rPr dirty="0" sz="900" spc="-10">
                <a:latin typeface="Arial MT"/>
                <a:cs typeface="Arial MT"/>
              </a:rPr>
              <a:t>enable </a:t>
            </a:r>
            <a:r>
              <a:rPr dirty="0" sz="900">
                <a:latin typeface="Arial MT"/>
                <a:cs typeface="Arial MT"/>
              </a:rPr>
              <a:t>them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higher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quality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code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quicker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1025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addition,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fewer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issues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found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later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expensive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to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25"/>
              </a:lnSpc>
            </a:pPr>
            <a:r>
              <a:rPr dirty="0" sz="900" spc="-25">
                <a:latin typeface="Arial MT"/>
                <a:cs typeface="Arial MT"/>
              </a:rPr>
              <a:t>fix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155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067935" cy="7677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Set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expectation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as</a:t>
            </a:r>
            <a:r>
              <a:rPr dirty="0" sz="1000" spc="-20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"Done"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means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Released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done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only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production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Having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clear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definition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“done”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right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start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help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everyone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communicate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better,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realize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feature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4794885" cy="9734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Everyone</a:t>
            </a:r>
            <a:r>
              <a:rPr dirty="0" sz="1000" spc="-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is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 Responsible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"It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works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workstation"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never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valid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excuse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Responsibility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extend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way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production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Cultural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hardest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implement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However, </a:t>
            </a:r>
            <a:r>
              <a:rPr dirty="0" sz="900">
                <a:latin typeface="Arial MT"/>
                <a:cs typeface="Arial MT"/>
              </a:rPr>
              <a:t>having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management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support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enthusiastic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champion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certainly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help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3424" y="4977460"/>
            <a:ext cx="3155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78916" y="5322934"/>
            <a:ext cx="5054600" cy="7677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1C1573"/>
                </a:solidFill>
                <a:latin typeface="Arial"/>
                <a:cs typeface="Arial"/>
              </a:rPr>
              <a:t>Continuous</a:t>
            </a:r>
            <a:r>
              <a:rPr dirty="0" sz="1000" spc="-55" b="1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Improvement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This principle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important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 </a:t>
            </a:r>
            <a:r>
              <a:rPr dirty="0" sz="900" spc="-10">
                <a:latin typeface="Arial MT"/>
                <a:cs typeface="Arial MT"/>
              </a:rPr>
              <a:t>effective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automation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dirty="0" sz="900">
                <a:latin typeface="Arial MT"/>
                <a:cs typeface="Arial MT"/>
              </a:rPr>
              <a:t>If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"practice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perfect"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then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automation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represents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ultimate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expression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practice- </a:t>
            </a:r>
            <a:r>
              <a:rPr dirty="0" sz="900">
                <a:latin typeface="Arial MT"/>
                <a:cs typeface="Arial MT"/>
              </a:rPr>
              <a:t>making-perfect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iterative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process.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8916" y="1345616"/>
            <a:ext cx="3562350" cy="17970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10" b="1">
                <a:solidFill>
                  <a:srgbClr val="1C1573"/>
                </a:solidFill>
                <a:latin typeface="Arial"/>
                <a:cs typeface="Arial"/>
              </a:rPr>
              <a:t>Summary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Create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Repeatable,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Reliable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Process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Releasing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Software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 spc="-10">
                <a:latin typeface="Arial MT"/>
                <a:cs typeface="Arial MT"/>
              </a:rPr>
              <a:t>Automate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Almost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Everything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Keep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Everything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Version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Control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If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Hurts,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Frequently,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Bring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Forward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Build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Quality</a:t>
            </a:r>
            <a:r>
              <a:rPr dirty="0" sz="900" spc="-25">
                <a:latin typeface="Arial MT"/>
                <a:cs typeface="Arial MT"/>
              </a:rPr>
              <a:t> In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“The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Earlier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you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catch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defects,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cheaper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fix”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Done,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Means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Released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Everybody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Responsible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Delivery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Process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dirty="0" sz="900">
                <a:latin typeface="Arial MT"/>
                <a:cs typeface="Arial MT"/>
              </a:rPr>
              <a:t>Continuous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Improvement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81000" y="4845494"/>
            <a:ext cx="6096000" cy="3428365"/>
            <a:chOff x="381000" y="4845494"/>
            <a:chExt cx="6096000" cy="342836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8253506"/>
              <a:ext cx="6096000" cy="2028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925021"/>
              <a:ext cx="5334000" cy="38218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4845494"/>
              <a:ext cx="6096000" cy="3427603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311" y="1781429"/>
            <a:ext cx="6043676" cy="232410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381000" y="4844732"/>
            <a:ext cx="6096000" cy="3429635"/>
            <a:chOff x="381000" y="4844732"/>
            <a:chExt cx="6096000" cy="3429635"/>
          </a:xfrm>
        </p:grpSpPr>
        <p:sp>
          <p:nvSpPr>
            <p:cNvPr id="6" name="object 6" descr="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862" y="4986782"/>
              <a:ext cx="4716399" cy="3287014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UDHAYAKUMAR S</dc:creator>
  <dc:title>PowerPoint Presentation</dc:title>
  <dcterms:created xsi:type="dcterms:W3CDTF">2025-04-18T12:04:48Z</dcterms:created>
  <dcterms:modified xsi:type="dcterms:W3CDTF">2025-04-18T12:04:48Z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2025-04-18T00:00:00Z</vt:filetime>
  </property>
  <property fmtid="{D5CDD505-2E9C-101B-9397-08002B2CF9AE}" pid="5" name="Producer">
    <vt:lpwstr>Microsoft® PowerPoint® 2019</vt:lpwstr>
  </property>
</Properties>
</file>